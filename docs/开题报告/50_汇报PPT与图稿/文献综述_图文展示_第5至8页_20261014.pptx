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8b3f34f9f84f7b" /><Relationship Type="http://schemas.openxmlformats.org/officeDocument/2006/relationships/extended-properties" Target="/docProps/app.xml" Id="R4fc3c802f602411f" /><Relationship Type="http://schemas.openxmlformats.org/officeDocument/2006/relationships/officeDocument" Target="/ppt/presentation.xml" Id="Rd4e502b3dd464ce0" /></Relationships>
</file>

<file path=ppt/presentation.xml><?xml version="1.0" encoding="utf-8"?>
<p:presentation xmlns:p="http://schemas.openxmlformats.org/presentationml/2006/main">
  <p:sldMasterIdLst>
    <p:sldMasterId xmlns:r="http://schemas.openxmlformats.org/officeDocument/2006/relationships" id="2147483648" r:id="R33254690e2e644ea"/>
  </p:sldMasterIdLst>
  <p:notesMasterIdLst>
    <p:notesMasterId xmlns:r="http://schemas.openxmlformats.org/officeDocument/2006/relationships" r:id="R5c67aaff86e04bd2"/>
  </p:notesMasterIdLst>
  <p:sldIdLst>
    <p:sldId xmlns:r="http://schemas.openxmlformats.org/officeDocument/2006/relationships" id="256" r:id="R42544fa62db84eb4"/>
    <p:sldId xmlns:r="http://schemas.openxmlformats.org/officeDocument/2006/relationships" id="257" r:id="Rf68763854b0c418a"/>
    <p:sldId xmlns:r="http://schemas.openxmlformats.org/officeDocument/2006/relationships" id="258" r:id="R2065676fc1df4ba9"/>
    <p:sldId xmlns:r="http://schemas.openxmlformats.org/officeDocument/2006/relationships" id="259" r:id="Rb8851652942341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77f0c2495c41da" /><Relationship Type="http://schemas.openxmlformats.org/officeDocument/2006/relationships/slideMaster" Target="/ppt/slideMasters/slideMaster1.xml" Id="R33254690e2e644ea" /><Relationship Type="http://schemas.openxmlformats.org/officeDocument/2006/relationships/notesMaster" Target="/ppt/notesMasters/notesMaster1.xml" Id="R5c67aaff86e04bd2" /><Relationship Type="http://schemas.openxmlformats.org/officeDocument/2006/relationships/presProps" Target="/ppt/presProps.xml" Id="R87b0114d194143a3" /><Relationship Type="http://schemas.openxmlformats.org/officeDocument/2006/relationships/tableStyles" Target="/ppt/tableStyles.xml" Id="R22b1dd30de974f0a" /><Relationship Type="http://schemas.openxmlformats.org/officeDocument/2006/relationships/slide" Target="/ppt/slides/slide1.xml" Id="R42544fa62db84eb4" /><Relationship Type="http://schemas.openxmlformats.org/officeDocument/2006/relationships/slide" Target="/ppt/slides/slide2.xml" Id="Rf68763854b0c418a" /><Relationship Type="http://schemas.openxmlformats.org/officeDocument/2006/relationships/slide" Target="/ppt/slides/slide3.xml" Id="R2065676fc1df4ba9" /><Relationship Type="http://schemas.openxmlformats.org/officeDocument/2006/relationships/slide" Target="/ppt/slides/slide4.xml" Id="Rb8851652942341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0776599f0647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SimHei"/>
        <a:cs typeface="Times New Roman"/>
      </a:majorFont>
      <a:minorFont>
        <a:latin typeface="Times New Roman"/>
        <a:ea typeface="SimHei"/>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4d682ff64142fa" /><Relationship Type="http://schemas.openxmlformats.org/officeDocument/2006/relationships/notesMaster" Target="/ppt/notesMasters/notesMaster1.xml" Id="Rfb472532057040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a07c0936af4e3b" /><Relationship Type="http://schemas.openxmlformats.org/officeDocument/2006/relationships/notesMaster" Target="/ppt/notesMasters/notesMaster1.xml" Id="Rb2176e9dc78b40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6ae51cd46d4262" /><Relationship Type="http://schemas.openxmlformats.org/officeDocument/2006/relationships/notesMaster" Target="/ppt/notesMasters/notesMaster1.xml" Id="R9e7715cfb9c943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2133ab29154bc1" /><Relationship Type="http://schemas.openxmlformats.org/officeDocument/2006/relationships/notesMaster" Target="/ppt/notesMasters/notesMaster1.xml" Id="Rb71d85e8858143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Times New Roman"/>
                <a:ea typeface="Times New Roman"/>
                <a:cs typeface="Times New Roman"/>
              </a:rPr>
              <a:t>这一页按生产问题的扩展归纳文献，分别比较联合安排、扰动后的计划调整和周期生产条件。Bao、Fang、Zheng的人员与站位条件各有侧重；Zhu与Lovato补足受扰调整和计划稳定性依据。Pucel与Roussel也涉及联合分站，在这里重点说明相邻周期实例、人员占用和站位组织。模型条件差异需要与本课题的具体团队选择和人员站位绑定一起比较。</a:t>
            </a:r>
          </a:p>
          <a:p xmlns:a="http://schemas.openxmlformats.org/drawingml/2006/main">
            <a:pPr>
              <a:buNone/>
            </a:pPr>
            <a:r>
              <a:rPr sz="1200">
                <a:solidFill>
                  <a:srgbClr val="000000"/>
                </a:solidFill>
                <a:latin typeface="Times New Roman"/>
                <a:ea typeface="Times New Roman"/>
                <a:cs typeface="Times New Roman"/>
              </a:rPr>
              <a:t/>
            </a:r>
          </a:p>
          <a:p xmlns:a="http://schemas.openxmlformats.org/drawingml/2006/main">
            <a:pPr>
              <a:buNone/>
            </a:pPr>
            <a:r>
              <a:rPr sz="1200">
                <a:solidFill>
                  <a:srgbClr val="000000"/>
                </a:solidFill>
                <a:latin typeface="Times New Roman"/>
                <a:ea typeface="Times New Roman"/>
                <a:cs typeface="Times New Roman"/>
              </a:rPr>
              <a:t>参考文献（编号沿用开题报告v4）</a:t>
            </a:r>
          </a:p>
          <a:p xmlns:a="http://schemas.openxmlformats.org/drawingml/2006/main">
            <a:pPr>
              <a:buNone/>
            </a:pPr>
            <a:r>
              <a:rPr sz="1200">
                <a:solidFill>
                  <a:srgbClr val="000000"/>
                </a:solidFill>
                <a:latin typeface="Times New Roman"/>
                <a:ea typeface="Times New Roman"/>
                <a:cs typeface="Times New Roman"/>
              </a:rPr>
              <a:t>[1] 方水良，刘猛男，鲜果，秦永辉，田雨辰. 飞机移动装配线——脉动与续动. 航空制造技术, 2021, 64(16):40–50.</a:t>
            </a:r>
          </a:p>
          <a:p xmlns:a="http://schemas.openxmlformats.org/drawingml/2006/main">
            <a:pPr>
              <a:buNone/>
            </a:pPr>
            <a:r>
              <a:rPr sz="1200">
                <a:solidFill>
                  <a:srgbClr val="000000"/>
                </a:solidFill>
                <a:latin typeface="Times New Roman"/>
                <a:ea typeface="Times New Roman"/>
                <a:cs typeface="Times New Roman"/>
              </a:rPr>
              <a:t>[3] Bao Z, Chen L, Qiu K. An aircraft final assembly line balancing problem considering resource constraints and parallel task scheduling. Computers &amp; Industrial Engineering, 2023, 182:109436.</a:t>
            </a:r>
          </a:p>
          <a:p xmlns:a="http://schemas.openxmlformats.org/drawingml/2006/main">
            <a:pPr>
              <a:buNone/>
            </a:pPr>
            <a:r>
              <a:rPr sz="1200">
                <a:solidFill>
                  <a:srgbClr val="000000"/>
                </a:solidFill>
                <a:latin typeface="Times New Roman"/>
                <a:ea typeface="Times New Roman"/>
                <a:cs typeface="Times New Roman"/>
              </a:rPr>
              <a:t>[9] Fang P, Yang J, Liao Q, Zhong R Y, Jiang Y. Flexible Worker Allocation in Aircraft Final Assembly Line Using Multiobjective Evolutionary Algorithms. IEEE Transactions on Industrial Informatics, 2021, 17(11):7468–7478.</a:t>
            </a:r>
          </a:p>
          <a:p xmlns:a="http://schemas.openxmlformats.org/drawingml/2006/main">
            <a:pPr>
              <a:buNone/>
            </a:pPr>
            <a:r>
              <a:rPr sz="1200">
                <a:solidFill>
                  <a:srgbClr val="000000"/>
                </a:solidFill>
                <a:latin typeface="Times New Roman"/>
                <a:ea typeface="Times New Roman"/>
                <a:cs typeface="Times New Roman"/>
              </a:rPr>
              <a:t>[10] Zheng X, Qiao F, You S, et al. Joint optimization of production scheduling and worker allocation under a resource dedication policy in aircraft assembly lines. Robotics and Computer-Integrated Manufacturing, 2025, 96:103047.</a:t>
            </a:r>
          </a:p>
          <a:p xmlns:a="http://schemas.openxmlformats.org/drawingml/2006/main">
            <a:pPr>
              <a:buNone/>
            </a:pPr>
            <a:r>
              <a:rPr sz="1200">
                <a:solidFill>
                  <a:srgbClr val="000000"/>
                </a:solidFill>
                <a:latin typeface="Times New Roman"/>
                <a:ea typeface="Times New Roman"/>
                <a:cs typeface="Times New Roman"/>
              </a:rPr>
              <a:t>[15] Zhu H, Lu Z, Lu C, Ren Y. A reactive scheduling method for disturbances in aircraft moving assembly line. International Journal of Production Research, 2021, 59(15):4756–4772.</a:t>
            </a:r>
          </a:p>
          <a:p xmlns:a="http://schemas.openxmlformats.org/drawingml/2006/main">
            <a:pPr>
              <a:buNone/>
            </a:pPr>
            <a:r>
              <a:rPr sz="1200">
                <a:solidFill>
                  <a:srgbClr val="000000"/>
                </a:solidFill>
                <a:latin typeface="Times New Roman"/>
                <a:ea typeface="Times New Roman"/>
                <a:cs typeface="Times New Roman"/>
              </a:rPr>
              <a:t>[5] Lovato D, Guillaume R, Thierry C, Battaia O. Managing disruptions in aircraft assembly lines with staircase criteria. International Journal of Production Research, 2023, 61(2):632–648.</a:t>
            </a:r>
          </a:p>
          <a:p xmlns:a="http://schemas.openxmlformats.org/drawingml/2006/main">
            <a:pPr>
              <a:buNone/>
            </a:pPr>
            <a:r>
              <a:rPr sz="1200">
                <a:solidFill>
                  <a:srgbClr val="000000"/>
                </a:solidFill>
                <a:latin typeface="Times New Roman"/>
                <a:ea typeface="Times New Roman"/>
                <a:cs typeface="Times New Roman"/>
              </a:rPr>
              <a:t>[11] Pucel X, Roussel S. Constraint Programming Model for Assembly Line Balancing and Scheduling with Walking Workers and Parallel Stations. CP 2024, LIPIcs 307:23:1–23:21.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Times New Roman"/>
                <a:ea typeface="Times New Roman"/>
                <a:cs typeface="Times New Roman"/>
              </a:rPr>
              <a:t>四类方法采用同一层级比较。规则逐步构造安排，数学优化显式描述变量与约束，元启发式通过搜索和解码改进方案，强化学习学习状态到动作的策略。Q学习调节搜索参数时，排程仍由搜索与解码产生。图网络属于状态表示设计，多智能体属于决策组织设计，可以在强化学习内部分别比较。对学习方法应区分训练成本与在线决策成本。</a:t>
            </a:r>
          </a:p>
          <a:p xmlns:a="http://schemas.openxmlformats.org/drawingml/2006/main">
            <a:pPr>
              <a:buNone/>
            </a:pPr>
            <a:r>
              <a:rPr sz="1200">
                <a:solidFill>
                  <a:srgbClr val="000000"/>
                </a:solidFill>
                <a:latin typeface="Times New Roman"/>
                <a:ea typeface="Times New Roman"/>
                <a:cs typeface="Times New Roman"/>
              </a:rPr>
              <a:t/>
            </a:r>
          </a:p>
          <a:p xmlns:a="http://schemas.openxmlformats.org/drawingml/2006/main">
            <a:pPr>
              <a:buNone/>
            </a:pPr>
            <a:r>
              <a:rPr sz="1200">
                <a:solidFill>
                  <a:srgbClr val="000000"/>
                </a:solidFill>
                <a:latin typeface="Times New Roman"/>
                <a:ea typeface="Times New Roman"/>
                <a:cs typeface="Times New Roman"/>
              </a:rPr>
              <a:t>参考文献（编号沿用开题报告v4）</a:t>
            </a:r>
          </a:p>
          <a:p xmlns:a="http://schemas.openxmlformats.org/drawingml/2006/main">
            <a:pPr>
              <a:buNone/>
            </a:pPr>
            <a:r>
              <a:rPr sz="1200">
                <a:solidFill>
                  <a:srgbClr val="000000"/>
                </a:solidFill>
                <a:latin typeface="Times New Roman"/>
                <a:ea typeface="Times New Roman"/>
                <a:cs typeface="Times New Roman"/>
              </a:rPr>
              <a:t>[17] Panwalkar S S, Iskander W. A survey of scheduling rules. Operations Research, 1977, 25(1):45–61.</a:t>
            </a:r>
          </a:p>
          <a:p xmlns:a="http://schemas.openxmlformats.org/drawingml/2006/main">
            <a:pPr>
              <a:buNone/>
            </a:pPr>
            <a:r>
              <a:rPr sz="1200">
                <a:solidFill>
                  <a:srgbClr val="000000"/>
                </a:solidFill>
                <a:latin typeface="Times New Roman"/>
                <a:ea typeface="Times New Roman"/>
                <a:cs typeface="Times New Roman"/>
              </a:rPr>
              <a:t>[3] Bao Z, Chen L, Qiu K. An aircraft final assembly line balancing problem considering resource constraints and parallel task scheduling. Computers &amp; Industrial Engineering, 2023, 182:109436.</a:t>
            </a:r>
          </a:p>
          <a:p xmlns:a="http://schemas.openxmlformats.org/drawingml/2006/main">
            <a:pPr>
              <a:buNone/>
            </a:pPr>
            <a:r>
              <a:rPr sz="1200">
                <a:solidFill>
                  <a:srgbClr val="000000"/>
                </a:solidFill>
                <a:latin typeface="Times New Roman"/>
                <a:ea typeface="Times New Roman"/>
                <a:cs typeface="Times New Roman"/>
              </a:rPr>
              <a:t>[11] Pucel X, Roussel S. Constraint Programming Model for Assembly Line Balancing and Scheduling with Walking Workers and Parallel Stations. CP 2024, LIPIcs 307:23:1–23:21.</a:t>
            </a:r>
          </a:p>
          <a:p xmlns:a="http://schemas.openxmlformats.org/drawingml/2006/main">
            <a:pPr>
              <a:buNone/>
            </a:pPr>
            <a:r>
              <a:rPr sz="1200">
                <a:solidFill>
                  <a:srgbClr val="000000"/>
                </a:solidFill>
                <a:latin typeface="Times New Roman"/>
                <a:ea typeface="Times New Roman"/>
                <a:cs typeface="Times New Roman"/>
              </a:rPr>
              <a:t>[5] Lovato D, Guillaume R, Thierry C, Battaia O. Managing disruptions in aircraft assembly lines with staircase criteria. International Journal of Production Research, 2023, 61(2):632–648.</a:t>
            </a:r>
          </a:p>
          <a:p xmlns:a="http://schemas.openxmlformats.org/drawingml/2006/main">
            <a:pPr>
              <a:buNone/>
            </a:pPr>
            <a:r>
              <a:rPr sz="1200">
                <a:solidFill>
                  <a:srgbClr val="000000"/>
                </a:solidFill>
                <a:latin typeface="Times New Roman"/>
                <a:ea typeface="Times New Roman"/>
                <a:cs typeface="Times New Roman"/>
              </a:rPr>
              <a:t>[9] Fang P, Yang J, Liao Q, Zhong R Y, Jiang Y. Flexible Worker Allocation in Aircraft Final Assembly Line Using Multiobjective Evolutionary Algorithms. IEEE Transactions on Industrial Informatics, 2021, 17(11):7468–7478.</a:t>
            </a:r>
          </a:p>
          <a:p xmlns:a="http://schemas.openxmlformats.org/drawingml/2006/main">
            <a:pPr>
              <a:buNone/>
            </a:pPr>
            <a:r>
              <a:rPr sz="1200">
                <a:solidFill>
                  <a:srgbClr val="000000"/>
                </a:solidFill>
                <a:latin typeface="Times New Roman"/>
                <a:ea typeface="Times New Roman"/>
                <a:cs typeface="Times New Roman"/>
              </a:rPr>
              <a:t>[10] Zheng X, Qiao F, You S, et al. Joint optimization of production scheduling and worker allocation under a resource dedication policy in aircraft assembly lines. Robotics and Computer-Integrated Manufacturing, 2025, 96:103047.</a:t>
            </a:r>
          </a:p>
          <a:p xmlns:a="http://schemas.openxmlformats.org/drawingml/2006/main">
            <a:pPr>
              <a:buNone/>
            </a:pPr>
            <a:r>
              <a:rPr sz="1200">
                <a:solidFill>
                  <a:srgbClr val="000000"/>
                </a:solidFill>
                <a:latin typeface="Times New Roman"/>
                <a:ea typeface="Times New Roman"/>
                <a:cs typeface="Times New Roman"/>
              </a:rPr>
              <a:t>[18] Wen X, Liu H, Zhang X, et al. A Q-Learning Improved Particle Swarm Optimization for Aircraft Pulsating Assembly Line Scheduling Problem Considering Skilled Operator Allocation. Computers, Materials &amp; Continua, 2026, 86(1):1–27.</a:t>
            </a:r>
          </a:p>
          <a:p xmlns:a="http://schemas.openxmlformats.org/drawingml/2006/main">
            <a:pPr>
              <a:buNone/>
            </a:pPr>
            <a:r>
              <a:rPr sz="1200">
                <a:solidFill>
                  <a:srgbClr val="000000"/>
                </a:solidFill>
                <a:latin typeface="Times New Roman"/>
                <a:ea typeface="Times New Roman"/>
                <a:cs typeface="Times New Roman"/>
              </a:rPr>
              <a:t>[19] Wen X, et al. An improved genetic algorithm based on reinforcement learning for aircraft assembly scheduling problem. Computers &amp; Industrial Engineering, 2024, 193:110263.</a:t>
            </a:r>
          </a:p>
          <a:p xmlns:a="http://schemas.openxmlformats.org/drawingml/2006/main">
            <a:pPr>
              <a:buNone/>
            </a:pPr>
            <a:r>
              <a:rPr sz="1200">
                <a:solidFill>
                  <a:srgbClr val="000000"/>
                </a:solidFill>
                <a:latin typeface="Times New Roman"/>
                <a:ea typeface="Times New Roman"/>
                <a:cs typeface="Times New Roman"/>
              </a:rPr>
              <a:t>[22] Zhang C, Song W, Cao Z, et al. Learning to Dispatch for Job Shop Scheduling via Deep Reinforcement Learning. NeurIPS, 2020, 33:1621–1632.</a:t>
            </a:r>
          </a:p>
          <a:p xmlns:a="http://schemas.openxmlformats.org/drawingml/2006/main">
            <a:pPr>
              <a:buNone/>
            </a:pPr>
            <a:r>
              <a:rPr sz="1200">
                <a:solidFill>
                  <a:srgbClr val="000000"/>
                </a:solidFill>
                <a:latin typeface="Times New Roman"/>
                <a:ea typeface="Times New Roman"/>
                <a:cs typeface="Times New Roman"/>
              </a:rPr>
              <a:t>[23] Wen X, Zhang H, Yang W, et al. Research on a worker skill level-aware pulsating assembly scheduling method for aircraft based on the GIN-PPO algorithm. Computers &amp; Industrial Engineering, 2026, 218:112135.</a:t>
            </a:r>
          </a:p>
          <a:p xmlns:a="http://schemas.openxmlformats.org/drawingml/2006/main">
            <a:pPr>
              <a:buNone/>
            </a:pPr>
            <a:r>
              <a:rPr sz="1200">
                <a:solidFill>
                  <a:srgbClr val="000000"/>
                </a:solidFill>
                <a:latin typeface="Times New Roman"/>
                <a:ea typeface="Times New Roman"/>
                <a:cs typeface="Times New Roman"/>
              </a:rPr>
              <a:t>[24] Chen B, Zhang J, Luo X, Jiang S. A multi-agent graph attention deep reinforcement learning method for aircraft assembly dynamic scheduling. Advanced Engineering Informatics, 2026, 73:104565.</a:t>
            </a:r>
          </a:p>
          <a:p xmlns:a="http://schemas.openxmlformats.org/drawingml/2006/main">
            <a:pPr>
              <a:buNone/>
            </a:pPr>
            <a:r>
              <a:rPr sz="1200">
                <a:solidFill>
                  <a:srgbClr val="000000"/>
                </a:solidFill>
                <a:latin typeface="Times New Roman"/>
                <a:ea typeface="Times New Roman"/>
                <a:cs typeface="Times New Roman"/>
              </a:rPr>
              <a:t>[25] Waubert de Puiseau C, Ercan F, Peters J, et al. A literature review on deep reinforcement learning for machine scheduling problems. Journal of Manufacturing Systems, 2026, 85:96–126.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Times New Roman"/>
                <a:ea typeface="Times New Roman"/>
                <a:cs typeface="Times New Roman"/>
              </a:rPr>
              <a:t>本页按信息内容比较状态表示，各组可以交叉。左侧图形为文献信息组织的概念示意，不表示这些论文采用相同的生产对象或同一个系统。Wen研究单站内的工序选择；Song提供工序与机器异构关系及联合动作的参考。Chen已使用站内图和跨站聚合，跨站信息进入评价网络。Ding通过知识图谱组织产品、工艺、资源和事件；Hu已使用动态时间属性及语义异构图。研究内容三进一步对应多架次同步转站与紧邻下一周期站位就绪的实际时间联系。</a:t>
            </a:r>
          </a:p>
          <a:p xmlns:a="http://schemas.openxmlformats.org/drawingml/2006/main">
            <a:pPr>
              <a:buNone/>
            </a:pPr>
            <a:r>
              <a:rPr sz="1200">
                <a:solidFill>
                  <a:srgbClr val="000000"/>
                </a:solidFill>
                <a:latin typeface="Times New Roman"/>
                <a:ea typeface="Times New Roman"/>
                <a:cs typeface="Times New Roman"/>
              </a:rPr>
              <a:t/>
            </a:r>
          </a:p>
          <a:p xmlns:a="http://schemas.openxmlformats.org/drawingml/2006/main">
            <a:pPr>
              <a:buNone/>
            </a:pPr>
            <a:r>
              <a:rPr sz="1200">
                <a:solidFill>
                  <a:srgbClr val="000000"/>
                </a:solidFill>
                <a:latin typeface="Times New Roman"/>
                <a:ea typeface="Times New Roman"/>
                <a:cs typeface="Times New Roman"/>
              </a:rPr>
              <a:t>参考文献（编号沿用开题报告v4）</a:t>
            </a:r>
          </a:p>
          <a:p xmlns:a="http://schemas.openxmlformats.org/drawingml/2006/main">
            <a:pPr>
              <a:buNone/>
            </a:pPr>
            <a:r>
              <a:rPr sz="1200">
                <a:solidFill>
                  <a:srgbClr val="000000"/>
                </a:solidFill>
                <a:latin typeface="Times New Roman"/>
                <a:ea typeface="Times New Roman"/>
                <a:cs typeface="Times New Roman"/>
              </a:rPr>
              <a:t>[23] Wen X, Zhang H, Yang W, et al. Research on a worker skill level-aware pulsating assembly scheduling method for aircraft based on the GIN-PPO algorithm. Computers &amp; Industrial Engineering, 2026, 218:112135.</a:t>
            </a:r>
          </a:p>
          <a:p xmlns:a="http://schemas.openxmlformats.org/drawingml/2006/main">
            <a:pPr>
              <a:buNone/>
            </a:pPr>
            <a:r>
              <a:rPr sz="1200">
                <a:solidFill>
                  <a:srgbClr val="000000"/>
                </a:solidFill>
                <a:latin typeface="Times New Roman"/>
                <a:ea typeface="Times New Roman"/>
                <a:cs typeface="Times New Roman"/>
              </a:rPr>
              <a:t>[29] Song W, Chen X, Li Q, Cao Z. Flexible job-shop scheduling via graph neural network and deep reinforcement learning. IEEE Transactions on Industrial Informatics, 2023, 19(2):1600–1610.</a:t>
            </a:r>
          </a:p>
          <a:p xmlns:a="http://schemas.openxmlformats.org/drawingml/2006/main">
            <a:pPr>
              <a:buNone/>
            </a:pPr>
            <a:r>
              <a:rPr sz="1200">
                <a:solidFill>
                  <a:srgbClr val="000000"/>
                </a:solidFill>
                <a:latin typeface="Times New Roman"/>
                <a:ea typeface="Times New Roman"/>
                <a:cs typeface="Times New Roman"/>
              </a:rPr>
              <a:t>[24] Chen B, Zhang J, Luo X, Jiang S. A multi-agent graph attention deep reinforcement learning method for aircraft assembly dynamic scheduling. Advanced Engineering Informatics, 2026, 73:104565.</a:t>
            </a:r>
          </a:p>
          <a:p xmlns:a="http://schemas.openxmlformats.org/drawingml/2006/main">
            <a:pPr>
              <a:buNone/>
            </a:pPr>
            <a:r>
              <a:rPr sz="1200">
                <a:solidFill>
                  <a:srgbClr val="000000"/>
                </a:solidFill>
                <a:latin typeface="Times New Roman"/>
                <a:ea typeface="Times New Roman"/>
                <a:cs typeface="Times New Roman"/>
              </a:rPr>
              <a:t>[33] Ding C, Qiao F, Liu J, Wang D, Shi J. Semantic-driven real-time scheduling approach for aerospace product manufacturing. Computers &amp; Industrial Engineering, 2025, 210:111525.</a:t>
            </a:r>
          </a:p>
          <a:p xmlns:a="http://schemas.openxmlformats.org/drawingml/2006/main">
            <a:pPr>
              <a:buNone/>
            </a:pPr>
            <a:r>
              <a:rPr sz="1200">
                <a:solidFill>
                  <a:srgbClr val="000000"/>
                </a:solidFill>
                <a:latin typeface="Times New Roman"/>
                <a:ea typeface="Times New Roman"/>
                <a:cs typeface="Times New Roman"/>
              </a:rPr>
              <a:t>[34] Hu Y, Chen J, Zhang Z, Tang D, Cai Q. Dynamic scheduling for dual-resource constrained flexible job-shop via semantic-aware graph modelling and deep reinforcement learning. Knowledge-Based Systems, 2025, 328:114192.</a:t>
            </a:r>
          </a:p>
          <a:p xmlns:a="http://schemas.openxmlformats.org/drawingml/2006/main">
            <a:pPr>
              <a:buNone/>
            </a:pPr>
            <a:r>
              <a:rPr sz="1200">
                <a:solidFill>
                  <a:srgbClr val="000000"/>
                </a:solidFill>
                <a:latin typeface="Times New Roman"/>
                <a:ea typeface="Times New Roman"/>
                <a:cs typeface="Times New Roman"/>
              </a:rPr>
              <a:t>[27] Smit I G, Zhou J, Reijnen R, et al. Graph neural networks for job shop scheduling problems: A survey. Computers &amp; Operations Research, 2025, 176:106914.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sz="1200">
                <a:solidFill>
                  <a:srgbClr val="000000"/>
                </a:solidFill>
                <a:latin typeface="Times New Roman"/>
                <a:ea typeface="Times New Roman"/>
                <a:cs typeface="Times New Roman"/>
              </a:rPr>
              <a:t>前三页从生产决策、求解方式和信息表示三个视角共同支撑本页的三个研究问题。研究内容一关注给定人员条件下的工序、站位与具体团队联合安排。研究内容二在延迟开工后利用不同关系信息，在规定安排保留条件下兼顾完工时间与计划稳定性。研究内容三面向多架次同步转站，区分当前与紧邻下一周期任务，并学习生产状态与实际转站、站位就绪时间结果的联系。</a:t>
            </a:r>
          </a:p>
          <a:p xmlns:a="http://schemas.openxmlformats.org/drawingml/2006/main">
            <a:pPr>
              <a:buNone/>
            </a:pPr>
            <a:r>
              <a:rPr sz="1200">
                <a:solidFill>
                  <a:srgbClr val="000000"/>
                </a:solidFill>
                <a:latin typeface="Times New Roman"/>
                <a:ea typeface="Times New Roman"/>
                <a:cs typeface="Times New Roman"/>
              </a:rPr>
              <a:t/>
            </a:r>
          </a:p>
          <a:p xmlns:a="http://schemas.openxmlformats.org/drawingml/2006/main">
            <a:pPr>
              <a:buNone/>
            </a:pPr>
            <a:r>
              <a:rPr sz="1200">
                <a:solidFill>
                  <a:srgbClr val="000000"/>
                </a:solidFill>
                <a:latin typeface="Times New Roman"/>
                <a:ea typeface="Times New Roman"/>
                <a:cs typeface="Times New Roman"/>
              </a:rPr>
              <a:t>参考文献（编号沿用开题报告v4）</a:t>
            </a:r>
          </a:p>
          <a:p xmlns:a="http://schemas.openxmlformats.org/drawingml/2006/main">
            <a:pPr>
              <a:buNone/>
            </a:pPr>
            <a:r>
              <a:rPr sz="1200">
                <a:solidFill>
                  <a:srgbClr val="000000"/>
                </a:solidFill>
                <a:latin typeface="Times New Roman"/>
                <a:ea typeface="Times New Roman"/>
                <a:cs typeface="Times New Roman"/>
              </a:rPr>
              <a:t>[3] Bao Z, Chen L, Qiu K. An aircraft final assembly line balancing problem considering resource constraints and parallel task scheduling. Computers &amp; Industrial Engineering, 2023, 182:109436.</a:t>
            </a:r>
          </a:p>
          <a:p xmlns:a="http://schemas.openxmlformats.org/drawingml/2006/main">
            <a:pPr>
              <a:buNone/>
            </a:pPr>
            <a:r>
              <a:rPr sz="1200">
                <a:solidFill>
                  <a:srgbClr val="000000"/>
                </a:solidFill>
                <a:latin typeface="Times New Roman"/>
                <a:ea typeface="Times New Roman"/>
                <a:cs typeface="Times New Roman"/>
              </a:rPr>
              <a:t>[9] Fang P, Yang J, Liao Q, Zhong R Y, Jiang Y. Flexible Worker Allocation in Aircraft Final Assembly Line Using Multiobjective Evolutionary Algorithms. IEEE Transactions on Industrial Informatics, 2021, 17(11):7468–7478.</a:t>
            </a:r>
          </a:p>
          <a:p xmlns:a="http://schemas.openxmlformats.org/drawingml/2006/main">
            <a:pPr>
              <a:buNone/>
            </a:pPr>
            <a:r>
              <a:rPr sz="1200">
                <a:solidFill>
                  <a:srgbClr val="000000"/>
                </a:solidFill>
                <a:latin typeface="Times New Roman"/>
                <a:ea typeface="Times New Roman"/>
                <a:cs typeface="Times New Roman"/>
              </a:rPr>
              <a:t>[10] Zheng X, Qiao F, You S, et al. Joint optimization of production scheduling and worker allocation under a resource dedication policy in aircraft assembly lines. Robotics and Computer-Integrated Manufacturing, 2025, 96:103047.</a:t>
            </a:r>
          </a:p>
          <a:p xmlns:a="http://schemas.openxmlformats.org/drawingml/2006/main">
            <a:pPr>
              <a:buNone/>
            </a:pPr>
            <a:r>
              <a:rPr sz="1200">
                <a:solidFill>
                  <a:srgbClr val="000000"/>
                </a:solidFill>
                <a:latin typeface="Times New Roman"/>
                <a:ea typeface="Times New Roman"/>
                <a:cs typeface="Times New Roman"/>
              </a:rPr>
              <a:t>[5] Lovato D, Guillaume R, Thierry C, Battaia O. Managing disruptions in aircraft assembly lines with staircase criteria. International Journal of Production Research, 2023, 61(2):632–648.</a:t>
            </a:r>
          </a:p>
          <a:p xmlns:a="http://schemas.openxmlformats.org/drawingml/2006/main">
            <a:pPr>
              <a:buNone/>
            </a:pPr>
            <a:r>
              <a:rPr sz="1200">
                <a:solidFill>
                  <a:srgbClr val="000000"/>
                </a:solidFill>
                <a:latin typeface="Times New Roman"/>
                <a:ea typeface="Times New Roman"/>
                <a:cs typeface="Times New Roman"/>
              </a:rPr>
              <a:t>[29] Song W, Chen X, Li Q, Cao Z. Flexible job-shop scheduling via graph neural network and deep reinforcement learning. IEEE Transactions on Industrial Informatics, 2023, 19(2):1600–1610.</a:t>
            </a:r>
          </a:p>
          <a:p xmlns:a="http://schemas.openxmlformats.org/drawingml/2006/main">
            <a:pPr>
              <a:buNone/>
            </a:pPr>
            <a:r>
              <a:rPr sz="1200">
                <a:solidFill>
                  <a:srgbClr val="000000"/>
                </a:solidFill>
                <a:latin typeface="Times New Roman"/>
                <a:ea typeface="Times New Roman"/>
                <a:cs typeface="Times New Roman"/>
              </a:rPr>
              <a:t>[24] Chen B, Zhang J, Luo X, Jiang S. A multi-agent graph attention deep reinforcement learning method for aircraft assembly dynamic scheduling. Advanced Engineering Informatics, 2026, 73:104565.</a:t>
            </a:r>
          </a:p>
          <a:p xmlns:a="http://schemas.openxmlformats.org/drawingml/2006/main">
            <a:pPr>
              <a:buNone/>
            </a:pPr>
            <a:r>
              <a:rPr sz="1200">
                <a:solidFill>
                  <a:srgbClr val="000000"/>
                </a:solidFill>
                <a:latin typeface="Times New Roman"/>
                <a:ea typeface="Times New Roman"/>
                <a:cs typeface="Times New Roman"/>
              </a:rPr>
              <a:t>[33] Ding C, Qiao F, Liu J, Wang D, Shi J. Semantic-driven real-time scheduling approach for aerospace product manufacturing. Computers &amp; Industrial Engineering, 2025, 210:111525.</a:t>
            </a:r>
          </a:p>
          <a:p xmlns:a="http://schemas.openxmlformats.org/drawingml/2006/main">
            <a:pPr>
              <a:buNone/>
            </a:pPr>
            <a:r>
              <a:rPr sz="1200">
                <a:solidFill>
                  <a:srgbClr val="000000"/>
                </a:solidFill>
                <a:latin typeface="Times New Roman"/>
                <a:ea typeface="Times New Roman"/>
                <a:cs typeface="Times New Roman"/>
              </a:rPr>
              <a:t>[34] Hu Y, Chen J, Zhang Z, Tang D, Cai Q. Dynamic scheduling for dual-resource constrained flexible job-shop via semantic-aware graph modelling and deep reinforcement learning. Knowledge-Based Systems, 2025, 328:114192.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8548be3d9f45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4e828234694d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de30cce7c94f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a851c1635040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07d7cd2cb542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317b64f53f41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7446CA-0536-42FB-A212-F59CFD5CB1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Times New Roman"/>
                <a:ea typeface="Times New Roman"/>
                <a:cs typeface="Times New Roman"/>
              </a:defRPr>
            </a:defPPr>
            <a:lvl1pPr marL="0" indent="0">
              <a:lnSpc>
                <a:spcPct val="110000"/>
              </a:lnSpc>
              <a:spcBef>
                <a:spcPts val="0"/>
              </a:spcBef>
              <a:spcAft>
                <a:spcPts val="0"/>
              </a:spcAft>
              <a:buNone/>
              <a:defRPr>
                <a:latin typeface="Times New Roman"/>
                <a:ea typeface="Times New Roman"/>
                <a:cs typeface="Times New Roman"/>
              </a:defRPr>
            </a:lvl1pPr>
            <a:lvl2pPr marL="0" indent="0">
              <a:lnSpc>
                <a:spcPct val="110000"/>
              </a:lnSpc>
              <a:spcBef>
                <a:spcPts val="0"/>
              </a:spcBef>
              <a:spcAft>
                <a:spcPts val="0"/>
              </a:spcAft>
              <a:buNone/>
              <a:defRPr>
                <a:latin typeface="Times New Roman"/>
                <a:ea typeface="Times New Roman"/>
                <a:cs typeface="Times New Roman"/>
              </a:defRPr>
            </a:lvl2pPr>
            <a:lvl3pPr marL="0" indent="0">
              <a:lnSpc>
                <a:spcPct val="110000"/>
              </a:lnSpc>
              <a:spcBef>
                <a:spcPts val="0"/>
              </a:spcBef>
              <a:spcAft>
                <a:spcPts val="0"/>
              </a:spcAft>
              <a:buNone/>
              <a:defRPr>
                <a:latin typeface="Times New Roman"/>
                <a:ea typeface="Times New Roman"/>
                <a:cs typeface="Times New Roman"/>
              </a:defRPr>
            </a:lvl3pPr>
            <a:lvl4pPr marL="0" indent="0">
              <a:lnSpc>
                <a:spcPct val="110000"/>
              </a:lnSpc>
              <a:spcBef>
                <a:spcPts val="0"/>
              </a:spcBef>
              <a:spcAft>
                <a:spcPts val="0"/>
              </a:spcAft>
              <a:buNone/>
              <a:defRPr>
                <a:latin typeface="Times New Roman"/>
                <a:ea typeface="Times New Roman"/>
                <a:cs typeface="Times New Roman"/>
              </a:defRPr>
            </a:lvl4pPr>
            <a:lvl5pPr marL="0" indent="0">
              <a:lnSpc>
                <a:spcPct val="110000"/>
              </a:lnSpc>
              <a:spcBef>
                <a:spcPts val="0"/>
              </a:spcBef>
              <a:spcAft>
                <a:spcPts val="0"/>
              </a:spcAft>
              <a:buNone/>
              <a:defRPr>
                <a:latin typeface="Times New Roman"/>
                <a:ea typeface="Times New Roman"/>
                <a:cs typeface="Times New Roman"/>
              </a:defRPr>
            </a:lvl5pPr>
            <a:lvl6pPr marL="0" indent="0">
              <a:lnSpc>
                <a:spcPct val="110000"/>
              </a:lnSpc>
              <a:spcBef>
                <a:spcPts val="0"/>
              </a:spcBef>
              <a:spcAft>
                <a:spcPts val="0"/>
              </a:spcAft>
              <a:buNone/>
              <a:defRPr>
                <a:latin typeface="Times New Roman"/>
                <a:ea typeface="Times New Roman"/>
                <a:cs typeface="Times New Roman"/>
              </a:defRPr>
            </a:lvl6pPr>
            <a:lvl7pPr marL="0" indent="0">
              <a:lnSpc>
                <a:spcPct val="110000"/>
              </a:lnSpc>
              <a:spcBef>
                <a:spcPts val="0"/>
              </a:spcBef>
              <a:spcAft>
                <a:spcPts val="0"/>
              </a:spcAft>
              <a:buNone/>
              <a:defRPr>
                <a:latin typeface="Times New Roman"/>
                <a:ea typeface="Times New Roman"/>
                <a:cs typeface="Times New Roman"/>
              </a:defRPr>
            </a:lvl7pPr>
            <a:lvl8pPr marL="0" indent="0">
              <a:lnSpc>
                <a:spcPct val="110000"/>
              </a:lnSpc>
              <a:spcBef>
                <a:spcPts val="0"/>
              </a:spcBef>
              <a:spcAft>
                <a:spcPts val="0"/>
              </a:spcAft>
              <a:buNone/>
              <a:defRPr>
                <a:latin typeface="Times New Roman"/>
                <a:ea typeface="Times New Roman"/>
                <a:cs typeface="Times New Roman"/>
              </a:defRPr>
            </a:lvl8pPr>
            <a:lvl9pPr marL="0" indent="0">
              <a:lnSpc>
                <a:spcPct val="110000"/>
              </a:lnSpc>
              <a:spcBef>
                <a:spcPts val="0"/>
              </a:spcBef>
              <a:spcAft>
                <a:spcPts val="0"/>
              </a:spcAft>
              <a:buNone/>
              <a:defRPr>
                <a:latin typeface="Times New Roman"/>
                <a:ea typeface="Times New Roman"/>
                <a:cs typeface="Times New Roman"/>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0D5B6F-9FF3-4EE2-93D4-A6DA1AF00BC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Times New Roman"/>
                <a:ea typeface="Times New Roman"/>
                <a:cs typeface="Times New Roman"/>
              </a:defRPr>
            </a:defPPr>
            <a:lvl1pPr marL="0" indent="0">
              <a:lnSpc>
                <a:spcPct val="110000"/>
              </a:lnSpc>
              <a:spcBef>
                <a:spcPts val="0"/>
              </a:spcBef>
              <a:spcAft>
                <a:spcPts val="0"/>
              </a:spcAft>
              <a:buNone/>
              <a:defRPr>
                <a:latin typeface="Times New Roman"/>
                <a:ea typeface="Times New Roman"/>
                <a:cs typeface="Times New Roman"/>
              </a:defRPr>
            </a:lvl1pPr>
            <a:lvl2pPr marL="0" indent="0">
              <a:lnSpc>
                <a:spcPct val="110000"/>
              </a:lnSpc>
              <a:spcBef>
                <a:spcPts val="0"/>
              </a:spcBef>
              <a:spcAft>
                <a:spcPts val="0"/>
              </a:spcAft>
              <a:buNone/>
              <a:defRPr>
                <a:latin typeface="Times New Roman"/>
                <a:ea typeface="Times New Roman"/>
                <a:cs typeface="Times New Roman"/>
              </a:defRPr>
            </a:lvl2pPr>
            <a:lvl3pPr marL="0" indent="0">
              <a:lnSpc>
                <a:spcPct val="110000"/>
              </a:lnSpc>
              <a:spcBef>
                <a:spcPts val="0"/>
              </a:spcBef>
              <a:spcAft>
                <a:spcPts val="0"/>
              </a:spcAft>
              <a:buNone/>
              <a:defRPr>
                <a:latin typeface="Times New Roman"/>
                <a:ea typeface="Times New Roman"/>
                <a:cs typeface="Times New Roman"/>
              </a:defRPr>
            </a:lvl3pPr>
            <a:lvl4pPr marL="0" indent="0">
              <a:lnSpc>
                <a:spcPct val="110000"/>
              </a:lnSpc>
              <a:spcBef>
                <a:spcPts val="0"/>
              </a:spcBef>
              <a:spcAft>
                <a:spcPts val="0"/>
              </a:spcAft>
              <a:buNone/>
              <a:defRPr>
                <a:latin typeface="Times New Roman"/>
                <a:ea typeface="Times New Roman"/>
                <a:cs typeface="Times New Roman"/>
              </a:defRPr>
            </a:lvl4pPr>
            <a:lvl5pPr marL="0" indent="0">
              <a:lnSpc>
                <a:spcPct val="110000"/>
              </a:lnSpc>
              <a:spcBef>
                <a:spcPts val="0"/>
              </a:spcBef>
              <a:spcAft>
                <a:spcPts val="0"/>
              </a:spcAft>
              <a:buNone/>
              <a:defRPr>
                <a:latin typeface="Times New Roman"/>
                <a:ea typeface="Times New Roman"/>
                <a:cs typeface="Times New Roman"/>
              </a:defRPr>
            </a:lvl5pPr>
            <a:lvl6pPr marL="0" indent="0">
              <a:lnSpc>
                <a:spcPct val="110000"/>
              </a:lnSpc>
              <a:spcBef>
                <a:spcPts val="0"/>
              </a:spcBef>
              <a:spcAft>
                <a:spcPts val="0"/>
              </a:spcAft>
              <a:buNone/>
              <a:defRPr>
                <a:latin typeface="Times New Roman"/>
                <a:ea typeface="Times New Roman"/>
                <a:cs typeface="Times New Roman"/>
              </a:defRPr>
            </a:lvl6pPr>
            <a:lvl7pPr marL="0" indent="0">
              <a:lnSpc>
                <a:spcPct val="110000"/>
              </a:lnSpc>
              <a:spcBef>
                <a:spcPts val="0"/>
              </a:spcBef>
              <a:spcAft>
                <a:spcPts val="0"/>
              </a:spcAft>
              <a:buNone/>
              <a:defRPr>
                <a:latin typeface="Times New Roman"/>
                <a:ea typeface="Times New Roman"/>
                <a:cs typeface="Times New Roman"/>
              </a:defRPr>
            </a:lvl7pPr>
            <a:lvl8pPr marL="0" indent="0">
              <a:lnSpc>
                <a:spcPct val="110000"/>
              </a:lnSpc>
              <a:spcBef>
                <a:spcPts val="0"/>
              </a:spcBef>
              <a:spcAft>
                <a:spcPts val="0"/>
              </a:spcAft>
              <a:buNone/>
              <a:defRPr>
                <a:latin typeface="Times New Roman"/>
                <a:ea typeface="Times New Roman"/>
                <a:cs typeface="Times New Roman"/>
              </a:defRPr>
            </a:lvl8pPr>
            <a:lvl9pPr marL="0" indent="0">
              <a:lnSpc>
                <a:spcPct val="110000"/>
              </a:lnSpc>
              <a:spcBef>
                <a:spcPts val="0"/>
              </a:spcBef>
              <a:spcAft>
                <a:spcPts val="0"/>
              </a:spcAft>
              <a:buNone/>
              <a:defRPr>
                <a:latin typeface="Times New Roman"/>
                <a:ea typeface="Times New Roman"/>
                <a:cs typeface="Times New Roman"/>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5DB4740-B233-446F-A3C1-53675180AA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Times New Roman"/>
                <a:ea typeface="Times New Roman"/>
                <a:cs typeface="Times New Roman"/>
              </a:defRPr>
            </a:defPPr>
            <a:lvl1pPr marL="0" indent="0">
              <a:lnSpc>
                <a:spcPct val="110000"/>
              </a:lnSpc>
              <a:spcBef>
                <a:spcPts val="0"/>
              </a:spcBef>
              <a:spcAft>
                <a:spcPts val="0"/>
              </a:spcAft>
              <a:buNone/>
              <a:defRPr>
                <a:latin typeface="Times New Roman"/>
                <a:ea typeface="Times New Roman"/>
                <a:cs typeface="Times New Roman"/>
              </a:defRPr>
            </a:lvl1pPr>
            <a:lvl2pPr marL="0" indent="0">
              <a:lnSpc>
                <a:spcPct val="110000"/>
              </a:lnSpc>
              <a:spcBef>
                <a:spcPts val="0"/>
              </a:spcBef>
              <a:spcAft>
                <a:spcPts val="0"/>
              </a:spcAft>
              <a:buNone/>
              <a:defRPr>
                <a:latin typeface="Times New Roman"/>
                <a:ea typeface="Times New Roman"/>
                <a:cs typeface="Times New Roman"/>
              </a:defRPr>
            </a:lvl2pPr>
            <a:lvl3pPr marL="0" indent="0">
              <a:lnSpc>
                <a:spcPct val="110000"/>
              </a:lnSpc>
              <a:spcBef>
                <a:spcPts val="0"/>
              </a:spcBef>
              <a:spcAft>
                <a:spcPts val="0"/>
              </a:spcAft>
              <a:buNone/>
              <a:defRPr>
                <a:latin typeface="Times New Roman"/>
                <a:ea typeface="Times New Roman"/>
                <a:cs typeface="Times New Roman"/>
              </a:defRPr>
            </a:lvl3pPr>
            <a:lvl4pPr marL="0" indent="0">
              <a:lnSpc>
                <a:spcPct val="110000"/>
              </a:lnSpc>
              <a:spcBef>
                <a:spcPts val="0"/>
              </a:spcBef>
              <a:spcAft>
                <a:spcPts val="0"/>
              </a:spcAft>
              <a:buNone/>
              <a:defRPr>
                <a:latin typeface="Times New Roman"/>
                <a:ea typeface="Times New Roman"/>
                <a:cs typeface="Times New Roman"/>
              </a:defRPr>
            </a:lvl4pPr>
            <a:lvl5pPr marL="0" indent="0">
              <a:lnSpc>
                <a:spcPct val="110000"/>
              </a:lnSpc>
              <a:spcBef>
                <a:spcPts val="0"/>
              </a:spcBef>
              <a:spcAft>
                <a:spcPts val="0"/>
              </a:spcAft>
              <a:buNone/>
              <a:defRPr>
                <a:latin typeface="Times New Roman"/>
                <a:ea typeface="Times New Roman"/>
                <a:cs typeface="Times New Roman"/>
              </a:defRPr>
            </a:lvl5pPr>
            <a:lvl6pPr marL="0" indent="0">
              <a:lnSpc>
                <a:spcPct val="110000"/>
              </a:lnSpc>
              <a:spcBef>
                <a:spcPts val="0"/>
              </a:spcBef>
              <a:spcAft>
                <a:spcPts val="0"/>
              </a:spcAft>
              <a:buNone/>
              <a:defRPr>
                <a:latin typeface="Times New Roman"/>
                <a:ea typeface="Times New Roman"/>
                <a:cs typeface="Times New Roman"/>
              </a:defRPr>
            </a:lvl6pPr>
            <a:lvl7pPr marL="0" indent="0">
              <a:lnSpc>
                <a:spcPct val="110000"/>
              </a:lnSpc>
              <a:spcBef>
                <a:spcPts val="0"/>
              </a:spcBef>
              <a:spcAft>
                <a:spcPts val="0"/>
              </a:spcAft>
              <a:buNone/>
              <a:defRPr>
                <a:latin typeface="Times New Roman"/>
                <a:ea typeface="Times New Roman"/>
                <a:cs typeface="Times New Roman"/>
              </a:defRPr>
            </a:lvl7pPr>
            <a:lvl8pPr marL="0" indent="0">
              <a:lnSpc>
                <a:spcPct val="110000"/>
              </a:lnSpc>
              <a:spcBef>
                <a:spcPts val="0"/>
              </a:spcBef>
              <a:spcAft>
                <a:spcPts val="0"/>
              </a:spcAft>
              <a:buNone/>
              <a:defRPr>
                <a:latin typeface="Times New Roman"/>
                <a:ea typeface="Times New Roman"/>
                <a:cs typeface="Times New Roman"/>
              </a:defRPr>
            </a:lvl8pPr>
            <a:lvl9pPr marL="0" indent="0">
              <a:lnSpc>
                <a:spcPct val="110000"/>
              </a:lnSpc>
              <a:spcBef>
                <a:spcPts val="0"/>
              </a:spcBef>
              <a:spcAft>
                <a:spcPts val="0"/>
              </a:spcAft>
              <a:buNone/>
              <a:defRPr>
                <a:latin typeface="Times New Roman"/>
                <a:ea typeface="Times New Roman"/>
                <a:cs typeface="Times New Roman"/>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E6CCD-73EC-423B-8B08-13701A7AAC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Times New Roman"/>
                <a:ea typeface="Times New Roman"/>
                <a:cs typeface="Times New Roman"/>
              </a:defRPr>
            </a:defPPr>
            <a:lvl1pPr marL="0" indent="0">
              <a:lnSpc>
                <a:spcPct val="110000"/>
              </a:lnSpc>
              <a:spcBef>
                <a:spcPts val="0"/>
              </a:spcBef>
              <a:spcAft>
                <a:spcPts val="0"/>
              </a:spcAft>
              <a:buNone/>
              <a:defRPr>
                <a:latin typeface="Times New Roman"/>
                <a:ea typeface="Times New Roman"/>
                <a:cs typeface="Times New Roman"/>
              </a:defRPr>
            </a:lvl1pPr>
            <a:lvl2pPr marL="0" indent="0">
              <a:lnSpc>
                <a:spcPct val="110000"/>
              </a:lnSpc>
              <a:spcBef>
                <a:spcPts val="0"/>
              </a:spcBef>
              <a:spcAft>
                <a:spcPts val="0"/>
              </a:spcAft>
              <a:buNone/>
              <a:defRPr>
                <a:latin typeface="Times New Roman"/>
                <a:ea typeface="Times New Roman"/>
                <a:cs typeface="Times New Roman"/>
              </a:defRPr>
            </a:lvl2pPr>
            <a:lvl3pPr marL="0" indent="0">
              <a:lnSpc>
                <a:spcPct val="110000"/>
              </a:lnSpc>
              <a:spcBef>
                <a:spcPts val="0"/>
              </a:spcBef>
              <a:spcAft>
                <a:spcPts val="0"/>
              </a:spcAft>
              <a:buNone/>
              <a:defRPr>
                <a:latin typeface="Times New Roman"/>
                <a:ea typeface="Times New Roman"/>
                <a:cs typeface="Times New Roman"/>
              </a:defRPr>
            </a:lvl3pPr>
            <a:lvl4pPr marL="0" indent="0">
              <a:lnSpc>
                <a:spcPct val="110000"/>
              </a:lnSpc>
              <a:spcBef>
                <a:spcPts val="0"/>
              </a:spcBef>
              <a:spcAft>
                <a:spcPts val="0"/>
              </a:spcAft>
              <a:buNone/>
              <a:defRPr>
                <a:latin typeface="Times New Roman"/>
                <a:ea typeface="Times New Roman"/>
                <a:cs typeface="Times New Roman"/>
              </a:defRPr>
            </a:lvl4pPr>
            <a:lvl5pPr marL="0" indent="0">
              <a:lnSpc>
                <a:spcPct val="110000"/>
              </a:lnSpc>
              <a:spcBef>
                <a:spcPts val="0"/>
              </a:spcBef>
              <a:spcAft>
                <a:spcPts val="0"/>
              </a:spcAft>
              <a:buNone/>
              <a:defRPr>
                <a:latin typeface="Times New Roman"/>
                <a:ea typeface="Times New Roman"/>
                <a:cs typeface="Times New Roman"/>
              </a:defRPr>
            </a:lvl5pPr>
            <a:lvl6pPr marL="0" indent="0">
              <a:lnSpc>
                <a:spcPct val="110000"/>
              </a:lnSpc>
              <a:spcBef>
                <a:spcPts val="0"/>
              </a:spcBef>
              <a:spcAft>
                <a:spcPts val="0"/>
              </a:spcAft>
              <a:buNone/>
              <a:defRPr>
                <a:latin typeface="Times New Roman"/>
                <a:ea typeface="Times New Roman"/>
                <a:cs typeface="Times New Roman"/>
              </a:defRPr>
            </a:lvl6pPr>
            <a:lvl7pPr marL="0" indent="0">
              <a:lnSpc>
                <a:spcPct val="110000"/>
              </a:lnSpc>
              <a:spcBef>
                <a:spcPts val="0"/>
              </a:spcBef>
              <a:spcAft>
                <a:spcPts val="0"/>
              </a:spcAft>
              <a:buNone/>
              <a:defRPr>
                <a:latin typeface="Times New Roman"/>
                <a:ea typeface="Times New Roman"/>
                <a:cs typeface="Times New Roman"/>
              </a:defRPr>
            </a:lvl7pPr>
            <a:lvl8pPr marL="0" indent="0">
              <a:lnSpc>
                <a:spcPct val="110000"/>
              </a:lnSpc>
              <a:spcBef>
                <a:spcPts val="0"/>
              </a:spcBef>
              <a:spcAft>
                <a:spcPts val="0"/>
              </a:spcAft>
              <a:buNone/>
              <a:defRPr>
                <a:latin typeface="Times New Roman"/>
                <a:ea typeface="Times New Roman"/>
                <a:cs typeface="Times New Roman"/>
              </a:defRPr>
            </a:lvl8pPr>
            <a:lvl9pPr marL="0" indent="0">
              <a:lnSpc>
                <a:spcPct val="110000"/>
              </a:lnSpc>
              <a:spcBef>
                <a:spcPts val="0"/>
              </a:spcBef>
              <a:spcAft>
                <a:spcPts val="0"/>
              </a:spcAft>
              <a:buNone/>
              <a:defRPr>
                <a:latin typeface="Times New Roman"/>
                <a:ea typeface="Times New Roman"/>
                <a:cs typeface="Times New Roman"/>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6546036-239B-4972-89FC-EAF64055E0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Times New Roman"/>
                <a:ea typeface="Times New Roman"/>
                <a:cs typeface="Times New Roman"/>
              </a:defRPr>
            </a:defPPr>
            <a:lvl1pPr marL="228600" indent="-228600">
              <a:lnSpc>
                <a:spcPct val="110000"/>
              </a:lnSpc>
              <a:spcBef>
                <a:spcPts val="0"/>
              </a:spcBef>
              <a:spcAft>
                <a:spcPts val="1200"/>
              </a:spcAft>
              <a:buChar char="•"/>
              <a:defRPr>
                <a:latin typeface="Times New Roman"/>
                <a:ea typeface="Times New Roman"/>
                <a:cs typeface="Times New Roman"/>
              </a:defRPr>
            </a:lvl1pPr>
            <a:lvl2pPr marL="533400" indent="-228600">
              <a:lnSpc>
                <a:spcPct val="110000"/>
              </a:lnSpc>
              <a:spcBef>
                <a:spcPts val="0"/>
              </a:spcBef>
              <a:spcAft>
                <a:spcPts val="1200"/>
              </a:spcAft>
              <a:buChar char="•"/>
              <a:defRPr>
                <a:latin typeface="Times New Roman"/>
                <a:ea typeface="Times New Roman"/>
                <a:cs typeface="Times New Roman"/>
              </a:defRPr>
            </a:lvl2pPr>
            <a:lvl3pPr marL="838200" indent="-228600">
              <a:lnSpc>
                <a:spcPct val="110000"/>
              </a:lnSpc>
              <a:spcBef>
                <a:spcPts val="0"/>
              </a:spcBef>
              <a:spcAft>
                <a:spcPts val="1200"/>
              </a:spcAft>
              <a:buChar char="•"/>
              <a:defRPr>
                <a:latin typeface="Times New Roman"/>
                <a:ea typeface="Times New Roman"/>
                <a:cs typeface="Times New Roman"/>
              </a:defRPr>
            </a:lvl3pPr>
            <a:lvl4pPr marL="1143000" indent="-228600">
              <a:lnSpc>
                <a:spcPct val="110000"/>
              </a:lnSpc>
              <a:spcBef>
                <a:spcPts val="0"/>
              </a:spcBef>
              <a:spcAft>
                <a:spcPts val="1200"/>
              </a:spcAft>
              <a:buChar char="•"/>
              <a:defRPr>
                <a:latin typeface="Times New Roman"/>
                <a:ea typeface="Times New Roman"/>
                <a:cs typeface="Times New Roman"/>
              </a:defRPr>
            </a:lvl4pPr>
            <a:lvl5pPr marL="1447800" indent="-228600">
              <a:lnSpc>
                <a:spcPct val="110000"/>
              </a:lnSpc>
              <a:spcBef>
                <a:spcPts val="0"/>
              </a:spcBef>
              <a:spcAft>
                <a:spcPts val="1200"/>
              </a:spcAft>
              <a:buChar char="•"/>
              <a:defRPr>
                <a:latin typeface="Times New Roman"/>
                <a:ea typeface="Times New Roman"/>
                <a:cs typeface="Times New Roman"/>
              </a:defRPr>
            </a:lvl5pPr>
            <a:lvl6pPr marL="1752600" indent="-228600">
              <a:lnSpc>
                <a:spcPct val="110000"/>
              </a:lnSpc>
              <a:spcBef>
                <a:spcPts val="0"/>
              </a:spcBef>
              <a:spcAft>
                <a:spcPts val="1200"/>
              </a:spcAft>
              <a:buChar char="•"/>
              <a:defRPr>
                <a:latin typeface="Times New Roman"/>
                <a:ea typeface="Times New Roman"/>
                <a:cs typeface="Times New Roman"/>
              </a:defRPr>
            </a:lvl6pPr>
            <a:lvl7pPr marL="2057400" indent="-228600">
              <a:lnSpc>
                <a:spcPct val="110000"/>
              </a:lnSpc>
              <a:spcBef>
                <a:spcPts val="0"/>
              </a:spcBef>
              <a:spcAft>
                <a:spcPts val="1200"/>
              </a:spcAft>
              <a:buChar char="•"/>
              <a:defRPr>
                <a:latin typeface="Times New Roman"/>
                <a:ea typeface="Times New Roman"/>
                <a:cs typeface="Times New Roman"/>
              </a:defRPr>
            </a:lvl7pPr>
            <a:lvl8pPr marL="2362200" indent="-228600">
              <a:lnSpc>
                <a:spcPct val="110000"/>
              </a:lnSpc>
              <a:spcBef>
                <a:spcPts val="0"/>
              </a:spcBef>
              <a:spcAft>
                <a:spcPts val="1200"/>
              </a:spcAft>
              <a:buChar char="•"/>
              <a:defRPr>
                <a:latin typeface="Times New Roman"/>
                <a:ea typeface="Times New Roman"/>
                <a:cs typeface="Times New Roman"/>
              </a:defRPr>
            </a:lvl8pPr>
            <a:lvl9pPr marL="2667000" indent="-228600">
              <a:lnSpc>
                <a:spcPct val="110000"/>
              </a:lnSpc>
              <a:spcBef>
                <a:spcPts val="0"/>
              </a:spcBef>
              <a:spcAft>
                <a:spcPts val="1200"/>
              </a:spcAft>
              <a:buChar char="•"/>
              <a:defRPr>
                <a:latin typeface="Times New Roman"/>
                <a:ea typeface="Times New Roman"/>
                <a:cs typeface="Times New Roman"/>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F38FE2-61EE-4004-9A1A-5BF8BB907C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Times New Roman"/>
                <a:ea typeface="Times New Roman"/>
                <a:cs typeface="Times New Roman"/>
              </a:defRPr>
            </a:defPPr>
            <a:lvl1pPr marL="0" indent="0">
              <a:lnSpc>
                <a:spcPct val="110000"/>
              </a:lnSpc>
              <a:spcBef>
                <a:spcPts val="0"/>
              </a:spcBef>
              <a:spcAft>
                <a:spcPts val="0"/>
              </a:spcAft>
              <a:buNone/>
              <a:defRPr>
                <a:latin typeface="Times New Roman"/>
                <a:ea typeface="Times New Roman"/>
                <a:cs typeface="Times New Roman"/>
              </a:defRPr>
            </a:lvl1pPr>
            <a:lvl2pPr marL="0" indent="0">
              <a:lnSpc>
                <a:spcPct val="110000"/>
              </a:lnSpc>
              <a:spcBef>
                <a:spcPts val="0"/>
              </a:spcBef>
              <a:spcAft>
                <a:spcPts val="0"/>
              </a:spcAft>
              <a:buNone/>
              <a:defRPr>
                <a:latin typeface="Times New Roman"/>
                <a:ea typeface="Times New Roman"/>
                <a:cs typeface="Times New Roman"/>
              </a:defRPr>
            </a:lvl2pPr>
            <a:lvl3pPr marL="0" indent="0">
              <a:lnSpc>
                <a:spcPct val="110000"/>
              </a:lnSpc>
              <a:spcBef>
                <a:spcPts val="0"/>
              </a:spcBef>
              <a:spcAft>
                <a:spcPts val="0"/>
              </a:spcAft>
              <a:buNone/>
              <a:defRPr>
                <a:latin typeface="Times New Roman"/>
                <a:ea typeface="Times New Roman"/>
                <a:cs typeface="Times New Roman"/>
              </a:defRPr>
            </a:lvl3pPr>
            <a:lvl4pPr marL="0" indent="0">
              <a:lnSpc>
                <a:spcPct val="110000"/>
              </a:lnSpc>
              <a:spcBef>
                <a:spcPts val="0"/>
              </a:spcBef>
              <a:spcAft>
                <a:spcPts val="0"/>
              </a:spcAft>
              <a:buNone/>
              <a:defRPr>
                <a:latin typeface="Times New Roman"/>
                <a:ea typeface="Times New Roman"/>
                <a:cs typeface="Times New Roman"/>
              </a:defRPr>
            </a:lvl4pPr>
            <a:lvl5pPr marL="0" indent="0">
              <a:lnSpc>
                <a:spcPct val="110000"/>
              </a:lnSpc>
              <a:spcBef>
                <a:spcPts val="0"/>
              </a:spcBef>
              <a:spcAft>
                <a:spcPts val="0"/>
              </a:spcAft>
              <a:buNone/>
              <a:defRPr>
                <a:latin typeface="Times New Roman"/>
                <a:ea typeface="Times New Roman"/>
                <a:cs typeface="Times New Roman"/>
              </a:defRPr>
            </a:lvl5pPr>
            <a:lvl6pPr marL="0" indent="0">
              <a:lnSpc>
                <a:spcPct val="110000"/>
              </a:lnSpc>
              <a:spcBef>
                <a:spcPts val="0"/>
              </a:spcBef>
              <a:spcAft>
                <a:spcPts val="0"/>
              </a:spcAft>
              <a:buNone/>
              <a:defRPr>
                <a:latin typeface="Times New Roman"/>
                <a:ea typeface="Times New Roman"/>
                <a:cs typeface="Times New Roman"/>
              </a:defRPr>
            </a:lvl6pPr>
            <a:lvl7pPr marL="0" indent="0">
              <a:lnSpc>
                <a:spcPct val="110000"/>
              </a:lnSpc>
              <a:spcBef>
                <a:spcPts val="0"/>
              </a:spcBef>
              <a:spcAft>
                <a:spcPts val="0"/>
              </a:spcAft>
              <a:buNone/>
              <a:defRPr>
                <a:latin typeface="Times New Roman"/>
                <a:ea typeface="Times New Roman"/>
                <a:cs typeface="Times New Roman"/>
              </a:defRPr>
            </a:lvl7pPr>
            <a:lvl8pPr marL="0" indent="0">
              <a:lnSpc>
                <a:spcPct val="110000"/>
              </a:lnSpc>
              <a:spcBef>
                <a:spcPts val="0"/>
              </a:spcBef>
              <a:spcAft>
                <a:spcPts val="0"/>
              </a:spcAft>
              <a:buNone/>
              <a:defRPr>
                <a:latin typeface="Times New Roman"/>
                <a:ea typeface="Times New Roman"/>
                <a:cs typeface="Times New Roman"/>
              </a:defRPr>
            </a:lvl8pPr>
            <a:lvl9pPr marL="0" indent="0">
              <a:lnSpc>
                <a:spcPct val="110000"/>
              </a:lnSpc>
              <a:spcBef>
                <a:spcPts val="0"/>
              </a:spcBef>
              <a:spcAft>
                <a:spcPts val="0"/>
              </a:spcAft>
              <a:buNone/>
              <a:defRPr>
                <a:latin typeface="Times New Roman"/>
                <a:ea typeface="Times New Roman"/>
                <a:cs typeface="Times New Roman"/>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1CE4DE-DBDA-4E95-B2DE-EFD23720B6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Times New Roman"/>
                <a:ea typeface="Times New Roman"/>
                <a:cs typeface="Times New Roman"/>
              </a:defRPr>
            </a:defPPr>
            <a:lvl1pPr marL="228600" indent="-228600">
              <a:lnSpc>
                <a:spcPct val="110000"/>
              </a:lnSpc>
              <a:spcBef>
                <a:spcPts val="0"/>
              </a:spcBef>
              <a:spcAft>
                <a:spcPts val="1200"/>
              </a:spcAft>
              <a:buChar char="•"/>
              <a:defRPr>
                <a:latin typeface="Times New Roman"/>
                <a:ea typeface="Times New Roman"/>
                <a:cs typeface="Times New Roman"/>
              </a:defRPr>
            </a:lvl1pPr>
            <a:lvl2pPr marL="533400" indent="-228600">
              <a:lnSpc>
                <a:spcPct val="110000"/>
              </a:lnSpc>
              <a:spcBef>
                <a:spcPts val="0"/>
              </a:spcBef>
              <a:spcAft>
                <a:spcPts val="1200"/>
              </a:spcAft>
              <a:buChar char="•"/>
              <a:defRPr>
                <a:latin typeface="Times New Roman"/>
                <a:ea typeface="Times New Roman"/>
                <a:cs typeface="Times New Roman"/>
              </a:defRPr>
            </a:lvl2pPr>
            <a:lvl3pPr marL="838200" indent="-228600">
              <a:lnSpc>
                <a:spcPct val="110000"/>
              </a:lnSpc>
              <a:spcBef>
                <a:spcPts val="0"/>
              </a:spcBef>
              <a:spcAft>
                <a:spcPts val="1200"/>
              </a:spcAft>
              <a:buChar char="•"/>
              <a:defRPr>
                <a:latin typeface="Times New Roman"/>
                <a:ea typeface="Times New Roman"/>
                <a:cs typeface="Times New Roman"/>
              </a:defRPr>
            </a:lvl3pPr>
            <a:lvl4pPr marL="1143000" indent="-228600">
              <a:lnSpc>
                <a:spcPct val="110000"/>
              </a:lnSpc>
              <a:spcBef>
                <a:spcPts val="0"/>
              </a:spcBef>
              <a:spcAft>
                <a:spcPts val="1200"/>
              </a:spcAft>
              <a:buChar char="•"/>
              <a:defRPr>
                <a:latin typeface="Times New Roman"/>
                <a:ea typeface="Times New Roman"/>
                <a:cs typeface="Times New Roman"/>
              </a:defRPr>
            </a:lvl4pPr>
            <a:lvl5pPr marL="1447800" indent="-228600">
              <a:lnSpc>
                <a:spcPct val="110000"/>
              </a:lnSpc>
              <a:spcBef>
                <a:spcPts val="0"/>
              </a:spcBef>
              <a:spcAft>
                <a:spcPts val="1200"/>
              </a:spcAft>
              <a:buChar char="•"/>
              <a:defRPr>
                <a:latin typeface="Times New Roman"/>
                <a:ea typeface="Times New Roman"/>
                <a:cs typeface="Times New Roman"/>
              </a:defRPr>
            </a:lvl5pPr>
            <a:lvl6pPr marL="1752600" indent="-228600">
              <a:lnSpc>
                <a:spcPct val="110000"/>
              </a:lnSpc>
              <a:spcBef>
                <a:spcPts val="0"/>
              </a:spcBef>
              <a:spcAft>
                <a:spcPts val="1200"/>
              </a:spcAft>
              <a:buChar char="•"/>
              <a:defRPr>
                <a:latin typeface="Times New Roman"/>
                <a:ea typeface="Times New Roman"/>
                <a:cs typeface="Times New Roman"/>
              </a:defRPr>
            </a:lvl6pPr>
            <a:lvl7pPr marL="2057400" indent="-228600">
              <a:lnSpc>
                <a:spcPct val="110000"/>
              </a:lnSpc>
              <a:spcBef>
                <a:spcPts val="0"/>
              </a:spcBef>
              <a:spcAft>
                <a:spcPts val="1200"/>
              </a:spcAft>
              <a:buChar char="•"/>
              <a:defRPr>
                <a:latin typeface="Times New Roman"/>
                <a:ea typeface="Times New Roman"/>
                <a:cs typeface="Times New Roman"/>
              </a:defRPr>
            </a:lvl7pPr>
            <a:lvl8pPr marL="2362200" indent="-228600">
              <a:lnSpc>
                <a:spcPct val="110000"/>
              </a:lnSpc>
              <a:spcBef>
                <a:spcPts val="0"/>
              </a:spcBef>
              <a:spcAft>
                <a:spcPts val="1200"/>
              </a:spcAft>
              <a:buChar char="•"/>
              <a:defRPr>
                <a:latin typeface="Times New Roman"/>
                <a:ea typeface="Times New Roman"/>
                <a:cs typeface="Times New Roman"/>
              </a:defRPr>
            </a:lvl8pPr>
            <a:lvl9pPr marL="2667000" indent="-228600">
              <a:lnSpc>
                <a:spcPct val="110000"/>
              </a:lnSpc>
              <a:spcBef>
                <a:spcPts val="0"/>
              </a:spcBef>
              <a:spcAft>
                <a:spcPts val="1200"/>
              </a:spcAft>
              <a:buChar char="•"/>
              <a:defRPr>
                <a:latin typeface="Times New Roman"/>
                <a:ea typeface="Times New Roman"/>
                <a:cs typeface="Times New Roman"/>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670CE8-F8F3-49DC-B764-6374787099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Times New Roman"/>
                <a:ea typeface="Times New Roman"/>
                <a:cs typeface="Times New Roman"/>
              </a:defRPr>
            </a:defPPr>
            <a:lvl1pPr marL="228600" indent="-228600">
              <a:lnSpc>
                <a:spcPct val="110000"/>
              </a:lnSpc>
              <a:spcBef>
                <a:spcPts val="0"/>
              </a:spcBef>
              <a:spcAft>
                <a:spcPts val="1200"/>
              </a:spcAft>
              <a:buChar char="•"/>
              <a:defRPr>
                <a:latin typeface="Times New Roman"/>
                <a:ea typeface="Times New Roman"/>
                <a:cs typeface="Times New Roman"/>
              </a:defRPr>
            </a:lvl1pPr>
            <a:lvl2pPr marL="533400" indent="-228600">
              <a:lnSpc>
                <a:spcPct val="110000"/>
              </a:lnSpc>
              <a:spcBef>
                <a:spcPts val="0"/>
              </a:spcBef>
              <a:spcAft>
                <a:spcPts val="1200"/>
              </a:spcAft>
              <a:buChar char="•"/>
              <a:defRPr>
                <a:latin typeface="Times New Roman"/>
                <a:ea typeface="Times New Roman"/>
                <a:cs typeface="Times New Roman"/>
              </a:defRPr>
            </a:lvl2pPr>
            <a:lvl3pPr marL="838200" indent="-228600">
              <a:lnSpc>
                <a:spcPct val="110000"/>
              </a:lnSpc>
              <a:spcBef>
                <a:spcPts val="0"/>
              </a:spcBef>
              <a:spcAft>
                <a:spcPts val="1200"/>
              </a:spcAft>
              <a:buChar char="•"/>
              <a:defRPr>
                <a:latin typeface="Times New Roman"/>
                <a:ea typeface="Times New Roman"/>
                <a:cs typeface="Times New Roman"/>
              </a:defRPr>
            </a:lvl3pPr>
            <a:lvl4pPr marL="1143000" indent="-228600">
              <a:lnSpc>
                <a:spcPct val="110000"/>
              </a:lnSpc>
              <a:spcBef>
                <a:spcPts val="0"/>
              </a:spcBef>
              <a:spcAft>
                <a:spcPts val="1200"/>
              </a:spcAft>
              <a:buChar char="•"/>
              <a:defRPr>
                <a:latin typeface="Times New Roman"/>
                <a:ea typeface="Times New Roman"/>
                <a:cs typeface="Times New Roman"/>
              </a:defRPr>
            </a:lvl4pPr>
            <a:lvl5pPr marL="1447800" indent="-228600">
              <a:lnSpc>
                <a:spcPct val="110000"/>
              </a:lnSpc>
              <a:spcBef>
                <a:spcPts val="0"/>
              </a:spcBef>
              <a:spcAft>
                <a:spcPts val="1200"/>
              </a:spcAft>
              <a:buChar char="•"/>
              <a:defRPr>
                <a:latin typeface="Times New Roman"/>
                <a:ea typeface="Times New Roman"/>
                <a:cs typeface="Times New Roman"/>
              </a:defRPr>
            </a:lvl5pPr>
            <a:lvl6pPr marL="1752600" indent="-228600">
              <a:lnSpc>
                <a:spcPct val="110000"/>
              </a:lnSpc>
              <a:spcBef>
                <a:spcPts val="0"/>
              </a:spcBef>
              <a:spcAft>
                <a:spcPts val="1200"/>
              </a:spcAft>
              <a:buChar char="•"/>
              <a:defRPr>
                <a:latin typeface="Times New Roman"/>
                <a:ea typeface="Times New Roman"/>
                <a:cs typeface="Times New Roman"/>
              </a:defRPr>
            </a:lvl6pPr>
            <a:lvl7pPr marL="2057400" indent="-228600">
              <a:lnSpc>
                <a:spcPct val="110000"/>
              </a:lnSpc>
              <a:spcBef>
                <a:spcPts val="0"/>
              </a:spcBef>
              <a:spcAft>
                <a:spcPts val="1200"/>
              </a:spcAft>
              <a:buChar char="•"/>
              <a:defRPr>
                <a:latin typeface="Times New Roman"/>
                <a:ea typeface="Times New Roman"/>
                <a:cs typeface="Times New Roman"/>
              </a:defRPr>
            </a:lvl7pPr>
            <a:lvl8pPr marL="2362200" indent="-228600">
              <a:lnSpc>
                <a:spcPct val="110000"/>
              </a:lnSpc>
              <a:spcBef>
                <a:spcPts val="0"/>
              </a:spcBef>
              <a:spcAft>
                <a:spcPts val="1200"/>
              </a:spcAft>
              <a:buChar char="•"/>
              <a:defRPr>
                <a:latin typeface="Times New Roman"/>
                <a:ea typeface="Times New Roman"/>
                <a:cs typeface="Times New Roman"/>
              </a:defRPr>
            </a:lvl8pPr>
            <a:lvl9pPr marL="2667000" indent="-228600">
              <a:lnSpc>
                <a:spcPct val="110000"/>
              </a:lnSpc>
              <a:spcBef>
                <a:spcPts val="0"/>
              </a:spcBef>
              <a:spcAft>
                <a:spcPts val="1200"/>
              </a:spcAft>
              <a:buChar char="•"/>
              <a:defRPr>
                <a:latin typeface="Times New Roman"/>
                <a:ea typeface="Times New Roman"/>
                <a:cs typeface="Times New Roman"/>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CF179E-C9F6-4578-9EA1-75E4980F2B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Times New Roman"/>
                <a:ea typeface="Times New Roman"/>
                <a:cs typeface="Times New Roman"/>
              </a:defRPr>
            </a:defPPr>
            <a:lvl1pPr marL="0" indent="0">
              <a:lnSpc>
                <a:spcPct val="110000"/>
              </a:lnSpc>
              <a:spcBef>
                <a:spcPts val="0"/>
              </a:spcBef>
              <a:spcAft>
                <a:spcPts val="0"/>
              </a:spcAft>
              <a:buNone/>
              <a:defRPr>
                <a:latin typeface="Times New Roman"/>
                <a:ea typeface="Times New Roman"/>
                <a:cs typeface="Times New Roman"/>
              </a:defRPr>
            </a:lvl1pPr>
            <a:lvl2pPr marL="0" indent="0">
              <a:lnSpc>
                <a:spcPct val="110000"/>
              </a:lnSpc>
              <a:spcBef>
                <a:spcPts val="0"/>
              </a:spcBef>
              <a:spcAft>
                <a:spcPts val="0"/>
              </a:spcAft>
              <a:buNone/>
              <a:defRPr>
                <a:latin typeface="Times New Roman"/>
                <a:ea typeface="Times New Roman"/>
                <a:cs typeface="Times New Roman"/>
              </a:defRPr>
            </a:lvl2pPr>
            <a:lvl3pPr marL="0" indent="0">
              <a:lnSpc>
                <a:spcPct val="110000"/>
              </a:lnSpc>
              <a:spcBef>
                <a:spcPts val="0"/>
              </a:spcBef>
              <a:spcAft>
                <a:spcPts val="0"/>
              </a:spcAft>
              <a:buNone/>
              <a:defRPr>
                <a:latin typeface="Times New Roman"/>
                <a:ea typeface="Times New Roman"/>
                <a:cs typeface="Times New Roman"/>
              </a:defRPr>
            </a:lvl3pPr>
            <a:lvl4pPr marL="0" indent="0">
              <a:lnSpc>
                <a:spcPct val="110000"/>
              </a:lnSpc>
              <a:spcBef>
                <a:spcPts val="0"/>
              </a:spcBef>
              <a:spcAft>
                <a:spcPts val="0"/>
              </a:spcAft>
              <a:buNone/>
              <a:defRPr>
                <a:latin typeface="Times New Roman"/>
                <a:ea typeface="Times New Roman"/>
                <a:cs typeface="Times New Roman"/>
              </a:defRPr>
            </a:lvl4pPr>
            <a:lvl5pPr marL="0" indent="0">
              <a:lnSpc>
                <a:spcPct val="110000"/>
              </a:lnSpc>
              <a:spcBef>
                <a:spcPts val="0"/>
              </a:spcBef>
              <a:spcAft>
                <a:spcPts val="0"/>
              </a:spcAft>
              <a:buNone/>
              <a:defRPr>
                <a:latin typeface="Times New Roman"/>
                <a:ea typeface="Times New Roman"/>
                <a:cs typeface="Times New Roman"/>
              </a:defRPr>
            </a:lvl5pPr>
            <a:lvl6pPr marL="0" indent="0">
              <a:lnSpc>
                <a:spcPct val="110000"/>
              </a:lnSpc>
              <a:spcBef>
                <a:spcPts val="0"/>
              </a:spcBef>
              <a:spcAft>
                <a:spcPts val="0"/>
              </a:spcAft>
              <a:buNone/>
              <a:defRPr>
                <a:latin typeface="Times New Roman"/>
                <a:ea typeface="Times New Roman"/>
                <a:cs typeface="Times New Roman"/>
              </a:defRPr>
            </a:lvl6pPr>
            <a:lvl7pPr marL="0" indent="0">
              <a:lnSpc>
                <a:spcPct val="110000"/>
              </a:lnSpc>
              <a:spcBef>
                <a:spcPts val="0"/>
              </a:spcBef>
              <a:spcAft>
                <a:spcPts val="0"/>
              </a:spcAft>
              <a:buNone/>
              <a:defRPr>
                <a:latin typeface="Times New Roman"/>
                <a:ea typeface="Times New Roman"/>
                <a:cs typeface="Times New Roman"/>
              </a:defRPr>
            </a:lvl7pPr>
            <a:lvl8pPr marL="0" indent="0">
              <a:lnSpc>
                <a:spcPct val="110000"/>
              </a:lnSpc>
              <a:spcBef>
                <a:spcPts val="0"/>
              </a:spcBef>
              <a:spcAft>
                <a:spcPts val="0"/>
              </a:spcAft>
              <a:buNone/>
              <a:defRPr>
                <a:latin typeface="Times New Roman"/>
                <a:ea typeface="Times New Roman"/>
                <a:cs typeface="Times New Roman"/>
              </a:defRPr>
            </a:lvl8pPr>
            <a:lvl9pPr marL="0" indent="0">
              <a:lnSpc>
                <a:spcPct val="110000"/>
              </a:lnSpc>
              <a:spcBef>
                <a:spcPts val="0"/>
              </a:spcBef>
              <a:spcAft>
                <a:spcPts val="0"/>
              </a:spcAft>
              <a:buNone/>
              <a:defRPr>
                <a:latin typeface="Times New Roman"/>
                <a:ea typeface="Times New Roman"/>
                <a:cs typeface="Times New Roman"/>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3AC643-2B75-4F96-8075-2CBE862435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Times New Roman"/>
                <a:ea typeface="Times New Roman"/>
                <a:cs typeface="Times New Roman"/>
              </a:defRPr>
            </a:defPPr>
            <a:lvl1pPr marL="228600" indent="-228600">
              <a:lnSpc>
                <a:spcPct val="110000"/>
              </a:lnSpc>
              <a:spcBef>
                <a:spcPts val="0"/>
              </a:spcBef>
              <a:spcAft>
                <a:spcPts val="1200"/>
              </a:spcAft>
              <a:buChar char="•"/>
              <a:defRPr>
                <a:latin typeface="Times New Roman"/>
                <a:ea typeface="Times New Roman"/>
                <a:cs typeface="Times New Roman"/>
              </a:defRPr>
            </a:lvl1pPr>
            <a:lvl2pPr marL="533400" indent="-228600">
              <a:lnSpc>
                <a:spcPct val="110000"/>
              </a:lnSpc>
              <a:spcBef>
                <a:spcPts val="0"/>
              </a:spcBef>
              <a:spcAft>
                <a:spcPts val="1200"/>
              </a:spcAft>
              <a:buChar char="•"/>
              <a:defRPr>
                <a:latin typeface="Times New Roman"/>
                <a:ea typeface="Times New Roman"/>
                <a:cs typeface="Times New Roman"/>
              </a:defRPr>
            </a:lvl2pPr>
            <a:lvl3pPr marL="838200" indent="-228600">
              <a:lnSpc>
                <a:spcPct val="110000"/>
              </a:lnSpc>
              <a:spcBef>
                <a:spcPts val="0"/>
              </a:spcBef>
              <a:spcAft>
                <a:spcPts val="1200"/>
              </a:spcAft>
              <a:buChar char="•"/>
              <a:defRPr>
                <a:latin typeface="Times New Roman"/>
                <a:ea typeface="Times New Roman"/>
                <a:cs typeface="Times New Roman"/>
              </a:defRPr>
            </a:lvl3pPr>
            <a:lvl4pPr marL="1143000" indent="-228600">
              <a:lnSpc>
                <a:spcPct val="110000"/>
              </a:lnSpc>
              <a:spcBef>
                <a:spcPts val="0"/>
              </a:spcBef>
              <a:spcAft>
                <a:spcPts val="1200"/>
              </a:spcAft>
              <a:buChar char="•"/>
              <a:defRPr>
                <a:latin typeface="Times New Roman"/>
                <a:ea typeface="Times New Roman"/>
                <a:cs typeface="Times New Roman"/>
              </a:defRPr>
            </a:lvl4pPr>
            <a:lvl5pPr marL="1447800" indent="-228600">
              <a:lnSpc>
                <a:spcPct val="110000"/>
              </a:lnSpc>
              <a:spcBef>
                <a:spcPts val="0"/>
              </a:spcBef>
              <a:spcAft>
                <a:spcPts val="1200"/>
              </a:spcAft>
              <a:buChar char="•"/>
              <a:defRPr>
                <a:latin typeface="Times New Roman"/>
                <a:ea typeface="Times New Roman"/>
                <a:cs typeface="Times New Roman"/>
              </a:defRPr>
            </a:lvl5pPr>
            <a:lvl6pPr marL="1752600" indent="-228600">
              <a:lnSpc>
                <a:spcPct val="110000"/>
              </a:lnSpc>
              <a:spcBef>
                <a:spcPts val="0"/>
              </a:spcBef>
              <a:spcAft>
                <a:spcPts val="1200"/>
              </a:spcAft>
              <a:buChar char="•"/>
              <a:defRPr>
                <a:latin typeface="Times New Roman"/>
                <a:ea typeface="Times New Roman"/>
                <a:cs typeface="Times New Roman"/>
              </a:defRPr>
            </a:lvl6pPr>
            <a:lvl7pPr marL="2057400" indent="-228600">
              <a:lnSpc>
                <a:spcPct val="110000"/>
              </a:lnSpc>
              <a:spcBef>
                <a:spcPts val="0"/>
              </a:spcBef>
              <a:spcAft>
                <a:spcPts val="1200"/>
              </a:spcAft>
              <a:buChar char="•"/>
              <a:defRPr>
                <a:latin typeface="Times New Roman"/>
                <a:ea typeface="Times New Roman"/>
                <a:cs typeface="Times New Roman"/>
              </a:defRPr>
            </a:lvl7pPr>
            <a:lvl8pPr marL="2362200" indent="-228600">
              <a:lnSpc>
                <a:spcPct val="110000"/>
              </a:lnSpc>
              <a:spcBef>
                <a:spcPts val="0"/>
              </a:spcBef>
              <a:spcAft>
                <a:spcPts val="1200"/>
              </a:spcAft>
              <a:buChar char="•"/>
              <a:defRPr>
                <a:latin typeface="Times New Roman"/>
                <a:ea typeface="Times New Roman"/>
                <a:cs typeface="Times New Roman"/>
              </a:defRPr>
            </a:lvl8pPr>
            <a:lvl9pPr marL="2667000" indent="-228600">
              <a:lnSpc>
                <a:spcPct val="110000"/>
              </a:lnSpc>
              <a:spcBef>
                <a:spcPts val="0"/>
              </a:spcBef>
              <a:spcAft>
                <a:spcPts val="1200"/>
              </a:spcAft>
              <a:buChar char="•"/>
              <a:defRPr>
                <a:latin typeface="Times New Roman"/>
                <a:ea typeface="Times New Roman"/>
                <a:cs typeface="Times New Roman"/>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c75fb745e64673" /><Relationship Type="http://schemas.openxmlformats.org/officeDocument/2006/relationships/slideLayout" Target="/ppt/slideLayouts/slideLayout1.xml" Id="R11bd7716582d46cc" /><Relationship Type="http://schemas.openxmlformats.org/officeDocument/2006/relationships/slideLayout" Target="/ppt/slideLayouts/slideLayout2.xml" Id="R85f4519331214cce" /><Relationship Type="http://schemas.openxmlformats.org/officeDocument/2006/relationships/slideLayout" Target="/ppt/slideLayouts/slideLayout3.xml" Id="R04cdef199a114fed" /><Relationship Type="http://schemas.openxmlformats.org/officeDocument/2006/relationships/slideLayout" Target="/ppt/slideLayouts/slideLayout4.xml" Id="Rcd8af685679f42b5" /><Relationship Type="http://schemas.openxmlformats.org/officeDocument/2006/relationships/slideLayout" Target="/ppt/slideLayouts/slideLayout5.xml" Id="R5b6dab661644449d" /><Relationship Type="http://schemas.openxmlformats.org/officeDocument/2006/relationships/slideLayout" Target="/ppt/slideLayouts/slideLayout6.xml" Id="Ra1afdcdbdf464a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bd7716582d46cc"/>
    <p:sldLayoutId xmlns:r="http://schemas.openxmlformats.org/officeDocument/2006/relationships" id="2147483650" r:id="R85f4519331214cce"/>
    <p:sldLayoutId xmlns:r="http://schemas.openxmlformats.org/officeDocument/2006/relationships" id="2147483651" r:id="R04cdef199a114fed"/>
    <p:sldLayoutId xmlns:r="http://schemas.openxmlformats.org/officeDocument/2006/relationships" id="2147483652" r:id="Rcd8af685679f42b5"/>
    <p:sldLayoutId xmlns:r="http://schemas.openxmlformats.org/officeDocument/2006/relationships" id="2147483653" r:id="R5b6dab661644449d"/>
    <p:sldLayoutId xmlns:r="http://schemas.openxmlformats.org/officeDocument/2006/relationships" id="2147483654" r:id="Ra1afdcdbdf464ad0"/>
  </p:sldLayoutIdLst>
  <p:txStyles>
    <p:titleStyle>
      <a:lvl1pPr xmlns:a="http://schemas.openxmlformats.org/drawingml/2006/main" algn="l">
        <a:lnSpc>
          <a:spcPct val="90000"/>
        </a:lnSpc>
        <a:spcBef>
          <a:spcPts val="0"/>
        </a:spcBef>
        <a:buNone/>
        <a:defRPr sz="4400">
          <a:solidFill>
            <a:schemeClr val="tx1"/>
          </a:solidFill>
          <a:latin typeface="Times New Roman"/>
          <a:ea typeface="Times New Roman"/>
          <a:cs typeface="Times New Roman"/>
        </a:defRPr>
      </a:lvl1pPr>
    </p:titleStyle>
    <p:bodyStyle>
      <a:lvl1pPr xmlns:a="http://schemas.openxmlformats.org/drawingml/2006/main" marL="228600" indent="-228600" algn="l">
        <a:lnSpc>
          <a:spcPct val="90000"/>
        </a:lnSpc>
        <a:spcBef>
          <a:spcPts val="1000"/>
        </a:spcBef>
        <a:buChar char="•"/>
        <a:defRPr sz="2800">
          <a:solidFill>
            <a:schemeClr val="tx1"/>
          </a:solidFill>
          <a:latin typeface="Times New Roman"/>
          <a:ea typeface="Times New Roman"/>
          <a:cs typeface="Times New Roman"/>
        </a:defRPr>
      </a:lvl1pPr>
      <a:lvl2pPr xmlns:a="http://schemas.openxmlformats.org/drawingml/2006/main" marL="685800" indent="-228600" algn="l">
        <a:lnSpc>
          <a:spcPct val="90000"/>
        </a:lnSpc>
        <a:spcBef>
          <a:spcPts val="500"/>
        </a:spcBef>
        <a:buChar char="•"/>
        <a:defRPr sz="2400">
          <a:solidFill>
            <a:schemeClr val="tx1"/>
          </a:solidFill>
          <a:latin typeface="Times New Roman"/>
          <a:ea typeface="Times New Roman"/>
          <a:cs typeface="Times New Roman"/>
        </a:defRPr>
      </a:lvl2pPr>
      <a:lvl3pPr xmlns:a="http://schemas.openxmlformats.org/drawingml/2006/main" marL="1143000" indent="-228600" algn="l">
        <a:lnSpc>
          <a:spcPct val="90000"/>
        </a:lnSpc>
        <a:spcBef>
          <a:spcPts val="500"/>
        </a:spcBef>
        <a:buChar char="•"/>
        <a:defRPr sz="2000">
          <a:solidFill>
            <a:schemeClr val="tx1"/>
          </a:solidFill>
          <a:latin typeface="Times New Roman"/>
          <a:ea typeface="Times New Roman"/>
          <a:cs typeface="Times New Roman"/>
        </a:defRPr>
      </a:lvl3pPr>
      <a:lvl4pPr xmlns:a="http://schemas.openxmlformats.org/drawingml/2006/main" marL="1600200" indent="-228600" algn="l">
        <a:lnSpc>
          <a:spcPct val="90000"/>
        </a:lnSpc>
        <a:spcBef>
          <a:spcPts val="500"/>
        </a:spcBef>
        <a:buChar char="•"/>
        <a:defRPr sz="1800">
          <a:solidFill>
            <a:schemeClr val="tx1"/>
          </a:solidFill>
          <a:latin typeface="Times New Roman"/>
          <a:ea typeface="Times New Roman"/>
          <a:cs typeface="Times New Roman"/>
        </a:defRPr>
      </a:lvl4pPr>
      <a:lvl5pPr xmlns:a="http://schemas.openxmlformats.org/drawingml/2006/main" marL="2057400" indent="-228600" algn="l">
        <a:lnSpc>
          <a:spcPct val="90000"/>
        </a:lnSpc>
        <a:spcBef>
          <a:spcPts val="500"/>
        </a:spcBef>
        <a:buChar char="•"/>
        <a:defRPr sz="1800">
          <a:solidFill>
            <a:schemeClr val="tx1"/>
          </a:solidFill>
          <a:latin typeface="Times New Roman"/>
          <a:ea typeface="Times New Roman"/>
          <a:cs typeface="Times New Roman"/>
        </a:defRPr>
      </a:lvl5pPr>
      <a:lvl6pPr xmlns:a="http://schemas.openxmlformats.org/drawingml/2006/main" marL="2514600" indent="-228600" algn="l">
        <a:lnSpc>
          <a:spcPct val="90000"/>
        </a:lnSpc>
        <a:spcBef>
          <a:spcPts val="500"/>
        </a:spcBef>
        <a:buChar char="•"/>
        <a:defRPr sz="1800">
          <a:solidFill>
            <a:schemeClr val="tx1"/>
          </a:solidFill>
          <a:latin typeface="Times New Roman"/>
          <a:ea typeface="Times New Roman"/>
          <a:cs typeface="Times New Roman"/>
        </a:defRPr>
      </a:lvl6pPr>
      <a:lvl7pPr xmlns:a="http://schemas.openxmlformats.org/drawingml/2006/main" marL="2971800" indent="-228600" algn="l">
        <a:lnSpc>
          <a:spcPct val="90000"/>
        </a:lnSpc>
        <a:spcBef>
          <a:spcPts val="500"/>
        </a:spcBef>
        <a:buChar char="•"/>
        <a:defRPr sz="1800">
          <a:solidFill>
            <a:schemeClr val="tx1"/>
          </a:solidFill>
          <a:latin typeface="Times New Roman"/>
          <a:ea typeface="Times New Roman"/>
          <a:cs typeface="Times New Roman"/>
        </a:defRPr>
      </a:lvl7pPr>
      <a:lvl8pPr xmlns:a="http://schemas.openxmlformats.org/drawingml/2006/main" marL="3429000" indent="-228600" algn="l">
        <a:lnSpc>
          <a:spcPct val="90000"/>
        </a:lnSpc>
        <a:spcBef>
          <a:spcPts val="500"/>
        </a:spcBef>
        <a:buChar char="•"/>
        <a:defRPr sz="1800">
          <a:solidFill>
            <a:schemeClr val="tx1"/>
          </a:solidFill>
          <a:latin typeface="Times New Roman"/>
          <a:ea typeface="Times New Roman"/>
          <a:cs typeface="Times New Roman"/>
        </a:defRPr>
      </a:lvl8pPr>
      <a:lvl9pPr xmlns:a="http://schemas.openxmlformats.org/drawingml/2006/main" marL="3886200" indent="-228600" algn="l">
        <a:lnSpc>
          <a:spcPct val="90000"/>
        </a:lnSpc>
        <a:spcBef>
          <a:spcPts val="500"/>
        </a:spcBef>
        <a:buChar char="•"/>
        <a:defRPr sz="1800">
          <a:solidFill>
            <a:schemeClr val="tx1"/>
          </a:solidFill>
          <a:latin typeface="Times New Roman"/>
          <a:ea typeface="Times New Roman"/>
          <a:cs typeface="Times New Roman"/>
        </a:defRPr>
      </a:lvl9pPr>
    </p:bodyStyle>
    <p:otherStyle>
      <a:lvl1pPr xmlns:a="http://schemas.openxmlformats.org/drawingml/2006/main" marL="0" algn="l">
        <a:buNone/>
        <a:defRPr sz="1800">
          <a:solidFill>
            <a:schemeClr val="tx1"/>
          </a:solidFill>
          <a:latin typeface="Times New Roman"/>
          <a:ea typeface="Times New Roman"/>
          <a:cs typeface="Times New Roman"/>
        </a:defRPr>
      </a:lvl1pPr>
      <a:lvl2pPr xmlns:a="http://schemas.openxmlformats.org/drawingml/2006/main" marL="457200" algn="l">
        <a:buNone/>
        <a:defRPr sz="1800">
          <a:solidFill>
            <a:schemeClr val="tx1"/>
          </a:solidFill>
          <a:latin typeface="Times New Roman"/>
          <a:ea typeface="Times New Roman"/>
          <a:cs typeface="Times New Roman"/>
        </a:defRPr>
      </a:lvl2pPr>
      <a:lvl3pPr xmlns:a="http://schemas.openxmlformats.org/drawingml/2006/main" marL="914400" algn="l">
        <a:buNone/>
        <a:defRPr sz="1800">
          <a:solidFill>
            <a:schemeClr val="tx1"/>
          </a:solidFill>
          <a:latin typeface="Times New Roman"/>
          <a:ea typeface="Times New Roman"/>
          <a:cs typeface="Times New Roman"/>
        </a:defRPr>
      </a:lvl3pPr>
      <a:lvl4pPr xmlns:a="http://schemas.openxmlformats.org/drawingml/2006/main" marL="1371600" algn="l">
        <a:buNone/>
        <a:defRPr sz="1800">
          <a:solidFill>
            <a:schemeClr val="tx1"/>
          </a:solidFill>
          <a:latin typeface="Times New Roman"/>
          <a:ea typeface="Times New Roman"/>
          <a:cs typeface="Times New Roman"/>
        </a:defRPr>
      </a:lvl4pPr>
      <a:lvl5pPr xmlns:a="http://schemas.openxmlformats.org/drawingml/2006/main" marL="1828800" algn="l">
        <a:buNone/>
        <a:defRPr sz="1800">
          <a:solidFill>
            <a:schemeClr val="tx1"/>
          </a:solidFill>
          <a:latin typeface="Times New Roman"/>
          <a:ea typeface="Times New Roman"/>
          <a:cs typeface="Times New Roman"/>
        </a:defRPr>
      </a:lvl5pPr>
      <a:lvl6pPr xmlns:a="http://schemas.openxmlformats.org/drawingml/2006/main" marL="2286000" algn="l">
        <a:buNone/>
        <a:defRPr sz="1800">
          <a:solidFill>
            <a:schemeClr val="tx1"/>
          </a:solidFill>
          <a:latin typeface="Times New Roman"/>
          <a:ea typeface="Times New Roman"/>
          <a:cs typeface="Times New Roman"/>
        </a:defRPr>
      </a:lvl6pPr>
      <a:lvl7pPr xmlns:a="http://schemas.openxmlformats.org/drawingml/2006/main" marL="2743200" algn="l">
        <a:buNone/>
        <a:defRPr sz="1800">
          <a:solidFill>
            <a:schemeClr val="tx1"/>
          </a:solidFill>
          <a:latin typeface="Times New Roman"/>
          <a:ea typeface="Times New Roman"/>
          <a:cs typeface="Times New Roman"/>
        </a:defRPr>
      </a:lvl7pPr>
      <a:lvl8pPr xmlns:a="http://schemas.openxmlformats.org/drawingml/2006/main" marL="3200400" algn="l">
        <a:buNone/>
        <a:defRPr sz="1800">
          <a:solidFill>
            <a:schemeClr val="tx1"/>
          </a:solidFill>
          <a:latin typeface="Times New Roman"/>
          <a:ea typeface="Times New Roman"/>
          <a:cs typeface="Times New Roman"/>
        </a:defRPr>
      </a:lvl8pPr>
      <a:lvl9pPr xmlns:a="http://schemas.openxmlformats.org/drawingml/2006/main" marL="3657600" algn="l">
        <a:buNone/>
        <a:defRPr sz="1800">
          <a:solidFill>
            <a:schemeClr val="tx1"/>
          </a:solidFill>
          <a:latin typeface="Times New Roman"/>
          <a:ea typeface="Times New Roman"/>
          <a:cs typeface="Times New Roman"/>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SimHei"/>
        <a:cs typeface="Times New Roman"/>
      </a:majorFont>
      <a:minorFont>
        <a:latin typeface="Times New Roman"/>
        <a:ea typeface="SimHei"/>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56bfae0182499e" /><Relationship Type="http://schemas.openxmlformats.org/officeDocument/2006/relationships/image" Target="/ppt/media/image.png" Id="R0878252ac4f840b2" /><Relationship Type="http://schemas.openxmlformats.org/officeDocument/2006/relationships/notesSlide" Target="/ppt/notesSlides/notesSlide1.xml" Id="Rf18d6fded87f46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194678693a4f43" /><Relationship Type="http://schemas.openxmlformats.org/officeDocument/2006/relationships/image" Target="/ppt/media/image.png" Id="Ra8aad958c52a4101" /><Relationship Type="http://schemas.openxmlformats.org/officeDocument/2006/relationships/notesSlide" Target="/ppt/notesSlides/notesSlide2.xml" Id="Rd80145c9ab194b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340f06be064606" /><Relationship Type="http://schemas.openxmlformats.org/officeDocument/2006/relationships/image" Target="/ppt/media/image.png" Id="Re79b4ff7854946d4" /><Relationship Type="http://schemas.openxmlformats.org/officeDocument/2006/relationships/notesSlide" Target="/ppt/notesSlides/notesSlide3.xml" Id="R573e4a7d791742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1b56946d734a8b" /><Relationship Type="http://schemas.openxmlformats.org/officeDocument/2006/relationships/image" Target="/ppt/media/image.png" Id="Rea4cf82721fb4267" /><Relationship Type="http://schemas.openxmlformats.org/officeDocument/2006/relationships/notesSlide" Target="/ppt/notesSlides/notesSlide4.xml" Id="R8459cc8c0ee0422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Times New Roman"/>
              <a:ea typeface="Times New Roman"/>
              <a:cs typeface="Times New Roman"/>
            </a:endParaRPr>
          </a:p>
        </p:txBody>
      </p:sp>
      <p:pic>
        <p:nvPicPr>
          <p:cNvPr id="7" name="同济校标">
            <a:extLst xmlns:a="http://schemas.openxmlformats.org/drawingml/2006/main">
              <a:ext uri="{FF2B5EF4-FFF2-40B4-BE49-F238E27FC236}">
                <a16:creationId xmlns:a16="http://schemas.microsoft.com/office/drawing/2014/main" id="{27A51218-FC54-402E-ACE7-1C48FD5C37B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878252ac4f840b2"/>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8"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Times New Roman"/>
                <a:ea typeface="Times New Roman"/>
                <a:cs typeface="Times New Roman"/>
              </a:defRPr>
            </a:lvl1pPr>
            <a:lvl2pPr algn="ctr">
              <a:buNone/>
              <a:defRPr sz="4000">
                <a:latin typeface="Times New Roman"/>
                <a:ea typeface="Times New Roman"/>
                <a:cs typeface="Times New Roman"/>
              </a:defRPr>
            </a:lvl2pPr>
            <a:lvl3pPr algn="ctr">
              <a:buNone/>
              <a:defRPr sz="4000">
                <a:latin typeface="Times New Roman"/>
                <a:ea typeface="Times New Roman"/>
                <a:cs typeface="Times New Roman"/>
              </a:defRPr>
            </a:lvl3pPr>
            <a:lvl4pPr algn="ctr">
              <a:buNone/>
              <a:defRPr sz="4000">
                <a:latin typeface="Times New Roman"/>
                <a:ea typeface="Times New Roman"/>
                <a:cs typeface="Times New Roman"/>
              </a:defRPr>
            </a:lvl4pPr>
            <a:lvl5pPr algn="ctr">
              <a:buNone/>
              <a:defRPr sz="4000">
                <a:latin typeface="Times New Roman"/>
                <a:ea typeface="Times New Roman"/>
                <a:cs typeface="Times New Roman"/>
              </a:defRPr>
            </a:lvl5pPr>
            <a:lvl6pPr marL="457200" algn="ctr">
              <a:spcBef>
                <a:spcPct val="0"/>
              </a:spcBef>
              <a:spcAft>
                <a:spcPct val="0"/>
              </a:spcAft>
              <a:buNone/>
              <a:defRPr sz="4000">
                <a:latin typeface="Times New Roman"/>
                <a:ea typeface="Times New Roman"/>
                <a:cs typeface="Times New Roman"/>
              </a:defRPr>
            </a:lvl6pPr>
            <a:lvl7pPr marL="914400" algn="ctr">
              <a:spcBef>
                <a:spcPct val="0"/>
              </a:spcBef>
              <a:spcAft>
                <a:spcPct val="0"/>
              </a:spcAft>
              <a:buNone/>
              <a:defRPr sz="4000">
                <a:latin typeface="Times New Roman"/>
                <a:ea typeface="Times New Roman"/>
                <a:cs typeface="Times New Roman"/>
              </a:defRPr>
            </a:lvl7pPr>
            <a:lvl8pPr marL="1371600" algn="ctr">
              <a:spcBef>
                <a:spcPct val="0"/>
              </a:spcBef>
              <a:spcAft>
                <a:spcPct val="0"/>
              </a:spcAft>
              <a:buNone/>
              <a:defRPr sz="4000">
                <a:latin typeface="Times New Roman"/>
                <a:ea typeface="Times New Roman"/>
                <a:cs typeface="Times New Roman"/>
              </a:defRPr>
            </a:lvl8pPr>
            <a:lvl9pPr marL="1828800" algn="ctr">
              <a:spcBef>
                <a:spcPct val="0"/>
              </a:spcBef>
              <a:spcAft>
                <a:spcPct val="0"/>
              </a:spcAft>
              <a:buNone/>
              <a:defRPr sz="4000">
                <a:latin typeface="Times New Roman"/>
                <a:ea typeface="Times New Roman"/>
                <a:cs typeface="Times New Roman"/>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2 </a:t>
            </a:r>
            <a:r>
              <a:rPr sz="3200" b="1">
                <a:solidFill>
                  <a:srgbClr val="4674CD"/>
                </a:solidFill>
                <a:latin typeface="SimHei"/>
                <a:ea typeface="SimHei"/>
                <a:cs typeface="SimHei"/>
              </a:rPr>
              <a:t>文献综述</a:t>
            </a:r>
          </a:p>
        </p:txBody>
      </p:sp>
      <p:sp>
        <p:nvSpPr>
          <p:cNvPr id="9"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Times New Roman"/>
                <a:ea typeface="Times New Roman"/>
                <a:cs typeface="Times New Roman"/>
              </a:defRPr>
            </a:defPPr>
          </a:lstStyle>
          <a:p xmlns:a="http://schemas.openxmlformats.org/drawingml/2006/main">
            <a:pPr algn="l">
              <a:lnSpc>
                <a:spcPct val="100000"/>
              </a:lnSpc>
              <a:spcBef>
                <a:spcPts val="0"/>
              </a:spcBef>
              <a:spcAft>
                <a:spcPts val="0"/>
              </a:spcAft>
              <a:buNone/>
              <a:defRPr sz="2400" b="1">
                <a:solidFill>
                  <a:srgbClr val="315CA9"/>
                </a:solidFill>
                <a:latin typeface="Times New Roman"/>
                <a:ea typeface="Times New Roman"/>
                <a:cs typeface="Times New Roman"/>
              </a:defRPr>
            </a:pPr>
            <a:r>
              <a:rPr sz="2400" b="1">
                <a:solidFill>
                  <a:srgbClr val="315CA9"/>
                </a:solidFill>
                <a:latin typeface="SimHei"/>
                <a:ea typeface="SimHei"/>
                <a:cs typeface="SimHei"/>
              </a:rPr>
              <a:t>飞机脉动装配线调度</a:t>
            </a:r>
          </a:p>
        </p:txBody>
      </p:sp>
      <p:sp>
        <p:nvSpPr>
          <p:cNvPr id="10"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Times New Roman"/>
                <a:ea typeface="Times New Roman"/>
                <a:cs typeface="Times New Roman"/>
              </a:defRPr>
            </a:defPPr>
          </a:lstStyle>
          <a:p xmlns:a="http://schemas.openxmlformats.org/drawingml/2006/main">
            <a:pPr algn="r">
              <a:buNone/>
              <a:defRPr sz="1350" b="0">
                <a:solidFill>
                  <a:srgbClr val="000000"/>
                </a:solidFill>
                <a:latin typeface="Times New Roman"/>
                <a:ea typeface="Times New Roman"/>
                <a:cs typeface="Times New Roman"/>
              </a:defRPr>
            </a:pPr>
            <a:r>
              <a:rPr sz="1200" b="0">
                <a:solidFill>
                  <a:srgbClr val="666666"/>
                </a:solidFill>
                <a:latin typeface="Times New Roman"/>
                <a:ea typeface="Times New Roman"/>
                <a:cs typeface="Times New Roman"/>
              </a:rPr>
              <a:t>05</a:t>
            </a:r>
          </a:p>
        </p:txBody>
      </p:sp>
      <p:sp>
        <p:nvSpPr>
          <p:cNvPr id="11" name="overview">
            <a:extLst xmlns:a="http://schemas.openxmlformats.org/drawingml/2006/main">
              <a:ext uri="{FF2B5EF4-FFF2-40B4-BE49-F238E27FC236}">
                <a16:creationId xmlns:a16="http://schemas.microsoft.com/office/drawing/2014/main" id="{A5C89220-D166-4FC0-B96C-C8D9BBAE3FF3}"/>
              </a:ext>
            </a:extLst>
          </p:cNvPr>
          <p:cNvSpPr>
            <a:spLocks xmlns:a="http://schemas.openxmlformats.org/drawingml/2006/main" noGrp="1"/>
          </p:cNvSpPr>
          <p:nvPr/>
        </p:nvSpPr>
        <p:spPr>
          <a:xfrm xmlns:a="http://schemas.openxmlformats.org/drawingml/2006/main">
            <a:off x="571500" y="12001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6E747A"/>
                </a:solidFill>
              </a:defRPr>
            </a:defPPr>
          </a:lstStyle>
          <a:p xmlns:a="http://schemas.openxmlformats.org/drawingml/2006/main">
            <a:pPr algn="l">
              <a:lnSpc>
                <a:spcPct val="108000"/>
              </a:lnSpc>
              <a:spcBef>
                <a:spcPts val="0"/>
              </a:spcBef>
              <a:spcAft>
                <a:spcPts val="0"/>
              </a:spcAft>
              <a:buNone/>
              <a:defRPr sz="1613" b="0">
                <a:solidFill>
                  <a:srgbClr val="6E747A"/>
                </a:solidFill>
              </a:defRPr>
            </a:pPr>
            <a:r>
              <a:rPr sz="1613" b="0">
                <a:solidFill>
                  <a:srgbClr val="6E747A"/>
                </a:solidFill>
                <a:latin typeface="SimHei"/>
                <a:ea typeface="SimHei"/>
                <a:cs typeface="SimHei"/>
              </a:rPr>
              <a:t>已有研究对工序分站、人员安排、扰动调整及周期生产的处理。</a:t>
            </a:r>
          </a:p>
        </p:txBody>
      </p:sp>
      <p:sp>
        <p:nvSpPr>
          <p:cNvPr id="12" name="production-root">
            <a:extLst xmlns:a="http://schemas.openxmlformats.org/drawingml/2006/main">
              <a:ext uri="{FF2B5EF4-FFF2-40B4-BE49-F238E27FC236}">
                <a16:creationId xmlns:a16="http://schemas.microsoft.com/office/drawing/2014/main" id="{68DE34C6-DC99-4ECE-B973-597D2528E211}"/>
              </a:ext>
            </a:extLst>
          </p:cNvPr>
          <p:cNvSpPr>
            <a:spLocks xmlns:a="http://schemas.openxmlformats.org/drawingml/2006/main" noGrp="1"/>
          </p:cNvSpPr>
          <p:nvPr/>
        </p:nvSpPr>
        <p:spPr>
          <a:xfrm xmlns:a="http://schemas.openxmlformats.org/drawingml/2006/main">
            <a:off x="476250" y="3619500"/>
            <a:ext cx="609600" cy="685800"/>
          </a:xfrm>
          <a:prstGeom xmlns:a="http://schemas.openxmlformats.org/drawingml/2006/main" prst="rect">
            <a:avLst/>
          </a:prstGeom>
          <a:solidFill xmlns:a="http://schemas.openxmlformats.org/drawingml/2006/main">
            <a:srgbClr val="FFFFFF"/>
          </a:solidFill>
          <a:ln xmlns:a="http://schemas.openxmlformats.org/drawingml/2006/main" w="1714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800" b="1">
                <a:solidFill>
                  <a:srgbClr val="17375E"/>
                </a:solidFill>
              </a:defRPr>
            </a:defPPr>
          </a:lstStyle>
          <a:p xmlns:a="http://schemas.openxmlformats.org/drawingml/2006/main">
            <a:pPr algn="ctr">
              <a:lnSpc>
                <a:spcPct val="102000"/>
              </a:lnSpc>
              <a:spcBef>
                <a:spcPts val="0"/>
              </a:spcBef>
              <a:spcAft>
                <a:spcPts val="0"/>
              </a:spcAft>
              <a:buNone/>
              <a:defRPr sz="1800" b="1">
                <a:solidFill>
                  <a:srgbClr val="17375E"/>
                </a:solidFill>
              </a:defRPr>
            </a:pPr>
            <a:r>
              <a:rPr sz="1800" b="1">
                <a:solidFill>
                  <a:srgbClr val="17375E"/>
                </a:solidFill>
                <a:latin typeface="SimHei"/>
                <a:ea typeface="SimHei"/>
                <a:cs typeface="SimHei"/>
              </a:rPr>
              <a:t>生产</a:t>
            </a:r>
          </a:p>
          <a:p xmlns:a="http://schemas.openxmlformats.org/drawingml/2006/main">
            <a:pPr algn="ctr">
              <a:lnSpc>
                <a:spcPct val="102000"/>
              </a:lnSpc>
              <a:spcBef>
                <a:spcPts val="0"/>
              </a:spcBef>
              <a:spcAft>
                <a:spcPts val="0"/>
              </a:spcAft>
              <a:buNone/>
              <a:defRPr sz="1800" b="1">
                <a:solidFill>
                  <a:srgbClr val="17375E"/>
                </a:solidFill>
              </a:defRPr>
            </a:pPr>
            <a:r>
              <a:rPr sz="1800" b="1">
                <a:solidFill>
                  <a:srgbClr val="17375E"/>
                </a:solidFill>
                <a:latin typeface="SimHei"/>
                <a:ea typeface="SimHei"/>
                <a:cs typeface="SimHei"/>
              </a:rPr>
              <a:t>问题</a:t>
            </a:r>
          </a:p>
        </p:txBody>
      </p:sp>
      <p:cxnSp>
        <p:nvCxnSpPr>
          <p:cNvPr id="13" name="production-trunk">
            <a:extLst xmlns:a="http://schemas.openxmlformats.org/drawingml/2006/main">
              <a:ext uri="{FF2B5EF4-FFF2-40B4-BE49-F238E27FC236}">
                <a16:creationId xmlns:a16="http://schemas.microsoft.com/office/drawing/2014/main" id="{87BE6663-A118-438A-85F6-B53B83D91FFC}"/>
              </a:ext>
            </a:extLst>
          </p:cNvPr>
          <p:cNvCxnSpPr/>
          <p:nvPr/>
        </p:nvCxnSpPr>
        <p:spPr>
          <a:xfrm xmlns:a="http://schemas.openxmlformats.org/drawingml/2006/main" flipH="0" flipV="0">
            <a:off x="1171575" y="2628900"/>
            <a:ext cx="0" cy="2752725"/>
          </a:xfrm>
          <a:prstGeom xmlns:a="http://schemas.openxmlformats.org/drawingml/2006/main" prst="straightConnector1">
            <a:avLst/>
          </a:prstGeom>
          <a:ln xmlns:a="http://schemas.openxmlformats.org/drawingml/2006/main" w="19050">
            <a:solidFill>
              <a:srgbClr val="4674CD"/>
            </a:solidFill>
            <a:prstDash val="solid"/>
          </a:ln>
        </p:spPr>
      </p:cxnSp>
      <p:cxnSp>
        <p:nvCxnSpPr>
          <p:cNvPr id="14" name="production-root-link">
            <a:extLst xmlns:a="http://schemas.openxmlformats.org/drawingml/2006/main">
              <a:ext uri="{FF2B5EF4-FFF2-40B4-BE49-F238E27FC236}">
                <a16:creationId xmlns:a16="http://schemas.microsoft.com/office/drawing/2014/main" id="{B501DCBE-C496-4949-9994-56E118F017C8}"/>
              </a:ext>
            </a:extLst>
          </p:cNvPr>
          <p:cNvCxnSpPr/>
          <p:nvPr/>
        </p:nvCxnSpPr>
        <p:spPr>
          <a:xfrm xmlns:a="http://schemas.openxmlformats.org/drawingml/2006/main" flipH="0" flipV="0">
            <a:off x="1085850" y="3962400"/>
            <a:ext cx="85725" cy="0"/>
          </a:xfrm>
          <a:prstGeom xmlns:a="http://schemas.openxmlformats.org/drawingml/2006/main" prst="straightConnector1">
            <a:avLst/>
          </a:prstGeom>
          <a:ln xmlns:a="http://schemas.openxmlformats.org/drawingml/2006/main" w="19050">
            <a:solidFill>
              <a:srgbClr val="4674CD"/>
            </a:solidFill>
            <a:prstDash val="solid"/>
          </a:ln>
        </p:spPr>
      </p:cxnSp>
      <p:cxnSp>
        <p:nvCxnSpPr>
          <p:cNvPr id="15" name="joint-branch">
            <a:extLst xmlns:a="http://schemas.openxmlformats.org/drawingml/2006/main">
              <a:ext uri="{FF2B5EF4-FFF2-40B4-BE49-F238E27FC236}">
                <a16:creationId xmlns:a16="http://schemas.microsoft.com/office/drawing/2014/main" id="{2631CBEF-A675-4B1E-825E-AA08AA965335}"/>
              </a:ext>
            </a:extLst>
          </p:cNvPr>
          <p:cNvCxnSpPr/>
          <p:nvPr/>
        </p:nvCxnSpPr>
        <p:spPr>
          <a:xfrm xmlns:a="http://schemas.openxmlformats.org/drawingml/2006/main" flipH="0" flipV="0">
            <a:off x="1171575" y="2628900"/>
            <a:ext cx="200025" cy="0"/>
          </a:xfrm>
          <a:prstGeom xmlns:a="http://schemas.openxmlformats.org/drawingml/2006/main" prst="straightConnector1">
            <a:avLst/>
          </a:prstGeom>
          <a:ln xmlns:a="http://schemas.openxmlformats.org/drawingml/2006/main" w="19050">
            <a:solidFill>
              <a:srgbClr val="4674CD"/>
            </a:solidFill>
            <a:prstDash val="solid"/>
          </a:ln>
        </p:spPr>
      </p:cxnSp>
      <p:sp>
        <p:nvSpPr>
          <p:cNvPr id="16" name="joint-category">
            <a:extLst xmlns:a="http://schemas.openxmlformats.org/drawingml/2006/main">
              <a:ext uri="{FF2B5EF4-FFF2-40B4-BE49-F238E27FC236}">
                <a16:creationId xmlns:a16="http://schemas.microsoft.com/office/drawing/2014/main" id="{FDDF2B1F-7F68-43C4-B97B-F9D70B63C848}"/>
              </a:ext>
            </a:extLst>
          </p:cNvPr>
          <p:cNvSpPr>
            <a:spLocks xmlns:a="http://schemas.openxmlformats.org/drawingml/2006/main" noGrp="1"/>
          </p:cNvSpPr>
          <p:nvPr/>
        </p:nvSpPr>
        <p:spPr>
          <a:xfrm xmlns:a="http://schemas.openxmlformats.org/drawingml/2006/main">
            <a:off x="1371600" y="2314575"/>
            <a:ext cx="1609725" cy="628650"/>
          </a:xfrm>
          <a:prstGeom xmlns:a="http://schemas.openxmlformats.org/drawingml/2006/main" prst="rect">
            <a:avLst/>
          </a:prstGeom>
          <a:solidFill xmlns:a="http://schemas.openxmlformats.org/drawingml/2006/main">
            <a:srgbClr val="E7ECF6"/>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725" b="1">
                <a:solidFill>
                  <a:srgbClr val="17375E"/>
                </a:solidFill>
              </a:defRPr>
            </a:defPPr>
          </a:lstStyle>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SimHei"/>
                <a:ea typeface="SimHei"/>
                <a:cs typeface="SimHei"/>
              </a:rPr>
              <a:t>工序分站</a:t>
            </a:r>
          </a:p>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SimHei"/>
                <a:ea typeface="SimHei"/>
                <a:cs typeface="SimHei"/>
              </a:rPr>
              <a:t>与人员安排</a:t>
            </a:r>
          </a:p>
        </p:txBody>
      </p:sp>
      <p:cxnSp>
        <p:nvCxnSpPr>
          <p:cNvPr id="17" name="joint-evidence-link">
            <a:extLst xmlns:a="http://schemas.openxmlformats.org/drawingml/2006/main">
              <a:ext uri="{FF2B5EF4-FFF2-40B4-BE49-F238E27FC236}">
                <a16:creationId xmlns:a16="http://schemas.microsoft.com/office/drawing/2014/main" id="{CEF7D4A5-605A-4DC3-A81D-5F67F77C40DC}"/>
              </a:ext>
            </a:extLst>
          </p:cNvPr>
          <p:cNvCxnSpPr/>
          <p:nvPr/>
        </p:nvCxnSpPr>
        <p:spPr>
          <a:xfrm xmlns:a="http://schemas.openxmlformats.org/drawingml/2006/main" flipH="0" flipV="0">
            <a:off x="2981325" y="2628900"/>
            <a:ext cx="219075" cy="0"/>
          </a:xfrm>
          <a:prstGeom xmlns:a="http://schemas.openxmlformats.org/drawingml/2006/main" prst="straightConnector1">
            <a:avLst/>
          </a:prstGeom>
          <a:ln xmlns:a="http://schemas.openxmlformats.org/drawingml/2006/main" w="16193">
            <a:solidFill>
              <a:srgbClr val="4674CD"/>
            </a:solidFill>
            <a:prstDash val="solid"/>
          </a:ln>
        </p:spPr>
      </p:cxnSp>
      <p:cxnSp>
        <p:nvCxnSpPr>
          <p:cNvPr id="18" name="repair-branch">
            <a:extLst xmlns:a="http://schemas.openxmlformats.org/drawingml/2006/main">
              <a:ext uri="{FF2B5EF4-FFF2-40B4-BE49-F238E27FC236}">
                <a16:creationId xmlns:a16="http://schemas.microsoft.com/office/drawing/2014/main" id="{FC0E7D4B-2265-4EF8-BA10-9A1E2E45511D}"/>
              </a:ext>
            </a:extLst>
          </p:cNvPr>
          <p:cNvCxnSpPr/>
          <p:nvPr/>
        </p:nvCxnSpPr>
        <p:spPr>
          <a:xfrm xmlns:a="http://schemas.openxmlformats.org/drawingml/2006/main" flipH="0" flipV="0">
            <a:off x="1171575" y="4362450"/>
            <a:ext cx="200025" cy="0"/>
          </a:xfrm>
          <a:prstGeom xmlns:a="http://schemas.openxmlformats.org/drawingml/2006/main" prst="straightConnector1">
            <a:avLst/>
          </a:prstGeom>
          <a:ln xmlns:a="http://schemas.openxmlformats.org/drawingml/2006/main" w="19050">
            <a:solidFill>
              <a:srgbClr val="4674CD"/>
            </a:solidFill>
            <a:prstDash val="solid"/>
          </a:ln>
        </p:spPr>
      </p:cxnSp>
      <p:sp>
        <p:nvSpPr>
          <p:cNvPr id="19" name="repair-category">
            <a:extLst xmlns:a="http://schemas.openxmlformats.org/drawingml/2006/main">
              <a:ext uri="{FF2B5EF4-FFF2-40B4-BE49-F238E27FC236}">
                <a16:creationId xmlns:a16="http://schemas.microsoft.com/office/drawing/2014/main" id="{4B703AFE-9AA6-41E2-990E-C7C75BF4B492}"/>
              </a:ext>
            </a:extLst>
          </p:cNvPr>
          <p:cNvSpPr>
            <a:spLocks xmlns:a="http://schemas.openxmlformats.org/drawingml/2006/main" noGrp="1"/>
          </p:cNvSpPr>
          <p:nvPr/>
        </p:nvSpPr>
        <p:spPr>
          <a:xfrm xmlns:a="http://schemas.openxmlformats.org/drawingml/2006/main">
            <a:off x="1371600" y="4048125"/>
            <a:ext cx="1609725" cy="628650"/>
          </a:xfrm>
          <a:prstGeom xmlns:a="http://schemas.openxmlformats.org/drawingml/2006/main" prst="rect">
            <a:avLst/>
          </a:prstGeom>
          <a:solidFill xmlns:a="http://schemas.openxmlformats.org/drawingml/2006/main">
            <a:srgbClr val="E7ECF6"/>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725" b="1">
                <a:solidFill>
                  <a:srgbClr val="17375E"/>
                </a:solidFill>
              </a:defRPr>
            </a:defPPr>
          </a:lstStyle>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SimHei"/>
                <a:ea typeface="SimHei"/>
                <a:cs typeface="SimHei"/>
              </a:rPr>
              <a:t>扰动后的</a:t>
            </a:r>
          </a:p>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SimHei"/>
                <a:ea typeface="SimHei"/>
                <a:cs typeface="SimHei"/>
              </a:rPr>
              <a:t>计划调整</a:t>
            </a:r>
          </a:p>
        </p:txBody>
      </p:sp>
      <p:cxnSp>
        <p:nvCxnSpPr>
          <p:cNvPr id="20" name="repair-evidence-link">
            <a:extLst xmlns:a="http://schemas.openxmlformats.org/drawingml/2006/main">
              <a:ext uri="{FF2B5EF4-FFF2-40B4-BE49-F238E27FC236}">
                <a16:creationId xmlns:a16="http://schemas.microsoft.com/office/drawing/2014/main" id="{CA6105E4-E29A-4AF6-917A-5AD054AC4A48}"/>
              </a:ext>
            </a:extLst>
          </p:cNvPr>
          <p:cNvCxnSpPr/>
          <p:nvPr/>
        </p:nvCxnSpPr>
        <p:spPr>
          <a:xfrm xmlns:a="http://schemas.openxmlformats.org/drawingml/2006/main" flipH="0" flipV="0">
            <a:off x="2981325" y="4362450"/>
            <a:ext cx="219075" cy="0"/>
          </a:xfrm>
          <a:prstGeom xmlns:a="http://schemas.openxmlformats.org/drawingml/2006/main" prst="straightConnector1">
            <a:avLst/>
          </a:prstGeom>
          <a:ln xmlns:a="http://schemas.openxmlformats.org/drawingml/2006/main" w="16193">
            <a:solidFill>
              <a:srgbClr val="4674CD"/>
            </a:solidFill>
            <a:prstDash val="solid"/>
          </a:ln>
        </p:spPr>
      </p:cxnSp>
      <p:cxnSp>
        <p:nvCxnSpPr>
          <p:cNvPr id="21" name="continuous-branch">
            <a:extLst xmlns:a="http://schemas.openxmlformats.org/drawingml/2006/main">
              <a:ext uri="{FF2B5EF4-FFF2-40B4-BE49-F238E27FC236}">
                <a16:creationId xmlns:a16="http://schemas.microsoft.com/office/drawing/2014/main" id="{FA9064C7-77E8-440F-8525-7E4F909CBEBB}"/>
              </a:ext>
            </a:extLst>
          </p:cNvPr>
          <p:cNvCxnSpPr/>
          <p:nvPr/>
        </p:nvCxnSpPr>
        <p:spPr>
          <a:xfrm xmlns:a="http://schemas.openxmlformats.org/drawingml/2006/main" flipH="0" flipV="0">
            <a:off x="1171575" y="5381625"/>
            <a:ext cx="200025" cy="0"/>
          </a:xfrm>
          <a:prstGeom xmlns:a="http://schemas.openxmlformats.org/drawingml/2006/main" prst="straightConnector1">
            <a:avLst/>
          </a:prstGeom>
          <a:ln xmlns:a="http://schemas.openxmlformats.org/drawingml/2006/main" w="19050">
            <a:solidFill>
              <a:srgbClr val="4674CD"/>
            </a:solidFill>
            <a:prstDash val="solid"/>
          </a:ln>
        </p:spPr>
      </p:cxnSp>
      <p:sp>
        <p:nvSpPr>
          <p:cNvPr id="22" name="continuous-category">
            <a:extLst xmlns:a="http://schemas.openxmlformats.org/drawingml/2006/main">
              <a:ext uri="{FF2B5EF4-FFF2-40B4-BE49-F238E27FC236}">
                <a16:creationId xmlns:a16="http://schemas.microsoft.com/office/drawing/2014/main" id="{F2E474BB-2EB2-4BDE-81C4-D3C082E7BC81}"/>
              </a:ext>
            </a:extLst>
          </p:cNvPr>
          <p:cNvSpPr>
            <a:spLocks xmlns:a="http://schemas.openxmlformats.org/drawingml/2006/main" noGrp="1"/>
          </p:cNvSpPr>
          <p:nvPr/>
        </p:nvSpPr>
        <p:spPr>
          <a:xfrm xmlns:a="http://schemas.openxmlformats.org/drawingml/2006/main">
            <a:off x="1371600" y="5067300"/>
            <a:ext cx="1609725" cy="628650"/>
          </a:xfrm>
          <a:prstGeom xmlns:a="http://schemas.openxmlformats.org/drawingml/2006/main" prst="rect">
            <a:avLst/>
          </a:prstGeom>
          <a:solidFill xmlns:a="http://schemas.openxmlformats.org/drawingml/2006/main">
            <a:srgbClr val="E7ECF6"/>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725" b="1">
                <a:solidFill>
                  <a:srgbClr val="17375E"/>
                </a:solidFill>
              </a:defRPr>
            </a:defPPr>
          </a:lstStyle>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SimHei"/>
                <a:ea typeface="SimHei"/>
                <a:cs typeface="SimHei"/>
              </a:rPr>
              <a:t>多站位及</a:t>
            </a:r>
          </a:p>
          <a:p xmlns:a="http://schemas.openxmlformats.org/drawingml/2006/main">
            <a:pPr algn="ctr">
              <a:lnSpc>
                <a:spcPct val="102000"/>
              </a:lnSpc>
              <a:spcBef>
                <a:spcPts val="0"/>
              </a:spcBef>
              <a:spcAft>
                <a:spcPts val="0"/>
              </a:spcAft>
              <a:buNone/>
              <a:defRPr sz="1725" b="1">
                <a:solidFill>
                  <a:srgbClr val="17375E"/>
                </a:solidFill>
              </a:defRPr>
            </a:pPr>
            <a:r>
              <a:rPr sz="1725" b="1">
                <a:solidFill>
                  <a:srgbClr val="17375E"/>
                </a:solidFill>
                <a:latin typeface="SimHei"/>
                <a:ea typeface="SimHei"/>
                <a:cs typeface="SimHei"/>
              </a:rPr>
              <a:t>连续装配</a:t>
            </a:r>
          </a:p>
        </p:txBody>
      </p:sp>
      <p:cxnSp>
        <p:nvCxnSpPr>
          <p:cNvPr id="23" name="continuous-evidence-link">
            <a:extLst xmlns:a="http://schemas.openxmlformats.org/drawingml/2006/main">
              <a:ext uri="{FF2B5EF4-FFF2-40B4-BE49-F238E27FC236}">
                <a16:creationId xmlns:a16="http://schemas.microsoft.com/office/drawing/2014/main" id="{18F2B1DC-935C-47DB-9CCC-CDA9819E63B0}"/>
              </a:ext>
            </a:extLst>
          </p:cNvPr>
          <p:cNvCxnSpPr/>
          <p:nvPr/>
        </p:nvCxnSpPr>
        <p:spPr>
          <a:xfrm xmlns:a="http://schemas.openxmlformats.org/drawingml/2006/main" flipH="0" flipV="0">
            <a:off x="2981325" y="5381625"/>
            <a:ext cx="219075" cy="0"/>
          </a:xfrm>
          <a:prstGeom xmlns:a="http://schemas.openxmlformats.org/drawingml/2006/main" prst="straightConnector1">
            <a:avLst/>
          </a:prstGeom>
          <a:ln xmlns:a="http://schemas.openxmlformats.org/drawingml/2006/main" w="16193">
            <a:solidFill>
              <a:srgbClr val="4674CD"/>
            </a:solidFill>
            <a:prstDash val="solid"/>
          </a:ln>
        </p:spPr>
      </p:cxnSp>
      <p:graphicFrame>
        <p:nvGraphicFramePr>
          <p:cNvPr id="24" name="">
            <a:extLst xmlns:a="http://schemas.openxmlformats.org/drawingml/2006/main">
              <a:ext uri="{FF2B5EF4-FFF2-40B4-BE49-F238E27FC236}">
                <a16:creationId xmlns:a16="http://schemas.microsoft.com/office/drawing/2014/main" id="{6380D39C-F4EB-41F2-8292-D72D6AC9BD07}"/>
              </a:ext>
            </a:extLst>
          </p:cNvPr>
          <p:cNvGraphicFramePr/>
          <p:nvPr/>
        </p:nvGraphicFramePr>
        <p:xfrm>
          <a:off xmlns:a="http://schemas.openxmlformats.org/drawingml/2006/main" x="3219450" y="1647825"/>
          <a:ext xmlns:a="http://schemas.openxmlformats.org/drawingml/2006/main" cx="8401050" cy="1971675"/>
        </p:xfrm>
        <a:graphic xmlns:a="http://schemas.openxmlformats.org/drawingml/2006/main">
          <a:graphicData uri="http://schemas.openxmlformats.org/drawingml/2006/table">
            <a:tbl>
              <a:tblPr firstRow="1" bandRow="0"/>
              <a:tblGrid>
                <a:gridCol w="1638300"/>
                <a:gridCol w="2895600"/>
                <a:gridCol w="3867150"/>
              </a:tblGrid>
              <a:tr h="342900">
                <a:tc>
                  <a:txBody>
                    <a:bodyPr wrap="square" lIns="0" tIns="0" rIns="0" bIns="0">
                      <a:noAutofit/>
                    </a:bodyPr>
                    <a:lstStyle/>
                    <a:p>
                      <a:pPr algn="l">
                        <a:lnSpc>
                          <a:spcPct val="106000"/>
                        </a:lnSpc>
                        <a:spcBef>
                          <a:spcPts val="0"/>
                        </a:spcBef>
                        <a:spcAft>
                          <a:spcPts val="0"/>
                        </a:spcAft>
                        <a:buNone/>
                      </a:pPr>
                      <a:r>
                        <a:rPr sz="1575" b="1">
                          <a:solidFill>
                            <a:srgbClr val="FFFFFF"/>
                          </a:solidFill>
                          <a:latin typeface="SimHei"/>
                          <a:ea typeface="SimHei"/>
                          <a:cs typeface="SimHei"/>
                        </a:rPr>
                        <a:t>代表文献</a:t>
                      </a:r>
                    </a:p>
                  </a:txBody>
                  <a:tcPr marL="85725" marR="66675" marT="38100" marB="38100" anchor="ctr">
                    <a:lnL w="6668">
                      <a:solidFill>
                        <a:srgbClr val="CDD7E8"/>
                      </a:solidFill>
                      <a:prstDash val="solid"/>
                    </a:lnL>
                    <a:lnR w="6668">
                      <a:solidFill>
                        <a:srgbClr val="CDD7E8"/>
                      </a:solidFill>
                      <a:prstDash val="solid"/>
                    </a:lnR>
                    <a:lnT w="6668">
                      <a:solidFill>
                        <a:srgbClr val="CDD7E8"/>
                      </a:solidFill>
                      <a:prstDash val="solid"/>
                    </a:lnT>
                    <a:lnB w="6668">
                      <a:solidFill>
                        <a:srgbClr val="CDD7E8"/>
                      </a:solidFill>
                      <a:prstDash val="solid"/>
                    </a:lnB>
                    <a:solidFill>
                      <a:srgbClr val="4674CD"/>
                    </a:solidFill>
                  </a:tcPr>
                </a:tc>
                <a:tc>
                  <a:txBody>
                    <a:bodyPr wrap="square" lIns="0" tIns="0" rIns="0" bIns="0">
                      <a:noAutofit/>
                    </a:bodyPr>
                    <a:lstStyle/>
                    <a:p>
                      <a:pPr algn="l">
                        <a:lnSpc>
                          <a:spcPct val="106000"/>
                        </a:lnSpc>
                        <a:spcBef>
                          <a:spcPts val="0"/>
                        </a:spcBef>
                        <a:spcAft>
                          <a:spcPts val="0"/>
                        </a:spcAft>
                        <a:buNone/>
                      </a:pPr>
                      <a:r>
                        <a:rPr sz="1575" b="1">
                          <a:solidFill>
                            <a:srgbClr val="FFFFFF"/>
                          </a:solidFill>
                          <a:latin typeface="SimHei"/>
                          <a:ea typeface="SimHei"/>
                          <a:cs typeface="SimHei"/>
                        </a:rPr>
                        <a:t>主要生产决策</a:t>
                      </a: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4674CD"/>
                    </a:solidFill>
                  </a:tcPr>
                </a:tc>
                <a:tc>
                  <a:txBody>
                    <a:bodyPr wrap="square" lIns="0" tIns="0" rIns="0" bIns="0">
                      <a:noAutofit/>
                    </a:bodyPr>
                    <a:lstStyle/>
                    <a:p>
                      <a:pPr algn="l">
                        <a:lnSpc>
                          <a:spcPct val="106000"/>
                        </a:lnSpc>
                        <a:spcBef>
                          <a:spcPts val="0"/>
                        </a:spcBef>
                        <a:spcAft>
                          <a:spcPts val="0"/>
                        </a:spcAft>
                        <a:buNone/>
                      </a:pPr>
                      <a:r>
                        <a:rPr sz="1575" b="1">
                          <a:solidFill>
                            <a:srgbClr val="FFFFFF"/>
                          </a:solidFill>
                          <a:latin typeface="SimHei"/>
                          <a:ea typeface="SimHei"/>
                          <a:cs typeface="SimHei"/>
                        </a:rPr>
                        <a:t>生产条件与评价</a:t>
                      </a: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4674CD"/>
                    </a:solidFill>
                  </a:tcPr>
                </a:tc>
              </a:tr>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Bao</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[3]</a:t>
                      </a:r>
                    </a:p>
                  </a:txBody>
                  <a:tcPr marL="85725" marR="66675" marT="38100" marB="38100" anchor="ctr">
                    <a:lnL w="6668">
                      <a:solidFill>
                        <a:srgbClr val="CDD7E8"/>
                      </a:solidFill>
                      <a:prstDash val="solid"/>
                    </a:lnL>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工序分站、资源配置</a:t>
                      </a:r>
                    </a:p>
                    <a:p>
                      <a:pPr algn="l">
                        <a:lnSpc>
                          <a:spcPct val="106000"/>
                        </a:lnSpc>
                        <a:spcBef>
                          <a:spcPts val="0"/>
                        </a:spcBef>
                        <a:spcAft>
                          <a:spcPts val="0"/>
                        </a:spcAft>
                        <a:buNone/>
                      </a:pPr>
                      <a:r>
                        <a:rPr sz="1613" b="0">
                          <a:solidFill>
                            <a:srgbClr val="111111"/>
                          </a:solidFill>
                          <a:latin typeface="SimHei"/>
                          <a:ea typeface="SimHei"/>
                          <a:cs typeface="SimHei"/>
                        </a:rPr>
                        <a:t>与作业时间</a:t>
                      </a:r>
                    </a:p>
                  </a:txBody>
                  <a:tcPr marL="85725" marR="66675" marT="38100" marB="38100" anchor="ctr">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人员按资源数量表示</a:t>
                      </a:r>
                    </a:p>
                    <a:p>
                      <a:pPr algn="l">
                        <a:lnSpc>
                          <a:spcPct val="106000"/>
                        </a:lnSpc>
                        <a:spcBef>
                          <a:spcPts val="0"/>
                        </a:spcBef>
                        <a:spcAft>
                          <a:spcPts val="0"/>
                        </a:spcAft>
                        <a:buNone/>
                      </a:pPr>
                      <a:r>
                        <a:rPr sz="1613" b="0">
                          <a:solidFill>
                            <a:srgbClr val="111111"/>
                          </a:solidFill>
                          <a:latin typeface="SimHei"/>
                          <a:ea typeface="SimHei"/>
                          <a:cs typeface="SimHei"/>
                        </a:rPr>
                        <a:t>评价周期、负荷与投入</a:t>
                      </a:r>
                    </a:p>
                  </a:txBody>
                  <a:tcPr marL="85725" marR="66675" marT="38100" marB="38100" anchor="ctr">
                    <a:lnR w="6668">
                      <a:solidFill>
                        <a:srgbClr val="CDD7E8"/>
                      </a:solidFill>
                      <a:prstDash val="solid"/>
                    </a:lnR>
                    <a:lnB w="6668">
                      <a:solidFill>
                        <a:srgbClr val="CDD7E8"/>
                      </a:solidFill>
                      <a:prstDash val="solid"/>
                    </a:lnB>
                    <a:solidFill>
                      <a:srgbClr val="E7ECF6"/>
                    </a:solidFill>
                  </a:tcPr>
                </a:tc>
              </a:tr>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Fang</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[9]</a:t>
                      </a:r>
                    </a:p>
                  </a:txBody>
                  <a:tcPr marL="85725" marR="66675" marT="38100" marB="38100" anchor="ctr">
                    <a:lnL w="6668">
                      <a:solidFill>
                        <a:srgbClr val="CDD7E8"/>
                      </a:solidFill>
                      <a:prstDash val="solid"/>
                    </a:lnL>
                    <a:lnR w="6668">
                      <a:solidFill>
                        <a:srgbClr val="CDD7E8"/>
                      </a:solidFill>
                      <a:prstDash val="solid"/>
                    </a:lnR>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分阶段人员配置</a:t>
                      </a:r>
                    </a:p>
                    <a:p>
                      <a:pPr algn="l">
                        <a:lnSpc>
                          <a:spcPct val="106000"/>
                        </a:lnSpc>
                        <a:spcBef>
                          <a:spcPts val="0"/>
                        </a:spcBef>
                        <a:spcAft>
                          <a:spcPts val="0"/>
                        </a:spcAft>
                        <a:buNone/>
                      </a:pPr>
                      <a:r>
                        <a:rPr sz="1613" b="0">
                          <a:solidFill>
                            <a:srgbClr val="111111"/>
                          </a:solidFill>
                          <a:latin typeface="SimHei"/>
                          <a:ea typeface="SimHei"/>
                          <a:cs typeface="SimHei"/>
                        </a:rPr>
                        <a:t>与作业安排</a:t>
                      </a:r>
                    </a:p>
                  </a:txBody>
                  <a:tcPr marL="85725" marR="66675" marT="38100" marB="38100" anchor="ctr">
                    <a:lnR w="6668">
                      <a:solidFill>
                        <a:srgbClr val="CDD7E8"/>
                      </a:solidFill>
                      <a:prstDash val="solid"/>
                    </a:lnR>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工序站位已知</a:t>
                      </a:r>
                    </a:p>
                    <a:p>
                      <a:pPr algn="l">
                        <a:lnSpc>
                          <a:spcPct val="106000"/>
                        </a:lnSpc>
                        <a:spcBef>
                          <a:spcPts val="0"/>
                        </a:spcBef>
                        <a:spcAft>
                          <a:spcPts val="0"/>
                        </a:spcAft>
                        <a:buNone/>
                      </a:pPr>
                      <a:r>
                        <a:rPr sz="1613" b="0">
                          <a:solidFill>
                            <a:srgbClr val="111111"/>
                          </a:solidFill>
                          <a:latin typeface="SimHei"/>
                          <a:ea typeface="SimHei"/>
                          <a:cs typeface="SimHei"/>
                        </a:rPr>
                        <a:t>阶段间可调整人员站位</a:t>
                      </a:r>
                    </a:p>
                  </a:txBody>
                  <a:tcPr marL="85725" marR="66675" marT="38100" marB="38100" anchor="ctr">
                    <a:lnR w="6668">
                      <a:solidFill>
                        <a:srgbClr val="CDD7E8"/>
                      </a:solidFill>
                      <a:prstDash val="solid"/>
                    </a:lnR>
                    <a:lnB w="6668">
                      <a:solidFill>
                        <a:srgbClr val="CDD7E8"/>
                      </a:solidFill>
                      <a:prstDash val="solid"/>
                    </a:lnB>
                    <a:solidFill>
                      <a:srgbClr val="F1F4F8"/>
                    </a:solidFill>
                  </a:tcPr>
                </a:tc>
              </a:tr>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Zheng</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[10]</a:t>
                      </a:r>
                    </a:p>
                  </a:txBody>
                  <a:tcPr marL="85725" marR="66675" marT="38100" marB="38100" anchor="ctr">
                    <a:lnL w="6668">
                      <a:solidFill>
                        <a:srgbClr val="CDD7E8"/>
                      </a:solidFill>
                      <a:prstDash val="solid"/>
                    </a:lnL>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各站人数与工序安排</a:t>
                      </a:r>
                    </a:p>
                  </a:txBody>
                  <a:tcPr marL="85725" marR="66675" marT="38100" marB="38100" anchor="ctr">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工序站位给定</a:t>
                      </a:r>
                    </a:p>
                    <a:p>
                      <a:pPr algn="l">
                        <a:lnSpc>
                          <a:spcPct val="106000"/>
                        </a:lnSpc>
                        <a:spcBef>
                          <a:spcPts val="0"/>
                        </a:spcBef>
                        <a:spcAft>
                          <a:spcPts val="0"/>
                        </a:spcAft>
                        <a:buNone/>
                      </a:pPr>
                      <a:r>
                        <a:rPr sz="1613" b="0">
                          <a:solidFill>
                            <a:srgbClr val="111111"/>
                          </a:solidFill>
                          <a:latin typeface="SimHei"/>
                          <a:ea typeface="SimHei"/>
                          <a:cs typeface="SimHei"/>
                        </a:rPr>
                        <a:t>周期内人员驻站</a:t>
                      </a:r>
                    </a:p>
                  </a:txBody>
                  <a:tcPr marL="85725" marR="66675" marT="38100" marB="38100" anchor="ctr">
                    <a:lnR w="6668">
                      <a:solidFill>
                        <a:srgbClr val="CDD7E8"/>
                      </a:solidFill>
                      <a:prstDash val="solid"/>
                    </a:lnR>
                    <a:lnB w="6668">
                      <a:solidFill>
                        <a:srgbClr val="CDD7E8"/>
                      </a:solidFill>
                      <a:prstDash val="solid"/>
                    </a:lnB>
                    <a:solidFill>
                      <a:srgbClr val="E7ECF6"/>
                    </a:solidFill>
                  </a:tcPr>
                </a:tc>
              </a:tr>
            </a:tbl>
          </a:graphicData>
        </a:graphic>
      </p:graphicFrame>
      <p:graphicFrame>
        <p:nvGraphicFramePr>
          <p:cNvPr id="25" name="">
            <a:extLst xmlns:a="http://schemas.openxmlformats.org/drawingml/2006/main">
              <a:ext uri="{FF2B5EF4-FFF2-40B4-BE49-F238E27FC236}">
                <a16:creationId xmlns:a16="http://schemas.microsoft.com/office/drawing/2014/main" id="{CF6F9D83-7AE1-43AE-BEB5-080D03ABED05}"/>
              </a:ext>
            </a:extLst>
          </p:cNvPr>
          <p:cNvGraphicFramePr/>
          <p:nvPr/>
        </p:nvGraphicFramePr>
        <p:xfrm>
          <a:off xmlns:a="http://schemas.openxmlformats.org/drawingml/2006/main" x="3219450" y="3819525"/>
          <a:ext xmlns:a="http://schemas.openxmlformats.org/drawingml/2006/main" cx="8401050" cy="1085850"/>
        </p:xfrm>
        <a:graphic xmlns:a="http://schemas.openxmlformats.org/drawingml/2006/main">
          <a:graphicData uri="http://schemas.openxmlformats.org/drawingml/2006/table">
            <a:tbl>
              <a:tblPr firstRow="0" bandRow="0"/>
              <a:tblGrid>
                <a:gridCol w="1638300"/>
                <a:gridCol w="2895600"/>
                <a:gridCol w="3867150"/>
              </a:tblGrid>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Zhu</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[15]</a:t>
                      </a:r>
                    </a:p>
                  </a:txBody>
                  <a:tcPr marL="85725" marR="66675" marT="38100" marB="38100" anchor="ctr">
                    <a:lnL w="6668">
                      <a:solidFill>
                        <a:srgbClr val="CDD7E8"/>
                      </a:solidFill>
                      <a:prstDash val="solid"/>
                    </a:lnL>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未开工作业的</a:t>
                      </a:r>
                    </a:p>
                    <a:p>
                      <a:pPr algn="l">
                        <a:lnSpc>
                          <a:spcPct val="106000"/>
                        </a:lnSpc>
                        <a:spcBef>
                          <a:spcPts val="0"/>
                        </a:spcBef>
                        <a:spcAft>
                          <a:spcPts val="0"/>
                        </a:spcAft>
                        <a:buNone/>
                      </a:pPr>
                      <a:r>
                        <a:rPr sz="1613" b="0">
                          <a:solidFill>
                            <a:srgbClr val="111111"/>
                          </a:solidFill>
                          <a:latin typeface="SimHei"/>
                          <a:ea typeface="SimHei"/>
                          <a:cs typeface="SimHei"/>
                        </a:rPr>
                        <a:t>开工时间调整</a:t>
                      </a: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判断提前、推迟或保持</a:t>
                      </a:r>
                    </a:p>
                    <a:p>
                      <a:pPr algn="l">
                        <a:lnSpc>
                          <a:spcPct val="106000"/>
                        </a:lnSpc>
                        <a:spcBef>
                          <a:spcPts val="0"/>
                        </a:spcBef>
                        <a:spcAft>
                          <a:spcPts val="0"/>
                        </a:spcAft>
                        <a:buNone/>
                      </a:pPr>
                      <a:r>
                        <a:rPr sz="1613" b="0">
                          <a:solidFill>
                            <a:srgbClr val="111111"/>
                          </a:solidFill>
                          <a:latin typeface="SimHei"/>
                          <a:ea typeface="SimHei"/>
                          <a:cs typeface="SimHei"/>
                        </a:rPr>
                        <a:t>再调整作业时间</a:t>
                      </a: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r>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Lovato</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[5]</a:t>
                      </a:r>
                    </a:p>
                  </a:txBody>
                  <a:tcPr marL="85725" marR="66675" marT="38100" marB="38100" anchor="ctr">
                    <a:lnL w="6668">
                      <a:solidFill>
                        <a:srgbClr val="CDD7E8"/>
                      </a:solidFill>
                      <a:prstDash val="solid"/>
                    </a:lnL>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受扰后的作业时间</a:t>
                      </a:r>
                    </a:p>
                    <a:p>
                      <a:pPr algn="l">
                        <a:lnSpc>
                          <a:spcPct val="106000"/>
                        </a:lnSpc>
                        <a:spcBef>
                          <a:spcPts val="0"/>
                        </a:spcBef>
                        <a:spcAft>
                          <a:spcPts val="0"/>
                        </a:spcAft>
                        <a:buNone/>
                      </a:pPr>
                      <a:r>
                        <a:rPr sz="1613" b="0">
                          <a:solidFill>
                            <a:srgbClr val="111111"/>
                          </a:solidFill>
                          <a:latin typeface="SimHei"/>
                          <a:ea typeface="SimHei"/>
                          <a:cs typeface="SimHei"/>
                        </a:rPr>
                        <a:t>与人员指派</a:t>
                      </a:r>
                    </a:p>
                  </a:txBody>
                  <a:tcPr marL="85725" marR="66675" marT="38100" marB="38100" anchor="ctr">
                    <a:lnR w="6668">
                      <a:solidFill>
                        <a:srgbClr val="CDD7E8"/>
                      </a:solidFill>
                      <a:prstDash val="solid"/>
                    </a:lnR>
                    <a:lnB w="6668">
                      <a:solidFill>
                        <a:srgbClr val="CDD7E8"/>
                      </a:solidFill>
                      <a:prstDash val="solid"/>
                    </a:lnB>
                    <a:solidFill>
                      <a:srgbClr val="E7ECF6"/>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保留已开工安排</a:t>
                      </a:r>
                    </a:p>
                    <a:p>
                      <a:pPr algn="l">
                        <a:lnSpc>
                          <a:spcPct val="106000"/>
                        </a:lnSpc>
                        <a:spcBef>
                          <a:spcPts val="0"/>
                        </a:spcBef>
                        <a:spcAft>
                          <a:spcPts val="0"/>
                        </a:spcAft>
                        <a:buNone/>
                      </a:pPr>
                      <a:r>
                        <a:rPr sz="1613" b="0">
                          <a:solidFill>
                            <a:srgbClr val="111111"/>
                          </a:solidFill>
                          <a:latin typeface="SimHei"/>
                          <a:ea typeface="SimHei"/>
                          <a:cs typeface="SimHei"/>
                        </a:rPr>
                        <a:t>评价计划稳定性</a:t>
                      </a:r>
                    </a:p>
                  </a:txBody>
                  <a:tcPr marL="85725" marR="66675" marT="38100" marB="38100" anchor="ctr">
                    <a:lnR w="6668">
                      <a:solidFill>
                        <a:srgbClr val="CDD7E8"/>
                      </a:solidFill>
                      <a:prstDash val="solid"/>
                    </a:lnR>
                    <a:lnB w="6668">
                      <a:solidFill>
                        <a:srgbClr val="CDD7E8"/>
                      </a:solidFill>
                      <a:prstDash val="solid"/>
                    </a:lnB>
                    <a:solidFill>
                      <a:srgbClr val="E7ECF6"/>
                    </a:solidFill>
                  </a:tcPr>
                </a:tc>
              </a:tr>
            </a:tbl>
          </a:graphicData>
        </a:graphic>
      </p:graphicFrame>
      <p:graphicFrame>
        <p:nvGraphicFramePr>
          <p:cNvPr id="26" name="">
            <a:extLst xmlns:a="http://schemas.openxmlformats.org/drawingml/2006/main">
              <a:ext uri="{FF2B5EF4-FFF2-40B4-BE49-F238E27FC236}">
                <a16:creationId xmlns:a16="http://schemas.microsoft.com/office/drawing/2014/main" id="{EE030517-C6C6-48A1-B550-C8A74D4CAC8B}"/>
              </a:ext>
            </a:extLst>
          </p:cNvPr>
          <p:cNvGraphicFramePr/>
          <p:nvPr/>
        </p:nvGraphicFramePr>
        <p:xfrm>
          <a:off xmlns:a="http://schemas.openxmlformats.org/drawingml/2006/main" x="3219450" y="5105400"/>
          <a:ext xmlns:a="http://schemas.openxmlformats.org/drawingml/2006/main" cx="8401050" cy="542925"/>
        </p:xfrm>
        <a:graphic xmlns:a="http://schemas.openxmlformats.org/drawingml/2006/main">
          <a:graphicData uri="http://schemas.openxmlformats.org/drawingml/2006/table">
            <a:tbl>
              <a:tblPr firstRow="0" bandRow="0"/>
              <a:tblGrid>
                <a:gridCol w="1638300"/>
                <a:gridCol w="2895600"/>
                <a:gridCol w="3867150"/>
              </a:tblGrid>
              <a:tr h="542925">
                <a:tc>
                  <a:txBody>
                    <a:bodyPr wrap="square" lIns="0" tIns="0" rIns="0" bIns="0">
                      <a:noAutofit/>
                    </a:bodyPr>
                    <a:lstStyle/>
                    <a:p>
                      <a:pPr algn="l">
                        <a:lnSpc>
                          <a:spcPct val="106000"/>
                        </a:lnSpc>
                        <a:spcBef>
                          <a:spcPts val="0"/>
                        </a:spcBef>
                        <a:spcAft>
                          <a:spcPts val="0"/>
                        </a:spcAft>
                        <a:buNone/>
                      </a:pPr>
                      <a:r>
                        <a:rPr sz="1613" b="0">
                          <a:solidFill>
                            <a:srgbClr val="111111"/>
                          </a:solidFill>
                          <a:latin typeface="Times New Roman"/>
                          <a:ea typeface="Times New Roman"/>
                          <a:cs typeface="Times New Roman"/>
                        </a:rPr>
                        <a:t>Pucel</a:t>
                      </a:r>
                      <a:r>
                        <a:rPr sz="1613" b="0">
                          <a:solidFill>
                            <a:srgbClr val="111111"/>
                          </a:solidFill>
                          <a:latin typeface="SimHei"/>
                          <a:ea typeface="SimHei"/>
                          <a:cs typeface="SimHei"/>
                        </a:rPr>
                        <a:t>与</a:t>
                      </a:r>
                    </a:p>
                    <a:p>
                      <a:pPr algn="l">
                        <a:lnSpc>
                          <a:spcPct val="106000"/>
                        </a:lnSpc>
                        <a:spcBef>
                          <a:spcPts val="0"/>
                        </a:spcBef>
                        <a:spcAft>
                          <a:spcPts val="0"/>
                        </a:spcAft>
                        <a:buNone/>
                      </a:pPr>
                      <a:r>
                        <a:rPr sz="1613" b="0">
                          <a:solidFill>
                            <a:srgbClr val="111111"/>
                          </a:solidFill>
                          <a:latin typeface="Times New Roman"/>
                          <a:ea typeface="Times New Roman"/>
                          <a:cs typeface="Times New Roman"/>
                        </a:rPr>
                        <a:t>Roussel[11]</a:t>
                      </a:r>
                    </a:p>
                  </a:txBody>
                  <a:tcPr marL="85725" marR="66675" marT="38100" marB="38100" anchor="ctr">
                    <a:lnL w="6668">
                      <a:solidFill>
                        <a:srgbClr val="CDD7E8"/>
                      </a:solidFill>
                      <a:prstDash val="solid"/>
                    </a:lnL>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工序分站、作业时间</a:t>
                      </a:r>
                    </a:p>
                    <a:p>
                      <a:pPr algn="l">
                        <a:lnSpc>
                          <a:spcPct val="106000"/>
                        </a:lnSpc>
                        <a:spcBef>
                          <a:spcPts val="0"/>
                        </a:spcBef>
                        <a:spcAft>
                          <a:spcPts val="0"/>
                        </a:spcAft>
                        <a:buNone/>
                      </a:pPr>
                      <a:r>
                        <a:rPr sz="1613" b="0">
                          <a:solidFill>
                            <a:srgbClr val="111111"/>
                          </a:solidFill>
                          <a:latin typeface="SimHei"/>
                          <a:ea typeface="SimHei"/>
                          <a:cs typeface="SimHei"/>
                        </a:rPr>
                        <a:t>与人员占用</a:t>
                      </a: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c>
                  <a:txBody>
                    <a:bodyPr wrap="square" lIns="0" tIns="0" rIns="0" bIns="0">
                      <a:noAutofit/>
                    </a:bodyPr>
                    <a:lstStyle/>
                    <a:p>
                      <a:pPr algn="l">
                        <a:lnSpc>
                          <a:spcPct val="106000"/>
                        </a:lnSpc>
                        <a:spcBef>
                          <a:spcPts val="0"/>
                        </a:spcBef>
                        <a:spcAft>
                          <a:spcPts val="0"/>
                        </a:spcAft>
                        <a:buNone/>
                      </a:pPr>
                      <a:r>
                        <a:rPr sz="1613" b="0">
                          <a:solidFill>
                            <a:srgbClr val="111111"/>
                          </a:solidFill>
                          <a:latin typeface="SimHei"/>
                          <a:ea typeface="SimHei"/>
                          <a:cs typeface="SimHei"/>
                        </a:rPr>
                        <a:t>相邻周期实例、跨站人员</a:t>
                      </a:r>
                    </a:p>
                    <a:p>
                      <a:pPr algn="l">
                        <a:lnSpc>
                          <a:spcPct val="106000"/>
                        </a:lnSpc>
                        <a:spcBef>
                          <a:spcPts val="0"/>
                        </a:spcBef>
                        <a:spcAft>
                          <a:spcPts val="0"/>
                        </a:spcAft>
                        <a:buNone/>
                      </a:pPr>
                      <a:r>
                        <a:rPr sz="1613" b="0">
                          <a:solidFill>
                            <a:srgbClr val="111111"/>
                          </a:solidFill>
                          <a:latin typeface="SimHei"/>
                          <a:ea typeface="SimHei"/>
                          <a:cs typeface="SimHei"/>
                        </a:rPr>
                        <a:t>及并行站位</a:t>
                      </a:r>
                    </a:p>
                  </a:txBody>
                  <a:tcPr marL="85725" marR="66675" marT="38100" marB="38100" anchor="ctr">
                    <a:lnR w="6668">
                      <a:solidFill>
                        <a:srgbClr val="CDD7E8"/>
                      </a:solidFill>
                      <a:prstDash val="solid"/>
                    </a:lnR>
                    <a:lnT w="6668">
                      <a:solidFill>
                        <a:srgbClr val="CDD7E8"/>
                      </a:solidFill>
                      <a:prstDash val="solid"/>
                    </a:lnT>
                    <a:lnB w="6668">
                      <a:solidFill>
                        <a:srgbClr val="CDD7E8"/>
                      </a:solidFill>
                      <a:prstDash val="solid"/>
                    </a:lnB>
                    <a:solidFill>
                      <a:srgbClr val="F1F4F8"/>
                    </a:solidFill>
                  </a:tcPr>
                </a:tc>
              </a:tr>
            </a:tbl>
          </a:graphicData>
        </a:graphic>
      </p:graphicFrame>
      <p:cxnSp>
        <p:nvCxnSpPr>
          <p:cNvPr id="27" name="summary-rule">
            <a:extLst xmlns:a="http://schemas.openxmlformats.org/drawingml/2006/main">
              <a:ext uri="{FF2B5EF4-FFF2-40B4-BE49-F238E27FC236}">
                <a16:creationId xmlns:a16="http://schemas.microsoft.com/office/drawing/2014/main" id="{C485D56F-9BC4-47DA-8992-A70D63EDD575}"/>
              </a:ext>
            </a:extLst>
          </p:cNvPr>
          <p:cNvCxnSpPr/>
          <p:nvPr/>
        </p:nvCxnSpPr>
        <p:spPr>
          <a:xfrm xmlns:a="http://schemas.openxmlformats.org/drawingml/2006/main" flipH="0" flipV="0">
            <a:off x="571500" y="5829300"/>
            <a:ext cx="11049000" cy="0"/>
          </a:xfrm>
          <a:prstGeom xmlns:a="http://schemas.openxmlformats.org/drawingml/2006/main" prst="straightConnector1">
            <a:avLst/>
          </a:prstGeom>
          <a:ln xmlns:a="http://schemas.openxmlformats.org/drawingml/2006/main" w="10478">
            <a:solidFill>
              <a:srgbClr val="CDD7E8"/>
            </a:solidFill>
            <a:prstDash val="solid"/>
          </a:ln>
        </p:spPr>
      </p:cxnSp>
      <p:sp>
        <p:nvSpPr>
          <p:cNvPr id="28" name="summary">
            <a:extLst xmlns:a="http://schemas.openxmlformats.org/drawingml/2006/main">
              <a:ext uri="{FF2B5EF4-FFF2-40B4-BE49-F238E27FC236}">
                <a16:creationId xmlns:a16="http://schemas.microsoft.com/office/drawing/2014/main" id="{3AEC5D5F-27C6-4AE0-902F-B1110B6F03A1}"/>
              </a:ext>
            </a:extLst>
          </p:cNvPr>
          <p:cNvSpPr>
            <a:spLocks xmlns:a="http://schemas.openxmlformats.org/drawingml/2006/main" noGrp="1"/>
          </p:cNvSpPr>
          <p:nvPr/>
        </p:nvSpPr>
        <p:spPr>
          <a:xfrm xmlns:a="http://schemas.openxmlformats.org/drawingml/2006/main">
            <a:off x="619125" y="590550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11111"/>
                </a:solidFill>
              </a:defRPr>
            </a:defPPr>
          </a:lstStyle>
          <a:p xmlns:a="http://schemas.openxmlformats.org/drawingml/2006/main">
            <a:pPr algn="l">
              <a:lnSpc>
                <a:spcPct val="108000"/>
              </a:lnSpc>
              <a:spcBef>
                <a:spcPts val="0"/>
              </a:spcBef>
              <a:spcAft>
                <a:spcPts val="0"/>
              </a:spcAft>
              <a:buNone/>
              <a:defRPr sz="1725" b="1">
                <a:solidFill>
                  <a:srgbClr val="111111"/>
                </a:solidFill>
              </a:defRPr>
            </a:pPr>
            <a:r>
              <a:rPr sz="1725" b="1">
                <a:solidFill>
                  <a:srgbClr val="111111"/>
                </a:solidFill>
                <a:latin typeface="SimHei"/>
                <a:ea typeface="SimHei"/>
                <a:cs typeface="SimHei"/>
              </a:rPr>
              <a:t>已有模型的决策范围、人员组织与周期条件各有侧重，</a:t>
            </a:r>
          </a:p>
          <a:p xmlns:a="http://schemas.openxmlformats.org/drawingml/2006/main">
            <a:pPr algn="l">
              <a:lnSpc>
                <a:spcPct val="108000"/>
              </a:lnSpc>
              <a:spcBef>
                <a:spcPts val="0"/>
              </a:spcBef>
              <a:spcAft>
                <a:spcPts val="0"/>
              </a:spcAft>
              <a:buNone/>
              <a:defRPr sz="1725" b="1">
                <a:solidFill>
                  <a:srgbClr val="111111"/>
                </a:solidFill>
              </a:defRPr>
            </a:pPr>
            <a:r>
              <a:rPr sz="1725" b="1">
                <a:solidFill>
                  <a:srgbClr val="111111"/>
                </a:solidFill>
                <a:latin typeface="SimHei"/>
                <a:ea typeface="SimHei"/>
                <a:cs typeface="SimHei"/>
              </a:rPr>
              <a:t>需在本课题约束下联合处理工序、站位与具体团队。</a:t>
            </a:r>
          </a:p>
        </p:txBody>
      </p:sp>
      <p:sp>
        <p:nvSpPr>
          <p:cNvPr id="29" name="concept-source">
            <a:extLst xmlns:a="http://schemas.openxmlformats.org/drawingml/2006/main">
              <a:ext uri="{FF2B5EF4-FFF2-40B4-BE49-F238E27FC236}">
                <a16:creationId xmlns:a16="http://schemas.microsoft.com/office/drawing/2014/main" id="{936EFEF0-620C-4BE0-9BA4-EA36B7437248}"/>
              </a:ext>
            </a:extLst>
          </p:cNvPr>
          <p:cNvSpPr>
            <a:spLocks xmlns:a="http://schemas.openxmlformats.org/drawingml/2006/main" noGrp="1"/>
          </p:cNvSpPr>
          <p:nvPr/>
        </p:nvSpPr>
        <p:spPr>
          <a:xfrm xmlns:a="http://schemas.openxmlformats.org/drawingml/2006/main">
            <a:off x="619125" y="65341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E747A"/>
                </a:solidFill>
              </a:defRPr>
            </a:defPPr>
          </a:lstStyle>
          <a:p xmlns:a="http://schemas.openxmlformats.org/drawingml/2006/main">
            <a:pPr algn="l">
              <a:lnSpc>
                <a:spcPct val="108000"/>
              </a:lnSpc>
              <a:spcBef>
                <a:spcPts val="0"/>
              </a:spcBef>
              <a:spcAft>
                <a:spcPts val="0"/>
              </a:spcAft>
              <a:buNone/>
              <a:defRPr sz="1200" b="0">
                <a:solidFill>
                  <a:srgbClr val="6E747A"/>
                </a:solidFill>
              </a:defRPr>
            </a:pPr>
            <a:r>
              <a:rPr sz="1200" b="0">
                <a:solidFill>
                  <a:srgbClr val="6E747A"/>
                </a:solidFill>
                <a:latin typeface="SimHei"/>
                <a:ea typeface="SimHei"/>
                <a:cs typeface="SimHei"/>
              </a:rPr>
              <a:t>生产组织依据：方水良等</a:t>
            </a:r>
            <a:r>
              <a:rPr sz="1200" b="0">
                <a:solidFill>
                  <a:srgbClr val="6E747A"/>
                </a:solidFill>
                <a:latin typeface="Times New Roman"/>
                <a:ea typeface="Times New Roman"/>
                <a:cs typeface="Times New Roman"/>
              </a:rPr>
              <a:t>[1]</a:t>
            </a:r>
            <a:r>
              <a:rPr sz="1200" b="0">
                <a:solidFill>
                  <a:srgbClr val="6E747A"/>
                </a:solidFill>
                <a:latin typeface="SimHei"/>
                <a:ea typeface="SimHei"/>
                <a:cs typeface="SimHei"/>
              </a:rPr>
              <a:t>。</a:t>
            </a:r>
          </a:p>
        </p:txBody>
      </p:sp>
    </p:spTree>
    <p:extLst>
      <p:ext uri="{BB962C8B-B14F-4D97-AF65-F5344CB8AC3E}">
        <p14:creationId xmlns:p14="http://schemas.microsoft.com/office/powerpoint/2010/main" val="12043534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5" name="">
            <a:extLst xmlns:a="http://schemas.openxmlformats.org/drawingml/2006/main">
              <a:ext uri="{FF2B5EF4-FFF2-40B4-BE49-F238E27FC236}">
                <a16:creationId xmlns:a16="http://schemas.microsoft.com/office/drawing/2014/main" id="{17EAB839-8934-4DE2-8E71-46EE95F07500}"/>
              </a:ext>
            </a:extLst>
          </p:cNvPr>
          <p:cNvCxnSpPr>
            <a:stCxn xmlns:a="http://schemas.openxmlformats.org/drawingml/2006/main" id="52" idx="3"/>
            <a:endCxn xmlns:a="http://schemas.openxmlformats.org/drawingml/2006/main" id="53" idx="1"/>
          </p:cNvCxnSpPr>
          <p:nvPr/>
        </p:nvCxnSpPr>
        <p:spPr>
          <a:xfrm xmlns:a="http://schemas.openxmlformats.org/drawingml/2006/main">
            <a:off x="7258050" y="4705350"/>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54" name="">
            <a:extLst xmlns:a="http://schemas.openxmlformats.org/drawingml/2006/main">
              <a:ext uri="{FF2B5EF4-FFF2-40B4-BE49-F238E27FC236}">
                <a16:creationId xmlns:a16="http://schemas.microsoft.com/office/drawing/2014/main" id="{112E46E9-E356-4221-BF1F-EA28971D2B7E}"/>
              </a:ext>
            </a:extLst>
          </p:cNvPr>
          <p:cNvCxnSpPr>
            <a:stCxn xmlns:a="http://schemas.openxmlformats.org/drawingml/2006/main" id="51" idx="3"/>
            <a:endCxn xmlns:a="http://schemas.openxmlformats.org/drawingml/2006/main" id="52" idx="1"/>
          </p:cNvCxnSpPr>
          <p:nvPr/>
        </p:nvCxnSpPr>
        <p:spPr>
          <a:xfrm xmlns:a="http://schemas.openxmlformats.org/drawingml/2006/main">
            <a:off x="5267325" y="4705350"/>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47CC56A6-D3DF-4BF4-A948-C380358747D6}"/>
              </a:ext>
            </a:extLst>
          </p:cNvPr>
          <p:cNvCxnSpPr>
            <a:stCxn xmlns:a="http://schemas.openxmlformats.org/drawingml/2006/main" id="40" idx="3"/>
            <a:endCxn xmlns:a="http://schemas.openxmlformats.org/drawingml/2006/main" id="41" idx="1"/>
          </p:cNvCxnSpPr>
          <p:nvPr/>
        </p:nvCxnSpPr>
        <p:spPr>
          <a:xfrm xmlns:a="http://schemas.openxmlformats.org/drawingml/2006/main">
            <a:off x="7258050" y="3819525"/>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BC86A08A-2117-4118-97EB-D4B4C88B1717}"/>
              </a:ext>
            </a:extLst>
          </p:cNvPr>
          <p:cNvCxnSpPr>
            <a:stCxn xmlns:a="http://schemas.openxmlformats.org/drawingml/2006/main" id="39" idx="3"/>
            <a:endCxn xmlns:a="http://schemas.openxmlformats.org/drawingml/2006/main" id="40" idx="1"/>
          </p:cNvCxnSpPr>
          <p:nvPr/>
        </p:nvCxnSpPr>
        <p:spPr>
          <a:xfrm xmlns:a="http://schemas.openxmlformats.org/drawingml/2006/main">
            <a:off x="5267325" y="3819525"/>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9F1E4AC1-85A6-4D7E-B13E-6941E95904CC}"/>
              </a:ext>
            </a:extLst>
          </p:cNvPr>
          <p:cNvCxnSpPr>
            <a:stCxn xmlns:a="http://schemas.openxmlformats.org/drawingml/2006/main" id="31" idx="3"/>
            <a:endCxn xmlns:a="http://schemas.openxmlformats.org/drawingml/2006/main" id="32" idx="1"/>
          </p:cNvCxnSpPr>
          <p:nvPr/>
        </p:nvCxnSpPr>
        <p:spPr>
          <a:xfrm xmlns:a="http://schemas.openxmlformats.org/drawingml/2006/main">
            <a:off x="7258050" y="2933700"/>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1FE952EB-A387-4774-B9EC-A7F7DF33A9D1}"/>
              </a:ext>
            </a:extLst>
          </p:cNvPr>
          <p:cNvCxnSpPr>
            <a:stCxn xmlns:a="http://schemas.openxmlformats.org/drawingml/2006/main" id="30" idx="3"/>
            <a:endCxn xmlns:a="http://schemas.openxmlformats.org/drawingml/2006/main" id="31" idx="1"/>
          </p:cNvCxnSpPr>
          <p:nvPr/>
        </p:nvCxnSpPr>
        <p:spPr>
          <a:xfrm xmlns:a="http://schemas.openxmlformats.org/drawingml/2006/main">
            <a:off x="5267325" y="2933700"/>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AE4A3604-08F7-4256-8EDE-734DC910CE4B}"/>
              </a:ext>
            </a:extLst>
          </p:cNvPr>
          <p:cNvCxnSpPr>
            <a:stCxn xmlns:a="http://schemas.openxmlformats.org/drawingml/2006/main" id="22" idx="3"/>
            <a:endCxn xmlns:a="http://schemas.openxmlformats.org/drawingml/2006/main" id="23" idx="1"/>
          </p:cNvCxnSpPr>
          <p:nvPr/>
        </p:nvCxnSpPr>
        <p:spPr>
          <a:xfrm xmlns:a="http://schemas.openxmlformats.org/drawingml/2006/main">
            <a:off x="7258050" y="2047875"/>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5EA094C6-D089-497C-8AC5-50A15AAF14EE}"/>
              </a:ext>
            </a:extLst>
          </p:cNvPr>
          <p:cNvCxnSpPr>
            <a:stCxn xmlns:a="http://schemas.openxmlformats.org/drawingml/2006/main" id="21" idx="3"/>
            <a:endCxn xmlns:a="http://schemas.openxmlformats.org/drawingml/2006/main" id="22" idx="1"/>
          </p:cNvCxnSpPr>
          <p:nvPr/>
        </p:nvCxnSpPr>
        <p:spPr>
          <a:xfrm xmlns:a="http://schemas.openxmlformats.org/drawingml/2006/main">
            <a:off x="5267325" y="2047875"/>
            <a:ext cx="295275" cy="0"/>
          </a:xfrm>
          <a:prstGeom xmlns:a="http://schemas.openxmlformats.org/drawingml/2006/main" prst="straightConnector1">
            <a:avLst/>
          </a:prstGeom>
          <a:ln xmlns:a="http://schemas.openxmlformats.org/drawingml/2006/main" w="17145">
            <a:solidFill>
              <a:srgbClr val="4674CD"/>
            </a:solidFill>
            <a:prstDash val="solid"/>
            <a:tailEnd type="triangle" w="sm" len="sm"/>
          </a:ln>
        </p:spPr>
      </p:cxnSp>
      <p:sp>
        <p:nvSpPr>
          <p:cNvPr id="6"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Times New Roman"/>
              <a:ea typeface="Times New Roman"/>
              <a:cs typeface="Times New Roman"/>
            </a:endParaRPr>
          </a:p>
        </p:txBody>
      </p:sp>
      <p:pic>
        <p:nvPicPr>
          <p:cNvPr id="7" name="同济校标">
            <a:extLst xmlns:a="http://schemas.openxmlformats.org/drawingml/2006/main">
              <a:ext uri="{FF2B5EF4-FFF2-40B4-BE49-F238E27FC236}">
                <a16:creationId xmlns:a16="http://schemas.microsoft.com/office/drawing/2014/main" id="{A85E312C-8748-4D3B-8D59-D9E076D5FE1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8aad958c52a4101"/>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8"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Times New Roman"/>
                <a:ea typeface="Times New Roman"/>
                <a:cs typeface="Times New Roman"/>
              </a:defRPr>
            </a:lvl1pPr>
            <a:lvl2pPr algn="ctr">
              <a:buNone/>
              <a:defRPr sz="4000">
                <a:latin typeface="Times New Roman"/>
                <a:ea typeface="Times New Roman"/>
                <a:cs typeface="Times New Roman"/>
              </a:defRPr>
            </a:lvl2pPr>
            <a:lvl3pPr algn="ctr">
              <a:buNone/>
              <a:defRPr sz="4000">
                <a:latin typeface="Times New Roman"/>
                <a:ea typeface="Times New Roman"/>
                <a:cs typeface="Times New Roman"/>
              </a:defRPr>
            </a:lvl3pPr>
            <a:lvl4pPr algn="ctr">
              <a:buNone/>
              <a:defRPr sz="4000">
                <a:latin typeface="Times New Roman"/>
                <a:ea typeface="Times New Roman"/>
                <a:cs typeface="Times New Roman"/>
              </a:defRPr>
            </a:lvl4pPr>
            <a:lvl5pPr algn="ctr">
              <a:buNone/>
              <a:defRPr sz="4000">
                <a:latin typeface="Times New Roman"/>
                <a:ea typeface="Times New Roman"/>
                <a:cs typeface="Times New Roman"/>
              </a:defRPr>
            </a:lvl5pPr>
            <a:lvl6pPr marL="457200" algn="ctr">
              <a:spcBef>
                <a:spcPct val="0"/>
              </a:spcBef>
              <a:spcAft>
                <a:spcPct val="0"/>
              </a:spcAft>
              <a:buNone/>
              <a:defRPr sz="4000">
                <a:latin typeface="Times New Roman"/>
                <a:ea typeface="Times New Roman"/>
                <a:cs typeface="Times New Roman"/>
              </a:defRPr>
            </a:lvl6pPr>
            <a:lvl7pPr marL="914400" algn="ctr">
              <a:spcBef>
                <a:spcPct val="0"/>
              </a:spcBef>
              <a:spcAft>
                <a:spcPct val="0"/>
              </a:spcAft>
              <a:buNone/>
              <a:defRPr sz="4000">
                <a:latin typeface="Times New Roman"/>
                <a:ea typeface="Times New Roman"/>
                <a:cs typeface="Times New Roman"/>
              </a:defRPr>
            </a:lvl7pPr>
            <a:lvl8pPr marL="1371600" algn="ctr">
              <a:spcBef>
                <a:spcPct val="0"/>
              </a:spcBef>
              <a:spcAft>
                <a:spcPct val="0"/>
              </a:spcAft>
              <a:buNone/>
              <a:defRPr sz="4000">
                <a:latin typeface="Times New Roman"/>
                <a:ea typeface="Times New Roman"/>
                <a:cs typeface="Times New Roman"/>
              </a:defRPr>
            </a:lvl8pPr>
            <a:lvl9pPr marL="1828800" algn="ctr">
              <a:spcBef>
                <a:spcPct val="0"/>
              </a:spcBef>
              <a:spcAft>
                <a:spcPct val="0"/>
              </a:spcAft>
              <a:buNone/>
              <a:defRPr sz="4000">
                <a:latin typeface="Times New Roman"/>
                <a:ea typeface="Times New Roman"/>
                <a:cs typeface="Times New Roman"/>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2 </a:t>
            </a:r>
            <a:r>
              <a:rPr sz="3200" b="1">
                <a:solidFill>
                  <a:srgbClr val="4674CD"/>
                </a:solidFill>
                <a:latin typeface="SimHei"/>
                <a:ea typeface="SimHei"/>
                <a:cs typeface="SimHei"/>
              </a:rPr>
              <a:t>文献综述</a:t>
            </a:r>
          </a:p>
        </p:txBody>
      </p:sp>
      <p:sp>
        <p:nvSpPr>
          <p:cNvPr id="9"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Times New Roman"/>
                <a:ea typeface="Times New Roman"/>
                <a:cs typeface="Times New Roman"/>
              </a:defRPr>
            </a:defPPr>
          </a:lstStyle>
          <a:p xmlns:a="http://schemas.openxmlformats.org/drawingml/2006/main">
            <a:pPr algn="l">
              <a:lnSpc>
                <a:spcPct val="100000"/>
              </a:lnSpc>
              <a:spcBef>
                <a:spcPts val="0"/>
              </a:spcBef>
              <a:spcAft>
                <a:spcPts val="0"/>
              </a:spcAft>
              <a:buNone/>
              <a:defRPr sz="2400" b="1">
                <a:solidFill>
                  <a:srgbClr val="315CA9"/>
                </a:solidFill>
                <a:latin typeface="Times New Roman"/>
                <a:ea typeface="Times New Roman"/>
                <a:cs typeface="Times New Roman"/>
              </a:defRPr>
            </a:pPr>
            <a:r>
              <a:rPr sz="2400" b="1">
                <a:solidFill>
                  <a:srgbClr val="315CA9"/>
                </a:solidFill>
                <a:latin typeface="SimHei"/>
                <a:ea typeface="SimHei"/>
                <a:cs typeface="SimHei"/>
              </a:rPr>
              <a:t>装配调度的求解方法</a:t>
            </a:r>
          </a:p>
        </p:txBody>
      </p:sp>
      <p:sp>
        <p:nvSpPr>
          <p:cNvPr id="10"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Times New Roman"/>
                <a:ea typeface="Times New Roman"/>
                <a:cs typeface="Times New Roman"/>
              </a:defRPr>
            </a:defPPr>
          </a:lstStyle>
          <a:p xmlns:a="http://schemas.openxmlformats.org/drawingml/2006/main">
            <a:pPr algn="r">
              <a:buNone/>
              <a:defRPr sz="1350" b="0">
                <a:solidFill>
                  <a:srgbClr val="000000"/>
                </a:solidFill>
                <a:latin typeface="Times New Roman"/>
                <a:ea typeface="Times New Roman"/>
                <a:cs typeface="Times New Roman"/>
              </a:defRPr>
            </a:pPr>
            <a:r>
              <a:rPr sz="1200" b="0">
                <a:solidFill>
                  <a:srgbClr val="666666"/>
                </a:solidFill>
                <a:latin typeface="Times New Roman"/>
                <a:ea typeface="Times New Roman"/>
                <a:cs typeface="Times New Roman"/>
              </a:rPr>
              <a:t>06</a:t>
            </a:r>
          </a:p>
        </p:txBody>
      </p:sp>
      <p:sp>
        <p:nvSpPr>
          <p:cNvPr id="11" name="overview">
            <a:extLst xmlns:a="http://schemas.openxmlformats.org/drawingml/2006/main">
              <a:ext uri="{FF2B5EF4-FFF2-40B4-BE49-F238E27FC236}">
                <a16:creationId xmlns:a16="http://schemas.microsoft.com/office/drawing/2014/main" id="{6940C224-FD33-4E85-AA29-F793D0D3F9C5}"/>
              </a:ext>
            </a:extLst>
          </p:cNvPr>
          <p:cNvSpPr>
            <a:spLocks xmlns:a="http://schemas.openxmlformats.org/drawingml/2006/main" noGrp="1"/>
          </p:cNvSpPr>
          <p:nvPr/>
        </p:nvSpPr>
        <p:spPr>
          <a:xfrm xmlns:a="http://schemas.openxmlformats.org/drawingml/2006/main">
            <a:off x="571500" y="12001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6E747A"/>
                </a:solidFill>
              </a:defRPr>
            </a:defPPr>
          </a:lstStyle>
          <a:p xmlns:a="http://schemas.openxmlformats.org/drawingml/2006/main">
            <a:pPr algn="l">
              <a:lnSpc>
                <a:spcPct val="108000"/>
              </a:lnSpc>
              <a:spcBef>
                <a:spcPts val="0"/>
              </a:spcBef>
              <a:spcAft>
                <a:spcPts val="0"/>
              </a:spcAft>
              <a:buNone/>
              <a:defRPr sz="1613" b="0">
                <a:solidFill>
                  <a:srgbClr val="6E747A"/>
                </a:solidFill>
              </a:defRPr>
            </a:pPr>
            <a:r>
              <a:rPr sz="1613" b="0">
                <a:solidFill>
                  <a:srgbClr val="6E747A"/>
                </a:solidFill>
                <a:latin typeface="SimHei"/>
                <a:ea typeface="SimHei"/>
                <a:cs typeface="SimHei"/>
              </a:rPr>
              <a:t>比较不同方法形成或修复排程的方式及适用条件。</a:t>
            </a:r>
          </a:p>
        </p:txBody>
      </p:sp>
      <p:sp>
        <p:nvSpPr>
          <p:cNvPr id="12" name="family-heading">
            <a:extLst xmlns:a="http://schemas.openxmlformats.org/drawingml/2006/main">
              <a:ext uri="{FF2B5EF4-FFF2-40B4-BE49-F238E27FC236}">
                <a16:creationId xmlns:a16="http://schemas.microsoft.com/office/drawing/2014/main" id="{F93D48C3-3B29-4AB4-ADC1-7240D9251F13}"/>
              </a:ext>
            </a:extLst>
          </p:cNvPr>
          <p:cNvSpPr>
            <a:spLocks xmlns:a="http://schemas.openxmlformats.org/drawingml/2006/main" noGrp="1"/>
          </p:cNvSpPr>
          <p:nvPr/>
        </p:nvSpPr>
        <p:spPr>
          <a:xfrm xmlns:a="http://schemas.openxmlformats.org/drawingml/2006/main">
            <a:off x="1343025" y="151447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1">
                <a:solidFill>
                  <a:srgbClr val="315CA9"/>
                </a:solidFill>
              </a:defRPr>
            </a:defPPr>
          </a:lstStyle>
          <a:p xmlns:a="http://schemas.openxmlformats.org/drawingml/2006/main">
            <a:pPr algn="l">
              <a:lnSpc>
                <a:spcPct val="108000"/>
              </a:lnSpc>
              <a:spcBef>
                <a:spcPts val="0"/>
              </a:spcBef>
              <a:spcAft>
                <a:spcPts val="0"/>
              </a:spcAft>
              <a:buNone/>
              <a:defRPr sz="1613" b="1">
                <a:solidFill>
                  <a:srgbClr val="315CA9"/>
                </a:solidFill>
              </a:defRPr>
            </a:pPr>
            <a:r>
              <a:rPr sz="1613" b="1">
                <a:solidFill>
                  <a:srgbClr val="315CA9"/>
                </a:solidFill>
                <a:latin typeface="SimHei"/>
                <a:ea typeface="SimHei"/>
                <a:cs typeface="SimHei"/>
              </a:rPr>
              <a:t>方法类别</a:t>
            </a:r>
          </a:p>
        </p:txBody>
      </p:sp>
      <p:sp>
        <p:nvSpPr>
          <p:cNvPr id="13" name="process-heading">
            <a:extLst xmlns:a="http://schemas.openxmlformats.org/drawingml/2006/main">
              <a:ext uri="{FF2B5EF4-FFF2-40B4-BE49-F238E27FC236}">
                <a16:creationId xmlns:a16="http://schemas.microsoft.com/office/drawing/2014/main" id="{BD128CCD-54F3-46B9-A180-4629914B1FAE}"/>
              </a:ext>
            </a:extLst>
          </p:cNvPr>
          <p:cNvSpPr>
            <a:spLocks xmlns:a="http://schemas.openxmlformats.org/drawingml/2006/main" noGrp="1"/>
          </p:cNvSpPr>
          <p:nvPr/>
        </p:nvSpPr>
        <p:spPr>
          <a:xfrm xmlns:a="http://schemas.openxmlformats.org/drawingml/2006/main">
            <a:off x="3571875" y="1514475"/>
            <a:ext cx="558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1">
                <a:solidFill>
                  <a:srgbClr val="315CA9"/>
                </a:solidFill>
              </a:defRPr>
            </a:defPPr>
          </a:lstStyle>
          <a:p xmlns:a="http://schemas.openxmlformats.org/drawingml/2006/main">
            <a:pPr algn="l">
              <a:lnSpc>
                <a:spcPct val="108000"/>
              </a:lnSpc>
              <a:spcBef>
                <a:spcPts val="0"/>
              </a:spcBef>
              <a:spcAft>
                <a:spcPts val="0"/>
              </a:spcAft>
              <a:buNone/>
              <a:defRPr sz="1613" b="1">
                <a:solidFill>
                  <a:srgbClr val="315CA9"/>
                </a:solidFill>
              </a:defRPr>
            </a:pPr>
            <a:r>
              <a:rPr sz="1613" b="1">
                <a:solidFill>
                  <a:srgbClr val="315CA9"/>
                </a:solidFill>
                <a:latin typeface="SimHei"/>
                <a:ea typeface="SimHei"/>
                <a:cs typeface="SimHei"/>
              </a:rPr>
              <a:t>排程形成或动作选择</a:t>
            </a:r>
          </a:p>
        </p:txBody>
      </p:sp>
      <p:sp>
        <p:nvSpPr>
          <p:cNvPr id="14" name="conditions-heading">
            <a:extLst xmlns:a="http://schemas.openxmlformats.org/drawingml/2006/main">
              <a:ext uri="{FF2B5EF4-FFF2-40B4-BE49-F238E27FC236}">
                <a16:creationId xmlns:a16="http://schemas.microsoft.com/office/drawing/2014/main" id="{8FDBE9CB-C863-434D-9674-426667721F94}"/>
              </a:ext>
            </a:extLst>
          </p:cNvPr>
          <p:cNvSpPr>
            <a:spLocks xmlns:a="http://schemas.openxmlformats.org/drawingml/2006/main" noGrp="1"/>
          </p:cNvSpPr>
          <p:nvPr/>
        </p:nvSpPr>
        <p:spPr>
          <a:xfrm xmlns:a="http://schemas.openxmlformats.org/drawingml/2006/main">
            <a:off x="9810750" y="15144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1">
                <a:solidFill>
                  <a:srgbClr val="315CA9"/>
                </a:solidFill>
              </a:defRPr>
            </a:defPPr>
          </a:lstStyle>
          <a:p xmlns:a="http://schemas.openxmlformats.org/drawingml/2006/main">
            <a:pPr algn="l">
              <a:lnSpc>
                <a:spcPct val="108000"/>
              </a:lnSpc>
              <a:spcBef>
                <a:spcPts val="0"/>
              </a:spcBef>
              <a:spcAft>
                <a:spcPts val="0"/>
              </a:spcAft>
              <a:buNone/>
              <a:defRPr sz="1613" b="1">
                <a:solidFill>
                  <a:srgbClr val="315CA9"/>
                </a:solidFill>
              </a:defRPr>
            </a:pPr>
            <a:r>
              <a:rPr sz="1613" b="1">
                <a:solidFill>
                  <a:srgbClr val="315CA9"/>
                </a:solidFill>
                <a:latin typeface="SimHei"/>
                <a:ea typeface="SimHei"/>
                <a:cs typeface="SimHei"/>
              </a:rPr>
              <a:t>比较重点</a:t>
            </a:r>
          </a:p>
        </p:txBody>
      </p:sp>
      <p:sp>
        <p:nvSpPr>
          <p:cNvPr id="15" name="solver-root">
            <a:extLst xmlns:a="http://schemas.openxmlformats.org/drawingml/2006/main">
              <a:ext uri="{FF2B5EF4-FFF2-40B4-BE49-F238E27FC236}">
                <a16:creationId xmlns:a16="http://schemas.microsoft.com/office/drawing/2014/main" id="{7D748240-95A2-47E3-B6A8-FA195C6ACD80}"/>
              </a:ext>
            </a:extLst>
          </p:cNvPr>
          <p:cNvSpPr>
            <a:spLocks xmlns:a="http://schemas.openxmlformats.org/drawingml/2006/main" noGrp="1"/>
          </p:cNvSpPr>
          <p:nvPr/>
        </p:nvSpPr>
        <p:spPr>
          <a:xfrm xmlns:a="http://schemas.openxmlformats.org/drawingml/2006/main">
            <a:off x="476250" y="3076575"/>
            <a:ext cx="62865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800" b="1">
                <a:solidFill>
                  <a:srgbClr val="17375E"/>
                </a:solidFill>
              </a:defRPr>
            </a:defPPr>
          </a:lstStyle>
          <a:p xmlns:a="http://schemas.openxmlformats.org/drawingml/2006/main">
            <a:pPr algn="ctr">
              <a:lnSpc>
                <a:spcPct val="102000"/>
              </a:lnSpc>
              <a:spcBef>
                <a:spcPts val="0"/>
              </a:spcBef>
              <a:spcAft>
                <a:spcPts val="0"/>
              </a:spcAft>
              <a:buNone/>
              <a:defRPr sz="1800" b="1">
                <a:solidFill>
                  <a:srgbClr val="17375E"/>
                </a:solidFill>
              </a:defRPr>
            </a:pPr>
            <a:r>
              <a:rPr sz="1800" b="1">
                <a:solidFill>
                  <a:srgbClr val="17375E"/>
                </a:solidFill>
                <a:latin typeface="SimHei"/>
                <a:ea typeface="SimHei"/>
                <a:cs typeface="SimHei"/>
              </a:rPr>
              <a:t>求解</a:t>
            </a:r>
          </a:p>
          <a:p xmlns:a="http://schemas.openxmlformats.org/drawingml/2006/main">
            <a:pPr algn="ctr">
              <a:lnSpc>
                <a:spcPct val="102000"/>
              </a:lnSpc>
              <a:spcBef>
                <a:spcPts val="0"/>
              </a:spcBef>
              <a:spcAft>
                <a:spcPts val="0"/>
              </a:spcAft>
              <a:buNone/>
              <a:defRPr sz="1800" b="1">
                <a:solidFill>
                  <a:srgbClr val="17375E"/>
                </a:solidFill>
              </a:defRPr>
            </a:pPr>
            <a:r>
              <a:rPr sz="1800" b="1">
                <a:solidFill>
                  <a:srgbClr val="17375E"/>
                </a:solidFill>
                <a:latin typeface="SimHei"/>
                <a:ea typeface="SimHei"/>
                <a:cs typeface="SimHei"/>
              </a:rPr>
              <a:t>方式</a:t>
            </a:r>
          </a:p>
        </p:txBody>
      </p:sp>
      <p:cxnSp>
        <p:nvCxnSpPr>
          <p:cNvPr id="16" name="solver-trunk">
            <a:extLst xmlns:a="http://schemas.openxmlformats.org/drawingml/2006/main">
              <a:ext uri="{FF2B5EF4-FFF2-40B4-BE49-F238E27FC236}">
                <a16:creationId xmlns:a16="http://schemas.microsoft.com/office/drawing/2014/main" id="{E6B27F16-C07C-41CF-A0C3-6BF357A765C8}"/>
              </a:ext>
            </a:extLst>
          </p:cNvPr>
          <p:cNvCxnSpPr/>
          <p:nvPr/>
        </p:nvCxnSpPr>
        <p:spPr>
          <a:xfrm xmlns:a="http://schemas.openxmlformats.org/drawingml/2006/main" flipH="0" flipV="0">
            <a:off x="1181100" y="2047875"/>
            <a:ext cx="0" cy="2657475"/>
          </a:xfrm>
          <a:prstGeom xmlns:a="http://schemas.openxmlformats.org/drawingml/2006/main" prst="straightConnector1">
            <a:avLst/>
          </a:prstGeom>
          <a:ln xmlns:a="http://schemas.openxmlformats.org/drawingml/2006/main" w="19050">
            <a:solidFill>
              <a:srgbClr val="4674CD"/>
            </a:solidFill>
            <a:prstDash val="solid"/>
          </a:ln>
        </p:spPr>
      </p:cxnSp>
      <p:cxnSp>
        <p:nvCxnSpPr>
          <p:cNvPr id="17" name="solver-root-link">
            <a:extLst xmlns:a="http://schemas.openxmlformats.org/drawingml/2006/main">
              <a:ext uri="{FF2B5EF4-FFF2-40B4-BE49-F238E27FC236}">
                <a16:creationId xmlns:a16="http://schemas.microsoft.com/office/drawing/2014/main" id="{EFBE4260-BE43-44CA-B622-87335742F6BF}"/>
              </a:ext>
            </a:extLst>
          </p:cNvPr>
          <p:cNvCxnSpPr/>
          <p:nvPr/>
        </p:nvCxnSpPr>
        <p:spPr>
          <a:xfrm xmlns:a="http://schemas.openxmlformats.org/drawingml/2006/main" flipH="0" flipV="0">
            <a:off x="1104900" y="3419475"/>
            <a:ext cx="76200" cy="0"/>
          </a:xfrm>
          <a:prstGeom xmlns:a="http://schemas.openxmlformats.org/drawingml/2006/main" prst="straightConnector1">
            <a:avLst/>
          </a:prstGeom>
          <a:ln xmlns:a="http://schemas.openxmlformats.org/drawingml/2006/main" w="19050">
            <a:solidFill>
              <a:srgbClr val="4674CD"/>
            </a:solidFill>
            <a:prstDash val="solid"/>
          </a:ln>
        </p:spPr>
      </p:cxnSp>
      <p:cxnSp>
        <p:nvCxnSpPr>
          <p:cNvPr id="18" name="rule-branch">
            <a:extLst xmlns:a="http://schemas.openxmlformats.org/drawingml/2006/main">
              <a:ext uri="{FF2B5EF4-FFF2-40B4-BE49-F238E27FC236}">
                <a16:creationId xmlns:a16="http://schemas.microsoft.com/office/drawing/2014/main" id="{C15F9A69-4058-49DA-A072-3147C2C6AE08}"/>
              </a:ext>
            </a:extLst>
          </p:cNvPr>
          <p:cNvCxnSpPr/>
          <p:nvPr/>
        </p:nvCxnSpPr>
        <p:spPr>
          <a:xfrm xmlns:a="http://schemas.openxmlformats.org/drawingml/2006/main" flipH="0" flipV="0">
            <a:off x="1181100" y="2047875"/>
            <a:ext cx="152400" cy="0"/>
          </a:xfrm>
          <a:prstGeom xmlns:a="http://schemas.openxmlformats.org/drawingml/2006/main" prst="straightConnector1">
            <a:avLst/>
          </a:prstGeom>
          <a:ln xmlns:a="http://schemas.openxmlformats.org/drawingml/2006/main" w="19050">
            <a:solidFill>
              <a:srgbClr val="4674CD"/>
            </a:solidFill>
            <a:prstDash val="solid"/>
          </a:ln>
        </p:spPr>
      </p:cxnSp>
      <p:sp>
        <p:nvSpPr>
          <p:cNvPr id="19" name="rule-label">
            <a:extLst xmlns:a="http://schemas.openxmlformats.org/drawingml/2006/main">
              <a:ext uri="{FF2B5EF4-FFF2-40B4-BE49-F238E27FC236}">
                <a16:creationId xmlns:a16="http://schemas.microsoft.com/office/drawing/2014/main" id="{77067B99-B629-4406-B2D8-D7DE6CF3CE8D}"/>
              </a:ext>
            </a:extLst>
          </p:cNvPr>
          <p:cNvSpPr>
            <a:spLocks xmlns:a="http://schemas.openxmlformats.org/drawingml/2006/main" noGrp="1"/>
          </p:cNvSpPr>
          <p:nvPr/>
        </p:nvSpPr>
        <p:spPr>
          <a:xfrm xmlns:a="http://schemas.openxmlformats.org/drawingml/2006/main">
            <a:off x="1343025" y="1762125"/>
            <a:ext cx="1943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15CA9"/>
                </a:solidFill>
              </a:defRPr>
            </a:defPPr>
          </a:lstStyle>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SimHei"/>
                <a:ea typeface="SimHei"/>
                <a:cs typeface="SimHei"/>
              </a:rPr>
              <a:t>规则与启发式</a:t>
            </a:r>
          </a:p>
        </p:txBody>
      </p:sp>
      <p:sp>
        <p:nvSpPr>
          <p:cNvPr id="20" name="rule-references">
            <a:extLst xmlns:a="http://schemas.openxmlformats.org/drawingml/2006/main">
              <a:ext uri="{FF2B5EF4-FFF2-40B4-BE49-F238E27FC236}">
                <a16:creationId xmlns:a16="http://schemas.microsoft.com/office/drawing/2014/main" id="{F13D9AA6-85E8-4F75-B043-F9A0C4A66B4A}"/>
              </a:ext>
            </a:extLst>
          </p:cNvPr>
          <p:cNvSpPr>
            <a:spLocks xmlns:a="http://schemas.openxmlformats.org/drawingml/2006/main" noGrp="1"/>
          </p:cNvSpPr>
          <p:nvPr/>
        </p:nvSpPr>
        <p:spPr>
          <a:xfrm xmlns:a="http://schemas.openxmlformats.org/drawingml/2006/main">
            <a:off x="1238250" y="2343150"/>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38" b="0">
                <a:solidFill>
                  <a:srgbClr val="6E747A"/>
                </a:solidFill>
              </a:defRPr>
            </a:defPPr>
          </a:lstStyle>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Panwalkar</a:t>
            </a:r>
            <a:r>
              <a:rPr sz="1238" b="0">
                <a:solidFill>
                  <a:srgbClr val="6E747A"/>
                </a:solidFill>
                <a:latin typeface="SimHei"/>
                <a:ea typeface="SimHei"/>
                <a:cs typeface="SimHei"/>
              </a:rPr>
              <a:t>、</a:t>
            </a:r>
            <a:r>
              <a:rPr sz="1238" b="0">
                <a:solidFill>
                  <a:srgbClr val="6E747A"/>
                </a:solidFill>
                <a:latin typeface="Times New Roman"/>
                <a:ea typeface="Times New Roman"/>
                <a:cs typeface="Times New Roman"/>
              </a:rPr>
              <a:t>Bao [17,3]</a:t>
            </a:r>
          </a:p>
        </p:txBody>
      </p:sp>
      <p:sp>
        <p:nvSpPr>
          <p:cNvPr id="21" name="rule-step-0">
            <a:extLst xmlns:a="http://schemas.openxmlformats.org/drawingml/2006/main">
              <a:ext uri="{FF2B5EF4-FFF2-40B4-BE49-F238E27FC236}">
                <a16:creationId xmlns:a16="http://schemas.microsoft.com/office/drawing/2014/main" id="{F8C5081B-296B-4A37-A210-3B5636639EA5}"/>
              </a:ext>
            </a:extLst>
          </p:cNvPr>
          <p:cNvSpPr>
            <a:spLocks xmlns:a="http://schemas.openxmlformats.org/drawingml/2006/main" noGrp="1"/>
          </p:cNvSpPr>
          <p:nvPr/>
        </p:nvSpPr>
        <p:spPr>
          <a:xfrm xmlns:a="http://schemas.openxmlformats.org/drawingml/2006/main">
            <a:off x="3571875" y="178117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任务与</a:t>
            </a: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资源条件</a:t>
            </a:r>
          </a:p>
        </p:txBody>
      </p:sp>
      <p:sp>
        <p:nvSpPr>
          <p:cNvPr id="22" name="rule-step-1">
            <a:extLst xmlns:a="http://schemas.openxmlformats.org/drawingml/2006/main">
              <a:ext uri="{FF2B5EF4-FFF2-40B4-BE49-F238E27FC236}">
                <a16:creationId xmlns:a16="http://schemas.microsoft.com/office/drawing/2014/main" id="{23462666-8FDF-44F8-825C-8C6199F47C0B}"/>
              </a:ext>
            </a:extLst>
          </p:cNvPr>
          <p:cNvSpPr>
            <a:spLocks xmlns:a="http://schemas.openxmlformats.org/drawingml/2006/main" noGrp="1"/>
          </p:cNvSpPr>
          <p:nvPr/>
        </p:nvSpPr>
        <p:spPr>
          <a:xfrm xmlns:a="http://schemas.openxmlformats.org/drawingml/2006/main">
            <a:off x="5562600" y="178117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优先级或</a:t>
            </a: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构造规则</a:t>
            </a:r>
          </a:p>
        </p:txBody>
      </p:sp>
      <p:sp>
        <p:nvSpPr>
          <p:cNvPr id="23" name="rule-step-2">
            <a:extLst xmlns:a="http://schemas.openxmlformats.org/drawingml/2006/main">
              <a:ext uri="{FF2B5EF4-FFF2-40B4-BE49-F238E27FC236}">
                <a16:creationId xmlns:a16="http://schemas.microsoft.com/office/drawing/2014/main" id="{F53FB957-8C73-4E7F-8EA7-1A71777881E6}"/>
              </a:ext>
            </a:extLst>
          </p:cNvPr>
          <p:cNvSpPr>
            <a:spLocks xmlns:a="http://schemas.openxmlformats.org/drawingml/2006/main" noGrp="1"/>
          </p:cNvSpPr>
          <p:nvPr/>
        </p:nvSpPr>
        <p:spPr>
          <a:xfrm xmlns:a="http://schemas.openxmlformats.org/drawingml/2006/main">
            <a:off x="7553325" y="178117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作业安排</a:t>
            </a:r>
          </a:p>
        </p:txBody>
      </p:sp>
      <p:sp>
        <p:nvSpPr>
          <p:cNvPr id="26" name="rule-conditions">
            <a:extLst xmlns:a="http://schemas.openxmlformats.org/drawingml/2006/main">
              <a:ext uri="{FF2B5EF4-FFF2-40B4-BE49-F238E27FC236}">
                <a16:creationId xmlns:a16="http://schemas.microsoft.com/office/drawing/2014/main" id="{831F68BC-83AD-46D5-8109-089ADEFE7BAB}"/>
              </a:ext>
            </a:extLst>
          </p:cNvPr>
          <p:cNvSpPr>
            <a:spLocks xmlns:a="http://schemas.openxmlformats.org/drawingml/2006/main" noGrp="1"/>
          </p:cNvSpPr>
          <p:nvPr/>
        </p:nvSpPr>
        <p:spPr>
          <a:xfrm xmlns:a="http://schemas.openxmlformats.org/drawingml/2006/main">
            <a:off x="9715500" y="18002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63" b="0">
                <a:solidFill>
                  <a:srgbClr val="111111"/>
                </a:solidFill>
              </a:defRPr>
            </a:defPPr>
          </a:lstStyle>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SimHei"/>
                <a:ea typeface="SimHei"/>
                <a:cs typeface="SimHei"/>
              </a:rPr>
              <a:t>规则所需信息</a:t>
            </a:r>
          </a:p>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SimHei"/>
                <a:ea typeface="SimHei"/>
                <a:cs typeface="SimHei"/>
              </a:rPr>
              <a:t>约束适配与决策耗时</a:t>
            </a:r>
          </a:p>
        </p:txBody>
      </p:sp>
      <p:cxnSp>
        <p:nvCxnSpPr>
          <p:cNvPr id="27" name="math-branch">
            <a:extLst xmlns:a="http://schemas.openxmlformats.org/drawingml/2006/main">
              <a:ext uri="{FF2B5EF4-FFF2-40B4-BE49-F238E27FC236}">
                <a16:creationId xmlns:a16="http://schemas.microsoft.com/office/drawing/2014/main" id="{05569577-C73B-47C4-AA21-23594B6FEA51}"/>
              </a:ext>
            </a:extLst>
          </p:cNvPr>
          <p:cNvCxnSpPr/>
          <p:nvPr/>
        </p:nvCxnSpPr>
        <p:spPr>
          <a:xfrm xmlns:a="http://schemas.openxmlformats.org/drawingml/2006/main" flipH="0" flipV="0">
            <a:off x="1181100" y="2933700"/>
            <a:ext cx="152400" cy="0"/>
          </a:xfrm>
          <a:prstGeom xmlns:a="http://schemas.openxmlformats.org/drawingml/2006/main" prst="straightConnector1">
            <a:avLst/>
          </a:prstGeom>
          <a:ln xmlns:a="http://schemas.openxmlformats.org/drawingml/2006/main" w="19050">
            <a:solidFill>
              <a:srgbClr val="4674CD"/>
            </a:solidFill>
            <a:prstDash val="solid"/>
          </a:ln>
        </p:spPr>
      </p:cxnSp>
      <p:sp>
        <p:nvSpPr>
          <p:cNvPr id="28" name="math-label">
            <a:extLst xmlns:a="http://schemas.openxmlformats.org/drawingml/2006/main">
              <a:ext uri="{FF2B5EF4-FFF2-40B4-BE49-F238E27FC236}">
                <a16:creationId xmlns:a16="http://schemas.microsoft.com/office/drawing/2014/main" id="{013241CE-BC41-4764-9100-CBED8704F81A}"/>
              </a:ext>
            </a:extLst>
          </p:cNvPr>
          <p:cNvSpPr>
            <a:spLocks xmlns:a="http://schemas.openxmlformats.org/drawingml/2006/main" noGrp="1"/>
          </p:cNvSpPr>
          <p:nvPr/>
        </p:nvSpPr>
        <p:spPr>
          <a:xfrm xmlns:a="http://schemas.openxmlformats.org/drawingml/2006/main">
            <a:off x="1343025" y="2647950"/>
            <a:ext cx="1943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15CA9"/>
                </a:solidFill>
              </a:defRPr>
            </a:defPPr>
          </a:lstStyle>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SimHei"/>
                <a:ea typeface="SimHei"/>
                <a:cs typeface="SimHei"/>
              </a:rPr>
              <a:t>数学优化</a:t>
            </a:r>
          </a:p>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SimHei"/>
                <a:ea typeface="SimHei"/>
                <a:cs typeface="SimHei"/>
              </a:rPr>
              <a:t>与约束规划</a:t>
            </a:r>
          </a:p>
        </p:txBody>
      </p:sp>
      <p:sp>
        <p:nvSpPr>
          <p:cNvPr id="29" name="math-references">
            <a:extLst xmlns:a="http://schemas.openxmlformats.org/drawingml/2006/main">
              <a:ext uri="{FF2B5EF4-FFF2-40B4-BE49-F238E27FC236}">
                <a16:creationId xmlns:a16="http://schemas.microsoft.com/office/drawing/2014/main" id="{A8202D06-00EB-496A-978E-FB16B3BD036D}"/>
              </a:ext>
            </a:extLst>
          </p:cNvPr>
          <p:cNvSpPr>
            <a:spLocks xmlns:a="http://schemas.openxmlformats.org/drawingml/2006/main" noGrp="1"/>
          </p:cNvSpPr>
          <p:nvPr/>
        </p:nvSpPr>
        <p:spPr>
          <a:xfrm xmlns:a="http://schemas.openxmlformats.org/drawingml/2006/main">
            <a:off x="1238250" y="3228975"/>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38" b="0">
                <a:solidFill>
                  <a:srgbClr val="6E747A"/>
                </a:solidFill>
              </a:defRPr>
            </a:defPPr>
          </a:lstStyle>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Bao</a:t>
            </a:r>
            <a:r>
              <a:rPr sz="1238" b="0">
                <a:solidFill>
                  <a:srgbClr val="6E747A"/>
                </a:solidFill>
                <a:latin typeface="SimHei"/>
                <a:ea typeface="SimHei"/>
                <a:cs typeface="SimHei"/>
              </a:rPr>
              <a:t>、</a:t>
            </a:r>
            <a:r>
              <a:rPr sz="1238" b="0">
                <a:solidFill>
                  <a:srgbClr val="6E747A"/>
                </a:solidFill>
                <a:latin typeface="Times New Roman"/>
                <a:ea typeface="Times New Roman"/>
                <a:cs typeface="Times New Roman"/>
              </a:rPr>
              <a:t>Pucel</a:t>
            </a:r>
            <a:r>
              <a:rPr sz="1238" b="0">
                <a:solidFill>
                  <a:srgbClr val="6E747A"/>
                </a:solidFill>
                <a:latin typeface="SimHei"/>
                <a:ea typeface="SimHei"/>
                <a:cs typeface="SimHei"/>
              </a:rPr>
              <a:t>、</a:t>
            </a:r>
            <a:r>
              <a:rPr sz="1238" b="0">
                <a:solidFill>
                  <a:srgbClr val="6E747A"/>
                </a:solidFill>
                <a:latin typeface="Times New Roman"/>
                <a:ea typeface="Times New Roman"/>
                <a:cs typeface="Times New Roman"/>
              </a:rPr>
              <a:t>Lovato</a:t>
            </a:r>
          </a:p>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[3,11,5]</a:t>
            </a:r>
          </a:p>
        </p:txBody>
      </p:sp>
      <p:sp>
        <p:nvSpPr>
          <p:cNvPr id="30" name="math-step-0">
            <a:extLst xmlns:a="http://schemas.openxmlformats.org/drawingml/2006/main">
              <a:ext uri="{FF2B5EF4-FFF2-40B4-BE49-F238E27FC236}">
                <a16:creationId xmlns:a16="http://schemas.microsoft.com/office/drawing/2014/main" id="{3AB87612-E5BC-44E8-B2F5-006CB6802F0E}"/>
              </a:ext>
            </a:extLst>
          </p:cNvPr>
          <p:cNvSpPr>
            <a:spLocks xmlns:a="http://schemas.openxmlformats.org/drawingml/2006/main" noGrp="1"/>
          </p:cNvSpPr>
          <p:nvPr/>
        </p:nvSpPr>
        <p:spPr>
          <a:xfrm xmlns:a="http://schemas.openxmlformats.org/drawingml/2006/main">
            <a:off x="3571875" y="266700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决策变量</a:t>
            </a: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与约束</a:t>
            </a:r>
          </a:p>
        </p:txBody>
      </p:sp>
      <p:sp>
        <p:nvSpPr>
          <p:cNvPr id="31" name="math-step-1">
            <a:extLst xmlns:a="http://schemas.openxmlformats.org/drawingml/2006/main">
              <a:ext uri="{FF2B5EF4-FFF2-40B4-BE49-F238E27FC236}">
                <a16:creationId xmlns:a16="http://schemas.microsoft.com/office/drawing/2014/main" id="{EBB69FBD-499C-4A62-B7F2-47B06EA942C3}"/>
              </a:ext>
            </a:extLst>
          </p:cNvPr>
          <p:cNvSpPr>
            <a:spLocks xmlns:a="http://schemas.openxmlformats.org/drawingml/2006/main" noGrp="1"/>
          </p:cNvSpPr>
          <p:nvPr/>
        </p:nvSpPr>
        <p:spPr>
          <a:xfrm xmlns:a="http://schemas.openxmlformats.org/drawingml/2006/main">
            <a:off x="5562600" y="266700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建模与求解</a:t>
            </a:r>
          </a:p>
        </p:txBody>
      </p:sp>
      <p:sp>
        <p:nvSpPr>
          <p:cNvPr id="32" name="math-step-2">
            <a:extLst xmlns:a="http://schemas.openxmlformats.org/drawingml/2006/main">
              <a:ext uri="{FF2B5EF4-FFF2-40B4-BE49-F238E27FC236}">
                <a16:creationId xmlns:a16="http://schemas.microsoft.com/office/drawing/2014/main" id="{C7D80558-5E77-4836-BEDE-C9E656716A04}"/>
              </a:ext>
            </a:extLst>
          </p:cNvPr>
          <p:cNvSpPr>
            <a:spLocks xmlns:a="http://schemas.openxmlformats.org/drawingml/2006/main" noGrp="1"/>
          </p:cNvSpPr>
          <p:nvPr/>
        </p:nvSpPr>
        <p:spPr>
          <a:xfrm xmlns:a="http://schemas.openxmlformats.org/drawingml/2006/main">
            <a:off x="7553325" y="266700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初始或</a:t>
            </a: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修复排程</a:t>
            </a:r>
          </a:p>
        </p:txBody>
      </p:sp>
      <p:sp>
        <p:nvSpPr>
          <p:cNvPr id="35" name="math-conditions">
            <a:extLst xmlns:a="http://schemas.openxmlformats.org/drawingml/2006/main">
              <a:ext uri="{FF2B5EF4-FFF2-40B4-BE49-F238E27FC236}">
                <a16:creationId xmlns:a16="http://schemas.microsoft.com/office/drawing/2014/main" id="{B3FCC454-65E0-4319-97C8-A76F564FD750}"/>
              </a:ext>
            </a:extLst>
          </p:cNvPr>
          <p:cNvSpPr>
            <a:spLocks xmlns:a="http://schemas.openxmlformats.org/drawingml/2006/main" noGrp="1"/>
          </p:cNvSpPr>
          <p:nvPr/>
        </p:nvSpPr>
        <p:spPr>
          <a:xfrm xmlns:a="http://schemas.openxmlformats.org/drawingml/2006/main">
            <a:off x="9715500" y="26860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63" b="0">
                <a:solidFill>
                  <a:srgbClr val="111111"/>
                </a:solidFill>
              </a:defRPr>
            </a:defPPr>
          </a:lstStyle>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SimHei"/>
                <a:ea typeface="SimHei"/>
                <a:cs typeface="SimHei"/>
              </a:rPr>
              <a:t>约束表达</a:t>
            </a:r>
          </a:p>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SimHei"/>
                <a:ea typeface="SimHei"/>
                <a:cs typeface="SimHei"/>
              </a:rPr>
              <a:t>方案质量与求解时间</a:t>
            </a:r>
          </a:p>
        </p:txBody>
      </p:sp>
      <p:cxnSp>
        <p:nvCxnSpPr>
          <p:cNvPr id="36" name="meta-branch">
            <a:extLst xmlns:a="http://schemas.openxmlformats.org/drawingml/2006/main">
              <a:ext uri="{FF2B5EF4-FFF2-40B4-BE49-F238E27FC236}">
                <a16:creationId xmlns:a16="http://schemas.microsoft.com/office/drawing/2014/main" id="{9666521B-14D9-48C9-B320-7C49ABF93659}"/>
              </a:ext>
            </a:extLst>
          </p:cNvPr>
          <p:cNvCxnSpPr/>
          <p:nvPr/>
        </p:nvCxnSpPr>
        <p:spPr>
          <a:xfrm xmlns:a="http://schemas.openxmlformats.org/drawingml/2006/main" flipH="0" flipV="0">
            <a:off x="1181100" y="3819525"/>
            <a:ext cx="152400" cy="0"/>
          </a:xfrm>
          <a:prstGeom xmlns:a="http://schemas.openxmlformats.org/drawingml/2006/main" prst="straightConnector1">
            <a:avLst/>
          </a:prstGeom>
          <a:ln xmlns:a="http://schemas.openxmlformats.org/drawingml/2006/main" w="19050">
            <a:solidFill>
              <a:srgbClr val="4674CD"/>
            </a:solidFill>
            <a:prstDash val="solid"/>
          </a:ln>
        </p:spPr>
      </p:cxnSp>
      <p:sp>
        <p:nvSpPr>
          <p:cNvPr id="37" name="meta-label">
            <a:extLst xmlns:a="http://schemas.openxmlformats.org/drawingml/2006/main">
              <a:ext uri="{FF2B5EF4-FFF2-40B4-BE49-F238E27FC236}">
                <a16:creationId xmlns:a16="http://schemas.microsoft.com/office/drawing/2014/main" id="{6F8D14CA-2904-46D8-9679-D4ADE293A4A7}"/>
              </a:ext>
            </a:extLst>
          </p:cNvPr>
          <p:cNvSpPr>
            <a:spLocks xmlns:a="http://schemas.openxmlformats.org/drawingml/2006/main" noGrp="1"/>
          </p:cNvSpPr>
          <p:nvPr/>
        </p:nvSpPr>
        <p:spPr>
          <a:xfrm xmlns:a="http://schemas.openxmlformats.org/drawingml/2006/main">
            <a:off x="1343025" y="3533775"/>
            <a:ext cx="1943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15CA9"/>
                </a:solidFill>
              </a:defRPr>
            </a:defPPr>
          </a:lstStyle>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SimHei"/>
                <a:ea typeface="SimHei"/>
                <a:cs typeface="SimHei"/>
              </a:rPr>
              <a:t>元启发式</a:t>
            </a:r>
          </a:p>
        </p:txBody>
      </p:sp>
      <p:sp>
        <p:nvSpPr>
          <p:cNvPr id="38" name="meta-references">
            <a:extLst xmlns:a="http://schemas.openxmlformats.org/drawingml/2006/main">
              <a:ext uri="{FF2B5EF4-FFF2-40B4-BE49-F238E27FC236}">
                <a16:creationId xmlns:a16="http://schemas.microsoft.com/office/drawing/2014/main" id="{6CEA7AE5-0B6F-4161-8613-8FE6D79F4439}"/>
              </a:ext>
            </a:extLst>
          </p:cNvPr>
          <p:cNvSpPr>
            <a:spLocks xmlns:a="http://schemas.openxmlformats.org/drawingml/2006/main" noGrp="1"/>
          </p:cNvSpPr>
          <p:nvPr/>
        </p:nvSpPr>
        <p:spPr>
          <a:xfrm xmlns:a="http://schemas.openxmlformats.org/drawingml/2006/main">
            <a:off x="1238250" y="4114800"/>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38" b="0">
                <a:solidFill>
                  <a:srgbClr val="6E747A"/>
                </a:solidFill>
              </a:defRPr>
            </a:defPPr>
          </a:lstStyle>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Fang</a:t>
            </a:r>
            <a:r>
              <a:rPr sz="1238" b="0">
                <a:solidFill>
                  <a:srgbClr val="6E747A"/>
                </a:solidFill>
                <a:latin typeface="SimHei"/>
                <a:ea typeface="SimHei"/>
                <a:cs typeface="SimHei"/>
              </a:rPr>
              <a:t>、</a:t>
            </a:r>
            <a:r>
              <a:rPr sz="1238" b="0">
                <a:solidFill>
                  <a:srgbClr val="6E747A"/>
                </a:solidFill>
                <a:latin typeface="Times New Roman"/>
                <a:ea typeface="Times New Roman"/>
                <a:cs typeface="Times New Roman"/>
              </a:rPr>
              <a:t>Zheng</a:t>
            </a:r>
            <a:r>
              <a:rPr sz="1238" b="0">
                <a:solidFill>
                  <a:srgbClr val="6E747A"/>
                </a:solidFill>
                <a:latin typeface="SimHei"/>
                <a:ea typeface="SimHei"/>
                <a:cs typeface="SimHei"/>
              </a:rPr>
              <a:t>、</a:t>
            </a:r>
            <a:r>
              <a:rPr sz="1238" b="0">
                <a:solidFill>
                  <a:srgbClr val="6E747A"/>
                </a:solidFill>
                <a:latin typeface="Times New Roman"/>
                <a:ea typeface="Times New Roman"/>
                <a:cs typeface="Times New Roman"/>
              </a:rPr>
              <a:t>Wen</a:t>
            </a:r>
          </a:p>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[9,10,18,19]</a:t>
            </a:r>
          </a:p>
        </p:txBody>
      </p:sp>
      <p:sp>
        <p:nvSpPr>
          <p:cNvPr id="39" name="meta-step-0">
            <a:extLst xmlns:a="http://schemas.openxmlformats.org/drawingml/2006/main">
              <a:ext uri="{FF2B5EF4-FFF2-40B4-BE49-F238E27FC236}">
                <a16:creationId xmlns:a16="http://schemas.microsoft.com/office/drawing/2014/main" id="{4B443EBD-DCC3-492A-A47C-A09BC3A39AB2}"/>
              </a:ext>
            </a:extLst>
          </p:cNvPr>
          <p:cNvSpPr>
            <a:spLocks xmlns:a="http://schemas.openxmlformats.org/drawingml/2006/main" noGrp="1"/>
          </p:cNvSpPr>
          <p:nvPr/>
        </p:nvSpPr>
        <p:spPr>
          <a:xfrm xmlns:a="http://schemas.openxmlformats.org/drawingml/2006/main">
            <a:off x="3571875" y="355282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候选方案</a:t>
            </a:r>
          </a:p>
        </p:txBody>
      </p:sp>
      <p:sp>
        <p:nvSpPr>
          <p:cNvPr id="40" name="meta-step-1">
            <a:extLst xmlns:a="http://schemas.openxmlformats.org/drawingml/2006/main">
              <a:ext uri="{FF2B5EF4-FFF2-40B4-BE49-F238E27FC236}">
                <a16:creationId xmlns:a16="http://schemas.microsoft.com/office/drawing/2014/main" id="{724FE523-03D1-459F-B111-5C20B60816BF}"/>
              </a:ext>
            </a:extLst>
          </p:cNvPr>
          <p:cNvSpPr>
            <a:spLocks xmlns:a="http://schemas.openxmlformats.org/drawingml/2006/main" noGrp="1"/>
          </p:cNvSpPr>
          <p:nvPr/>
        </p:nvSpPr>
        <p:spPr>
          <a:xfrm xmlns:a="http://schemas.openxmlformats.org/drawingml/2006/main">
            <a:off x="5562600" y="355282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解码与评价</a:t>
            </a:r>
          </a:p>
        </p:txBody>
      </p:sp>
      <p:sp>
        <p:nvSpPr>
          <p:cNvPr id="41" name="meta-step-2">
            <a:extLst xmlns:a="http://schemas.openxmlformats.org/drawingml/2006/main">
              <a:ext uri="{FF2B5EF4-FFF2-40B4-BE49-F238E27FC236}">
                <a16:creationId xmlns:a16="http://schemas.microsoft.com/office/drawing/2014/main" id="{335AEDAC-01F5-46B4-8E6C-70D2960A04D0}"/>
              </a:ext>
            </a:extLst>
          </p:cNvPr>
          <p:cNvSpPr>
            <a:spLocks xmlns:a="http://schemas.openxmlformats.org/drawingml/2006/main" noGrp="1"/>
          </p:cNvSpPr>
          <p:nvPr/>
        </p:nvSpPr>
        <p:spPr>
          <a:xfrm xmlns:a="http://schemas.openxmlformats.org/drawingml/2006/main">
            <a:off x="7553325" y="3552825"/>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搜索改进</a:t>
            </a:r>
          </a:p>
        </p:txBody>
      </p:sp>
      <p:sp>
        <p:nvSpPr>
          <p:cNvPr id="44" name="meta-conditions">
            <a:extLst xmlns:a="http://schemas.openxmlformats.org/drawingml/2006/main">
              <a:ext uri="{FF2B5EF4-FFF2-40B4-BE49-F238E27FC236}">
                <a16:creationId xmlns:a16="http://schemas.microsoft.com/office/drawing/2014/main" id="{D16BEA09-6C40-48EC-868C-6D08BFAB32F5}"/>
              </a:ext>
            </a:extLst>
          </p:cNvPr>
          <p:cNvSpPr>
            <a:spLocks xmlns:a="http://schemas.openxmlformats.org/drawingml/2006/main" noGrp="1"/>
          </p:cNvSpPr>
          <p:nvPr/>
        </p:nvSpPr>
        <p:spPr>
          <a:xfrm xmlns:a="http://schemas.openxmlformats.org/drawingml/2006/main">
            <a:off x="9715500" y="357187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63" b="0">
                <a:solidFill>
                  <a:srgbClr val="111111"/>
                </a:solidFill>
              </a:defRPr>
            </a:defPPr>
          </a:lstStyle>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SimHei"/>
                <a:ea typeface="SimHei"/>
                <a:cs typeface="SimHei"/>
              </a:rPr>
              <a:t>解码可行性、搜索预算</a:t>
            </a:r>
          </a:p>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SimHei"/>
                <a:ea typeface="SimHei"/>
                <a:cs typeface="SimHei"/>
              </a:rPr>
              <a:t>受扰后重复求解开销</a:t>
            </a:r>
          </a:p>
        </p:txBody>
      </p:sp>
      <p:cxnSp>
        <p:nvCxnSpPr>
          <p:cNvPr id="45" name="meta-loop-down">
            <a:extLst xmlns:a="http://schemas.openxmlformats.org/drawingml/2006/main">
              <a:ext uri="{FF2B5EF4-FFF2-40B4-BE49-F238E27FC236}">
                <a16:creationId xmlns:a16="http://schemas.microsoft.com/office/drawing/2014/main" id="{CCE45EFB-FCBE-4614-86E0-002FD4017568}"/>
              </a:ext>
            </a:extLst>
          </p:cNvPr>
          <p:cNvCxnSpPr/>
          <p:nvPr/>
        </p:nvCxnSpPr>
        <p:spPr>
          <a:xfrm xmlns:a="http://schemas.openxmlformats.org/drawingml/2006/main" flipH="0" flipV="0">
            <a:off x="8401050" y="4086225"/>
            <a:ext cx="0" cy="114300"/>
          </a:xfrm>
          <a:prstGeom xmlns:a="http://schemas.openxmlformats.org/drawingml/2006/main" prst="straightConnector1">
            <a:avLst/>
          </a:prstGeom>
          <a:ln xmlns:a="http://schemas.openxmlformats.org/drawingml/2006/main" w="12383">
            <a:solidFill>
              <a:srgbClr val="6E747A"/>
            </a:solidFill>
            <a:prstDash val="solid"/>
          </a:ln>
        </p:spPr>
      </p:cxnSp>
      <p:cxnSp>
        <p:nvCxnSpPr>
          <p:cNvPr id="46" name="meta-loop-back">
            <a:extLst xmlns:a="http://schemas.openxmlformats.org/drawingml/2006/main">
              <a:ext uri="{FF2B5EF4-FFF2-40B4-BE49-F238E27FC236}">
                <a16:creationId xmlns:a16="http://schemas.microsoft.com/office/drawing/2014/main" id="{7AAC80C6-8223-43BA-B731-56F8FFEEB27D}"/>
              </a:ext>
            </a:extLst>
          </p:cNvPr>
          <p:cNvCxnSpPr/>
          <p:nvPr/>
        </p:nvCxnSpPr>
        <p:spPr>
          <a:xfrm xmlns:a="http://schemas.openxmlformats.org/drawingml/2006/main" flipH="1" flipV="0">
            <a:off x="4419600" y="4200525"/>
            <a:ext cx="3981450" cy="0"/>
          </a:xfrm>
          <a:prstGeom xmlns:a="http://schemas.openxmlformats.org/drawingml/2006/main" prst="straightConnector1">
            <a:avLst/>
          </a:prstGeom>
          <a:ln xmlns:a="http://schemas.openxmlformats.org/drawingml/2006/main" w="12383">
            <a:solidFill>
              <a:srgbClr val="6E747A"/>
            </a:solidFill>
            <a:prstDash val="solid"/>
            <a:tailEnd type="triangle" w="sm" len="sm"/>
          </a:ln>
        </p:spPr>
      </p:cxnSp>
      <p:cxnSp>
        <p:nvCxnSpPr>
          <p:cNvPr id="47" name="meta-loop-up">
            <a:extLst xmlns:a="http://schemas.openxmlformats.org/drawingml/2006/main">
              <a:ext uri="{FF2B5EF4-FFF2-40B4-BE49-F238E27FC236}">
                <a16:creationId xmlns:a16="http://schemas.microsoft.com/office/drawing/2014/main" id="{0405AACA-2F4B-4D29-87F2-EB4D9B08C569}"/>
              </a:ext>
            </a:extLst>
          </p:cNvPr>
          <p:cNvCxnSpPr/>
          <p:nvPr/>
        </p:nvCxnSpPr>
        <p:spPr>
          <a:xfrm xmlns:a="http://schemas.openxmlformats.org/drawingml/2006/main" flipH="0" flipV="1">
            <a:off x="4419600" y="4086225"/>
            <a:ext cx="0" cy="114300"/>
          </a:xfrm>
          <a:prstGeom xmlns:a="http://schemas.openxmlformats.org/drawingml/2006/main" prst="straightConnector1">
            <a:avLst/>
          </a:prstGeom>
          <a:ln xmlns:a="http://schemas.openxmlformats.org/drawingml/2006/main" w="12383">
            <a:solidFill>
              <a:srgbClr val="6E747A"/>
            </a:solidFill>
            <a:prstDash val="solid"/>
          </a:ln>
        </p:spPr>
      </p:cxnSp>
      <p:cxnSp>
        <p:nvCxnSpPr>
          <p:cNvPr id="48" name="rl-branch">
            <a:extLst xmlns:a="http://schemas.openxmlformats.org/drawingml/2006/main">
              <a:ext uri="{FF2B5EF4-FFF2-40B4-BE49-F238E27FC236}">
                <a16:creationId xmlns:a16="http://schemas.microsoft.com/office/drawing/2014/main" id="{8418AFD2-F650-4709-A64C-6CF5C45924BC}"/>
              </a:ext>
            </a:extLst>
          </p:cNvPr>
          <p:cNvCxnSpPr/>
          <p:nvPr/>
        </p:nvCxnSpPr>
        <p:spPr>
          <a:xfrm xmlns:a="http://schemas.openxmlformats.org/drawingml/2006/main" flipH="0" flipV="0">
            <a:off x="1181100" y="4705350"/>
            <a:ext cx="152400" cy="0"/>
          </a:xfrm>
          <a:prstGeom xmlns:a="http://schemas.openxmlformats.org/drawingml/2006/main" prst="straightConnector1">
            <a:avLst/>
          </a:prstGeom>
          <a:ln xmlns:a="http://schemas.openxmlformats.org/drawingml/2006/main" w="19050">
            <a:solidFill>
              <a:srgbClr val="4674CD"/>
            </a:solidFill>
            <a:prstDash val="solid"/>
          </a:ln>
        </p:spPr>
      </p:cxnSp>
      <p:sp>
        <p:nvSpPr>
          <p:cNvPr id="49" name="rl-label">
            <a:extLst xmlns:a="http://schemas.openxmlformats.org/drawingml/2006/main">
              <a:ext uri="{FF2B5EF4-FFF2-40B4-BE49-F238E27FC236}">
                <a16:creationId xmlns:a16="http://schemas.microsoft.com/office/drawing/2014/main" id="{2630DA15-8EE7-4D98-A85C-4F06A7C740C6}"/>
              </a:ext>
            </a:extLst>
          </p:cNvPr>
          <p:cNvSpPr>
            <a:spLocks xmlns:a="http://schemas.openxmlformats.org/drawingml/2006/main" noGrp="1"/>
          </p:cNvSpPr>
          <p:nvPr/>
        </p:nvSpPr>
        <p:spPr>
          <a:xfrm xmlns:a="http://schemas.openxmlformats.org/drawingml/2006/main">
            <a:off x="1343025" y="4419600"/>
            <a:ext cx="1943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15CA9"/>
                </a:solidFill>
              </a:defRPr>
            </a:defPPr>
          </a:lstStyle>
          <a:p xmlns:a="http://schemas.openxmlformats.org/drawingml/2006/main">
            <a:pPr algn="ctr">
              <a:lnSpc>
                <a:spcPct val="102000"/>
              </a:lnSpc>
              <a:spcBef>
                <a:spcPts val="0"/>
              </a:spcBef>
              <a:spcAft>
                <a:spcPts val="0"/>
              </a:spcAft>
              <a:buNone/>
              <a:defRPr sz="1725" b="1">
                <a:solidFill>
                  <a:srgbClr val="315CA9"/>
                </a:solidFill>
              </a:defRPr>
            </a:pPr>
            <a:r>
              <a:rPr sz="1725" b="1">
                <a:solidFill>
                  <a:srgbClr val="315CA9"/>
                </a:solidFill>
                <a:latin typeface="SimHei"/>
                <a:ea typeface="SimHei"/>
                <a:cs typeface="SimHei"/>
              </a:rPr>
              <a:t>强化学习</a:t>
            </a:r>
          </a:p>
        </p:txBody>
      </p:sp>
      <p:sp>
        <p:nvSpPr>
          <p:cNvPr id="50" name="rl-references">
            <a:extLst xmlns:a="http://schemas.openxmlformats.org/drawingml/2006/main">
              <a:ext uri="{FF2B5EF4-FFF2-40B4-BE49-F238E27FC236}">
                <a16:creationId xmlns:a16="http://schemas.microsoft.com/office/drawing/2014/main" id="{51398380-22F1-407D-85B9-FB2519EDC763}"/>
              </a:ext>
            </a:extLst>
          </p:cNvPr>
          <p:cNvSpPr>
            <a:spLocks xmlns:a="http://schemas.openxmlformats.org/drawingml/2006/main" noGrp="1"/>
          </p:cNvSpPr>
          <p:nvPr/>
        </p:nvSpPr>
        <p:spPr>
          <a:xfrm xmlns:a="http://schemas.openxmlformats.org/drawingml/2006/main">
            <a:off x="1238250" y="5000625"/>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38" b="0">
                <a:solidFill>
                  <a:srgbClr val="6E747A"/>
                </a:solidFill>
              </a:defRPr>
            </a:defPPr>
          </a:lstStyle>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Zhang</a:t>
            </a:r>
            <a:r>
              <a:rPr sz="1238" b="0">
                <a:solidFill>
                  <a:srgbClr val="6E747A"/>
                </a:solidFill>
                <a:latin typeface="SimHei"/>
                <a:ea typeface="SimHei"/>
                <a:cs typeface="SimHei"/>
              </a:rPr>
              <a:t>、</a:t>
            </a:r>
            <a:r>
              <a:rPr sz="1238" b="0">
                <a:solidFill>
                  <a:srgbClr val="6E747A"/>
                </a:solidFill>
                <a:latin typeface="Times New Roman"/>
                <a:ea typeface="Times New Roman"/>
                <a:cs typeface="Times New Roman"/>
              </a:rPr>
              <a:t>Wen</a:t>
            </a:r>
            <a:r>
              <a:rPr sz="1238" b="0">
                <a:solidFill>
                  <a:srgbClr val="6E747A"/>
                </a:solidFill>
                <a:latin typeface="SimHei"/>
                <a:ea typeface="SimHei"/>
                <a:cs typeface="SimHei"/>
              </a:rPr>
              <a:t>、</a:t>
            </a:r>
            <a:r>
              <a:rPr sz="1238" b="0">
                <a:solidFill>
                  <a:srgbClr val="6E747A"/>
                </a:solidFill>
                <a:latin typeface="Times New Roman"/>
                <a:ea typeface="Times New Roman"/>
                <a:cs typeface="Times New Roman"/>
              </a:rPr>
              <a:t>Chen</a:t>
            </a:r>
          </a:p>
          <a:p xmlns:a="http://schemas.openxmlformats.org/drawingml/2006/main">
            <a:pPr algn="ctr">
              <a:lnSpc>
                <a:spcPct val="102000"/>
              </a:lnSpc>
              <a:spcBef>
                <a:spcPts val="0"/>
              </a:spcBef>
              <a:spcAft>
                <a:spcPts val="0"/>
              </a:spcAft>
              <a:buNone/>
              <a:defRPr sz="1238" b="0">
                <a:solidFill>
                  <a:srgbClr val="6E747A"/>
                </a:solidFill>
              </a:defRPr>
            </a:pPr>
            <a:r>
              <a:rPr sz="1238" b="0">
                <a:solidFill>
                  <a:srgbClr val="6E747A"/>
                </a:solidFill>
                <a:latin typeface="Times New Roman"/>
                <a:ea typeface="Times New Roman"/>
                <a:cs typeface="Times New Roman"/>
              </a:rPr>
              <a:t>[22,23,24]</a:t>
            </a:r>
          </a:p>
        </p:txBody>
      </p:sp>
      <p:sp>
        <p:nvSpPr>
          <p:cNvPr id="51" name="rl-step-0">
            <a:extLst xmlns:a="http://schemas.openxmlformats.org/drawingml/2006/main">
              <a:ext uri="{FF2B5EF4-FFF2-40B4-BE49-F238E27FC236}">
                <a16:creationId xmlns:a16="http://schemas.microsoft.com/office/drawing/2014/main" id="{4876CD34-019E-4F86-9242-7BD58E40F719}"/>
              </a:ext>
            </a:extLst>
          </p:cNvPr>
          <p:cNvSpPr>
            <a:spLocks xmlns:a="http://schemas.openxmlformats.org/drawingml/2006/main" noGrp="1"/>
          </p:cNvSpPr>
          <p:nvPr/>
        </p:nvSpPr>
        <p:spPr>
          <a:xfrm xmlns:a="http://schemas.openxmlformats.org/drawingml/2006/main">
            <a:off x="3571875" y="443865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当前</a:t>
            </a: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生产状态</a:t>
            </a:r>
          </a:p>
        </p:txBody>
      </p:sp>
      <p:sp>
        <p:nvSpPr>
          <p:cNvPr id="52" name="rl-step-1">
            <a:extLst xmlns:a="http://schemas.openxmlformats.org/drawingml/2006/main">
              <a:ext uri="{FF2B5EF4-FFF2-40B4-BE49-F238E27FC236}">
                <a16:creationId xmlns:a16="http://schemas.microsoft.com/office/drawing/2014/main" id="{5B5C34BA-C2E9-4EC6-B747-B8F0C4C6AF81}"/>
              </a:ext>
            </a:extLst>
          </p:cNvPr>
          <p:cNvSpPr>
            <a:spLocks xmlns:a="http://schemas.openxmlformats.org/drawingml/2006/main" noGrp="1"/>
          </p:cNvSpPr>
          <p:nvPr/>
        </p:nvSpPr>
        <p:spPr>
          <a:xfrm xmlns:a="http://schemas.openxmlformats.org/drawingml/2006/main">
            <a:off x="5562600" y="443865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策略选择</a:t>
            </a:r>
          </a:p>
        </p:txBody>
      </p:sp>
      <p:sp>
        <p:nvSpPr>
          <p:cNvPr id="53" name="rl-step-2">
            <a:extLst xmlns:a="http://schemas.openxmlformats.org/drawingml/2006/main">
              <a:ext uri="{FF2B5EF4-FFF2-40B4-BE49-F238E27FC236}">
                <a16:creationId xmlns:a16="http://schemas.microsoft.com/office/drawing/2014/main" id="{2DE4BC3D-42C4-4C13-A7B3-9850A459A212}"/>
              </a:ext>
            </a:extLst>
          </p:cNvPr>
          <p:cNvSpPr>
            <a:spLocks xmlns:a="http://schemas.openxmlformats.org/drawingml/2006/main" noGrp="1"/>
          </p:cNvSpPr>
          <p:nvPr/>
        </p:nvSpPr>
        <p:spPr>
          <a:xfrm xmlns:a="http://schemas.openxmlformats.org/drawingml/2006/main">
            <a:off x="7553325" y="4438650"/>
            <a:ext cx="1695450" cy="533400"/>
          </a:xfrm>
          <a:prstGeom xmlns:a="http://schemas.openxmlformats.org/drawingml/2006/main" prst="rect">
            <a:avLst/>
          </a:prstGeom>
          <a:solidFill xmlns:a="http://schemas.openxmlformats.org/drawingml/2006/main">
            <a:srgbClr val="F1F4F8"/>
          </a:solidFill>
          <a:ln xmlns:a="http://schemas.openxmlformats.org/drawingml/2006/main" w="13335">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650" b="0">
                <a:solidFill>
                  <a:srgbClr val="17375E"/>
                </a:solidFill>
              </a:defRPr>
            </a:defPPr>
          </a:lstStyle>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工序、资源</a:t>
            </a:r>
          </a:p>
          <a:p xmlns:a="http://schemas.openxmlformats.org/drawingml/2006/main">
            <a:pPr algn="ctr">
              <a:lnSpc>
                <a:spcPct val="102000"/>
              </a:lnSpc>
              <a:spcBef>
                <a:spcPts val="0"/>
              </a:spcBef>
              <a:spcAft>
                <a:spcPts val="0"/>
              </a:spcAft>
              <a:buNone/>
              <a:defRPr sz="1650" b="0">
                <a:solidFill>
                  <a:srgbClr val="17375E"/>
                </a:solidFill>
              </a:defRPr>
            </a:pPr>
            <a:r>
              <a:rPr sz="1650" b="0">
                <a:solidFill>
                  <a:srgbClr val="17375E"/>
                </a:solidFill>
                <a:latin typeface="SimHei"/>
                <a:ea typeface="SimHei"/>
                <a:cs typeface="SimHei"/>
              </a:rPr>
              <a:t>或派工规则</a:t>
            </a:r>
          </a:p>
        </p:txBody>
      </p:sp>
      <p:sp>
        <p:nvSpPr>
          <p:cNvPr id="56" name="rl-conditions">
            <a:extLst xmlns:a="http://schemas.openxmlformats.org/drawingml/2006/main">
              <a:ext uri="{FF2B5EF4-FFF2-40B4-BE49-F238E27FC236}">
                <a16:creationId xmlns:a16="http://schemas.microsoft.com/office/drawing/2014/main" id="{0D18E0EE-55C6-4932-AB9F-93C7D561AD41}"/>
              </a:ext>
            </a:extLst>
          </p:cNvPr>
          <p:cNvSpPr>
            <a:spLocks xmlns:a="http://schemas.openxmlformats.org/drawingml/2006/main" noGrp="1"/>
          </p:cNvSpPr>
          <p:nvPr/>
        </p:nvSpPr>
        <p:spPr>
          <a:xfrm xmlns:a="http://schemas.openxmlformats.org/drawingml/2006/main">
            <a:off x="9715500" y="445770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63" b="0">
                <a:solidFill>
                  <a:srgbClr val="111111"/>
                </a:solidFill>
              </a:defRPr>
            </a:defPPr>
          </a:lstStyle>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SimHei"/>
                <a:ea typeface="SimHei"/>
                <a:cs typeface="SimHei"/>
              </a:rPr>
              <a:t>状态、动作、执行约束</a:t>
            </a:r>
          </a:p>
          <a:p xmlns:a="http://schemas.openxmlformats.org/drawingml/2006/main">
            <a:pPr algn="l">
              <a:lnSpc>
                <a:spcPct val="116000"/>
              </a:lnSpc>
              <a:spcBef>
                <a:spcPts val="0"/>
              </a:spcBef>
              <a:spcAft>
                <a:spcPts val="0"/>
              </a:spcAft>
              <a:buNone/>
              <a:defRPr sz="1463" b="0">
                <a:solidFill>
                  <a:srgbClr val="111111"/>
                </a:solidFill>
              </a:defRPr>
            </a:pPr>
            <a:r>
              <a:rPr sz="1463" b="0">
                <a:solidFill>
                  <a:srgbClr val="111111"/>
                </a:solidFill>
                <a:latin typeface="SimHei"/>
                <a:ea typeface="SimHei"/>
                <a:cs typeface="SimHei"/>
              </a:rPr>
              <a:t>与计算成本</a:t>
            </a:r>
          </a:p>
        </p:txBody>
      </p:sp>
      <p:sp>
        <p:nvSpPr>
          <p:cNvPr id="57" name="learning-assisted-search">
            <a:extLst xmlns:a="http://schemas.openxmlformats.org/drawingml/2006/main">
              <a:ext uri="{FF2B5EF4-FFF2-40B4-BE49-F238E27FC236}">
                <a16:creationId xmlns:a16="http://schemas.microsoft.com/office/drawing/2014/main" id="{CF553535-68D6-4FF1-A667-3145F13BE067}"/>
              </a:ext>
            </a:extLst>
          </p:cNvPr>
          <p:cNvSpPr>
            <a:spLocks xmlns:a="http://schemas.openxmlformats.org/drawingml/2006/main" noGrp="1"/>
          </p:cNvSpPr>
          <p:nvPr/>
        </p:nvSpPr>
        <p:spPr>
          <a:xfrm xmlns:a="http://schemas.openxmlformats.org/drawingml/2006/main">
            <a:off x="609600" y="54387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0">
                <a:solidFill>
                  <a:srgbClr val="6E747A"/>
                </a:solidFill>
              </a:defRPr>
            </a:defPPr>
          </a:lstStyle>
          <a:p xmlns:a="http://schemas.openxmlformats.org/drawingml/2006/main">
            <a:pPr algn="l">
              <a:lnSpc>
                <a:spcPct val="108000"/>
              </a:lnSpc>
              <a:spcBef>
                <a:spcPts val="0"/>
              </a:spcBef>
              <a:spcAft>
                <a:spcPts val="0"/>
              </a:spcAft>
              <a:buNone/>
              <a:defRPr sz="1388" b="0">
                <a:solidFill>
                  <a:srgbClr val="6E747A"/>
                </a:solidFill>
              </a:defRPr>
            </a:pPr>
            <a:r>
              <a:rPr sz="1388" b="0">
                <a:solidFill>
                  <a:srgbClr val="6E747A"/>
                </a:solidFill>
                <a:latin typeface="SimHei"/>
                <a:ea typeface="SimHei"/>
                <a:cs typeface="SimHei"/>
              </a:rPr>
              <a:t>学习辅助搜索：</a:t>
            </a:r>
            <a:r>
              <a:rPr sz="1388" b="0">
                <a:solidFill>
                  <a:srgbClr val="6E747A"/>
                </a:solidFill>
                <a:latin typeface="Times New Roman"/>
                <a:ea typeface="Times New Roman"/>
                <a:cs typeface="Times New Roman"/>
              </a:rPr>
              <a:t>Q</a:t>
            </a:r>
            <a:r>
              <a:rPr sz="1388" b="0">
                <a:solidFill>
                  <a:srgbClr val="6E747A"/>
                </a:solidFill>
                <a:latin typeface="SimHei"/>
                <a:ea typeface="SimHei"/>
                <a:cs typeface="SimHei"/>
              </a:rPr>
              <a:t>学习调节遗传算法或粒子群参数，归入元启发式</a:t>
            </a:r>
            <a:r>
              <a:rPr sz="1388" b="0">
                <a:solidFill>
                  <a:srgbClr val="6E747A"/>
                </a:solidFill>
                <a:latin typeface="Times New Roman"/>
                <a:ea typeface="Times New Roman"/>
                <a:cs typeface="Times New Roman"/>
              </a:rPr>
              <a:t>[18,19]</a:t>
            </a:r>
            <a:r>
              <a:rPr sz="1388" b="0">
                <a:solidFill>
                  <a:srgbClr val="6E747A"/>
                </a:solidFill>
                <a:latin typeface="SimHei"/>
                <a:ea typeface="SimHei"/>
                <a:cs typeface="SimHei"/>
              </a:rPr>
              <a:t>。</a:t>
            </a:r>
          </a:p>
        </p:txBody>
      </p:sp>
      <p:sp>
        <p:nvSpPr>
          <p:cNvPr id="58" name="rl-design-dimensions">
            <a:extLst xmlns:a="http://schemas.openxmlformats.org/drawingml/2006/main">
              <a:ext uri="{FF2B5EF4-FFF2-40B4-BE49-F238E27FC236}">
                <a16:creationId xmlns:a16="http://schemas.microsoft.com/office/drawing/2014/main" id="{052B2D8D-74E0-4647-9794-EEA63DC6D66A}"/>
              </a:ext>
            </a:extLst>
          </p:cNvPr>
          <p:cNvSpPr>
            <a:spLocks xmlns:a="http://schemas.openxmlformats.org/drawingml/2006/main" noGrp="1"/>
          </p:cNvSpPr>
          <p:nvPr/>
        </p:nvSpPr>
        <p:spPr>
          <a:xfrm xmlns:a="http://schemas.openxmlformats.org/drawingml/2006/main">
            <a:off x="609600" y="5686425"/>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0">
                <a:solidFill>
                  <a:srgbClr val="6E747A"/>
                </a:solidFill>
              </a:defRPr>
            </a:defPPr>
          </a:lstStyle>
          <a:p xmlns:a="http://schemas.openxmlformats.org/drawingml/2006/main">
            <a:pPr algn="l">
              <a:lnSpc>
                <a:spcPct val="108000"/>
              </a:lnSpc>
              <a:spcBef>
                <a:spcPts val="0"/>
              </a:spcBef>
              <a:spcAft>
                <a:spcPts val="0"/>
              </a:spcAft>
              <a:buNone/>
              <a:defRPr sz="1388" b="0">
                <a:solidFill>
                  <a:srgbClr val="6E747A"/>
                </a:solidFill>
              </a:defRPr>
            </a:pPr>
            <a:r>
              <a:rPr sz="1388" b="0">
                <a:solidFill>
                  <a:srgbClr val="6E747A"/>
                </a:solidFill>
                <a:latin typeface="SimHei"/>
                <a:ea typeface="SimHei"/>
                <a:cs typeface="SimHei"/>
              </a:rPr>
              <a:t>强化学习通过奖励反馈训练策略，图编码与单／多智能体分别说明状态表示与决策组织。</a:t>
            </a:r>
          </a:p>
        </p:txBody>
      </p:sp>
      <p:cxnSp>
        <p:nvCxnSpPr>
          <p:cNvPr id="59" name="summary-rule">
            <a:extLst xmlns:a="http://schemas.openxmlformats.org/drawingml/2006/main">
              <a:ext uri="{FF2B5EF4-FFF2-40B4-BE49-F238E27FC236}">
                <a16:creationId xmlns:a16="http://schemas.microsoft.com/office/drawing/2014/main" id="{5B92E8FC-33C0-4BBF-947E-45D5BCC54205}"/>
              </a:ext>
            </a:extLst>
          </p:cNvPr>
          <p:cNvCxnSpPr/>
          <p:nvPr/>
        </p:nvCxnSpPr>
        <p:spPr>
          <a:xfrm xmlns:a="http://schemas.openxmlformats.org/drawingml/2006/main" flipH="0" flipV="0">
            <a:off x="571500" y="6000750"/>
            <a:ext cx="11049000" cy="0"/>
          </a:xfrm>
          <a:prstGeom xmlns:a="http://schemas.openxmlformats.org/drawingml/2006/main" prst="straightConnector1">
            <a:avLst/>
          </a:prstGeom>
          <a:ln xmlns:a="http://schemas.openxmlformats.org/drawingml/2006/main" w="10478">
            <a:solidFill>
              <a:srgbClr val="CDD7E8"/>
            </a:solidFill>
            <a:prstDash val="solid"/>
          </a:ln>
        </p:spPr>
      </p:cxnSp>
      <p:sp>
        <p:nvSpPr>
          <p:cNvPr id="60" name="summary">
            <a:extLst xmlns:a="http://schemas.openxmlformats.org/drawingml/2006/main">
              <a:ext uri="{FF2B5EF4-FFF2-40B4-BE49-F238E27FC236}">
                <a16:creationId xmlns:a16="http://schemas.microsoft.com/office/drawing/2014/main" id="{90023A07-1072-4AA5-AABB-C50B7560CDD0}"/>
              </a:ext>
            </a:extLst>
          </p:cNvPr>
          <p:cNvSpPr>
            <a:spLocks xmlns:a="http://schemas.openxmlformats.org/drawingml/2006/main" noGrp="1"/>
          </p:cNvSpPr>
          <p:nvPr/>
        </p:nvSpPr>
        <p:spPr>
          <a:xfrm xmlns:a="http://schemas.openxmlformats.org/drawingml/2006/main">
            <a:off x="619125" y="6067425"/>
            <a:ext cx="1095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111111"/>
                </a:solidFill>
              </a:defRPr>
            </a:defPPr>
          </a:lstStyle>
          <a:p xmlns:a="http://schemas.openxmlformats.org/drawingml/2006/main">
            <a:pPr algn="l">
              <a:lnSpc>
                <a:spcPct val="108000"/>
              </a:lnSpc>
              <a:spcBef>
                <a:spcPts val="0"/>
              </a:spcBef>
              <a:spcAft>
                <a:spcPts val="0"/>
              </a:spcAft>
              <a:buNone/>
              <a:defRPr sz="1688" b="1">
                <a:solidFill>
                  <a:srgbClr val="111111"/>
                </a:solidFill>
              </a:defRPr>
            </a:pPr>
            <a:r>
              <a:rPr sz="1688" b="1">
                <a:solidFill>
                  <a:srgbClr val="111111"/>
                </a:solidFill>
                <a:latin typeface="SimHei"/>
                <a:ea typeface="SimHei"/>
                <a:cs typeface="SimHei"/>
              </a:rPr>
              <a:t>强化学习将反复的调度选择建模为序贯决策，</a:t>
            </a:r>
          </a:p>
          <a:p xmlns:a="http://schemas.openxmlformats.org/drawingml/2006/main">
            <a:pPr algn="l">
              <a:lnSpc>
                <a:spcPct val="108000"/>
              </a:lnSpc>
              <a:spcBef>
                <a:spcPts val="0"/>
              </a:spcBef>
              <a:spcAft>
                <a:spcPts val="0"/>
              </a:spcAft>
              <a:buNone/>
              <a:defRPr sz="1688" b="1">
                <a:solidFill>
                  <a:srgbClr val="111111"/>
                </a:solidFill>
              </a:defRPr>
            </a:pPr>
            <a:r>
              <a:rPr sz="1688" b="1">
                <a:solidFill>
                  <a:srgbClr val="111111"/>
                </a:solidFill>
                <a:latin typeface="SimHei"/>
                <a:ea typeface="SimHei"/>
                <a:cs typeface="SimHei"/>
              </a:rPr>
              <a:t>其状态、动作与执行约束仍需适配飞机装配问题。</a:t>
            </a:r>
          </a:p>
        </p:txBody>
      </p:sp>
      <p:sp>
        <p:nvSpPr>
          <p:cNvPr id="61" name="survey-source">
            <a:extLst xmlns:a="http://schemas.openxmlformats.org/drawingml/2006/main">
              <a:ext uri="{FF2B5EF4-FFF2-40B4-BE49-F238E27FC236}">
                <a16:creationId xmlns:a16="http://schemas.microsoft.com/office/drawing/2014/main" id="{C3027540-A91C-4329-A628-CC77C769458E}"/>
              </a:ext>
            </a:extLst>
          </p:cNvPr>
          <p:cNvSpPr>
            <a:spLocks xmlns:a="http://schemas.openxmlformats.org/drawingml/2006/main" noGrp="1"/>
          </p:cNvSpPr>
          <p:nvPr/>
        </p:nvSpPr>
        <p:spPr>
          <a:xfrm xmlns:a="http://schemas.openxmlformats.org/drawingml/2006/main">
            <a:off x="619125" y="659130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6E747A"/>
                </a:solidFill>
              </a:defRPr>
            </a:defPPr>
          </a:lstStyle>
          <a:p xmlns:a="http://schemas.openxmlformats.org/drawingml/2006/main">
            <a:pPr algn="l">
              <a:lnSpc>
                <a:spcPct val="108000"/>
              </a:lnSpc>
              <a:spcBef>
                <a:spcPts val="0"/>
              </a:spcBef>
              <a:spcAft>
                <a:spcPts val="0"/>
              </a:spcAft>
              <a:buNone/>
              <a:defRPr sz="1163" b="0">
                <a:solidFill>
                  <a:srgbClr val="6E747A"/>
                </a:solidFill>
              </a:defRPr>
            </a:pPr>
            <a:r>
              <a:rPr sz="1163" b="0">
                <a:solidFill>
                  <a:srgbClr val="6E747A"/>
                </a:solidFill>
                <a:latin typeface="SimHei"/>
                <a:ea typeface="SimHei"/>
                <a:cs typeface="SimHei"/>
              </a:rPr>
              <a:t>综述依据：</a:t>
            </a:r>
            <a:r>
              <a:rPr sz="1163" b="0">
                <a:solidFill>
                  <a:srgbClr val="6E747A"/>
                </a:solidFill>
                <a:latin typeface="Times New Roman"/>
                <a:ea typeface="Times New Roman"/>
                <a:cs typeface="Times New Roman"/>
              </a:rPr>
              <a:t>Waubert de Puiseau</a:t>
            </a:r>
            <a:r>
              <a:rPr sz="1163" b="0">
                <a:solidFill>
                  <a:srgbClr val="6E747A"/>
                </a:solidFill>
                <a:latin typeface="SimHei"/>
                <a:ea typeface="SimHei"/>
                <a:cs typeface="SimHei"/>
              </a:rPr>
              <a:t>等</a:t>
            </a:r>
            <a:r>
              <a:rPr sz="1163" b="0">
                <a:solidFill>
                  <a:srgbClr val="6E747A"/>
                </a:solidFill>
                <a:latin typeface="Times New Roman"/>
                <a:ea typeface="Times New Roman"/>
                <a:cs typeface="Times New Roman"/>
              </a:rPr>
              <a:t>[25]</a:t>
            </a:r>
            <a:r>
              <a:rPr sz="1163" b="0">
                <a:solidFill>
                  <a:srgbClr val="6E747A"/>
                </a:solidFill>
                <a:latin typeface="SimHei"/>
                <a:ea typeface="SimHei"/>
                <a:cs typeface="SimHei"/>
              </a:rPr>
              <a:t>。</a:t>
            </a:r>
          </a:p>
        </p:txBody>
      </p:sp>
    </p:spTree>
    <p:extLst>
      <p:ext uri="{BB962C8B-B14F-4D97-AF65-F5344CB8AC3E}">
        <p14:creationId xmlns:p14="http://schemas.microsoft.com/office/powerpoint/2010/main" val="17623417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1" name="">
            <a:extLst xmlns:a="http://schemas.openxmlformats.org/drawingml/2006/main">
              <a:ext uri="{FF2B5EF4-FFF2-40B4-BE49-F238E27FC236}">
                <a16:creationId xmlns:a16="http://schemas.microsoft.com/office/drawing/2014/main" id="{A936102D-B7F0-4629-BA6C-7BA126AE28AF}"/>
              </a:ext>
            </a:extLst>
          </p:cNvPr>
          <p:cNvCxnSpPr>
            <a:stCxn xmlns:a="http://schemas.openxmlformats.org/drawingml/2006/main" id="66" idx="4"/>
            <a:endCxn xmlns:a="http://schemas.openxmlformats.org/drawingml/2006/main" id="68" idx="2"/>
          </p:cNvCxnSpPr>
          <p:nvPr/>
        </p:nvCxnSpPr>
        <p:spPr>
          <a:xfrm xmlns:a="http://schemas.openxmlformats.org/drawingml/2006/main">
            <a:off x="4486275" y="5276850"/>
            <a:ext cx="304800" cy="390525"/>
          </a:xfrm>
          <a:prstGeom xmlns:a="http://schemas.openxmlformats.org/drawingml/2006/main" prst="straightConnector1">
            <a:avLst/>
          </a:prstGeom>
          <a:ln xmlns:a="http://schemas.openxmlformats.org/drawingml/2006/main" w="12383">
            <a:solidFill>
              <a:srgbClr val="4674CD"/>
            </a:solidFill>
            <a:prstDash val="solid"/>
          </a:ln>
        </p:spPr>
      </p:cxnSp>
      <p:cxnSp>
        <p:nvCxnSpPr>
          <p:cNvPr id="70" name="">
            <a:extLst xmlns:a="http://schemas.openxmlformats.org/drawingml/2006/main">
              <a:ext uri="{FF2B5EF4-FFF2-40B4-BE49-F238E27FC236}">
                <a16:creationId xmlns:a16="http://schemas.microsoft.com/office/drawing/2014/main" id="{ABC7B6B6-B2C6-4D07-9189-212BC957E4AA}"/>
              </a:ext>
            </a:extLst>
          </p:cNvPr>
          <p:cNvCxnSpPr>
            <a:stCxn xmlns:a="http://schemas.openxmlformats.org/drawingml/2006/main" id="67" idx="2"/>
            <a:endCxn xmlns:a="http://schemas.openxmlformats.org/drawingml/2006/main" id="68" idx="6"/>
          </p:cNvCxnSpPr>
          <p:nvPr/>
        </p:nvCxnSpPr>
        <p:spPr>
          <a:xfrm xmlns:a="http://schemas.openxmlformats.org/drawingml/2006/main" flipH="1">
            <a:off x="5229225" y="5276850"/>
            <a:ext cx="304800" cy="390525"/>
          </a:xfrm>
          <a:prstGeom xmlns:a="http://schemas.openxmlformats.org/drawingml/2006/main" prst="straightConnector1">
            <a:avLst/>
          </a:prstGeom>
          <a:ln xmlns:a="http://schemas.openxmlformats.org/drawingml/2006/main" w="12383">
            <a:solidFill>
              <a:srgbClr val="4674CD"/>
            </a:solidFill>
            <a:prstDash val="solid"/>
          </a:ln>
        </p:spPr>
      </p:cxnSp>
      <p:cxnSp>
        <p:nvCxnSpPr>
          <p:cNvPr id="69" name="">
            <a:extLst xmlns:a="http://schemas.openxmlformats.org/drawingml/2006/main">
              <a:ext uri="{FF2B5EF4-FFF2-40B4-BE49-F238E27FC236}">
                <a16:creationId xmlns:a16="http://schemas.microsoft.com/office/drawing/2014/main" id="{77ADC27F-77B1-43F3-9FA0-525A7CD7ECB8}"/>
              </a:ext>
            </a:extLst>
          </p:cNvPr>
          <p:cNvCxnSpPr>
            <a:stCxn xmlns:a="http://schemas.openxmlformats.org/drawingml/2006/main" id="66" idx="6"/>
            <a:endCxn xmlns:a="http://schemas.openxmlformats.org/drawingml/2006/main" id="67" idx="1"/>
          </p:cNvCxnSpPr>
          <p:nvPr/>
        </p:nvCxnSpPr>
        <p:spPr>
          <a:xfrm xmlns:a="http://schemas.openxmlformats.org/drawingml/2006/main">
            <a:off x="4705350" y="5086350"/>
            <a:ext cx="609600" cy="0"/>
          </a:xfrm>
          <a:prstGeom xmlns:a="http://schemas.openxmlformats.org/drawingml/2006/main" prst="straightConnector1">
            <a:avLst/>
          </a:prstGeom>
          <a:ln xmlns:a="http://schemas.openxmlformats.org/drawingml/2006/main" w="12383">
            <a:solidFill>
              <a:srgbClr val="4674CD"/>
            </a:solidFill>
            <a:prstDash val="solid"/>
          </a:ln>
        </p:spPr>
      </p:cxnSp>
      <p:cxnSp>
        <p:nvCxnSpPr>
          <p:cNvPr id="63" name="">
            <a:extLst xmlns:a="http://schemas.openxmlformats.org/drawingml/2006/main">
              <a:ext uri="{FF2B5EF4-FFF2-40B4-BE49-F238E27FC236}">
                <a16:creationId xmlns:a16="http://schemas.microsoft.com/office/drawing/2014/main" id="{D71B6F69-9562-48EB-A665-7DAFD44BC025}"/>
              </a:ext>
            </a:extLst>
          </p:cNvPr>
          <p:cNvCxnSpPr>
            <a:stCxn xmlns:a="http://schemas.openxmlformats.org/drawingml/2006/main" id="58" idx="4"/>
            <a:endCxn xmlns:a="http://schemas.openxmlformats.org/drawingml/2006/main" id="60" idx="2"/>
          </p:cNvCxnSpPr>
          <p:nvPr/>
        </p:nvCxnSpPr>
        <p:spPr>
          <a:xfrm xmlns:a="http://schemas.openxmlformats.org/drawingml/2006/main">
            <a:off x="2409825" y="5276850"/>
            <a:ext cx="295275" cy="390525"/>
          </a:xfrm>
          <a:prstGeom xmlns:a="http://schemas.openxmlformats.org/drawingml/2006/main" prst="straightConnector1">
            <a:avLst/>
          </a:prstGeom>
          <a:ln xmlns:a="http://schemas.openxmlformats.org/drawingml/2006/main" w="12383">
            <a:solidFill>
              <a:srgbClr val="4674CD"/>
            </a:solidFill>
            <a:prstDash val="solid"/>
          </a:ln>
        </p:spPr>
      </p:cxnSp>
      <p:cxnSp>
        <p:nvCxnSpPr>
          <p:cNvPr id="62" name="">
            <a:extLst xmlns:a="http://schemas.openxmlformats.org/drawingml/2006/main">
              <a:ext uri="{FF2B5EF4-FFF2-40B4-BE49-F238E27FC236}">
                <a16:creationId xmlns:a16="http://schemas.microsoft.com/office/drawing/2014/main" id="{FD626044-C36A-48FD-BE22-566AC1578FCA}"/>
              </a:ext>
            </a:extLst>
          </p:cNvPr>
          <p:cNvCxnSpPr>
            <a:stCxn xmlns:a="http://schemas.openxmlformats.org/drawingml/2006/main" id="59" idx="4"/>
            <a:endCxn xmlns:a="http://schemas.openxmlformats.org/drawingml/2006/main" id="60" idx="6"/>
          </p:cNvCxnSpPr>
          <p:nvPr/>
        </p:nvCxnSpPr>
        <p:spPr>
          <a:xfrm xmlns:a="http://schemas.openxmlformats.org/drawingml/2006/main" flipH="1">
            <a:off x="3143250" y="5276850"/>
            <a:ext cx="295275" cy="390525"/>
          </a:xfrm>
          <a:prstGeom xmlns:a="http://schemas.openxmlformats.org/drawingml/2006/main" prst="straightConnector1">
            <a:avLst/>
          </a:prstGeom>
          <a:ln xmlns:a="http://schemas.openxmlformats.org/drawingml/2006/main" w="12383">
            <a:solidFill>
              <a:srgbClr val="4674CD"/>
            </a:solidFill>
            <a:prstDash val="solid"/>
          </a:ln>
        </p:spPr>
      </p:cxnSp>
      <p:cxnSp>
        <p:nvCxnSpPr>
          <p:cNvPr id="61" name="">
            <a:extLst xmlns:a="http://schemas.openxmlformats.org/drawingml/2006/main">
              <a:ext uri="{FF2B5EF4-FFF2-40B4-BE49-F238E27FC236}">
                <a16:creationId xmlns:a16="http://schemas.microsoft.com/office/drawing/2014/main" id="{1BD89A25-BFAF-4DBF-A216-F7F84E86902F}"/>
              </a:ext>
            </a:extLst>
          </p:cNvPr>
          <p:cNvCxnSpPr>
            <a:stCxn xmlns:a="http://schemas.openxmlformats.org/drawingml/2006/main" id="58" idx="6"/>
            <a:endCxn xmlns:a="http://schemas.openxmlformats.org/drawingml/2006/main" id="59" idx="2"/>
          </p:cNvCxnSpPr>
          <p:nvPr/>
        </p:nvCxnSpPr>
        <p:spPr>
          <a:xfrm xmlns:a="http://schemas.openxmlformats.org/drawingml/2006/main">
            <a:off x="2628900" y="5086350"/>
            <a:ext cx="590550" cy="0"/>
          </a:xfrm>
          <a:prstGeom xmlns:a="http://schemas.openxmlformats.org/drawingml/2006/main" prst="straightConnector1">
            <a:avLst/>
          </a:prstGeom>
          <a:ln xmlns:a="http://schemas.openxmlformats.org/drawingml/2006/main" w="12383">
            <a:solidFill>
              <a:srgbClr val="4674CD"/>
            </a:solidFill>
            <a:prstDash val="solid"/>
          </a:ln>
        </p:spPr>
      </p:cxnSp>
      <p:cxnSp>
        <p:nvCxnSpPr>
          <p:cNvPr id="50" name="">
            <a:extLst xmlns:a="http://schemas.openxmlformats.org/drawingml/2006/main">
              <a:ext uri="{FF2B5EF4-FFF2-40B4-BE49-F238E27FC236}">
                <a16:creationId xmlns:a16="http://schemas.microsoft.com/office/drawing/2014/main" id="{CA794B20-F1E8-45B3-915B-27AC51696355}"/>
              </a:ext>
            </a:extLst>
          </p:cNvPr>
          <p:cNvCxnSpPr>
            <a:stCxn xmlns:a="http://schemas.openxmlformats.org/drawingml/2006/main" id="48" idx="6"/>
            <a:endCxn xmlns:a="http://schemas.openxmlformats.org/drawingml/2006/main" id="49" idx="2"/>
          </p:cNvCxnSpPr>
          <p:nvPr/>
        </p:nvCxnSpPr>
        <p:spPr>
          <a:xfrm xmlns:a="http://schemas.openxmlformats.org/drawingml/2006/main">
            <a:off x="5133975" y="3719513"/>
            <a:ext cx="438150" cy="0"/>
          </a:xfrm>
          <a:prstGeom xmlns:a="http://schemas.openxmlformats.org/drawingml/2006/main" prst="straightConnector1">
            <a:avLst/>
          </a:prstGeom>
          <a:ln xmlns:a="http://schemas.openxmlformats.org/drawingml/2006/main" w="10478">
            <a:solidFill>
              <a:srgbClr val="4674CD"/>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765AF5F6-61B0-4D2D-A0FC-804C192D8FC7}"/>
              </a:ext>
            </a:extLst>
          </p:cNvPr>
          <p:cNvCxnSpPr>
            <a:stCxn xmlns:a="http://schemas.openxmlformats.org/drawingml/2006/main" id="42" idx="6"/>
            <a:endCxn xmlns:a="http://schemas.openxmlformats.org/drawingml/2006/main" id="43" idx="2"/>
          </p:cNvCxnSpPr>
          <p:nvPr/>
        </p:nvCxnSpPr>
        <p:spPr>
          <a:xfrm xmlns:a="http://schemas.openxmlformats.org/drawingml/2006/main">
            <a:off x="3771900" y="3719513"/>
            <a:ext cx="438150" cy="0"/>
          </a:xfrm>
          <a:prstGeom xmlns:a="http://schemas.openxmlformats.org/drawingml/2006/main" prst="straightConnector1">
            <a:avLst/>
          </a:prstGeom>
          <a:ln xmlns:a="http://schemas.openxmlformats.org/drawingml/2006/main" w="10478">
            <a:solidFill>
              <a:srgbClr val="4674CD"/>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0049580F-FE41-4F4D-B84E-28450DC07167}"/>
              </a:ext>
            </a:extLst>
          </p:cNvPr>
          <p:cNvCxnSpPr>
            <a:stCxn xmlns:a="http://schemas.openxmlformats.org/drawingml/2006/main" id="36" idx="6"/>
            <a:endCxn xmlns:a="http://schemas.openxmlformats.org/drawingml/2006/main" id="37" idx="2"/>
          </p:cNvCxnSpPr>
          <p:nvPr/>
        </p:nvCxnSpPr>
        <p:spPr>
          <a:xfrm xmlns:a="http://schemas.openxmlformats.org/drawingml/2006/main">
            <a:off x="2409825" y="3719513"/>
            <a:ext cx="438150" cy="0"/>
          </a:xfrm>
          <a:prstGeom xmlns:a="http://schemas.openxmlformats.org/drawingml/2006/main" prst="straightConnector1">
            <a:avLst/>
          </a:prstGeom>
          <a:ln xmlns:a="http://schemas.openxmlformats.org/drawingml/2006/main" w="10478">
            <a:solidFill>
              <a:srgbClr val="4674CD"/>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F679C000-7240-41BF-A5A4-1079DCA4E4EB}"/>
              </a:ext>
            </a:extLst>
          </p:cNvPr>
          <p:cNvCxnSpPr>
            <a:stCxn xmlns:a="http://schemas.openxmlformats.org/drawingml/2006/main" id="25" idx="4"/>
            <a:endCxn xmlns:a="http://schemas.openxmlformats.org/drawingml/2006/main" id="26" idx="0"/>
          </p:cNvCxnSpPr>
          <p:nvPr/>
        </p:nvCxnSpPr>
        <p:spPr>
          <a:xfrm xmlns:a="http://schemas.openxmlformats.org/drawingml/2006/main">
            <a:off x="5276850" y="2390775"/>
            <a:ext cx="485775" cy="114300"/>
          </a:xfrm>
          <a:prstGeom xmlns:a="http://schemas.openxmlformats.org/drawingml/2006/main" prst="straightConnector1">
            <a:avLst/>
          </a:prstGeom>
          <a:ln xmlns:a="http://schemas.openxmlformats.org/drawingml/2006/main" w="12383">
            <a:solidFill>
              <a:srgbClr val="4674CD"/>
            </a:solidFill>
            <a:prstDash val="solid"/>
          </a:ln>
        </p:spPr>
      </p:cxnSp>
      <p:cxnSp>
        <p:nvCxnSpPr>
          <p:cNvPr id="28" name="">
            <a:extLst xmlns:a="http://schemas.openxmlformats.org/drawingml/2006/main">
              <a:ext uri="{FF2B5EF4-FFF2-40B4-BE49-F238E27FC236}">
                <a16:creationId xmlns:a16="http://schemas.microsoft.com/office/drawing/2014/main" id="{1EF4E68E-7895-480C-8543-A1C3B19BDAA3}"/>
              </a:ext>
            </a:extLst>
          </p:cNvPr>
          <p:cNvCxnSpPr>
            <a:stCxn xmlns:a="http://schemas.openxmlformats.org/drawingml/2006/main" id="24" idx="4"/>
            <a:endCxn xmlns:a="http://schemas.openxmlformats.org/drawingml/2006/main" id="26" idx="1"/>
          </p:cNvCxnSpPr>
          <p:nvPr/>
        </p:nvCxnSpPr>
        <p:spPr>
          <a:xfrm xmlns:a="http://schemas.openxmlformats.org/drawingml/2006/main">
            <a:off x="4419600" y="2390775"/>
            <a:ext cx="1066800" cy="276225"/>
          </a:xfrm>
          <a:prstGeom xmlns:a="http://schemas.openxmlformats.org/drawingml/2006/main" prst="bentConnector3">
            <a:avLst>
              <a:gd name="adj1" fmla="val 0"/>
            </a:avLst>
          </a:prstGeom>
          <a:ln xmlns:a="http://schemas.openxmlformats.org/drawingml/2006/main" w="12383">
            <a:solidFill>
              <a:srgbClr val="4674CD"/>
            </a:solidFill>
            <a:prstDash val="solid"/>
          </a:ln>
        </p:spPr>
      </p:cxnSp>
      <p:cxnSp>
        <p:nvCxnSpPr>
          <p:cNvPr id="27" name="">
            <a:extLst xmlns:a="http://schemas.openxmlformats.org/drawingml/2006/main">
              <a:ext uri="{FF2B5EF4-FFF2-40B4-BE49-F238E27FC236}">
                <a16:creationId xmlns:a16="http://schemas.microsoft.com/office/drawing/2014/main" id="{05A21EA9-8A82-41B2-AC72-025579C6B031}"/>
              </a:ext>
            </a:extLst>
          </p:cNvPr>
          <p:cNvCxnSpPr>
            <a:stCxn xmlns:a="http://schemas.openxmlformats.org/drawingml/2006/main" id="24" idx="6"/>
            <a:endCxn xmlns:a="http://schemas.openxmlformats.org/drawingml/2006/main" id="25" idx="2"/>
          </p:cNvCxnSpPr>
          <p:nvPr/>
        </p:nvCxnSpPr>
        <p:spPr>
          <a:xfrm xmlns:a="http://schemas.openxmlformats.org/drawingml/2006/main">
            <a:off x="4638675" y="2190750"/>
            <a:ext cx="419100" cy="0"/>
          </a:xfrm>
          <a:prstGeom xmlns:a="http://schemas.openxmlformats.org/drawingml/2006/main" prst="straightConnector1">
            <a:avLst/>
          </a:prstGeom>
          <a:ln xmlns:a="http://schemas.openxmlformats.org/drawingml/2006/main" w="12383">
            <a:solidFill>
              <a:srgbClr val="4674CD"/>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D5514D11-C205-4D6C-A523-A07A40CA8005}"/>
              </a:ext>
            </a:extLst>
          </p:cNvPr>
          <p:cNvCxnSpPr>
            <a:stCxn xmlns:a="http://schemas.openxmlformats.org/drawingml/2006/main" id="18" idx="4"/>
            <a:endCxn xmlns:a="http://schemas.openxmlformats.org/drawingml/2006/main" id="19" idx="0"/>
          </p:cNvCxnSpPr>
          <p:nvPr/>
        </p:nvCxnSpPr>
        <p:spPr>
          <a:xfrm xmlns:a="http://schemas.openxmlformats.org/drawingml/2006/main">
            <a:off x="3171825" y="2409825"/>
            <a:ext cx="0" cy="85725"/>
          </a:xfrm>
          <a:prstGeom xmlns:a="http://schemas.openxmlformats.org/drawingml/2006/main" prst="straightConnector1">
            <a:avLst/>
          </a:prstGeom>
          <a:ln xmlns:a="http://schemas.openxmlformats.org/drawingml/2006/main" w="12383">
            <a:solidFill>
              <a:srgbClr val="4674CD"/>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90199DF3-D5FF-44BB-97C0-5C3FC02D3FE7}"/>
              </a:ext>
            </a:extLst>
          </p:cNvPr>
          <p:cNvCxnSpPr>
            <a:stCxn xmlns:a="http://schemas.openxmlformats.org/drawingml/2006/main" id="17" idx="6"/>
            <a:endCxn xmlns:a="http://schemas.openxmlformats.org/drawingml/2006/main" id="18" idx="2"/>
          </p:cNvCxnSpPr>
          <p:nvPr/>
        </p:nvCxnSpPr>
        <p:spPr>
          <a:xfrm xmlns:a="http://schemas.openxmlformats.org/drawingml/2006/main">
            <a:off x="2571750" y="2200275"/>
            <a:ext cx="390525" cy="0"/>
          </a:xfrm>
          <a:prstGeom xmlns:a="http://schemas.openxmlformats.org/drawingml/2006/main" prst="straightConnector1">
            <a:avLst/>
          </a:prstGeom>
          <a:ln xmlns:a="http://schemas.openxmlformats.org/drawingml/2006/main" w="12383">
            <a:solidFill>
              <a:srgbClr val="4674CD"/>
            </a:solidFill>
            <a:prstDash val="solid"/>
            <a:tailEnd type="triangle" w="sm" len="sm"/>
          </a:ln>
        </p:spPr>
      </p:cxnSp>
      <p:sp>
        <p:nvSpPr>
          <p:cNvPr id="5"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Times New Roman"/>
              <a:ea typeface="Times New Roman"/>
              <a:cs typeface="Times New Roman"/>
            </a:endParaRPr>
          </a:p>
        </p:txBody>
      </p:sp>
      <p:pic>
        <p:nvPicPr>
          <p:cNvPr id="6" name="同济校标">
            <a:extLst xmlns:a="http://schemas.openxmlformats.org/drawingml/2006/main">
              <a:ext uri="{FF2B5EF4-FFF2-40B4-BE49-F238E27FC236}">
                <a16:creationId xmlns:a16="http://schemas.microsoft.com/office/drawing/2014/main" id="{C7BE2D62-755F-40CF-A057-0922DAFC2DD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79b4ff7854946d4"/>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7"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Times New Roman"/>
                <a:ea typeface="Times New Roman"/>
                <a:cs typeface="Times New Roman"/>
              </a:defRPr>
            </a:lvl1pPr>
            <a:lvl2pPr algn="ctr">
              <a:buNone/>
              <a:defRPr sz="4000">
                <a:latin typeface="Times New Roman"/>
                <a:ea typeface="Times New Roman"/>
                <a:cs typeface="Times New Roman"/>
              </a:defRPr>
            </a:lvl2pPr>
            <a:lvl3pPr algn="ctr">
              <a:buNone/>
              <a:defRPr sz="4000">
                <a:latin typeface="Times New Roman"/>
                <a:ea typeface="Times New Roman"/>
                <a:cs typeface="Times New Roman"/>
              </a:defRPr>
            </a:lvl3pPr>
            <a:lvl4pPr algn="ctr">
              <a:buNone/>
              <a:defRPr sz="4000">
                <a:latin typeface="Times New Roman"/>
                <a:ea typeface="Times New Roman"/>
                <a:cs typeface="Times New Roman"/>
              </a:defRPr>
            </a:lvl4pPr>
            <a:lvl5pPr algn="ctr">
              <a:buNone/>
              <a:defRPr sz="4000">
                <a:latin typeface="Times New Roman"/>
                <a:ea typeface="Times New Roman"/>
                <a:cs typeface="Times New Roman"/>
              </a:defRPr>
            </a:lvl5pPr>
            <a:lvl6pPr marL="457200" algn="ctr">
              <a:spcBef>
                <a:spcPct val="0"/>
              </a:spcBef>
              <a:spcAft>
                <a:spcPct val="0"/>
              </a:spcAft>
              <a:buNone/>
              <a:defRPr sz="4000">
                <a:latin typeface="Times New Roman"/>
                <a:ea typeface="Times New Roman"/>
                <a:cs typeface="Times New Roman"/>
              </a:defRPr>
            </a:lvl6pPr>
            <a:lvl7pPr marL="914400" algn="ctr">
              <a:spcBef>
                <a:spcPct val="0"/>
              </a:spcBef>
              <a:spcAft>
                <a:spcPct val="0"/>
              </a:spcAft>
              <a:buNone/>
              <a:defRPr sz="4000">
                <a:latin typeface="Times New Roman"/>
                <a:ea typeface="Times New Roman"/>
                <a:cs typeface="Times New Roman"/>
              </a:defRPr>
            </a:lvl7pPr>
            <a:lvl8pPr marL="1371600" algn="ctr">
              <a:spcBef>
                <a:spcPct val="0"/>
              </a:spcBef>
              <a:spcAft>
                <a:spcPct val="0"/>
              </a:spcAft>
              <a:buNone/>
              <a:defRPr sz="4000">
                <a:latin typeface="Times New Roman"/>
                <a:ea typeface="Times New Roman"/>
                <a:cs typeface="Times New Roman"/>
              </a:defRPr>
            </a:lvl8pPr>
            <a:lvl9pPr marL="1828800" algn="ctr">
              <a:spcBef>
                <a:spcPct val="0"/>
              </a:spcBef>
              <a:spcAft>
                <a:spcPct val="0"/>
              </a:spcAft>
              <a:buNone/>
              <a:defRPr sz="4000">
                <a:latin typeface="Times New Roman"/>
                <a:ea typeface="Times New Roman"/>
                <a:cs typeface="Times New Roman"/>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2 </a:t>
            </a:r>
            <a:r>
              <a:rPr sz="3200" b="1">
                <a:solidFill>
                  <a:srgbClr val="4674CD"/>
                </a:solidFill>
                <a:latin typeface="SimHei"/>
                <a:ea typeface="SimHei"/>
                <a:cs typeface="SimHei"/>
              </a:rPr>
              <a:t>文献综述</a:t>
            </a:r>
          </a:p>
        </p:txBody>
      </p:sp>
      <p:sp>
        <p:nvSpPr>
          <p:cNvPr id="8"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Times New Roman"/>
                <a:ea typeface="Times New Roman"/>
                <a:cs typeface="Times New Roman"/>
              </a:defRPr>
            </a:defPPr>
          </a:lstStyle>
          <a:p xmlns:a="http://schemas.openxmlformats.org/drawingml/2006/main">
            <a:pPr algn="l">
              <a:lnSpc>
                <a:spcPct val="100000"/>
              </a:lnSpc>
              <a:spcBef>
                <a:spcPts val="0"/>
              </a:spcBef>
              <a:spcAft>
                <a:spcPts val="0"/>
              </a:spcAft>
              <a:buNone/>
              <a:defRPr sz="2400" b="1">
                <a:solidFill>
                  <a:srgbClr val="315CA9"/>
                </a:solidFill>
                <a:latin typeface="Times New Roman"/>
                <a:ea typeface="Times New Roman"/>
                <a:cs typeface="Times New Roman"/>
              </a:defRPr>
            </a:pPr>
            <a:r>
              <a:rPr sz="2400" b="1">
                <a:solidFill>
                  <a:srgbClr val="315CA9"/>
                </a:solidFill>
                <a:latin typeface="SimHei"/>
                <a:ea typeface="SimHei"/>
                <a:cs typeface="SimHei"/>
              </a:rPr>
              <a:t>图强化学习与动态状态表示</a:t>
            </a:r>
          </a:p>
        </p:txBody>
      </p:sp>
      <p:sp>
        <p:nvSpPr>
          <p:cNvPr id="9"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Times New Roman"/>
                <a:ea typeface="Times New Roman"/>
                <a:cs typeface="Times New Roman"/>
              </a:defRPr>
            </a:defPPr>
          </a:lstStyle>
          <a:p xmlns:a="http://schemas.openxmlformats.org/drawingml/2006/main">
            <a:pPr algn="r">
              <a:buNone/>
              <a:defRPr sz="1350" b="0">
                <a:solidFill>
                  <a:srgbClr val="000000"/>
                </a:solidFill>
                <a:latin typeface="Times New Roman"/>
                <a:ea typeface="Times New Roman"/>
                <a:cs typeface="Times New Roman"/>
              </a:defRPr>
            </a:pPr>
            <a:r>
              <a:rPr sz="1200" b="0">
                <a:solidFill>
                  <a:srgbClr val="666666"/>
                </a:solidFill>
                <a:latin typeface="Times New Roman"/>
                <a:ea typeface="Times New Roman"/>
                <a:cs typeface="Times New Roman"/>
              </a:rPr>
              <a:t>07</a:t>
            </a:r>
          </a:p>
        </p:txBody>
      </p:sp>
      <p:sp>
        <p:nvSpPr>
          <p:cNvPr id="10" name="overview">
            <a:extLst xmlns:a="http://schemas.openxmlformats.org/drawingml/2006/main">
              <a:ext uri="{FF2B5EF4-FFF2-40B4-BE49-F238E27FC236}">
                <a16:creationId xmlns:a16="http://schemas.microsoft.com/office/drawing/2014/main" id="{FC67E811-A922-4C10-8701-74C251245F04}"/>
              </a:ext>
            </a:extLst>
          </p:cNvPr>
          <p:cNvSpPr>
            <a:spLocks xmlns:a="http://schemas.openxmlformats.org/drawingml/2006/main" noGrp="1"/>
          </p:cNvSpPr>
          <p:nvPr/>
        </p:nvSpPr>
        <p:spPr>
          <a:xfrm xmlns:a="http://schemas.openxmlformats.org/drawingml/2006/main">
            <a:off x="571500" y="12001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6E747A"/>
                </a:solidFill>
              </a:defRPr>
            </a:defPPr>
          </a:lstStyle>
          <a:p xmlns:a="http://schemas.openxmlformats.org/drawingml/2006/main">
            <a:pPr algn="l">
              <a:lnSpc>
                <a:spcPct val="108000"/>
              </a:lnSpc>
              <a:spcBef>
                <a:spcPts val="0"/>
              </a:spcBef>
              <a:spcAft>
                <a:spcPts val="0"/>
              </a:spcAft>
              <a:buNone/>
              <a:defRPr sz="1613" b="0">
                <a:solidFill>
                  <a:srgbClr val="6E747A"/>
                </a:solidFill>
              </a:defRPr>
            </a:pPr>
            <a:r>
              <a:rPr sz="1613" b="0">
                <a:solidFill>
                  <a:srgbClr val="6E747A"/>
                </a:solidFill>
                <a:latin typeface="SimHei"/>
                <a:ea typeface="SimHei"/>
                <a:cs typeface="SimHei"/>
              </a:rPr>
              <a:t>比较生产信息的内容、组织方式及其在调度策略中的作用。</a:t>
            </a:r>
          </a:p>
        </p:txBody>
      </p:sp>
      <p:cxnSp>
        <p:nvCxnSpPr>
          <p:cNvPr id="11" name="topic-separator-1">
            <a:extLst xmlns:a="http://schemas.openxmlformats.org/drawingml/2006/main">
              <a:ext uri="{FF2B5EF4-FFF2-40B4-BE49-F238E27FC236}">
                <a16:creationId xmlns:a16="http://schemas.microsoft.com/office/drawing/2014/main" id="{0DD36175-D3AA-425C-A946-2A6FD4429F42}"/>
              </a:ext>
            </a:extLst>
          </p:cNvPr>
          <p:cNvCxnSpPr/>
          <p:nvPr/>
        </p:nvCxnSpPr>
        <p:spPr>
          <a:xfrm xmlns:a="http://schemas.openxmlformats.org/drawingml/2006/main" flipH="0" flipV="0">
            <a:off x="590550" y="2914650"/>
            <a:ext cx="11029950" cy="0"/>
          </a:xfrm>
          <a:prstGeom xmlns:a="http://schemas.openxmlformats.org/drawingml/2006/main" prst="straightConnector1">
            <a:avLst/>
          </a:prstGeom>
          <a:ln xmlns:a="http://schemas.openxmlformats.org/drawingml/2006/main" w="9525">
            <a:solidFill>
              <a:srgbClr val="CDD7E8"/>
            </a:solidFill>
            <a:prstDash val="solid"/>
          </a:ln>
        </p:spPr>
      </p:cxnSp>
      <p:cxnSp>
        <p:nvCxnSpPr>
          <p:cNvPr id="12" name="topic-separator-2">
            <a:extLst xmlns:a="http://schemas.openxmlformats.org/drawingml/2006/main">
              <a:ext uri="{FF2B5EF4-FFF2-40B4-BE49-F238E27FC236}">
                <a16:creationId xmlns:a16="http://schemas.microsoft.com/office/drawing/2014/main" id="{CBE7FAB6-0447-4569-9695-28CF6896E1DD}"/>
              </a:ext>
            </a:extLst>
          </p:cNvPr>
          <p:cNvCxnSpPr/>
          <p:nvPr/>
        </p:nvCxnSpPr>
        <p:spPr>
          <a:xfrm xmlns:a="http://schemas.openxmlformats.org/drawingml/2006/main" flipH="0" flipV="0">
            <a:off x="590550" y="4419600"/>
            <a:ext cx="11029950" cy="0"/>
          </a:xfrm>
          <a:prstGeom xmlns:a="http://schemas.openxmlformats.org/drawingml/2006/main" prst="straightConnector1">
            <a:avLst/>
          </a:prstGeom>
          <a:ln xmlns:a="http://schemas.openxmlformats.org/drawingml/2006/main" w="9525">
            <a:solidFill>
              <a:srgbClr val="CDD7E8"/>
            </a:solidFill>
            <a:prstDash val="solid"/>
          </a:ln>
        </p:spPr>
      </p:cxnSp>
      <p:sp>
        <p:nvSpPr>
          <p:cNvPr id="13" name="relation-topic">
            <a:extLst xmlns:a="http://schemas.openxmlformats.org/drawingml/2006/main">
              <a:ext uri="{FF2B5EF4-FFF2-40B4-BE49-F238E27FC236}">
                <a16:creationId xmlns:a16="http://schemas.microsoft.com/office/drawing/2014/main" id="{C98B6AEA-0F34-4F7B-ACF9-02E7DDDE5112}"/>
              </a:ext>
            </a:extLst>
          </p:cNvPr>
          <p:cNvSpPr>
            <a:spLocks xmlns:a="http://schemas.openxmlformats.org/drawingml/2006/main" noGrp="1"/>
          </p:cNvSpPr>
          <p:nvPr/>
        </p:nvSpPr>
        <p:spPr>
          <a:xfrm xmlns:a="http://schemas.openxmlformats.org/drawingml/2006/main">
            <a:off x="495300" y="2066925"/>
            <a:ext cx="143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15CA9"/>
                </a:solidFill>
              </a:defRPr>
            </a:defPPr>
          </a:lstStyle>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SimHei"/>
                <a:ea typeface="SimHei"/>
                <a:cs typeface="SimHei"/>
              </a:rPr>
              <a:t>工艺与</a:t>
            </a:r>
          </a:p>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SimHei"/>
                <a:ea typeface="SimHei"/>
                <a:cs typeface="SimHei"/>
              </a:rPr>
              <a:t>资源关系</a:t>
            </a:r>
          </a:p>
        </p:txBody>
      </p:sp>
      <p:sp>
        <p:nvSpPr>
          <p:cNvPr id="14" name="station-topic">
            <a:extLst xmlns:a="http://schemas.openxmlformats.org/drawingml/2006/main">
              <a:ext uri="{FF2B5EF4-FFF2-40B4-BE49-F238E27FC236}">
                <a16:creationId xmlns:a16="http://schemas.microsoft.com/office/drawing/2014/main" id="{2B6E242E-E208-4850-B754-3731A01EE7BF}"/>
              </a:ext>
            </a:extLst>
          </p:cNvPr>
          <p:cNvSpPr>
            <a:spLocks xmlns:a="http://schemas.openxmlformats.org/drawingml/2006/main" noGrp="1"/>
          </p:cNvSpPr>
          <p:nvPr/>
        </p:nvSpPr>
        <p:spPr>
          <a:xfrm xmlns:a="http://schemas.openxmlformats.org/drawingml/2006/main">
            <a:off x="495300" y="3419475"/>
            <a:ext cx="143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15CA9"/>
                </a:solidFill>
              </a:defRPr>
            </a:defPPr>
          </a:lstStyle>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SimHei"/>
                <a:ea typeface="SimHei"/>
                <a:cs typeface="SimHei"/>
              </a:rPr>
              <a:t>站位及</a:t>
            </a:r>
          </a:p>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SimHei"/>
                <a:ea typeface="SimHei"/>
                <a:cs typeface="SimHei"/>
              </a:rPr>
              <a:t>整线信息</a:t>
            </a:r>
          </a:p>
        </p:txBody>
      </p:sp>
      <p:sp>
        <p:nvSpPr>
          <p:cNvPr id="15" name="semantic-topic">
            <a:extLst xmlns:a="http://schemas.openxmlformats.org/drawingml/2006/main">
              <a:ext uri="{FF2B5EF4-FFF2-40B4-BE49-F238E27FC236}">
                <a16:creationId xmlns:a16="http://schemas.microsoft.com/office/drawing/2014/main" id="{6628C63E-82DA-4F13-82E7-ECA564D73CEF}"/>
              </a:ext>
            </a:extLst>
          </p:cNvPr>
          <p:cNvSpPr>
            <a:spLocks xmlns:a="http://schemas.openxmlformats.org/drawingml/2006/main" noGrp="1"/>
          </p:cNvSpPr>
          <p:nvPr/>
        </p:nvSpPr>
        <p:spPr>
          <a:xfrm xmlns:a="http://schemas.openxmlformats.org/drawingml/2006/main">
            <a:off x="495300" y="4953000"/>
            <a:ext cx="1438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15CA9"/>
                </a:solidFill>
              </a:defRPr>
            </a:defPPr>
          </a:lstStyle>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SimHei"/>
                <a:ea typeface="SimHei"/>
                <a:cs typeface="SimHei"/>
              </a:rPr>
              <a:t>生产语义</a:t>
            </a:r>
          </a:p>
          <a:p xmlns:a="http://schemas.openxmlformats.org/drawingml/2006/main">
            <a:pPr algn="ctr">
              <a:lnSpc>
                <a:spcPct val="108000"/>
              </a:lnSpc>
              <a:spcBef>
                <a:spcPts val="0"/>
              </a:spcBef>
              <a:spcAft>
                <a:spcPts val="0"/>
              </a:spcAft>
              <a:buNone/>
              <a:defRPr sz="1800" b="1">
                <a:solidFill>
                  <a:srgbClr val="315CA9"/>
                </a:solidFill>
              </a:defRPr>
            </a:pPr>
            <a:r>
              <a:rPr sz="1800" b="1">
                <a:solidFill>
                  <a:srgbClr val="315CA9"/>
                </a:solidFill>
                <a:latin typeface="SimHei"/>
                <a:ea typeface="SimHei"/>
                <a:cs typeface="SimHei"/>
              </a:rPr>
              <a:t>与时间信息</a:t>
            </a:r>
          </a:p>
        </p:txBody>
      </p:sp>
      <p:sp>
        <p:nvSpPr>
          <p:cNvPr id="16" name="wen-diagram-label">
            <a:extLst xmlns:a="http://schemas.openxmlformats.org/drawingml/2006/main">
              <a:ext uri="{FF2B5EF4-FFF2-40B4-BE49-F238E27FC236}">
                <a16:creationId xmlns:a16="http://schemas.microsoft.com/office/drawing/2014/main" id="{1DCEF3B6-88D5-4580-8C4A-799F939D58BC}"/>
              </a:ext>
            </a:extLst>
          </p:cNvPr>
          <p:cNvSpPr>
            <a:spLocks xmlns:a="http://schemas.openxmlformats.org/drawingml/2006/main" noGrp="1"/>
          </p:cNvSpPr>
          <p:nvPr/>
        </p:nvSpPr>
        <p:spPr>
          <a:xfrm xmlns:a="http://schemas.openxmlformats.org/drawingml/2006/main">
            <a:off x="2066925" y="1600200"/>
            <a:ext cx="1885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Wen</a:t>
            </a:r>
            <a:r>
              <a:rPr sz="1388" b="1">
                <a:solidFill>
                  <a:srgbClr val="315CA9"/>
                </a:solidFill>
                <a:latin typeface="SimHei"/>
                <a:ea typeface="SimHei"/>
                <a:cs typeface="SimHei"/>
              </a:rPr>
              <a:t>等</a:t>
            </a:r>
            <a:r>
              <a:rPr sz="1388" b="1">
                <a:solidFill>
                  <a:srgbClr val="315CA9"/>
                </a:solidFill>
                <a:latin typeface="Times New Roman"/>
                <a:ea typeface="Times New Roman"/>
                <a:cs typeface="Times New Roman"/>
              </a:rPr>
              <a:t>[23]</a:t>
            </a:r>
          </a:p>
        </p:txBody>
      </p:sp>
      <p:sp>
        <p:nvSpPr>
          <p:cNvPr id="17" name="wen-operation-1">
            <a:extLst xmlns:a="http://schemas.openxmlformats.org/drawingml/2006/main">
              <a:ext uri="{FF2B5EF4-FFF2-40B4-BE49-F238E27FC236}">
                <a16:creationId xmlns:a16="http://schemas.microsoft.com/office/drawing/2014/main" id="{AB59AA84-29D5-4E5B-8028-381450AB8723}"/>
              </a:ext>
            </a:extLst>
          </p:cNvPr>
          <p:cNvSpPr>
            <a:spLocks xmlns:a="http://schemas.openxmlformats.org/drawingml/2006/main" noGrp="1"/>
          </p:cNvSpPr>
          <p:nvPr/>
        </p:nvSpPr>
        <p:spPr>
          <a:xfrm xmlns:a="http://schemas.openxmlformats.org/drawingml/2006/main">
            <a:off x="2152650" y="1990725"/>
            <a:ext cx="419100" cy="4191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工序</a:t>
            </a:r>
          </a:p>
        </p:txBody>
      </p:sp>
      <p:sp>
        <p:nvSpPr>
          <p:cNvPr id="18" name="wen-operation-2">
            <a:extLst xmlns:a="http://schemas.openxmlformats.org/drawingml/2006/main">
              <a:ext uri="{FF2B5EF4-FFF2-40B4-BE49-F238E27FC236}">
                <a16:creationId xmlns:a16="http://schemas.microsoft.com/office/drawing/2014/main" id="{3071C3CB-4ED0-4764-8FE0-48CFDA75D5A4}"/>
              </a:ext>
            </a:extLst>
          </p:cNvPr>
          <p:cNvSpPr>
            <a:spLocks xmlns:a="http://schemas.openxmlformats.org/drawingml/2006/main" noGrp="1"/>
          </p:cNvSpPr>
          <p:nvPr/>
        </p:nvSpPr>
        <p:spPr>
          <a:xfrm xmlns:a="http://schemas.openxmlformats.org/drawingml/2006/main">
            <a:off x="2962275" y="1990725"/>
            <a:ext cx="419100" cy="4191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工序</a:t>
            </a:r>
          </a:p>
        </p:txBody>
      </p:sp>
      <p:sp>
        <p:nvSpPr>
          <p:cNvPr id="19" name="wen-operation-3">
            <a:extLst xmlns:a="http://schemas.openxmlformats.org/drawingml/2006/main">
              <a:ext uri="{FF2B5EF4-FFF2-40B4-BE49-F238E27FC236}">
                <a16:creationId xmlns:a16="http://schemas.microsoft.com/office/drawing/2014/main" id="{F7351616-D8EF-4A87-8711-885A7C8A6578}"/>
              </a:ext>
            </a:extLst>
          </p:cNvPr>
          <p:cNvSpPr>
            <a:spLocks xmlns:a="http://schemas.openxmlformats.org/drawingml/2006/main" noGrp="1"/>
          </p:cNvSpPr>
          <p:nvPr/>
        </p:nvSpPr>
        <p:spPr>
          <a:xfrm xmlns:a="http://schemas.openxmlformats.org/drawingml/2006/main">
            <a:off x="2962275" y="2495550"/>
            <a:ext cx="419100" cy="3048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275" b="0">
                <a:solidFill>
                  <a:srgbClr val="17375E"/>
                </a:solidFill>
              </a:defRPr>
            </a:defPPr>
          </a:lstStyle>
          <a:p xmlns:a="http://schemas.openxmlformats.org/drawingml/2006/main">
            <a:pPr algn="ctr">
              <a:lnSpc>
                <a:spcPct val="102000"/>
              </a:lnSpc>
              <a:spcBef>
                <a:spcPts val="0"/>
              </a:spcBef>
              <a:spcAft>
                <a:spcPts val="0"/>
              </a:spcAft>
              <a:buNone/>
              <a:defRPr sz="1275" b="0">
                <a:solidFill>
                  <a:srgbClr val="17375E"/>
                </a:solidFill>
              </a:defRPr>
            </a:pPr>
            <a:r>
              <a:rPr sz="1275" b="0">
                <a:solidFill>
                  <a:srgbClr val="17375E"/>
                </a:solidFill>
                <a:latin typeface="SimHei"/>
                <a:ea typeface="SimHei"/>
                <a:cs typeface="SimHei"/>
              </a:rPr>
              <a:t>工序</a:t>
            </a:r>
          </a:p>
        </p:txBody>
      </p:sp>
      <p:sp>
        <p:nvSpPr>
          <p:cNvPr id="22" name="wen-node-attributes">
            <a:extLst xmlns:a="http://schemas.openxmlformats.org/drawingml/2006/main">
              <a:ext uri="{FF2B5EF4-FFF2-40B4-BE49-F238E27FC236}">
                <a16:creationId xmlns:a16="http://schemas.microsoft.com/office/drawing/2014/main" id="{9D37E5B0-83AB-4244-A93A-3E4AA06D1B65}"/>
              </a:ext>
            </a:extLst>
          </p:cNvPr>
          <p:cNvSpPr>
            <a:spLocks xmlns:a="http://schemas.openxmlformats.org/drawingml/2006/main" noGrp="1"/>
          </p:cNvSpPr>
          <p:nvPr/>
        </p:nvSpPr>
        <p:spPr>
          <a:xfrm xmlns:a="http://schemas.openxmlformats.org/drawingml/2006/main">
            <a:off x="2105025" y="2457450"/>
            <a:ext cx="838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E747A"/>
                </a:solidFill>
              </a:defRPr>
            </a:defPPr>
          </a:lstStyle>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SimHei"/>
                <a:ea typeface="SimHei"/>
                <a:cs typeface="SimHei"/>
              </a:rPr>
              <a:t>执行状态</a:t>
            </a:r>
          </a:p>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SimHei"/>
                <a:ea typeface="SimHei"/>
                <a:cs typeface="SimHei"/>
              </a:rPr>
              <a:t>资源需求</a:t>
            </a:r>
          </a:p>
        </p:txBody>
      </p:sp>
      <p:sp>
        <p:nvSpPr>
          <p:cNvPr id="23" name="song-diagram-label">
            <a:extLst xmlns:a="http://schemas.openxmlformats.org/drawingml/2006/main">
              <a:ext uri="{FF2B5EF4-FFF2-40B4-BE49-F238E27FC236}">
                <a16:creationId xmlns:a16="http://schemas.microsoft.com/office/drawing/2014/main" id="{5C5AF696-4527-4A34-AE4C-E0A771F070D1}"/>
              </a:ext>
            </a:extLst>
          </p:cNvPr>
          <p:cNvSpPr>
            <a:spLocks xmlns:a="http://schemas.openxmlformats.org/drawingml/2006/main" noGrp="1"/>
          </p:cNvSpPr>
          <p:nvPr/>
        </p:nvSpPr>
        <p:spPr>
          <a:xfrm xmlns:a="http://schemas.openxmlformats.org/drawingml/2006/main">
            <a:off x="4152900" y="1600200"/>
            <a:ext cx="2000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Song</a:t>
            </a:r>
            <a:r>
              <a:rPr sz="1388" b="1">
                <a:solidFill>
                  <a:srgbClr val="315CA9"/>
                </a:solidFill>
                <a:latin typeface="SimHei"/>
                <a:ea typeface="SimHei"/>
                <a:cs typeface="SimHei"/>
              </a:rPr>
              <a:t>等</a:t>
            </a:r>
            <a:r>
              <a:rPr sz="1388" b="1">
                <a:solidFill>
                  <a:srgbClr val="315CA9"/>
                </a:solidFill>
                <a:latin typeface="Times New Roman"/>
                <a:ea typeface="Times New Roman"/>
                <a:cs typeface="Times New Roman"/>
              </a:rPr>
              <a:t>[29]</a:t>
            </a:r>
          </a:p>
        </p:txBody>
      </p:sp>
      <p:sp>
        <p:nvSpPr>
          <p:cNvPr id="24" name="song-operation-1">
            <a:extLst xmlns:a="http://schemas.openxmlformats.org/drawingml/2006/main">
              <a:ext uri="{FF2B5EF4-FFF2-40B4-BE49-F238E27FC236}">
                <a16:creationId xmlns:a16="http://schemas.microsoft.com/office/drawing/2014/main" id="{053921CC-1917-42DE-922C-32D0646C0B8A}"/>
              </a:ext>
            </a:extLst>
          </p:cNvPr>
          <p:cNvSpPr>
            <a:spLocks xmlns:a="http://schemas.openxmlformats.org/drawingml/2006/main" noGrp="1"/>
          </p:cNvSpPr>
          <p:nvPr/>
        </p:nvSpPr>
        <p:spPr>
          <a:xfrm xmlns:a="http://schemas.openxmlformats.org/drawingml/2006/main">
            <a:off x="4200525" y="1990725"/>
            <a:ext cx="438150" cy="40005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工序</a:t>
            </a:r>
          </a:p>
        </p:txBody>
      </p:sp>
      <p:sp>
        <p:nvSpPr>
          <p:cNvPr id="25" name="song-operation-2">
            <a:extLst xmlns:a="http://schemas.openxmlformats.org/drawingml/2006/main">
              <a:ext uri="{FF2B5EF4-FFF2-40B4-BE49-F238E27FC236}">
                <a16:creationId xmlns:a16="http://schemas.microsoft.com/office/drawing/2014/main" id="{6AF265F9-8FE2-4EFB-98A1-C2BCC128E1F4}"/>
              </a:ext>
            </a:extLst>
          </p:cNvPr>
          <p:cNvSpPr>
            <a:spLocks xmlns:a="http://schemas.openxmlformats.org/drawingml/2006/main" noGrp="1"/>
          </p:cNvSpPr>
          <p:nvPr/>
        </p:nvSpPr>
        <p:spPr>
          <a:xfrm xmlns:a="http://schemas.openxmlformats.org/drawingml/2006/main">
            <a:off x="5057775" y="1990725"/>
            <a:ext cx="438150" cy="40005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工序</a:t>
            </a:r>
          </a:p>
        </p:txBody>
      </p:sp>
      <p:sp>
        <p:nvSpPr>
          <p:cNvPr id="26" name="song-machine">
            <a:extLst xmlns:a="http://schemas.openxmlformats.org/drawingml/2006/main">
              <a:ext uri="{FF2B5EF4-FFF2-40B4-BE49-F238E27FC236}">
                <a16:creationId xmlns:a16="http://schemas.microsoft.com/office/drawing/2014/main" id="{D415CCCC-ACB5-4D3E-AD36-110DC31516FF}"/>
              </a:ext>
            </a:extLst>
          </p:cNvPr>
          <p:cNvSpPr>
            <a:spLocks xmlns:a="http://schemas.openxmlformats.org/drawingml/2006/main" noGrp="1"/>
          </p:cNvSpPr>
          <p:nvPr/>
        </p:nvSpPr>
        <p:spPr>
          <a:xfrm xmlns:a="http://schemas.openxmlformats.org/drawingml/2006/main">
            <a:off x="5486400" y="2505075"/>
            <a:ext cx="5524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6E747A"/>
            </a:solidFill>
            <a:prstDash val="solid"/>
          </a:ln>
        </p:spPr>
        <p:txBody>
          <a:bodyPr xmlns:a="http://schemas.openxmlformats.org/drawingml/2006/main" wrap="squar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机器</a:t>
            </a:r>
          </a:p>
        </p:txBody>
      </p:sp>
      <p:sp>
        <p:nvSpPr>
          <p:cNvPr id="30" name="song-resource-relationship">
            <a:extLst xmlns:a="http://schemas.openxmlformats.org/drawingml/2006/main">
              <a:ext uri="{FF2B5EF4-FFF2-40B4-BE49-F238E27FC236}">
                <a16:creationId xmlns:a16="http://schemas.microsoft.com/office/drawing/2014/main" id="{7A00F83D-0A85-4954-A787-F3A39C553344}"/>
              </a:ext>
            </a:extLst>
          </p:cNvPr>
          <p:cNvSpPr>
            <a:spLocks xmlns:a="http://schemas.openxmlformats.org/drawingml/2006/main" noGrp="1"/>
          </p:cNvSpPr>
          <p:nvPr/>
        </p:nvSpPr>
        <p:spPr>
          <a:xfrm xmlns:a="http://schemas.openxmlformats.org/drawingml/2006/main">
            <a:off x="4657725" y="2371725"/>
            <a:ext cx="800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E747A"/>
                </a:solidFill>
              </a:defRPr>
            </a:defPPr>
          </a:lstStyle>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SimHei"/>
                <a:ea typeface="SimHei"/>
                <a:cs typeface="SimHei"/>
              </a:rPr>
              <a:t>资源关系</a:t>
            </a:r>
          </a:p>
        </p:txBody>
      </p:sp>
      <p:sp>
        <p:nvSpPr>
          <p:cNvPr id="31" name="wen-explanation">
            <a:extLst xmlns:a="http://schemas.openxmlformats.org/drawingml/2006/main">
              <a:ext uri="{FF2B5EF4-FFF2-40B4-BE49-F238E27FC236}">
                <a16:creationId xmlns:a16="http://schemas.microsoft.com/office/drawing/2014/main" id="{85EE859B-11EE-4F7A-B11D-6D79B34E498D}"/>
              </a:ext>
            </a:extLst>
          </p:cNvPr>
          <p:cNvSpPr>
            <a:spLocks xmlns:a="http://schemas.openxmlformats.org/drawingml/2006/main" noGrp="1"/>
          </p:cNvSpPr>
          <p:nvPr/>
        </p:nvSpPr>
        <p:spPr>
          <a:xfrm xmlns:a="http://schemas.openxmlformats.org/drawingml/2006/main">
            <a:off x="6477000" y="16764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Wen</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[23]</a:t>
            </a:r>
            <a:r>
              <a:rPr sz="1613" b="0">
                <a:solidFill>
                  <a:srgbClr val="111111"/>
                </a:solidFill>
                <a:latin typeface="SimHei"/>
                <a:ea typeface="SimHei"/>
                <a:cs typeface="SimHei"/>
              </a:rPr>
              <a:t>：前序、执行状态与资源需求进入工序图，</a:t>
            </a: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GIN</a:t>
            </a:r>
            <a:r>
              <a:rPr sz="1613" b="0">
                <a:solidFill>
                  <a:srgbClr val="111111"/>
                </a:solidFill>
                <a:latin typeface="SimHei"/>
                <a:ea typeface="SimHei"/>
                <a:cs typeface="SimHei"/>
              </a:rPr>
              <a:t>编码后选择待安排工序。</a:t>
            </a:r>
          </a:p>
        </p:txBody>
      </p:sp>
      <p:sp>
        <p:nvSpPr>
          <p:cNvPr id="32" name="song-explanation">
            <a:extLst xmlns:a="http://schemas.openxmlformats.org/drawingml/2006/main">
              <a:ext uri="{FF2B5EF4-FFF2-40B4-BE49-F238E27FC236}">
                <a16:creationId xmlns:a16="http://schemas.microsoft.com/office/drawing/2014/main" id="{7598FDDD-11A5-44EF-9AEC-C311C19E3139}"/>
              </a:ext>
            </a:extLst>
          </p:cNvPr>
          <p:cNvSpPr>
            <a:spLocks xmlns:a="http://schemas.openxmlformats.org/drawingml/2006/main" noGrp="1"/>
          </p:cNvSpPr>
          <p:nvPr/>
        </p:nvSpPr>
        <p:spPr>
          <a:xfrm xmlns:a="http://schemas.openxmlformats.org/drawingml/2006/main">
            <a:off x="6477000" y="231457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Song</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[29]</a:t>
            </a:r>
            <a:r>
              <a:rPr sz="1613" b="0">
                <a:solidFill>
                  <a:srgbClr val="111111"/>
                </a:solidFill>
                <a:latin typeface="SimHei"/>
                <a:ea typeface="SimHei"/>
                <a:cs typeface="SimHei"/>
              </a:rPr>
              <a:t>：异构图区分工序与机器关系，</a:t>
            </a: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SimHei"/>
                <a:ea typeface="SimHei"/>
                <a:cs typeface="SimHei"/>
              </a:rPr>
              <a:t>支持工序与机器联合选择。</a:t>
            </a:r>
          </a:p>
        </p:txBody>
      </p:sp>
      <p:sp>
        <p:nvSpPr>
          <p:cNvPr id="33" name="chen-diagram-label">
            <a:extLst xmlns:a="http://schemas.openxmlformats.org/drawingml/2006/main">
              <a:ext uri="{FF2B5EF4-FFF2-40B4-BE49-F238E27FC236}">
                <a16:creationId xmlns:a16="http://schemas.microsoft.com/office/drawing/2014/main" id="{BBF047FE-BE49-43CC-B049-12946DD81744}"/>
              </a:ext>
            </a:extLst>
          </p:cNvPr>
          <p:cNvSpPr>
            <a:spLocks xmlns:a="http://schemas.openxmlformats.org/drawingml/2006/main" noGrp="1"/>
          </p:cNvSpPr>
          <p:nvPr/>
        </p:nvSpPr>
        <p:spPr>
          <a:xfrm xmlns:a="http://schemas.openxmlformats.org/drawingml/2006/main">
            <a:off x="2085975" y="3000375"/>
            <a:ext cx="4095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Chen</a:t>
            </a:r>
            <a:r>
              <a:rPr sz="1388" b="1">
                <a:solidFill>
                  <a:srgbClr val="315CA9"/>
                </a:solidFill>
                <a:latin typeface="SimHei"/>
                <a:ea typeface="SimHei"/>
                <a:cs typeface="SimHei"/>
              </a:rPr>
              <a:t>等</a:t>
            </a:r>
            <a:r>
              <a:rPr sz="1388" b="1">
                <a:solidFill>
                  <a:srgbClr val="315CA9"/>
                </a:solidFill>
                <a:latin typeface="Times New Roman"/>
                <a:ea typeface="Times New Roman"/>
                <a:cs typeface="Times New Roman"/>
              </a:rPr>
              <a:t>[24]</a:t>
            </a:r>
          </a:p>
        </p:txBody>
      </p:sp>
      <p:sp>
        <p:nvSpPr>
          <p:cNvPr id="34" name="chen-station-0">
            <a:extLst xmlns:a="http://schemas.openxmlformats.org/drawingml/2006/main">
              <a:ext uri="{FF2B5EF4-FFF2-40B4-BE49-F238E27FC236}">
                <a16:creationId xmlns:a16="http://schemas.microsoft.com/office/drawing/2014/main" id="{6F70F1F6-71F5-448C-B867-2D9AB4B48269}"/>
              </a:ext>
            </a:extLst>
          </p:cNvPr>
          <p:cNvSpPr>
            <a:spLocks xmlns:a="http://schemas.openxmlformats.org/drawingml/2006/main" noGrp="1"/>
          </p:cNvSpPr>
          <p:nvPr/>
        </p:nvSpPr>
        <p:spPr>
          <a:xfrm xmlns:a="http://schemas.openxmlformats.org/drawingml/2006/main">
            <a:off x="2133600" y="3324225"/>
            <a:ext cx="1095375" cy="552450"/>
          </a:xfrm>
          <a:prstGeom xmlns:a="http://schemas.openxmlformats.org/drawingml/2006/main" prst="rect">
            <a:avLst/>
          </a:prstGeom>
          <a:solidFill xmlns:a="http://schemas.openxmlformats.org/drawingml/2006/main">
            <a:srgbClr val="F1F4F8"/>
          </a:solidFill>
          <a:ln xmlns:a="http://schemas.openxmlformats.org/drawingml/2006/main" w="12383">
            <a:solidFill>
              <a:srgbClr val="4674CD"/>
            </a:solidFill>
            <a:prstDash val="solid"/>
          </a:ln>
        </p:spPr>
      </p:sp>
      <p:sp>
        <p:nvSpPr>
          <p:cNvPr id="35" name="chen-station-caption-0">
            <a:extLst xmlns:a="http://schemas.openxmlformats.org/drawingml/2006/main">
              <a:ext uri="{FF2B5EF4-FFF2-40B4-BE49-F238E27FC236}">
                <a16:creationId xmlns:a16="http://schemas.microsoft.com/office/drawing/2014/main" id="{55522171-2D01-4131-9653-B1C4A77C2ECD}"/>
              </a:ext>
            </a:extLst>
          </p:cNvPr>
          <p:cNvSpPr>
            <a:spLocks xmlns:a="http://schemas.openxmlformats.org/drawingml/2006/main" noGrp="1"/>
          </p:cNvSpPr>
          <p:nvPr/>
        </p:nvSpPr>
        <p:spPr>
          <a:xfrm xmlns:a="http://schemas.openxmlformats.org/drawingml/2006/main">
            <a:off x="2219325" y="3362325"/>
            <a:ext cx="952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7375E"/>
                </a:solidFill>
              </a:defRPr>
            </a:defPPr>
          </a:lstStyle>
          <a:p xmlns:a="http://schemas.openxmlformats.org/drawingml/2006/main">
            <a:pPr algn="l">
              <a:lnSpc>
                <a:spcPct val="108000"/>
              </a:lnSpc>
              <a:spcBef>
                <a:spcPts val="0"/>
              </a:spcBef>
              <a:spcAft>
                <a:spcPts val="0"/>
              </a:spcAft>
              <a:buNone/>
              <a:defRPr sz="1388" b="1">
                <a:solidFill>
                  <a:srgbClr val="17375E"/>
                </a:solidFill>
              </a:defRPr>
            </a:pPr>
            <a:r>
              <a:rPr sz="1388" b="1">
                <a:solidFill>
                  <a:srgbClr val="17375E"/>
                </a:solidFill>
                <a:latin typeface="SimHei"/>
                <a:ea typeface="SimHei"/>
                <a:cs typeface="SimHei"/>
              </a:rPr>
              <a:t>站位</a:t>
            </a:r>
            <a:r>
              <a:rPr sz="1388" b="1">
                <a:solidFill>
                  <a:srgbClr val="17375E"/>
                </a:solidFill>
                <a:latin typeface="Times New Roman"/>
                <a:ea typeface="Times New Roman"/>
                <a:cs typeface="Times New Roman"/>
              </a:rPr>
              <a:t>1</a:t>
            </a:r>
          </a:p>
        </p:txBody>
      </p:sp>
      <p:sp>
        <p:nvSpPr>
          <p:cNvPr id="36" name="chen-local-op-0-1">
            <a:extLst xmlns:a="http://schemas.openxmlformats.org/drawingml/2006/main">
              <a:ext uri="{FF2B5EF4-FFF2-40B4-BE49-F238E27FC236}">
                <a16:creationId xmlns:a16="http://schemas.microsoft.com/office/drawing/2014/main" id="{D62D8848-FBA2-456C-AA5F-B21289499598}"/>
              </a:ext>
            </a:extLst>
          </p:cNvPr>
          <p:cNvSpPr>
            <a:spLocks xmlns:a="http://schemas.openxmlformats.org/drawingml/2006/main" noGrp="1"/>
          </p:cNvSpPr>
          <p:nvPr/>
        </p:nvSpPr>
        <p:spPr>
          <a:xfrm xmlns:a="http://schemas.openxmlformats.org/drawingml/2006/main">
            <a:off x="2286000"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sp>
        <p:nvSpPr>
          <p:cNvPr id="37" name="chen-local-op-0-2">
            <a:extLst xmlns:a="http://schemas.openxmlformats.org/drawingml/2006/main">
              <a:ext uri="{FF2B5EF4-FFF2-40B4-BE49-F238E27FC236}">
                <a16:creationId xmlns:a16="http://schemas.microsoft.com/office/drawing/2014/main" id="{2973EDB9-7B97-4E9E-B5A1-1875F524D061}"/>
              </a:ext>
            </a:extLst>
          </p:cNvPr>
          <p:cNvSpPr>
            <a:spLocks xmlns:a="http://schemas.openxmlformats.org/drawingml/2006/main" noGrp="1"/>
          </p:cNvSpPr>
          <p:nvPr/>
        </p:nvSpPr>
        <p:spPr>
          <a:xfrm xmlns:a="http://schemas.openxmlformats.org/drawingml/2006/main">
            <a:off x="2847975"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cxnSp>
        <p:nvCxnSpPr>
          <p:cNvPr id="39" name="chen-station-stem-0">
            <a:extLst xmlns:a="http://schemas.openxmlformats.org/drawingml/2006/main">
              <a:ext uri="{FF2B5EF4-FFF2-40B4-BE49-F238E27FC236}">
                <a16:creationId xmlns:a16="http://schemas.microsoft.com/office/drawing/2014/main" id="{4F49CBAD-1F5A-4184-8773-3C1B17395299}"/>
              </a:ext>
            </a:extLst>
          </p:cNvPr>
          <p:cNvCxnSpPr/>
          <p:nvPr/>
        </p:nvCxnSpPr>
        <p:spPr>
          <a:xfrm xmlns:a="http://schemas.openxmlformats.org/drawingml/2006/main" flipH="0" flipV="0">
            <a:off x="2681288" y="3876675"/>
            <a:ext cx="0" cy="95250"/>
          </a:xfrm>
          <a:prstGeom xmlns:a="http://schemas.openxmlformats.org/drawingml/2006/main" prst="straightConnector1">
            <a:avLst/>
          </a:prstGeom>
          <a:ln xmlns:a="http://schemas.openxmlformats.org/drawingml/2006/main" w="12383">
            <a:solidFill>
              <a:srgbClr val="4674CD"/>
            </a:solidFill>
            <a:prstDash val="solid"/>
          </a:ln>
        </p:spPr>
      </p:cxnSp>
      <p:sp>
        <p:nvSpPr>
          <p:cNvPr id="40" name="chen-station-1">
            <a:extLst xmlns:a="http://schemas.openxmlformats.org/drawingml/2006/main">
              <a:ext uri="{FF2B5EF4-FFF2-40B4-BE49-F238E27FC236}">
                <a16:creationId xmlns:a16="http://schemas.microsoft.com/office/drawing/2014/main" id="{59D827A0-8163-47EE-B393-A1C6DE60B9EC}"/>
              </a:ext>
            </a:extLst>
          </p:cNvPr>
          <p:cNvSpPr>
            <a:spLocks xmlns:a="http://schemas.openxmlformats.org/drawingml/2006/main" noGrp="1"/>
          </p:cNvSpPr>
          <p:nvPr/>
        </p:nvSpPr>
        <p:spPr>
          <a:xfrm xmlns:a="http://schemas.openxmlformats.org/drawingml/2006/main">
            <a:off x="3495675" y="3324225"/>
            <a:ext cx="1095375" cy="552450"/>
          </a:xfrm>
          <a:prstGeom xmlns:a="http://schemas.openxmlformats.org/drawingml/2006/main" prst="rect">
            <a:avLst/>
          </a:prstGeom>
          <a:solidFill xmlns:a="http://schemas.openxmlformats.org/drawingml/2006/main">
            <a:srgbClr val="F1F4F8"/>
          </a:solidFill>
          <a:ln xmlns:a="http://schemas.openxmlformats.org/drawingml/2006/main" w="12383">
            <a:solidFill>
              <a:srgbClr val="4674CD"/>
            </a:solidFill>
            <a:prstDash val="solid"/>
          </a:ln>
        </p:spPr>
      </p:sp>
      <p:sp>
        <p:nvSpPr>
          <p:cNvPr id="41" name="chen-station-caption-1">
            <a:extLst xmlns:a="http://schemas.openxmlformats.org/drawingml/2006/main">
              <a:ext uri="{FF2B5EF4-FFF2-40B4-BE49-F238E27FC236}">
                <a16:creationId xmlns:a16="http://schemas.microsoft.com/office/drawing/2014/main" id="{2E0AC523-D596-4EF4-8ACF-4B510ECF819B}"/>
              </a:ext>
            </a:extLst>
          </p:cNvPr>
          <p:cNvSpPr>
            <a:spLocks xmlns:a="http://schemas.openxmlformats.org/drawingml/2006/main" noGrp="1"/>
          </p:cNvSpPr>
          <p:nvPr/>
        </p:nvSpPr>
        <p:spPr>
          <a:xfrm xmlns:a="http://schemas.openxmlformats.org/drawingml/2006/main">
            <a:off x="3581400" y="3362325"/>
            <a:ext cx="952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7375E"/>
                </a:solidFill>
              </a:defRPr>
            </a:defPPr>
          </a:lstStyle>
          <a:p xmlns:a="http://schemas.openxmlformats.org/drawingml/2006/main">
            <a:pPr algn="l">
              <a:lnSpc>
                <a:spcPct val="108000"/>
              </a:lnSpc>
              <a:spcBef>
                <a:spcPts val="0"/>
              </a:spcBef>
              <a:spcAft>
                <a:spcPts val="0"/>
              </a:spcAft>
              <a:buNone/>
              <a:defRPr sz="1388" b="1">
                <a:solidFill>
                  <a:srgbClr val="17375E"/>
                </a:solidFill>
              </a:defRPr>
            </a:pPr>
            <a:r>
              <a:rPr sz="1388" b="1">
                <a:solidFill>
                  <a:srgbClr val="17375E"/>
                </a:solidFill>
                <a:latin typeface="SimHei"/>
                <a:ea typeface="SimHei"/>
                <a:cs typeface="SimHei"/>
              </a:rPr>
              <a:t>站位</a:t>
            </a:r>
            <a:r>
              <a:rPr sz="1388" b="1">
                <a:solidFill>
                  <a:srgbClr val="17375E"/>
                </a:solidFill>
                <a:latin typeface="Times New Roman"/>
                <a:ea typeface="Times New Roman"/>
                <a:cs typeface="Times New Roman"/>
              </a:rPr>
              <a:t>2</a:t>
            </a:r>
          </a:p>
        </p:txBody>
      </p:sp>
      <p:sp>
        <p:nvSpPr>
          <p:cNvPr id="42" name="chen-local-op-1-1">
            <a:extLst xmlns:a="http://schemas.openxmlformats.org/drawingml/2006/main">
              <a:ext uri="{FF2B5EF4-FFF2-40B4-BE49-F238E27FC236}">
                <a16:creationId xmlns:a16="http://schemas.microsoft.com/office/drawing/2014/main" id="{0AB0CC1D-4664-4077-8CB8-1631871CAE4F}"/>
              </a:ext>
            </a:extLst>
          </p:cNvPr>
          <p:cNvSpPr>
            <a:spLocks xmlns:a="http://schemas.openxmlformats.org/drawingml/2006/main" noGrp="1"/>
          </p:cNvSpPr>
          <p:nvPr/>
        </p:nvSpPr>
        <p:spPr>
          <a:xfrm xmlns:a="http://schemas.openxmlformats.org/drawingml/2006/main">
            <a:off x="3648075"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sp>
        <p:nvSpPr>
          <p:cNvPr id="43" name="chen-local-op-1-2">
            <a:extLst xmlns:a="http://schemas.openxmlformats.org/drawingml/2006/main">
              <a:ext uri="{FF2B5EF4-FFF2-40B4-BE49-F238E27FC236}">
                <a16:creationId xmlns:a16="http://schemas.microsoft.com/office/drawing/2014/main" id="{437261A9-C988-4C26-90AE-5FC0355E5720}"/>
              </a:ext>
            </a:extLst>
          </p:cNvPr>
          <p:cNvSpPr>
            <a:spLocks xmlns:a="http://schemas.openxmlformats.org/drawingml/2006/main" noGrp="1"/>
          </p:cNvSpPr>
          <p:nvPr/>
        </p:nvSpPr>
        <p:spPr>
          <a:xfrm xmlns:a="http://schemas.openxmlformats.org/drawingml/2006/main">
            <a:off x="4210050"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cxnSp>
        <p:nvCxnSpPr>
          <p:cNvPr id="45" name="chen-station-stem-1">
            <a:extLst xmlns:a="http://schemas.openxmlformats.org/drawingml/2006/main">
              <a:ext uri="{FF2B5EF4-FFF2-40B4-BE49-F238E27FC236}">
                <a16:creationId xmlns:a16="http://schemas.microsoft.com/office/drawing/2014/main" id="{3299E3FC-5AB7-4068-9944-5BEA1C1D3F14}"/>
              </a:ext>
            </a:extLst>
          </p:cNvPr>
          <p:cNvCxnSpPr/>
          <p:nvPr/>
        </p:nvCxnSpPr>
        <p:spPr>
          <a:xfrm xmlns:a="http://schemas.openxmlformats.org/drawingml/2006/main" flipH="0" flipV="0">
            <a:off x="4043363" y="3876675"/>
            <a:ext cx="0" cy="95250"/>
          </a:xfrm>
          <a:prstGeom xmlns:a="http://schemas.openxmlformats.org/drawingml/2006/main" prst="straightConnector1">
            <a:avLst/>
          </a:prstGeom>
          <a:ln xmlns:a="http://schemas.openxmlformats.org/drawingml/2006/main" w="12383">
            <a:solidFill>
              <a:srgbClr val="4674CD"/>
            </a:solidFill>
            <a:prstDash val="solid"/>
          </a:ln>
        </p:spPr>
      </p:cxnSp>
      <p:sp>
        <p:nvSpPr>
          <p:cNvPr id="46" name="chen-station-2">
            <a:extLst xmlns:a="http://schemas.openxmlformats.org/drawingml/2006/main">
              <a:ext uri="{FF2B5EF4-FFF2-40B4-BE49-F238E27FC236}">
                <a16:creationId xmlns:a16="http://schemas.microsoft.com/office/drawing/2014/main" id="{65BE4169-2781-445B-AA7A-45DC5EF070EC}"/>
              </a:ext>
            </a:extLst>
          </p:cNvPr>
          <p:cNvSpPr>
            <a:spLocks xmlns:a="http://schemas.openxmlformats.org/drawingml/2006/main" noGrp="1"/>
          </p:cNvSpPr>
          <p:nvPr/>
        </p:nvSpPr>
        <p:spPr>
          <a:xfrm xmlns:a="http://schemas.openxmlformats.org/drawingml/2006/main">
            <a:off x="4857750" y="3324225"/>
            <a:ext cx="1095375" cy="552450"/>
          </a:xfrm>
          <a:prstGeom xmlns:a="http://schemas.openxmlformats.org/drawingml/2006/main" prst="rect">
            <a:avLst/>
          </a:prstGeom>
          <a:solidFill xmlns:a="http://schemas.openxmlformats.org/drawingml/2006/main">
            <a:srgbClr val="F1F4F8"/>
          </a:solidFill>
          <a:ln xmlns:a="http://schemas.openxmlformats.org/drawingml/2006/main" w="12383">
            <a:solidFill>
              <a:srgbClr val="4674CD"/>
            </a:solidFill>
            <a:prstDash val="solid"/>
          </a:ln>
        </p:spPr>
      </p:sp>
      <p:sp>
        <p:nvSpPr>
          <p:cNvPr id="47" name="chen-station-caption-2">
            <a:extLst xmlns:a="http://schemas.openxmlformats.org/drawingml/2006/main">
              <a:ext uri="{FF2B5EF4-FFF2-40B4-BE49-F238E27FC236}">
                <a16:creationId xmlns:a16="http://schemas.microsoft.com/office/drawing/2014/main" id="{EADCA45B-B6F5-41BC-AE5A-0D02B1409B54}"/>
              </a:ext>
            </a:extLst>
          </p:cNvPr>
          <p:cNvSpPr>
            <a:spLocks xmlns:a="http://schemas.openxmlformats.org/drawingml/2006/main" noGrp="1"/>
          </p:cNvSpPr>
          <p:nvPr/>
        </p:nvSpPr>
        <p:spPr>
          <a:xfrm xmlns:a="http://schemas.openxmlformats.org/drawingml/2006/main">
            <a:off x="4943475" y="3362325"/>
            <a:ext cx="952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7375E"/>
                </a:solidFill>
              </a:defRPr>
            </a:defPPr>
          </a:lstStyle>
          <a:p xmlns:a="http://schemas.openxmlformats.org/drawingml/2006/main">
            <a:pPr algn="l">
              <a:lnSpc>
                <a:spcPct val="108000"/>
              </a:lnSpc>
              <a:spcBef>
                <a:spcPts val="0"/>
              </a:spcBef>
              <a:spcAft>
                <a:spcPts val="0"/>
              </a:spcAft>
              <a:buNone/>
              <a:defRPr sz="1388" b="1">
                <a:solidFill>
                  <a:srgbClr val="17375E"/>
                </a:solidFill>
              </a:defRPr>
            </a:pPr>
            <a:r>
              <a:rPr sz="1388" b="1">
                <a:solidFill>
                  <a:srgbClr val="17375E"/>
                </a:solidFill>
                <a:latin typeface="SimHei"/>
                <a:ea typeface="SimHei"/>
                <a:cs typeface="SimHei"/>
              </a:rPr>
              <a:t>站位</a:t>
            </a:r>
            <a:r>
              <a:rPr sz="1388" b="1">
                <a:solidFill>
                  <a:srgbClr val="17375E"/>
                </a:solidFill>
                <a:latin typeface="Times New Roman"/>
                <a:ea typeface="Times New Roman"/>
                <a:cs typeface="Times New Roman"/>
              </a:rPr>
              <a:t>3</a:t>
            </a:r>
          </a:p>
        </p:txBody>
      </p:sp>
      <p:sp>
        <p:nvSpPr>
          <p:cNvPr id="48" name="chen-local-op-2-1">
            <a:extLst xmlns:a="http://schemas.openxmlformats.org/drawingml/2006/main">
              <a:ext uri="{FF2B5EF4-FFF2-40B4-BE49-F238E27FC236}">
                <a16:creationId xmlns:a16="http://schemas.microsoft.com/office/drawing/2014/main" id="{6413479C-1602-4BAC-B3B8-AEF9F0CD1F9D}"/>
              </a:ext>
            </a:extLst>
          </p:cNvPr>
          <p:cNvSpPr>
            <a:spLocks xmlns:a="http://schemas.openxmlformats.org/drawingml/2006/main" noGrp="1"/>
          </p:cNvSpPr>
          <p:nvPr/>
        </p:nvSpPr>
        <p:spPr>
          <a:xfrm xmlns:a="http://schemas.openxmlformats.org/drawingml/2006/main">
            <a:off x="5010150"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sp>
        <p:nvSpPr>
          <p:cNvPr id="49" name="chen-local-op-2-2">
            <a:extLst xmlns:a="http://schemas.openxmlformats.org/drawingml/2006/main">
              <a:ext uri="{FF2B5EF4-FFF2-40B4-BE49-F238E27FC236}">
                <a16:creationId xmlns:a16="http://schemas.microsoft.com/office/drawing/2014/main" id="{7A73B348-6AD7-4981-B212-8E84F4E934E9}"/>
              </a:ext>
            </a:extLst>
          </p:cNvPr>
          <p:cNvSpPr>
            <a:spLocks xmlns:a="http://schemas.openxmlformats.org/drawingml/2006/main" noGrp="1"/>
          </p:cNvSpPr>
          <p:nvPr/>
        </p:nvSpPr>
        <p:spPr>
          <a:xfrm xmlns:a="http://schemas.openxmlformats.org/drawingml/2006/main">
            <a:off x="5572125" y="3657600"/>
            <a:ext cx="123825" cy="123825"/>
          </a:xfrm>
          <a:prstGeom xmlns:a="http://schemas.openxmlformats.org/drawingml/2006/main" prst="ellipse">
            <a:avLst/>
          </a:prstGeom>
          <a:solidFill xmlns:a="http://schemas.openxmlformats.org/drawingml/2006/main">
            <a:srgbClr val="4674CD"/>
          </a:solidFill>
          <a:ln xmlns:a="http://schemas.openxmlformats.org/drawingml/2006/main" w="0">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500" b="0">
                <a:solidFill>
                  <a:srgbClr val="17375E"/>
                </a:solidFill>
              </a:defRPr>
            </a:defPPr>
          </a:lstStyle>
          <a:p xmlns:a="http://schemas.openxmlformats.org/drawingml/2006/main">
            <a:pPr>
              <a:spcBef>
                <a:spcPts val="0"/>
              </a:spcBef>
              <a:spcAft>
                <a:spcPts val="0"/>
              </a:spcAft>
            </a:pPr>
          </a:p>
        </p:txBody>
      </p:sp>
      <p:cxnSp>
        <p:nvCxnSpPr>
          <p:cNvPr id="51" name="chen-station-stem-2">
            <a:extLst xmlns:a="http://schemas.openxmlformats.org/drawingml/2006/main">
              <a:ext uri="{FF2B5EF4-FFF2-40B4-BE49-F238E27FC236}">
                <a16:creationId xmlns:a16="http://schemas.microsoft.com/office/drawing/2014/main" id="{E615B9BC-07AC-4A69-A477-DFB5B8E9A70A}"/>
              </a:ext>
            </a:extLst>
          </p:cNvPr>
          <p:cNvCxnSpPr/>
          <p:nvPr/>
        </p:nvCxnSpPr>
        <p:spPr>
          <a:xfrm xmlns:a="http://schemas.openxmlformats.org/drawingml/2006/main" flipH="0" flipV="0">
            <a:off x="5405438" y="3876675"/>
            <a:ext cx="0" cy="95250"/>
          </a:xfrm>
          <a:prstGeom xmlns:a="http://schemas.openxmlformats.org/drawingml/2006/main" prst="straightConnector1">
            <a:avLst/>
          </a:prstGeom>
          <a:ln xmlns:a="http://schemas.openxmlformats.org/drawingml/2006/main" w="12383">
            <a:solidFill>
              <a:srgbClr val="4674CD"/>
            </a:solidFill>
            <a:prstDash val="solid"/>
          </a:ln>
        </p:spPr>
      </p:cxnSp>
      <p:cxnSp>
        <p:nvCxnSpPr>
          <p:cNvPr id="52" name="chen-cross-station-aggregation">
            <a:extLst xmlns:a="http://schemas.openxmlformats.org/drawingml/2006/main">
              <a:ext uri="{FF2B5EF4-FFF2-40B4-BE49-F238E27FC236}">
                <a16:creationId xmlns:a16="http://schemas.microsoft.com/office/drawing/2014/main" id="{897A8181-4C8D-4632-9BCB-786A8DC4AFF1}"/>
              </a:ext>
            </a:extLst>
          </p:cNvPr>
          <p:cNvCxnSpPr/>
          <p:nvPr/>
        </p:nvCxnSpPr>
        <p:spPr>
          <a:xfrm xmlns:a="http://schemas.openxmlformats.org/drawingml/2006/main" flipH="0" flipV="0">
            <a:off x="2681288" y="3971925"/>
            <a:ext cx="2724150" cy="0"/>
          </a:xfrm>
          <a:prstGeom xmlns:a="http://schemas.openxmlformats.org/drawingml/2006/main" prst="straightConnector1">
            <a:avLst/>
          </a:prstGeom>
          <a:ln xmlns:a="http://schemas.openxmlformats.org/drawingml/2006/main" w="12383">
            <a:solidFill>
              <a:srgbClr val="4674CD"/>
            </a:solidFill>
            <a:prstDash val="solid"/>
          </a:ln>
        </p:spPr>
      </p:cxnSp>
      <p:sp>
        <p:nvSpPr>
          <p:cNvPr id="53" name="chen-joint-evaluation">
            <a:extLst xmlns:a="http://schemas.openxmlformats.org/drawingml/2006/main">
              <a:ext uri="{FF2B5EF4-FFF2-40B4-BE49-F238E27FC236}">
                <a16:creationId xmlns:a16="http://schemas.microsoft.com/office/drawing/2014/main" id="{1AF7E926-258E-40E6-A9F3-54156498E327}"/>
              </a:ext>
            </a:extLst>
          </p:cNvPr>
          <p:cNvSpPr>
            <a:spLocks xmlns:a="http://schemas.openxmlformats.org/drawingml/2006/main" noGrp="1"/>
          </p:cNvSpPr>
          <p:nvPr/>
        </p:nvSpPr>
        <p:spPr>
          <a:xfrm xmlns:a="http://schemas.openxmlformats.org/drawingml/2006/main">
            <a:off x="3200400" y="4095750"/>
            <a:ext cx="1676400" cy="266700"/>
          </a:xfrm>
          <a:prstGeom xmlns:a="http://schemas.openxmlformats.org/drawingml/2006/main" prst="rect">
            <a:avLst/>
          </a:prstGeom>
          <a:solidFill xmlns:a="http://schemas.openxmlformats.org/drawingml/2006/main">
            <a:srgbClr val="E7ECF6"/>
          </a:solidFill>
          <a:ln xmlns:a="http://schemas.openxmlformats.org/drawingml/2006/main" w="14288">
            <a:solidFill>
              <a:srgbClr val="4674CD"/>
            </a:solidFill>
            <a:prstDash val="solid"/>
          </a:ln>
        </p:spPr>
        <p:txBody>
          <a:bodyPr xmlns:a="http://schemas.openxmlformats.org/drawingml/2006/main" wrap="square" lIns="19050" tIns="19050" rIns="19050" bIns="19050" anchor="ctr">
            <a:noAutofit/>
          </a:bodyPr>
          <a:lstStyle xmlns:a="http://schemas.openxmlformats.org/drawingml/2006/main">
            <a:defPPr algn="ctr">
              <a:defRPr sz="1425" b="0">
                <a:solidFill>
                  <a:srgbClr val="17375E"/>
                </a:solidFill>
              </a:defRPr>
            </a:defPPr>
          </a:lstStyle>
          <a:p xmlns:a="http://schemas.openxmlformats.org/drawingml/2006/main">
            <a:pPr algn="ctr">
              <a:lnSpc>
                <a:spcPct val="102000"/>
              </a:lnSpc>
              <a:spcBef>
                <a:spcPts val="0"/>
              </a:spcBef>
              <a:spcAft>
                <a:spcPts val="0"/>
              </a:spcAft>
              <a:buNone/>
              <a:defRPr sz="1425" b="0">
                <a:solidFill>
                  <a:srgbClr val="17375E"/>
                </a:solidFill>
              </a:defRPr>
            </a:pPr>
            <a:r>
              <a:rPr sz="1425" b="0">
                <a:solidFill>
                  <a:srgbClr val="17375E"/>
                </a:solidFill>
                <a:latin typeface="SimHei"/>
                <a:ea typeface="SimHei"/>
                <a:cs typeface="SimHei"/>
              </a:rPr>
              <a:t>局部／全局评价</a:t>
            </a:r>
          </a:p>
        </p:txBody>
      </p:sp>
      <p:cxnSp>
        <p:nvCxnSpPr>
          <p:cNvPr id="54" name="chen-evaluation-input">
            <a:extLst xmlns:a="http://schemas.openxmlformats.org/drawingml/2006/main">
              <a:ext uri="{FF2B5EF4-FFF2-40B4-BE49-F238E27FC236}">
                <a16:creationId xmlns:a16="http://schemas.microsoft.com/office/drawing/2014/main" id="{0FFC4030-F8CC-44A5-9261-FE8B7D9DA104}"/>
              </a:ext>
            </a:extLst>
          </p:cNvPr>
          <p:cNvCxnSpPr/>
          <p:nvPr/>
        </p:nvCxnSpPr>
        <p:spPr>
          <a:xfrm xmlns:a="http://schemas.openxmlformats.org/drawingml/2006/main" flipH="0" flipV="0">
            <a:off x="4043363" y="3971925"/>
            <a:ext cx="0" cy="123825"/>
          </a:xfrm>
          <a:prstGeom xmlns:a="http://schemas.openxmlformats.org/drawingml/2006/main" prst="straightConnector1">
            <a:avLst/>
          </a:prstGeom>
          <a:ln xmlns:a="http://schemas.openxmlformats.org/drawingml/2006/main" w="12383">
            <a:solidFill>
              <a:srgbClr val="4674CD"/>
            </a:solidFill>
            <a:prstDash val="solid"/>
            <a:tailEnd type="triangle" w="sm" len="sm"/>
          </a:ln>
        </p:spPr>
      </p:cxnSp>
      <p:sp>
        <p:nvSpPr>
          <p:cNvPr id="55" name="chen-explanation">
            <a:extLst xmlns:a="http://schemas.openxmlformats.org/drawingml/2006/main">
              <a:ext uri="{FF2B5EF4-FFF2-40B4-BE49-F238E27FC236}">
                <a16:creationId xmlns:a16="http://schemas.microsoft.com/office/drawing/2014/main" id="{2C8E29B2-6286-4980-A53D-7E3E09703F7B}"/>
              </a:ext>
            </a:extLst>
          </p:cNvPr>
          <p:cNvSpPr>
            <a:spLocks xmlns:a="http://schemas.openxmlformats.org/drawingml/2006/main" noGrp="1"/>
          </p:cNvSpPr>
          <p:nvPr/>
        </p:nvSpPr>
        <p:spPr>
          <a:xfrm xmlns:a="http://schemas.openxmlformats.org/drawingml/2006/main">
            <a:off x="6477000" y="30861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Chen</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[24]</a:t>
            </a:r>
            <a:r>
              <a:rPr sz="1613" b="0">
                <a:solidFill>
                  <a:srgbClr val="111111"/>
                </a:solidFill>
                <a:latin typeface="SimHei"/>
                <a:ea typeface="SimHei"/>
                <a:cs typeface="SimHei"/>
              </a:rPr>
              <a:t>：站内图组织工序、人员与物料，</a:t>
            </a: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SimHei"/>
                <a:ea typeface="SimHei"/>
                <a:cs typeface="SimHei"/>
              </a:rPr>
              <a:t>支持各站派工规则选择。</a:t>
            </a:r>
          </a:p>
        </p:txBody>
      </p:sp>
      <p:sp>
        <p:nvSpPr>
          <p:cNvPr id="56" name="chen-cross-station-explanation">
            <a:extLst xmlns:a="http://schemas.openxmlformats.org/drawingml/2006/main">
              <a:ext uri="{FF2B5EF4-FFF2-40B4-BE49-F238E27FC236}">
                <a16:creationId xmlns:a16="http://schemas.microsoft.com/office/drawing/2014/main" id="{6B4A52EC-AB6E-4DB3-8B7C-7428B07D64DE}"/>
              </a:ext>
            </a:extLst>
          </p:cNvPr>
          <p:cNvSpPr>
            <a:spLocks xmlns:a="http://schemas.openxmlformats.org/drawingml/2006/main" noGrp="1"/>
          </p:cNvSpPr>
          <p:nvPr/>
        </p:nvSpPr>
        <p:spPr>
          <a:xfrm xmlns:a="http://schemas.openxmlformats.org/drawingml/2006/main">
            <a:off x="6477000" y="378142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SimHei"/>
                <a:ea typeface="SimHei"/>
                <a:cs typeface="SimHei"/>
              </a:rPr>
              <a:t>跨站聚合进入局部与全局评价，</a:t>
            </a: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SimHei"/>
                <a:ea typeface="SimHei"/>
                <a:cs typeface="SimHei"/>
              </a:rPr>
              <a:t>协调各站调度。</a:t>
            </a:r>
          </a:p>
        </p:txBody>
      </p:sp>
      <p:sp>
        <p:nvSpPr>
          <p:cNvPr id="57" name="ding-diagram-label">
            <a:extLst xmlns:a="http://schemas.openxmlformats.org/drawingml/2006/main">
              <a:ext uri="{FF2B5EF4-FFF2-40B4-BE49-F238E27FC236}">
                <a16:creationId xmlns:a16="http://schemas.microsoft.com/office/drawing/2014/main" id="{58A5108E-CCE6-4F17-A1EE-B592C505249E}"/>
              </a:ext>
            </a:extLst>
          </p:cNvPr>
          <p:cNvSpPr>
            <a:spLocks xmlns:a="http://schemas.openxmlformats.org/drawingml/2006/main" noGrp="1"/>
          </p:cNvSpPr>
          <p:nvPr/>
        </p:nvSpPr>
        <p:spPr>
          <a:xfrm xmlns:a="http://schemas.openxmlformats.org/drawingml/2006/main">
            <a:off x="2076450" y="4524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Ding</a:t>
            </a:r>
            <a:r>
              <a:rPr sz="1388" b="1">
                <a:solidFill>
                  <a:srgbClr val="315CA9"/>
                </a:solidFill>
                <a:latin typeface="SimHei"/>
                <a:ea typeface="SimHei"/>
                <a:cs typeface="SimHei"/>
              </a:rPr>
              <a:t>等</a:t>
            </a:r>
            <a:r>
              <a:rPr sz="1388" b="1">
                <a:solidFill>
                  <a:srgbClr val="315CA9"/>
                </a:solidFill>
                <a:latin typeface="Times New Roman"/>
                <a:ea typeface="Times New Roman"/>
                <a:cs typeface="Times New Roman"/>
              </a:rPr>
              <a:t>[33]</a:t>
            </a:r>
          </a:p>
        </p:txBody>
      </p:sp>
      <p:sp>
        <p:nvSpPr>
          <p:cNvPr id="58" name="ding-product">
            <a:extLst xmlns:a="http://schemas.openxmlformats.org/drawingml/2006/main">
              <a:ext uri="{FF2B5EF4-FFF2-40B4-BE49-F238E27FC236}">
                <a16:creationId xmlns:a16="http://schemas.microsoft.com/office/drawing/2014/main" id="{9AFE0E39-3998-4067-B9C9-1207E3A44C33}"/>
              </a:ext>
            </a:extLst>
          </p:cNvPr>
          <p:cNvSpPr>
            <a:spLocks xmlns:a="http://schemas.openxmlformats.org/drawingml/2006/main" noGrp="1"/>
          </p:cNvSpPr>
          <p:nvPr/>
        </p:nvSpPr>
        <p:spPr>
          <a:xfrm xmlns:a="http://schemas.openxmlformats.org/drawingml/2006/main">
            <a:off x="2190750" y="4895850"/>
            <a:ext cx="438150" cy="3810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产品</a:t>
            </a:r>
          </a:p>
        </p:txBody>
      </p:sp>
      <p:sp>
        <p:nvSpPr>
          <p:cNvPr id="59" name="ding-process">
            <a:extLst xmlns:a="http://schemas.openxmlformats.org/drawingml/2006/main">
              <a:ext uri="{FF2B5EF4-FFF2-40B4-BE49-F238E27FC236}">
                <a16:creationId xmlns:a16="http://schemas.microsoft.com/office/drawing/2014/main" id="{6E8C5A3F-D919-4B95-A62D-4C5627778A24}"/>
              </a:ext>
            </a:extLst>
          </p:cNvPr>
          <p:cNvSpPr>
            <a:spLocks xmlns:a="http://schemas.openxmlformats.org/drawingml/2006/main" noGrp="1"/>
          </p:cNvSpPr>
          <p:nvPr/>
        </p:nvSpPr>
        <p:spPr>
          <a:xfrm xmlns:a="http://schemas.openxmlformats.org/drawingml/2006/main">
            <a:off x="3219450" y="4895850"/>
            <a:ext cx="438150" cy="3810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工艺</a:t>
            </a:r>
          </a:p>
        </p:txBody>
      </p:sp>
      <p:sp>
        <p:nvSpPr>
          <p:cNvPr id="60" name="ding-resource">
            <a:extLst xmlns:a="http://schemas.openxmlformats.org/drawingml/2006/main">
              <a:ext uri="{FF2B5EF4-FFF2-40B4-BE49-F238E27FC236}">
                <a16:creationId xmlns:a16="http://schemas.microsoft.com/office/drawing/2014/main" id="{52A3425E-FB5B-4F5F-91DC-642F18653D39}"/>
              </a:ext>
            </a:extLst>
          </p:cNvPr>
          <p:cNvSpPr>
            <a:spLocks xmlns:a="http://schemas.openxmlformats.org/drawingml/2006/main" noGrp="1"/>
          </p:cNvSpPr>
          <p:nvPr/>
        </p:nvSpPr>
        <p:spPr>
          <a:xfrm xmlns:a="http://schemas.openxmlformats.org/drawingml/2006/main">
            <a:off x="2705100" y="5476875"/>
            <a:ext cx="438150" cy="3810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资源</a:t>
            </a:r>
          </a:p>
        </p:txBody>
      </p:sp>
      <p:sp>
        <p:nvSpPr>
          <p:cNvPr id="64" name="ding-event-attributes">
            <a:extLst xmlns:a="http://schemas.openxmlformats.org/drawingml/2006/main">
              <a:ext uri="{FF2B5EF4-FFF2-40B4-BE49-F238E27FC236}">
                <a16:creationId xmlns:a16="http://schemas.microsoft.com/office/drawing/2014/main" id="{EDE3D5CB-A959-4093-A79F-997017E55745}"/>
              </a:ext>
            </a:extLst>
          </p:cNvPr>
          <p:cNvSpPr>
            <a:spLocks xmlns:a="http://schemas.openxmlformats.org/drawingml/2006/main" noGrp="1"/>
          </p:cNvSpPr>
          <p:nvPr/>
        </p:nvSpPr>
        <p:spPr>
          <a:xfrm xmlns:a="http://schemas.openxmlformats.org/drawingml/2006/main">
            <a:off x="1962150" y="5591175"/>
            <a:ext cx="762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E747A"/>
                </a:solidFill>
              </a:defRPr>
            </a:defPPr>
          </a:lstStyle>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SimHei"/>
                <a:ea typeface="SimHei"/>
                <a:cs typeface="SimHei"/>
              </a:rPr>
              <a:t>事件更新</a:t>
            </a:r>
          </a:p>
        </p:txBody>
      </p:sp>
      <p:sp>
        <p:nvSpPr>
          <p:cNvPr id="65" name="hu-diagram-label">
            <a:extLst xmlns:a="http://schemas.openxmlformats.org/drawingml/2006/main">
              <a:ext uri="{FF2B5EF4-FFF2-40B4-BE49-F238E27FC236}">
                <a16:creationId xmlns:a16="http://schemas.microsoft.com/office/drawing/2014/main" id="{172C06F2-D8EE-4C8D-802D-FC97709755A7}"/>
              </a:ext>
            </a:extLst>
          </p:cNvPr>
          <p:cNvSpPr>
            <a:spLocks xmlns:a="http://schemas.openxmlformats.org/drawingml/2006/main" noGrp="1"/>
          </p:cNvSpPr>
          <p:nvPr/>
        </p:nvSpPr>
        <p:spPr>
          <a:xfrm xmlns:a="http://schemas.openxmlformats.org/drawingml/2006/main">
            <a:off x="4191000" y="4524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315CA9"/>
                </a:solidFill>
              </a:defRPr>
            </a:defPPr>
          </a:lstStyle>
          <a:p xmlns:a="http://schemas.openxmlformats.org/drawingml/2006/main">
            <a:pPr algn="l">
              <a:lnSpc>
                <a:spcPct val="108000"/>
              </a:lnSpc>
              <a:spcBef>
                <a:spcPts val="0"/>
              </a:spcBef>
              <a:spcAft>
                <a:spcPts val="0"/>
              </a:spcAft>
              <a:buNone/>
              <a:defRPr sz="1388" b="1">
                <a:solidFill>
                  <a:srgbClr val="315CA9"/>
                </a:solidFill>
              </a:defRPr>
            </a:pPr>
            <a:r>
              <a:rPr sz="1388" b="1">
                <a:solidFill>
                  <a:srgbClr val="315CA9"/>
                </a:solidFill>
                <a:latin typeface="Times New Roman"/>
                <a:ea typeface="Times New Roman"/>
                <a:cs typeface="Times New Roman"/>
              </a:rPr>
              <a:t>Hu</a:t>
            </a:r>
            <a:r>
              <a:rPr sz="1388" b="1">
                <a:solidFill>
                  <a:srgbClr val="315CA9"/>
                </a:solidFill>
                <a:latin typeface="SimHei"/>
                <a:ea typeface="SimHei"/>
                <a:cs typeface="SimHei"/>
              </a:rPr>
              <a:t>等</a:t>
            </a:r>
            <a:r>
              <a:rPr sz="1388" b="1">
                <a:solidFill>
                  <a:srgbClr val="315CA9"/>
                </a:solidFill>
                <a:latin typeface="Times New Roman"/>
                <a:ea typeface="Times New Roman"/>
                <a:cs typeface="Times New Roman"/>
              </a:rPr>
              <a:t>[34]</a:t>
            </a:r>
          </a:p>
        </p:txBody>
      </p:sp>
      <p:sp>
        <p:nvSpPr>
          <p:cNvPr id="66" name="hu-operation">
            <a:extLst xmlns:a="http://schemas.openxmlformats.org/drawingml/2006/main">
              <a:ext uri="{FF2B5EF4-FFF2-40B4-BE49-F238E27FC236}">
                <a16:creationId xmlns:a16="http://schemas.microsoft.com/office/drawing/2014/main" id="{01B330A4-421F-4AA1-B8B0-D3632D66F674}"/>
              </a:ext>
            </a:extLst>
          </p:cNvPr>
          <p:cNvSpPr>
            <a:spLocks xmlns:a="http://schemas.openxmlformats.org/drawingml/2006/main" noGrp="1"/>
          </p:cNvSpPr>
          <p:nvPr/>
        </p:nvSpPr>
        <p:spPr>
          <a:xfrm xmlns:a="http://schemas.openxmlformats.org/drawingml/2006/main">
            <a:off x="4267200" y="4895850"/>
            <a:ext cx="438150" cy="381000"/>
          </a:xfrm>
          <a:prstGeom xmlns:a="http://schemas.openxmlformats.org/drawingml/2006/main" prst="ellipse">
            <a:avLst/>
          </a:prstGeom>
          <a:solidFill xmlns:a="http://schemas.openxmlformats.org/drawingml/2006/main">
            <a:srgbClr val="F1F4F8"/>
          </a:solidFill>
          <a:ln xmlns:a="http://schemas.openxmlformats.org/drawingml/2006/main" w="14288">
            <a:solidFill>
              <a:srgbClr val="4674CD"/>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工序</a:t>
            </a:r>
          </a:p>
        </p:txBody>
      </p:sp>
      <p:sp>
        <p:nvSpPr>
          <p:cNvPr id="67" name="hu-machine">
            <a:extLst xmlns:a="http://schemas.openxmlformats.org/drawingml/2006/main">
              <a:ext uri="{FF2B5EF4-FFF2-40B4-BE49-F238E27FC236}">
                <a16:creationId xmlns:a16="http://schemas.microsoft.com/office/drawing/2014/main" id="{23BB1939-D987-4B2F-9FE3-4F97F77C592F}"/>
              </a:ext>
            </a:extLst>
          </p:cNvPr>
          <p:cNvSpPr>
            <a:spLocks xmlns:a="http://schemas.openxmlformats.org/drawingml/2006/main" noGrp="1"/>
          </p:cNvSpPr>
          <p:nvPr/>
        </p:nvSpPr>
        <p:spPr>
          <a:xfrm xmlns:a="http://schemas.openxmlformats.org/drawingml/2006/main">
            <a:off x="5314950" y="4895850"/>
            <a:ext cx="438150"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6E747A"/>
            </a:solidFill>
            <a:prstDash val="solid"/>
          </a:ln>
        </p:spPr>
        <p:txBody>
          <a:bodyPr xmlns:a="http://schemas.openxmlformats.org/drawingml/2006/main" wrap="squar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机器</a:t>
            </a:r>
          </a:p>
        </p:txBody>
      </p:sp>
      <p:sp>
        <p:nvSpPr>
          <p:cNvPr id="68" name="hu-worker">
            <a:extLst xmlns:a="http://schemas.openxmlformats.org/drawingml/2006/main">
              <a:ext uri="{FF2B5EF4-FFF2-40B4-BE49-F238E27FC236}">
                <a16:creationId xmlns:a16="http://schemas.microsoft.com/office/drawing/2014/main" id="{96659DD3-D9B5-4C1F-AD2D-103B303874B2}"/>
              </a:ext>
            </a:extLst>
          </p:cNvPr>
          <p:cNvSpPr>
            <a:spLocks xmlns:a="http://schemas.openxmlformats.org/drawingml/2006/main" noGrp="1"/>
          </p:cNvSpPr>
          <p:nvPr/>
        </p:nvSpPr>
        <p:spPr>
          <a:xfrm xmlns:a="http://schemas.openxmlformats.org/drawingml/2006/main">
            <a:off x="4791075" y="5476875"/>
            <a:ext cx="438150" cy="381000"/>
          </a:xfrm>
          <a:prstGeom xmlns:a="http://schemas.openxmlformats.org/drawingml/2006/main" prst="ellipse">
            <a:avLst/>
          </a:prstGeom>
          <a:solidFill xmlns:a="http://schemas.openxmlformats.org/drawingml/2006/main">
            <a:srgbClr val="FFFFFF"/>
          </a:solidFill>
          <a:ln xmlns:a="http://schemas.openxmlformats.org/drawingml/2006/main" w="14288">
            <a:solidFill>
              <a:srgbClr val="6E747A"/>
            </a:solidFill>
            <a:prstDash val="solid"/>
          </a:ln>
        </p:spPr>
        <p:txBody>
          <a:bodyPr xmlns:a="http://schemas.openxmlformats.org/drawingml/2006/main" wrap="none" lIns="19050" tIns="19050" rIns="19050" bIns="19050" anchor="ctr">
            <a:noAutofit/>
          </a:bodyPr>
          <a:lstStyle xmlns:a="http://schemas.openxmlformats.org/drawingml/2006/main">
            <a:defPPr algn="ctr">
              <a:defRPr sz="1350" b="0">
                <a:solidFill>
                  <a:srgbClr val="17375E"/>
                </a:solidFill>
              </a:defRPr>
            </a:defPPr>
          </a:lstStyle>
          <a:p xmlns:a="http://schemas.openxmlformats.org/drawingml/2006/main">
            <a:pPr algn="ctr">
              <a:lnSpc>
                <a:spcPct val="102000"/>
              </a:lnSpc>
              <a:spcBef>
                <a:spcPts val="0"/>
              </a:spcBef>
              <a:spcAft>
                <a:spcPts val="0"/>
              </a:spcAft>
              <a:buNone/>
              <a:defRPr sz="1350" b="0">
                <a:solidFill>
                  <a:srgbClr val="17375E"/>
                </a:solidFill>
              </a:defRPr>
            </a:pPr>
            <a:r>
              <a:rPr sz="1350" b="0">
                <a:solidFill>
                  <a:srgbClr val="17375E"/>
                </a:solidFill>
                <a:latin typeface="SimHei"/>
                <a:ea typeface="SimHei"/>
                <a:cs typeface="SimHei"/>
              </a:rPr>
              <a:t>人员</a:t>
            </a:r>
          </a:p>
        </p:txBody>
      </p:sp>
      <p:sp>
        <p:nvSpPr>
          <p:cNvPr id="72" name="hu-time-attributes">
            <a:extLst xmlns:a="http://schemas.openxmlformats.org/drawingml/2006/main">
              <a:ext uri="{FF2B5EF4-FFF2-40B4-BE49-F238E27FC236}">
                <a16:creationId xmlns:a16="http://schemas.microsoft.com/office/drawing/2014/main" id="{6B418CA9-A0FE-43CA-91CB-AA64810B68F0}"/>
              </a:ext>
            </a:extLst>
          </p:cNvPr>
          <p:cNvSpPr>
            <a:spLocks xmlns:a="http://schemas.openxmlformats.org/drawingml/2006/main" noGrp="1"/>
          </p:cNvSpPr>
          <p:nvPr/>
        </p:nvSpPr>
        <p:spPr>
          <a:xfrm xmlns:a="http://schemas.openxmlformats.org/drawingml/2006/main">
            <a:off x="5353050" y="5648325"/>
            <a:ext cx="762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E747A"/>
                </a:solidFill>
              </a:defRPr>
            </a:defPPr>
          </a:lstStyle>
          <a:p xmlns:a="http://schemas.openxmlformats.org/drawingml/2006/main">
            <a:pPr algn="l">
              <a:lnSpc>
                <a:spcPct val="108000"/>
              </a:lnSpc>
              <a:spcBef>
                <a:spcPts val="0"/>
              </a:spcBef>
              <a:spcAft>
                <a:spcPts val="0"/>
              </a:spcAft>
              <a:buNone/>
              <a:defRPr sz="1275" b="0">
                <a:solidFill>
                  <a:srgbClr val="6E747A"/>
                </a:solidFill>
              </a:defRPr>
            </a:pPr>
            <a:r>
              <a:rPr sz="1275" b="0">
                <a:solidFill>
                  <a:srgbClr val="6E747A"/>
                </a:solidFill>
                <a:latin typeface="SimHei"/>
                <a:ea typeface="SimHei"/>
                <a:cs typeface="SimHei"/>
              </a:rPr>
              <a:t>时间属性</a:t>
            </a:r>
          </a:p>
        </p:txBody>
      </p:sp>
      <p:sp>
        <p:nvSpPr>
          <p:cNvPr id="73" name="ding-explanation">
            <a:extLst xmlns:a="http://schemas.openxmlformats.org/drawingml/2006/main">
              <a:ext uri="{FF2B5EF4-FFF2-40B4-BE49-F238E27FC236}">
                <a16:creationId xmlns:a16="http://schemas.microsoft.com/office/drawing/2014/main" id="{60DA04B5-98E9-486D-92AB-C3E6D6DB4DB3}"/>
              </a:ext>
            </a:extLst>
          </p:cNvPr>
          <p:cNvSpPr>
            <a:spLocks xmlns:a="http://schemas.openxmlformats.org/drawingml/2006/main" noGrp="1"/>
          </p:cNvSpPr>
          <p:nvPr/>
        </p:nvSpPr>
        <p:spPr>
          <a:xfrm xmlns:a="http://schemas.openxmlformats.org/drawingml/2006/main">
            <a:off x="6477000" y="45720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Ding</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[33]</a:t>
            </a:r>
            <a:r>
              <a:rPr sz="1613" b="0">
                <a:solidFill>
                  <a:srgbClr val="111111"/>
                </a:solidFill>
                <a:latin typeface="SimHei"/>
                <a:ea typeface="SimHei"/>
                <a:cs typeface="SimHei"/>
              </a:rPr>
              <a:t>：知识图谱通过查询、规则推理和</a:t>
            </a: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SimHei"/>
                <a:ea typeface="SimHei"/>
                <a:cs typeface="SimHei"/>
              </a:rPr>
              <a:t>事件更新，形成实时状态。</a:t>
            </a:r>
          </a:p>
        </p:txBody>
      </p:sp>
      <p:sp>
        <p:nvSpPr>
          <p:cNvPr id="74" name="hu-explanation">
            <a:extLst xmlns:a="http://schemas.openxmlformats.org/drawingml/2006/main">
              <a:ext uri="{FF2B5EF4-FFF2-40B4-BE49-F238E27FC236}">
                <a16:creationId xmlns:a16="http://schemas.microsoft.com/office/drawing/2014/main" id="{75C46C1A-58F0-4E34-9B7F-B9BDA9E8B3A4}"/>
              </a:ext>
            </a:extLst>
          </p:cNvPr>
          <p:cNvSpPr>
            <a:spLocks xmlns:a="http://schemas.openxmlformats.org/drawingml/2006/main" noGrp="1"/>
          </p:cNvSpPr>
          <p:nvPr/>
        </p:nvSpPr>
        <p:spPr>
          <a:xfrm xmlns:a="http://schemas.openxmlformats.org/drawingml/2006/main">
            <a:off x="6477000" y="526732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a:solidFill>
                  <a:srgbClr val="111111"/>
                </a:solidFill>
              </a:defRPr>
            </a:defPPr>
          </a:lstStyle>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Times New Roman"/>
                <a:ea typeface="Times New Roman"/>
                <a:cs typeface="Times New Roman"/>
              </a:rPr>
              <a:t>Hu</a:t>
            </a:r>
            <a:r>
              <a:rPr sz="1613" b="0">
                <a:solidFill>
                  <a:srgbClr val="111111"/>
                </a:solidFill>
                <a:latin typeface="SimHei"/>
                <a:ea typeface="SimHei"/>
                <a:cs typeface="SimHei"/>
              </a:rPr>
              <a:t>等</a:t>
            </a:r>
            <a:r>
              <a:rPr sz="1613" b="0">
                <a:solidFill>
                  <a:srgbClr val="111111"/>
                </a:solidFill>
                <a:latin typeface="Times New Roman"/>
                <a:ea typeface="Times New Roman"/>
                <a:cs typeface="Times New Roman"/>
              </a:rPr>
              <a:t>[34]</a:t>
            </a:r>
            <a:r>
              <a:rPr sz="1613" b="0">
                <a:solidFill>
                  <a:srgbClr val="111111"/>
                </a:solidFill>
                <a:latin typeface="SimHei"/>
                <a:ea typeface="SimHei"/>
                <a:cs typeface="SimHei"/>
              </a:rPr>
              <a:t>：融合资源实体、语义关系与动态时间</a:t>
            </a:r>
          </a:p>
          <a:p xmlns:a="http://schemas.openxmlformats.org/drawingml/2006/main">
            <a:pPr algn="l">
              <a:lnSpc>
                <a:spcPct val="114000"/>
              </a:lnSpc>
              <a:spcBef>
                <a:spcPts val="0"/>
              </a:spcBef>
              <a:spcAft>
                <a:spcPts val="0"/>
              </a:spcAft>
              <a:buNone/>
              <a:defRPr sz="1613" b="0">
                <a:solidFill>
                  <a:srgbClr val="111111"/>
                </a:solidFill>
              </a:defRPr>
            </a:pPr>
            <a:r>
              <a:rPr sz="1613" b="0">
                <a:solidFill>
                  <a:srgbClr val="111111"/>
                </a:solidFill>
                <a:latin typeface="SimHei"/>
                <a:ea typeface="SimHei"/>
                <a:cs typeface="SimHei"/>
              </a:rPr>
              <a:t>属性，通过语义异构图聚合支持资源联合选择。</a:t>
            </a:r>
          </a:p>
        </p:txBody>
      </p:sp>
      <p:sp>
        <p:nvSpPr>
          <p:cNvPr id="75" name="information-note">
            <a:extLst xmlns:a="http://schemas.openxmlformats.org/drawingml/2006/main">
              <a:ext uri="{FF2B5EF4-FFF2-40B4-BE49-F238E27FC236}">
                <a16:creationId xmlns:a16="http://schemas.microsoft.com/office/drawing/2014/main" id="{09D369A9-A204-4F85-8451-2EB9E38D125C}"/>
              </a:ext>
            </a:extLst>
          </p:cNvPr>
          <p:cNvSpPr>
            <a:spLocks xmlns:a="http://schemas.openxmlformats.org/drawingml/2006/main" noGrp="1"/>
          </p:cNvSpPr>
          <p:nvPr/>
        </p:nvSpPr>
        <p:spPr>
          <a:xfrm xmlns:a="http://schemas.openxmlformats.org/drawingml/2006/main">
            <a:off x="609600" y="5953125"/>
            <a:ext cx="1095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0">
                <a:solidFill>
                  <a:srgbClr val="6E747A"/>
                </a:solidFill>
              </a:defRPr>
            </a:defPPr>
          </a:lstStyle>
          <a:p xmlns:a="http://schemas.openxmlformats.org/drawingml/2006/main">
            <a:pPr algn="l">
              <a:lnSpc>
                <a:spcPct val="108000"/>
              </a:lnSpc>
              <a:spcBef>
                <a:spcPts val="0"/>
              </a:spcBef>
              <a:spcAft>
                <a:spcPts val="0"/>
              </a:spcAft>
              <a:buNone/>
              <a:defRPr sz="1238" b="0">
                <a:solidFill>
                  <a:srgbClr val="6E747A"/>
                </a:solidFill>
              </a:defRPr>
            </a:pPr>
            <a:r>
              <a:rPr sz="1238" b="0">
                <a:solidFill>
                  <a:srgbClr val="6E747A"/>
                </a:solidFill>
                <a:latin typeface="SimHei"/>
                <a:ea typeface="SimHei"/>
                <a:cs typeface="SimHei"/>
              </a:rPr>
              <a:t>三组按信息侧重点归纳，可相互交叉。图调度综述依据：</a:t>
            </a:r>
            <a:r>
              <a:rPr sz="1238" b="0">
                <a:solidFill>
                  <a:srgbClr val="6E747A"/>
                </a:solidFill>
                <a:latin typeface="Times New Roman"/>
                <a:ea typeface="Times New Roman"/>
                <a:cs typeface="Times New Roman"/>
              </a:rPr>
              <a:t>Smit</a:t>
            </a:r>
            <a:r>
              <a:rPr sz="1238" b="0">
                <a:solidFill>
                  <a:srgbClr val="6E747A"/>
                </a:solidFill>
                <a:latin typeface="SimHei"/>
                <a:ea typeface="SimHei"/>
                <a:cs typeface="SimHei"/>
              </a:rPr>
              <a:t>等</a:t>
            </a:r>
            <a:r>
              <a:rPr sz="1238" b="0">
                <a:solidFill>
                  <a:srgbClr val="6E747A"/>
                </a:solidFill>
                <a:latin typeface="Times New Roman"/>
                <a:ea typeface="Times New Roman"/>
                <a:cs typeface="Times New Roman"/>
              </a:rPr>
              <a:t>[27]</a:t>
            </a:r>
            <a:r>
              <a:rPr sz="1238" b="0">
                <a:solidFill>
                  <a:srgbClr val="6E747A"/>
                </a:solidFill>
                <a:latin typeface="SimHei"/>
                <a:ea typeface="SimHei"/>
                <a:cs typeface="SimHei"/>
              </a:rPr>
              <a:t>。</a:t>
            </a:r>
          </a:p>
        </p:txBody>
      </p:sp>
      <p:cxnSp>
        <p:nvCxnSpPr>
          <p:cNvPr id="76" name="summary-rule">
            <a:extLst xmlns:a="http://schemas.openxmlformats.org/drawingml/2006/main">
              <a:ext uri="{FF2B5EF4-FFF2-40B4-BE49-F238E27FC236}">
                <a16:creationId xmlns:a16="http://schemas.microsoft.com/office/drawing/2014/main" id="{9E3A7074-BE78-4494-A83E-63EF4EEA9AC4}"/>
              </a:ext>
            </a:extLst>
          </p:cNvPr>
          <p:cNvCxnSpPr/>
          <p:nvPr/>
        </p:nvCxnSpPr>
        <p:spPr>
          <a:xfrm xmlns:a="http://schemas.openxmlformats.org/drawingml/2006/main" flipH="0" flipV="0">
            <a:off x="571500" y="6181725"/>
            <a:ext cx="11049000" cy="0"/>
          </a:xfrm>
          <a:prstGeom xmlns:a="http://schemas.openxmlformats.org/drawingml/2006/main" prst="straightConnector1">
            <a:avLst/>
          </a:prstGeom>
          <a:ln xmlns:a="http://schemas.openxmlformats.org/drawingml/2006/main" w="9525">
            <a:solidFill>
              <a:srgbClr val="CDD7E8"/>
            </a:solidFill>
            <a:prstDash val="solid"/>
          </a:ln>
        </p:spPr>
      </p:cxnSp>
      <p:sp>
        <p:nvSpPr>
          <p:cNvPr id="77" name="summary">
            <a:extLst xmlns:a="http://schemas.openxmlformats.org/drawingml/2006/main">
              <a:ext uri="{FF2B5EF4-FFF2-40B4-BE49-F238E27FC236}">
                <a16:creationId xmlns:a16="http://schemas.microsoft.com/office/drawing/2014/main" id="{B34F4F62-7579-4A1E-BEA7-6C3FFD3DD637}"/>
              </a:ext>
            </a:extLst>
          </p:cNvPr>
          <p:cNvSpPr>
            <a:spLocks xmlns:a="http://schemas.openxmlformats.org/drawingml/2006/main" noGrp="1"/>
          </p:cNvSpPr>
          <p:nvPr/>
        </p:nvSpPr>
        <p:spPr>
          <a:xfrm xmlns:a="http://schemas.openxmlformats.org/drawingml/2006/main">
            <a:off x="619125" y="624840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1">
                <a:solidFill>
                  <a:srgbClr val="111111"/>
                </a:solidFill>
              </a:defRPr>
            </a:defPPr>
          </a:lstStyle>
          <a:p xmlns:a="http://schemas.openxmlformats.org/drawingml/2006/main">
            <a:pPr algn="l">
              <a:lnSpc>
                <a:spcPct val="108000"/>
              </a:lnSpc>
              <a:spcBef>
                <a:spcPts val="0"/>
              </a:spcBef>
              <a:spcAft>
                <a:spcPts val="0"/>
              </a:spcAft>
              <a:buNone/>
              <a:defRPr sz="1613" b="1">
                <a:solidFill>
                  <a:srgbClr val="111111"/>
                </a:solidFill>
              </a:defRPr>
            </a:pPr>
            <a:r>
              <a:rPr sz="1613" b="1">
                <a:solidFill>
                  <a:srgbClr val="111111"/>
                </a:solidFill>
                <a:latin typeface="SimHei"/>
                <a:ea typeface="SimHei"/>
                <a:cs typeface="SimHei"/>
              </a:rPr>
              <a:t>已有方法组织工艺、资源及跨站信息。面向多架次同步转站，</a:t>
            </a:r>
          </a:p>
          <a:p xmlns:a="http://schemas.openxmlformats.org/drawingml/2006/main">
            <a:pPr algn="l">
              <a:lnSpc>
                <a:spcPct val="108000"/>
              </a:lnSpc>
              <a:spcBef>
                <a:spcPts val="0"/>
              </a:spcBef>
              <a:spcAft>
                <a:spcPts val="0"/>
              </a:spcAft>
              <a:buNone/>
              <a:defRPr sz="1613" b="1">
                <a:solidFill>
                  <a:srgbClr val="111111"/>
                </a:solidFill>
              </a:defRPr>
            </a:pPr>
            <a:r>
              <a:rPr sz="1613" b="1">
                <a:solidFill>
                  <a:srgbClr val="111111"/>
                </a:solidFill>
                <a:latin typeface="SimHei"/>
                <a:ea typeface="SimHei"/>
                <a:cs typeface="SimHei"/>
              </a:rPr>
              <a:t>需进一步学习当前状态与后续就绪、转站时间的联系。</a:t>
            </a:r>
          </a:p>
        </p:txBody>
      </p:sp>
    </p:spTree>
    <p:extLst>
      <p:ext uri="{BB962C8B-B14F-4D97-AF65-F5344CB8AC3E}">
        <p14:creationId xmlns:p14="http://schemas.microsoft.com/office/powerpoint/2010/main" val="6495068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模板页眉横线">
            <a:extLst xmlns:a="http://schemas.openxmlformats.org/drawingml/2006/main">
              <a:ext uri="{FF2B5EF4-FFF2-40B4-BE49-F238E27FC236}">
                <a16:creationId xmlns:a16="http://schemas.microsoft.com/office/drawing/2014/main" id="{C4000073-E50E-0B72-94C0-033F230AA567}"/>
              </a:ext>
            </a:extLst>
          </p:cNvPr>
          <p:cNvSpPr>
            <a:spLocks xmlns:a="http://schemas.openxmlformats.org/drawingml/2006/main" noGrp="1"/>
          </p:cNvSpPr>
          <p:nvPr/>
        </p:nvSpPr>
        <p:spPr>
          <a:xfrm xmlns:a="http://schemas.openxmlformats.org/drawingml/2006/main">
            <a:off x="0" y="547054"/>
            <a:ext cx="12192000" cy="45719"/>
          </a:xfrm>
          <a:custGeom xmlns:a="http://schemas.openxmlformats.org/drawingml/2006/main">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rect l="0" t="0" r="r" b="b"/>
            <a:pathLst>
              <a:path w="21600" h="21600">
                <a:moveTo>
                  <a:pt x="0" y="0"/>
                </a:moveTo>
                <a:lnTo>
                  <a:pt x="21600" y="0"/>
                </a:lnTo>
                <a:lnTo>
                  <a:pt x="21600" y="21599"/>
                </a:lnTo>
                <a:lnTo>
                  <a:pt x="0" y="21599"/>
                </a:lnTo>
                <a:lnTo>
                  <a:pt x="0" y="0"/>
                </a:lnTo>
                <a:close/>
              </a:path>
            </a:pathLst>
          </a:custGeom>
          <a:solidFill xmlns:a="http://schemas.openxmlformats.org/drawingml/2006/main">
            <a:srgbClr val="4874CB"/>
          </a:solidFill>
          <a:ln xmlns:a="http://schemas.openxmlformats.org/drawingml/2006/main" w="3175" cap="flat" cmpd="sng">
            <a:solidFill>
              <a:srgbClr val="002060">
                <a:alpha val="0"/>
              </a:srgbClr>
            </a:solidFill>
            <a:round/>
          </a:ln>
        </p:spPr>
        <p:txBody>
          <a:bodyPr xmlns:a="http://schemas.openxmlformats.org/drawingml/2006/main" lIns="0" tIns="0" rIns="0" bIns="0"/>
          <a:lstStyle xmlns:a="http://schemas.openxmlformats.org/drawingml/2006/main"/>
          <a:p xmlns:a="http://schemas.openxmlformats.org/drawingml/2006/main">
            <a:endParaRPr>
              <a:solidFill>
                <a:srgbClr val="4874CB"/>
              </a:solidFill>
              <a:effectLst>
                <a:outerShdw blurRad="38100" dist="25400" dir="5400000" algn="ctr" rotWithShape="0">
                  <a:srgbClr val="6E747A">
                    <a:alpha val="43000"/>
                  </a:srgbClr>
                </a:outerShdw>
              </a:effectLst>
              <a:latin typeface="Times New Roman"/>
              <a:ea typeface="Times New Roman"/>
              <a:cs typeface="Times New Roman"/>
            </a:endParaRPr>
          </a:p>
        </p:txBody>
      </p:sp>
      <p:pic>
        <p:nvPicPr>
          <p:cNvPr id="5" name="同济校标">
            <a:extLst xmlns:a="http://schemas.openxmlformats.org/drawingml/2006/main">
              <a:ext uri="{FF2B5EF4-FFF2-40B4-BE49-F238E27FC236}">
                <a16:creationId xmlns:a16="http://schemas.microsoft.com/office/drawing/2014/main" id="{E3BC79C3-56FA-4FE3-8099-6969473393C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a4cf82721fb4267"/>
          <a:srcRect xmlns:a="http://schemas.openxmlformats.org/drawingml/2006/main" l="0" t="0" r="855" b="0"/>
          <a:stretch xmlns:a="http://schemas.openxmlformats.org/drawingml/2006/main">
            <a:fillRect l="0" t="0" r="0" b="0"/>
          </a:stretch>
        </p:blipFill>
        <p:spPr>
          <a:xfrm xmlns:a="http://schemas.openxmlformats.org/drawingml/2006/main">
            <a:off x="10301625" y="20910"/>
            <a:ext cx="1809525" cy="526143"/>
          </a:xfrm>
          <a:prstGeom xmlns:a="http://schemas.openxmlformats.org/drawingml/2006/main" prst="rect">
            <a:avLst/>
          </a:prstGeom>
        </p:spPr>
      </p:pic>
      <p:sp>
        <p:nvSpPr>
          <p:cNvPr id="6" name="章节标题">
            <a:extLst xmlns:a="http://schemas.openxmlformats.org/drawingml/2006/main">
              <a:ext uri="{FF2B5EF4-FFF2-40B4-BE49-F238E27FC236}">
                <a16:creationId xmlns:a16="http://schemas.microsoft.com/office/drawing/2014/main" id="{CCA1E91B-B668-B211-4835-07E7731878BC}"/>
              </a:ext>
            </a:extLst>
          </p:cNvPr>
          <p:cNvSpPr>
            <a:spLocks xmlns:a="http://schemas.openxmlformats.org/drawingml/2006/main" noGrp="1"/>
          </p:cNvSpPr>
          <p:nvPr/>
        </p:nvSpPr>
        <p:spPr>
          <a:xfrm xmlns:a="http://schemas.openxmlformats.org/drawingml/2006/main">
            <a:off x="400050" y="19050"/>
            <a:ext cx="11306175" cy="542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ctr">
            <a:noAutofit/>
          </a:bodyPr>
          <a:lstStyle xmlns:a="http://schemas.openxmlformats.org/drawingml/2006/main">
            <a:defPPr algn="ctr">
              <a:defRPr sz="3200" b="1">
                <a:solidFill>
                  <a:srgbClr val="4674CD"/>
                </a:solidFill>
              </a:defRPr>
            </a:defPPr>
            <a:lvl1pPr>
              <a:buNone/>
              <a:defRPr sz="3200" b="1">
                <a:solidFill>
                  <a:srgbClr val="17375E"/>
                </a:solidFill>
                <a:latin typeface="Times New Roman"/>
                <a:ea typeface="Times New Roman"/>
                <a:cs typeface="Times New Roman"/>
              </a:defRPr>
            </a:lvl1pPr>
            <a:lvl2pPr algn="ctr">
              <a:buNone/>
              <a:defRPr sz="4000">
                <a:latin typeface="Times New Roman"/>
                <a:ea typeface="Times New Roman"/>
                <a:cs typeface="Times New Roman"/>
              </a:defRPr>
            </a:lvl2pPr>
            <a:lvl3pPr algn="ctr">
              <a:buNone/>
              <a:defRPr sz="4000">
                <a:latin typeface="Times New Roman"/>
                <a:ea typeface="Times New Roman"/>
                <a:cs typeface="Times New Roman"/>
              </a:defRPr>
            </a:lvl3pPr>
            <a:lvl4pPr algn="ctr">
              <a:buNone/>
              <a:defRPr sz="4000">
                <a:latin typeface="Times New Roman"/>
                <a:ea typeface="Times New Roman"/>
                <a:cs typeface="Times New Roman"/>
              </a:defRPr>
            </a:lvl4pPr>
            <a:lvl5pPr algn="ctr">
              <a:buNone/>
              <a:defRPr sz="4000">
                <a:latin typeface="Times New Roman"/>
                <a:ea typeface="Times New Roman"/>
                <a:cs typeface="Times New Roman"/>
              </a:defRPr>
            </a:lvl5pPr>
            <a:lvl6pPr marL="457200" algn="ctr">
              <a:spcBef>
                <a:spcPct val="0"/>
              </a:spcBef>
              <a:spcAft>
                <a:spcPct val="0"/>
              </a:spcAft>
              <a:buNone/>
              <a:defRPr sz="4000">
                <a:latin typeface="Times New Roman"/>
                <a:ea typeface="Times New Roman"/>
                <a:cs typeface="Times New Roman"/>
              </a:defRPr>
            </a:lvl6pPr>
            <a:lvl7pPr marL="914400" algn="ctr">
              <a:spcBef>
                <a:spcPct val="0"/>
              </a:spcBef>
              <a:spcAft>
                <a:spcPct val="0"/>
              </a:spcAft>
              <a:buNone/>
              <a:defRPr sz="4000">
                <a:latin typeface="Times New Roman"/>
                <a:ea typeface="Times New Roman"/>
                <a:cs typeface="Times New Roman"/>
              </a:defRPr>
            </a:lvl7pPr>
            <a:lvl8pPr marL="1371600" algn="ctr">
              <a:spcBef>
                <a:spcPct val="0"/>
              </a:spcBef>
              <a:spcAft>
                <a:spcPct val="0"/>
              </a:spcAft>
              <a:buNone/>
              <a:defRPr sz="4000">
                <a:latin typeface="Times New Roman"/>
                <a:ea typeface="Times New Roman"/>
                <a:cs typeface="Times New Roman"/>
              </a:defRPr>
            </a:lvl8pPr>
            <a:lvl9pPr marL="1828800" algn="ctr">
              <a:spcBef>
                <a:spcPct val="0"/>
              </a:spcBef>
              <a:spcAft>
                <a:spcPct val="0"/>
              </a:spcAft>
              <a:buNone/>
              <a:defRPr sz="4000">
                <a:latin typeface="Times New Roman"/>
                <a:ea typeface="Times New Roman"/>
                <a:cs typeface="Times New Roman"/>
              </a:defRPr>
            </a:lvl9pPr>
          </a:lstStyle>
          <a:p xmlns:a="http://schemas.openxmlformats.org/drawingml/2006/main">
            <a:pPr algn="ctr">
              <a:lnSpc>
                <a:spcPct val="100000"/>
              </a:lnSpc>
              <a:spcBef>
                <a:spcPts val="0"/>
              </a:spcBef>
              <a:spcAft>
                <a:spcPts val="0"/>
              </a:spcAft>
              <a:buNone/>
              <a:defRPr sz="3200" b="1">
                <a:solidFill>
                  <a:srgbClr val="4674CD"/>
                </a:solidFill>
              </a:defRPr>
            </a:pPr>
            <a:r>
              <a:rPr sz="3200" b="1">
                <a:solidFill>
                  <a:srgbClr val="4674CD"/>
                </a:solidFill>
                <a:latin typeface="Times New Roman"/>
                <a:ea typeface="Times New Roman"/>
                <a:cs typeface="Times New Roman"/>
              </a:rPr>
              <a:t>2 </a:t>
            </a:r>
            <a:r>
              <a:rPr sz="3200" b="1">
                <a:solidFill>
                  <a:srgbClr val="4674CD"/>
                </a:solidFill>
                <a:latin typeface="SimHei"/>
                <a:ea typeface="SimHei"/>
                <a:cs typeface="SimHei"/>
              </a:rPr>
              <a:t>文献综述</a:t>
            </a:r>
          </a:p>
        </p:txBody>
      </p:sp>
      <p:sp>
        <p:nvSpPr>
          <p:cNvPr id="7"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315CA9"/>
                </a:solidFill>
                <a:latin typeface="Times New Roman"/>
                <a:ea typeface="Times New Roman"/>
                <a:cs typeface="Times New Roman"/>
              </a:defRPr>
            </a:defPPr>
          </a:lstStyle>
          <a:p xmlns:a="http://schemas.openxmlformats.org/drawingml/2006/main">
            <a:pPr algn="l">
              <a:lnSpc>
                <a:spcPct val="100000"/>
              </a:lnSpc>
              <a:spcBef>
                <a:spcPts val="0"/>
              </a:spcBef>
              <a:spcAft>
                <a:spcPts val="0"/>
              </a:spcAft>
              <a:buNone/>
              <a:defRPr sz="2400" b="1">
                <a:solidFill>
                  <a:srgbClr val="315CA9"/>
                </a:solidFill>
                <a:latin typeface="Times New Roman"/>
                <a:ea typeface="Times New Roman"/>
                <a:cs typeface="Times New Roman"/>
              </a:defRPr>
            </a:pPr>
            <a:r>
              <a:rPr sz="2400" b="1">
                <a:solidFill>
                  <a:srgbClr val="315CA9"/>
                </a:solidFill>
                <a:latin typeface="SimHei"/>
                <a:ea typeface="SimHei"/>
                <a:cs typeface="SimHei"/>
              </a:rPr>
              <a:t>文献综述小结</a:t>
            </a:r>
          </a:p>
        </p:txBody>
      </p:sp>
      <p:sp>
        <p:nvSpPr>
          <p:cNvPr id="8"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000000"/>
                </a:solidFill>
                <a:latin typeface="Times New Roman"/>
                <a:ea typeface="Times New Roman"/>
                <a:cs typeface="Times New Roman"/>
              </a:defRPr>
            </a:defPPr>
          </a:lstStyle>
          <a:p xmlns:a="http://schemas.openxmlformats.org/drawingml/2006/main">
            <a:pPr algn="r">
              <a:buNone/>
              <a:defRPr sz="1350" b="0">
                <a:solidFill>
                  <a:srgbClr val="000000"/>
                </a:solidFill>
                <a:latin typeface="Times New Roman"/>
                <a:ea typeface="Times New Roman"/>
                <a:cs typeface="Times New Roman"/>
              </a:defRPr>
            </a:pPr>
            <a:r>
              <a:rPr sz="1200" b="0">
                <a:solidFill>
                  <a:srgbClr val="666666"/>
                </a:solidFill>
                <a:latin typeface="Times New Roman"/>
                <a:ea typeface="Times New Roman"/>
                <a:cs typeface="Times New Roman"/>
              </a:rPr>
              <a:t>08</a:t>
            </a:r>
          </a:p>
        </p:txBody>
      </p:sp>
      <p:sp>
        <p:nvSpPr>
          <p:cNvPr id="9" name="basis-heading">
            <a:extLst xmlns:a="http://schemas.openxmlformats.org/drawingml/2006/main">
              <a:ext uri="{FF2B5EF4-FFF2-40B4-BE49-F238E27FC236}">
                <a16:creationId xmlns:a16="http://schemas.microsoft.com/office/drawing/2014/main" id="{47FA5685-6233-4F99-82CB-0FF58DA286B8}"/>
              </a:ext>
            </a:extLst>
          </p:cNvPr>
          <p:cNvSpPr>
            <a:spLocks xmlns:a="http://schemas.openxmlformats.org/drawingml/2006/main" noGrp="1"/>
          </p:cNvSpPr>
          <p:nvPr/>
        </p:nvSpPr>
        <p:spPr>
          <a:xfrm xmlns:a="http://schemas.openxmlformats.org/drawingml/2006/main">
            <a:off x="609600" y="1381125"/>
            <a:ext cx="304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08000"/>
              </a:lnSpc>
              <a:spcBef>
                <a:spcPts val="0"/>
              </a:spcBef>
              <a:spcAft>
                <a:spcPts val="0"/>
              </a:spcAft>
              <a:buNone/>
              <a:defRPr sz="1800" b="1">
                <a:solidFill>
                  <a:srgbClr val="315CA9"/>
                </a:solidFill>
              </a:defRPr>
            </a:pPr>
            <a:r>
              <a:rPr sz="1800" b="1">
                <a:solidFill>
                  <a:srgbClr val="315CA9"/>
                </a:solidFill>
                <a:latin typeface="SimHei"/>
                <a:ea typeface="SimHei"/>
                <a:cs typeface="SimHei"/>
              </a:rPr>
              <a:t>已有研究基础</a:t>
            </a:r>
          </a:p>
        </p:txBody>
      </p:sp>
      <p:sp>
        <p:nvSpPr>
          <p:cNvPr id="10" name="gap-heading">
            <a:extLst xmlns:a="http://schemas.openxmlformats.org/drawingml/2006/main">
              <a:ext uri="{FF2B5EF4-FFF2-40B4-BE49-F238E27FC236}">
                <a16:creationId xmlns:a16="http://schemas.microsoft.com/office/drawing/2014/main" id="{72A5AF8C-51FA-4128-BE11-07649A47B915}"/>
              </a:ext>
            </a:extLst>
          </p:cNvPr>
          <p:cNvSpPr>
            <a:spLocks xmlns:a="http://schemas.openxmlformats.org/drawingml/2006/main" noGrp="1"/>
          </p:cNvSpPr>
          <p:nvPr/>
        </p:nvSpPr>
        <p:spPr>
          <a:xfrm xmlns:a="http://schemas.openxmlformats.org/drawingml/2006/main">
            <a:off x="4229100" y="1381125"/>
            <a:ext cx="3476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08000"/>
              </a:lnSpc>
              <a:spcBef>
                <a:spcPts val="0"/>
              </a:spcBef>
              <a:spcAft>
                <a:spcPts val="0"/>
              </a:spcAft>
              <a:buNone/>
              <a:defRPr sz="1800" b="1">
                <a:solidFill>
                  <a:srgbClr val="315CA9"/>
                </a:solidFill>
              </a:defRPr>
            </a:pPr>
            <a:r>
              <a:rPr sz="1800" b="1">
                <a:solidFill>
                  <a:srgbClr val="315CA9"/>
                </a:solidFill>
                <a:latin typeface="SimHei"/>
                <a:ea typeface="SimHei"/>
                <a:cs typeface="SimHei"/>
              </a:rPr>
              <a:t>本课题需进一步处理的问题</a:t>
            </a:r>
          </a:p>
        </p:txBody>
      </p:sp>
      <p:sp>
        <p:nvSpPr>
          <p:cNvPr id="11" name="research-heading">
            <a:extLst xmlns:a="http://schemas.openxmlformats.org/drawingml/2006/main">
              <a:ext uri="{FF2B5EF4-FFF2-40B4-BE49-F238E27FC236}">
                <a16:creationId xmlns:a16="http://schemas.microsoft.com/office/drawing/2014/main" id="{B61A9B06-3F16-4B92-A800-60E20D1F2AD7}"/>
              </a:ext>
            </a:extLst>
          </p:cNvPr>
          <p:cNvSpPr>
            <a:spLocks xmlns:a="http://schemas.openxmlformats.org/drawingml/2006/main" noGrp="1"/>
          </p:cNvSpPr>
          <p:nvPr/>
        </p:nvSpPr>
        <p:spPr>
          <a:xfrm xmlns:a="http://schemas.openxmlformats.org/drawingml/2006/main">
            <a:off x="8248650" y="1381125"/>
            <a:ext cx="33432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08000"/>
              </a:lnSpc>
              <a:spcBef>
                <a:spcPts val="0"/>
              </a:spcBef>
              <a:spcAft>
                <a:spcPts val="0"/>
              </a:spcAft>
              <a:buNone/>
              <a:defRPr sz="1800" b="1">
                <a:solidFill>
                  <a:srgbClr val="315CA9"/>
                </a:solidFill>
              </a:defRPr>
            </a:pPr>
            <a:r>
              <a:rPr sz="1800" b="1">
                <a:solidFill>
                  <a:srgbClr val="315CA9"/>
                </a:solidFill>
                <a:latin typeface="SimHei"/>
                <a:ea typeface="SimHei"/>
                <a:cs typeface="SimHei"/>
              </a:rPr>
              <a:t>对应研究内容</a:t>
            </a:r>
          </a:p>
        </p:txBody>
      </p:sp>
      <p:sp>
        <p:nvSpPr>
          <p:cNvPr id="12" name="basis-0">
            <a:extLst xmlns:a="http://schemas.openxmlformats.org/drawingml/2006/main">
              <a:ext uri="{FF2B5EF4-FFF2-40B4-BE49-F238E27FC236}">
                <a16:creationId xmlns:a16="http://schemas.microsoft.com/office/drawing/2014/main" id="{A4FAA601-725C-46CE-8B9E-9CA9C8D73185}"/>
              </a:ext>
            </a:extLst>
          </p:cNvPr>
          <p:cNvSpPr>
            <a:spLocks xmlns:a="http://schemas.openxmlformats.org/drawingml/2006/main" noGrp="1"/>
          </p:cNvSpPr>
          <p:nvPr/>
        </p:nvSpPr>
        <p:spPr>
          <a:xfrm xmlns:a="http://schemas.openxmlformats.org/drawingml/2006/main">
            <a:off x="619125" y="2019300"/>
            <a:ext cx="3048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联合考虑工序分站、人员配置</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与作业时间</a:t>
            </a:r>
            <a:r>
              <a:rPr sz="1688" b="0">
                <a:solidFill>
                  <a:srgbClr val="111111"/>
                </a:solidFill>
                <a:latin typeface="Times New Roman"/>
                <a:ea typeface="Times New Roman"/>
                <a:cs typeface="Times New Roman"/>
              </a:rPr>
              <a:t>[3,9,10]</a:t>
            </a:r>
            <a:r>
              <a:rPr sz="1688" b="0">
                <a:solidFill>
                  <a:srgbClr val="111111"/>
                </a:solidFill>
                <a:latin typeface="SimHei"/>
                <a:ea typeface="SimHei"/>
                <a:cs typeface="SimHei"/>
              </a:rPr>
              <a:t>。</a:t>
            </a:r>
          </a:p>
        </p:txBody>
      </p:sp>
      <p:sp>
        <p:nvSpPr>
          <p:cNvPr id="13" name="gap-0">
            <a:extLst xmlns:a="http://schemas.openxmlformats.org/drawingml/2006/main">
              <a:ext uri="{FF2B5EF4-FFF2-40B4-BE49-F238E27FC236}">
                <a16:creationId xmlns:a16="http://schemas.microsoft.com/office/drawing/2014/main" id="{9200B57C-DD09-4D93-AD76-D8A41B185F34}"/>
              </a:ext>
            </a:extLst>
          </p:cNvPr>
          <p:cNvSpPr>
            <a:spLocks xmlns:a="http://schemas.openxmlformats.org/drawingml/2006/main" noGrp="1"/>
          </p:cNvSpPr>
          <p:nvPr/>
        </p:nvSpPr>
        <p:spPr>
          <a:xfrm xmlns:a="http://schemas.openxmlformats.org/drawingml/2006/main">
            <a:off x="4229100" y="1952625"/>
            <a:ext cx="34766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给定人员条件下，联合选择</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工序、站位与具体团队，遵守</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首次指派后形成的人员站位绑定。</a:t>
            </a:r>
          </a:p>
        </p:txBody>
      </p:sp>
      <p:sp>
        <p:nvSpPr>
          <p:cNvPr id="14" name="research-0">
            <a:extLst xmlns:a="http://schemas.openxmlformats.org/drawingml/2006/main">
              <a:ext uri="{FF2B5EF4-FFF2-40B4-BE49-F238E27FC236}">
                <a16:creationId xmlns:a16="http://schemas.microsoft.com/office/drawing/2014/main" id="{95BDD496-2146-4E2E-9C08-31AC095079F8}"/>
              </a:ext>
            </a:extLst>
          </p:cNvPr>
          <p:cNvSpPr>
            <a:spLocks xmlns:a="http://schemas.openxmlformats.org/drawingml/2006/main" noGrp="1"/>
          </p:cNvSpPr>
          <p:nvPr/>
        </p:nvSpPr>
        <p:spPr>
          <a:xfrm xmlns:a="http://schemas.openxmlformats.org/drawingml/2006/main">
            <a:off x="8258175" y="2266950"/>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SimHei"/>
                <a:ea typeface="SimHei"/>
                <a:cs typeface="SimHei"/>
              </a:rPr>
              <a:t>基于同构图强化学习的</a:t>
            </a:r>
          </a:p>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SimHei"/>
                <a:ea typeface="SimHei"/>
                <a:cs typeface="SimHei"/>
              </a:rPr>
              <a:t>脉动装配线调度优化方法</a:t>
            </a:r>
          </a:p>
        </p:txBody>
      </p:sp>
      <p:sp>
        <p:nvSpPr>
          <p:cNvPr id="15" name="research-label-0">
            <a:extLst xmlns:a="http://schemas.openxmlformats.org/drawingml/2006/main">
              <a:ext uri="{FF2B5EF4-FFF2-40B4-BE49-F238E27FC236}">
                <a16:creationId xmlns:a16="http://schemas.microsoft.com/office/drawing/2014/main" id="{92E74574-B760-419D-8829-7F479A937A15}"/>
              </a:ext>
            </a:extLst>
          </p:cNvPr>
          <p:cNvSpPr>
            <a:spLocks xmlns:a="http://schemas.openxmlformats.org/drawingml/2006/main" noGrp="1"/>
          </p:cNvSpPr>
          <p:nvPr/>
        </p:nvSpPr>
        <p:spPr>
          <a:xfrm xmlns:a="http://schemas.openxmlformats.org/drawingml/2006/main">
            <a:off x="8258175" y="1933575"/>
            <a:ext cx="3333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4674CD"/>
                </a:solidFill>
              </a:defRPr>
            </a:defPPr>
          </a:lstStyle>
          <a:p xmlns:a="http://schemas.openxmlformats.org/drawingml/2006/main">
            <a:pPr algn="l">
              <a:lnSpc>
                <a:spcPct val="108000"/>
              </a:lnSpc>
              <a:spcBef>
                <a:spcPts val="0"/>
              </a:spcBef>
              <a:spcAft>
                <a:spcPts val="0"/>
              </a:spcAft>
              <a:buNone/>
              <a:defRPr sz="1725" b="1">
                <a:solidFill>
                  <a:srgbClr val="4674CD"/>
                </a:solidFill>
              </a:defRPr>
            </a:pPr>
            <a:r>
              <a:rPr sz="1725" b="1">
                <a:solidFill>
                  <a:srgbClr val="4674CD"/>
                </a:solidFill>
                <a:latin typeface="SimHei"/>
                <a:ea typeface="SimHei"/>
                <a:cs typeface="SimHei"/>
              </a:rPr>
              <a:t>研究内容一</a:t>
            </a:r>
          </a:p>
        </p:txBody>
      </p:sp>
      <p:cxnSp>
        <p:nvCxnSpPr>
          <p:cNvPr id="16" name="basis-gap-link-0">
            <a:extLst xmlns:a="http://schemas.openxmlformats.org/drawingml/2006/main">
              <a:ext uri="{FF2B5EF4-FFF2-40B4-BE49-F238E27FC236}">
                <a16:creationId xmlns:a16="http://schemas.microsoft.com/office/drawing/2014/main" id="{79F7E65D-F643-4507-B514-773DDF3F3F7B}"/>
              </a:ext>
            </a:extLst>
          </p:cNvPr>
          <p:cNvCxnSpPr/>
          <p:nvPr/>
        </p:nvCxnSpPr>
        <p:spPr>
          <a:xfrm xmlns:a="http://schemas.openxmlformats.org/drawingml/2006/main" flipH="0" flipV="0">
            <a:off x="3781425" y="24765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17" name="gap-research-link-0">
            <a:extLst xmlns:a="http://schemas.openxmlformats.org/drawingml/2006/main">
              <a:ext uri="{FF2B5EF4-FFF2-40B4-BE49-F238E27FC236}">
                <a16:creationId xmlns:a16="http://schemas.microsoft.com/office/drawing/2014/main" id="{2BC1F0C8-8F42-4CC1-B8D1-89312F499242}"/>
              </a:ext>
            </a:extLst>
          </p:cNvPr>
          <p:cNvCxnSpPr/>
          <p:nvPr/>
        </p:nvCxnSpPr>
        <p:spPr>
          <a:xfrm xmlns:a="http://schemas.openxmlformats.org/drawingml/2006/main" flipH="0" flipV="0">
            <a:off x="7810500" y="24765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18" name="row-separator-0">
            <a:extLst xmlns:a="http://schemas.openxmlformats.org/drawingml/2006/main">
              <a:ext uri="{FF2B5EF4-FFF2-40B4-BE49-F238E27FC236}">
                <a16:creationId xmlns:a16="http://schemas.microsoft.com/office/drawing/2014/main" id="{786CB895-9F4F-4E42-B33B-4D2AC72032D6}"/>
              </a:ext>
            </a:extLst>
          </p:cNvPr>
          <p:cNvCxnSpPr/>
          <p:nvPr/>
        </p:nvCxnSpPr>
        <p:spPr>
          <a:xfrm xmlns:a="http://schemas.openxmlformats.org/drawingml/2006/main" flipH="0" flipV="0">
            <a:off x="600075" y="3190875"/>
            <a:ext cx="11010900" cy="0"/>
          </a:xfrm>
          <a:prstGeom xmlns:a="http://schemas.openxmlformats.org/drawingml/2006/main" prst="straightConnector1">
            <a:avLst/>
          </a:prstGeom>
          <a:ln xmlns:a="http://schemas.openxmlformats.org/drawingml/2006/main" w="9525">
            <a:solidFill>
              <a:srgbClr val="CDD7E8"/>
            </a:solidFill>
            <a:prstDash val="solid"/>
          </a:ln>
        </p:spPr>
      </p:cxnSp>
      <p:sp>
        <p:nvSpPr>
          <p:cNvPr id="19" name="basis-1">
            <a:extLst xmlns:a="http://schemas.openxmlformats.org/drawingml/2006/main">
              <a:ext uri="{FF2B5EF4-FFF2-40B4-BE49-F238E27FC236}">
                <a16:creationId xmlns:a16="http://schemas.microsoft.com/office/drawing/2014/main" id="{563F6937-92AA-480A-8DE1-E19CB7310A43}"/>
              </a:ext>
            </a:extLst>
          </p:cNvPr>
          <p:cNvSpPr>
            <a:spLocks xmlns:a="http://schemas.openxmlformats.org/drawingml/2006/main" noGrp="1"/>
          </p:cNvSpPr>
          <p:nvPr/>
        </p:nvSpPr>
        <p:spPr>
          <a:xfrm xmlns:a="http://schemas.openxmlformats.org/drawingml/2006/main">
            <a:off x="619125" y="3467100"/>
            <a:ext cx="3048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异构图组织不同资源关系，</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装配重调度考虑执行保留</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与计划改动</a:t>
            </a:r>
            <a:r>
              <a:rPr sz="1688" b="0">
                <a:solidFill>
                  <a:srgbClr val="111111"/>
                </a:solidFill>
                <a:latin typeface="Times New Roman"/>
                <a:ea typeface="Times New Roman"/>
                <a:cs typeface="Times New Roman"/>
              </a:rPr>
              <a:t>[5,29]</a:t>
            </a:r>
            <a:r>
              <a:rPr sz="1688" b="0">
                <a:solidFill>
                  <a:srgbClr val="111111"/>
                </a:solidFill>
                <a:latin typeface="SimHei"/>
                <a:ea typeface="SimHei"/>
                <a:cs typeface="SimHei"/>
              </a:rPr>
              <a:t>。</a:t>
            </a:r>
          </a:p>
        </p:txBody>
      </p:sp>
      <p:sp>
        <p:nvSpPr>
          <p:cNvPr id="20" name="gap-1">
            <a:extLst xmlns:a="http://schemas.openxmlformats.org/drawingml/2006/main">
              <a:ext uri="{FF2B5EF4-FFF2-40B4-BE49-F238E27FC236}">
                <a16:creationId xmlns:a16="http://schemas.microsoft.com/office/drawing/2014/main" id="{B1751489-D71E-44AF-B515-7D318D9638C7}"/>
              </a:ext>
            </a:extLst>
          </p:cNvPr>
          <p:cNvSpPr>
            <a:spLocks xmlns:a="http://schemas.openxmlformats.org/drawingml/2006/main" noGrp="1"/>
          </p:cNvSpPr>
          <p:nvPr/>
        </p:nvSpPr>
        <p:spPr>
          <a:xfrm xmlns:a="http://schemas.openxmlformats.org/drawingml/2006/main">
            <a:off x="4229100" y="3400425"/>
            <a:ext cx="34766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延迟开工后，结合关系表示</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与规定安排保留条件，兼顾</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完工时间和计划稳定性。</a:t>
            </a:r>
          </a:p>
        </p:txBody>
      </p:sp>
      <p:sp>
        <p:nvSpPr>
          <p:cNvPr id="21" name="research-1">
            <a:extLst xmlns:a="http://schemas.openxmlformats.org/drawingml/2006/main">
              <a:ext uri="{FF2B5EF4-FFF2-40B4-BE49-F238E27FC236}">
                <a16:creationId xmlns:a16="http://schemas.microsoft.com/office/drawing/2014/main" id="{F3CAF279-F808-420B-BC42-C000BA9D6469}"/>
              </a:ext>
            </a:extLst>
          </p:cNvPr>
          <p:cNvSpPr>
            <a:spLocks xmlns:a="http://schemas.openxmlformats.org/drawingml/2006/main" noGrp="1"/>
          </p:cNvSpPr>
          <p:nvPr/>
        </p:nvSpPr>
        <p:spPr>
          <a:xfrm xmlns:a="http://schemas.openxmlformats.org/drawingml/2006/main">
            <a:off x="8258175" y="3714750"/>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SimHei"/>
                <a:ea typeface="SimHei"/>
                <a:cs typeface="SimHei"/>
              </a:rPr>
              <a:t>基于异构图强化学习的</a:t>
            </a:r>
          </a:p>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SimHei"/>
                <a:ea typeface="SimHei"/>
                <a:cs typeface="SimHei"/>
              </a:rPr>
              <a:t>脉动装配线动态调度方法</a:t>
            </a:r>
          </a:p>
        </p:txBody>
      </p:sp>
      <p:sp>
        <p:nvSpPr>
          <p:cNvPr id="22" name="research-label-1">
            <a:extLst xmlns:a="http://schemas.openxmlformats.org/drawingml/2006/main">
              <a:ext uri="{FF2B5EF4-FFF2-40B4-BE49-F238E27FC236}">
                <a16:creationId xmlns:a16="http://schemas.microsoft.com/office/drawing/2014/main" id="{EFDE07F5-33D2-4ADE-ADE4-D142AEEB962E}"/>
              </a:ext>
            </a:extLst>
          </p:cNvPr>
          <p:cNvSpPr>
            <a:spLocks xmlns:a="http://schemas.openxmlformats.org/drawingml/2006/main" noGrp="1"/>
          </p:cNvSpPr>
          <p:nvPr/>
        </p:nvSpPr>
        <p:spPr>
          <a:xfrm xmlns:a="http://schemas.openxmlformats.org/drawingml/2006/main">
            <a:off x="8258175" y="3381375"/>
            <a:ext cx="3333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4674CD"/>
                </a:solidFill>
              </a:defRPr>
            </a:defPPr>
          </a:lstStyle>
          <a:p xmlns:a="http://schemas.openxmlformats.org/drawingml/2006/main">
            <a:pPr algn="l">
              <a:lnSpc>
                <a:spcPct val="108000"/>
              </a:lnSpc>
              <a:spcBef>
                <a:spcPts val="0"/>
              </a:spcBef>
              <a:spcAft>
                <a:spcPts val="0"/>
              </a:spcAft>
              <a:buNone/>
              <a:defRPr sz="1725" b="1">
                <a:solidFill>
                  <a:srgbClr val="4674CD"/>
                </a:solidFill>
              </a:defRPr>
            </a:pPr>
            <a:r>
              <a:rPr sz="1725" b="1">
                <a:solidFill>
                  <a:srgbClr val="4674CD"/>
                </a:solidFill>
                <a:latin typeface="SimHei"/>
                <a:ea typeface="SimHei"/>
                <a:cs typeface="SimHei"/>
              </a:rPr>
              <a:t>研究内容二</a:t>
            </a:r>
          </a:p>
        </p:txBody>
      </p:sp>
      <p:cxnSp>
        <p:nvCxnSpPr>
          <p:cNvPr id="23" name="basis-gap-link-1">
            <a:extLst xmlns:a="http://schemas.openxmlformats.org/drawingml/2006/main">
              <a:ext uri="{FF2B5EF4-FFF2-40B4-BE49-F238E27FC236}">
                <a16:creationId xmlns:a16="http://schemas.microsoft.com/office/drawing/2014/main" id="{7E8DE948-DB91-4877-8822-E90A273E88A7}"/>
              </a:ext>
            </a:extLst>
          </p:cNvPr>
          <p:cNvCxnSpPr/>
          <p:nvPr/>
        </p:nvCxnSpPr>
        <p:spPr>
          <a:xfrm xmlns:a="http://schemas.openxmlformats.org/drawingml/2006/main" flipH="0" flipV="0">
            <a:off x="3781425" y="39243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24" name="gap-research-link-1">
            <a:extLst xmlns:a="http://schemas.openxmlformats.org/drawingml/2006/main">
              <a:ext uri="{FF2B5EF4-FFF2-40B4-BE49-F238E27FC236}">
                <a16:creationId xmlns:a16="http://schemas.microsoft.com/office/drawing/2014/main" id="{0D0850D3-D9F3-4B54-BA64-43716A0FE841}"/>
              </a:ext>
            </a:extLst>
          </p:cNvPr>
          <p:cNvCxnSpPr/>
          <p:nvPr/>
        </p:nvCxnSpPr>
        <p:spPr>
          <a:xfrm xmlns:a="http://schemas.openxmlformats.org/drawingml/2006/main" flipH="0" flipV="0">
            <a:off x="7810500" y="39243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25" name="row-separator-1">
            <a:extLst xmlns:a="http://schemas.openxmlformats.org/drawingml/2006/main">
              <a:ext uri="{FF2B5EF4-FFF2-40B4-BE49-F238E27FC236}">
                <a16:creationId xmlns:a16="http://schemas.microsoft.com/office/drawing/2014/main" id="{32A929B9-3F4C-4467-A74C-F862E26CE802}"/>
              </a:ext>
            </a:extLst>
          </p:cNvPr>
          <p:cNvCxnSpPr/>
          <p:nvPr/>
        </p:nvCxnSpPr>
        <p:spPr>
          <a:xfrm xmlns:a="http://schemas.openxmlformats.org/drawingml/2006/main" flipH="0" flipV="0">
            <a:off x="600075" y="4638675"/>
            <a:ext cx="11010900" cy="0"/>
          </a:xfrm>
          <a:prstGeom xmlns:a="http://schemas.openxmlformats.org/drawingml/2006/main" prst="straightConnector1">
            <a:avLst/>
          </a:prstGeom>
          <a:ln xmlns:a="http://schemas.openxmlformats.org/drawingml/2006/main" w="9525">
            <a:solidFill>
              <a:srgbClr val="CDD7E8"/>
            </a:solidFill>
            <a:prstDash val="solid"/>
          </a:ln>
        </p:spPr>
      </p:cxnSp>
      <p:sp>
        <p:nvSpPr>
          <p:cNvPr id="26" name="basis-2">
            <a:extLst xmlns:a="http://schemas.openxmlformats.org/drawingml/2006/main">
              <a:ext uri="{FF2B5EF4-FFF2-40B4-BE49-F238E27FC236}">
                <a16:creationId xmlns:a16="http://schemas.microsoft.com/office/drawing/2014/main" id="{6E355A4D-54CE-428F-8ADA-91C65D489E61}"/>
              </a:ext>
            </a:extLst>
          </p:cNvPr>
          <p:cNvSpPr>
            <a:spLocks xmlns:a="http://schemas.openxmlformats.org/drawingml/2006/main" noGrp="1"/>
          </p:cNvSpPr>
          <p:nvPr/>
        </p:nvSpPr>
        <p:spPr>
          <a:xfrm xmlns:a="http://schemas.openxmlformats.org/drawingml/2006/main">
            <a:off x="619125" y="4914900"/>
            <a:ext cx="3048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多站协调与生产语义研究</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已利用跨站信息及动态</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时间属性</a:t>
            </a:r>
            <a:r>
              <a:rPr sz="1688" b="0">
                <a:solidFill>
                  <a:srgbClr val="111111"/>
                </a:solidFill>
                <a:latin typeface="Times New Roman"/>
                <a:ea typeface="Times New Roman"/>
                <a:cs typeface="Times New Roman"/>
              </a:rPr>
              <a:t>[24,33,34]</a:t>
            </a:r>
            <a:r>
              <a:rPr sz="1688" b="0">
                <a:solidFill>
                  <a:srgbClr val="111111"/>
                </a:solidFill>
                <a:latin typeface="SimHei"/>
                <a:ea typeface="SimHei"/>
                <a:cs typeface="SimHei"/>
              </a:rPr>
              <a:t>。</a:t>
            </a:r>
          </a:p>
        </p:txBody>
      </p:sp>
      <p:sp>
        <p:nvSpPr>
          <p:cNvPr id="27" name="gap-2">
            <a:extLst xmlns:a="http://schemas.openxmlformats.org/drawingml/2006/main">
              <a:ext uri="{FF2B5EF4-FFF2-40B4-BE49-F238E27FC236}">
                <a16:creationId xmlns:a16="http://schemas.microsoft.com/office/drawing/2014/main" id="{C0726B27-B87F-4A1E-A44F-25396EE7554A}"/>
              </a:ext>
            </a:extLst>
          </p:cNvPr>
          <p:cNvSpPr>
            <a:spLocks xmlns:a="http://schemas.openxmlformats.org/drawingml/2006/main" noGrp="1"/>
          </p:cNvSpPr>
          <p:nvPr/>
        </p:nvSpPr>
        <p:spPr>
          <a:xfrm xmlns:a="http://schemas.openxmlformats.org/drawingml/2006/main">
            <a:off x="4229100" y="4848225"/>
            <a:ext cx="34766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111111"/>
                </a:solidFill>
              </a:defRPr>
            </a:defPPr>
          </a:lstStyle>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同步转站下，区分当前与</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下一周期任务，学习生产状态</a:t>
            </a:r>
          </a:p>
          <a:p xmlns:a="http://schemas.openxmlformats.org/drawingml/2006/main">
            <a:pPr algn="l">
              <a:lnSpc>
                <a:spcPct val="118000"/>
              </a:lnSpc>
              <a:spcBef>
                <a:spcPts val="0"/>
              </a:spcBef>
              <a:spcAft>
                <a:spcPts val="0"/>
              </a:spcAft>
              <a:buNone/>
              <a:defRPr sz="1688" b="0">
                <a:solidFill>
                  <a:srgbClr val="111111"/>
                </a:solidFill>
              </a:defRPr>
            </a:pPr>
            <a:r>
              <a:rPr sz="1688" b="0">
                <a:solidFill>
                  <a:srgbClr val="111111"/>
                </a:solidFill>
                <a:latin typeface="SimHei"/>
                <a:ea typeface="SimHei"/>
                <a:cs typeface="SimHei"/>
              </a:rPr>
              <a:t>与转站、站位就绪时间的联系。</a:t>
            </a:r>
          </a:p>
        </p:txBody>
      </p:sp>
      <p:sp>
        <p:nvSpPr>
          <p:cNvPr id="28" name="research-2">
            <a:extLst xmlns:a="http://schemas.openxmlformats.org/drawingml/2006/main">
              <a:ext uri="{FF2B5EF4-FFF2-40B4-BE49-F238E27FC236}">
                <a16:creationId xmlns:a16="http://schemas.microsoft.com/office/drawing/2014/main" id="{6975043A-1FF2-4FFD-BBE1-9F9230CAACE8}"/>
              </a:ext>
            </a:extLst>
          </p:cNvPr>
          <p:cNvSpPr>
            <a:spLocks xmlns:a="http://schemas.openxmlformats.org/drawingml/2006/main" noGrp="1"/>
          </p:cNvSpPr>
          <p:nvPr/>
        </p:nvSpPr>
        <p:spPr>
          <a:xfrm xmlns:a="http://schemas.openxmlformats.org/drawingml/2006/main">
            <a:off x="8258175" y="5162550"/>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15CA9"/>
                </a:solidFill>
              </a:defRPr>
            </a:defPPr>
          </a:lstStyle>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SimHei"/>
                <a:ea typeface="SimHei"/>
                <a:cs typeface="SimHei"/>
              </a:rPr>
              <a:t>基于语义增强图强化学习的</a:t>
            </a:r>
          </a:p>
          <a:p xmlns:a="http://schemas.openxmlformats.org/drawingml/2006/main">
            <a:pPr algn="l">
              <a:lnSpc>
                <a:spcPct val="112000"/>
              </a:lnSpc>
              <a:spcBef>
                <a:spcPts val="0"/>
              </a:spcBef>
              <a:spcAft>
                <a:spcPts val="0"/>
              </a:spcAft>
              <a:buNone/>
              <a:defRPr sz="1800" b="1">
                <a:solidFill>
                  <a:srgbClr val="315CA9"/>
                </a:solidFill>
              </a:defRPr>
            </a:pPr>
            <a:r>
              <a:rPr sz="1800" b="1">
                <a:solidFill>
                  <a:srgbClr val="315CA9"/>
                </a:solidFill>
                <a:latin typeface="SimHei"/>
                <a:ea typeface="SimHei"/>
                <a:cs typeface="SimHei"/>
              </a:rPr>
              <a:t>多架次协同动态调度方法</a:t>
            </a:r>
          </a:p>
        </p:txBody>
      </p:sp>
      <p:sp>
        <p:nvSpPr>
          <p:cNvPr id="29" name="research-label-2">
            <a:extLst xmlns:a="http://schemas.openxmlformats.org/drawingml/2006/main">
              <a:ext uri="{FF2B5EF4-FFF2-40B4-BE49-F238E27FC236}">
                <a16:creationId xmlns:a16="http://schemas.microsoft.com/office/drawing/2014/main" id="{CB179D10-2E0B-45E1-8783-A72D5F817941}"/>
              </a:ext>
            </a:extLst>
          </p:cNvPr>
          <p:cNvSpPr>
            <a:spLocks xmlns:a="http://schemas.openxmlformats.org/drawingml/2006/main" noGrp="1"/>
          </p:cNvSpPr>
          <p:nvPr/>
        </p:nvSpPr>
        <p:spPr>
          <a:xfrm xmlns:a="http://schemas.openxmlformats.org/drawingml/2006/main">
            <a:off x="8258175" y="4829175"/>
            <a:ext cx="3333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4674CD"/>
                </a:solidFill>
              </a:defRPr>
            </a:defPPr>
          </a:lstStyle>
          <a:p xmlns:a="http://schemas.openxmlformats.org/drawingml/2006/main">
            <a:pPr algn="l">
              <a:lnSpc>
                <a:spcPct val="108000"/>
              </a:lnSpc>
              <a:spcBef>
                <a:spcPts val="0"/>
              </a:spcBef>
              <a:spcAft>
                <a:spcPts val="0"/>
              </a:spcAft>
              <a:buNone/>
              <a:defRPr sz="1725" b="1">
                <a:solidFill>
                  <a:srgbClr val="4674CD"/>
                </a:solidFill>
              </a:defRPr>
            </a:pPr>
            <a:r>
              <a:rPr sz="1725" b="1">
                <a:solidFill>
                  <a:srgbClr val="4674CD"/>
                </a:solidFill>
                <a:latin typeface="SimHei"/>
                <a:ea typeface="SimHei"/>
                <a:cs typeface="SimHei"/>
              </a:rPr>
              <a:t>研究内容三</a:t>
            </a:r>
          </a:p>
        </p:txBody>
      </p:sp>
      <p:cxnSp>
        <p:nvCxnSpPr>
          <p:cNvPr id="30" name="basis-gap-link-2">
            <a:extLst xmlns:a="http://schemas.openxmlformats.org/drawingml/2006/main">
              <a:ext uri="{FF2B5EF4-FFF2-40B4-BE49-F238E27FC236}">
                <a16:creationId xmlns:a16="http://schemas.microsoft.com/office/drawing/2014/main" id="{4730A3CF-A12F-4BBF-A531-5ADC9561E704}"/>
              </a:ext>
            </a:extLst>
          </p:cNvPr>
          <p:cNvCxnSpPr/>
          <p:nvPr/>
        </p:nvCxnSpPr>
        <p:spPr>
          <a:xfrm xmlns:a="http://schemas.openxmlformats.org/drawingml/2006/main" flipH="0" flipV="0">
            <a:off x="3781425" y="53721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31" name="gap-research-link-2">
            <a:extLst xmlns:a="http://schemas.openxmlformats.org/drawingml/2006/main">
              <a:ext uri="{FF2B5EF4-FFF2-40B4-BE49-F238E27FC236}">
                <a16:creationId xmlns:a16="http://schemas.microsoft.com/office/drawing/2014/main" id="{248F8FC3-F7F0-4B3F-B02A-E788B4771792}"/>
              </a:ext>
            </a:extLst>
          </p:cNvPr>
          <p:cNvCxnSpPr/>
          <p:nvPr/>
        </p:nvCxnSpPr>
        <p:spPr>
          <a:xfrm xmlns:a="http://schemas.openxmlformats.org/drawingml/2006/main" flipH="0" flipV="0">
            <a:off x="7810500" y="5372100"/>
            <a:ext cx="314325" cy="0"/>
          </a:xfrm>
          <a:prstGeom xmlns:a="http://schemas.openxmlformats.org/drawingml/2006/main" prst="straightConnector1">
            <a:avLst/>
          </a:prstGeom>
          <a:ln xmlns:a="http://schemas.openxmlformats.org/drawingml/2006/main" w="19050">
            <a:solidFill>
              <a:srgbClr val="4674CD"/>
            </a:solidFill>
            <a:prstDash val="solid"/>
            <a:tailEnd type="triangle" w="sm" len="sm"/>
          </a:ln>
        </p:spPr>
      </p:cxnSp>
      <p:cxnSp>
        <p:nvCxnSpPr>
          <p:cNvPr id="32" name="summary-rule">
            <a:extLst xmlns:a="http://schemas.openxmlformats.org/drawingml/2006/main">
              <a:ext uri="{FF2B5EF4-FFF2-40B4-BE49-F238E27FC236}">
                <a16:creationId xmlns:a16="http://schemas.microsoft.com/office/drawing/2014/main" id="{ED3E8324-70DD-4248-97F2-F5B25CF36CD3}"/>
              </a:ext>
            </a:extLst>
          </p:cNvPr>
          <p:cNvCxnSpPr/>
          <p:nvPr/>
        </p:nvCxnSpPr>
        <p:spPr>
          <a:xfrm xmlns:a="http://schemas.openxmlformats.org/drawingml/2006/main" flipH="0" flipV="0">
            <a:off x="571500" y="6172200"/>
            <a:ext cx="11049000" cy="0"/>
          </a:xfrm>
          <a:prstGeom xmlns:a="http://schemas.openxmlformats.org/drawingml/2006/main" prst="straightConnector1">
            <a:avLst/>
          </a:prstGeom>
          <a:ln xmlns:a="http://schemas.openxmlformats.org/drawingml/2006/main" w="10478">
            <a:solidFill>
              <a:srgbClr val="CDD7E8"/>
            </a:solidFill>
            <a:prstDash val="solid"/>
          </a:ln>
        </p:spPr>
      </p:cxnSp>
      <p:sp>
        <p:nvSpPr>
          <p:cNvPr id="33" name="summary">
            <a:extLst xmlns:a="http://schemas.openxmlformats.org/drawingml/2006/main">
              <a:ext uri="{FF2B5EF4-FFF2-40B4-BE49-F238E27FC236}">
                <a16:creationId xmlns:a16="http://schemas.microsoft.com/office/drawing/2014/main" id="{F6A3CB2B-C9D9-436C-83C2-B3D2CA27E1BF}"/>
              </a:ext>
            </a:extLst>
          </p:cNvPr>
          <p:cNvSpPr>
            <a:spLocks xmlns:a="http://schemas.openxmlformats.org/drawingml/2006/main" noGrp="1"/>
          </p:cNvSpPr>
          <p:nvPr/>
        </p:nvSpPr>
        <p:spPr>
          <a:xfrm xmlns:a="http://schemas.openxmlformats.org/drawingml/2006/main">
            <a:off x="619125" y="6267450"/>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1">
                <a:solidFill>
                  <a:srgbClr val="111111"/>
                </a:solidFill>
              </a:defRPr>
            </a:defPPr>
          </a:lstStyle>
          <a:p xmlns:a="http://schemas.openxmlformats.org/drawingml/2006/main">
            <a:pPr algn="l">
              <a:lnSpc>
                <a:spcPct val="108000"/>
              </a:lnSpc>
              <a:spcBef>
                <a:spcPts val="0"/>
              </a:spcBef>
              <a:spcAft>
                <a:spcPts val="0"/>
              </a:spcAft>
              <a:buNone/>
              <a:defRPr sz="1688" b="1">
                <a:solidFill>
                  <a:srgbClr val="111111"/>
                </a:solidFill>
              </a:defRPr>
            </a:pPr>
            <a:r>
              <a:rPr sz="1688" b="1">
                <a:solidFill>
                  <a:srgbClr val="111111"/>
                </a:solidFill>
                <a:latin typeface="SimHei"/>
                <a:ea typeface="SimHei"/>
                <a:cs typeface="SimHei"/>
              </a:rPr>
              <a:t>研究逐步扩展：无扰动联合安排、延迟开工后的计划修复，</a:t>
            </a:r>
          </a:p>
          <a:p xmlns:a="http://schemas.openxmlformats.org/drawingml/2006/main">
            <a:pPr algn="l">
              <a:lnSpc>
                <a:spcPct val="108000"/>
              </a:lnSpc>
              <a:spcBef>
                <a:spcPts val="0"/>
              </a:spcBef>
              <a:spcAft>
                <a:spcPts val="0"/>
              </a:spcAft>
              <a:buNone/>
              <a:defRPr sz="1688" b="1">
                <a:solidFill>
                  <a:srgbClr val="111111"/>
                </a:solidFill>
              </a:defRPr>
            </a:pPr>
            <a:r>
              <a:rPr sz="1688" b="1">
                <a:solidFill>
                  <a:srgbClr val="111111"/>
                </a:solidFill>
                <a:latin typeface="SimHei"/>
                <a:ea typeface="SimHei"/>
                <a:cs typeface="SimHei"/>
              </a:rPr>
              <a:t>以及多架次连续执行中的协同调度。</a:t>
            </a:r>
          </a:p>
        </p:txBody>
      </p:sp>
    </p:spTree>
    <p:extLst>
      <p:ext uri="{BB962C8B-B14F-4D97-AF65-F5344CB8AC3E}">
        <p14:creationId xmlns:p14="http://schemas.microsoft.com/office/powerpoint/2010/main" val="642990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SimHei"/>
        <a:cs typeface="Times New Roman"/>
      </a:majorFont>
      <a:minorFont>
        <a:latin typeface="Times New Roman"/>
        <a:ea typeface="SimHei"/>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2026-10-14T02:29:10.2760000Z</dcterms:created>
  <dcterms:modified xsi:type="dcterms:W3CDTF">2026-10-14T02:29:10.2760000Z</dcterms:modified>
</coreProperties>
</file>