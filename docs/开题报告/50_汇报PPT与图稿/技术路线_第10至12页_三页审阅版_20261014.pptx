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f76dba74214cab" /><Relationship Type="http://schemas.openxmlformats.org/officeDocument/2006/relationships/extended-properties" Target="/docProps/app.xml" Id="Rdd0199f1d0e34f33" /><Relationship Type="http://schemas.openxmlformats.org/officeDocument/2006/relationships/officeDocument" Target="/ppt/presentation.xml" Id="Rb4936dfa38094b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e5adbbc2ba424b"/>
  </p:sldMasterIdLst>
  <p:notesMasterIdLst>
    <p:notesMasterId xmlns:r="http://schemas.openxmlformats.org/officeDocument/2006/relationships" r:id="Re894667d55d644da"/>
  </p:notesMasterIdLst>
  <p:sldIdLst>
    <p:sldId xmlns:r="http://schemas.openxmlformats.org/officeDocument/2006/relationships" id="256" r:id="R9ad1af437d4742c8"/>
    <p:sldId xmlns:r="http://schemas.openxmlformats.org/officeDocument/2006/relationships" id="257" r:id="R510aec128f3742ed"/>
    <p:sldId xmlns:r="http://schemas.openxmlformats.org/officeDocument/2006/relationships" id="258" r:id="Rc40eacb5546e4d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1a2b5433d345f1" /><Relationship Type="http://schemas.openxmlformats.org/officeDocument/2006/relationships/slideMaster" Target="/ppt/slideMasters/slideMaster1.xml" Id="R36e5adbbc2ba424b" /><Relationship Type="http://schemas.openxmlformats.org/officeDocument/2006/relationships/notesMaster" Target="/ppt/notesMasters/notesMaster1.xml" Id="Re894667d55d644da" /><Relationship Type="http://schemas.openxmlformats.org/officeDocument/2006/relationships/presProps" Target="/ppt/presProps.xml" Id="Re4d9a1adcf7446cd" /><Relationship Type="http://schemas.openxmlformats.org/officeDocument/2006/relationships/tableStyles" Target="/ppt/tableStyles.xml" Id="Rd9aa99179d594aec" /><Relationship Type="http://schemas.openxmlformats.org/officeDocument/2006/relationships/slide" Target="/ppt/slides/slide1.xml" Id="R9ad1af437d4742c8" /><Relationship Type="http://schemas.openxmlformats.org/officeDocument/2006/relationships/slide" Target="/ppt/slides/slide2.xml" Id="R510aec128f3742ed" /><Relationship Type="http://schemas.openxmlformats.org/officeDocument/2006/relationships/slide" Target="/ppt/slides/slide3.xml" Id="Rc40eacb5546e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fbd9e7fc745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ed31b512ae4d5a" /><Relationship Type="http://schemas.openxmlformats.org/officeDocument/2006/relationships/notesMaster" Target="/ppt/notesMasters/notesMaster1.xml" Id="Rc575981a085848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6452c41ec45cf" /><Relationship Type="http://schemas.openxmlformats.org/officeDocument/2006/relationships/notesMaster" Target="/ppt/notesMasters/notesMaster1.xml" Id="R6df7569aa5cc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eb7e57b914695" /><Relationship Type="http://schemas.openxmlformats.org/officeDocument/2006/relationships/notesMaster" Target="/ppt/notesMasters/notesMaster1.xml" Id="R36e51151636a4b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研究内容一将工艺与资源信息组织在同一图中，采用共享传播规则生成表示。策略依次选择工序、站位和具体团队，后续选择以前面选择为条件。动作掩码和时间分配检查前序、资格、人数、占用及绑定，形成合法起止安排。状态随安排进展更新，全部任务安排后输出排程。前期CAC录用成果提供联合调度基础，新的同构方案需要独立实现、训练和验证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本页右侧说明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工序、站位与团队的关联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工序选择影响后续作业条件，站位安排改变任务分布与可选人员，团队组成影响执行时间。围绕三项决策的相互联系，开展无扰动条件下的联合静态调度。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同构图统一表示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将工艺关系与站位、人员信息组织在同一图中，采用共享图传播规则，使各项决策共同读取工艺与资源状态，感知已有安排对后续选择的影响。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自回归联合决策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依次选择工序、执行站位和具体团队。站位选择以所选工序为条件，团队选择进一步结合工序与站位信息，逐人形成完整团队，保持各项选择之间的联系。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重点句：同构图提供共同状态，自回归决策实现工序、站位与具体团队的联动选择。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素材依据：开题报告_汇报PPT_v4同步修订_20261013.pptx，第10页；开题报告-陆晓-v4.docx，4.2.1及5.2。技术路线图依据原页模块重排，正式研究名称与方法边界沿用原稿。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研究内容二按类型组织工序、站位、人员和技能及其关系，为联合策略提供表示。重调度时，保留基准排程中计划开工时刻早于重调度时刻的原安排，继承已使用人员的站位绑定，修复其余允许调整的条目。修复结果同时评价完工时间与开工时刻、站位和团队变化。相关论文已投稿，已有四个工业测试实例、36个固定延迟场景及结构变体的实验基础。具体场景和实验数字按相应论文版本解释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本页右侧说明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工艺与资源关系的分别编码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工艺前序、技能需求、人员资格和站位归属具有不同生产含义。通过异构图区分实体与关系，按关系传播信息，使联合决策分别利用工艺联系与资源条件。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延迟开工后的计划修复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依据固定基准计划确定保留与调整范围，保留规定工序的原安排，继承已有人员站位绑定。根据已知开工延迟，联合修订可调工序的站位、具体团队与作业时间。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完工效率与计划稳定性的兼顾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将完工时间与相对基准的开工、站位和团队变更共同纳入调度目标，研究恢复生产进度与减少计划改动之间的权衡，形成考虑原计划延续的重调度方法。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重点句：分别利用工艺与资源关系，在规定范围内修复受扰计划，兼顾完工效率与计划稳定性。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素材依据：开题报告_汇报PPT_v4同步修订_20261013.pptx，第11页；开题报告-陆晓-v4.docx，4.2.2及5.3。技术路线图依据原页模块重排，正式研究名称与方法边界沿用原稿。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研究内容三复用异构图编码和条件决策，在此基础上增加分层融合与时间预测训练。飞机层对未完工序分组聚合，并拼接任务数量、工时和技能需求；站位层分别汇总当前与下一周期的任务及人员条件；整线层汇总各站负荷、周期进度和飞机数量。两个时间输出分别预测本次同步转站相对现有估计的修正，以及下一周期各站的就绪偏差。后续实际执行结果形成标签，预测误差训练时间预测模块及策略共享的图编码、融合模块。节点表示、分层上下文和预测数值参与候选评分，随后选择工序、站位和团队并分配合法时间。当前周期预测同时用于奖励塑形，策略采用PPO训练，生产过程持续至整批飞机完成并离线。完整效果仍需实验验证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下一周期就绪偏差以该周期实际起点加参考周期长度为参照，偏差可正可负。未知扰动不提前输入，实际结果只在执行后成为监督标签。固定预测副本在采样轨迹内保持参数不变，每次决策仍读取最新状态；在线共享模块按训练批次更新。该实现安排继续沿用确认稿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方法依据：v4第4.2.3、5.4及最新创新点确认稿；辅助任务训练共享表示的文献依据：[35]；PPO：[36]；动作掩码：[37]。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本页右侧说明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同步脉动下的多架次协同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多架飞机在不同站位并行装配，局部延迟可能推迟全线同步转站，并影响下一周期的作业条件，需要协调各站当前与后续任务。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飞机、站位与整线的分层融合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在工序与资源图编码基础上，按飞机、站位和整线汇总生产信息，分别组织当前与紧邻下一周期的任务及人员状态，为联合策略提供跨站、跨周期信息。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时间结果驱动的语义增强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预测本次转站时间修正及下一周期各站就绪偏差，利用实际时间结果训练策略共享的图编码与融合模块，使图表示学习生产状态与后续时间结果的联系，支持协同决策。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重点句：通过分层融合与时间结果训练，将当前生产状态与后续时间结果联系起来，支持多架次协同调度。</a:t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>
              <a:buNone/>
            </a:pPr>
            <a:r>
              <a: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素材依据：开题报告_汇报PPT_v4同步修订_20261013.pptx，第12页；开题报告-陆晓-v4.docx，4.2.3及5.4。技术路线图依据原页模块重排，正式研究名称与方法边界沿用原稿。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7eb04425b45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bb4b5e0ae4a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5639d8ea048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cb925e6e341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51e36109543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8b76e5e8145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7446CA-0536-42FB-A212-F59CFD5CB1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0D5B6F-9FF3-4EE2-93D4-A6DA1AF00B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DB4740-B233-446F-A3C1-53675180AA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4E6CCD-73EC-423B-8B08-13701A7AA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6546036-239B-4972-89FC-EAF64055E0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F38FE2-61EE-4004-9A1A-5BF8BB907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1CE4DE-DBDA-4E95-B2DE-EFD23720B6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670CE8-F8F3-49DC-B764-637478709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CF179E-C9F6-4578-9EA1-75E4980F2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3AC643-2B75-4F96-8075-2CBE862435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3043b18e5d4b76" /><Relationship Type="http://schemas.openxmlformats.org/officeDocument/2006/relationships/slideLayout" Target="/ppt/slideLayouts/slideLayout1.xml" Id="R0231bb67ff8c4346" /><Relationship Type="http://schemas.openxmlformats.org/officeDocument/2006/relationships/slideLayout" Target="/ppt/slideLayouts/slideLayout2.xml" Id="Rd0967d82dc6642ad" /><Relationship Type="http://schemas.openxmlformats.org/officeDocument/2006/relationships/slideLayout" Target="/ppt/slideLayouts/slideLayout3.xml" Id="Re90f67433baf4cea" /><Relationship Type="http://schemas.openxmlformats.org/officeDocument/2006/relationships/slideLayout" Target="/ppt/slideLayouts/slideLayout4.xml" Id="R92d30f138cb84fd9" /><Relationship Type="http://schemas.openxmlformats.org/officeDocument/2006/relationships/slideLayout" Target="/ppt/slideLayouts/slideLayout5.xml" Id="R9053bc9c8c004813" /><Relationship Type="http://schemas.openxmlformats.org/officeDocument/2006/relationships/slideLayout" Target="/ppt/slideLayouts/slideLayout6.xml" Id="Rf020d46b91cc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1bb67ff8c4346"/>
    <p:sldLayoutId xmlns:r="http://schemas.openxmlformats.org/officeDocument/2006/relationships" id="2147483650" r:id="Rd0967d82dc6642ad"/>
    <p:sldLayoutId xmlns:r="http://schemas.openxmlformats.org/officeDocument/2006/relationships" id="2147483651" r:id="Re90f67433baf4cea"/>
    <p:sldLayoutId xmlns:r="http://schemas.openxmlformats.org/officeDocument/2006/relationships" id="2147483652" r:id="R92d30f138cb84fd9"/>
    <p:sldLayoutId xmlns:r="http://schemas.openxmlformats.org/officeDocument/2006/relationships" id="2147483653" r:id="R9053bc9c8c004813"/>
    <p:sldLayoutId xmlns:r="http://schemas.openxmlformats.org/officeDocument/2006/relationships" id="2147483654" r:id="Rf020d46b91cc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28ce7874584ef7" /><Relationship Type="http://schemas.openxmlformats.org/officeDocument/2006/relationships/image" Target="/ppt/media/image.png" Id="Rd5d8dd091a8248a2" /><Relationship Type="http://schemas.openxmlformats.org/officeDocument/2006/relationships/notesSlide" Target="/ppt/notesSlides/notesSlide1.xml" Id="R261cd2731e29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960fe4f6c45d6" /><Relationship Type="http://schemas.openxmlformats.org/officeDocument/2006/relationships/image" Target="/ppt/media/image.png" Id="Rf797ada2d3564974" /><Relationship Type="http://schemas.openxmlformats.org/officeDocument/2006/relationships/notesSlide" Target="/ppt/notesSlides/notesSlide2.xml" Id="Raadb35e9793842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66f37aa5249af" /><Relationship Type="http://schemas.openxmlformats.org/officeDocument/2006/relationships/image" Target="/ppt/media/image.png" Id="Rb1f811ec76734e87" /><Relationship Type="http://schemas.openxmlformats.org/officeDocument/2006/relationships/notesSlide" Target="/ppt/notesSlides/notesSlide3.xml" Id="R76edf965283942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F29557B-BCD5-49A1-87AA-66214135DE06}"/>
              </a:ext>
            </a:extLst>
          </p:cNvPr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5943600" y="62674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5FAAB0D-DBDA-47B9-A0D5-1AD380C2F6BB}"/>
              </a:ext>
            </a:extLst>
          </p:cNvPr>
          <p:cNvCxnSpPr>
            <a:stCxn xmlns:a="http://schemas.openxmlformats.org/drawingml/2006/main" id="147" idx="3"/>
            <a:endCxn xmlns:a="http://schemas.openxmlformats.org/drawingml/2006/main" id="148" idx="1"/>
          </p:cNvCxnSpPr>
          <p:nvPr/>
        </p:nvCxnSpPr>
        <p:spPr>
          <a:xfrm xmlns:a="http://schemas.openxmlformats.org/drawingml/2006/main">
            <a:off x="2952750" y="62674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9F1C2F-30BD-4642-8BAB-9C568B687BA5}"/>
              </a:ext>
            </a:extLst>
          </p:cNvPr>
          <p:cNvCxnSpPr>
            <a:stCxn xmlns:a="http://schemas.openxmlformats.org/drawingml/2006/main" id="131" idx="2"/>
            <a:endCxn xmlns:a="http://schemas.openxmlformats.org/drawingml/2006/main" id="144" idx="0"/>
          </p:cNvCxnSpPr>
          <p:nvPr/>
        </p:nvCxnSpPr>
        <p:spPr>
          <a:xfrm xmlns:a="http://schemas.openxmlformats.org/drawingml/2006/main" flipH="1">
            <a:off x="5553075" y="5143500"/>
            <a:ext cx="2857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281994-E1BC-431A-96A7-5C23222A6892}"/>
              </a:ext>
            </a:extLst>
          </p:cNvPr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5838825" y="46196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2B77FB1-E2B5-422A-A60F-4951252AE4C9}"/>
              </a:ext>
            </a:extLst>
          </p:cNvPr>
          <p:cNvCxnSpPr>
            <a:stCxn xmlns:a="http://schemas.openxmlformats.org/drawingml/2006/main" id="90" idx="2"/>
            <a:endCxn xmlns:a="http://schemas.openxmlformats.org/drawingml/2006/main" id="111" idx="0"/>
          </p:cNvCxnSpPr>
          <p:nvPr/>
        </p:nvCxnSpPr>
        <p:spPr>
          <a:xfrm xmlns:a="http://schemas.openxmlformats.org/drawingml/2006/main">
            <a:off x="1838325" y="4448175"/>
            <a:ext cx="4763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90" name="homogeneous-diagram">
            <a:extLst xmlns:a="http://schemas.openxmlformats.org/drawingml/2006/main">
              <a:ext uri="{FF2B5EF4-FFF2-40B4-BE49-F238E27FC236}">
                <a16:creationId xmlns:a16="http://schemas.microsoft.com/office/drawing/2014/main" id="{3000FACF-8DC5-42E5-B0DA-00AD5FED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253365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cxnSp>
        <p:nvCxnSpPr>
          <p:cNvPr id="109" name="graph-relation-4-7">
            <a:extLst xmlns:a="http://schemas.openxmlformats.org/drawingml/2006/main">
              <a:ext uri="{FF2B5EF4-FFF2-40B4-BE49-F238E27FC236}">
                <a16:creationId xmlns:a16="http://schemas.microsoft.com/office/drawing/2014/main" id="{FBC32119-2C06-4677-A098-692431152AA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78296" y="3125938"/>
            <a:ext cx="167832" cy="253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8" name="graph-relation-4-6">
            <a:extLst xmlns:a="http://schemas.openxmlformats.org/drawingml/2006/main">
              <a:ext uri="{FF2B5EF4-FFF2-40B4-BE49-F238E27FC236}">
                <a16:creationId xmlns:a16="http://schemas.microsoft.com/office/drawing/2014/main" id="{64A94E91-E063-4F5E-B0F9-0C659975E8D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938116" y="3120753"/>
            <a:ext cx="190943" cy="26407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7" name="graph-relation-3-6">
            <a:extLst xmlns:a="http://schemas.openxmlformats.org/drawingml/2006/main">
              <a:ext uri="{FF2B5EF4-FFF2-40B4-BE49-F238E27FC236}">
                <a16:creationId xmlns:a16="http://schemas.microsoft.com/office/drawing/2014/main" id="{38F3EA46-B5DA-47B4-9165-AEFBB37DE7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90441" y="3120753"/>
            <a:ext cx="190943" cy="26407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6" name="graph-relation-3-5">
            <a:extLst xmlns:a="http://schemas.openxmlformats.org/drawingml/2006/main">
              <a:ext uri="{FF2B5EF4-FFF2-40B4-BE49-F238E27FC236}">
                <a16:creationId xmlns:a16="http://schemas.microsoft.com/office/drawing/2014/main" id="{DBCD17A4-E4D9-4826-BD5F-E9DAA6148F2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73371" y="3125938"/>
            <a:ext cx="167832" cy="2537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5" name="graph-relation-2-4">
            <a:extLst xmlns:a="http://schemas.openxmlformats.org/drawingml/2006/main">
              <a:ext uri="{FF2B5EF4-FFF2-40B4-BE49-F238E27FC236}">
                <a16:creationId xmlns:a16="http://schemas.microsoft.com/office/drawing/2014/main" id="{0FAF17C3-57BE-4C65-89F2-0F355C3E66F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379601" y="2515468"/>
            <a:ext cx="165223" cy="245914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4" name="graph-relation-1-3">
            <a:extLst xmlns:a="http://schemas.openxmlformats.org/drawingml/2006/main">
              <a:ext uri="{FF2B5EF4-FFF2-40B4-BE49-F238E27FC236}">
                <a16:creationId xmlns:a16="http://schemas.microsoft.com/office/drawing/2014/main" id="{CD4FF007-4ACD-4252-A537-9CD450B5657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91748" y="2510200"/>
            <a:ext cx="188330" cy="256449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3" name="graph-relation-0-3">
            <a:extLst xmlns:a="http://schemas.openxmlformats.org/drawingml/2006/main">
              <a:ext uri="{FF2B5EF4-FFF2-40B4-BE49-F238E27FC236}">
                <a16:creationId xmlns:a16="http://schemas.microsoft.com/office/drawing/2014/main" id="{C0B98D64-0C10-416C-A7B2-3641A73F69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4676" y="2515468"/>
            <a:ext cx="165223" cy="245914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2" name="graph-relation-1-2">
            <a:extLst xmlns:a="http://schemas.openxmlformats.org/drawingml/2006/main">
              <a:ext uri="{FF2B5EF4-FFF2-40B4-BE49-F238E27FC236}">
                <a16:creationId xmlns:a16="http://schemas.microsoft.com/office/drawing/2014/main" id="{D8077B43-B164-4D3F-A217-33D112AADB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8825" y="2333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cxnSp>
        <p:nvCxnSpPr>
          <p:cNvPr id="101" name="graph-relation-0-1">
            <a:extLst xmlns:a="http://schemas.openxmlformats.org/drawingml/2006/main">
              <a:ext uri="{FF2B5EF4-FFF2-40B4-BE49-F238E27FC236}">
                <a16:creationId xmlns:a16="http://schemas.microsoft.com/office/drawing/2014/main" id="{7A009CC0-696B-40D0-9185-C6DB466801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" y="23336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D1D1D"/>
            </a:solidFill>
            <a:prstDash val="solid"/>
          </a:ln>
        </p:spPr>
      </p:cxnSp>
      <p:sp>
        <p:nvSpPr>
          <p:cNvPr id="76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7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55D7DFCD-F957-4CF6-A87F-D805C6B92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d8dd091a8248a2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78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4000"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4000"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4000"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4000">
                <a:latin typeface="Times New Roman"/>
                <a:ea typeface="Times New Roman"/>
                <a:cs typeface="Times New Roman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SimHei"/>
                <a:ea typeface="SimHei"/>
                <a:cs typeface="SimHei"/>
              </a:rPr>
              <a:t>技术路线</a:t>
            </a:r>
          </a:p>
        </p:txBody>
      </p:sp>
      <p:sp>
        <p:nvSpPr>
          <p:cNvPr id="79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研究内容一：基于同构图强化学习的脉动装配线调度优化方法</a:t>
            </a:r>
          </a:p>
        </p:txBody>
      </p:sp>
      <p:sp>
        <p:nvSpPr>
          <p:cNvPr id="80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cxnSp>
        <p:nvCxnSpPr>
          <p:cNvPr id="81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747D359A-14E3-4251-9F02-45DEF036D0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77175" y="1362075"/>
            <a:ext cx="0" cy="511492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C9D6EA"/>
            </a:solidFill>
            <a:prstDash val="solid"/>
          </a:ln>
        </p:spPr>
      </p:cxnSp>
      <p:sp>
        <p:nvSpPr>
          <p:cNvPr id="82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B6385322-96A4-4FBC-86BF-F17EC64F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00175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工序、站位与团队的关联</a:t>
            </a:r>
          </a:p>
        </p:txBody>
      </p:sp>
      <p:sp>
        <p:nvSpPr>
          <p:cNvPr id="83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EC314B6C-A923-42D9-A7B2-95D10B8A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3600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工序选择影响后续作业条件，站位安排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改变任务分布与可选人员，团队组成影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响执行时间。围绕三项决策的相互联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系，开展无扰动条件下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的联合静态调度。</a:t>
            </a:r>
          </a:p>
        </p:txBody>
      </p:sp>
      <p:sp>
        <p:nvSpPr>
          <p:cNvPr id="84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19D550F2-ED09-42B6-A854-D80F3F86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同构图统一表示</a:t>
            </a:r>
          </a:p>
        </p:txBody>
      </p:sp>
      <p:sp>
        <p:nvSpPr>
          <p:cNvPr id="85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E3199D05-35FD-48EF-A664-50C965C2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143250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将工艺关系与站位、人员信息组织在同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一图中，采用共享图传播规则，使各项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决策共同读取工艺与资源状态，感知已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有安排对后续选择的影响。</a:t>
            </a:r>
          </a:p>
        </p:txBody>
      </p:sp>
      <p:sp>
        <p:nvSpPr>
          <p:cNvPr id="86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D64408EA-B52A-417A-92A5-E5D3667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14800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自回归联合决策</a:t>
            </a:r>
          </a:p>
        </p:txBody>
      </p:sp>
      <p:sp>
        <p:nvSpPr>
          <p:cNvPr id="87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28511C7F-4D7C-45A7-8A41-9363CD0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91025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依次选择工序、执行站位和具体团队。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站位选择以所选工序为条件，团队选择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进一步结合工序与站位信息，逐人形成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完整团队，保持各项选择之间的联系。</a:t>
            </a:r>
          </a:p>
        </p:txBody>
      </p:sp>
      <p:sp>
        <p:nvSpPr>
          <p:cNvPr id="88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368FAAA5-7E80-49DF-9595-60632DD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10250"/>
            <a:ext cx="3609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2424"/>
            </a:solidFill>
            <a:prstDash val="solid"/>
          </a:ln>
        </p:spPr>
      </p:sp>
      <p:sp>
        <p:nvSpPr>
          <p:cNvPr id="89" name="takeaway">
            <a:extLst xmlns:a="http://schemas.openxmlformats.org/drawingml/2006/main">
              <a:ext uri="{FF2B5EF4-FFF2-40B4-BE49-F238E27FC236}">
                <a16:creationId xmlns:a16="http://schemas.microsoft.com/office/drawing/2014/main" id="{02AF8475-3D08-4F8C-86E4-4F2B3DF5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857875"/>
            <a:ext cx="340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同构图提供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共同状态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，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自回归决策实现工序、站位与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具体团队的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联动选择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。</a:t>
            </a:r>
          </a:p>
        </p:txBody>
      </p:sp>
      <p:sp>
        <p:nvSpPr>
          <p:cNvPr id="91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84CF7A32-A1A7-413C-BA73-7AF79D36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8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01010"/>
                </a:solidFill>
              </a:defRPr>
            </a:pPr>
            <a:r>
              <a:rPr sz="168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  </a:t>
            </a:r>
            <a:r>
              <a:rPr sz="16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同构图统一表示</a:t>
            </a:r>
          </a:p>
        </p:txBody>
      </p:sp>
      <p:sp>
        <p:nvSpPr>
          <p:cNvPr id="92" name="graph-scope">
            <a:extLst xmlns:a="http://schemas.openxmlformats.org/drawingml/2006/main">
              <a:ext uri="{FF2B5EF4-FFF2-40B4-BE49-F238E27FC236}">
                <a16:creationId xmlns:a16="http://schemas.microsoft.com/office/drawing/2014/main" id="{B7877742-FA81-4B9A-ACEB-60942AD7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1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15" b="0">
                <a:solidFill>
                  <a:srgbClr val="101010"/>
                </a:solidFill>
              </a:defRPr>
            </a:pPr>
            <a:r>
              <a:rPr sz="121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局部结构示意；实际编码完整图</a:t>
            </a:r>
          </a:p>
        </p:txBody>
      </p:sp>
      <p:sp>
        <p:nvSpPr>
          <p:cNvPr id="93" name="graph-node-0">
            <a:extLst xmlns:a="http://schemas.openxmlformats.org/drawingml/2006/main">
              <a:ext uri="{FF2B5EF4-FFF2-40B4-BE49-F238E27FC236}">
                <a16:creationId xmlns:a16="http://schemas.microsoft.com/office/drawing/2014/main" id="{F3E1F512-216B-41EA-96B2-7B3E2CC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4" name="graph-node-1">
            <a:extLst xmlns:a="http://schemas.openxmlformats.org/drawingml/2006/main">
              <a:ext uri="{FF2B5EF4-FFF2-40B4-BE49-F238E27FC236}">
                <a16:creationId xmlns:a16="http://schemas.microsoft.com/office/drawing/2014/main" id="{F89B40AF-04E2-4D87-950B-AB28024B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5" name="graph-node-2">
            <a:extLst xmlns:a="http://schemas.openxmlformats.org/drawingml/2006/main">
              <a:ext uri="{FF2B5EF4-FFF2-40B4-BE49-F238E27FC236}">
                <a16:creationId xmlns:a16="http://schemas.microsoft.com/office/drawing/2014/main" id="{1E5D3F04-174D-4201-9C06-914ABD0B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1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6" name="graph-node-3">
            <a:extLst xmlns:a="http://schemas.openxmlformats.org/drawingml/2006/main">
              <a:ext uri="{FF2B5EF4-FFF2-40B4-BE49-F238E27FC236}">
                <a16:creationId xmlns:a16="http://schemas.microsoft.com/office/drawing/2014/main" id="{8D01C86A-01D7-4D5D-AC49-3D14F04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7" name="graph-node-4">
            <a:extLst xmlns:a="http://schemas.openxmlformats.org/drawingml/2006/main">
              <a:ext uri="{FF2B5EF4-FFF2-40B4-BE49-F238E27FC236}">
                <a16:creationId xmlns:a16="http://schemas.microsoft.com/office/drawing/2014/main" id="{9002BAF9-8274-4453-BEC4-70C4D7BD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24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8" name="graph-node-5">
            <a:extLst xmlns:a="http://schemas.openxmlformats.org/drawingml/2006/main">
              <a:ext uri="{FF2B5EF4-FFF2-40B4-BE49-F238E27FC236}">
                <a16:creationId xmlns:a16="http://schemas.microsoft.com/office/drawing/2014/main" id="{2514CC44-7D5D-45B4-A21D-1F3FF17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9" name="graph-node-6">
            <a:extLst xmlns:a="http://schemas.openxmlformats.org/drawingml/2006/main">
              <a:ext uri="{FF2B5EF4-FFF2-40B4-BE49-F238E27FC236}">
                <a16:creationId xmlns:a16="http://schemas.microsoft.com/office/drawing/2014/main" id="{95ACA231-8BCF-4F66-9B3B-7335498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00" name="graph-node-7">
            <a:extLst xmlns:a="http://schemas.openxmlformats.org/drawingml/2006/main">
              <a:ext uri="{FF2B5EF4-FFF2-40B4-BE49-F238E27FC236}">
                <a16:creationId xmlns:a16="http://schemas.microsoft.com/office/drawing/2014/main" id="{89BC7EB4-9E09-465F-88C2-60198FFB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</a:t>
            </a:r>
            <a:r>
              <a:rPr sz="146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10" name="graph-attributes">
            <a:extLst xmlns:a="http://schemas.openxmlformats.org/drawingml/2006/main">
              <a:ext uri="{FF2B5EF4-FFF2-40B4-BE49-F238E27FC236}">
                <a16:creationId xmlns:a16="http://schemas.microsoft.com/office/drawing/2014/main" id="{F5E905B6-80AA-496A-8167-ECECA13F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71925"/>
            <a:ext cx="2371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3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工艺与资源属性统一进入节点</a:t>
            </a:r>
          </a:p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所有连接共享传播规则与参数</a:t>
            </a:r>
          </a:p>
        </p:txBody>
      </p:sp>
      <p:sp>
        <p:nvSpPr>
          <p:cNvPr id="111" name="node-and-global-context">
            <a:extLst xmlns:a="http://schemas.openxmlformats.org/drawingml/2006/main">
              <a:ext uri="{FF2B5EF4-FFF2-40B4-BE49-F238E27FC236}">
                <a16:creationId xmlns:a16="http://schemas.microsoft.com/office/drawing/2014/main" id="{CD112892-6768-4F2A-92F1-7B21FF88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629150"/>
            <a:ext cx="252412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0" b="0">
                <a:solidFill>
                  <a:srgbClr val="101010"/>
                </a:solidFill>
              </a:defRPr>
            </a:pPr>
            <a:r>
              <a:rPr sz="144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工序／站位／人员节点表示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0" b="0">
                <a:solidFill>
                  <a:srgbClr val="101010"/>
                </a:solidFill>
              </a:defRPr>
            </a:pPr>
            <a:r>
              <a:rPr sz="144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与全局调度上下文</a:t>
            </a:r>
          </a:p>
        </p:txBody>
      </p:sp>
      <p:sp>
        <p:nvSpPr>
          <p:cNvPr id="113" name="construction-cycle">
            <a:extLst xmlns:a="http://schemas.openxmlformats.org/drawingml/2006/main">
              <a:ext uri="{FF2B5EF4-FFF2-40B4-BE49-F238E27FC236}">
                <a16:creationId xmlns:a16="http://schemas.microsoft.com/office/drawing/2014/main" id="{73960A3C-E072-4E36-86DD-590A1AD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2466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98" b="0">
                <a:solidFill>
                  <a:srgbClr val="535B65"/>
                </a:solidFill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98" b="0">
                <a:solidFill>
                  <a:srgbClr val="535B65"/>
                </a:solidFill>
              </a:defRPr>
            </a:pPr>
            <a:r>
              <a:rPr sz="1298" b="0">
                <a:solidFill>
                  <a:srgbClr val="535B65"/>
                </a:solidFill>
                <a:latin typeface="SimHei"/>
                <a:ea typeface="SimHei"/>
                <a:cs typeface="SimHei"/>
              </a:rPr>
              <a:t>各选择读取共享图表示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98" b="0">
                <a:solidFill>
                  <a:srgbClr val="535B65"/>
                </a:solidFill>
              </a:defRPr>
            </a:pPr>
            <a:r>
              <a:rPr sz="1298" b="0">
                <a:solidFill>
                  <a:srgbClr val="535B65"/>
                </a:solidFill>
                <a:latin typeface="SimHei"/>
                <a:ea typeface="SimHei"/>
                <a:cs typeface="SimHei"/>
              </a:rPr>
              <a:t>状态更新后继续构造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98" b="0">
                <a:solidFill>
                  <a:srgbClr val="535B65"/>
                </a:solidFill>
              </a:defRPr>
            </a:pPr>
            <a:r>
              <a:rPr sz="1298" b="0">
                <a:solidFill>
                  <a:srgbClr val="535B65"/>
                </a:solidFill>
                <a:latin typeface="SimHei"/>
                <a:ea typeface="SimHei"/>
                <a:cs typeface="SimHei"/>
              </a:rPr>
              <a:t>全部完成时输出排程</a:t>
            </a:r>
          </a:p>
        </p:txBody>
      </p:sp>
      <p:sp>
        <p:nvSpPr>
          <p:cNvPr id="114" name="choose-operation">
            <a:extLst xmlns:a="http://schemas.openxmlformats.org/drawingml/2006/main">
              <a:ext uri="{FF2B5EF4-FFF2-40B4-BE49-F238E27FC236}">
                <a16:creationId xmlns:a16="http://schemas.microsoft.com/office/drawing/2014/main" id="{BDD2395B-1B28-48A0-A352-C901540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466850"/>
            <a:ext cx="18669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15" name="choose-operation-title">
            <a:extLst xmlns:a="http://schemas.openxmlformats.org/drawingml/2006/main">
              <a:ext uri="{FF2B5EF4-FFF2-40B4-BE49-F238E27FC236}">
                <a16:creationId xmlns:a16="http://schemas.microsoft.com/office/drawing/2014/main" id="{2B89D979-B1FF-40F9-B994-052EE3A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5621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  </a:t>
            </a: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选择工序</a:t>
            </a:r>
            <a:r>
              <a:rPr sz="16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i</a:t>
            </a:r>
          </a:p>
        </p:txBody>
      </p:sp>
      <p:sp>
        <p:nvSpPr>
          <p:cNvPr id="116" name="operation-state">
            <a:extLst xmlns:a="http://schemas.openxmlformats.org/drawingml/2006/main">
              <a:ext uri="{FF2B5EF4-FFF2-40B4-BE49-F238E27FC236}">
                <a16:creationId xmlns:a16="http://schemas.microsoft.com/office/drawing/2014/main" id="{4A65B0BE-9049-4AD9-BB9E-3CBE4F5A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4310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6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前序与当前安排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63" b="0">
                <a:solidFill>
                  <a:srgbClr val="101010"/>
                </a:solidFill>
              </a:defRPr>
            </a:pPr>
            <a:r>
              <a:rPr sz="146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资源信息共同参与</a:t>
            </a:r>
          </a:p>
        </p:txBody>
      </p:sp>
      <p:sp>
        <p:nvSpPr>
          <p:cNvPr id="117" name="operation-candidate">
            <a:extLst xmlns:a="http://schemas.openxmlformats.org/drawingml/2006/main">
              <a:ext uri="{FF2B5EF4-FFF2-40B4-BE49-F238E27FC236}">
                <a16:creationId xmlns:a16="http://schemas.microsoft.com/office/drawing/2014/main" id="{A3B72413-D5D3-4B48-B487-E920970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765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6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合法工序候选</a:t>
            </a:r>
            <a:r>
              <a:rPr sz="136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→</a:t>
            </a:r>
            <a:r>
              <a:rPr sz="136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i</a:t>
            </a:r>
          </a:p>
        </p:txBody>
      </p:sp>
      <p:sp>
        <p:nvSpPr>
          <p:cNvPr id="118" name="choose-station">
            <a:extLst xmlns:a="http://schemas.openxmlformats.org/drawingml/2006/main">
              <a:ext uri="{FF2B5EF4-FFF2-40B4-BE49-F238E27FC236}">
                <a16:creationId xmlns:a16="http://schemas.microsoft.com/office/drawing/2014/main" id="{938CF35F-91A7-4FB7-BCB7-8691449A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466850"/>
            <a:ext cx="18669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19" name="choose-station-title">
            <a:extLst xmlns:a="http://schemas.openxmlformats.org/drawingml/2006/main">
              <a:ext uri="{FF2B5EF4-FFF2-40B4-BE49-F238E27FC236}">
                <a16:creationId xmlns:a16="http://schemas.microsoft.com/office/drawing/2014/main" id="{BA6D6006-C017-4DF6-BD16-B78741FE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621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  </a:t>
            </a: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选择站位</a:t>
            </a:r>
            <a:r>
              <a:rPr sz="16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m</a:t>
            </a:r>
          </a:p>
        </p:txBody>
      </p:sp>
      <p:sp>
        <p:nvSpPr>
          <p:cNvPr id="120" name="station-state">
            <a:extLst xmlns:a="http://schemas.openxmlformats.org/drawingml/2006/main">
              <a:ext uri="{FF2B5EF4-FFF2-40B4-BE49-F238E27FC236}">
                <a16:creationId xmlns:a16="http://schemas.microsoft.com/office/drawing/2014/main" id="{21969370-B555-47EF-807F-3E9B16CB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14525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6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读取所选工序</a:t>
            </a:r>
            <a:r>
              <a:rPr sz="136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i</a:t>
            </a:r>
          </a:p>
          <a:p xmlns:a="http://schemas.openxmlformats.org/drawingml/2006/main">
            <a:pPr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检查前后序站位</a:t>
            </a:r>
          </a:p>
          <a:p xmlns:a="http://schemas.openxmlformats.org/drawingml/2006/main">
            <a:pPr algn="ctr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与资源可用条件</a:t>
            </a:r>
          </a:p>
        </p:txBody>
      </p:sp>
      <p:sp>
        <p:nvSpPr>
          <p:cNvPr id="121" name="station-candidate">
            <a:extLst xmlns:a="http://schemas.openxmlformats.org/drawingml/2006/main">
              <a:ext uri="{FF2B5EF4-FFF2-40B4-BE49-F238E27FC236}">
                <a16:creationId xmlns:a16="http://schemas.microsoft.com/office/drawing/2014/main" id="{EE20B70C-B111-4BA5-8EE9-F9394A3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533650"/>
            <a:ext cx="1676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27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27" b="0">
                <a:solidFill>
                  <a:srgbClr val="101010"/>
                </a:solidFill>
              </a:defRPr>
            </a:pPr>
            <a:r>
              <a:rPr sz="1327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合法站位候选</a:t>
            </a:r>
            <a:r>
              <a:rPr sz="1327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327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→</a:t>
            </a:r>
            <a:r>
              <a:rPr sz="1327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m</a:t>
            </a:r>
          </a:p>
        </p:txBody>
      </p:sp>
      <p:cxnSp>
        <p:nvCxnSpPr>
          <p:cNvPr id="122" name="operation-station">
            <a:extLst xmlns:a="http://schemas.openxmlformats.org/drawingml/2006/main">
              <a:ext uri="{FF2B5EF4-FFF2-40B4-BE49-F238E27FC236}">
                <a16:creationId xmlns:a16="http://schemas.microsoft.com/office/drawing/2014/main" id="{6E95AAC1-C236-4974-A086-036117ABE65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62575" y="2152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23" name="state-to-operation-1">
            <a:extLst xmlns:a="http://schemas.openxmlformats.org/drawingml/2006/main">
              <a:ext uri="{FF2B5EF4-FFF2-40B4-BE49-F238E27FC236}">
                <a16:creationId xmlns:a16="http://schemas.microsoft.com/office/drawing/2014/main" id="{9E37DEC8-C36D-470A-A731-E38F9D75B7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05150" y="4914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24" name="state-to-operation-2">
            <a:extLst xmlns:a="http://schemas.openxmlformats.org/drawingml/2006/main">
              <a:ext uri="{FF2B5EF4-FFF2-40B4-BE49-F238E27FC236}">
                <a16:creationId xmlns:a16="http://schemas.microsoft.com/office/drawing/2014/main" id="{5917879A-65A2-4929-94D4-FEEE8168738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305175" y="2152650"/>
            <a:ext cx="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25" name="state-to-operation-3">
            <a:extLst xmlns:a="http://schemas.openxmlformats.org/drawingml/2006/main">
              <a:ext uri="{FF2B5EF4-FFF2-40B4-BE49-F238E27FC236}">
                <a16:creationId xmlns:a16="http://schemas.microsoft.com/office/drawing/2014/main" id="{A4EBCC65-D377-481D-83F4-AF82F85976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05175" y="2152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26" name="autoregressive-team">
            <a:extLst xmlns:a="http://schemas.openxmlformats.org/drawingml/2006/main">
              <a:ext uri="{FF2B5EF4-FFF2-40B4-BE49-F238E27FC236}">
                <a16:creationId xmlns:a16="http://schemas.microsoft.com/office/drawing/2014/main" id="{A28075BE-171D-4BC0-86A1-6FAA97C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05150"/>
            <a:ext cx="41148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27" name="team-heading">
            <a:extLst xmlns:a="http://schemas.openxmlformats.org/drawingml/2006/main">
              <a:ext uri="{FF2B5EF4-FFF2-40B4-BE49-F238E27FC236}">
                <a16:creationId xmlns:a16="http://schemas.microsoft.com/office/drawing/2014/main" id="{F0E1BDC4-AE6F-4BD8-9F5E-5A50F94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943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8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88" b="0">
                <a:solidFill>
                  <a:srgbClr val="101010"/>
                </a:solidFill>
              </a:defRPr>
            </a:pPr>
            <a:r>
              <a:rPr sz="168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4  </a:t>
            </a:r>
            <a:r>
              <a:rPr sz="16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逐人选择团队成员</a:t>
            </a:r>
          </a:p>
        </p:txBody>
      </p:sp>
      <p:sp>
        <p:nvSpPr>
          <p:cNvPr id="128" name="chosen-workers">
            <a:extLst xmlns:a="http://schemas.openxmlformats.org/drawingml/2006/main">
              <a:ext uri="{FF2B5EF4-FFF2-40B4-BE49-F238E27FC236}">
                <a16:creationId xmlns:a16="http://schemas.microsoft.com/office/drawing/2014/main" id="{CEBBC9AB-52FC-4C4A-B416-6B926B9E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19500"/>
            <a:ext cx="1190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已选成员</a:t>
            </a:r>
          </a:p>
        </p:txBody>
      </p:sp>
      <p:sp>
        <p:nvSpPr>
          <p:cNvPr id="129" name="worker-condition">
            <a:extLst xmlns:a="http://schemas.openxmlformats.org/drawingml/2006/main">
              <a:ext uri="{FF2B5EF4-FFF2-40B4-BE49-F238E27FC236}">
                <a16:creationId xmlns:a16="http://schemas.microsoft.com/office/drawing/2014/main" id="{14A4E71F-E4C0-410B-B1D5-C8A48D17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195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02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01010"/>
                </a:solidFill>
              </a:defRPr>
            </a:pPr>
            <a:r>
              <a:rPr sz="1402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</a:t>
            </a:r>
            <a:r>
              <a:rPr sz="1402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i</a:t>
            </a:r>
            <a:r>
              <a:rPr sz="1402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、站位</a:t>
            </a:r>
            <a:r>
              <a:rPr sz="1402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m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02" b="0">
                <a:solidFill>
                  <a:srgbClr val="101010"/>
                </a:solidFill>
              </a:defRPr>
            </a:pPr>
            <a:r>
              <a:rPr sz="1402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人员候选与合法掩码</a:t>
            </a:r>
          </a:p>
        </p:txBody>
      </p:sp>
      <p:sp>
        <p:nvSpPr>
          <p:cNvPr id="130" name="next-worker">
            <a:extLst xmlns:a="http://schemas.openxmlformats.org/drawingml/2006/main">
              <a:ext uri="{FF2B5EF4-FFF2-40B4-BE49-F238E27FC236}">
                <a16:creationId xmlns:a16="http://schemas.microsoft.com/office/drawing/2014/main" id="{0A5EFC29-A876-430D-83F0-1FCDBA52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914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选择下一成员</a:t>
            </a:r>
          </a:p>
        </p:txBody>
      </p:sp>
      <p:sp>
        <p:nvSpPr>
          <p:cNvPr id="131" name="add-worker">
            <a:extLst xmlns:a="http://schemas.openxmlformats.org/drawingml/2006/main">
              <a:ext uri="{FF2B5EF4-FFF2-40B4-BE49-F238E27FC236}">
                <a16:creationId xmlns:a16="http://schemas.microsoft.com/office/drawing/2014/main" id="{DFC5B290-03E9-4182-BE1C-931A9DA7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29175"/>
            <a:ext cx="29146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85" b="0">
                <a:solidFill>
                  <a:srgbClr val="101010"/>
                </a:solidFill>
              </a:defRPr>
            </a:pPr>
            <a:r>
              <a:rPr sz="148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加入成员，更新人员候选</a:t>
            </a:r>
          </a:p>
        </p:txBody>
      </p:sp>
      <p:cxnSp>
        <p:nvCxnSpPr>
          <p:cNvPr id="132" name="station-to-team-1">
            <a:extLst xmlns:a="http://schemas.openxmlformats.org/drawingml/2006/main">
              <a:ext uri="{FF2B5EF4-FFF2-40B4-BE49-F238E27FC236}">
                <a16:creationId xmlns:a16="http://schemas.microsoft.com/office/drawing/2014/main" id="{27300E1A-769B-47A2-A8F4-0357D30CE07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77025" y="28289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33" name="condition-to-next-1">
            <a:extLst xmlns:a="http://schemas.openxmlformats.org/drawingml/2006/main">
              <a:ext uri="{FF2B5EF4-FFF2-40B4-BE49-F238E27FC236}">
                <a16:creationId xmlns:a16="http://schemas.microsoft.com/office/drawing/2014/main" id="{1DE493C3-2AC4-4B6D-8114-6C42523C08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362700" y="40290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34" name="condition-to-next-2">
            <a:extLst xmlns:a="http://schemas.openxmlformats.org/drawingml/2006/main">
              <a:ext uri="{FF2B5EF4-FFF2-40B4-BE49-F238E27FC236}">
                <a16:creationId xmlns:a16="http://schemas.microsoft.com/office/drawing/2014/main" id="{857DCCEF-ECE0-42C0-AB18-8FAE473B0F0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838825" y="4162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35" name="condition-to-next-3">
            <a:extLst xmlns:a="http://schemas.openxmlformats.org/drawingml/2006/main">
              <a:ext uri="{FF2B5EF4-FFF2-40B4-BE49-F238E27FC236}">
                <a16:creationId xmlns:a16="http://schemas.microsoft.com/office/drawing/2014/main" id="{1ABB5410-DF64-4004-8D4B-12EFD97090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38825" y="4162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36" name="selected-to-next-1">
            <a:extLst xmlns:a="http://schemas.openxmlformats.org/drawingml/2006/main">
              <a:ext uri="{FF2B5EF4-FFF2-40B4-BE49-F238E27FC236}">
                <a16:creationId xmlns:a16="http://schemas.microsoft.com/office/drawing/2014/main" id="{49664A21-0663-4313-9A7E-9CC389A792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48150" y="40290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37" name="selected-to-next-2">
            <a:extLst xmlns:a="http://schemas.openxmlformats.org/drawingml/2006/main">
              <a:ext uri="{FF2B5EF4-FFF2-40B4-BE49-F238E27FC236}">
                <a16:creationId xmlns:a16="http://schemas.microsoft.com/office/drawing/2014/main" id="{F0B94ACB-983B-483C-B989-EF9EA30980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48150" y="4162425"/>
            <a:ext cx="15906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38" name="selected-to-next-3">
            <a:extLst xmlns:a="http://schemas.openxmlformats.org/drawingml/2006/main">
              <a:ext uri="{FF2B5EF4-FFF2-40B4-BE49-F238E27FC236}">
                <a16:creationId xmlns:a16="http://schemas.microsoft.com/office/drawing/2014/main" id="{6A6CEF76-D303-4645-BBD3-250507C02F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38825" y="41624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40" name="worker-selection-loop-1">
            <a:extLst xmlns:a="http://schemas.openxmlformats.org/drawingml/2006/main">
              <a:ext uri="{FF2B5EF4-FFF2-40B4-BE49-F238E27FC236}">
                <a16:creationId xmlns:a16="http://schemas.microsoft.com/office/drawing/2014/main" id="{426844B3-11CE-488D-9EDB-B24D32F8CF9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629025" y="4981575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41" name="worker-selection-loop-2">
            <a:extLst xmlns:a="http://schemas.openxmlformats.org/drawingml/2006/main">
              <a:ext uri="{FF2B5EF4-FFF2-40B4-BE49-F238E27FC236}">
                <a16:creationId xmlns:a16="http://schemas.microsoft.com/office/drawing/2014/main" id="{283C0FDA-8722-42C6-81A4-360B177B65F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629025" y="381952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42" name="worker-selection-loop-3">
            <a:extLst xmlns:a="http://schemas.openxmlformats.org/drawingml/2006/main">
              <a:ext uri="{FF2B5EF4-FFF2-40B4-BE49-F238E27FC236}">
                <a16:creationId xmlns:a16="http://schemas.microsoft.com/office/drawing/2014/main" id="{2E85A5D7-A470-4DE6-B1C4-DD57444C24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29025" y="3819525"/>
            <a:ext cx="190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43" name="worker-selection-loop-caption">
            <a:extLst xmlns:a="http://schemas.openxmlformats.org/drawingml/2006/main">
              <a:ext uri="{FF2B5EF4-FFF2-40B4-BE49-F238E27FC236}">
                <a16:creationId xmlns:a16="http://schemas.microsoft.com/office/drawing/2014/main" id="{9D1936C4-5FCE-4CF3-AAAB-F4210BAC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685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52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52" b="0">
                <a:solidFill>
                  <a:srgbClr val="101010"/>
                </a:solidFill>
              </a:defRPr>
            </a:pPr>
            <a:r>
              <a:rPr sz="1252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人数未满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52" b="0">
                <a:solidFill>
                  <a:srgbClr val="101010"/>
                </a:solidFill>
              </a:defRPr>
            </a:pPr>
            <a:r>
              <a:rPr sz="1252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继续选择</a:t>
            </a:r>
          </a:p>
        </p:txBody>
      </p:sp>
      <p:sp>
        <p:nvSpPr>
          <p:cNvPr id="144" name="complete-action">
            <a:extLst xmlns:a="http://schemas.openxmlformats.org/drawingml/2006/main">
              <a:ext uri="{FF2B5EF4-FFF2-40B4-BE49-F238E27FC236}">
                <a16:creationId xmlns:a16="http://schemas.microsoft.com/office/drawing/2014/main" id="{2A157B47-05EB-4B4C-A086-87A624E0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429250"/>
            <a:ext cx="41148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完整动作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</a:t>
            </a:r>
            <a:r>
              <a:rPr sz="150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i</a:t>
            </a: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、站位</a:t>
            </a:r>
            <a:r>
              <a:rPr sz="150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m</a:t>
            </a: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、具体团队</a:t>
            </a:r>
            <a:r>
              <a:rPr sz="150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 W</a:t>
            </a:r>
          </a:p>
        </p:txBody>
      </p:sp>
      <p:sp>
        <p:nvSpPr>
          <p:cNvPr id="146" name="team-cardinality">
            <a:extLst xmlns:a="http://schemas.openxmlformats.org/drawingml/2006/main">
              <a:ext uri="{FF2B5EF4-FFF2-40B4-BE49-F238E27FC236}">
                <a16:creationId xmlns:a16="http://schemas.microsoft.com/office/drawing/2014/main" id="{D8E49601-7D02-4608-A880-D9A3579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181600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38" b="0">
                <a:solidFill>
                  <a:srgbClr val="101010"/>
                </a:solidFill>
              </a:defRPr>
            </a:pPr>
            <a:r>
              <a:rPr sz="12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达到工序需求人数</a:t>
            </a:r>
          </a:p>
        </p:txBody>
      </p:sp>
      <p:sp>
        <p:nvSpPr>
          <p:cNvPr id="147" name="forward-time">
            <a:extLst xmlns:a="http://schemas.openxmlformats.org/drawingml/2006/main">
              <a:ext uri="{FF2B5EF4-FFF2-40B4-BE49-F238E27FC236}">
                <a16:creationId xmlns:a16="http://schemas.microsoft.com/office/drawing/2014/main" id="{FD5AAAEE-F541-43C3-8530-F7D39F9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076950"/>
            <a:ext cx="23717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前驱完成＋人员日历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分配合法起止时刻</a:t>
            </a:r>
          </a:p>
        </p:txBody>
      </p:sp>
      <p:sp>
        <p:nvSpPr>
          <p:cNvPr id="148" name="schedule-update">
            <a:extLst xmlns:a="http://schemas.openxmlformats.org/drawingml/2006/main">
              <a:ext uri="{FF2B5EF4-FFF2-40B4-BE49-F238E27FC236}">
                <a16:creationId xmlns:a16="http://schemas.microsoft.com/office/drawing/2014/main" id="{22401D37-1D10-4312-8B10-401093D8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60769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6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更新安排、人员占用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65" b="0">
                <a:solidFill>
                  <a:srgbClr val="101010"/>
                </a:solidFill>
              </a:defRPr>
            </a:pPr>
            <a:r>
              <a:rPr sz="136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与首次使用绑定</a:t>
            </a:r>
          </a:p>
        </p:txBody>
      </p:sp>
      <p:sp>
        <p:nvSpPr>
          <p:cNvPr id="149" name="base-schedule">
            <a:extLst xmlns:a="http://schemas.openxmlformats.org/drawingml/2006/main">
              <a:ext uri="{FF2B5EF4-FFF2-40B4-BE49-F238E27FC236}">
                <a16:creationId xmlns:a16="http://schemas.microsoft.com/office/drawing/2014/main" id="{BF8ECB0C-3B90-40A7-9913-3425A8E1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76950"/>
            <a:ext cx="1276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全部安排完成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基准排程</a:t>
            </a:r>
          </a:p>
        </p:txBody>
      </p:sp>
      <p:cxnSp>
        <p:nvCxnSpPr>
          <p:cNvPr id="150" name="action-to-time-1">
            <a:extLst xmlns:a="http://schemas.openxmlformats.org/drawingml/2006/main">
              <a:ext uri="{FF2B5EF4-FFF2-40B4-BE49-F238E27FC236}">
                <a16:creationId xmlns:a16="http://schemas.microsoft.com/office/drawing/2014/main" id="{687FE372-15F5-457C-8668-60B9CF67D5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53075" y="5876925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51" name="action-to-time-2">
            <a:extLst xmlns:a="http://schemas.openxmlformats.org/drawingml/2006/main">
              <a:ext uri="{FF2B5EF4-FFF2-40B4-BE49-F238E27FC236}">
                <a16:creationId xmlns:a16="http://schemas.microsoft.com/office/drawing/2014/main" id="{F4123912-874C-4137-9CAF-32EBF550E0F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771650" y="5981700"/>
            <a:ext cx="37814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52" name="action-to-time-3">
            <a:extLst xmlns:a="http://schemas.openxmlformats.org/drawingml/2006/main">
              <a:ext uri="{FF2B5EF4-FFF2-40B4-BE49-F238E27FC236}">
                <a16:creationId xmlns:a16="http://schemas.microsoft.com/office/drawing/2014/main" id="{AB23416A-1CE0-45CD-B3E0-D708756DAEE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71650" y="59817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94800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D1CD4AE-20D5-4F68-A619-4882A0AE2F27}"/>
              </a:ext>
            </a:extLst>
          </p:cNvPr>
          <p:cNvCxnSpPr>
            <a:stCxn xmlns:a="http://schemas.openxmlformats.org/drawingml/2006/main" id="107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6719888" y="5705475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793FB51-E937-46D5-BD1A-4925EB51B45A}"/>
              </a:ext>
            </a:extLst>
          </p:cNvPr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5410200" y="5443538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069BD1D-1268-4ED9-908D-26F99FA732A0}"/>
              </a:ext>
            </a:extLst>
          </p:cNvPr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3533775" y="5443538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2BCB88-1DE8-4A4F-8A9B-AAC72354AAA3}"/>
              </a:ext>
            </a:extLst>
          </p:cNvPr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1895475" y="54435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11845E-1285-4969-BE59-F4593D459100}"/>
              </a:ext>
            </a:extLst>
          </p:cNvPr>
          <p:cNvCxnSpPr>
            <a:stCxn xmlns:a="http://schemas.openxmlformats.org/drawingml/2006/main" id="71" idx="6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1447800" y="3338513"/>
            <a:ext cx="666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332DAF4-1413-4E84-A318-6EC04A20052E}"/>
              </a:ext>
            </a:extLst>
          </p:cNvPr>
          <p:cNvCxnSpPr>
            <a:stCxn xmlns:a="http://schemas.openxmlformats.org/drawingml/2006/main" id="69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2505075" y="232410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9F5DC2-BA84-4AA3-94AB-C31B3991E263}"/>
              </a:ext>
            </a:extLst>
          </p:cNvPr>
          <p:cNvCxnSpPr>
            <a:stCxn xmlns:a="http://schemas.openxmlformats.org/drawingml/2006/main" id="68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057275" y="2324100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C760D6-3A10-42D4-B3D6-C5AB59E19258}"/>
              </a:ext>
            </a:extLst>
          </p:cNvPr>
          <p:cNvCxnSpPr>
            <a:stCxn xmlns:a="http://schemas.openxmlformats.org/drawingml/2006/main" id="70" idx="3"/>
            <a:endCxn xmlns:a="http://schemas.openxmlformats.org/drawingml/2006/main" id="69" idx="3"/>
          </p:cNvCxnSpPr>
          <p:nvPr/>
        </p:nvCxnSpPr>
        <p:spPr>
          <a:xfrm xmlns:a="http://schemas.openxmlformats.org/drawingml/2006/main" flipH="1">
            <a:off x="2895600" y="21050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F9918B-FE6A-4FFF-A207-791CC6B8575C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1447800" y="2105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52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3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51DCEDBD-8FBA-4AB8-9979-4EDEED479F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97ada2d3564974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54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4000"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4000"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4000"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4000">
                <a:latin typeface="Times New Roman"/>
                <a:ea typeface="Times New Roman"/>
                <a:cs typeface="Times New Roman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SimHei"/>
                <a:ea typeface="SimHei"/>
                <a:cs typeface="SimHei"/>
              </a:rPr>
              <a:t>技术路线</a:t>
            </a:r>
          </a:p>
        </p:txBody>
      </p:sp>
      <p:sp>
        <p:nvSpPr>
          <p:cNvPr id="55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研究内容二：基于异构图强化学习的脉动装配线动态调度方法</a:t>
            </a:r>
          </a:p>
        </p:txBody>
      </p:sp>
      <p:sp>
        <p:nvSpPr>
          <p:cNvPr id="56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cxnSp>
        <p:nvCxnSpPr>
          <p:cNvPr id="57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D817FFD4-DA7E-41CC-9960-D7AF34DE1E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77175" y="1362075"/>
            <a:ext cx="0" cy="511492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C9D6EA"/>
            </a:solidFill>
            <a:prstDash val="solid"/>
          </a:ln>
        </p:spPr>
      </p:cxnSp>
      <p:sp>
        <p:nvSpPr>
          <p:cNvPr id="58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BA536D92-CBEC-4BB5-B9CA-23DA646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00175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工艺与资源关系的分别编码</a:t>
            </a:r>
          </a:p>
        </p:txBody>
      </p:sp>
      <p:sp>
        <p:nvSpPr>
          <p:cNvPr id="59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CD19D052-8EB9-43DC-AE3D-599FDF1B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工艺前序、技能需求、人员资格和站位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归属具有不同生产含义。通过异构图区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分实体与关系，按关系传播信息，使联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合决策分别利用工艺联系与资源条件。</a:t>
            </a:r>
          </a:p>
        </p:txBody>
      </p:sp>
      <p:sp>
        <p:nvSpPr>
          <p:cNvPr id="60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5B70BF70-4286-4610-AC2D-5FF58E79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47950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延迟开工后的计划修复</a:t>
            </a:r>
          </a:p>
        </p:txBody>
      </p:sp>
      <p:sp>
        <p:nvSpPr>
          <p:cNvPr id="61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17468A23-A924-484C-AE87-4449FC2F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24175"/>
            <a:ext cx="3600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依据固定基准计划确定保留与调整范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围，保留规定工序的原安排，继承已有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人员站位绑定。根据已知开工延迟，联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合修订可调工序的站位、具体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团队与作业时间。</a:t>
            </a:r>
          </a:p>
        </p:txBody>
      </p:sp>
      <p:sp>
        <p:nvSpPr>
          <p:cNvPr id="62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6B5A39AB-370C-4CEE-9BD1-78501CB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14800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完工效率与计划稳定性的兼顾</a:t>
            </a:r>
          </a:p>
        </p:txBody>
      </p:sp>
      <p:sp>
        <p:nvSpPr>
          <p:cNvPr id="63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BCCBECFE-1DC9-4E6F-9200-22A7941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91025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将完工时间与相对基准的开工、站位和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团队变更共同纳入调度目标，研究恢复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生产进度与减少计划改动之间的权衡，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形成考虑原计划延续的重调度方法。</a:t>
            </a:r>
          </a:p>
        </p:txBody>
      </p:sp>
      <p:sp>
        <p:nvSpPr>
          <p:cNvPr id="64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835E60B1-E8C7-4A8F-9BB3-FCE3AC1A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10250"/>
            <a:ext cx="3609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2424"/>
            </a:solidFill>
            <a:prstDash val="solid"/>
          </a:ln>
        </p:spPr>
      </p:sp>
      <p:sp>
        <p:nvSpPr>
          <p:cNvPr id="65" name="takeaway">
            <a:extLst xmlns:a="http://schemas.openxmlformats.org/drawingml/2006/main">
              <a:ext uri="{FF2B5EF4-FFF2-40B4-BE49-F238E27FC236}">
                <a16:creationId xmlns:a16="http://schemas.microsoft.com/office/drawing/2014/main" id="{D24EF9A2-D81E-4B54-BDC0-B69F6419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857875"/>
            <a:ext cx="340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分别利用工艺与资源关系，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在规定范围内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修复受扰计划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，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兼顾完工效率与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计划稳定性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。</a:t>
            </a:r>
          </a:p>
        </p:txBody>
      </p:sp>
      <p:sp>
        <p:nvSpPr>
          <p:cNvPr id="66" name="heterogeneous-title">
            <a:extLst xmlns:a="http://schemas.openxmlformats.org/drawingml/2006/main">
              <a:ext uri="{FF2B5EF4-FFF2-40B4-BE49-F238E27FC236}">
                <a16:creationId xmlns:a16="http://schemas.microsoft.com/office/drawing/2014/main" id="{ACD3D688-6A28-4802-9D91-C31CFEE1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00175"/>
            <a:ext cx="3228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101010"/>
                </a:solidFill>
              </a:defRPr>
            </a:pPr>
            <a:r>
              <a:rPr sz="172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异构图联合调度</a:t>
            </a:r>
          </a:p>
        </p:txBody>
      </p:sp>
      <p:sp>
        <p:nvSpPr>
          <p:cNvPr id="67" name="repair-title">
            <a:extLst xmlns:a="http://schemas.openxmlformats.org/drawingml/2006/main">
              <a:ext uri="{FF2B5EF4-FFF2-40B4-BE49-F238E27FC236}">
                <a16:creationId xmlns:a16="http://schemas.microsoft.com/office/drawing/2014/main" id="{70888D0D-9889-4330-871C-21B4B02A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00175"/>
            <a:ext cx="334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考虑计划稳定性的重调度</a:t>
            </a:r>
          </a:p>
        </p:txBody>
      </p:sp>
      <p:sp>
        <p:nvSpPr>
          <p:cNvPr id="68" name="hetero-op1">
            <a:extLst xmlns:a="http://schemas.openxmlformats.org/drawingml/2006/main">
              <a:ext uri="{FF2B5EF4-FFF2-40B4-BE49-F238E27FC236}">
                <a16:creationId xmlns:a16="http://schemas.microsoft.com/office/drawing/2014/main" id="{BA450AAF-CE87-422A-8DE6-9E8FD15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78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</a:t>
            </a:r>
            <a:r>
              <a:rPr sz="157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9" name="hetero-op2">
            <a:extLst xmlns:a="http://schemas.openxmlformats.org/drawingml/2006/main">
              <a:ext uri="{FF2B5EF4-FFF2-40B4-BE49-F238E27FC236}">
                <a16:creationId xmlns:a16="http://schemas.microsoft.com/office/drawing/2014/main" id="{1FDEC39D-09F5-4FC4-9EA9-404E0C27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885950"/>
            <a:ext cx="78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</a:t>
            </a:r>
            <a:r>
              <a:rPr sz="1575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70" name="hetero-station">
            <a:extLst xmlns:a="http://schemas.openxmlformats.org/drawingml/2006/main">
              <a:ext uri="{FF2B5EF4-FFF2-40B4-BE49-F238E27FC236}">
                <a16:creationId xmlns:a16="http://schemas.microsoft.com/office/drawing/2014/main" id="{26A20B5F-1BA7-4F92-98A9-C7C6F5D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76425"/>
            <a:ext cx="714375" cy="4572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</a:p>
        </p:txBody>
      </p:sp>
      <p:sp>
        <p:nvSpPr>
          <p:cNvPr id="71" name="hetero-person">
            <a:extLst xmlns:a="http://schemas.openxmlformats.org/drawingml/2006/main">
              <a:ext uri="{FF2B5EF4-FFF2-40B4-BE49-F238E27FC236}">
                <a16:creationId xmlns:a16="http://schemas.microsoft.com/office/drawing/2014/main" id="{3DA42833-1639-4116-885E-D2A679C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781050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人员</a:t>
            </a:r>
          </a:p>
        </p:txBody>
      </p:sp>
      <p:sp>
        <p:nvSpPr>
          <p:cNvPr id="72" name="hetero-skill">
            <a:extLst xmlns:a="http://schemas.openxmlformats.org/drawingml/2006/main">
              <a:ext uri="{FF2B5EF4-FFF2-40B4-BE49-F238E27FC236}">
                <a16:creationId xmlns:a16="http://schemas.microsoft.com/office/drawing/2014/main" id="{429782D4-024C-4E8A-B869-08AC93C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57525"/>
            <a:ext cx="781050" cy="571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技能</a:t>
            </a:r>
          </a:p>
        </p:txBody>
      </p:sp>
      <p:sp>
        <p:nvSpPr>
          <p:cNvPr id="74" name="relation-precedence">
            <a:extLst xmlns:a="http://schemas.openxmlformats.org/drawingml/2006/main">
              <a:ext uri="{FF2B5EF4-FFF2-40B4-BE49-F238E27FC236}">
                <a16:creationId xmlns:a16="http://schemas.microsoft.com/office/drawing/2014/main" id="{609BA649-0457-4CB0-BE1E-1E58E394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447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前序</a:t>
            </a:r>
          </a:p>
        </p:txBody>
      </p:sp>
      <p:sp>
        <p:nvSpPr>
          <p:cNvPr id="76" name="relation-belongs">
            <a:extLst xmlns:a="http://schemas.openxmlformats.org/drawingml/2006/main">
              <a:ext uri="{FF2B5EF4-FFF2-40B4-BE49-F238E27FC236}">
                <a16:creationId xmlns:a16="http://schemas.microsoft.com/office/drawing/2014/main" id="{5128A085-3013-42BF-8831-D91D0330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09725"/>
            <a:ext cx="46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01010"/>
                </a:solidFill>
              </a:defRPr>
            </a:pPr>
            <a:r>
              <a:rPr sz="131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归属</a:t>
            </a:r>
          </a:p>
        </p:txBody>
      </p:sp>
      <p:sp>
        <p:nvSpPr>
          <p:cNvPr id="78" name="relation-assignment">
            <a:extLst xmlns:a="http://schemas.openxmlformats.org/drawingml/2006/main">
              <a:ext uri="{FF2B5EF4-FFF2-40B4-BE49-F238E27FC236}">
                <a16:creationId xmlns:a16="http://schemas.microsoft.com/office/drawing/2014/main" id="{1FD21F11-3780-481C-8360-02996B20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19375"/>
            <a:ext cx="46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安排</a:t>
            </a:r>
          </a:p>
        </p:txBody>
      </p:sp>
      <p:sp>
        <p:nvSpPr>
          <p:cNvPr id="80" name="relation-demand">
            <a:extLst xmlns:a="http://schemas.openxmlformats.org/drawingml/2006/main">
              <a:ext uri="{FF2B5EF4-FFF2-40B4-BE49-F238E27FC236}">
                <a16:creationId xmlns:a16="http://schemas.microsoft.com/office/drawing/2014/main" id="{FE32C87E-2F04-428F-B93F-4E3B80E7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19375"/>
            <a:ext cx="466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需求</a:t>
            </a:r>
          </a:p>
        </p:txBody>
      </p:sp>
      <p:sp>
        <p:nvSpPr>
          <p:cNvPr id="82" name="relation-qualification">
            <a:extLst xmlns:a="http://schemas.openxmlformats.org/drawingml/2006/main">
              <a:ext uri="{FF2B5EF4-FFF2-40B4-BE49-F238E27FC236}">
                <a16:creationId xmlns:a16="http://schemas.microsoft.com/office/drawing/2014/main" id="{CDDA7E47-5816-4FB0-BB48-87A6227B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资格</a:t>
            </a:r>
          </a:p>
        </p:txBody>
      </p:sp>
      <p:sp>
        <p:nvSpPr>
          <p:cNvPr id="83" name="heterogeneous-encoder">
            <a:extLst xmlns:a="http://schemas.openxmlformats.org/drawingml/2006/main">
              <a:ext uri="{FF2B5EF4-FFF2-40B4-BE49-F238E27FC236}">
                <a16:creationId xmlns:a16="http://schemas.microsoft.com/office/drawing/2014/main" id="{AC5ACEB6-EC93-4B5B-BB9E-989E2FD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00500"/>
            <a:ext cx="3152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异构图编码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按关系传播与读出</a:t>
            </a:r>
          </a:p>
        </p:txBody>
      </p:sp>
      <p:cxnSp>
        <p:nvCxnSpPr>
          <p:cNvPr id="84" name="skill-to-encoder-1">
            <a:extLst xmlns:a="http://schemas.openxmlformats.org/drawingml/2006/main">
              <a:ext uri="{FF2B5EF4-FFF2-40B4-BE49-F238E27FC236}">
                <a16:creationId xmlns:a16="http://schemas.microsoft.com/office/drawing/2014/main" id="{AD8BEDB5-94D3-42B6-9E1D-41BFE96EE24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05075" y="36290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85" name="skill-to-encoder-2">
            <a:extLst xmlns:a="http://schemas.openxmlformats.org/drawingml/2006/main">
              <a:ext uri="{FF2B5EF4-FFF2-40B4-BE49-F238E27FC236}">
                <a16:creationId xmlns:a16="http://schemas.microsoft.com/office/drawing/2014/main" id="{80556866-0A8C-4390-9D6C-7A8E7D35235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47900" y="38766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86" name="skill-to-encoder-3">
            <a:extLst xmlns:a="http://schemas.openxmlformats.org/drawingml/2006/main">
              <a:ext uri="{FF2B5EF4-FFF2-40B4-BE49-F238E27FC236}">
                <a16:creationId xmlns:a16="http://schemas.microsoft.com/office/drawing/2014/main" id="{1FE7C5FF-EE69-445F-9F23-F6B21B234A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47900" y="3876675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87" name="baseline-and-delay">
            <a:extLst xmlns:a="http://schemas.openxmlformats.org/drawingml/2006/main">
              <a:ext uri="{FF2B5EF4-FFF2-40B4-BE49-F238E27FC236}">
                <a16:creationId xmlns:a16="http://schemas.microsoft.com/office/drawing/2014/main" id="{95DC3EAE-42D8-41E1-8E9F-119A6059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0225"/>
            <a:ext cx="3333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固定基准计划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与已揭示开工延迟</a:t>
            </a:r>
          </a:p>
        </p:txBody>
      </p:sp>
      <p:sp>
        <p:nvSpPr>
          <p:cNvPr id="88" name="reschedule-boundary">
            <a:extLst xmlns:a="http://schemas.openxmlformats.org/drawingml/2006/main">
              <a:ext uri="{FF2B5EF4-FFF2-40B4-BE49-F238E27FC236}">
                <a16:creationId xmlns:a16="http://schemas.microsoft.com/office/drawing/2014/main" id="{5A927B77-B03B-4DCB-8968-5F07D3FA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62225"/>
            <a:ext cx="3257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1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01010"/>
                </a:solidFill>
              </a:defRPr>
            </a:pPr>
            <a:r>
              <a:rPr sz="141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按基准开工时刻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10" b="0">
                <a:solidFill>
                  <a:srgbClr val="101010"/>
                </a:solidFill>
              </a:defRPr>
            </a:pPr>
            <a:r>
              <a:rPr sz="141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与重调度边界划分</a:t>
            </a:r>
          </a:p>
        </p:txBody>
      </p:sp>
      <p:sp>
        <p:nvSpPr>
          <p:cNvPr id="89" name="frozen-entries">
            <a:extLst xmlns:a="http://schemas.openxmlformats.org/drawingml/2006/main">
              <a:ext uri="{FF2B5EF4-FFF2-40B4-BE49-F238E27FC236}">
                <a16:creationId xmlns:a16="http://schemas.microsoft.com/office/drawing/2014/main" id="{EB57FF0F-84AD-4232-A478-87BCD90F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8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01010"/>
                </a:solidFill>
              </a:defRPr>
            </a:pPr>
            <a:r>
              <a:rPr sz="13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冻结条目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01010"/>
                </a:solidFill>
              </a:defRPr>
            </a:pPr>
            <a:r>
              <a:rPr sz="13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保留站位、团队与时刻</a:t>
            </a:r>
          </a:p>
        </p:txBody>
      </p:sp>
      <p:sp>
        <p:nvSpPr>
          <p:cNvPr id="90" name="adjustable-entries">
            <a:extLst xmlns:a="http://schemas.openxmlformats.org/drawingml/2006/main">
              <a:ext uri="{FF2B5EF4-FFF2-40B4-BE49-F238E27FC236}">
                <a16:creationId xmlns:a16="http://schemas.microsoft.com/office/drawing/2014/main" id="{14A946A0-26BD-48A7-9D9E-C5A3E39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1485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8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01010"/>
                </a:solidFill>
              </a:defRPr>
            </a:pPr>
            <a:r>
              <a:rPr sz="13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可调条目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101010"/>
                </a:solidFill>
              </a:defRPr>
            </a:pPr>
            <a:r>
              <a:rPr sz="138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保留基准，更新开工条件</a:t>
            </a:r>
          </a:p>
        </p:txBody>
      </p:sp>
      <p:cxnSp>
        <p:nvCxnSpPr>
          <p:cNvPr id="91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95E698F6-18F9-4991-A573-6912575091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72175" y="24098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92" name="baseline-branch-1">
            <a:extLst xmlns:a="http://schemas.openxmlformats.org/drawingml/2006/main">
              <a:ext uri="{FF2B5EF4-FFF2-40B4-BE49-F238E27FC236}">
                <a16:creationId xmlns:a16="http://schemas.microsoft.com/office/drawing/2014/main" id="{8BE4D8D9-D3C7-4BCD-83DB-27A6573444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72175" y="297180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93" name="baseline-branch-2">
            <a:extLst xmlns:a="http://schemas.openxmlformats.org/drawingml/2006/main">
              <a:ext uri="{FF2B5EF4-FFF2-40B4-BE49-F238E27FC236}">
                <a16:creationId xmlns:a16="http://schemas.microsoft.com/office/drawing/2014/main" id="{C103024E-B7AE-4989-9A5B-6C65A3351D2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048250" y="30670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94" name="baseline-branch-3">
            <a:extLst xmlns:a="http://schemas.openxmlformats.org/drawingml/2006/main">
              <a:ext uri="{FF2B5EF4-FFF2-40B4-BE49-F238E27FC236}">
                <a16:creationId xmlns:a16="http://schemas.microsoft.com/office/drawing/2014/main" id="{443E989F-CDCB-4340-A7DF-78790A0654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48250" y="3067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95" name="baseline-adjustable-1">
            <a:extLst xmlns:a="http://schemas.openxmlformats.org/drawingml/2006/main">
              <a:ext uri="{FF2B5EF4-FFF2-40B4-BE49-F238E27FC236}">
                <a16:creationId xmlns:a16="http://schemas.microsoft.com/office/drawing/2014/main" id="{217EF3AF-7A7B-4C59-A9F1-AEA361DDCC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72175" y="30670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96" name="baseline-adjustable-2">
            <a:extLst xmlns:a="http://schemas.openxmlformats.org/drawingml/2006/main">
              <a:ext uri="{FF2B5EF4-FFF2-40B4-BE49-F238E27FC236}">
                <a16:creationId xmlns:a16="http://schemas.microsoft.com/office/drawing/2014/main" id="{65D46024-F1EB-44B5-A175-9645FE43C5D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96100" y="30670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97" name="worker-inheritance">
            <a:extLst xmlns:a="http://schemas.openxmlformats.org/drawingml/2006/main">
              <a:ext uri="{FF2B5EF4-FFF2-40B4-BE49-F238E27FC236}">
                <a16:creationId xmlns:a16="http://schemas.microsoft.com/office/drawing/2014/main" id="{60010F34-AC25-48C1-99EB-CF5C2A2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6717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8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人员候选继承：已用人员留原站位</a:t>
            </a:r>
          </a:p>
          <a:p xmlns:a="http://schemas.openxmlformats.org/drawingml/2006/main"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未用人员在首次使用时确定站位</a:t>
            </a:r>
          </a:p>
        </p:txBody>
      </p:sp>
      <p:cxnSp>
        <p:nvCxnSpPr>
          <p:cNvPr id="98" name="repair-to-encoder-1">
            <a:extLst xmlns:a="http://schemas.openxmlformats.org/drawingml/2006/main">
              <a:ext uri="{FF2B5EF4-FFF2-40B4-BE49-F238E27FC236}">
                <a16:creationId xmlns:a16="http://schemas.microsoft.com/office/drawing/2014/main" id="{57377020-B1E9-488D-A804-A7EC1507F8B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6019800" y="35623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99" name="repair-to-encoder-2">
            <a:extLst xmlns:a="http://schemas.openxmlformats.org/drawingml/2006/main">
              <a:ext uri="{FF2B5EF4-FFF2-40B4-BE49-F238E27FC236}">
                <a16:creationId xmlns:a16="http://schemas.microsoft.com/office/drawing/2014/main" id="{6F592A5E-DB09-41C0-8AB9-0EB4C1C9A51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19800" y="35623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00" name="repair-to-encoder-3">
            <a:extLst xmlns:a="http://schemas.openxmlformats.org/drawingml/2006/main">
              <a:ext uri="{FF2B5EF4-FFF2-40B4-BE49-F238E27FC236}">
                <a16:creationId xmlns:a16="http://schemas.microsoft.com/office/drawing/2014/main" id="{C94B4B4D-9479-448F-B220-856B8B6BC9E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010025" y="3981450"/>
            <a:ext cx="20097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01" name="repair-to-encoder-4">
            <a:extLst xmlns:a="http://schemas.openxmlformats.org/drawingml/2006/main">
              <a:ext uri="{FF2B5EF4-FFF2-40B4-BE49-F238E27FC236}">
                <a16:creationId xmlns:a16="http://schemas.microsoft.com/office/drawing/2014/main" id="{D96D41DA-2C22-46C3-8447-087F6A244E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10025" y="39814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02" name="repair-to-encoder-5">
            <a:extLst xmlns:a="http://schemas.openxmlformats.org/drawingml/2006/main">
              <a:ext uri="{FF2B5EF4-FFF2-40B4-BE49-F238E27FC236}">
                <a16:creationId xmlns:a16="http://schemas.microsoft.com/office/drawing/2014/main" id="{D7E56203-555B-4E0F-8DC8-F53D6CD2CDED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829050" y="4229100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03" name="shared-decision-heading">
            <a:extLst xmlns:a="http://schemas.openxmlformats.org/drawingml/2006/main">
              <a:ext uri="{FF2B5EF4-FFF2-40B4-BE49-F238E27FC236}">
                <a16:creationId xmlns:a16="http://schemas.microsoft.com/office/drawing/2014/main" id="{1752F7CB-0CE0-45F2-8821-E7DD0AF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3676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1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01010"/>
                </a:solidFill>
              </a:defRPr>
            </a:pPr>
            <a:r>
              <a:rPr sz="161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共享自回归联合动作与时间分配</a:t>
            </a:r>
          </a:p>
        </p:txBody>
      </p:sp>
      <p:sp>
        <p:nvSpPr>
          <p:cNvPr id="104" name="joint-operation">
            <a:extLst xmlns:a="http://schemas.openxmlformats.org/drawingml/2006/main">
              <a:ext uri="{FF2B5EF4-FFF2-40B4-BE49-F238E27FC236}">
                <a16:creationId xmlns:a16="http://schemas.microsoft.com/office/drawing/2014/main" id="{9C31C597-86A6-4533-B0D5-4A83C7D5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工序选择</a:t>
            </a:r>
          </a:p>
        </p:txBody>
      </p:sp>
      <p:sp>
        <p:nvSpPr>
          <p:cNvPr id="105" name="joint-station">
            <a:extLst xmlns:a="http://schemas.openxmlformats.org/drawingml/2006/main">
              <a:ext uri="{FF2B5EF4-FFF2-40B4-BE49-F238E27FC236}">
                <a16:creationId xmlns:a16="http://schemas.microsoft.com/office/drawing/2014/main" id="{9F9DCD24-6403-4AC9-A250-1B23350C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1285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站位分配</a:t>
            </a:r>
          </a:p>
        </p:txBody>
      </p:sp>
      <p:sp>
        <p:nvSpPr>
          <p:cNvPr id="106" name="joint-team">
            <a:extLst xmlns:a="http://schemas.openxmlformats.org/drawingml/2006/main">
              <a:ext uri="{FF2B5EF4-FFF2-40B4-BE49-F238E27FC236}">
                <a16:creationId xmlns:a16="http://schemas.microsoft.com/office/drawing/2014/main" id="{1647E422-C01D-4518-A91B-D6874A0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81600"/>
            <a:ext cx="15049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4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0" b="0">
                <a:solidFill>
                  <a:srgbClr val="101010"/>
                </a:solidFill>
              </a:defRPr>
            </a:pPr>
            <a:r>
              <a:rPr sz="144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具体团队选择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0" b="0">
                <a:solidFill>
                  <a:srgbClr val="101010"/>
                </a:solidFill>
              </a:defRPr>
            </a:pPr>
            <a:r>
              <a:rPr sz="144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按给定人数选满</a:t>
            </a:r>
          </a:p>
        </p:txBody>
      </p:sp>
      <p:sp>
        <p:nvSpPr>
          <p:cNvPr id="107" name="joint-time">
            <a:extLst xmlns:a="http://schemas.openxmlformats.org/drawingml/2006/main">
              <a:ext uri="{FF2B5EF4-FFF2-40B4-BE49-F238E27FC236}">
                <a16:creationId xmlns:a16="http://schemas.microsoft.com/office/drawing/2014/main" id="{A511A78A-4B1C-4222-87C8-DEBBE57D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1819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前向时间分配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合法起止时刻</a:t>
            </a:r>
          </a:p>
        </p:txBody>
      </p:sp>
      <p:cxnSp>
        <p:nvCxnSpPr>
          <p:cNvPr id="111" name="encoding-to-action-1">
            <a:extLst xmlns:a="http://schemas.openxmlformats.org/drawingml/2006/main">
              <a:ext uri="{FF2B5EF4-FFF2-40B4-BE49-F238E27FC236}">
                <a16:creationId xmlns:a16="http://schemas.microsoft.com/office/drawing/2014/main" id="{0F3B1312-8217-421C-B1BC-F111C6C586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44577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12" name="encoding-to-action-2">
            <a:extLst xmlns:a="http://schemas.openxmlformats.org/drawingml/2006/main">
              <a:ext uri="{FF2B5EF4-FFF2-40B4-BE49-F238E27FC236}">
                <a16:creationId xmlns:a16="http://schemas.microsoft.com/office/drawing/2014/main" id="{02DD8ABB-6981-497D-AD03-404A272DD71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247775" y="46386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13" name="encoding-to-action-3">
            <a:extLst xmlns:a="http://schemas.openxmlformats.org/drawingml/2006/main">
              <a:ext uri="{FF2B5EF4-FFF2-40B4-BE49-F238E27FC236}">
                <a16:creationId xmlns:a16="http://schemas.microsoft.com/office/drawing/2014/main" id="{8993819A-0E5B-4F9D-BC58-79ED08A39A3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7775" y="463867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14" name="initial-and-repaired">
            <a:extLst xmlns:a="http://schemas.openxmlformats.org/drawingml/2006/main">
              <a:ext uri="{FF2B5EF4-FFF2-40B4-BE49-F238E27FC236}">
                <a16:creationId xmlns:a16="http://schemas.microsoft.com/office/drawing/2014/main" id="{AC941EA6-5CFE-4C40-9D8C-1EC90C7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019800"/>
            <a:ext cx="14573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初始排程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010"/>
                </a:solidFill>
              </a:defRPr>
            </a:pPr>
            <a:r>
              <a:rPr sz="150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修复排程</a:t>
            </a:r>
          </a:p>
        </p:txBody>
      </p:sp>
      <p:cxnSp>
        <p:nvCxnSpPr>
          <p:cNvPr id="116" name="frozen-retained-1">
            <a:extLst xmlns:a="http://schemas.openxmlformats.org/drawingml/2006/main">
              <a:ext uri="{FF2B5EF4-FFF2-40B4-BE49-F238E27FC236}">
                <a16:creationId xmlns:a16="http://schemas.microsoft.com/office/drawing/2014/main" id="{98370358-C82E-406F-B3B7-91A6E16FCD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91200" y="35528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17" name="frozen-retained-2">
            <a:extLst xmlns:a="http://schemas.openxmlformats.org/drawingml/2006/main">
              <a:ext uri="{FF2B5EF4-FFF2-40B4-BE49-F238E27FC236}">
                <a16:creationId xmlns:a16="http://schemas.microsoft.com/office/drawing/2014/main" id="{1CC35A59-59A1-4019-95E1-6E5C53CE936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867400" y="300037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18" name="frozen-retained-3">
            <a:extLst xmlns:a="http://schemas.openxmlformats.org/drawingml/2006/main">
              <a:ext uri="{FF2B5EF4-FFF2-40B4-BE49-F238E27FC236}">
                <a16:creationId xmlns:a16="http://schemas.microsoft.com/office/drawing/2014/main" id="{5ADCB8C3-9B4E-4CDF-A2E1-A8B1AD875EB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67400" y="3000375"/>
            <a:ext cx="18859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19" name="frozen-retained-4">
            <a:extLst xmlns:a="http://schemas.openxmlformats.org/drawingml/2006/main">
              <a:ext uri="{FF2B5EF4-FFF2-40B4-BE49-F238E27FC236}">
                <a16:creationId xmlns:a16="http://schemas.microsoft.com/office/drawing/2014/main" id="{FA0DFD05-0BD8-44F3-B6E7-538B5FDD32B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53350" y="3000375"/>
            <a:ext cx="0" cy="32480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20" name="frozen-retained-5">
            <a:extLst xmlns:a="http://schemas.openxmlformats.org/drawingml/2006/main">
              <a:ext uri="{FF2B5EF4-FFF2-40B4-BE49-F238E27FC236}">
                <a16:creationId xmlns:a16="http://schemas.microsoft.com/office/drawing/2014/main" id="{A9B17F76-C1E4-486B-A1D4-D8CEE96A46F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39050" y="62484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21" name="repair-evaluation">
            <a:extLst xmlns:a="http://schemas.openxmlformats.org/drawingml/2006/main">
              <a:ext uri="{FF2B5EF4-FFF2-40B4-BE49-F238E27FC236}">
                <a16:creationId xmlns:a16="http://schemas.microsoft.com/office/drawing/2014/main" id="{DA6339AF-B674-4407-A218-1DE9517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9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修复评价：计划完工时间及相对固定基准的</a:t>
            </a:r>
          </a:p>
          <a:p xmlns:a="http://schemas.openxmlformats.org/drawingml/2006/main"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  <a:defRPr sz="1395" b="0">
                <a:solidFill>
                  <a:srgbClr val="101010"/>
                </a:solidFill>
              </a:defRPr>
            </a:pPr>
            <a:r>
              <a:rPr sz="139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开工、站位、具体团队偏离。</a:t>
            </a:r>
          </a:p>
        </p:txBody>
      </p:sp>
    </p:spTree>
    <p:extLst>
      <p:ext uri="{BB962C8B-B14F-4D97-AF65-F5344CB8AC3E}">
        <p14:creationId xmlns:p14="http://schemas.microsoft.com/office/powerpoint/2010/main" val="1268881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E63506D2-9A54-46F9-BE23-C6D144B047E7}"/>
              </a:ext>
            </a:extLst>
          </p:cNvPr>
          <p:cNvCxnSpPr>
            <a:stCxn xmlns:a="http://schemas.openxmlformats.org/drawingml/2006/main" id="167" idx="3"/>
            <a:endCxn xmlns:a="http://schemas.openxmlformats.org/drawingml/2006/main" id="168" idx="1"/>
          </p:cNvCxnSpPr>
          <p:nvPr/>
        </p:nvCxnSpPr>
        <p:spPr>
          <a:xfrm xmlns:a="http://schemas.openxmlformats.org/drawingml/2006/main">
            <a:off x="2781300" y="634841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650E55A-D57F-426B-A0A6-F190714DEEAF}"/>
              </a:ext>
            </a:extLst>
          </p:cNvPr>
          <p:cNvCxnSpPr>
            <a:stCxn xmlns:a="http://schemas.openxmlformats.org/drawingml/2006/main" id="161" idx="2"/>
            <a:endCxn xmlns:a="http://schemas.openxmlformats.org/drawingml/2006/main" id="165" idx="0"/>
          </p:cNvCxnSpPr>
          <p:nvPr/>
        </p:nvCxnSpPr>
        <p:spPr>
          <a:xfrm xmlns:a="http://schemas.openxmlformats.org/drawingml/2006/main">
            <a:off x="4105275" y="54864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09" name="模板页眉横线">
            <a:extLst xmlns:a="http://schemas.openxmlformats.org/drawingml/2006/main">
              <a:ext uri="{FF2B5EF4-FFF2-40B4-BE49-F238E27FC236}">
                <a16:creationId xmlns:a16="http://schemas.microsoft.com/office/drawing/2014/main" id="{C4000073-E50E-0B72-94C0-033F230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054"/>
            <a:ext cx="12192000" cy="45719"/>
          </a:xfrm>
          <a:custGeom xmlns:a="http://schemas.openxmlformats.org/drawingml/2006/main">
            <a:gdLst>
              <a:gd name="T0" fmla="*/ 0 w 21600"/>
              <a:gd name="T1" fmla="*/ 0 h 21600"/>
              <a:gd name="T2" fmla="*/ 489365807 w 21600"/>
              <a:gd name="T3" fmla="*/ 0 h 21600"/>
              <a:gd name="T4" fmla="*/ 489365807 w 21600"/>
              <a:gd name="T5" fmla="*/ 28356134 h 21600"/>
              <a:gd name="T6" fmla="*/ 0 w 21600"/>
              <a:gd name="T7" fmla="*/ 28356134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74CB"/>
          </a:solidFill>
          <a:ln xmlns:a="http://schemas.openxmlformats.org/drawingml/2006/main" w="3175" cap="flat" cmpd="sng">
            <a:solidFill>
              <a:srgbClr val="002060">
                <a:alpha val="0"/>
              </a:srgbClr>
            </a:solidFill>
            <a:round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solidFill>
                <a:srgbClr val="4874CB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0" name="同济校标">
            <a:extLst xmlns:a="http://schemas.openxmlformats.org/drawingml/2006/main">
              <a:ext uri="{FF2B5EF4-FFF2-40B4-BE49-F238E27FC236}">
                <a16:creationId xmlns:a16="http://schemas.microsoft.com/office/drawing/2014/main" id="{975F2A2A-9192-4670-8082-2F20F2DBC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f811ec76734e87"/>
          <a:srcRect xmlns:a="http://schemas.openxmlformats.org/drawingml/2006/main" l="0" t="0" r="8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1625" y="20910"/>
            <a:ext cx="1809525" cy="526143"/>
          </a:xfrm>
          <a:prstGeom xmlns:a="http://schemas.openxmlformats.org/drawingml/2006/main" prst="rect">
            <a:avLst/>
          </a:prstGeom>
        </p:spPr>
      </p:pic>
      <p:sp>
        <p:nvSpPr>
          <p:cNvPr id="111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CCA1E91B-B668-B211-4835-07E77318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"/>
            <a:ext cx="113061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200" b="1">
                <a:solidFill>
                  <a:srgbClr val="4674CD"/>
                </a:solidFill>
              </a:defRPr>
            </a:defPPr>
            <a:lvl1pPr>
              <a:buNone/>
              <a:defRPr sz="3200" b="1">
                <a:solidFill>
                  <a:srgbClr val="17375E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buNone/>
              <a:defRPr sz="4000">
                <a:latin typeface="Times New Roman"/>
                <a:ea typeface="Times New Roman"/>
                <a:cs typeface="Times New Roman"/>
              </a:defRPr>
            </a:lvl2pPr>
            <a:lvl3pPr algn="ctr">
              <a:buNone/>
              <a:defRPr sz="4000">
                <a:latin typeface="Times New Roman"/>
                <a:ea typeface="Times New Roman"/>
                <a:cs typeface="Times New Roman"/>
              </a:defRPr>
            </a:lvl3pPr>
            <a:lvl4pPr algn="ctr">
              <a:buNone/>
              <a:defRPr sz="4000">
                <a:latin typeface="Times New Roman"/>
                <a:ea typeface="Times New Roman"/>
                <a:cs typeface="Times New Roman"/>
              </a:defRPr>
            </a:lvl4pPr>
            <a:lvl5pPr algn="ctr">
              <a:buNone/>
              <a:defRPr sz="4000">
                <a:latin typeface="Times New Roman"/>
                <a:ea typeface="Times New Roman"/>
                <a:cs typeface="Times New Roman"/>
              </a:defRPr>
            </a:lvl5pPr>
            <a:lvl6pPr marL="4572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6pPr>
            <a:lvl7pPr marL="9144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7pPr>
            <a:lvl8pPr marL="13716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8pPr>
            <a:lvl9pPr marL="1828800" algn="ctr">
              <a:spcBef>
                <a:spcPct val="0"/>
              </a:spcBef>
              <a:spcAft>
                <a:spcPct val="0"/>
              </a:spcAft>
              <a:buNone/>
              <a:defRPr sz="4000"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solidFill>
                  <a:srgbClr val="4674CD"/>
                </a:solidFill>
              </a:defRPr>
            </a:pPr>
            <a:r>
              <a:rPr sz="3200" b="1">
                <a:solidFill>
                  <a:srgbClr val="4674CD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3200" b="1">
                <a:solidFill>
                  <a:srgbClr val="4674CD"/>
                </a:solidFill>
                <a:latin typeface="SimHei"/>
                <a:ea typeface="SimHei"/>
                <a:cs typeface="SimHei"/>
              </a:rPr>
              <a:t>技术路线</a:t>
            </a:r>
          </a:p>
        </p:txBody>
      </p:sp>
      <p:sp>
        <p:nvSpPr>
          <p:cNvPr id="112" name="页面主题">
            <a:extLst xmlns:a="http://schemas.openxmlformats.org/drawingml/2006/main">
              <a:ext uri="{FF2B5EF4-FFF2-40B4-BE49-F238E27FC236}">
                <a16:creationId xmlns:a16="http://schemas.microsoft.com/office/drawing/2014/main" id="{A8BFA7F8-B8F6-40F9-8B69-7C7B379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52475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315CA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研究内容三：基于语义增强图强化学习的多架次协同动态调度方法</a:t>
            </a:r>
          </a:p>
        </p:txBody>
      </p:sp>
      <p:sp>
        <p:nvSpPr>
          <p:cNvPr id="113" name="revision-text-1005">
            <a:extLst xmlns:a="http://schemas.openxmlformats.org/drawingml/2006/main">
              <a:ext uri="{FF2B5EF4-FFF2-40B4-BE49-F238E27FC236}">
                <a16:creationId xmlns:a16="http://schemas.microsoft.com/office/drawing/2014/main" id="{CD0330C8-8920-4B6D-B042-F71F342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cxnSp>
        <p:nvCxnSpPr>
          <p:cNvPr id="114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C1C93D10-47A8-48F3-A80F-A5732D5E4B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877175" y="1362075"/>
            <a:ext cx="0" cy="511492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C9D6EA"/>
            </a:solidFill>
            <a:prstDash val="solid"/>
          </a:ln>
        </p:spPr>
      </p:cxnSp>
      <p:sp>
        <p:nvSpPr>
          <p:cNvPr id="115" name="explanation-heading-0">
            <a:extLst xmlns:a="http://schemas.openxmlformats.org/drawingml/2006/main">
              <a:ext uri="{FF2B5EF4-FFF2-40B4-BE49-F238E27FC236}">
                <a16:creationId xmlns:a16="http://schemas.microsoft.com/office/drawing/2014/main" id="{DE204FCA-87FB-49D9-BCD8-F0E37AFC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400175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同步脉动下的多架次协同</a:t>
            </a:r>
          </a:p>
        </p:txBody>
      </p:sp>
      <p:sp>
        <p:nvSpPr>
          <p:cNvPr id="116" name="explanation-body-0">
            <a:extLst xmlns:a="http://schemas.openxmlformats.org/drawingml/2006/main">
              <a:ext uri="{FF2B5EF4-FFF2-40B4-BE49-F238E27FC236}">
                <a16:creationId xmlns:a16="http://schemas.microsoft.com/office/drawing/2014/main" id="{2818E6FD-7A4C-47CA-8906-5C3FEE2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多架飞机在不同站位并行装配，局部延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迟可能推迟全线同步转站，并影响下一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周期的作业条件，需要协调各站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当前与后续任务。</a:t>
            </a:r>
          </a:p>
        </p:txBody>
      </p:sp>
      <p:sp>
        <p:nvSpPr>
          <p:cNvPr id="117" name="explanation-heading-1">
            <a:extLst xmlns:a="http://schemas.openxmlformats.org/drawingml/2006/main">
              <a:ext uri="{FF2B5EF4-FFF2-40B4-BE49-F238E27FC236}">
                <a16:creationId xmlns:a16="http://schemas.microsoft.com/office/drawing/2014/main" id="{717EB9C4-BEB5-4477-8CB8-0977A5C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47950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飞机、站位与整线的分层融合</a:t>
            </a:r>
          </a:p>
        </p:txBody>
      </p:sp>
      <p:sp>
        <p:nvSpPr>
          <p:cNvPr id="118" name="explanation-body-1">
            <a:extLst xmlns:a="http://schemas.openxmlformats.org/drawingml/2006/main">
              <a:ext uri="{FF2B5EF4-FFF2-40B4-BE49-F238E27FC236}">
                <a16:creationId xmlns:a16="http://schemas.microsoft.com/office/drawing/2014/main" id="{C9776EB9-4C23-43AE-88BA-78D4010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24175"/>
            <a:ext cx="36004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在工序与资源图编码基础上，按飞机、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站位和整线汇总生产信息，分别组织当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前与紧邻下一周期的任务及人员状态，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为联合策略提供跨站、跨周期信息。</a:t>
            </a:r>
          </a:p>
        </p:txBody>
      </p:sp>
      <p:sp>
        <p:nvSpPr>
          <p:cNvPr id="119" name="explanation-heading-2">
            <a:extLst xmlns:a="http://schemas.openxmlformats.org/drawingml/2006/main">
              <a:ext uri="{FF2B5EF4-FFF2-40B4-BE49-F238E27FC236}">
                <a16:creationId xmlns:a16="http://schemas.microsoft.com/office/drawing/2014/main" id="{72F0DA21-DC5A-4446-817E-9689C071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895725"/>
            <a:ext cx="3600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8" b="1">
                <a:solidFill>
                  <a:srgbClr val="315CA9"/>
                </a:solidFill>
              </a:defRPr>
            </a:pPr>
            <a:r>
              <a:rPr sz="168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时间结果驱动的语义增强</a:t>
            </a:r>
          </a:p>
        </p:txBody>
      </p:sp>
      <p:sp>
        <p:nvSpPr>
          <p:cNvPr id="120" name="explanation-body-2">
            <a:extLst xmlns:a="http://schemas.openxmlformats.org/drawingml/2006/main">
              <a:ext uri="{FF2B5EF4-FFF2-40B4-BE49-F238E27FC236}">
                <a16:creationId xmlns:a16="http://schemas.microsoft.com/office/drawing/2014/main" id="{B37DD933-52EF-4788-BD03-2E2EBF17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71950"/>
            <a:ext cx="36004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预测本次转站时间修正及下一周期各站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就绪偏差，利用实际时间结果训练策略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共享的图编码与融合模块，使图表示学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习生产状态与后续时间结果的</a:t>
            </a:r>
          </a:p>
          <a:p xmlns:a="http://schemas.openxmlformats.org/drawingml/2006/main"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01010"/>
                </a:solidFill>
              </a:defRPr>
            </a:pPr>
            <a:r>
              <a:rPr sz="157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联系，支持协同决策。</a:t>
            </a:r>
          </a:p>
        </p:txBody>
      </p:sp>
      <p:sp>
        <p:nvSpPr>
          <p:cNvPr id="121" name="takeaway-outline">
            <a:extLst xmlns:a="http://schemas.openxmlformats.org/drawingml/2006/main">
              <a:ext uri="{FF2B5EF4-FFF2-40B4-BE49-F238E27FC236}">
                <a16:creationId xmlns:a16="http://schemas.microsoft.com/office/drawing/2014/main" id="{02F7D85E-88CB-4B8D-9749-1096C0B8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10250"/>
            <a:ext cx="36099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72424"/>
            </a:solidFill>
            <a:prstDash val="solid"/>
          </a:ln>
        </p:spPr>
      </p:sp>
      <p:sp>
        <p:nvSpPr>
          <p:cNvPr id="122" name="takeaway">
            <a:extLst xmlns:a="http://schemas.openxmlformats.org/drawingml/2006/main">
              <a:ext uri="{FF2B5EF4-FFF2-40B4-BE49-F238E27FC236}">
                <a16:creationId xmlns:a16="http://schemas.microsoft.com/office/drawing/2014/main" id="{E65CB6B7-5F1C-4B00-9211-5B24BC09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857875"/>
            <a:ext cx="3409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38" b="1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通过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分层融合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与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时间结果训练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，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将当前生产状态与后续时间结果</a:t>
            </a:r>
          </a:p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1538" b="1">
                <a:solidFill>
                  <a:srgbClr val="315CA9"/>
                </a:solidFill>
              </a:defRPr>
            </a:pP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联系起来，支持</a:t>
            </a:r>
            <a:r>
              <a:rPr sz="1538" b="1">
                <a:solidFill>
                  <a:srgbClr val="B72424"/>
                </a:solidFill>
                <a:latin typeface="SimHei"/>
                <a:ea typeface="SimHei"/>
                <a:cs typeface="SimHei"/>
              </a:rPr>
              <a:t>多架次协同调度</a:t>
            </a:r>
            <a:r>
              <a:rPr sz="1538" b="1">
                <a:solidFill>
                  <a:srgbClr val="315CA9"/>
                </a:solidFill>
                <a:latin typeface="SimHei"/>
                <a:ea typeface="SimHei"/>
                <a:cs typeface="SimHei"/>
              </a:rPr>
              <a:t>。</a:t>
            </a:r>
          </a:p>
        </p:txBody>
      </p:sp>
      <p:sp>
        <p:nvSpPr>
          <p:cNvPr id="123" name="station-1">
            <a:extLst xmlns:a="http://schemas.openxmlformats.org/drawingml/2006/main">
              <a:ext uri="{FF2B5EF4-FFF2-40B4-BE49-F238E27FC236}">
                <a16:creationId xmlns:a16="http://schemas.microsoft.com/office/drawing/2014/main" id="{43D2325D-E69E-4180-AC84-2A2F2B4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24" name="station-2">
            <a:extLst xmlns:a="http://schemas.openxmlformats.org/drawingml/2006/main">
              <a:ext uri="{FF2B5EF4-FFF2-40B4-BE49-F238E27FC236}">
                <a16:creationId xmlns:a16="http://schemas.microsoft.com/office/drawing/2014/main" id="{79AE444F-7259-4D0D-AD3D-E1E9D945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438275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25" name="station-3">
            <a:extLst xmlns:a="http://schemas.openxmlformats.org/drawingml/2006/main">
              <a:ext uri="{FF2B5EF4-FFF2-40B4-BE49-F238E27FC236}">
                <a16:creationId xmlns:a16="http://schemas.microsoft.com/office/drawing/2014/main" id="{2FC10B49-ACCC-445A-BDCE-3E09045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438275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26" name="station-4">
            <a:extLst xmlns:a="http://schemas.openxmlformats.org/drawingml/2006/main">
              <a:ext uri="{FF2B5EF4-FFF2-40B4-BE49-F238E27FC236}">
                <a16:creationId xmlns:a16="http://schemas.microsoft.com/office/drawing/2014/main" id="{0062346E-17EA-4C9D-9DEF-AA6F2BB7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438275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7" name="station-5">
            <a:extLst xmlns:a="http://schemas.openxmlformats.org/drawingml/2006/main">
              <a:ext uri="{FF2B5EF4-FFF2-40B4-BE49-F238E27FC236}">
                <a16:creationId xmlns:a16="http://schemas.microsoft.com/office/drawing/2014/main" id="{AC3151EB-B6EC-4B70-9BD4-CA2BA8B8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38275"/>
            <a:ext cx="13430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3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38" b="0">
                <a:solidFill>
                  <a:srgbClr val="101010"/>
                </a:solidFill>
              </a:defRPr>
            </a:pPr>
            <a:r>
              <a:rPr sz="153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</a:t>
            </a:r>
            <a:r>
              <a:rPr sz="1538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28" name="synchronous-pulse">
            <a:extLst xmlns:a="http://schemas.openxmlformats.org/drawingml/2006/main">
              <a:ext uri="{FF2B5EF4-FFF2-40B4-BE49-F238E27FC236}">
                <a16:creationId xmlns:a16="http://schemas.microsoft.com/office/drawing/2014/main" id="{5C7DD1A0-AB7A-47AC-B740-8669CCB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97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315CA9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315CA9"/>
                </a:solidFill>
              </a:defRPr>
            </a:pPr>
            <a:r>
              <a:rPr sz="1500" b="0">
                <a:solidFill>
                  <a:srgbClr val="315CA9"/>
                </a:solidFill>
                <a:latin typeface="SimHei"/>
                <a:ea typeface="SimHei"/>
                <a:cs typeface="SimHei"/>
              </a:rPr>
              <a:t>占用站位全部就绪，最晚时刻共同脉动</a:t>
            </a:r>
          </a:p>
        </p:txBody>
      </p:sp>
      <p:sp>
        <p:nvSpPr>
          <p:cNvPr id="129" name="fixed-predictor-copy">
            <a:extLst xmlns:a="http://schemas.openxmlformats.org/drawingml/2006/main">
              <a:ext uri="{FF2B5EF4-FFF2-40B4-BE49-F238E27FC236}">
                <a16:creationId xmlns:a16="http://schemas.microsoft.com/office/drawing/2014/main" id="{EF191335-6CF3-4328-96A0-0A1320F2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43150"/>
            <a:ext cx="7019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9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90" b="0">
                <a:solidFill>
                  <a:srgbClr val="101010"/>
                </a:solidFill>
              </a:defRPr>
            </a:pPr>
            <a:r>
              <a:rPr sz="129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完整固定预测副本：轨迹内参数固定，每次决策重算</a:t>
            </a:r>
          </a:p>
        </p:txBody>
      </p:sp>
      <p:sp>
        <p:nvSpPr>
          <p:cNvPr id="130" name="complete-graph-frame">
            <a:extLst xmlns:a="http://schemas.openxmlformats.org/drawingml/2006/main">
              <a:ext uri="{FF2B5EF4-FFF2-40B4-BE49-F238E27FC236}">
                <a16:creationId xmlns:a16="http://schemas.microsoft.com/office/drawing/2014/main" id="{360B869D-40F3-4788-902C-14EBBB5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86050"/>
            <a:ext cx="18859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31" name="complete-graph-title">
            <a:extLst xmlns:a="http://schemas.openxmlformats.org/drawingml/2006/main">
              <a:ext uri="{FF2B5EF4-FFF2-40B4-BE49-F238E27FC236}">
                <a16:creationId xmlns:a16="http://schemas.microsoft.com/office/drawing/2014/main" id="{48A526FF-6908-4604-B979-1805D529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717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完整图编码</a:t>
            </a:r>
          </a:p>
        </p:txBody>
      </p:sp>
      <p:sp>
        <p:nvSpPr>
          <p:cNvPr id="132" name="complete-graph-scope">
            <a:extLst xmlns:a="http://schemas.openxmlformats.org/drawingml/2006/main">
              <a:ext uri="{FF2B5EF4-FFF2-40B4-BE49-F238E27FC236}">
                <a16:creationId xmlns:a16="http://schemas.microsoft.com/office/drawing/2014/main" id="{B5790551-CE73-4B68-9E27-826D5691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3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全部可见工序与资源</a:t>
            </a:r>
          </a:p>
        </p:txBody>
      </p:sp>
      <p:sp>
        <p:nvSpPr>
          <p:cNvPr id="133" name="graph-state-0">
            <a:extLst xmlns:a="http://schemas.openxmlformats.org/drawingml/2006/main">
              <a:ext uri="{FF2B5EF4-FFF2-40B4-BE49-F238E27FC236}">
                <a16:creationId xmlns:a16="http://schemas.microsoft.com/office/drawing/2014/main" id="{E52C4819-B54F-496A-99AF-A4EF97D7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已完</a:t>
            </a:r>
          </a:p>
        </p:txBody>
      </p:sp>
      <p:sp>
        <p:nvSpPr>
          <p:cNvPr id="134" name="graph-state-1">
            <a:extLst xmlns:a="http://schemas.openxmlformats.org/drawingml/2006/main">
              <a:ext uri="{FF2B5EF4-FFF2-40B4-BE49-F238E27FC236}">
                <a16:creationId xmlns:a16="http://schemas.microsoft.com/office/drawing/2014/main" id="{05FEA301-CA68-46B9-BAED-04A2E8C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52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未完</a:t>
            </a:r>
          </a:p>
        </p:txBody>
      </p:sp>
      <p:sp>
        <p:nvSpPr>
          <p:cNvPr id="135" name="graph-state-2">
            <a:extLst xmlns:a="http://schemas.openxmlformats.org/drawingml/2006/main">
              <a:ext uri="{FF2B5EF4-FFF2-40B4-BE49-F238E27FC236}">
                <a16:creationId xmlns:a16="http://schemas.microsoft.com/office/drawing/2014/main" id="{7587829A-F55F-41A0-AC82-8088F88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未完</a:t>
            </a:r>
          </a:p>
        </p:txBody>
      </p:sp>
      <p:sp>
        <p:nvSpPr>
          <p:cNvPr id="136" name="graph-state-3">
            <a:extLst xmlns:a="http://schemas.openxmlformats.org/drawingml/2006/main">
              <a:ext uri="{FF2B5EF4-FFF2-40B4-BE49-F238E27FC236}">
                <a16:creationId xmlns:a16="http://schemas.microsoft.com/office/drawing/2014/main" id="{DDD0D28B-0E50-486E-A642-110DA98A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后续</a:t>
            </a:r>
          </a:p>
        </p:txBody>
      </p:sp>
      <p:cxnSp>
        <p:nvCxnSpPr>
          <p:cNvPr id="137" name="complete-unfinished">
            <a:extLst xmlns:a="http://schemas.openxmlformats.org/drawingml/2006/main">
              <a:ext uri="{FF2B5EF4-FFF2-40B4-BE49-F238E27FC236}">
                <a16:creationId xmlns:a16="http://schemas.microsoft.com/office/drawing/2014/main" id="{932CB70F-2ED0-455A-94AC-882140BDCC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" y="35909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38" name="unfinished-context-1">
            <a:extLst xmlns:a="http://schemas.openxmlformats.org/drawingml/2006/main">
              <a:ext uri="{FF2B5EF4-FFF2-40B4-BE49-F238E27FC236}">
                <a16:creationId xmlns:a16="http://schemas.microsoft.com/office/drawing/2014/main" id="{18E7FBCA-D96A-406A-9411-113E6E055C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28825" y="38290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39" name="unfinished-context-2">
            <a:extLst xmlns:a="http://schemas.openxmlformats.org/drawingml/2006/main">
              <a:ext uri="{FF2B5EF4-FFF2-40B4-BE49-F238E27FC236}">
                <a16:creationId xmlns:a16="http://schemas.microsoft.com/office/drawing/2014/main" id="{A8BDDD83-00F5-47A6-B5DC-1A57C70BE0C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85825" y="3905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40" name="unfinished-context-3">
            <a:extLst xmlns:a="http://schemas.openxmlformats.org/drawingml/2006/main">
              <a:ext uri="{FF2B5EF4-FFF2-40B4-BE49-F238E27FC236}">
                <a16:creationId xmlns:a16="http://schemas.microsoft.com/office/drawing/2014/main" id="{DBB81ABB-2E76-4788-9700-28994310B4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85825" y="3905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41" name="unfinished-future">
            <a:extLst xmlns:a="http://schemas.openxmlformats.org/drawingml/2006/main">
              <a:ext uri="{FF2B5EF4-FFF2-40B4-BE49-F238E27FC236}">
                <a16:creationId xmlns:a16="http://schemas.microsoft.com/office/drawing/2014/main" id="{16043801-E70D-4A37-8CF0-EEC1B66E26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23950" y="42195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42" name="graph-context">
            <a:extLst xmlns:a="http://schemas.openxmlformats.org/drawingml/2006/main">
              <a:ext uri="{FF2B5EF4-FFF2-40B4-BE49-F238E27FC236}">
                <a16:creationId xmlns:a16="http://schemas.microsoft.com/office/drawing/2014/main" id="{87830589-8DAF-4005-A646-CBC78E2D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9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298" b="0">
                <a:solidFill>
                  <a:srgbClr val="101010"/>
                </a:solidFill>
              </a:defRPr>
            </a:pPr>
            <a:r>
              <a:rPr sz="129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保留前序及资源上下文</a:t>
            </a:r>
          </a:p>
        </p:txBody>
      </p:sp>
      <p:sp>
        <p:nvSpPr>
          <p:cNvPr id="143" name="fusion-frame">
            <a:extLst xmlns:a="http://schemas.openxmlformats.org/drawingml/2006/main">
              <a:ext uri="{FF2B5EF4-FFF2-40B4-BE49-F238E27FC236}">
                <a16:creationId xmlns:a16="http://schemas.microsoft.com/office/drawing/2014/main" id="{6F827DD4-67C5-419E-BB2F-CC1E4811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86050"/>
            <a:ext cx="24288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44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ADBA0BFB-EC37-4F8C-82CA-47B021F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71775"/>
            <a:ext cx="2314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1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13" b="0">
                <a:solidFill>
                  <a:srgbClr val="101010"/>
                </a:solidFill>
              </a:defRPr>
            </a:pPr>
            <a:r>
              <a:rPr sz="161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分层汇总与</a:t>
            </a:r>
            <a:r>
              <a:rPr sz="1613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MLP</a:t>
            </a:r>
            <a:r>
              <a:rPr sz="161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融合</a:t>
            </a:r>
          </a:p>
        </p:txBody>
      </p:sp>
      <p:sp>
        <p:nvSpPr>
          <p:cNvPr id="145" name="aircraft-summary">
            <a:extLst xmlns:a="http://schemas.openxmlformats.org/drawingml/2006/main">
              <a:ext uri="{FF2B5EF4-FFF2-40B4-BE49-F238E27FC236}">
                <a16:creationId xmlns:a16="http://schemas.microsoft.com/office/drawing/2014/main" id="{840265A4-9CD9-4AA6-AEC0-CB19B96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24200"/>
            <a:ext cx="2276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8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飞机层任务摘要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未完任务分组聚合与统计</a:t>
            </a:r>
          </a:p>
        </p:txBody>
      </p:sp>
      <p:sp>
        <p:nvSpPr>
          <p:cNvPr id="146" name="station-summary">
            <a:extLst xmlns:a="http://schemas.openxmlformats.org/drawingml/2006/main">
              <a:ext uri="{FF2B5EF4-FFF2-40B4-BE49-F238E27FC236}">
                <a16:creationId xmlns:a16="http://schemas.microsoft.com/office/drawing/2014/main" id="{3B479B65-D5CA-4870-929A-90C60B9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05225"/>
            <a:ext cx="2276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8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站位层任务与资源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80" b="0">
                <a:solidFill>
                  <a:srgbClr val="101010"/>
                </a:solidFill>
              </a:defRPr>
            </a:pPr>
            <a:r>
              <a:rPr sz="138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当前／下一周期任务与人员</a:t>
            </a:r>
          </a:p>
        </p:txBody>
      </p:sp>
      <p:sp>
        <p:nvSpPr>
          <p:cNvPr id="147" name="line-summary">
            <a:extLst xmlns:a="http://schemas.openxmlformats.org/drawingml/2006/main">
              <a:ext uri="{FF2B5EF4-FFF2-40B4-BE49-F238E27FC236}">
                <a16:creationId xmlns:a16="http://schemas.microsoft.com/office/drawing/2014/main" id="{A21BDE37-D962-4DE8-AF69-B4AD3A8F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286250"/>
            <a:ext cx="22764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35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整线层运行状态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35" b="0">
                <a:solidFill>
                  <a:srgbClr val="101010"/>
                </a:solidFill>
              </a:defRPr>
            </a:pPr>
            <a:r>
              <a:rPr sz="1335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各站负荷、周期进度与飞机数</a:t>
            </a:r>
          </a:p>
        </p:txBody>
      </p:sp>
      <p:sp>
        <p:nvSpPr>
          <p:cNvPr id="148" name="time-prediction-frame">
            <a:extLst xmlns:a="http://schemas.openxmlformats.org/drawingml/2006/main">
              <a:ext uri="{FF2B5EF4-FFF2-40B4-BE49-F238E27FC236}">
                <a16:creationId xmlns:a16="http://schemas.microsoft.com/office/drawing/2014/main" id="{5F547831-2A29-4182-A225-8E5869B6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22193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49" name="time-prediction-title">
            <a:extLst xmlns:a="http://schemas.openxmlformats.org/drawingml/2006/main">
              <a:ext uri="{FF2B5EF4-FFF2-40B4-BE49-F238E27FC236}">
                <a16:creationId xmlns:a16="http://schemas.microsoft.com/office/drawing/2014/main" id="{1B1AFB35-AC4E-405E-8BB4-FD1D5F6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71775"/>
            <a:ext cx="210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9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590" b="0">
                <a:solidFill>
                  <a:srgbClr val="101010"/>
                </a:solidFill>
              </a:defRPr>
            </a:pPr>
            <a:r>
              <a:rPr sz="159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两类生产时间预测</a:t>
            </a:r>
          </a:p>
        </p:txBody>
      </p:sp>
      <p:sp>
        <p:nvSpPr>
          <p:cNvPr id="150" name="current-pulse-time">
            <a:extLst xmlns:a="http://schemas.openxmlformats.org/drawingml/2006/main">
              <a:ext uri="{FF2B5EF4-FFF2-40B4-BE49-F238E27FC236}">
                <a16:creationId xmlns:a16="http://schemas.microsoft.com/office/drawing/2014/main" id="{92E71A24-5883-43B3-89FF-56D128F8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71825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7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73" b="0">
                <a:solidFill>
                  <a:srgbClr val="101010"/>
                </a:solidFill>
              </a:defRPr>
            </a:pPr>
            <a:r>
              <a:rPr sz="137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本次同步转站时间修正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73" b="0">
                <a:solidFill>
                  <a:srgbClr val="101010"/>
                </a:solidFill>
              </a:defRPr>
            </a:pPr>
            <a:r>
              <a:rPr sz="137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相对现有估计的修正</a:t>
            </a:r>
          </a:p>
        </p:txBody>
      </p:sp>
      <p:sp>
        <p:nvSpPr>
          <p:cNvPr id="151" name="next-cycle-time">
            <a:extLst xmlns:a="http://schemas.openxmlformats.org/drawingml/2006/main">
              <a:ext uri="{FF2B5EF4-FFF2-40B4-BE49-F238E27FC236}">
                <a16:creationId xmlns:a16="http://schemas.microsoft.com/office/drawing/2014/main" id="{5EC85433-D0D2-4133-9238-427FB392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952875"/>
            <a:ext cx="20478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</p:sp>
      <p:sp>
        <p:nvSpPr>
          <p:cNvPr id="152" name="next-cycle-title">
            <a:extLst xmlns:a="http://schemas.openxmlformats.org/drawingml/2006/main">
              <a:ext uri="{FF2B5EF4-FFF2-40B4-BE49-F238E27FC236}">
                <a16:creationId xmlns:a16="http://schemas.microsoft.com/office/drawing/2014/main" id="{1B045CFC-AB52-4157-9F15-43049C85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990975"/>
            <a:ext cx="197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58" b="0">
                <a:solidFill>
                  <a:srgbClr val="101010"/>
                </a:solidFill>
              </a:defRPr>
            </a:pPr>
            <a:r>
              <a:rPr sz="135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下一周期各站就绪偏差</a:t>
            </a:r>
          </a:p>
        </p:txBody>
      </p:sp>
      <p:sp>
        <p:nvSpPr>
          <p:cNvPr id="153" name="next-cycle-delta-0">
            <a:extLst xmlns:a="http://schemas.openxmlformats.org/drawingml/2006/main">
              <a:ext uri="{FF2B5EF4-FFF2-40B4-BE49-F238E27FC236}">
                <a16:creationId xmlns:a16="http://schemas.microsoft.com/office/drawing/2014/main" id="{3D7A1CE7-BCC9-406A-8459-A90665A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48150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Δ</a:t>
            </a:r>
            <a:r>
              <a:rPr sz="13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4" name="next-cycle-delta-1">
            <a:extLst xmlns:a="http://schemas.openxmlformats.org/drawingml/2006/main">
              <a:ext uri="{FF2B5EF4-FFF2-40B4-BE49-F238E27FC236}">
                <a16:creationId xmlns:a16="http://schemas.microsoft.com/office/drawing/2014/main" id="{3BB7C069-3B4A-45C7-B329-F50F0447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408" y="4248150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Δ</a:t>
            </a:r>
            <a:r>
              <a:rPr sz="13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5" name="next-cycle-delta-2">
            <a:extLst xmlns:a="http://schemas.openxmlformats.org/drawingml/2006/main">
              <a:ext uri="{FF2B5EF4-FFF2-40B4-BE49-F238E27FC236}">
                <a16:creationId xmlns:a16="http://schemas.microsoft.com/office/drawing/2014/main" id="{4D967B71-9E0E-4C10-AD32-7A278A60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790" y="4248150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Δ</a:t>
            </a:r>
            <a:r>
              <a:rPr sz="13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6" name="next-cycle-delta-3">
            <a:extLst xmlns:a="http://schemas.openxmlformats.org/drawingml/2006/main">
              <a:ext uri="{FF2B5EF4-FFF2-40B4-BE49-F238E27FC236}">
                <a16:creationId xmlns:a16="http://schemas.microsoft.com/office/drawing/2014/main" id="{1CC9F6C3-4B24-4081-BE07-3809C70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4173" y="4248150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Δ</a:t>
            </a:r>
            <a:r>
              <a:rPr sz="13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57" name="next-cycle-delta-4">
            <a:extLst xmlns:a="http://schemas.openxmlformats.org/drawingml/2006/main">
              <a:ext uri="{FF2B5EF4-FFF2-40B4-BE49-F238E27FC236}">
                <a16:creationId xmlns:a16="http://schemas.microsoft.com/office/drawing/2014/main" id="{F3D10EAC-5DC5-44A5-97C1-CB379FE7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4248150"/>
            <a:ext cx="361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01010"/>
                </a:solidFill>
              </a:defRPr>
            </a:pPr>
            <a:r>
              <a:rPr sz="135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Δ</a:t>
            </a:r>
            <a:r>
              <a:rPr sz="135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58" name="time-sign">
            <a:extLst xmlns:a="http://schemas.openxmlformats.org/drawingml/2006/main">
              <a:ext uri="{FF2B5EF4-FFF2-40B4-BE49-F238E27FC236}">
                <a16:creationId xmlns:a16="http://schemas.microsoft.com/office/drawing/2014/main" id="{E0CDF46E-2985-4F1E-A6CA-36896777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524375"/>
            <a:ext cx="1971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313" b="0">
                <a:solidFill>
                  <a:srgbClr val="101010"/>
                </a:solidFill>
              </a:defRPr>
            </a:pPr>
            <a:r>
              <a:rPr sz="131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正值延后，负值提前</a:t>
            </a:r>
          </a:p>
        </p:txBody>
      </p:sp>
      <p:cxnSp>
        <p:nvCxnSpPr>
          <p:cNvPr id="159" name="encoding-fusion">
            <a:extLst xmlns:a="http://schemas.openxmlformats.org/drawingml/2006/main">
              <a:ext uri="{FF2B5EF4-FFF2-40B4-BE49-F238E27FC236}">
                <a16:creationId xmlns:a16="http://schemas.microsoft.com/office/drawing/2014/main" id="{6C0F1FAC-B134-454E-B8F3-8B2DC91AB2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66975" y="37433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60" name="fusion-prediction">
            <a:extLst xmlns:a="http://schemas.openxmlformats.org/drawingml/2006/main">
              <a:ext uri="{FF2B5EF4-FFF2-40B4-BE49-F238E27FC236}">
                <a16:creationId xmlns:a16="http://schemas.microsoft.com/office/drawing/2014/main" id="{AE872701-D7D1-44F5-AA42-DB72E716C3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43500" y="37433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61" name="shared-online-context">
            <a:extLst xmlns:a="http://schemas.openxmlformats.org/drawingml/2006/main">
              <a:ext uri="{FF2B5EF4-FFF2-40B4-BE49-F238E27FC236}">
                <a16:creationId xmlns:a16="http://schemas.microsoft.com/office/drawing/2014/main" id="{79047FFC-158B-4411-8677-2CE925C8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38725"/>
            <a:ext cx="7048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448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8" b="0">
                <a:solidFill>
                  <a:srgbClr val="101010"/>
                </a:solidFill>
              </a:defRPr>
            </a:pPr>
            <a:r>
              <a:rPr sz="144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联合策略共享的图编码与分层融合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48" b="0">
                <a:solidFill>
                  <a:srgbClr val="101010"/>
                </a:solidFill>
              </a:defRPr>
            </a:pPr>
            <a:r>
              <a:rPr sz="1448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节点表示、分层上下文与时间预测参与候选评分</a:t>
            </a:r>
          </a:p>
        </p:txBody>
      </p:sp>
      <p:cxnSp>
        <p:nvCxnSpPr>
          <p:cNvPr id="162" name="time-to-policy-context-1">
            <a:extLst xmlns:a="http://schemas.openxmlformats.org/drawingml/2006/main">
              <a:ext uri="{FF2B5EF4-FFF2-40B4-BE49-F238E27FC236}">
                <a16:creationId xmlns:a16="http://schemas.microsoft.com/office/drawing/2014/main" id="{C0D5BD00-7F72-4E44-B1CA-FB381ABEA21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524625" y="48291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63" name="graph-to-policy-context-1">
            <a:extLst xmlns:a="http://schemas.openxmlformats.org/drawingml/2006/main">
              <a:ext uri="{FF2B5EF4-FFF2-40B4-BE49-F238E27FC236}">
                <a16:creationId xmlns:a16="http://schemas.microsoft.com/office/drawing/2014/main" id="{605BFEB6-ED91-40BA-A9DF-A39267DE2CF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24000" y="48291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64" name="fusion-to-policy-context-1">
            <a:extLst xmlns:a="http://schemas.openxmlformats.org/drawingml/2006/main">
              <a:ext uri="{FF2B5EF4-FFF2-40B4-BE49-F238E27FC236}">
                <a16:creationId xmlns:a16="http://schemas.microsoft.com/office/drawing/2014/main" id="{BA80E726-66A6-4204-8FEE-F4EBC2FF40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33825" y="48291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sp>
        <p:nvSpPr>
          <p:cNvPr id="165" name="collaborative-policy">
            <a:extLst xmlns:a="http://schemas.openxmlformats.org/drawingml/2006/main">
              <a:ext uri="{FF2B5EF4-FFF2-40B4-BE49-F238E27FC236}">
                <a16:creationId xmlns:a16="http://schemas.microsoft.com/office/drawing/2014/main" id="{3F5399B7-92D0-41CE-830C-649CA1E0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67375"/>
            <a:ext cx="704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28575" tIns="28575" rIns="28575" bIns="28575" anchor="ctr">
            <a:noAutofit/>
          </a:bodyPr>
          <a:lstStyle xmlns:a="http://schemas.openxmlformats.org/drawingml/2006/main">
            <a:defPPr algn="ctr">
              <a:defRPr sz="1523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523" b="0">
                <a:solidFill>
                  <a:srgbClr val="101010"/>
                </a:solidFill>
              </a:defRPr>
            </a:pPr>
            <a:r>
              <a:rPr sz="1523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协同联合决策：工序选择、留站／合法后移、团队与开工</a:t>
            </a:r>
          </a:p>
        </p:txBody>
      </p:sp>
      <p:sp>
        <p:nvSpPr>
          <p:cNvPr id="167" name="actual-time-labels">
            <a:extLst xmlns:a="http://schemas.openxmlformats.org/drawingml/2006/main">
              <a:ext uri="{FF2B5EF4-FFF2-40B4-BE49-F238E27FC236}">
                <a16:creationId xmlns:a16="http://schemas.microsoft.com/office/drawing/2014/main" id="{26DB68A3-92AA-4E74-A707-3A2856F5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62675"/>
            <a:ext cx="22002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>
            <a:defPPr algn="ctr">
              <a:defRPr sz="123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实际转站与站位就绪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形成两类时间标签</a:t>
            </a:r>
          </a:p>
        </p:txBody>
      </p:sp>
      <p:sp>
        <p:nvSpPr>
          <p:cNvPr id="168" name="time-and-policy-training">
            <a:extLst xmlns:a="http://schemas.openxmlformats.org/drawingml/2006/main">
              <a:ext uri="{FF2B5EF4-FFF2-40B4-BE49-F238E27FC236}">
                <a16:creationId xmlns:a16="http://schemas.microsoft.com/office/drawing/2014/main" id="{ACDCF779-2B2D-4210-81AF-A64A782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162675"/>
            <a:ext cx="2286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>
            <a:defPPr algn="ctr">
              <a:defRPr sz="123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时间误差训练共享模块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Times New Roman"/>
                <a:ea typeface="Times New Roman"/>
                <a:cs typeface="Times New Roman"/>
              </a:rPr>
              <a:t>PPO</a:t>
            </a: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更新调度策略</a:t>
            </a:r>
          </a:p>
        </p:txBody>
      </p:sp>
      <p:sp>
        <p:nvSpPr>
          <p:cNvPr id="169" name="latest-state">
            <a:extLst xmlns:a="http://schemas.openxmlformats.org/drawingml/2006/main">
              <a:ext uri="{FF2B5EF4-FFF2-40B4-BE49-F238E27FC236}">
                <a16:creationId xmlns:a16="http://schemas.microsoft.com/office/drawing/2014/main" id="{62D31F40-07A2-4148-8EAD-E55E1C1A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62675"/>
            <a:ext cx="1800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1D1D1D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Autofit/>
          </a:bodyPr>
          <a:lstStyle xmlns:a="http://schemas.openxmlformats.org/drawingml/2006/main">
            <a:defPPr algn="ctr">
              <a:defRPr sz="1230" b="0">
                <a:solidFill>
                  <a:srgbClr val="101010"/>
                </a:solidFill>
              </a:defRPr>
            </a:defPPr>
          </a:lstStyle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最新状态＋最近变化</a:t>
            </a:r>
          </a:p>
          <a:p xmlns:a="http://schemas.openxmlformats.org/drawingml/2006/main"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30" b="0">
                <a:solidFill>
                  <a:srgbClr val="101010"/>
                </a:solidFill>
              </a:defRPr>
            </a:pPr>
            <a:r>
              <a:rPr sz="1230" b="0">
                <a:solidFill>
                  <a:srgbClr val="101010"/>
                </a:solidFill>
                <a:latin typeface="SimHei"/>
                <a:ea typeface="SimHei"/>
                <a:cs typeface="SimHei"/>
              </a:rPr>
              <a:t>实际事件更新状态</a:t>
            </a:r>
          </a:p>
        </p:txBody>
      </p:sp>
      <p:cxnSp>
        <p:nvCxnSpPr>
          <p:cNvPr id="171" name="execution-to-actual-labels-1">
            <a:extLst xmlns:a="http://schemas.openxmlformats.org/drawingml/2006/main">
              <a:ext uri="{FF2B5EF4-FFF2-40B4-BE49-F238E27FC236}">
                <a16:creationId xmlns:a16="http://schemas.microsoft.com/office/drawing/2014/main" id="{4D324743-32B3-4C1E-BD58-CB6A5C6A56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0" y="604837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2" name="execution-to-actual-labels-2">
            <a:extLst xmlns:a="http://schemas.openxmlformats.org/drawingml/2006/main">
              <a:ext uri="{FF2B5EF4-FFF2-40B4-BE49-F238E27FC236}">
                <a16:creationId xmlns:a16="http://schemas.microsoft.com/office/drawing/2014/main" id="{FA306D1F-3B3C-4EA7-B3A9-D050C459C1B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76400" y="6105525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3" name="execution-to-actual-labels-3">
            <a:extLst xmlns:a="http://schemas.openxmlformats.org/drawingml/2006/main">
              <a:ext uri="{FF2B5EF4-FFF2-40B4-BE49-F238E27FC236}">
                <a16:creationId xmlns:a16="http://schemas.microsoft.com/office/drawing/2014/main" id="{B757C34B-F2BC-484C-BB02-B585405D67F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76400" y="6105525"/>
            <a:ext cx="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74" name="execution-to-state-1">
            <a:extLst xmlns:a="http://schemas.openxmlformats.org/drawingml/2006/main">
              <a:ext uri="{FF2B5EF4-FFF2-40B4-BE49-F238E27FC236}">
                <a16:creationId xmlns:a16="http://schemas.microsoft.com/office/drawing/2014/main" id="{35CBC104-7B76-4F0C-B6FE-48AB512950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34175" y="60483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  <p:cxnSp>
        <p:nvCxnSpPr>
          <p:cNvPr id="175" name="state-update-cycle-1">
            <a:extLst xmlns:a="http://schemas.openxmlformats.org/drawingml/2006/main">
              <a:ext uri="{FF2B5EF4-FFF2-40B4-BE49-F238E27FC236}">
                <a16:creationId xmlns:a16="http://schemas.microsoft.com/office/drawing/2014/main" id="{774388F8-D82D-48BD-8CB7-F18001D56A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9525" y="6353175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6" name="state-update-cycle-2">
            <a:extLst xmlns:a="http://schemas.openxmlformats.org/drawingml/2006/main">
              <a:ext uri="{FF2B5EF4-FFF2-40B4-BE49-F238E27FC236}">
                <a16:creationId xmlns:a16="http://schemas.microsoft.com/office/drawing/2014/main" id="{34241539-3CE6-411E-98F6-782A4A5751F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734300" y="2609850"/>
            <a:ext cx="0" cy="37433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7" name="state-update-cycle-3">
            <a:extLst xmlns:a="http://schemas.openxmlformats.org/drawingml/2006/main">
              <a:ext uri="{FF2B5EF4-FFF2-40B4-BE49-F238E27FC236}">
                <a16:creationId xmlns:a16="http://schemas.microsoft.com/office/drawing/2014/main" id="{DD24A9B0-3F14-4DA8-BF93-7DDFAB2CC08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76250" y="2609850"/>
            <a:ext cx="72580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8" name="state-update-cycle-4">
            <a:extLst xmlns:a="http://schemas.openxmlformats.org/drawingml/2006/main">
              <a:ext uri="{FF2B5EF4-FFF2-40B4-BE49-F238E27FC236}">
                <a16:creationId xmlns:a16="http://schemas.microsoft.com/office/drawing/2014/main" id="{552EB292-FE34-4502-B837-8F5602D050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6250" y="26098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</a:ln>
        </p:spPr>
      </p:cxnSp>
      <p:cxnSp>
        <p:nvCxnSpPr>
          <p:cNvPr id="179" name="state-update-cycle-5">
            <a:extLst xmlns:a="http://schemas.openxmlformats.org/drawingml/2006/main">
              <a:ext uri="{FF2B5EF4-FFF2-40B4-BE49-F238E27FC236}">
                <a16:creationId xmlns:a16="http://schemas.microsoft.com/office/drawing/2014/main" id="{5E43BDAE-C21D-4555-B5CF-060DE3B6A7E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6250" y="3086100"/>
            <a:ext cx="1047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D1D1D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53589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imes New Roman"/>
        <a:ea typeface="SimHei"/>
        <a:cs typeface="Times New Roman"/>
      </a:majorFont>
      <a:minorFont>
        <a:latin typeface="Times New Roman"/>
        <a:ea typeface="SimHe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2026-10-14T05:23:20.5640000Z</dcterms:created>
  <dcterms:modified xsi:type="dcterms:W3CDTF">2026-10-14T05:23:20.5650000Z</dcterms:modified>
</coreProperties>
</file>