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be0a0319e0145f9" /><Relationship Type="http://schemas.openxmlformats.org/officeDocument/2006/relationships/extended-properties" Target="/docProps/app.xml" Id="Raeba999ea5ef4829" /><Relationship Type="http://schemas.openxmlformats.org/officeDocument/2006/relationships/officeDocument" Target="/ppt/presentation.xml" Id="R7be92bdbb2c3410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545311db65647db"/>
  </p:sldMasterIdLst>
  <p:notesMasterIdLst>
    <p:notesMasterId xmlns:r="http://schemas.openxmlformats.org/officeDocument/2006/relationships" r:id="Rf50475ca5d224b14"/>
  </p:notesMasterIdLst>
  <p:sldIdLst>
    <p:sldId xmlns:r="http://schemas.openxmlformats.org/officeDocument/2006/relationships" id="256" r:id="Ra2f8a15055f947aa"/>
    <p:sldId xmlns:r="http://schemas.openxmlformats.org/officeDocument/2006/relationships" id="257" r:id="R69d1b345a7ad4c85"/>
    <p:sldId xmlns:r="http://schemas.openxmlformats.org/officeDocument/2006/relationships" id="258" r:id="R9ebc1dca6bf446e1"/>
    <p:sldId xmlns:r="http://schemas.openxmlformats.org/officeDocument/2006/relationships" id="259" r:id="R00b2892bf1ce49f9"/>
    <p:sldId xmlns:r="http://schemas.openxmlformats.org/officeDocument/2006/relationships" id="260" r:id="Rfd3a1a81f4ec464e"/>
    <p:sldId xmlns:r="http://schemas.openxmlformats.org/officeDocument/2006/relationships" id="261" r:id="R69dacacd6d514047"/>
    <p:sldId xmlns:r="http://schemas.openxmlformats.org/officeDocument/2006/relationships" id="262" r:id="R927fc0c1f4cc4f61"/>
    <p:sldId xmlns:r="http://schemas.openxmlformats.org/officeDocument/2006/relationships" id="263" r:id="R5129f64eb99d450e"/>
    <p:sldId xmlns:r="http://schemas.openxmlformats.org/officeDocument/2006/relationships" id="264" r:id="Ra9a01400362949d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4577b2c5f7d48f9" /><Relationship Type="http://schemas.openxmlformats.org/officeDocument/2006/relationships/slideMaster" Target="/ppt/slideMasters/slideMaster1.xml" Id="R7545311db65647db" /><Relationship Type="http://schemas.openxmlformats.org/officeDocument/2006/relationships/notesMaster" Target="/ppt/notesMasters/notesMaster1.xml" Id="Rf50475ca5d224b14" /><Relationship Type="http://schemas.openxmlformats.org/officeDocument/2006/relationships/presProps" Target="/ppt/presProps.xml" Id="Rbc68811205bb4196" /><Relationship Type="http://schemas.openxmlformats.org/officeDocument/2006/relationships/tableStyles" Target="/ppt/tableStyles.xml" Id="Rbf19c125831f4726" /><Relationship Type="http://schemas.openxmlformats.org/officeDocument/2006/relationships/slide" Target="/ppt/slides/slide1.xml" Id="Ra2f8a15055f947aa" /><Relationship Type="http://schemas.openxmlformats.org/officeDocument/2006/relationships/slide" Target="/ppt/slides/slide2.xml" Id="R69d1b345a7ad4c85" /><Relationship Type="http://schemas.openxmlformats.org/officeDocument/2006/relationships/slide" Target="/ppt/slides/slide3.xml" Id="R9ebc1dca6bf446e1" /><Relationship Type="http://schemas.openxmlformats.org/officeDocument/2006/relationships/slide" Target="/ppt/slides/slide4.xml" Id="R00b2892bf1ce49f9" /><Relationship Type="http://schemas.openxmlformats.org/officeDocument/2006/relationships/slide" Target="/ppt/slides/slide5.xml" Id="Rfd3a1a81f4ec464e" /><Relationship Type="http://schemas.openxmlformats.org/officeDocument/2006/relationships/slide" Target="/ppt/slides/slide6.xml" Id="R69dacacd6d514047" /><Relationship Type="http://schemas.openxmlformats.org/officeDocument/2006/relationships/slide" Target="/ppt/slides/slide7.xml" Id="R927fc0c1f4cc4f61" /><Relationship Type="http://schemas.openxmlformats.org/officeDocument/2006/relationships/slide" Target="/ppt/slides/slide8.xml" Id="R5129f64eb99d450e" /><Relationship Type="http://schemas.openxmlformats.org/officeDocument/2006/relationships/slide" Target="/ppt/slides/slide9.xml" Id="Ra9a01400362949d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a1a9463e83e43f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0abce47f08b4603" /><Relationship Type="http://schemas.openxmlformats.org/officeDocument/2006/relationships/notesMaster" Target="/ppt/notesMasters/notesMaster1.xml" Id="R270b0c1208654e5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b85fd918ecf4d24" /><Relationship Type="http://schemas.openxmlformats.org/officeDocument/2006/relationships/notesMaster" Target="/ppt/notesMasters/notesMaster1.xml" Id="R3428c9b1a13c431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0bef2d7629f46c8" /><Relationship Type="http://schemas.openxmlformats.org/officeDocument/2006/relationships/notesMaster" Target="/ppt/notesMasters/notesMaster1.xml" Id="R6ada56d9da00455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8a6da652b1644a4" /><Relationship Type="http://schemas.openxmlformats.org/officeDocument/2006/relationships/notesMaster" Target="/ppt/notesMasters/notesMaster1.xml" Id="R0068eedecd57412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9a122622cc04a74" /><Relationship Type="http://schemas.openxmlformats.org/officeDocument/2006/relationships/notesMaster" Target="/ppt/notesMasters/notesMaster1.xml" Id="Rd0ed076cd5644cd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49494a5bd754e33" /><Relationship Type="http://schemas.openxmlformats.org/officeDocument/2006/relationships/notesMaster" Target="/ppt/notesMasters/notesMaster1.xml" Id="R774bbab597c04a9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1ebabd4667a4c8c" /><Relationship Type="http://schemas.openxmlformats.org/officeDocument/2006/relationships/notesMaster" Target="/ppt/notesMasters/notesMaster1.xml" Id="R6169e819a8ee47f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22629e2e25e4bb6" /><Relationship Type="http://schemas.openxmlformats.org/officeDocument/2006/relationships/notesMaster" Target="/ppt/notesMasters/notesMaster1.xml" Id="R4208caa99f014e9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7964e99a8f041cb" /><Relationship Type="http://schemas.openxmlformats.org/officeDocument/2006/relationships/notesMaster" Target="/ppt/notesMasters/notesMaster1.xml" Id="R2a5a443be35f420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依据：/workspace/scratch/0dffb7d03718/opening_refined_candidates_20261009/source10/开题报告/10_研究设计确认稿/工作一_同构图联合决策机制与贡献细化_详细资料_20261004.md，第2、4、5、7节。</a:t>
            </a:r>
          </a:p>
          <a:p xmlns:a="http://schemas.openxmlformats.org/drawingml/2006/main">
            <a:r>
              <a:t>依据：/workspace/scratch/0dffb7d03718/opening_refined_candidates_20261009/source10/开题报告/10_研究设计确认稿/开题报告_统一术语与当前定义_20261006.md，第2、3、5节。</a:t>
            </a:r>
          </a:p>
          <a:p xmlns:a="http://schemas.openxmlformats.org/drawingml/2006/main">
            <a:r>
              <a:t>依据：/workspace/scratch/0dffb7d03718/opening_refined_candidates_20261009/source10/开题报告/10_研究设计确认稿/总体技术路线_详细讨论稿_20261006.md，第3节。</a:t>
            </a:r>
          </a:p>
          <a:p xmlns:a="http://schemas.openxmlformats.org/drawingml/2006/main">
            <a:r>
              <a:t>本图在用户选定旧11A构造流程的基础上调整信息密度和布局，不改变研究题名或生产代码。</a:t>
            </a:r>
          </a:p>
          <a:p xmlns:a="http://schemas.openxmlformats.org/drawingml/2006/main">
            <a:r>
              <a:t>同构编码保留原稿的工序、站位、工人属性和连接，只更换编码及其必要接口。局部图仅作结构示意，实际编码使用环境可见的完整工序图与资源信息，已安排节点保留上下文。所有节点采用同一样式、共享传播规则与参数，不设置类型化传播通道；角色作为属性。图内所示邻接不作为新的工业实例。</a:t>
            </a:r>
          </a:p>
          <a:p xmlns:a="http://schemas.openxmlformats.org/drawingml/2006/main">
            <a:r>
              <a:t>共享表示支持工序选择、以所选工序为条件的站位选择、及以工序、站位、已选成员为条件的逐人选择。团队人数由工序需求给定，不预测人数。成员选择使用资格、绑定和重复排除等已有掩码。部分团队更新不推进构造环境，完整动作形成后再前向分配时间、写入安排、更新占用和首次使用绑定。</a:t>
            </a:r>
          </a:p>
          <a:p xmlns:a="http://schemas.openxmlformats.org/drawingml/2006/main">
            <a:r>
              <a:t>时间分配依据前驱完成、人员日历及已有容量等规则；最终输出可行基准排程。无扰动条件下的静态调度仍逐动作更新构造状态。</a:t>
            </a:r>
          </a:p>
          <a:p xmlns:a="http://schemas.openxmlformats.org/drawingml/2006/main">
            <a:r>
              <a:t>PPO、原奖励及其训练机制沿用原稿。新同构设置尚需实现和独立验证，原异构论文结果不归入新同构结果。此处不是多架次真实执行闭环，也不以工作一的基准输出充当工作二研究递进依据。</a:t>
            </a:r>
          </a:p>
          <a:p xmlns:a="http://schemas.openxmlformats.org/drawingml/2006/main">
            <a:r>
              <a:t>排版参考：Rougier et al. (2014), https://doi.org/10.1371/journal.pcbi.1003833；Jambor and Bornhäuser (2024), https://doi.org/10.1371/journal.pcbi.1011789；Nature Research Figure Guide, https://research-figure-guide.nature.com/figures/building-and-exporting-figure-panels/。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依据：/workspace/scratch/0dffb7d03718/opening_refined_candidates_20261009/source10/开题报告/10_研究设计确认稿/工作一_同构图联合决策机制与贡献细化_详细资料_20261004.md，第2、4、5、7节。</a:t>
            </a:r>
          </a:p>
          <a:p xmlns:a="http://schemas.openxmlformats.org/drawingml/2006/main">
            <a:r>
              <a:t>依据：/workspace/scratch/0dffb7d03718/opening_refined_candidates_20261009/source10/开题报告/10_研究设计确认稿/开题报告_统一术语与当前定义_20261006.md，第2、3、5节。</a:t>
            </a:r>
          </a:p>
          <a:p xmlns:a="http://schemas.openxmlformats.org/drawingml/2006/main">
            <a:r>
              <a:t>依据：/workspace/scratch/0dffb7d03718/opening_refined_candidates_20261009/source10/开题报告/10_研究设计确认稿/总体技术路线_详细讨论稿_20261006.md，第3节。</a:t>
            </a:r>
          </a:p>
          <a:p xmlns:a="http://schemas.openxmlformats.org/drawingml/2006/main">
            <a:r>
              <a:t>本图在用户选定旧11A构造流程的基础上调整信息密度和布局，不改变研究题名或生产代码。</a:t>
            </a:r>
          </a:p>
          <a:p xmlns:a="http://schemas.openxmlformats.org/drawingml/2006/main">
            <a:r>
              <a:t>同构编码保留原稿的工序、站位、工人属性和连接，只更换编码及其必要接口。局部图仅作结构示意，实际编码使用环境可见的完整工序图与资源信息，已安排节点保留上下文。所有节点采用同一样式、共享传播规则与参数，不设置类型化传播通道；角色作为属性。图内所示邻接不作为新的工业实例。</a:t>
            </a:r>
          </a:p>
          <a:p xmlns:a="http://schemas.openxmlformats.org/drawingml/2006/main">
            <a:r>
              <a:t>共享表示支持工序选择、以所选工序为条件的站位选择、及以工序、站位、已选成员为条件的逐人选择。团队人数由工序需求给定，不预测人数。成员选择使用资格、绑定和重复排除等已有掩码。部分团队更新不推进构造环境，完整动作形成后再前向分配时间、写入安排、更新占用和首次使用绑定。</a:t>
            </a:r>
          </a:p>
          <a:p xmlns:a="http://schemas.openxmlformats.org/drawingml/2006/main">
            <a:r>
              <a:t>时间分配依据前驱完成、人员日历及已有容量等规则；最终输出可行基准排程。无扰动条件下的静态调度仍逐动作更新构造状态。</a:t>
            </a:r>
          </a:p>
          <a:p xmlns:a="http://schemas.openxmlformats.org/drawingml/2006/main">
            <a:r>
              <a:t>PPO、原奖励及其训练机制沿用原稿。新同构设置尚需实现和独立验证，原异构论文结果不归入新同构结果。此处不是多架次真实执行闭环，也不以工作一的基准输出充当工作二研究递进依据。</a:t>
            </a:r>
          </a:p>
          <a:p xmlns:a="http://schemas.openxmlformats.org/drawingml/2006/main">
            <a:r>
              <a:t>排版参考：Rougier et al. (2014), https://doi.org/10.1371/journal.pcbi.1003833；Jambor and Bornhäuser (2024), https://doi.org/10.1371/journal.pcbi.1011789；Nature Research Figure Guide, https://research-figure-guide.nature.com/figures/building-and-exporting-figure-panels/。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依据：/workspace/scratch/0dffb7d03718/opening_refined_candidates_20261009/source10/开题报告/10_研究设计确认稿/工作一_同构图联合决策机制与贡献细化_详细资料_20261004.md，第2、4、5、7节。</a:t>
            </a:r>
          </a:p>
          <a:p xmlns:a="http://schemas.openxmlformats.org/drawingml/2006/main">
            <a:r>
              <a:t>依据：/workspace/scratch/0dffb7d03718/opening_refined_candidates_20261009/source10/开题报告/10_研究设计确认稿/开题报告_统一术语与当前定义_20261006.md，第2、3、5节。</a:t>
            </a:r>
          </a:p>
          <a:p xmlns:a="http://schemas.openxmlformats.org/drawingml/2006/main">
            <a:r>
              <a:t>依据：/workspace/scratch/0dffb7d03718/opening_refined_candidates_20261009/source10/开题报告/10_研究设计确认稿/总体技术路线_详细讨论稿_20261006.md，第3节。</a:t>
            </a:r>
          </a:p>
          <a:p xmlns:a="http://schemas.openxmlformats.org/drawingml/2006/main">
            <a:r>
              <a:t>本图在用户选定旧11A构造流程的基础上调整信息密度和布局，不改变研究题名或生产代码。</a:t>
            </a:r>
          </a:p>
          <a:p xmlns:a="http://schemas.openxmlformats.org/drawingml/2006/main">
            <a:r>
              <a:t>同构编码保留原稿的工序、站位、工人属性和连接，只更换编码及其必要接口。局部图仅作结构示意，实际编码使用环境可见的完整工序图与资源信息，已安排节点保留上下文。所有节点采用同一样式、共享传播规则与参数，不设置类型化传播通道；角色作为属性。图内所示邻接不作为新的工业实例。</a:t>
            </a:r>
          </a:p>
          <a:p xmlns:a="http://schemas.openxmlformats.org/drawingml/2006/main">
            <a:r>
              <a:t>共享表示支持工序选择、以所选工序为条件的站位选择、及以工序、站位、已选成员为条件的逐人选择。团队人数由工序需求给定，不预测人数。成员选择使用资格、绑定和重复排除等已有掩码。部分团队更新不推进构造环境，完整动作形成后再前向分配时间、写入安排、更新占用和首次使用绑定。</a:t>
            </a:r>
          </a:p>
          <a:p xmlns:a="http://schemas.openxmlformats.org/drawingml/2006/main">
            <a:r>
              <a:t>时间分配依据前驱完成、人员日历及已有容量等规则；最终输出可行基准排程。无扰动条件下的静态调度仍逐动作更新构造状态。</a:t>
            </a:r>
          </a:p>
          <a:p xmlns:a="http://schemas.openxmlformats.org/drawingml/2006/main">
            <a:r>
              <a:t>PPO、原奖励及其训练机制沿用原稿。新同构设置尚需实现和独立验证，原异构论文结果不归入新同构结果。此处不是多架次真实执行闭环，也不以工作一的基准输出充当工作二研究递进依据。</a:t>
            </a:r>
          </a:p>
          <a:p xmlns:a="http://schemas.openxmlformats.org/drawingml/2006/main">
            <a:r>
              <a:t>排版参考：Rougier et al. (2014), https://doi.org/10.1371/journal.pcbi.1003833；Jambor and Bornhäuser (2024), https://doi.org/10.1371/journal.pcbi.1011789；Nature Research Figure Guide, https://research-figure-guide.nature.com/figures/building-and-exporting-figure-panels/。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来源：工作二_研究问题方法贡献与证据对照_详细资料_20261004.md §1–4，统一术语与当前定义 §2–4。四类实体为工序、站位、人员、技能；前序precedes，归属assigned-to/has-task，安排done-by，资格has-skill/provided-by，需求requires/required-by，共八种有向关系。人员站位绑定仅由继承及合法性约束处理，不增设图边。冻结按基准开工时刻不晚于重调度边界划分，保留原站位、具体团队、起止时刻；可調条目遵守更新释放时间及修复下界。基准中已用人员继承原站位，未用人员按首次使用处理。初始与修复共用编码、条件动作与前向时间分配；具体团队逐人选满给定人数。基准为工作二内部固定参照，未将工作一输出作为两研究递进依据。关系图是结构示意，无实例工时、收益或新网络。工作二当前论文未投稿，冻结政策不套用工作三提交规则。</a:t>
            </a:r>
          </a:p>
          <a:p xmlns:a="http://schemas.openxmlformats.org/drawingml/2006/main">
            <a:r>
              <a:t>排版参考：Rougier et al. (2014), https://doi.org/10.1371/journal.pcbi.1003833；Jambor and Bornhäuser (2024), https://doi.org/10.1371/journal.pcbi.1011789；Nature Research Figure Guide, https://research-figure-guide.nature.com/figures/building-and-exporting-figure-panels/。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来源：工作二_研究问题方法贡献与证据对照_详细资料_20261004.md §1–4，统一术语与当前定义 §2–4。四类实体为工序、站位、人员、技能；前序precedes，归属assigned-to/has-task，安排done-by，资格has-skill/provided-by，需求requires/required-by，共八种有向关系。人员站位绑定仅由继承及合法性约束处理，不增设图边。冻结按基准开工时刻不晚于重调度边界划分，保留原站位、具体团队、起止时刻；可調条目遵守更新释放时间及修复下界。基准中已用人员继承原站位，未用人员按首次使用处理。初始与修复共用编码、条件动作与前向时间分配；具体团队逐人选满给定人数。基准为工作二内部固定参照，未将工作一输出作为两研究递进依据。关系图是结构示意，无实例工时、收益或新网络。工作二当前论文未投稿，冻结政策不套用工作三提交规则。 该版将受扰修复条件回接共享编码主线，冻结条目直接保留。</a:t>
            </a:r>
          </a:p>
          <a:p xmlns:a="http://schemas.openxmlformats.org/drawingml/2006/main">
            <a:r>
              <a:t>排版参考：Rougier et al. (2014), https://doi.org/10.1371/journal.pcbi.1003833；Jambor and Bornhäuser (2024), https://doi.org/10.1371/journal.pcbi.1011789；Nature Research Figure Guide, https://research-figure-guide.nature.com/figures/building-and-exporting-figure-panels/。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来源：工作二_研究问题方法贡献与证据对照_详细资料_20261004.md §1–4，统一术语与当前定义 §2–4。四类实体为工序、站位、人员、技能；前序precedes，归属assigned-to/has-task，安排done-by，资格has-skill/provided-by，需求requires/required-by，共八种有向关系。人员站位绑定仅由继承及合法性约束处理，不增设图边。冻结按基准开工时刻不晚于重调度边界划分，保留原站位、具体团队、起止时刻；可調条目遵守更新释放时间及修复下界。基准中已用人员继承原站位，未用人员按首次使用处理。初始与修复共用编码、条件动作与前向时间分配；具体团队逐人选满给定人数。基准为工作二内部固定参照，未将工作一输出作为两研究递进依据。关系图是结构示意，无实例工时、收益或新网络。工作二当前论文未投稿，冻结政策不套用工作三提交规则。 该版并列呈现关系表示及可调整范围，下部共享联合选择和时间分配。</a:t>
            </a:r>
          </a:p>
          <a:p xmlns:a="http://schemas.openxmlformats.org/drawingml/2006/main">
            <a:r>
              <a:t>排版参考：Rougier et al. (2014), https://doi.org/10.1371/journal.pcbi.1003833；Jambor and Bornhäuser (2024), https://doi.org/10.1371/journal.pcbi.1011789；Nature Research Figure Guide, https://research-figure-guide.nature.com/figures/building-and-exporting-figure-panels/。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依据：当前资料库《开题报告_统一术语与当前定义_20261006.md》《工作三_方法设计阶段确认稿_执行流程奖励与表征学习.md》§7.4–7.6及§13–14、《工作三_状态动作与执行流程_阶段确认稿.md》。</a:t>
            </a:r>
          </a:p>
          <a:p xmlns:a="http://schemas.openxmlformats.org/drawingml/2006/main">
            <a:r>
              <a:t>五站为研究设置，示意五架飞机分处有序站位。一个真实事件驱动环境，飞机仅在共同脉动时同步前移，同一飞机不跨站并行。共同脉动时刻为占用站位首次实际就绪时刻最大值，首次就绪后等待。完整动作一经提交不能主动撤回，已开工非抢占。工序、留站/合法相邻后移、团队和对齐构成完整条件联合决定，后移分支不提前选择目标站团队。</a:t>
            </a:r>
          </a:p>
          <a:p xmlns:a="http://schemas.openxmlformats.org/drawingml/2006/main">
            <a:r>
              <a:t>完整可见工序图及资源关系参与编码，已完节点仍保留上下文。编码后只按未完物理任务汇总飞机、站位和整线语义。飞机摘要含未完任务与执行进度，站位同时读出当前飞机任务及下一次实际脉动进入本站飞机的任务，整线含各站负荷、在制数量、待投产数量。各层事实随事件更新，每次完整决策前重新计算动态表示，内部解码共用同一现场快照。</a:t>
            </a:r>
          </a:p>
          <a:p xmlns:a="http://schemas.openxmlformats.org/drawingml/2006/main">
            <a:r>
              <a:t>当前后果为共同脉动启发式时间估计修正，紧邻下一周期后果为各站有符号首次就绪偏差，正晚负早，非候选动作的因果或反事实后果。未知扰动不进入当前输入，发生后才知持续时间。当前修正供动作与已有势函数，下一周期向量供动作上下文，不新增预测风险惩罚。</a:t>
            </a:r>
          </a:p>
          <a:p xmlns:a="http://schemas.openxmlformats.org/drawingml/2006/main">
            <a:r>
              <a:t>网络方案B：完整轨迹开始复制编码器、分层读出/MLP、两个预测头及归一化，形成独立完整固定预测副本。副本在轨迹内参数和统计固定、无梯度，每次决策仍由最新状态重算数值。Actor同时读取该副本预测数值及独立在线编码/融合候选上下文，不能无条件共用两套动态嵌入。PPO更新在线动作头与在线共享编码/融合，实际时间辅助监督更新在线预测头及共享编码/融合。固定副本不接受梯度。</a:t>
            </a:r>
          </a:p>
          <a:p xmlns:a="http://schemas.openxmlformats.org/drawingml/2006/main">
            <a:r>
              <a:t>实际共同脉动与下一周期站位就绪发生后，分别回填两个时间标签。不存在的目标按有效性掩码处理，待结算结果不填零。学习条仅说明用途，详细历史保存、PPO重放与参数版本契约以确认稿为准。工作三是已确认的设计，代码及完整实验尚未完成，不宣称性能。</a:t>
            </a:r>
          </a:p>
          <a:p xmlns:a="http://schemas.openxmlformats.org/drawingml/2006/main">
            <a:r>
              <a:t>候选A1延续旧A上下生产闭环，将主要面积用于完整图、飞机/站位/整线汇总及双时间语义。在线候选支路独立于完整固定预测支路。图中工序状态与Δ标记为结构示意，不是数据实例或实验结果。</a:t>
            </a:r>
          </a:p>
          <a:p xmlns:a="http://schemas.openxmlformats.org/drawingml/2006/main">
            <a:r>
              <a:t>排版参考：Rougier et al. (2014), https://doi.org/10.1371/journal.pcbi.1003833；Jambor and Bornhäuser (2024), https://doi.org/10.1371/journal.pcbi.1011789；Nature Research Figure Guide, https://research-figure-guide.nature.com/figures/building-and-exporting-figure-panels/。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依据：当前资料库《开题报告_统一术语与当前定义_20261006.md》《工作三_方法设计阶段确认稿_执行流程奖励与表征学习.md》§7.4–7.6及§13–14、《工作三_状态动作与执行流程_阶段确认稿.md》。</a:t>
            </a:r>
          </a:p>
          <a:p xmlns:a="http://schemas.openxmlformats.org/drawingml/2006/main">
            <a:r>
              <a:t>五站为研究设置，示意五架飞机分处有序站位。一个真实事件驱动环境，飞机仅在共同脉动时同步前移，同一飞机不跨站并行。共同脉动时刻为占用站位首次实际就绪时刻最大值，首次就绪后等待。完整动作一经提交不能主动撤回，已开工非抢占。工序、留站/合法相邻后移、团队和对齐构成完整条件联合决定，后移分支不提前选择目标站团队。</a:t>
            </a:r>
          </a:p>
          <a:p xmlns:a="http://schemas.openxmlformats.org/drawingml/2006/main">
            <a:r>
              <a:t>完整可见工序图及资源关系参与编码，已完节点仍保留上下文。编码后只按未完物理任务汇总飞机、站位和整线语义。飞机摘要含未完任务与执行进度，站位同时读出当前飞机任务及下一次实际脉动进入本站飞机的任务，整线含各站负荷、在制数量、待投产数量。各层事实随事件更新，每次完整决策前重新计算动态表示，内部解码共用同一现场快照。</a:t>
            </a:r>
          </a:p>
          <a:p xmlns:a="http://schemas.openxmlformats.org/drawingml/2006/main">
            <a:r>
              <a:t>当前后果为共同脉动启发式时间估计修正，紧邻下一周期后果为各站有符号首次就绪偏差，正晚负早，非候选动作的因果或反事实后果。未知扰动不进入当前输入，发生后才知持续时间。当前修正供动作与已有势函数，下一周期向量供动作上下文，不新增预测风险惩罚。</a:t>
            </a:r>
          </a:p>
          <a:p xmlns:a="http://schemas.openxmlformats.org/drawingml/2006/main">
            <a:r>
              <a:t>网络方案B：完整轨迹开始复制编码器、分层读出/MLP、两个预测头及归一化，形成独立完整固定预测副本。副本在轨迹内参数和统计固定、无梯度，每次决策仍由最新状态重算数值。Actor同时读取该副本预测数值及独立在线编码/融合候选上下文，不能无条件共用两套动态嵌入。PPO更新在线动作头与在线共享编码/融合，实际时间辅助监督更新在线预测头及共享编码/融合。固定副本不接受梯度。</a:t>
            </a:r>
          </a:p>
          <a:p xmlns:a="http://schemas.openxmlformats.org/drawingml/2006/main">
            <a:r>
              <a:t>实际共同脉动与下一周期站位就绪发生后，分别回填两个时间标签。不存在的目标按有效性掩码处理，待结算结果不填零。学习条仅说明用途，详细历史保存、PPO重放与参数版本契约以确认稿为准。工作三是已确认的设计，代码及完整实验尚未完成，不宣称性能。</a:t>
            </a:r>
          </a:p>
          <a:p xmlns:a="http://schemas.openxmlformats.org/drawingml/2006/main">
            <a:r>
              <a:t>候选A2将三个层级横向展开并共同汇入MLP，双时间后果紧接其下，使观众可先读飞机/站位/整线内容，再看如何进入联合决定。下方独立在线路径明确同一现场状态另行计算候选上下文，不能把副本嵌入直接当在线表示。</a:t>
            </a:r>
          </a:p>
          <a:p xmlns:a="http://schemas.openxmlformats.org/drawingml/2006/main">
            <a:r>
              <a:t>排版参考：Rougier et al. (2014), https://doi.org/10.1371/journal.pcbi.1003833；Jambor and Bornhäuser (2024), https://doi.org/10.1371/journal.pcbi.1011789；Nature Research Figure Guide, https://research-figure-guide.nature.com/figures/building-and-exporting-figure-panels/。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依据：当前资料库《开题报告_统一术语与当前定义_20261006.md》《工作三_方法设计阶段确认稿_执行流程奖励与表征学习.md》§7.4–7.6及§13–14、《工作三_状态动作与执行流程_阶段确认稿.md》。</a:t>
            </a:r>
          </a:p>
          <a:p xmlns:a="http://schemas.openxmlformats.org/drawingml/2006/main">
            <a:r>
              <a:t>五站为研究设置，示意五架飞机分处有序站位。一个真实事件驱动环境，飞机仅在共同脉动时同步前移，同一飞机不跨站并行。共同脉动时刻为占用站位首次实际就绪时刻最大值，首次就绪后等待。完整动作一经提交不能主动撤回，已开工非抢占。工序、留站/合法相邻后移、团队和对齐构成完整条件联合决定，后移分支不提前选择目标站团队。</a:t>
            </a:r>
          </a:p>
          <a:p xmlns:a="http://schemas.openxmlformats.org/drawingml/2006/main">
            <a:r>
              <a:t>完整可见工序图及资源关系参与编码，已完节点仍保留上下文。编码后只按未完物理任务汇总飞机、站位和整线语义。飞机摘要含未完任务与执行进度，站位同时读出当前飞机任务及下一次实际脉动进入本站飞机的任务，整线含各站负荷、在制数量、待投产数量。各层事实随事件更新，每次完整决策前重新计算动态表示，内部解码共用同一现场快照。</a:t>
            </a:r>
          </a:p>
          <a:p xmlns:a="http://schemas.openxmlformats.org/drawingml/2006/main">
            <a:r>
              <a:t>当前后果为共同脉动启发式时间估计修正，紧邻下一周期后果为各站有符号首次就绪偏差，正晚负早，非候选动作的因果或反事实后果。未知扰动不进入当前输入，发生后才知持续时间。当前修正供动作与已有势函数，下一周期向量供动作上下文，不新增预测风险惩罚。</a:t>
            </a:r>
          </a:p>
          <a:p xmlns:a="http://schemas.openxmlformats.org/drawingml/2006/main">
            <a:r>
              <a:t>网络方案B：完整轨迹开始复制编码器、分层读出/MLP、两个预测头及归一化，形成独立完整固定预测副本。副本在轨迹内参数和统计固定、无梯度，每次决策仍由最新状态重算数值。Actor同时读取该副本预测数值及独立在线编码/融合候选上下文，不能无条件共用两套动态嵌入。PPO更新在线动作头与在线共享编码/融合，实际时间辅助监督更新在线预测头及共享编码/融合。固定副本不接受梯度。</a:t>
            </a:r>
          </a:p>
          <a:p xmlns:a="http://schemas.openxmlformats.org/drawingml/2006/main">
            <a:r>
              <a:t>实际共同脉动与下一周期站位就绪发生后，分别回填两个时间标签。不存在的目标按有效性掩码处理，待结算结果不填零。学习条仅说明用途，详细历史保存、PPO重放与参数版本契约以确认稿为准。工作三是已确认的设计，代码及完整实验尚未完成，不宣称性能。</a:t>
            </a:r>
          </a:p>
          <a:p xmlns:a="http://schemas.openxmlformats.org/drawingml/2006/main">
            <a:r>
              <a:t>候选A3左侧驻站现场、右侧完整固定预测路径，下方在线候选表示与联合决定收束。左侧五站纵排只表达有序站位，所有站位仍共同脉动，不构成独立转站。外部返回箭头仅为完整动作送回唯一真实环境。</a:t>
            </a:r>
          </a:p>
          <a:p xmlns:a="http://schemas.openxmlformats.org/drawingml/2006/main">
            <a:r>
              <a:t>排版参考：Rougier et al. (2014), https://doi.org/10.1371/journal.pcbi.1003833；Jambor and Bornhäuser (2024), https://doi.org/10.1371/journal.pcbi.1011789；Nature Research Figure Guide, https://research-figure-guide.nature.com/figures/building-and-exporting-figure-panels/。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fa7ffc65d31474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09ddc088bef4a0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490bf3284b74cd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d9e6272641f431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8486cee32e74f6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8143ffdc6f340f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27446CA-0536-42FB-A212-F59CFD5CB1C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CB0D5B6F-9FF3-4EE2-93D4-A6DA1AF00BC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55DB4740-B233-446F-A3C1-53675180AA7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74E6CCD-73EC-423B-8B08-13701A7AAC8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76546036-239B-4972-89FC-EAF64055E00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3F38FE2-61EE-4004-9A1A-5BF8BB907C6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31CE4DE-DBDA-4E95-B2DE-EFD23720B6D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2A670CE8-F8F3-49DC-B764-63747870991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ECF179E-C9F6-4578-9EA1-75E4980F2B6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23AC643-2B75-4F96-8075-2CBE862435A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cf6a6a12c7a4300" /><Relationship Type="http://schemas.openxmlformats.org/officeDocument/2006/relationships/slideLayout" Target="/ppt/slideLayouts/slideLayout1.xml" Id="R0221f7d4b26647e6" /><Relationship Type="http://schemas.openxmlformats.org/officeDocument/2006/relationships/slideLayout" Target="/ppt/slideLayouts/slideLayout2.xml" Id="Rd0adc39de1244329" /><Relationship Type="http://schemas.openxmlformats.org/officeDocument/2006/relationships/slideLayout" Target="/ppt/slideLayouts/slideLayout3.xml" Id="R8198362c29414b4f" /><Relationship Type="http://schemas.openxmlformats.org/officeDocument/2006/relationships/slideLayout" Target="/ppt/slideLayouts/slideLayout4.xml" Id="R492378acbb294fe1" /><Relationship Type="http://schemas.openxmlformats.org/officeDocument/2006/relationships/slideLayout" Target="/ppt/slideLayouts/slideLayout5.xml" Id="R1792579e15804e90" /><Relationship Type="http://schemas.openxmlformats.org/officeDocument/2006/relationships/slideLayout" Target="/ppt/slideLayouts/slideLayout6.xml" Id="Ra5c9c8cdaa3842d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221f7d4b26647e6"/>
    <p:sldLayoutId xmlns:r="http://schemas.openxmlformats.org/officeDocument/2006/relationships" id="2147483650" r:id="Rd0adc39de1244329"/>
    <p:sldLayoutId xmlns:r="http://schemas.openxmlformats.org/officeDocument/2006/relationships" id="2147483651" r:id="R8198362c29414b4f"/>
    <p:sldLayoutId xmlns:r="http://schemas.openxmlformats.org/officeDocument/2006/relationships" id="2147483652" r:id="R492378acbb294fe1"/>
    <p:sldLayoutId xmlns:r="http://schemas.openxmlformats.org/officeDocument/2006/relationships" id="2147483653" r:id="R1792579e15804e90"/>
    <p:sldLayoutId xmlns:r="http://schemas.openxmlformats.org/officeDocument/2006/relationships" id="2147483654" r:id="Ra5c9c8cdaa3842d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c053fe87d094c29" /><Relationship Type="http://schemas.openxmlformats.org/officeDocument/2006/relationships/notesSlide" Target="/ppt/notesSlides/notesSlide1.xml" Id="R260d02a1b81548f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58f5c2543b14f9f" /><Relationship Type="http://schemas.openxmlformats.org/officeDocument/2006/relationships/notesSlide" Target="/ppt/notesSlides/notesSlide2.xml" Id="R1e0ee613c6fb43d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131ee69637d4547" /><Relationship Type="http://schemas.openxmlformats.org/officeDocument/2006/relationships/notesSlide" Target="/ppt/notesSlides/notesSlide3.xml" Id="Ra7a6d9ebb5b64cd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815827f65774601" /><Relationship Type="http://schemas.openxmlformats.org/officeDocument/2006/relationships/notesSlide" Target="/ppt/notesSlides/notesSlide4.xml" Id="R468380620ae5497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76559d7a7294944" /><Relationship Type="http://schemas.openxmlformats.org/officeDocument/2006/relationships/notesSlide" Target="/ppt/notesSlides/notesSlide5.xml" Id="R9bff8a6c7146430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8a0c02e2784496b" /><Relationship Type="http://schemas.openxmlformats.org/officeDocument/2006/relationships/notesSlide" Target="/ppt/notesSlides/notesSlide6.xml" Id="R3510b49c8c3f42e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14343bd9db64327" /><Relationship Type="http://schemas.openxmlformats.org/officeDocument/2006/relationships/notesSlide" Target="/ppt/notesSlides/notesSlide7.xml" Id="R94b79ffe9f50436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99645bf08284d97" /><Relationship Type="http://schemas.openxmlformats.org/officeDocument/2006/relationships/notesSlide" Target="/ppt/notesSlides/notesSlide8.xml" Id="R59b86c600863460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2afd7e4b8e74034" /><Relationship Type="http://schemas.openxmlformats.org/officeDocument/2006/relationships/notesSlide" Target="/ppt/notesSlides/notesSlide9.xml" Id="R1757105faba9497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9" name="candidate-text-1">
            <a:extLst xmlns:a="http://schemas.openxmlformats.org/drawingml/2006/main">
              <a:ext uri="{FF2B5EF4-FFF2-40B4-BE49-F238E27FC236}">
                <a16:creationId xmlns:a16="http://schemas.microsoft.com/office/drawing/2014/main" id="{DDF0C947-79B5-460D-82C4-DA7C26D30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57175"/>
            <a:ext cx="112014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700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000000"/>
                </a:solidFill>
              </a:defRPr>
            </a:pPr>
            <a:r>
              <a:rPr b="1">
                <a:latin typeface="Droid Sans Fallback"/>
                <a:ea typeface="Droid Sans Fallback"/>
                <a:cs typeface="Droid Sans Fallback"/>
              </a:rPr>
              <a:t>技术路线一：同构图下的联合静态调度</a:t>
            </a:r>
          </a:p>
        </p:txBody>
      </p:sp>
      <p:sp>
        <p:nvSpPr>
          <p:cNvPr id="2" name="candidate-line-2">
            <a:extLst xmlns:a="http://schemas.openxmlformats.org/drawingml/2006/main">
              <a:ext uri="{FF2B5EF4-FFF2-40B4-BE49-F238E27FC236}">
                <a16:creationId xmlns:a16="http://schemas.microsoft.com/office/drawing/2014/main" id="{F6FE3EE9-5062-49E8-9E9B-D8E310BD8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95300" y="8953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3" name="candidate-line-3">
            <a:extLst xmlns:a="http://schemas.openxmlformats.org/drawingml/2006/main">
              <a:ext uri="{FF2B5EF4-FFF2-40B4-BE49-F238E27FC236}">
                <a16:creationId xmlns:a16="http://schemas.microsoft.com/office/drawing/2014/main" id="{17D488DB-E671-486C-953B-10943E4F6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95300" y="6410325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000000"/>
            </a:solidFill>
            <a:prstDash val="solid"/>
          </a:ln>
        </p:spPr>
      </p:sp>
      <p:sp>
        <p:nvSpPr>
          <p:cNvPr id="4" name="candidate-text-4">
            <a:extLst xmlns:a="http://schemas.openxmlformats.org/drawingml/2006/main">
              <a:ext uri="{FF2B5EF4-FFF2-40B4-BE49-F238E27FC236}">
                <a16:creationId xmlns:a16="http://schemas.microsoft.com/office/drawing/2014/main" id="{A7238B9F-2547-49FB-BC97-30D7915E4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技术路线</a:t>
            </a:r>
          </a:p>
        </p:txBody>
      </p:sp>
      <p:sp>
        <p:nvSpPr>
          <p:cNvPr id="5" name="candidate-text-5">
            <a:extLst xmlns:a="http://schemas.openxmlformats.org/drawingml/2006/main">
              <a:ext uri="{FF2B5EF4-FFF2-40B4-BE49-F238E27FC236}">
                <a16:creationId xmlns:a16="http://schemas.microsoft.com/office/drawing/2014/main" id="{14020C4B-1537-43C2-9978-897F5D321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6457950"/>
            <a:ext cx="11525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350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000000"/>
                </a:solidFill>
              </a:defRPr>
            </a:pPr>
            <a:r>
              <a:rPr b="0">
                <a:latin typeface="Nimbus Roman"/>
                <a:ea typeface="Nimbus Roman"/>
                <a:cs typeface="Nimbus Roman"/>
              </a:rPr>
              <a:t>11A1</a:t>
            </a:r>
          </a:p>
        </p:txBody>
      </p:sp>
      <p:sp>
        <p:nvSpPr>
          <p:cNvPr id="6" name="candidate-text-6">
            <a:extLst xmlns:a="http://schemas.openxmlformats.org/drawingml/2006/main">
              <a:ext uri="{FF2B5EF4-FFF2-40B4-BE49-F238E27FC236}">
                <a16:creationId xmlns:a16="http://schemas.microsoft.com/office/drawing/2014/main" id="{DA268B91-96B9-4301-AFE4-896123201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38225"/>
            <a:ext cx="1095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000000"/>
                </a:solidFill>
              </a:defRPr>
            </a:pPr>
            <a:r>
              <a:rPr b="1">
                <a:latin typeface="Droid Sans Fallback"/>
                <a:ea typeface="Droid Sans Fallback"/>
                <a:cs typeface="Droid Sans Fallback"/>
              </a:rPr>
              <a:t>同构图统一编码，按工序—站位—团队的条件关系构造排程</a:t>
            </a:r>
          </a:p>
        </p:txBody>
      </p:sp>
      <p:sp>
        <p:nvSpPr>
          <p:cNvPr id="7" name="candidate-box-7">
            <a:extLst xmlns:a="http://schemas.openxmlformats.org/drawingml/2006/main">
              <a:ext uri="{FF2B5EF4-FFF2-40B4-BE49-F238E27FC236}">
                <a16:creationId xmlns:a16="http://schemas.microsoft.com/office/drawing/2014/main" id="{747C17CD-1ECF-44CF-9C6B-17E57D9A7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71625"/>
            <a:ext cx="3476625" cy="3400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0000"/>
            </a:solidFill>
            <a:prstDash val="solid"/>
          </a:ln>
        </p:spPr>
      </p:sp>
      <p:sp>
        <p:nvSpPr>
          <p:cNvPr id="8" name="candidate-text-8">
            <a:extLst xmlns:a="http://schemas.openxmlformats.org/drawingml/2006/main">
              <a:ext uri="{FF2B5EF4-FFF2-40B4-BE49-F238E27FC236}">
                <a16:creationId xmlns:a16="http://schemas.microsoft.com/office/drawing/2014/main" id="{7EAAAE44-9B2F-43F5-A989-6EDDEC352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657350"/>
            <a:ext cx="3286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000000"/>
                </a:solidFill>
              </a:defRPr>
            </a:pPr>
            <a:r>
              <a:rPr b="1">
                <a:latin typeface="Nimbus Roman"/>
                <a:ea typeface="Nimbus Roman"/>
                <a:cs typeface="Nimbus Roman"/>
              </a:rPr>
              <a:t>1  </a:t>
            </a:r>
            <a:r>
              <a:rPr b="1">
                <a:latin typeface="Droid Sans Fallback"/>
                <a:ea typeface="Droid Sans Fallback"/>
                <a:cs typeface="Droid Sans Fallback"/>
              </a:rPr>
              <a:t>同构图编码</a:t>
            </a:r>
          </a:p>
        </p:txBody>
      </p:sp>
      <p:sp>
        <p:nvSpPr>
          <p:cNvPr id="9" name="candidate-text-9">
            <a:extLst xmlns:a="http://schemas.openxmlformats.org/drawingml/2006/main">
              <a:ext uri="{FF2B5EF4-FFF2-40B4-BE49-F238E27FC236}">
                <a16:creationId xmlns:a16="http://schemas.microsoft.com/office/drawing/2014/main" id="{20391CD7-9F55-49B2-A491-95F334D38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000250"/>
            <a:ext cx="32099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425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425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局部结构示意；编码使用完整图</a:t>
            </a:r>
          </a:p>
        </p:txBody>
      </p:sp>
      <p:sp>
        <p:nvSpPr>
          <p:cNvPr id="10" name="candidate-line-10">
            <a:extLst xmlns:a="http://schemas.openxmlformats.org/drawingml/2006/main">
              <a:ext uri="{FF2B5EF4-FFF2-40B4-BE49-F238E27FC236}">
                <a16:creationId xmlns:a16="http://schemas.microsoft.com/office/drawing/2014/main" id="{3CA62F8F-F745-44C1-A133-76BD6E9F6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247299" y="2572703"/>
            <a:ext cx="108013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000000"/>
            </a:solidFill>
            <a:prstDash val="solid"/>
          </a:ln>
        </p:spPr>
      </p:sp>
      <p:sp>
        <p:nvSpPr>
          <p:cNvPr id="11" name="candidate-line-11">
            <a:extLst xmlns:a="http://schemas.openxmlformats.org/drawingml/2006/main">
              <a:ext uri="{FF2B5EF4-FFF2-40B4-BE49-F238E27FC236}">
                <a16:creationId xmlns:a16="http://schemas.microsoft.com/office/drawing/2014/main" id="{A14C6986-6BF0-4DB3-898E-8E045E858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327434" y="2572703"/>
            <a:ext cx="114014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000000"/>
            </a:solidFill>
            <a:prstDash val="solid"/>
          </a:ln>
        </p:spPr>
      </p:sp>
      <p:sp>
        <p:nvSpPr>
          <p:cNvPr id="12" name="candidate-line-12">
            <a:extLst xmlns:a="http://schemas.openxmlformats.org/drawingml/2006/main">
              <a:ext uri="{FF2B5EF4-FFF2-40B4-BE49-F238E27FC236}">
                <a16:creationId xmlns:a16="http://schemas.microsoft.com/office/drawing/2014/main" id="{60E4AAB0-8F38-4B8E-8FCA-8EC426A8F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247299" y="2572703"/>
            <a:ext cx="480060" cy="56740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000000"/>
            </a:solidFill>
            <a:prstDash val="solid"/>
          </a:ln>
        </p:spPr>
      </p:sp>
      <p:sp>
        <p:nvSpPr>
          <p:cNvPr id="13" name="candidate-line-13">
            <a:extLst xmlns:a="http://schemas.openxmlformats.org/drawingml/2006/main">
              <a:ext uri="{FF2B5EF4-FFF2-40B4-BE49-F238E27FC236}">
                <a16:creationId xmlns:a16="http://schemas.microsoft.com/office/drawing/2014/main" id="{A017CE67-FD79-4217-A819-B0A7815BD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1727359" y="2572703"/>
            <a:ext cx="600075" cy="56740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000000"/>
            </a:solidFill>
            <a:prstDash val="solid"/>
          </a:ln>
        </p:spPr>
      </p:sp>
      <p:sp>
        <p:nvSpPr>
          <p:cNvPr id="14" name="candidate-line-14">
            <a:extLst xmlns:a="http://schemas.openxmlformats.org/drawingml/2006/main">
              <a:ext uri="{FF2B5EF4-FFF2-40B4-BE49-F238E27FC236}">
                <a16:creationId xmlns:a16="http://schemas.microsoft.com/office/drawing/2014/main" id="{73FE661A-29DD-4DA7-A508-9B3EC0A7D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3017520" y="2572703"/>
            <a:ext cx="450056" cy="56740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000000"/>
            </a:solidFill>
            <a:prstDash val="solid"/>
          </a:ln>
        </p:spPr>
      </p:sp>
      <p:sp>
        <p:nvSpPr>
          <p:cNvPr id="15" name="candidate-line-15">
            <a:extLst xmlns:a="http://schemas.openxmlformats.org/drawingml/2006/main">
              <a:ext uri="{FF2B5EF4-FFF2-40B4-BE49-F238E27FC236}">
                <a16:creationId xmlns:a16="http://schemas.microsoft.com/office/drawing/2014/main" id="{0259E8CC-C713-4445-A106-07C7B6194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1247299" y="3140107"/>
            <a:ext cx="480060" cy="5980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000000"/>
            </a:solidFill>
            <a:prstDash val="solid"/>
          </a:ln>
        </p:spPr>
      </p:sp>
      <p:sp>
        <p:nvSpPr>
          <p:cNvPr id="16" name="candidate-line-16">
            <a:extLst xmlns:a="http://schemas.openxmlformats.org/drawingml/2006/main">
              <a:ext uri="{FF2B5EF4-FFF2-40B4-BE49-F238E27FC236}">
                <a16:creationId xmlns:a16="http://schemas.microsoft.com/office/drawing/2014/main" id="{99B5E180-969B-4775-98DA-A8118954F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727359" y="3140107"/>
            <a:ext cx="600075" cy="5980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000000"/>
            </a:solidFill>
            <a:prstDash val="solid"/>
          </a:ln>
        </p:spPr>
      </p:sp>
      <p:sp>
        <p:nvSpPr>
          <p:cNvPr id="17" name="candidate-line-17">
            <a:extLst xmlns:a="http://schemas.openxmlformats.org/drawingml/2006/main">
              <a:ext uri="{FF2B5EF4-FFF2-40B4-BE49-F238E27FC236}">
                <a16:creationId xmlns:a16="http://schemas.microsoft.com/office/drawing/2014/main" id="{F63E1493-CB8E-491D-B583-FB983B257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2327434" y="3140107"/>
            <a:ext cx="690086" cy="5980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000000"/>
            </a:solidFill>
            <a:prstDash val="solid"/>
          </a:ln>
        </p:spPr>
      </p:sp>
      <p:sp>
        <p:nvSpPr>
          <p:cNvPr id="18" name="candidate-line-18">
            <a:extLst xmlns:a="http://schemas.openxmlformats.org/drawingml/2006/main">
              <a:ext uri="{FF2B5EF4-FFF2-40B4-BE49-F238E27FC236}">
                <a16:creationId xmlns:a16="http://schemas.microsoft.com/office/drawing/2014/main" id="{689DB823-DB06-4F68-8FDA-10A32CBEE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017520" y="3140107"/>
            <a:ext cx="450056" cy="5980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000000"/>
            </a:solidFill>
            <a:prstDash val="solid"/>
          </a:ln>
        </p:spPr>
      </p:sp>
      <p:sp>
        <p:nvSpPr>
          <p:cNvPr id="19" name="candidate-box-19">
            <a:extLst xmlns:a="http://schemas.openxmlformats.org/drawingml/2006/main">
              <a:ext uri="{FF2B5EF4-FFF2-40B4-BE49-F238E27FC236}">
                <a16:creationId xmlns:a16="http://schemas.microsoft.com/office/drawing/2014/main" id="{CA668B0B-8E9D-4887-BD2B-C86A36B90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224" y="2353628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00000"/>
            </a:solidFill>
            <a:prstDash val="solid"/>
          </a:ln>
        </p:spPr>
      </p:sp>
      <p:sp>
        <p:nvSpPr>
          <p:cNvPr id="20" name="candidate-text-20">
            <a:extLst xmlns:a="http://schemas.openxmlformats.org/drawingml/2006/main">
              <a:ext uri="{FF2B5EF4-FFF2-40B4-BE49-F238E27FC236}">
                <a16:creationId xmlns:a16="http://schemas.microsoft.com/office/drawing/2014/main" id="{7B525FE9-19E2-48BC-9EF6-4C1F47D84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224" y="2353628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00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500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工</a:t>
            </a:r>
            <a:r>
              <a:rPr b="0">
                <a:latin typeface="Nimbus Roman"/>
                <a:ea typeface="Nimbus Roman"/>
                <a:cs typeface="Nimbus Roman"/>
              </a:rPr>
              <a:t>1</a:t>
            </a:r>
          </a:p>
        </p:txBody>
      </p:sp>
      <p:sp>
        <p:nvSpPr>
          <p:cNvPr id="21" name="candidate-box-21">
            <a:extLst xmlns:a="http://schemas.openxmlformats.org/drawingml/2006/main">
              <a:ext uri="{FF2B5EF4-FFF2-40B4-BE49-F238E27FC236}">
                <a16:creationId xmlns:a16="http://schemas.microsoft.com/office/drawing/2014/main" id="{BFB490DB-B02A-4A83-AB10-5EBC0C080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8359" y="2353628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00000"/>
            </a:solidFill>
            <a:prstDash val="solid"/>
          </a:ln>
        </p:spPr>
      </p:sp>
      <p:sp>
        <p:nvSpPr>
          <p:cNvPr id="22" name="candidate-text-22">
            <a:extLst xmlns:a="http://schemas.openxmlformats.org/drawingml/2006/main">
              <a:ext uri="{FF2B5EF4-FFF2-40B4-BE49-F238E27FC236}">
                <a16:creationId xmlns:a16="http://schemas.microsoft.com/office/drawing/2014/main" id="{2926331A-066A-47F1-A22F-35F234C59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8359" y="2353628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00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500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工</a:t>
            </a:r>
            <a:r>
              <a:rPr b="0">
                <a:latin typeface="Nimbus Roman"/>
                <a:ea typeface="Nimbus Roman"/>
                <a:cs typeface="Nimbus Roman"/>
              </a:rPr>
              <a:t>2</a:t>
            </a:r>
          </a:p>
        </p:txBody>
      </p:sp>
      <p:sp>
        <p:nvSpPr>
          <p:cNvPr id="23" name="candidate-box-23">
            <a:extLst xmlns:a="http://schemas.openxmlformats.org/drawingml/2006/main">
              <a:ext uri="{FF2B5EF4-FFF2-40B4-BE49-F238E27FC236}">
                <a16:creationId xmlns:a16="http://schemas.microsoft.com/office/drawing/2014/main" id="{39755CF0-430E-444E-AC8B-C589D0840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501" y="2353628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00000"/>
            </a:solidFill>
            <a:prstDash val="solid"/>
          </a:ln>
        </p:spPr>
      </p:sp>
      <p:sp>
        <p:nvSpPr>
          <p:cNvPr id="24" name="candidate-text-24">
            <a:extLst xmlns:a="http://schemas.openxmlformats.org/drawingml/2006/main">
              <a:ext uri="{FF2B5EF4-FFF2-40B4-BE49-F238E27FC236}">
                <a16:creationId xmlns:a16="http://schemas.microsoft.com/office/drawing/2014/main" id="{2A3228BE-5B65-4AEE-8B91-F2B74B66D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501" y="2353628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00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500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工</a:t>
            </a:r>
            <a:r>
              <a:rPr b="0">
                <a:latin typeface="Nimbus Roman"/>
                <a:ea typeface="Nimbus Roman"/>
                <a:cs typeface="Nimbus Roman"/>
              </a:rPr>
              <a:t>3</a:t>
            </a:r>
          </a:p>
        </p:txBody>
      </p:sp>
      <p:sp>
        <p:nvSpPr>
          <p:cNvPr id="25" name="candidate-box-25">
            <a:extLst xmlns:a="http://schemas.openxmlformats.org/drawingml/2006/main">
              <a:ext uri="{FF2B5EF4-FFF2-40B4-BE49-F238E27FC236}">
                <a16:creationId xmlns:a16="http://schemas.microsoft.com/office/drawing/2014/main" id="{8DC655E7-9615-4534-9393-DB4BBF21A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284" y="2921032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00000"/>
            </a:solidFill>
            <a:prstDash val="solid"/>
          </a:ln>
        </p:spPr>
      </p:sp>
      <p:sp>
        <p:nvSpPr>
          <p:cNvPr id="26" name="candidate-text-26">
            <a:extLst xmlns:a="http://schemas.openxmlformats.org/drawingml/2006/main">
              <a:ext uri="{FF2B5EF4-FFF2-40B4-BE49-F238E27FC236}">
                <a16:creationId xmlns:a16="http://schemas.microsoft.com/office/drawing/2014/main" id="{BFD8C46E-1CBA-4D42-8A74-E75DBF789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284" y="2921032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00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500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站</a:t>
            </a:r>
            <a:r>
              <a:rPr b="0">
                <a:latin typeface="Nimbus Roman"/>
                <a:ea typeface="Nimbus Roman"/>
                <a:cs typeface="Nimbus Roman"/>
              </a:rPr>
              <a:t>1</a:t>
            </a:r>
          </a:p>
        </p:txBody>
      </p:sp>
      <p:sp>
        <p:nvSpPr>
          <p:cNvPr id="27" name="candidate-box-27">
            <a:extLst xmlns:a="http://schemas.openxmlformats.org/drawingml/2006/main">
              <a:ext uri="{FF2B5EF4-FFF2-40B4-BE49-F238E27FC236}">
                <a16:creationId xmlns:a16="http://schemas.microsoft.com/office/drawing/2014/main" id="{A2051F4C-78F3-4C3F-B053-D581A6962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8445" y="2921032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00000"/>
            </a:solidFill>
            <a:prstDash val="solid"/>
          </a:ln>
        </p:spPr>
      </p:sp>
      <p:sp>
        <p:nvSpPr>
          <p:cNvPr id="28" name="candidate-text-28">
            <a:extLst xmlns:a="http://schemas.openxmlformats.org/drawingml/2006/main">
              <a:ext uri="{FF2B5EF4-FFF2-40B4-BE49-F238E27FC236}">
                <a16:creationId xmlns:a16="http://schemas.microsoft.com/office/drawing/2014/main" id="{1918CB82-ED1C-4252-A596-F1BF8F235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8445" y="2921032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00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500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站</a:t>
            </a:r>
            <a:r>
              <a:rPr b="0">
                <a:latin typeface="Nimbus Roman"/>
                <a:ea typeface="Nimbus Roman"/>
                <a:cs typeface="Nimbus Roman"/>
              </a:rPr>
              <a:t>2</a:t>
            </a:r>
          </a:p>
        </p:txBody>
      </p:sp>
      <p:sp>
        <p:nvSpPr>
          <p:cNvPr id="29" name="candidate-box-29">
            <a:extLst xmlns:a="http://schemas.openxmlformats.org/drawingml/2006/main">
              <a:ext uri="{FF2B5EF4-FFF2-40B4-BE49-F238E27FC236}">
                <a16:creationId xmlns:a16="http://schemas.microsoft.com/office/drawing/2014/main" id="{844EFAAF-D88B-4DFE-ABB3-965270B31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224" y="3519107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00000"/>
            </a:solidFill>
            <a:prstDash val="solid"/>
          </a:ln>
        </p:spPr>
      </p:sp>
      <p:sp>
        <p:nvSpPr>
          <p:cNvPr id="30" name="candidate-text-30">
            <a:extLst xmlns:a="http://schemas.openxmlformats.org/drawingml/2006/main">
              <a:ext uri="{FF2B5EF4-FFF2-40B4-BE49-F238E27FC236}">
                <a16:creationId xmlns:a16="http://schemas.microsoft.com/office/drawing/2014/main" id="{60B7B565-77EB-49D5-A35D-5E6D709B2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224" y="3519107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00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500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人</a:t>
            </a:r>
            <a:r>
              <a:rPr b="0">
                <a:latin typeface="Nimbus Roman"/>
                <a:ea typeface="Nimbus Roman"/>
                <a:cs typeface="Nimbus Roman"/>
              </a:rPr>
              <a:t>1</a:t>
            </a:r>
          </a:p>
        </p:txBody>
      </p:sp>
      <p:sp>
        <p:nvSpPr>
          <p:cNvPr id="31" name="candidate-box-31">
            <a:extLst xmlns:a="http://schemas.openxmlformats.org/drawingml/2006/main">
              <a:ext uri="{FF2B5EF4-FFF2-40B4-BE49-F238E27FC236}">
                <a16:creationId xmlns:a16="http://schemas.microsoft.com/office/drawing/2014/main" id="{63EFCB9C-899B-4D23-9EE3-309F0F505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8359" y="3519107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00000"/>
            </a:solidFill>
            <a:prstDash val="solid"/>
          </a:ln>
        </p:spPr>
      </p:sp>
      <p:sp>
        <p:nvSpPr>
          <p:cNvPr id="32" name="candidate-text-32">
            <a:extLst xmlns:a="http://schemas.openxmlformats.org/drawingml/2006/main">
              <a:ext uri="{FF2B5EF4-FFF2-40B4-BE49-F238E27FC236}">
                <a16:creationId xmlns:a16="http://schemas.microsoft.com/office/drawing/2014/main" id="{AE55ED95-BD6B-4C0C-A9BC-596B3D5EB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8359" y="3519107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00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500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人</a:t>
            </a:r>
            <a:r>
              <a:rPr b="0">
                <a:latin typeface="Nimbus Roman"/>
                <a:ea typeface="Nimbus Roman"/>
                <a:cs typeface="Nimbus Roman"/>
              </a:rPr>
              <a:t>2</a:t>
            </a:r>
          </a:p>
        </p:txBody>
      </p:sp>
      <p:sp>
        <p:nvSpPr>
          <p:cNvPr id="33" name="candidate-box-33">
            <a:extLst xmlns:a="http://schemas.openxmlformats.org/drawingml/2006/main">
              <a:ext uri="{FF2B5EF4-FFF2-40B4-BE49-F238E27FC236}">
                <a16:creationId xmlns:a16="http://schemas.microsoft.com/office/drawing/2014/main" id="{507EE8E3-21DB-42C9-9D5A-142BC97C6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501" y="3519107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00000"/>
            </a:solidFill>
            <a:prstDash val="solid"/>
          </a:ln>
        </p:spPr>
      </p:sp>
      <p:sp>
        <p:nvSpPr>
          <p:cNvPr id="34" name="candidate-text-34">
            <a:extLst xmlns:a="http://schemas.openxmlformats.org/drawingml/2006/main">
              <a:ext uri="{FF2B5EF4-FFF2-40B4-BE49-F238E27FC236}">
                <a16:creationId xmlns:a16="http://schemas.microsoft.com/office/drawing/2014/main" id="{293FFDCA-4AAD-4FE0-8D76-A20A57782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501" y="3519107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00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500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人</a:t>
            </a:r>
            <a:r>
              <a:rPr b="0">
                <a:latin typeface="Nimbus Roman"/>
                <a:ea typeface="Nimbus Roman"/>
                <a:cs typeface="Nimbus Roman"/>
              </a:rPr>
              <a:t>3</a:t>
            </a:r>
          </a:p>
        </p:txBody>
      </p:sp>
      <p:sp>
        <p:nvSpPr>
          <p:cNvPr id="35" name="candidate-text-35">
            <a:extLst xmlns:a="http://schemas.openxmlformats.org/drawingml/2006/main">
              <a:ext uri="{FF2B5EF4-FFF2-40B4-BE49-F238E27FC236}">
                <a16:creationId xmlns:a16="http://schemas.microsoft.com/office/drawing/2014/main" id="{1ABA1AB3-51AC-47F9-832B-7E7259FEE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10025"/>
            <a:ext cx="31908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00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500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工艺前序、工时和需求人数</a:t>
            </a:r>
          </a:p>
          <a:p xmlns:a="http://schemas.openxmlformats.org/drawingml/2006/main">
            <a:pPr algn="ctr">
              <a:defRPr sz="1500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站位负荷、人员资格／效率／日历</a:t>
            </a:r>
          </a:p>
        </p:txBody>
      </p:sp>
      <p:sp>
        <p:nvSpPr>
          <p:cNvPr id="36" name="candidate-box-36">
            <a:extLst xmlns:a="http://schemas.openxmlformats.org/drawingml/2006/main">
              <a:ext uri="{FF2B5EF4-FFF2-40B4-BE49-F238E27FC236}">
                <a16:creationId xmlns:a16="http://schemas.microsoft.com/office/drawing/2014/main" id="{C01EA6B3-B644-4F1F-8CC9-9AA3445B9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52950"/>
            <a:ext cx="30384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00000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000000"/>
                </a:solidFill>
              </a:defRPr>
            </a:pPr>
            <a:r>
              <a:rPr b="1">
                <a:latin typeface="Droid Sans Fallback"/>
                <a:ea typeface="Droid Sans Fallback"/>
                <a:cs typeface="Droid Sans Fallback"/>
              </a:rPr>
              <a:t>共享传播规则与参数</a:t>
            </a:r>
          </a:p>
        </p:txBody>
      </p:sp>
      <p:sp>
        <p:nvSpPr>
          <p:cNvPr id="37" name="candidate-box-37">
            <a:extLst xmlns:a="http://schemas.openxmlformats.org/drawingml/2006/main">
              <a:ext uri="{FF2B5EF4-FFF2-40B4-BE49-F238E27FC236}">
                <a16:creationId xmlns:a16="http://schemas.microsoft.com/office/drawing/2014/main" id="{43B572F4-2BFE-4993-9D7F-218C4AB48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1571625"/>
            <a:ext cx="7124700" cy="3400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0000"/>
            </a:solidFill>
            <a:prstDash val="solid"/>
          </a:ln>
        </p:spPr>
      </p:sp>
      <p:sp>
        <p:nvSpPr>
          <p:cNvPr id="38" name="candidate-text-38">
            <a:extLst xmlns:a="http://schemas.openxmlformats.org/drawingml/2006/main">
              <a:ext uri="{FF2B5EF4-FFF2-40B4-BE49-F238E27FC236}">
                <a16:creationId xmlns:a16="http://schemas.microsoft.com/office/drawing/2014/main" id="{F697C66B-5263-4BBD-985C-CC23ED41E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1657350"/>
            <a:ext cx="6934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000000"/>
                </a:solidFill>
              </a:defRPr>
            </a:pPr>
            <a:r>
              <a:rPr b="1">
                <a:latin typeface="Nimbus Roman"/>
                <a:ea typeface="Nimbus Roman"/>
                <a:cs typeface="Nimbus Roman"/>
              </a:rPr>
              <a:t>2  </a:t>
            </a:r>
            <a:r>
              <a:rPr b="1">
                <a:latin typeface="Droid Sans Fallback"/>
                <a:ea typeface="Droid Sans Fallback"/>
                <a:cs typeface="Droid Sans Fallback"/>
              </a:rPr>
              <a:t>条件联合选择</a:t>
            </a:r>
          </a:p>
        </p:txBody>
      </p:sp>
      <p:sp>
        <p:nvSpPr>
          <p:cNvPr id="39" name="candidate-box-39">
            <a:extLst xmlns:a="http://schemas.openxmlformats.org/drawingml/2006/main">
              <a:ext uri="{FF2B5EF4-FFF2-40B4-BE49-F238E27FC236}">
                <a16:creationId xmlns:a16="http://schemas.microsoft.com/office/drawing/2014/main" id="{091D1FF3-C5AF-48C1-B83D-02C779E47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124075"/>
            <a:ext cx="1581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00000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000000"/>
                </a:solidFill>
              </a:defRPr>
            </a:pPr>
            <a:r>
              <a:rPr b="1">
                <a:latin typeface="Droid Sans Fallback"/>
                <a:ea typeface="Droid Sans Fallback"/>
                <a:cs typeface="Droid Sans Fallback"/>
              </a:rPr>
              <a:t>工序选择</a:t>
            </a:r>
          </a:p>
        </p:txBody>
      </p:sp>
      <p:sp>
        <p:nvSpPr>
          <p:cNvPr id="40" name="candidate-text-40">
            <a:extLst xmlns:a="http://schemas.openxmlformats.org/drawingml/2006/main">
              <a:ext uri="{FF2B5EF4-FFF2-40B4-BE49-F238E27FC236}">
                <a16:creationId xmlns:a16="http://schemas.microsoft.com/office/drawing/2014/main" id="{AECEDCC3-4B9E-48A1-A26D-7D703D9BF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2647950"/>
            <a:ext cx="1504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650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前序与当前安排</a:t>
            </a:r>
          </a:p>
          <a:p xmlns:a="http://schemas.openxmlformats.org/drawingml/2006/main">
            <a:pPr algn="ctr">
              <a:defRPr sz="1650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共同资源状态</a:t>
            </a:r>
          </a:p>
        </p:txBody>
      </p:sp>
      <p:sp>
        <p:nvSpPr>
          <p:cNvPr id="41" name="candidate-box-41">
            <a:extLst xmlns:a="http://schemas.openxmlformats.org/drawingml/2006/main">
              <a:ext uri="{FF2B5EF4-FFF2-40B4-BE49-F238E27FC236}">
                <a16:creationId xmlns:a16="http://schemas.microsoft.com/office/drawing/2014/main" id="{9A50F980-BF8A-4891-9876-70B6B614E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343275"/>
            <a:ext cx="15716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00000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650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合法候选</a:t>
            </a:r>
          </a:p>
          <a:p xmlns:a="http://schemas.openxmlformats.org/drawingml/2006/main">
            <a:pPr algn="ctr">
              <a:defRPr sz="1650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选择工序</a:t>
            </a:r>
            <a:r>
              <a:rPr b="0">
                <a:latin typeface="Nimbus Roman"/>
                <a:ea typeface="Nimbus Roman"/>
                <a:cs typeface="Nimbus Roman"/>
              </a:rPr>
              <a:t> i</a:t>
            </a:r>
          </a:p>
        </p:txBody>
      </p:sp>
      <p:sp>
        <p:nvSpPr>
          <p:cNvPr id="42" name="candidate-box-42">
            <a:extLst xmlns:a="http://schemas.openxmlformats.org/drawingml/2006/main">
              <a:ext uri="{FF2B5EF4-FFF2-40B4-BE49-F238E27FC236}">
                <a16:creationId xmlns:a16="http://schemas.microsoft.com/office/drawing/2014/main" id="{16636C66-6993-4BD4-801B-602104193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2124075"/>
            <a:ext cx="15906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00000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000000"/>
                </a:solidFill>
              </a:defRPr>
            </a:pPr>
            <a:r>
              <a:rPr b="1">
                <a:latin typeface="Droid Sans Fallback"/>
                <a:ea typeface="Droid Sans Fallback"/>
                <a:cs typeface="Droid Sans Fallback"/>
              </a:rPr>
              <a:t>站位选择</a:t>
            </a:r>
          </a:p>
        </p:txBody>
      </p:sp>
      <p:sp>
        <p:nvSpPr>
          <p:cNvPr id="43" name="candidate-text-43">
            <a:extLst xmlns:a="http://schemas.openxmlformats.org/drawingml/2006/main">
              <a:ext uri="{FF2B5EF4-FFF2-40B4-BE49-F238E27FC236}">
                <a16:creationId xmlns:a16="http://schemas.microsoft.com/office/drawing/2014/main" id="{A328A2E6-8F13-42E6-9622-5325D6F7B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2647950"/>
            <a:ext cx="15144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650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已选工序</a:t>
            </a:r>
            <a:r>
              <a:rPr b="0">
                <a:latin typeface="Nimbus Roman"/>
                <a:ea typeface="Nimbus Roman"/>
                <a:cs typeface="Nimbus Roman"/>
              </a:rPr>
              <a:t> i</a:t>
            </a:r>
          </a:p>
          <a:p xmlns:a="http://schemas.openxmlformats.org/drawingml/2006/main">
            <a:pPr algn="ctr">
              <a:defRPr sz="1650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前后序站位约束</a:t>
            </a:r>
          </a:p>
        </p:txBody>
      </p:sp>
      <p:sp>
        <p:nvSpPr>
          <p:cNvPr id="44" name="candidate-box-44">
            <a:extLst xmlns:a="http://schemas.openxmlformats.org/drawingml/2006/main">
              <a:ext uri="{FF2B5EF4-FFF2-40B4-BE49-F238E27FC236}">
                <a16:creationId xmlns:a16="http://schemas.microsoft.com/office/drawing/2014/main" id="{FE23A2C9-FC7A-4417-8C52-6A89D9BE2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343275"/>
            <a:ext cx="15811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00000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650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合法候选</a:t>
            </a:r>
          </a:p>
          <a:p xmlns:a="http://schemas.openxmlformats.org/drawingml/2006/main">
            <a:pPr algn="ctr">
              <a:defRPr sz="1650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选择站位</a:t>
            </a:r>
            <a:r>
              <a:rPr b="0">
                <a:latin typeface="Nimbus Roman"/>
                <a:ea typeface="Nimbus Roman"/>
                <a:cs typeface="Nimbus Roman"/>
              </a:rPr>
              <a:t> m</a:t>
            </a:r>
          </a:p>
        </p:txBody>
      </p:sp>
      <p:cxnSp>
        <p:nvCxnSpPr>
          <p:cNvPr id="45" name="candidate-arrow-45">
            <a:extLst xmlns:a="http://schemas.openxmlformats.org/drawingml/2006/main">
              <a:ext uri="{FF2B5EF4-FFF2-40B4-BE49-F238E27FC236}">
                <a16:creationId xmlns:a16="http://schemas.microsoft.com/office/drawing/2014/main" id="{37FF756C-3A35-457D-A3B9-7231C226A374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219825" y="3638550"/>
            <a:ext cx="238125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000000"/>
            </a:solidFill>
            <a:prstDash val="solid"/>
            <a:tailEnd type="triangle" w="sm" len="sm"/>
          </a:ln>
        </p:spPr>
      </p:cxnSp>
      <p:sp>
        <p:nvSpPr>
          <p:cNvPr id="46" name="candidate-box-46">
            <a:extLst xmlns:a="http://schemas.openxmlformats.org/drawingml/2006/main">
              <a:ext uri="{FF2B5EF4-FFF2-40B4-BE49-F238E27FC236}">
                <a16:creationId xmlns:a16="http://schemas.microsoft.com/office/drawing/2014/main" id="{7D4510C3-67B7-4738-A2A1-E3A0EB146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047875"/>
            <a:ext cx="3086100" cy="220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0000"/>
            </a:solidFill>
            <a:prstDash val="solid"/>
          </a:ln>
        </p:spPr>
      </p:sp>
      <p:sp>
        <p:nvSpPr>
          <p:cNvPr id="47" name="candidate-text-47">
            <a:extLst xmlns:a="http://schemas.openxmlformats.org/drawingml/2006/main">
              <a:ext uri="{FF2B5EF4-FFF2-40B4-BE49-F238E27FC236}">
                <a16:creationId xmlns:a16="http://schemas.microsoft.com/office/drawing/2014/main" id="{1ED9C148-5022-44E5-8ECC-490BC4DA5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2133600"/>
            <a:ext cx="2876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000000"/>
                </a:solidFill>
              </a:defRPr>
            </a:pPr>
            <a:r>
              <a:rPr b="1">
                <a:latin typeface="Droid Sans Fallback"/>
                <a:ea typeface="Droid Sans Fallback"/>
                <a:cs typeface="Droid Sans Fallback"/>
              </a:rPr>
              <a:t>团队成员逐次选择</a:t>
            </a:r>
          </a:p>
        </p:txBody>
      </p:sp>
      <p:sp>
        <p:nvSpPr>
          <p:cNvPr id="48" name="candidate-box-48">
            <a:extLst xmlns:a="http://schemas.openxmlformats.org/drawingml/2006/main">
              <a:ext uri="{FF2B5EF4-FFF2-40B4-BE49-F238E27FC236}">
                <a16:creationId xmlns:a16="http://schemas.microsoft.com/office/drawing/2014/main" id="{879C3A3F-683D-4A7B-B1ED-C7D11A4E8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2600325"/>
            <a:ext cx="275272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00000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650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已选成员</a:t>
            </a:r>
          </a:p>
        </p:txBody>
      </p:sp>
      <p:cxnSp>
        <p:nvCxnSpPr>
          <p:cNvPr id="49" name="candidate-arrow-49">
            <a:extLst xmlns:a="http://schemas.openxmlformats.org/drawingml/2006/main">
              <a:ext uri="{FF2B5EF4-FFF2-40B4-BE49-F238E27FC236}">
                <a16:creationId xmlns:a16="http://schemas.microsoft.com/office/drawing/2014/main" id="{AD6F9B70-DA7B-42A4-AAA7-E856F3CE4194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9829800" y="2971800"/>
            <a:ext cx="0" cy="123825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000000"/>
            </a:solidFill>
            <a:prstDash val="solid"/>
            <a:tailEnd type="triangle" w="sm" len="sm"/>
          </a:ln>
        </p:spPr>
      </p:cxnSp>
      <p:sp>
        <p:nvSpPr>
          <p:cNvPr id="50" name="candidate-box-50">
            <a:extLst xmlns:a="http://schemas.openxmlformats.org/drawingml/2006/main">
              <a:ext uri="{FF2B5EF4-FFF2-40B4-BE49-F238E27FC236}">
                <a16:creationId xmlns:a16="http://schemas.microsoft.com/office/drawing/2014/main" id="{D9664358-D464-4EB8-9AA0-C5FA5A780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3095625"/>
            <a:ext cx="2333625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00000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650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下一成员</a:t>
            </a:r>
          </a:p>
          <a:p xmlns:a="http://schemas.openxmlformats.org/drawingml/2006/main">
            <a:pPr algn="ctr">
              <a:defRPr sz="1650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读取</a:t>
            </a:r>
            <a:r>
              <a:rPr b="0">
                <a:latin typeface="Nimbus Roman"/>
                <a:ea typeface="Nimbus Roman"/>
                <a:cs typeface="Nimbus Roman"/>
              </a:rPr>
              <a:t> i</a:t>
            </a:r>
            <a:r>
              <a:rPr b="0">
                <a:latin typeface="Droid Sans Fallback"/>
                <a:ea typeface="Droid Sans Fallback"/>
                <a:cs typeface="Droid Sans Fallback"/>
              </a:rPr>
              <a:t>、</a:t>
            </a:r>
            <a:r>
              <a:rPr b="0">
                <a:latin typeface="Nimbus Roman"/>
                <a:ea typeface="Nimbus Roman"/>
                <a:cs typeface="Nimbus Roman"/>
              </a:rPr>
              <a:t>m </a:t>
            </a:r>
            <a:r>
              <a:rPr b="0">
                <a:latin typeface="Droid Sans Fallback"/>
                <a:ea typeface="Droid Sans Fallback"/>
                <a:cs typeface="Droid Sans Fallback"/>
              </a:rPr>
              <a:t>及已选成员</a:t>
            </a:r>
          </a:p>
        </p:txBody>
      </p:sp>
      <p:sp>
        <p:nvSpPr>
          <p:cNvPr id="51" name="candidate-text-51">
            <a:extLst xmlns:a="http://schemas.openxmlformats.org/drawingml/2006/main">
              <a:ext uri="{FF2B5EF4-FFF2-40B4-BE49-F238E27FC236}">
                <a16:creationId xmlns:a16="http://schemas.microsoft.com/office/drawing/2014/main" id="{5E01408B-C4EB-400D-9F57-50DDFE266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3648075"/>
            <a:ext cx="27527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425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425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资格、绑定和已选排除掩码</a:t>
            </a:r>
          </a:p>
        </p:txBody>
      </p:sp>
      <p:sp>
        <p:nvSpPr>
          <p:cNvPr id="52" name="candidate-box-52">
            <a:extLst xmlns:a="http://schemas.openxmlformats.org/drawingml/2006/main">
              <a:ext uri="{FF2B5EF4-FFF2-40B4-BE49-F238E27FC236}">
                <a16:creationId xmlns:a16="http://schemas.microsoft.com/office/drawing/2014/main" id="{64CCF2C4-61CA-40C9-B18B-85F0027AB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3962400"/>
            <a:ext cx="275272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00000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00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500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加入成员并更新候选</a:t>
            </a:r>
          </a:p>
        </p:txBody>
      </p:sp>
      <p:sp>
        <p:nvSpPr>
          <p:cNvPr id="53" name="candidate-line-53">
            <a:extLst xmlns:a="http://schemas.openxmlformats.org/drawingml/2006/main">
              <a:ext uri="{FF2B5EF4-FFF2-40B4-BE49-F238E27FC236}">
                <a16:creationId xmlns:a16="http://schemas.microsoft.com/office/drawing/2014/main" id="{C33A879B-6F42-4D3B-BB85-A6437934D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991850" y="3362325"/>
            <a:ext cx="28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000000"/>
            </a:solidFill>
            <a:prstDash val="solid"/>
          </a:ln>
        </p:spPr>
      </p:sp>
      <p:sp>
        <p:nvSpPr>
          <p:cNvPr id="54" name="candidate-line-54">
            <a:extLst xmlns:a="http://schemas.openxmlformats.org/drawingml/2006/main">
              <a:ext uri="{FF2B5EF4-FFF2-40B4-BE49-F238E27FC236}">
                <a16:creationId xmlns:a16="http://schemas.microsoft.com/office/drawing/2014/main" id="{937852BD-A82D-4A47-A6CB-7B8E6EBE8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1277600" y="3362325"/>
            <a:ext cx="0" cy="514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000000"/>
            </a:solidFill>
            <a:prstDash val="solid"/>
          </a:ln>
        </p:spPr>
      </p:sp>
      <p:sp>
        <p:nvSpPr>
          <p:cNvPr id="55" name="candidate-line-55">
            <a:extLst xmlns:a="http://schemas.openxmlformats.org/drawingml/2006/main">
              <a:ext uri="{FF2B5EF4-FFF2-40B4-BE49-F238E27FC236}">
                <a16:creationId xmlns:a16="http://schemas.microsoft.com/office/drawing/2014/main" id="{728C0676-F018-4BD4-BE45-1B8653A8F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9829800" y="3876675"/>
            <a:ext cx="1447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000000"/>
            </a:solidFill>
            <a:prstDash val="solid"/>
          </a:ln>
        </p:spPr>
      </p:sp>
      <p:cxnSp>
        <p:nvCxnSpPr>
          <p:cNvPr id="56" name="candidate-arrow-56">
            <a:extLst xmlns:a="http://schemas.openxmlformats.org/drawingml/2006/main">
              <a:ext uri="{FF2B5EF4-FFF2-40B4-BE49-F238E27FC236}">
                <a16:creationId xmlns:a16="http://schemas.microsoft.com/office/drawing/2014/main" id="{B9292022-C993-4EE9-97D6-9C2F429FF423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9829800" y="3876675"/>
            <a:ext cx="0" cy="85725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000000"/>
            </a:solidFill>
            <a:prstDash val="solid"/>
            <a:tailEnd type="triangle" w="sm" len="sm"/>
          </a:ln>
        </p:spPr>
      </p:cxnSp>
      <p:sp>
        <p:nvSpPr>
          <p:cNvPr id="57" name="candidate-line-57">
            <a:extLst xmlns:a="http://schemas.openxmlformats.org/drawingml/2006/main">
              <a:ext uri="{FF2B5EF4-FFF2-40B4-BE49-F238E27FC236}">
                <a16:creationId xmlns:a16="http://schemas.microsoft.com/office/drawing/2014/main" id="{9A9CD527-066D-4C4B-AA7A-EF5330BA7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8372475" y="4105275"/>
            <a:ext cx="76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000000"/>
            </a:solidFill>
            <a:prstDash val="solid"/>
          </a:ln>
        </p:spPr>
      </p:sp>
      <p:sp>
        <p:nvSpPr>
          <p:cNvPr id="58" name="candidate-line-58">
            <a:extLst xmlns:a="http://schemas.openxmlformats.org/drawingml/2006/main">
              <a:ext uri="{FF2B5EF4-FFF2-40B4-BE49-F238E27FC236}">
                <a16:creationId xmlns:a16="http://schemas.microsoft.com/office/drawing/2014/main" id="{75169BDA-046C-4270-AAB1-635AAC500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8372475" y="2790825"/>
            <a:ext cx="0" cy="1314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000000"/>
            </a:solidFill>
            <a:prstDash val="solid"/>
          </a:ln>
        </p:spPr>
      </p:sp>
      <p:cxnSp>
        <p:nvCxnSpPr>
          <p:cNvPr id="59" name="candidate-arrow-59">
            <a:extLst xmlns:a="http://schemas.openxmlformats.org/drawingml/2006/main">
              <a:ext uri="{FF2B5EF4-FFF2-40B4-BE49-F238E27FC236}">
                <a16:creationId xmlns:a16="http://schemas.microsoft.com/office/drawing/2014/main" id="{961150CF-8A50-485F-8055-E473785ADD00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8372475" y="2790825"/>
            <a:ext cx="76200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000000"/>
            </a:solidFill>
            <a:prstDash val="solid"/>
            <a:tailEnd type="triangle" w="sm" len="sm"/>
          </a:ln>
        </p:spPr>
      </p:cxnSp>
      <p:cxnSp>
        <p:nvCxnSpPr>
          <p:cNvPr id="60" name="candidate-arrow-60">
            <a:extLst xmlns:a="http://schemas.openxmlformats.org/drawingml/2006/main">
              <a:ext uri="{FF2B5EF4-FFF2-40B4-BE49-F238E27FC236}">
                <a16:creationId xmlns:a16="http://schemas.microsoft.com/office/drawing/2014/main" id="{E3917F56-D8B4-44D8-B477-B13D728F3B21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8039100" y="36385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000000"/>
            </a:solidFill>
            <a:prstDash val="solid"/>
            <a:tailEnd type="triangle" w="sm" len="sm"/>
          </a:ln>
        </p:spPr>
      </p:cxnSp>
      <p:cxnSp>
        <p:nvCxnSpPr>
          <p:cNvPr id="61" name="candidate-arrow-61">
            <a:extLst xmlns:a="http://schemas.openxmlformats.org/drawingml/2006/main">
              <a:ext uri="{FF2B5EF4-FFF2-40B4-BE49-F238E27FC236}">
                <a16:creationId xmlns:a16="http://schemas.microsoft.com/office/drawing/2014/main" id="{D1121BF2-EAEF-489D-BB13-CB9E6D6F7E77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4095750" y="3267075"/>
            <a:ext cx="352425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000000"/>
            </a:solidFill>
            <a:prstDash val="solid"/>
            <a:tailEnd type="triangle" w="sm" len="sm"/>
          </a:ln>
        </p:spPr>
      </p:cxnSp>
      <p:sp>
        <p:nvSpPr>
          <p:cNvPr id="62" name="candidate-text-62">
            <a:extLst xmlns:a="http://schemas.openxmlformats.org/drawingml/2006/main">
              <a:ext uri="{FF2B5EF4-FFF2-40B4-BE49-F238E27FC236}">
                <a16:creationId xmlns:a16="http://schemas.microsoft.com/office/drawing/2014/main" id="{E4E90DCB-2579-43BE-BE11-2C9DBB392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4114800"/>
            <a:ext cx="34004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工序、站位和人员表示＋全局上下文</a:t>
            </a:r>
          </a:p>
        </p:txBody>
      </p:sp>
      <p:sp>
        <p:nvSpPr>
          <p:cNvPr id="63" name="candidate-box-63">
            <a:extLst xmlns:a="http://schemas.openxmlformats.org/drawingml/2006/main">
              <a:ext uri="{FF2B5EF4-FFF2-40B4-BE49-F238E27FC236}">
                <a16:creationId xmlns:a16="http://schemas.microsoft.com/office/drawing/2014/main" id="{B54D2467-9C10-4E59-A90D-DCF24D067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4524375"/>
            <a:ext cx="672465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00000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000000"/>
                </a:solidFill>
              </a:defRPr>
            </a:pPr>
            <a:r>
              <a:rPr b="1">
                <a:latin typeface="Droid Sans Fallback"/>
                <a:ea typeface="Droid Sans Fallback"/>
                <a:cs typeface="Droid Sans Fallback"/>
              </a:rPr>
              <a:t>完整动作</a:t>
            </a:r>
            <a:r>
              <a:rPr b="1">
                <a:latin typeface="Nimbus Roman"/>
                <a:ea typeface="Nimbus Roman"/>
                <a:cs typeface="Nimbus Roman"/>
              </a:rPr>
              <a:t> a = (</a:t>
            </a:r>
            <a:r>
              <a:rPr b="1">
                <a:latin typeface="Droid Sans Fallback"/>
                <a:ea typeface="Droid Sans Fallback"/>
                <a:cs typeface="Droid Sans Fallback"/>
              </a:rPr>
              <a:t>工序</a:t>
            </a:r>
            <a:r>
              <a:rPr b="1">
                <a:latin typeface="Nimbus Roman"/>
                <a:ea typeface="Nimbus Roman"/>
                <a:cs typeface="Nimbus Roman"/>
              </a:rPr>
              <a:t> i</a:t>
            </a:r>
            <a:r>
              <a:rPr b="1">
                <a:latin typeface="Droid Sans Fallback"/>
                <a:ea typeface="Droid Sans Fallback"/>
                <a:cs typeface="Droid Sans Fallback"/>
              </a:rPr>
              <a:t>，站位</a:t>
            </a:r>
            <a:r>
              <a:rPr b="1">
                <a:latin typeface="Nimbus Roman"/>
                <a:ea typeface="Nimbus Roman"/>
                <a:cs typeface="Nimbus Roman"/>
              </a:rPr>
              <a:t> m</a:t>
            </a:r>
            <a:r>
              <a:rPr b="1">
                <a:latin typeface="Droid Sans Fallback"/>
                <a:ea typeface="Droid Sans Fallback"/>
                <a:cs typeface="Droid Sans Fallback"/>
              </a:rPr>
              <a:t>，团队</a:t>
            </a:r>
            <a:r>
              <a:rPr b="1">
                <a:latin typeface="Nimbus Roman"/>
                <a:ea typeface="Nimbus Roman"/>
                <a:cs typeface="Nimbus Roman"/>
              </a:rPr>
              <a:t> W)</a:t>
            </a:r>
          </a:p>
        </p:txBody>
      </p:sp>
      <p:cxnSp>
        <p:nvCxnSpPr>
          <p:cNvPr id="64" name="candidate-arrow-64">
            <a:extLst xmlns:a="http://schemas.openxmlformats.org/drawingml/2006/main">
              <a:ext uri="{FF2B5EF4-FFF2-40B4-BE49-F238E27FC236}">
                <a16:creationId xmlns:a16="http://schemas.microsoft.com/office/drawing/2014/main" id="{724926F3-409B-46CC-AF12-12C0FFD63B6E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9829800" y="4238625"/>
            <a:ext cx="0" cy="28575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000000"/>
            </a:solidFill>
            <a:prstDash val="solid"/>
            <a:tailEnd type="triangle" w="sm" len="sm"/>
          </a:ln>
        </p:spPr>
      </p:cxnSp>
      <p:sp>
        <p:nvSpPr>
          <p:cNvPr id="65" name="candidate-text-65">
            <a:extLst xmlns:a="http://schemas.openxmlformats.org/drawingml/2006/main">
              <a:ext uri="{FF2B5EF4-FFF2-40B4-BE49-F238E27FC236}">
                <a16:creationId xmlns:a16="http://schemas.microsoft.com/office/drawing/2014/main" id="{4CF46F32-556E-4868-8202-39D6C80FC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075" y="4257675"/>
            <a:ext cx="1143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425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425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达到需求人数</a:t>
            </a:r>
          </a:p>
        </p:txBody>
      </p:sp>
      <p:sp>
        <p:nvSpPr>
          <p:cNvPr id="66" name="candidate-line-66">
            <a:extLst xmlns:a="http://schemas.openxmlformats.org/drawingml/2006/main">
              <a:ext uri="{FF2B5EF4-FFF2-40B4-BE49-F238E27FC236}">
                <a16:creationId xmlns:a16="http://schemas.microsoft.com/office/drawing/2014/main" id="{2CA02EAD-548A-4230-B469-6FDB10D40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715250" y="4876800"/>
            <a:ext cx="0" cy="2571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000000"/>
            </a:solidFill>
            <a:prstDash val="solid"/>
          </a:ln>
        </p:spPr>
      </p:sp>
      <p:sp>
        <p:nvSpPr>
          <p:cNvPr id="67" name="candidate-line-67">
            <a:extLst xmlns:a="http://schemas.openxmlformats.org/drawingml/2006/main">
              <a:ext uri="{FF2B5EF4-FFF2-40B4-BE49-F238E27FC236}">
                <a16:creationId xmlns:a16="http://schemas.microsoft.com/office/drawing/2014/main" id="{0D2338F1-4268-492A-9ED4-11EEA4983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2276475" y="5133975"/>
            <a:ext cx="54387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000000"/>
            </a:solidFill>
            <a:prstDash val="solid"/>
          </a:ln>
        </p:spPr>
      </p:sp>
      <p:cxnSp>
        <p:nvCxnSpPr>
          <p:cNvPr id="68" name="candidate-arrow-68">
            <a:extLst xmlns:a="http://schemas.openxmlformats.org/drawingml/2006/main">
              <a:ext uri="{FF2B5EF4-FFF2-40B4-BE49-F238E27FC236}">
                <a16:creationId xmlns:a16="http://schemas.microsoft.com/office/drawing/2014/main" id="{476402FF-CA36-43E9-9294-A6A878E55CF9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2276475" y="5133975"/>
            <a:ext cx="0" cy="123825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000000"/>
            </a:solidFill>
            <a:prstDash val="solid"/>
            <a:tailEnd type="triangle" w="sm" len="sm"/>
          </a:ln>
        </p:spPr>
      </p:cxnSp>
      <p:sp>
        <p:nvSpPr>
          <p:cNvPr id="69" name="candidate-box-69">
            <a:extLst xmlns:a="http://schemas.openxmlformats.org/drawingml/2006/main">
              <a:ext uri="{FF2B5EF4-FFF2-40B4-BE49-F238E27FC236}">
                <a16:creationId xmlns:a16="http://schemas.microsoft.com/office/drawing/2014/main" id="{723A816E-5CE2-413E-BFAE-02BCB9078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257800"/>
            <a:ext cx="3314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00000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725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可行时间分配</a:t>
            </a:r>
          </a:p>
          <a:p xmlns:a="http://schemas.openxmlformats.org/drawingml/2006/main">
            <a:pPr algn="ctr">
              <a:defRPr sz="1725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前驱完成＋人员日历</a:t>
            </a:r>
          </a:p>
        </p:txBody>
      </p:sp>
      <p:sp>
        <p:nvSpPr>
          <p:cNvPr id="70" name="candidate-box-70">
            <a:extLst xmlns:a="http://schemas.openxmlformats.org/drawingml/2006/main">
              <a:ext uri="{FF2B5EF4-FFF2-40B4-BE49-F238E27FC236}">
                <a16:creationId xmlns:a16="http://schemas.microsoft.com/office/drawing/2014/main" id="{4FAC835C-63D7-4FB7-B411-002651546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5257800"/>
            <a:ext cx="44005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00000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650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写入起止安排，更新人员占用</a:t>
            </a:r>
          </a:p>
          <a:p xmlns:a="http://schemas.openxmlformats.org/drawingml/2006/main">
            <a:pPr algn="ctr">
              <a:defRPr sz="1650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未绑定人员首次使用形成站位绑定</a:t>
            </a:r>
          </a:p>
        </p:txBody>
      </p:sp>
      <p:sp>
        <p:nvSpPr>
          <p:cNvPr id="71" name="candidate-box-71">
            <a:extLst xmlns:a="http://schemas.openxmlformats.org/drawingml/2006/main">
              <a:ext uri="{FF2B5EF4-FFF2-40B4-BE49-F238E27FC236}">
                <a16:creationId xmlns:a16="http://schemas.microsoft.com/office/drawing/2014/main" id="{ED656512-5E9E-4BE3-84C5-C33467A86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5257800"/>
            <a:ext cx="25812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00000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725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全部安排完成</a:t>
            </a:r>
          </a:p>
          <a:p xmlns:a="http://schemas.openxmlformats.org/drawingml/2006/main">
            <a:pPr algn="ctr">
              <a:defRPr sz="1725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输出基准排程</a:t>
            </a:r>
          </a:p>
        </p:txBody>
      </p:sp>
      <p:cxnSp>
        <p:nvCxnSpPr>
          <p:cNvPr id="72" name="candidate-arrow-72">
            <a:extLst xmlns:a="http://schemas.openxmlformats.org/drawingml/2006/main">
              <a:ext uri="{FF2B5EF4-FFF2-40B4-BE49-F238E27FC236}">
                <a16:creationId xmlns:a16="http://schemas.microsoft.com/office/drawing/2014/main" id="{3275ECC9-EDED-4DDA-86E5-FEE8DC144308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3933825" y="5534025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000000"/>
            </a:solidFill>
            <a:prstDash val="solid"/>
            <a:tailEnd type="triangle" w="sm" len="sm"/>
          </a:ln>
        </p:spPr>
      </p:cxnSp>
      <p:cxnSp>
        <p:nvCxnSpPr>
          <p:cNvPr id="73" name="candidate-arrow-73">
            <a:extLst xmlns:a="http://schemas.openxmlformats.org/drawingml/2006/main">
              <a:ext uri="{FF2B5EF4-FFF2-40B4-BE49-F238E27FC236}">
                <a16:creationId xmlns:a16="http://schemas.microsoft.com/office/drawing/2014/main" id="{4287A416-4393-4339-B321-C1E2782869F3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8639175" y="5534025"/>
            <a:ext cx="352425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000000"/>
            </a:solidFill>
            <a:prstDash val="solid"/>
            <a:tailEnd type="triangle" w="sm" len="sm"/>
          </a:ln>
        </p:spPr>
      </p:cxnSp>
      <p:sp>
        <p:nvSpPr>
          <p:cNvPr id="74" name="candidate-line-74">
            <a:extLst xmlns:a="http://schemas.openxmlformats.org/drawingml/2006/main">
              <a:ext uri="{FF2B5EF4-FFF2-40B4-BE49-F238E27FC236}">
                <a16:creationId xmlns:a16="http://schemas.microsoft.com/office/drawing/2014/main" id="{74167482-C2EF-4FF8-B419-8B12D2969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38900" y="5810250"/>
            <a:ext cx="0" cy="857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000000"/>
            </a:solidFill>
            <a:prstDash val="solid"/>
          </a:ln>
        </p:spPr>
      </p:sp>
      <p:sp>
        <p:nvSpPr>
          <p:cNvPr id="75" name="candidate-line-75">
            <a:extLst xmlns:a="http://schemas.openxmlformats.org/drawingml/2006/main">
              <a:ext uri="{FF2B5EF4-FFF2-40B4-BE49-F238E27FC236}">
                <a16:creationId xmlns:a16="http://schemas.microsoft.com/office/drawing/2014/main" id="{F20FCFAC-C163-4331-9873-8CF88D050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419100" y="5895975"/>
            <a:ext cx="6019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000000"/>
            </a:solidFill>
            <a:prstDash val="solid"/>
          </a:ln>
        </p:spPr>
      </p:sp>
      <p:sp>
        <p:nvSpPr>
          <p:cNvPr id="76" name="candidate-line-76">
            <a:extLst xmlns:a="http://schemas.openxmlformats.org/drawingml/2006/main">
              <a:ext uri="{FF2B5EF4-FFF2-40B4-BE49-F238E27FC236}">
                <a16:creationId xmlns:a16="http://schemas.microsoft.com/office/drawing/2014/main" id="{09903ACB-0F09-469B-BC78-7839DE4FE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419100" y="3267075"/>
            <a:ext cx="0" cy="2628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000000"/>
            </a:solidFill>
            <a:prstDash val="solid"/>
          </a:ln>
        </p:spPr>
      </p:sp>
      <p:cxnSp>
        <p:nvCxnSpPr>
          <p:cNvPr id="77" name="candidate-arrow-77">
            <a:extLst xmlns:a="http://schemas.openxmlformats.org/drawingml/2006/main">
              <a:ext uri="{FF2B5EF4-FFF2-40B4-BE49-F238E27FC236}">
                <a16:creationId xmlns:a16="http://schemas.microsoft.com/office/drawing/2014/main" id="{EA8AAC47-F725-4764-9E74-B209F3EB4095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419100" y="3267075"/>
            <a:ext cx="200025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000000"/>
            </a:solidFill>
            <a:prstDash val="solid"/>
            <a:tailEnd type="triangle" w="sm" len="sm"/>
          </a:ln>
        </p:spPr>
      </p:cxnSp>
      <p:sp>
        <p:nvSpPr>
          <p:cNvPr id="78" name="candidate-text-78">
            <a:extLst xmlns:a="http://schemas.openxmlformats.org/drawingml/2006/main">
              <a:ext uri="{FF2B5EF4-FFF2-40B4-BE49-F238E27FC236}">
                <a16:creationId xmlns:a16="http://schemas.microsoft.com/office/drawing/2014/main" id="{C047E4D3-68F0-4E8B-8E11-8CA11D0E2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019800"/>
            <a:ext cx="10953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75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000000"/>
                </a:solidFill>
              </a:defRPr>
            </a:pPr>
            <a:r>
              <a:rPr b="1">
                <a:latin typeface="Droid Sans Fallback"/>
                <a:ea typeface="Droid Sans Fallback"/>
                <a:cs typeface="Droid Sans Fallback"/>
              </a:rPr>
              <a:t>状态更新后继续构造；全部安排完成时输出基准排程</a:t>
            </a:r>
          </a:p>
        </p:txBody>
      </p:sp>
    </p:spTree>
    <p:extLst>
      <p:ext uri="{BB962C8B-B14F-4D97-AF65-F5344CB8AC3E}">
        <p14:creationId xmlns:p14="http://schemas.microsoft.com/office/powerpoint/2010/main" val="28623499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4" name="candidate-text-79">
            <a:extLst xmlns:a="http://schemas.openxmlformats.org/drawingml/2006/main">
              <a:ext uri="{FF2B5EF4-FFF2-40B4-BE49-F238E27FC236}">
                <a16:creationId xmlns:a16="http://schemas.microsoft.com/office/drawing/2014/main" id="{B2EEC587-60CD-4C54-92E1-CA8CEF28A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57175"/>
            <a:ext cx="112014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700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000000"/>
                </a:solidFill>
              </a:defRPr>
            </a:pPr>
            <a:r>
              <a:rPr b="1">
                <a:latin typeface="Droid Sans Fallback"/>
                <a:ea typeface="Droid Sans Fallback"/>
                <a:cs typeface="Droid Sans Fallback"/>
              </a:rPr>
              <a:t>技术路线一：同构图下的联合静态调度</a:t>
            </a:r>
          </a:p>
        </p:txBody>
      </p:sp>
      <p:sp>
        <p:nvSpPr>
          <p:cNvPr id="2" name="candidate-line-80">
            <a:extLst xmlns:a="http://schemas.openxmlformats.org/drawingml/2006/main">
              <a:ext uri="{FF2B5EF4-FFF2-40B4-BE49-F238E27FC236}">
                <a16:creationId xmlns:a16="http://schemas.microsoft.com/office/drawing/2014/main" id="{92D945F3-4949-4A6E-82B5-7524E4091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95300" y="8953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3" name="candidate-line-81">
            <a:extLst xmlns:a="http://schemas.openxmlformats.org/drawingml/2006/main">
              <a:ext uri="{FF2B5EF4-FFF2-40B4-BE49-F238E27FC236}">
                <a16:creationId xmlns:a16="http://schemas.microsoft.com/office/drawing/2014/main" id="{6C71261E-7C60-476E-A197-6718D1E3A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95300" y="6410325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000000"/>
            </a:solidFill>
            <a:prstDash val="solid"/>
          </a:ln>
        </p:spPr>
      </p:sp>
      <p:sp>
        <p:nvSpPr>
          <p:cNvPr id="4" name="candidate-text-82">
            <a:extLst xmlns:a="http://schemas.openxmlformats.org/drawingml/2006/main">
              <a:ext uri="{FF2B5EF4-FFF2-40B4-BE49-F238E27FC236}">
                <a16:creationId xmlns:a16="http://schemas.microsoft.com/office/drawing/2014/main" id="{AAC5D7A0-FA4D-45FF-A4B1-762610886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技术路线</a:t>
            </a:r>
          </a:p>
        </p:txBody>
      </p:sp>
      <p:sp>
        <p:nvSpPr>
          <p:cNvPr id="5" name="candidate-text-83">
            <a:extLst xmlns:a="http://schemas.openxmlformats.org/drawingml/2006/main">
              <a:ext uri="{FF2B5EF4-FFF2-40B4-BE49-F238E27FC236}">
                <a16:creationId xmlns:a16="http://schemas.microsoft.com/office/drawing/2014/main" id="{490805DE-3E05-4979-9AAC-61F4100D1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6457950"/>
            <a:ext cx="11525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350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000000"/>
                </a:solidFill>
              </a:defRPr>
            </a:pPr>
            <a:r>
              <a:rPr b="0">
                <a:latin typeface="Nimbus Roman"/>
                <a:ea typeface="Nimbus Roman"/>
                <a:cs typeface="Nimbus Roman"/>
              </a:rPr>
              <a:t>11A2</a:t>
            </a:r>
          </a:p>
        </p:txBody>
      </p:sp>
      <p:sp>
        <p:nvSpPr>
          <p:cNvPr id="6" name="candidate-text-84">
            <a:extLst xmlns:a="http://schemas.openxmlformats.org/drawingml/2006/main">
              <a:ext uri="{FF2B5EF4-FFF2-40B4-BE49-F238E27FC236}">
                <a16:creationId xmlns:a16="http://schemas.microsoft.com/office/drawing/2014/main" id="{4BA0E508-C49C-4B84-9AA8-D860B7135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38225"/>
            <a:ext cx="1095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000000"/>
                </a:solidFill>
              </a:defRPr>
            </a:pPr>
            <a:r>
              <a:rPr b="1">
                <a:latin typeface="Droid Sans Fallback"/>
                <a:ea typeface="Droid Sans Fallback"/>
                <a:cs typeface="Droid Sans Fallback"/>
              </a:rPr>
              <a:t>共享图表示同时提供工艺和资源信息，后续选择读取此前决定</a:t>
            </a:r>
          </a:p>
        </p:txBody>
      </p:sp>
      <p:sp>
        <p:nvSpPr>
          <p:cNvPr id="7" name="candidate-box-85">
            <a:extLst xmlns:a="http://schemas.openxmlformats.org/drawingml/2006/main">
              <a:ext uri="{FF2B5EF4-FFF2-40B4-BE49-F238E27FC236}">
                <a16:creationId xmlns:a16="http://schemas.microsoft.com/office/drawing/2014/main" id="{66AD7997-AF3D-4AE7-8802-A5390BDA3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81150"/>
            <a:ext cx="10953750" cy="1628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0000"/>
            </a:solidFill>
            <a:prstDash val="solid"/>
          </a:ln>
        </p:spPr>
      </p:sp>
      <p:sp>
        <p:nvSpPr>
          <p:cNvPr id="8" name="candidate-text-86">
            <a:extLst xmlns:a="http://schemas.openxmlformats.org/drawingml/2006/main">
              <a:ext uri="{FF2B5EF4-FFF2-40B4-BE49-F238E27FC236}">
                <a16:creationId xmlns:a16="http://schemas.microsoft.com/office/drawing/2014/main" id="{99EEB998-996A-4E97-9092-090681770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666875"/>
            <a:ext cx="10763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000000"/>
                </a:solidFill>
              </a:defRPr>
            </a:pPr>
            <a:r>
              <a:rPr b="1">
                <a:latin typeface="Nimbus Roman"/>
                <a:ea typeface="Nimbus Roman"/>
                <a:cs typeface="Nimbus Roman"/>
              </a:rPr>
              <a:t>1  </a:t>
            </a:r>
            <a:r>
              <a:rPr b="1">
                <a:latin typeface="Droid Sans Fallback"/>
                <a:ea typeface="Droid Sans Fallback"/>
                <a:cs typeface="Droid Sans Fallback"/>
              </a:rPr>
              <a:t>完整图与共享编码（局部结构示意）</a:t>
            </a:r>
          </a:p>
        </p:txBody>
      </p:sp>
      <p:sp>
        <p:nvSpPr>
          <p:cNvPr id="9" name="candidate-text-87">
            <a:extLst xmlns:a="http://schemas.openxmlformats.org/drawingml/2006/main">
              <a:ext uri="{FF2B5EF4-FFF2-40B4-BE49-F238E27FC236}">
                <a16:creationId xmlns:a16="http://schemas.microsoft.com/office/drawing/2014/main" id="{03361AE7-8738-4F99-B515-D7DE2951D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76450"/>
            <a:ext cx="276225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725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工序：前序、工时、人数</a:t>
            </a:r>
          </a:p>
          <a:p xmlns:a="http://schemas.openxmlformats.org/drawingml/2006/main">
            <a:pPr algn="ctr">
              <a:defRPr sz="1725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站位：负荷和当前安排</a:t>
            </a:r>
          </a:p>
          <a:p xmlns:a="http://schemas.openxmlformats.org/drawingml/2006/main">
            <a:pPr algn="ctr">
              <a:defRPr sz="1725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人员：资格、效率、日历</a:t>
            </a:r>
          </a:p>
        </p:txBody>
      </p:sp>
      <p:sp>
        <p:nvSpPr>
          <p:cNvPr id="10" name="candidate-line-88">
            <a:extLst xmlns:a="http://schemas.openxmlformats.org/drawingml/2006/main">
              <a:ext uri="{FF2B5EF4-FFF2-40B4-BE49-F238E27FC236}">
                <a16:creationId xmlns:a16="http://schemas.microsoft.com/office/drawing/2014/main" id="{DB019FB4-B25E-4255-A55E-44C65ABBC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171950" y="2286000"/>
            <a:ext cx="1057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000000"/>
            </a:solidFill>
            <a:prstDash val="solid"/>
          </a:ln>
        </p:spPr>
      </p:sp>
      <p:sp>
        <p:nvSpPr>
          <p:cNvPr id="11" name="candidate-line-89">
            <a:extLst xmlns:a="http://schemas.openxmlformats.org/drawingml/2006/main">
              <a:ext uri="{FF2B5EF4-FFF2-40B4-BE49-F238E27FC236}">
                <a16:creationId xmlns:a16="http://schemas.microsoft.com/office/drawing/2014/main" id="{09C5C33F-9393-4222-841B-8C95734D0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229225" y="2286000"/>
            <a:ext cx="1123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000000"/>
            </a:solidFill>
            <a:prstDash val="solid"/>
          </a:ln>
        </p:spPr>
      </p:sp>
      <p:sp>
        <p:nvSpPr>
          <p:cNvPr id="12" name="candidate-line-90">
            <a:extLst xmlns:a="http://schemas.openxmlformats.org/drawingml/2006/main">
              <a:ext uri="{FF2B5EF4-FFF2-40B4-BE49-F238E27FC236}">
                <a16:creationId xmlns:a16="http://schemas.microsoft.com/office/drawing/2014/main" id="{C4BBE04C-4BBE-498D-B74F-70E9BD8F6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171950" y="2286000"/>
            <a:ext cx="0" cy="619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000000"/>
            </a:solidFill>
            <a:prstDash val="solid"/>
          </a:ln>
        </p:spPr>
      </p:sp>
      <p:sp>
        <p:nvSpPr>
          <p:cNvPr id="13" name="candidate-line-91">
            <a:extLst xmlns:a="http://schemas.openxmlformats.org/drawingml/2006/main">
              <a:ext uri="{FF2B5EF4-FFF2-40B4-BE49-F238E27FC236}">
                <a16:creationId xmlns:a16="http://schemas.microsoft.com/office/drawing/2014/main" id="{227F0F39-23D7-4810-BA38-6E42DFDB6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4171950" y="2286000"/>
            <a:ext cx="1057275" cy="619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000000"/>
            </a:solidFill>
            <a:prstDash val="solid"/>
          </a:ln>
        </p:spPr>
      </p:sp>
      <p:sp>
        <p:nvSpPr>
          <p:cNvPr id="14" name="candidate-line-92">
            <a:extLst xmlns:a="http://schemas.openxmlformats.org/drawingml/2006/main">
              <a:ext uri="{FF2B5EF4-FFF2-40B4-BE49-F238E27FC236}">
                <a16:creationId xmlns:a16="http://schemas.microsoft.com/office/drawing/2014/main" id="{C28C62AC-9C69-4C8F-B6DA-BDF22B61E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171950" y="2905125"/>
            <a:ext cx="1057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000000"/>
            </a:solidFill>
            <a:prstDash val="solid"/>
          </a:ln>
        </p:spPr>
      </p:sp>
      <p:sp>
        <p:nvSpPr>
          <p:cNvPr id="15" name="candidate-line-93">
            <a:extLst xmlns:a="http://schemas.openxmlformats.org/drawingml/2006/main">
              <a:ext uri="{FF2B5EF4-FFF2-40B4-BE49-F238E27FC236}">
                <a16:creationId xmlns:a16="http://schemas.microsoft.com/office/drawing/2014/main" id="{E10B0778-1A95-42C4-A1AE-0B74E5B5C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229225" y="2905125"/>
            <a:ext cx="1123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000000"/>
            </a:solidFill>
            <a:prstDash val="solid"/>
          </a:ln>
        </p:spPr>
      </p:sp>
      <p:sp>
        <p:nvSpPr>
          <p:cNvPr id="16" name="candidate-line-94">
            <a:extLst xmlns:a="http://schemas.openxmlformats.org/drawingml/2006/main">
              <a:ext uri="{FF2B5EF4-FFF2-40B4-BE49-F238E27FC236}">
                <a16:creationId xmlns:a16="http://schemas.microsoft.com/office/drawing/2014/main" id="{985E28BD-5B7F-426E-9AA2-7AF492E7D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353175" y="2286000"/>
            <a:ext cx="0" cy="619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000000"/>
            </a:solidFill>
            <a:prstDash val="solid"/>
          </a:ln>
        </p:spPr>
      </p:sp>
      <p:sp>
        <p:nvSpPr>
          <p:cNvPr id="17" name="candidate-box-95">
            <a:extLst xmlns:a="http://schemas.openxmlformats.org/drawingml/2006/main">
              <a:ext uri="{FF2B5EF4-FFF2-40B4-BE49-F238E27FC236}">
                <a16:creationId xmlns:a16="http://schemas.microsoft.com/office/drawing/2014/main" id="{0572C65A-BBBB-42A3-8EE1-4725416B8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7163" y="2081213"/>
            <a:ext cx="409575" cy="409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00000"/>
            </a:solidFill>
            <a:prstDash val="solid"/>
          </a:ln>
        </p:spPr>
      </p:sp>
      <p:sp>
        <p:nvSpPr>
          <p:cNvPr id="18" name="candidate-text-96">
            <a:extLst xmlns:a="http://schemas.openxmlformats.org/drawingml/2006/main">
              <a:ext uri="{FF2B5EF4-FFF2-40B4-BE49-F238E27FC236}">
                <a16:creationId xmlns:a16="http://schemas.microsoft.com/office/drawing/2014/main" id="{5CE8CB9A-FC02-4D9E-83E3-2516CD9DB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7163" y="2081213"/>
            <a:ext cx="4095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00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500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工</a:t>
            </a:r>
            <a:r>
              <a:rPr b="0">
                <a:latin typeface="Nimbus Roman"/>
                <a:ea typeface="Nimbus Roman"/>
                <a:cs typeface="Nimbus Roman"/>
              </a:rPr>
              <a:t>1</a:t>
            </a:r>
          </a:p>
        </p:txBody>
      </p:sp>
      <p:sp>
        <p:nvSpPr>
          <p:cNvPr id="19" name="candidate-box-97">
            <a:extLst xmlns:a="http://schemas.openxmlformats.org/drawingml/2006/main">
              <a:ext uri="{FF2B5EF4-FFF2-40B4-BE49-F238E27FC236}">
                <a16:creationId xmlns:a16="http://schemas.microsoft.com/office/drawing/2014/main" id="{DC37F34D-CFC2-46E7-AB81-3226FB61F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4438" y="2081213"/>
            <a:ext cx="409575" cy="409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00000"/>
            </a:solidFill>
            <a:prstDash val="solid"/>
          </a:ln>
        </p:spPr>
      </p:sp>
      <p:sp>
        <p:nvSpPr>
          <p:cNvPr id="20" name="candidate-text-98">
            <a:extLst xmlns:a="http://schemas.openxmlformats.org/drawingml/2006/main">
              <a:ext uri="{FF2B5EF4-FFF2-40B4-BE49-F238E27FC236}">
                <a16:creationId xmlns:a16="http://schemas.microsoft.com/office/drawing/2014/main" id="{E65E73A7-E788-4360-808E-45CA43882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4438" y="2081213"/>
            <a:ext cx="4095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00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500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工</a:t>
            </a:r>
            <a:r>
              <a:rPr b="0">
                <a:latin typeface="Nimbus Roman"/>
                <a:ea typeface="Nimbus Roman"/>
                <a:cs typeface="Nimbus Roman"/>
              </a:rPr>
              <a:t>2</a:t>
            </a:r>
          </a:p>
        </p:txBody>
      </p:sp>
      <p:sp>
        <p:nvSpPr>
          <p:cNvPr id="21" name="candidate-box-99">
            <a:extLst xmlns:a="http://schemas.openxmlformats.org/drawingml/2006/main">
              <a:ext uri="{FF2B5EF4-FFF2-40B4-BE49-F238E27FC236}">
                <a16:creationId xmlns:a16="http://schemas.microsoft.com/office/drawing/2014/main" id="{F0B60D09-6F82-4346-AB4B-5A4106DF9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8388" y="2081213"/>
            <a:ext cx="409575" cy="409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00000"/>
            </a:solidFill>
            <a:prstDash val="solid"/>
          </a:ln>
        </p:spPr>
      </p:sp>
      <p:sp>
        <p:nvSpPr>
          <p:cNvPr id="22" name="candidate-text-100">
            <a:extLst xmlns:a="http://schemas.openxmlformats.org/drawingml/2006/main">
              <a:ext uri="{FF2B5EF4-FFF2-40B4-BE49-F238E27FC236}">
                <a16:creationId xmlns:a16="http://schemas.microsoft.com/office/drawing/2014/main" id="{0DB90C30-C43E-4685-B5F3-B4EA41E81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8388" y="2081213"/>
            <a:ext cx="4095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00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500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工</a:t>
            </a:r>
            <a:r>
              <a:rPr b="0">
                <a:latin typeface="Nimbus Roman"/>
                <a:ea typeface="Nimbus Roman"/>
                <a:cs typeface="Nimbus Roman"/>
              </a:rPr>
              <a:t>3</a:t>
            </a:r>
          </a:p>
        </p:txBody>
      </p:sp>
      <p:sp>
        <p:nvSpPr>
          <p:cNvPr id="23" name="candidate-box-101">
            <a:extLst xmlns:a="http://schemas.openxmlformats.org/drawingml/2006/main">
              <a:ext uri="{FF2B5EF4-FFF2-40B4-BE49-F238E27FC236}">
                <a16:creationId xmlns:a16="http://schemas.microsoft.com/office/drawing/2014/main" id="{28D17A97-3AAD-479D-8EBD-FBB1BE370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7163" y="2700338"/>
            <a:ext cx="409575" cy="409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00000"/>
            </a:solidFill>
            <a:prstDash val="solid"/>
          </a:ln>
        </p:spPr>
      </p:sp>
      <p:sp>
        <p:nvSpPr>
          <p:cNvPr id="24" name="candidate-text-102">
            <a:extLst xmlns:a="http://schemas.openxmlformats.org/drawingml/2006/main">
              <a:ext uri="{FF2B5EF4-FFF2-40B4-BE49-F238E27FC236}">
                <a16:creationId xmlns:a16="http://schemas.microsoft.com/office/drawing/2014/main" id="{A5312415-5E74-4FAC-83AC-5E7F414C3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7163" y="2700338"/>
            <a:ext cx="4095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00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500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站</a:t>
            </a:r>
            <a:r>
              <a:rPr b="0">
                <a:latin typeface="Nimbus Roman"/>
                <a:ea typeface="Nimbus Roman"/>
                <a:cs typeface="Nimbus Roman"/>
              </a:rPr>
              <a:t>1</a:t>
            </a:r>
          </a:p>
        </p:txBody>
      </p:sp>
      <p:sp>
        <p:nvSpPr>
          <p:cNvPr id="25" name="candidate-box-103">
            <a:extLst xmlns:a="http://schemas.openxmlformats.org/drawingml/2006/main">
              <a:ext uri="{FF2B5EF4-FFF2-40B4-BE49-F238E27FC236}">
                <a16:creationId xmlns:a16="http://schemas.microsoft.com/office/drawing/2014/main" id="{88238ECD-BBE4-47E8-BA74-BAC9C5230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4438" y="2700338"/>
            <a:ext cx="409575" cy="409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00000"/>
            </a:solidFill>
            <a:prstDash val="solid"/>
          </a:ln>
        </p:spPr>
      </p:sp>
      <p:sp>
        <p:nvSpPr>
          <p:cNvPr id="26" name="candidate-text-104">
            <a:extLst xmlns:a="http://schemas.openxmlformats.org/drawingml/2006/main">
              <a:ext uri="{FF2B5EF4-FFF2-40B4-BE49-F238E27FC236}">
                <a16:creationId xmlns:a16="http://schemas.microsoft.com/office/drawing/2014/main" id="{4CC58C98-12A3-4336-9CC1-79C525B3C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4438" y="2700338"/>
            <a:ext cx="4095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00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500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人</a:t>
            </a:r>
            <a:r>
              <a:rPr b="0">
                <a:latin typeface="Nimbus Roman"/>
                <a:ea typeface="Nimbus Roman"/>
                <a:cs typeface="Nimbus Roman"/>
              </a:rPr>
              <a:t>1</a:t>
            </a:r>
          </a:p>
        </p:txBody>
      </p:sp>
      <p:sp>
        <p:nvSpPr>
          <p:cNvPr id="27" name="candidate-box-105">
            <a:extLst xmlns:a="http://schemas.openxmlformats.org/drawingml/2006/main">
              <a:ext uri="{FF2B5EF4-FFF2-40B4-BE49-F238E27FC236}">
                <a16:creationId xmlns:a16="http://schemas.microsoft.com/office/drawing/2014/main" id="{823E4681-0D85-461E-BB2D-9FADF20D7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8388" y="2700338"/>
            <a:ext cx="409575" cy="409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00000"/>
            </a:solidFill>
            <a:prstDash val="solid"/>
          </a:ln>
        </p:spPr>
      </p:sp>
      <p:sp>
        <p:nvSpPr>
          <p:cNvPr id="28" name="candidate-text-106">
            <a:extLst xmlns:a="http://schemas.openxmlformats.org/drawingml/2006/main">
              <a:ext uri="{FF2B5EF4-FFF2-40B4-BE49-F238E27FC236}">
                <a16:creationId xmlns:a16="http://schemas.microsoft.com/office/drawing/2014/main" id="{A89D1C7E-ABFD-4D57-BFC7-8CB3A3A0C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8388" y="2700338"/>
            <a:ext cx="4095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00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500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站</a:t>
            </a:r>
            <a:r>
              <a:rPr b="0">
                <a:latin typeface="Nimbus Roman"/>
                <a:ea typeface="Nimbus Roman"/>
                <a:cs typeface="Nimbus Roman"/>
              </a:rPr>
              <a:t>2</a:t>
            </a:r>
          </a:p>
        </p:txBody>
      </p:sp>
      <p:sp>
        <p:nvSpPr>
          <p:cNvPr id="29" name="candidate-box-107">
            <a:extLst xmlns:a="http://schemas.openxmlformats.org/drawingml/2006/main">
              <a:ext uri="{FF2B5EF4-FFF2-40B4-BE49-F238E27FC236}">
                <a16:creationId xmlns:a16="http://schemas.microsoft.com/office/drawing/2014/main" id="{9C27FCDC-070F-48AA-A40C-C587E5A95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2095500"/>
            <a:ext cx="19145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00000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650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共享传播规则与参数</a:t>
            </a:r>
          </a:p>
          <a:p xmlns:a="http://schemas.openxmlformats.org/drawingml/2006/main">
            <a:pPr algn="ctr">
              <a:defRPr sz="1650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角色和状态作为属性</a:t>
            </a:r>
          </a:p>
        </p:txBody>
      </p:sp>
      <p:sp>
        <p:nvSpPr>
          <p:cNvPr id="30" name="candidate-box-108">
            <a:extLst xmlns:a="http://schemas.openxmlformats.org/drawingml/2006/main">
              <a:ext uri="{FF2B5EF4-FFF2-40B4-BE49-F238E27FC236}">
                <a16:creationId xmlns:a16="http://schemas.microsoft.com/office/drawing/2014/main" id="{49A80B9B-AE19-4C55-B2A3-8BB6F0171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3575" y="2095500"/>
            <a:ext cx="18097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00000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725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节点表示</a:t>
            </a:r>
          </a:p>
          <a:p xmlns:a="http://schemas.openxmlformats.org/drawingml/2006/main">
            <a:pPr algn="ctr">
              <a:defRPr sz="1725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全局上下文</a:t>
            </a:r>
          </a:p>
        </p:txBody>
      </p:sp>
      <p:cxnSp>
        <p:nvCxnSpPr>
          <p:cNvPr id="31" name="candidate-arrow-109">
            <a:extLst xmlns:a="http://schemas.openxmlformats.org/drawingml/2006/main">
              <a:ext uri="{FF2B5EF4-FFF2-40B4-BE49-F238E27FC236}">
                <a16:creationId xmlns:a16="http://schemas.microsoft.com/office/drawing/2014/main" id="{B1130DA7-F3B7-48FE-9567-81712510A784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67525" y="2495550"/>
            <a:ext cx="4572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000000"/>
            </a:solidFill>
            <a:prstDash val="solid"/>
            <a:tailEnd type="triangle" w="sm" len="sm"/>
          </a:ln>
        </p:spPr>
      </p:cxnSp>
      <p:cxnSp>
        <p:nvCxnSpPr>
          <p:cNvPr id="32" name="candidate-arrow-110">
            <a:extLst xmlns:a="http://schemas.openxmlformats.org/drawingml/2006/main">
              <a:ext uri="{FF2B5EF4-FFF2-40B4-BE49-F238E27FC236}">
                <a16:creationId xmlns:a16="http://schemas.microsoft.com/office/drawing/2014/main" id="{A127A34C-E9A6-435D-9F04-93BD20A16F83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9239250" y="2495550"/>
            <a:ext cx="314325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000000"/>
            </a:solidFill>
            <a:prstDash val="solid"/>
            <a:tailEnd type="triangle" w="sm" len="sm"/>
          </a:ln>
        </p:spPr>
      </p:cxnSp>
      <p:sp>
        <p:nvSpPr>
          <p:cNvPr id="33" name="candidate-line-111">
            <a:extLst xmlns:a="http://schemas.openxmlformats.org/drawingml/2006/main">
              <a:ext uri="{FF2B5EF4-FFF2-40B4-BE49-F238E27FC236}">
                <a16:creationId xmlns:a16="http://schemas.microsoft.com/office/drawing/2014/main" id="{31B185F5-E543-450E-8380-6B31F084B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458450" y="2895600"/>
            <a:ext cx="0" cy="495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000000"/>
            </a:solidFill>
            <a:prstDash val="solid"/>
          </a:ln>
        </p:spPr>
      </p:sp>
      <p:sp>
        <p:nvSpPr>
          <p:cNvPr id="34" name="candidate-line-112">
            <a:extLst xmlns:a="http://schemas.openxmlformats.org/drawingml/2006/main">
              <a:ext uri="{FF2B5EF4-FFF2-40B4-BE49-F238E27FC236}">
                <a16:creationId xmlns:a16="http://schemas.microsoft.com/office/drawing/2014/main" id="{C4B59758-47BE-4E1B-B6EF-CFAEFE31B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819275" y="3390900"/>
            <a:ext cx="86391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000000"/>
            </a:solidFill>
            <a:prstDash val="solid"/>
          </a:ln>
        </p:spPr>
      </p:sp>
      <p:cxnSp>
        <p:nvCxnSpPr>
          <p:cNvPr id="35" name="candidate-arrow-113">
            <a:extLst xmlns:a="http://schemas.openxmlformats.org/drawingml/2006/main">
              <a:ext uri="{FF2B5EF4-FFF2-40B4-BE49-F238E27FC236}">
                <a16:creationId xmlns:a16="http://schemas.microsoft.com/office/drawing/2014/main" id="{604823DC-59A3-4981-AA26-4CC5106E9256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819275" y="3390900"/>
            <a:ext cx="0" cy="17145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000000"/>
            </a:solidFill>
            <a:prstDash val="solid"/>
            <a:tailEnd type="triangle" w="sm" len="sm"/>
          </a:ln>
        </p:spPr>
      </p:cxnSp>
      <p:cxnSp>
        <p:nvCxnSpPr>
          <p:cNvPr id="36" name="candidate-arrow-114">
            <a:extLst xmlns:a="http://schemas.openxmlformats.org/drawingml/2006/main">
              <a:ext uri="{FF2B5EF4-FFF2-40B4-BE49-F238E27FC236}">
                <a16:creationId xmlns:a16="http://schemas.microsoft.com/office/drawing/2014/main" id="{6B6D1E39-DC5F-4208-99EF-5F5F0BA9AC72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4476750" y="3390900"/>
            <a:ext cx="0" cy="17145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000000"/>
            </a:solidFill>
            <a:prstDash val="solid"/>
            <a:tailEnd type="triangle" w="sm" len="sm"/>
          </a:ln>
        </p:spPr>
      </p:cxnSp>
      <p:cxnSp>
        <p:nvCxnSpPr>
          <p:cNvPr id="37" name="candidate-arrow-115">
            <a:extLst xmlns:a="http://schemas.openxmlformats.org/drawingml/2006/main">
              <a:ext uri="{FF2B5EF4-FFF2-40B4-BE49-F238E27FC236}">
                <a16:creationId xmlns:a16="http://schemas.microsoft.com/office/drawing/2014/main" id="{89E0E6FD-1193-40AE-8F39-C6B716930D2B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8829675" y="3390900"/>
            <a:ext cx="0" cy="17145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000000"/>
            </a:solidFill>
            <a:prstDash val="solid"/>
            <a:tailEnd type="triangle" w="sm" len="sm"/>
          </a:ln>
        </p:spPr>
      </p:cxnSp>
      <p:sp>
        <p:nvSpPr>
          <p:cNvPr id="38" name="candidate-box-116">
            <a:extLst xmlns:a="http://schemas.openxmlformats.org/drawingml/2006/main">
              <a:ext uri="{FF2B5EF4-FFF2-40B4-BE49-F238E27FC236}">
                <a16:creationId xmlns:a16="http://schemas.microsoft.com/office/drawing/2014/main" id="{3CB039AB-35DD-4CD8-9ADE-5FEECEC33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562350"/>
            <a:ext cx="238125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0000"/>
            </a:solidFill>
            <a:prstDash val="solid"/>
          </a:ln>
        </p:spPr>
      </p:sp>
      <p:sp>
        <p:nvSpPr>
          <p:cNvPr id="39" name="candidate-text-117">
            <a:extLst xmlns:a="http://schemas.openxmlformats.org/drawingml/2006/main">
              <a:ext uri="{FF2B5EF4-FFF2-40B4-BE49-F238E27FC236}">
                <a16:creationId xmlns:a16="http://schemas.microsoft.com/office/drawing/2014/main" id="{29C56882-DDE1-40D3-AA8C-66813892B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648075"/>
            <a:ext cx="2190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000000"/>
                </a:solidFill>
              </a:defRPr>
            </a:pPr>
            <a:r>
              <a:rPr b="1">
                <a:latin typeface="Nimbus Roman"/>
                <a:ea typeface="Nimbus Roman"/>
                <a:cs typeface="Nimbus Roman"/>
              </a:rPr>
              <a:t>2  </a:t>
            </a:r>
            <a:r>
              <a:rPr b="1">
                <a:latin typeface="Droid Sans Fallback"/>
                <a:ea typeface="Droid Sans Fallback"/>
                <a:cs typeface="Droid Sans Fallback"/>
              </a:rPr>
              <a:t>选择工序</a:t>
            </a:r>
            <a:r>
              <a:rPr b="1">
                <a:latin typeface="Nimbus Roman"/>
                <a:ea typeface="Nimbus Roman"/>
                <a:cs typeface="Nimbus Roman"/>
              </a:rPr>
              <a:t> i</a:t>
            </a:r>
          </a:p>
        </p:txBody>
      </p:sp>
      <p:sp>
        <p:nvSpPr>
          <p:cNvPr id="40" name="candidate-text-118">
            <a:extLst xmlns:a="http://schemas.openxmlformats.org/drawingml/2006/main">
              <a:ext uri="{FF2B5EF4-FFF2-40B4-BE49-F238E27FC236}">
                <a16:creationId xmlns:a16="http://schemas.microsoft.com/office/drawing/2014/main" id="{F6011511-2F6E-476D-A6EC-C594580F5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19550"/>
            <a:ext cx="21336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650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合法工序候选</a:t>
            </a:r>
          </a:p>
          <a:p xmlns:a="http://schemas.openxmlformats.org/drawingml/2006/main">
            <a:pPr algn="ctr">
              <a:defRPr sz="1650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前序与当前安排</a:t>
            </a:r>
          </a:p>
        </p:txBody>
      </p:sp>
      <p:sp>
        <p:nvSpPr>
          <p:cNvPr id="41" name="candidate-box-119">
            <a:extLst xmlns:a="http://schemas.openxmlformats.org/drawingml/2006/main">
              <a:ext uri="{FF2B5EF4-FFF2-40B4-BE49-F238E27FC236}">
                <a16:creationId xmlns:a16="http://schemas.microsoft.com/office/drawing/2014/main" id="{AF7EA4E6-BFA2-4C7A-898C-059C0A1D3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629150"/>
            <a:ext cx="207645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00000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000000"/>
                </a:solidFill>
              </a:defRPr>
            </a:pPr>
            <a:r>
              <a:rPr b="1">
                <a:latin typeface="Droid Sans Fallback"/>
                <a:ea typeface="Droid Sans Fallback"/>
                <a:cs typeface="Droid Sans Fallback"/>
              </a:rPr>
              <a:t>选择工序</a:t>
            </a:r>
            <a:r>
              <a:rPr b="1">
                <a:latin typeface="Nimbus Roman"/>
                <a:ea typeface="Nimbus Roman"/>
                <a:cs typeface="Nimbus Roman"/>
              </a:rPr>
              <a:t> i</a:t>
            </a:r>
          </a:p>
        </p:txBody>
      </p:sp>
      <p:sp>
        <p:nvSpPr>
          <p:cNvPr id="42" name="candidate-box-120">
            <a:extLst xmlns:a="http://schemas.openxmlformats.org/drawingml/2006/main">
              <a:ext uri="{FF2B5EF4-FFF2-40B4-BE49-F238E27FC236}">
                <a16:creationId xmlns:a16="http://schemas.microsoft.com/office/drawing/2014/main" id="{E7178CF0-8EAA-41A6-992D-3BC73FA5B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3562350"/>
            <a:ext cx="2390775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0000"/>
            </a:solidFill>
            <a:prstDash val="solid"/>
          </a:ln>
        </p:spPr>
      </p:sp>
      <p:sp>
        <p:nvSpPr>
          <p:cNvPr id="43" name="candidate-text-121">
            <a:extLst xmlns:a="http://schemas.openxmlformats.org/drawingml/2006/main">
              <a:ext uri="{FF2B5EF4-FFF2-40B4-BE49-F238E27FC236}">
                <a16:creationId xmlns:a16="http://schemas.microsoft.com/office/drawing/2014/main" id="{ED2CE206-7D5B-4F3F-9AF9-41E63C0C3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3648075"/>
            <a:ext cx="22002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000000"/>
                </a:solidFill>
              </a:defRPr>
            </a:pPr>
            <a:r>
              <a:rPr b="1">
                <a:latin typeface="Nimbus Roman"/>
                <a:ea typeface="Nimbus Roman"/>
                <a:cs typeface="Nimbus Roman"/>
              </a:rPr>
              <a:t>3  </a:t>
            </a:r>
            <a:r>
              <a:rPr b="1">
                <a:latin typeface="Droid Sans Fallback"/>
                <a:ea typeface="Droid Sans Fallback"/>
                <a:cs typeface="Droid Sans Fallback"/>
              </a:rPr>
              <a:t>选择站位</a:t>
            </a:r>
            <a:r>
              <a:rPr b="1">
                <a:latin typeface="Nimbus Roman"/>
                <a:ea typeface="Nimbus Roman"/>
                <a:cs typeface="Nimbus Roman"/>
              </a:rPr>
              <a:t> m</a:t>
            </a:r>
          </a:p>
        </p:txBody>
      </p:sp>
      <p:sp>
        <p:nvSpPr>
          <p:cNvPr id="44" name="candidate-text-122">
            <a:extLst xmlns:a="http://schemas.openxmlformats.org/drawingml/2006/main">
              <a:ext uri="{FF2B5EF4-FFF2-40B4-BE49-F238E27FC236}">
                <a16:creationId xmlns:a16="http://schemas.microsoft.com/office/drawing/2014/main" id="{7621A646-4D5C-4D7B-B0B0-125B6AF50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4019550"/>
            <a:ext cx="21145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650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以</a:t>
            </a:r>
            <a:r>
              <a:rPr b="0">
                <a:latin typeface="Nimbus Roman"/>
                <a:ea typeface="Nimbus Roman"/>
                <a:cs typeface="Nimbus Roman"/>
              </a:rPr>
              <a:t> i </a:t>
            </a:r>
            <a:r>
              <a:rPr b="0">
                <a:latin typeface="Droid Sans Fallback"/>
                <a:ea typeface="Droid Sans Fallback"/>
                <a:cs typeface="Droid Sans Fallback"/>
              </a:rPr>
              <a:t>为条件</a:t>
            </a:r>
          </a:p>
          <a:p xmlns:a="http://schemas.openxmlformats.org/drawingml/2006/main">
            <a:pPr algn="ctr">
              <a:defRPr sz="1650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检查站位与资源候选</a:t>
            </a:r>
          </a:p>
        </p:txBody>
      </p:sp>
      <p:sp>
        <p:nvSpPr>
          <p:cNvPr id="45" name="candidate-box-123">
            <a:extLst xmlns:a="http://schemas.openxmlformats.org/drawingml/2006/main">
              <a:ext uri="{FF2B5EF4-FFF2-40B4-BE49-F238E27FC236}">
                <a16:creationId xmlns:a16="http://schemas.microsoft.com/office/drawing/2014/main" id="{4EAB2754-6E93-4FD8-9162-43370BDA4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629150"/>
            <a:ext cx="207645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00000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000000"/>
                </a:solidFill>
              </a:defRPr>
            </a:pPr>
            <a:r>
              <a:rPr b="1">
                <a:latin typeface="Droid Sans Fallback"/>
                <a:ea typeface="Droid Sans Fallback"/>
                <a:cs typeface="Droid Sans Fallback"/>
              </a:rPr>
              <a:t>选择站位</a:t>
            </a:r>
            <a:r>
              <a:rPr b="1">
                <a:latin typeface="Nimbus Roman"/>
                <a:ea typeface="Nimbus Roman"/>
                <a:cs typeface="Nimbus Roman"/>
              </a:rPr>
              <a:t> m</a:t>
            </a:r>
          </a:p>
        </p:txBody>
      </p:sp>
      <p:cxnSp>
        <p:nvCxnSpPr>
          <p:cNvPr id="46" name="candidate-arrow-124">
            <a:extLst xmlns:a="http://schemas.openxmlformats.org/drawingml/2006/main">
              <a:ext uri="{FF2B5EF4-FFF2-40B4-BE49-F238E27FC236}">
                <a16:creationId xmlns:a16="http://schemas.microsoft.com/office/drawing/2014/main" id="{E14A3371-2D9C-4843-B8BC-C6277B203D08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3000375" y="4629150"/>
            <a:ext cx="32385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000000"/>
            </a:solidFill>
            <a:prstDash val="solid"/>
            <a:tailEnd type="triangle" w="sm" len="sm"/>
          </a:ln>
        </p:spPr>
      </p:cxnSp>
      <p:sp>
        <p:nvSpPr>
          <p:cNvPr id="47" name="candidate-box-125">
            <a:extLst xmlns:a="http://schemas.openxmlformats.org/drawingml/2006/main">
              <a:ext uri="{FF2B5EF4-FFF2-40B4-BE49-F238E27FC236}">
                <a16:creationId xmlns:a16="http://schemas.microsoft.com/office/drawing/2014/main" id="{670E194D-A7A0-42F9-ABC9-98A6FD1D7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562350"/>
            <a:ext cx="552450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0000"/>
            </a:solidFill>
            <a:prstDash val="solid"/>
          </a:ln>
        </p:spPr>
      </p:sp>
      <p:sp>
        <p:nvSpPr>
          <p:cNvPr id="48" name="candidate-text-126">
            <a:extLst xmlns:a="http://schemas.openxmlformats.org/drawingml/2006/main">
              <a:ext uri="{FF2B5EF4-FFF2-40B4-BE49-F238E27FC236}">
                <a16:creationId xmlns:a16="http://schemas.microsoft.com/office/drawing/2014/main" id="{3FF4069B-AB5A-4262-A813-5BE0CDC75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648075"/>
            <a:ext cx="5334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000000"/>
                </a:solidFill>
              </a:defRPr>
            </a:pPr>
            <a:r>
              <a:rPr b="1">
                <a:latin typeface="Nimbus Roman"/>
                <a:ea typeface="Nimbus Roman"/>
                <a:cs typeface="Nimbus Roman"/>
              </a:rPr>
              <a:t>4  </a:t>
            </a:r>
            <a:r>
              <a:rPr b="1">
                <a:latin typeface="Droid Sans Fallback"/>
                <a:ea typeface="Droid Sans Fallback"/>
                <a:cs typeface="Droid Sans Fallback"/>
              </a:rPr>
              <a:t>逐人构造具体团队</a:t>
            </a:r>
            <a:r>
              <a:rPr b="1">
                <a:latin typeface="Nimbus Roman"/>
                <a:ea typeface="Nimbus Roman"/>
                <a:cs typeface="Nimbus Roman"/>
              </a:rPr>
              <a:t> W</a:t>
            </a:r>
          </a:p>
        </p:txBody>
      </p:sp>
      <p:sp>
        <p:nvSpPr>
          <p:cNvPr id="49" name="candidate-box-127">
            <a:extLst xmlns:a="http://schemas.openxmlformats.org/drawingml/2006/main">
              <a:ext uri="{FF2B5EF4-FFF2-40B4-BE49-F238E27FC236}">
                <a16:creationId xmlns:a16="http://schemas.microsoft.com/office/drawing/2014/main" id="{46E9A04B-1499-4B4F-A2BE-DBBAC4E44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4048125"/>
            <a:ext cx="1600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00000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650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读取</a:t>
            </a:r>
            <a:r>
              <a:rPr b="0">
                <a:latin typeface="Nimbus Roman"/>
                <a:ea typeface="Nimbus Roman"/>
                <a:cs typeface="Nimbus Roman"/>
              </a:rPr>
              <a:t> i</a:t>
            </a:r>
            <a:r>
              <a:rPr b="0">
                <a:latin typeface="Droid Sans Fallback"/>
                <a:ea typeface="Droid Sans Fallback"/>
                <a:cs typeface="Droid Sans Fallback"/>
              </a:rPr>
              <a:t>、</a:t>
            </a:r>
            <a:r>
              <a:rPr b="0">
                <a:latin typeface="Nimbus Roman"/>
                <a:ea typeface="Nimbus Roman"/>
                <a:cs typeface="Nimbus Roman"/>
              </a:rPr>
              <a:t>m</a:t>
            </a:r>
          </a:p>
          <a:p xmlns:a="http://schemas.openxmlformats.org/drawingml/2006/main">
            <a:pPr algn="ctr">
              <a:defRPr sz="1650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与已选成员</a:t>
            </a:r>
          </a:p>
        </p:txBody>
      </p:sp>
      <p:sp>
        <p:nvSpPr>
          <p:cNvPr id="50" name="candidate-box-128">
            <a:extLst xmlns:a="http://schemas.openxmlformats.org/drawingml/2006/main">
              <a:ext uri="{FF2B5EF4-FFF2-40B4-BE49-F238E27FC236}">
                <a16:creationId xmlns:a16="http://schemas.microsoft.com/office/drawing/2014/main" id="{F3A362AB-6C4F-4194-9458-ED5BF10BF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4048125"/>
            <a:ext cx="16668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00000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000000"/>
                </a:solidFill>
              </a:defRPr>
            </a:pPr>
            <a:r>
              <a:rPr b="1">
                <a:latin typeface="Droid Sans Fallback"/>
                <a:ea typeface="Droid Sans Fallback"/>
                <a:cs typeface="Droid Sans Fallback"/>
              </a:rPr>
              <a:t>选择一名成员</a:t>
            </a:r>
          </a:p>
        </p:txBody>
      </p:sp>
      <p:sp>
        <p:nvSpPr>
          <p:cNvPr id="51" name="candidate-box-129">
            <a:extLst xmlns:a="http://schemas.openxmlformats.org/drawingml/2006/main">
              <a:ext uri="{FF2B5EF4-FFF2-40B4-BE49-F238E27FC236}">
                <a16:creationId xmlns:a16="http://schemas.microsoft.com/office/drawing/2014/main" id="{A05D7AE2-BB4A-4D16-B550-21FF2AC15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0775" y="4048125"/>
            <a:ext cx="13811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00000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650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加入团队</a:t>
            </a:r>
          </a:p>
          <a:p xmlns:a="http://schemas.openxmlformats.org/drawingml/2006/main">
            <a:pPr algn="ctr">
              <a:defRPr sz="1650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更新候选</a:t>
            </a:r>
          </a:p>
        </p:txBody>
      </p:sp>
      <p:cxnSp>
        <p:nvCxnSpPr>
          <p:cNvPr id="52" name="candidate-arrow-130">
            <a:extLst xmlns:a="http://schemas.openxmlformats.org/drawingml/2006/main">
              <a:ext uri="{FF2B5EF4-FFF2-40B4-BE49-F238E27FC236}">
                <a16:creationId xmlns:a16="http://schemas.microsoft.com/office/drawing/2014/main" id="{DC2B1E53-6E2C-4FC2-8EFD-5E24764A7EDF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7800975" y="4305300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000000"/>
            </a:solidFill>
            <a:prstDash val="solid"/>
            <a:tailEnd type="triangle" w="sm" len="sm"/>
          </a:ln>
        </p:spPr>
      </p:cxnSp>
      <p:cxnSp>
        <p:nvCxnSpPr>
          <p:cNvPr id="53" name="candidate-arrow-131">
            <a:extLst xmlns:a="http://schemas.openxmlformats.org/drawingml/2006/main">
              <a:ext uri="{FF2B5EF4-FFF2-40B4-BE49-F238E27FC236}">
                <a16:creationId xmlns:a16="http://schemas.microsoft.com/office/drawing/2014/main" id="{EC5E1539-0509-465C-9AE6-C1548949F94F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9734550" y="4305300"/>
            <a:ext cx="276225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000000"/>
            </a:solidFill>
            <a:prstDash val="solid"/>
            <a:tailEnd type="triangle" w="sm" len="sm"/>
          </a:ln>
        </p:spPr>
      </p:cxnSp>
      <p:cxnSp>
        <p:nvCxnSpPr>
          <p:cNvPr id="54" name="candidate-arrow-132">
            <a:extLst xmlns:a="http://schemas.openxmlformats.org/drawingml/2006/main">
              <a:ext uri="{FF2B5EF4-FFF2-40B4-BE49-F238E27FC236}">
                <a16:creationId xmlns:a16="http://schemas.microsoft.com/office/drawing/2014/main" id="{0FC82D29-2E26-434D-A4E8-172D91218333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5715000" y="4629150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000000"/>
            </a:solidFill>
            <a:prstDash val="solid"/>
            <a:tailEnd type="triangle" w="sm" len="sm"/>
          </a:ln>
        </p:spPr>
      </p:cxnSp>
      <p:sp>
        <p:nvSpPr>
          <p:cNvPr id="55" name="candidate-line-133">
            <a:extLst xmlns:a="http://schemas.openxmlformats.org/drawingml/2006/main">
              <a:ext uri="{FF2B5EF4-FFF2-40B4-BE49-F238E27FC236}">
                <a16:creationId xmlns:a16="http://schemas.microsoft.com/office/drawing/2014/main" id="{B27EF201-91C1-4372-8542-BE9A73235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696575" y="4562475"/>
            <a:ext cx="0" cy="4095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000000"/>
            </a:solidFill>
            <a:prstDash val="solid"/>
          </a:ln>
        </p:spPr>
      </p:sp>
      <p:sp>
        <p:nvSpPr>
          <p:cNvPr id="56" name="candidate-line-134">
            <a:extLst xmlns:a="http://schemas.openxmlformats.org/drawingml/2006/main">
              <a:ext uri="{FF2B5EF4-FFF2-40B4-BE49-F238E27FC236}">
                <a16:creationId xmlns:a16="http://schemas.microsoft.com/office/drawing/2014/main" id="{BDC013F0-B4EF-46F3-9954-5F24E9EC5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7019925" y="4972050"/>
            <a:ext cx="3676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000000"/>
            </a:solidFill>
            <a:prstDash val="solid"/>
          </a:ln>
        </p:spPr>
      </p:sp>
      <p:cxnSp>
        <p:nvCxnSpPr>
          <p:cNvPr id="57" name="candidate-arrow-135">
            <a:extLst xmlns:a="http://schemas.openxmlformats.org/drawingml/2006/main">
              <a:ext uri="{FF2B5EF4-FFF2-40B4-BE49-F238E27FC236}">
                <a16:creationId xmlns:a16="http://schemas.microsoft.com/office/drawing/2014/main" id="{F708979B-50E1-4939-93A3-3C4866DD29B9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7019925" y="4562475"/>
            <a:ext cx="0" cy="409575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000000"/>
            </a:solidFill>
            <a:prstDash val="solid"/>
            <a:tailEnd type="triangle" w="sm" len="sm"/>
          </a:ln>
        </p:spPr>
      </p:cxnSp>
      <p:sp>
        <p:nvSpPr>
          <p:cNvPr id="58" name="candidate-text-136">
            <a:extLst xmlns:a="http://schemas.openxmlformats.org/drawingml/2006/main">
              <a:ext uri="{FF2B5EF4-FFF2-40B4-BE49-F238E27FC236}">
                <a16:creationId xmlns:a16="http://schemas.microsoft.com/office/drawing/2014/main" id="{436F33F8-F3E6-42D5-9B10-A09AC85C4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4648200"/>
            <a:ext cx="35337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00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500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未满需求人数继续；排除已选成员</a:t>
            </a:r>
          </a:p>
        </p:txBody>
      </p:sp>
      <p:sp>
        <p:nvSpPr>
          <p:cNvPr id="59" name="candidate-box-137">
            <a:extLst xmlns:a="http://schemas.openxmlformats.org/drawingml/2006/main">
              <a:ext uri="{FF2B5EF4-FFF2-40B4-BE49-F238E27FC236}">
                <a16:creationId xmlns:a16="http://schemas.microsoft.com/office/drawing/2014/main" id="{DF3668B5-728B-4FC8-AD74-E69E6AB31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362575"/>
            <a:ext cx="2381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00000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000000"/>
                </a:solidFill>
              </a:defRPr>
            </a:pPr>
            <a:r>
              <a:rPr b="1">
                <a:latin typeface="Droid Sans Fallback"/>
                <a:ea typeface="Droid Sans Fallback"/>
                <a:cs typeface="Droid Sans Fallback"/>
              </a:rPr>
              <a:t>完整动作</a:t>
            </a:r>
            <a:r>
              <a:rPr b="1">
                <a:latin typeface="Nimbus Roman"/>
                <a:ea typeface="Nimbus Roman"/>
                <a:cs typeface="Nimbus Roman"/>
              </a:rPr>
              <a:t> (i</a:t>
            </a:r>
            <a:r>
              <a:rPr b="1">
                <a:latin typeface="Droid Sans Fallback"/>
                <a:ea typeface="Droid Sans Fallback"/>
                <a:cs typeface="Droid Sans Fallback"/>
              </a:rPr>
              <a:t>，</a:t>
            </a:r>
            <a:r>
              <a:rPr b="1">
                <a:latin typeface="Nimbus Roman"/>
                <a:ea typeface="Nimbus Roman"/>
                <a:cs typeface="Nimbus Roman"/>
              </a:rPr>
              <a:t>m</a:t>
            </a:r>
            <a:r>
              <a:rPr b="1">
                <a:latin typeface="Droid Sans Fallback"/>
                <a:ea typeface="Droid Sans Fallback"/>
                <a:cs typeface="Droid Sans Fallback"/>
              </a:rPr>
              <a:t>，</a:t>
            </a:r>
            <a:r>
              <a:rPr b="1">
                <a:latin typeface="Nimbus Roman"/>
                <a:ea typeface="Nimbus Roman"/>
                <a:cs typeface="Nimbus Roman"/>
              </a:rPr>
              <a:t>W)</a:t>
            </a:r>
          </a:p>
        </p:txBody>
      </p:sp>
      <p:sp>
        <p:nvSpPr>
          <p:cNvPr id="60" name="candidate-box-138">
            <a:extLst xmlns:a="http://schemas.openxmlformats.org/drawingml/2006/main">
              <a:ext uri="{FF2B5EF4-FFF2-40B4-BE49-F238E27FC236}">
                <a16:creationId xmlns:a16="http://schemas.microsoft.com/office/drawing/2014/main" id="{0F0E7306-A611-4193-8F60-3E9217C08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5362575"/>
            <a:ext cx="239077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00000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650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依据前驱与人员日历</a:t>
            </a:r>
          </a:p>
          <a:p xmlns:a="http://schemas.openxmlformats.org/drawingml/2006/main">
            <a:pPr algn="ctr">
              <a:defRPr sz="1650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分配合法起止时刻</a:t>
            </a:r>
          </a:p>
        </p:txBody>
      </p:sp>
      <p:sp>
        <p:nvSpPr>
          <p:cNvPr id="61" name="candidate-box-139">
            <a:extLst xmlns:a="http://schemas.openxmlformats.org/drawingml/2006/main">
              <a:ext uri="{FF2B5EF4-FFF2-40B4-BE49-F238E27FC236}">
                <a16:creationId xmlns:a16="http://schemas.microsoft.com/office/drawing/2014/main" id="{CAC53B1E-35DF-43E9-99AD-3A83E18EB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5362575"/>
            <a:ext cx="30194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00000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650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写入安排与占用</a:t>
            </a:r>
          </a:p>
          <a:p xmlns:a="http://schemas.openxmlformats.org/drawingml/2006/main">
            <a:pPr algn="ctr">
              <a:defRPr sz="1650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继承或形成站位绑定</a:t>
            </a:r>
          </a:p>
        </p:txBody>
      </p:sp>
      <p:sp>
        <p:nvSpPr>
          <p:cNvPr id="62" name="candidate-box-140">
            <a:extLst xmlns:a="http://schemas.openxmlformats.org/drawingml/2006/main">
              <a:ext uri="{FF2B5EF4-FFF2-40B4-BE49-F238E27FC236}">
                <a16:creationId xmlns:a16="http://schemas.microsoft.com/office/drawing/2014/main" id="{ED9D1CC3-07B7-4168-AE5E-3B0B0FF22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5362575"/>
            <a:ext cx="21717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00000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650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全部安排完成</a:t>
            </a:r>
          </a:p>
          <a:p xmlns:a="http://schemas.openxmlformats.org/drawingml/2006/main">
            <a:pPr algn="ctr">
              <a:defRPr sz="1650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输出基准排程</a:t>
            </a:r>
          </a:p>
        </p:txBody>
      </p:sp>
      <p:cxnSp>
        <p:nvCxnSpPr>
          <p:cNvPr id="63" name="candidate-arrow-141">
            <a:extLst xmlns:a="http://schemas.openxmlformats.org/drawingml/2006/main">
              <a:ext uri="{FF2B5EF4-FFF2-40B4-BE49-F238E27FC236}">
                <a16:creationId xmlns:a16="http://schemas.microsoft.com/office/drawing/2014/main" id="{44408CA7-4442-4ACE-8BFC-1DF3C57A233C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3000375" y="5610225"/>
            <a:ext cx="32385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000000"/>
            </a:solidFill>
            <a:prstDash val="solid"/>
            <a:tailEnd type="triangle" w="sm" len="sm"/>
          </a:ln>
        </p:spPr>
      </p:cxnSp>
      <p:cxnSp>
        <p:nvCxnSpPr>
          <p:cNvPr id="64" name="candidate-arrow-142">
            <a:extLst xmlns:a="http://schemas.openxmlformats.org/drawingml/2006/main">
              <a:ext uri="{FF2B5EF4-FFF2-40B4-BE49-F238E27FC236}">
                <a16:creationId xmlns:a16="http://schemas.microsoft.com/office/drawing/2014/main" id="{91A00A3E-A31E-40D7-A697-BF19C480FB5B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5715000" y="5610225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000000"/>
            </a:solidFill>
            <a:prstDash val="solid"/>
            <a:tailEnd type="triangle" w="sm" len="sm"/>
          </a:ln>
        </p:spPr>
      </p:cxnSp>
      <p:cxnSp>
        <p:nvCxnSpPr>
          <p:cNvPr id="65" name="candidate-arrow-143">
            <a:extLst xmlns:a="http://schemas.openxmlformats.org/drawingml/2006/main">
              <a:ext uri="{FF2B5EF4-FFF2-40B4-BE49-F238E27FC236}">
                <a16:creationId xmlns:a16="http://schemas.microsoft.com/office/drawing/2014/main" id="{BE06B734-FEB8-4AF6-BFE5-46807EE90182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9067800" y="5610225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000000"/>
            </a:solidFill>
            <a:prstDash val="solid"/>
            <a:tailEnd type="triangle" w="sm" len="sm"/>
          </a:ln>
        </p:spPr>
      </p:cxnSp>
      <p:sp>
        <p:nvSpPr>
          <p:cNvPr id="66" name="candidate-line-144">
            <a:extLst xmlns:a="http://schemas.openxmlformats.org/drawingml/2006/main">
              <a:ext uri="{FF2B5EF4-FFF2-40B4-BE49-F238E27FC236}">
                <a16:creationId xmlns:a16="http://schemas.microsoft.com/office/drawing/2014/main" id="{BA5F9F5F-46F6-452F-ACE8-1289374D0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829675" y="5143500"/>
            <a:ext cx="0" cy="114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000000"/>
            </a:solidFill>
            <a:prstDash val="solid"/>
          </a:ln>
        </p:spPr>
      </p:sp>
      <p:sp>
        <p:nvSpPr>
          <p:cNvPr id="67" name="candidate-line-145">
            <a:extLst xmlns:a="http://schemas.openxmlformats.org/drawingml/2006/main">
              <a:ext uri="{FF2B5EF4-FFF2-40B4-BE49-F238E27FC236}">
                <a16:creationId xmlns:a16="http://schemas.microsoft.com/office/drawing/2014/main" id="{DD33CFB8-A9F2-4A81-ADF7-833A562A7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1819275" y="5257800"/>
            <a:ext cx="701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000000"/>
            </a:solidFill>
            <a:prstDash val="solid"/>
          </a:ln>
        </p:spPr>
      </p:sp>
      <p:cxnSp>
        <p:nvCxnSpPr>
          <p:cNvPr id="68" name="candidate-arrow-146">
            <a:extLst xmlns:a="http://schemas.openxmlformats.org/drawingml/2006/main">
              <a:ext uri="{FF2B5EF4-FFF2-40B4-BE49-F238E27FC236}">
                <a16:creationId xmlns:a16="http://schemas.microsoft.com/office/drawing/2014/main" id="{FA8D6205-264E-4FFA-9C93-819ADACAD609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819275" y="5257800"/>
            <a:ext cx="0" cy="104775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000000"/>
            </a:solidFill>
            <a:prstDash val="solid"/>
            <a:tailEnd type="triangle" w="sm" len="sm"/>
          </a:ln>
        </p:spPr>
      </p:cxnSp>
      <p:sp>
        <p:nvSpPr>
          <p:cNvPr id="69" name="candidate-line-147">
            <a:extLst xmlns:a="http://schemas.openxmlformats.org/drawingml/2006/main">
              <a:ext uri="{FF2B5EF4-FFF2-40B4-BE49-F238E27FC236}">
                <a16:creationId xmlns:a16="http://schemas.microsoft.com/office/drawing/2014/main" id="{2BD09A80-78D4-446D-A6A3-33D354839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553325" y="5857875"/>
            <a:ext cx="0" cy="66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000000"/>
            </a:solidFill>
            <a:prstDash val="solid"/>
          </a:ln>
        </p:spPr>
      </p:sp>
      <p:sp>
        <p:nvSpPr>
          <p:cNvPr id="70" name="candidate-line-148">
            <a:extLst xmlns:a="http://schemas.openxmlformats.org/drawingml/2006/main">
              <a:ext uri="{FF2B5EF4-FFF2-40B4-BE49-F238E27FC236}">
                <a16:creationId xmlns:a16="http://schemas.microsoft.com/office/drawing/2014/main" id="{E7D49FB3-0894-42A4-A292-12A902EE2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419100" y="5924550"/>
            <a:ext cx="71342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000000"/>
            </a:solidFill>
            <a:prstDash val="solid"/>
          </a:ln>
        </p:spPr>
      </p:sp>
      <p:sp>
        <p:nvSpPr>
          <p:cNvPr id="71" name="candidate-line-149">
            <a:extLst xmlns:a="http://schemas.openxmlformats.org/drawingml/2006/main">
              <a:ext uri="{FF2B5EF4-FFF2-40B4-BE49-F238E27FC236}">
                <a16:creationId xmlns:a16="http://schemas.microsoft.com/office/drawing/2014/main" id="{0D6EF18B-4A63-4E77-80F9-3B7E1D61E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419100" y="2381250"/>
            <a:ext cx="0" cy="3543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000000"/>
            </a:solidFill>
            <a:prstDash val="solid"/>
          </a:ln>
        </p:spPr>
      </p:sp>
      <p:cxnSp>
        <p:nvCxnSpPr>
          <p:cNvPr id="72" name="candidate-arrow-150">
            <a:extLst xmlns:a="http://schemas.openxmlformats.org/drawingml/2006/main">
              <a:ext uri="{FF2B5EF4-FFF2-40B4-BE49-F238E27FC236}">
                <a16:creationId xmlns:a16="http://schemas.microsoft.com/office/drawing/2014/main" id="{AA1278D0-BB1C-48C1-BBA0-3A7F0C08D8F4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419100" y="2381250"/>
            <a:ext cx="200025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000000"/>
            </a:solidFill>
            <a:prstDash val="solid"/>
            <a:tailEnd type="triangle" w="sm" len="sm"/>
          </a:ln>
        </p:spPr>
      </p:cxnSp>
      <p:sp>
        <p:nvSpPr>
          <p:cNvPr id="73" name="candidate-text-151">
            <a:extLst xmlns:a="http://schemas.openxmlformats.org/drawingml/2006/main">
              <a:ext uri="{FF2B5EF4-FFF2-40B4-BE49-F238E27FC236}">
                <a16:creationId xmlns:a16="http://schemas.microsoft.com/office/drawing/2014/main" id="{3FB541B8-094F-4966-8F08-D6D9DE065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019800"/>
            <a:ext cx="10953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75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000000"/>
                </a:solidFill>
              </a:defRPr>
            </a:pPr>
            <a:r>
              <a:rPr b="1">
                <a:latin typeface="Droid Sans Fallback"/>
                <a:ea typeface="Droid Sans Fallback"/>
                <a:cs typeface="Droid Sans Fallback"/>
              </a:rPr>
              <a:t>更新构造状态后重新编码；全部安排完成时输出基准排程</a:t>
            </a:r>
          </a:p>
        </p:txBody>
      </p:sp>
    </p:spTree>
    <p:extLst>
      <p:ext uri="{BB962C8B-B14F-4D97-AF65-F5344CB8AC3E}">
        <p14:creationId xmlns:p14="http://schemas.microsoft.com/office/powerpoint/2010/main" val="124005805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0" name="candidate-text-152">
            <a:extLst xmlns:a="http://schemas.openxmlformats.org/drawingml/2006/main">
              <a:ext uri="{FF2B5EF4-FFF2-40B4-BE49-F238E27FC236}">
                <a16:creationId xmlns:a16="http://schemas.microsoft.com/office/drawing/2014/main" id="{D24D7DE1-FCCC-41E1-99E3-81548A38A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57175"/>
            <a:ext cx="112014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700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000000"/>
                </a:solidFill>
              </a:defRPr>
            </a:pPr>
            <a:r>
              <a:rPr b="1">
                <a:latin typeface="Droid Sans Fallback"/>
                <a:ea typeface="Droid Sans Fallback"/>
                <a:cs typeface="Droid Sans Fallback"/>
              </a:rPr>
              <a:t>技术路线一：同构图下的联合静态调度</a:t>
            </a:r>
          </a:p>
        </p:txBody>
      </p:sp>
      <p:sp>
        <p:nvSpPr>
          <p:cNvPr id="2" name="candidate-line-153">
            <a:extLst xmlns:a="http://schemas.openxmlformats.org/drawingml/2006/main">
              <a:ext uri="{FF2B5EF4-FFF2-40B4-BE49-F238E27FC236}">
                <a16:creationId xmlns:a16="http://schemas.microsoft.com/office/drawing/2014/main" id="{4A67670B-BBCD-4B82-B38D-F8DCFF430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95300" y="8953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3" name="candidate-line-154">
            <a:extLst xmlns:a="http://schemas.openxmlformats.org/drawingml/2006/main">
              <a:ext uri="{FF2B5EF4-FFF2-40B4-BE49-F238E27FC236}">
                <a16:creationId xmlns:a16="http://schemas.microsoft.com/office/drawing/2014/main" id="{5B59653A-C1AD-429D-85B9-0FDCA51B6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95300" y="6410325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000000"/>
            </a:solidFill>
            <a:prstDash val="solid"/>
          </a:ln>
        </p:spPr>
      </p:sp>
      <p:sp>
        <p:nvSpPr>
          <p:cNvPr id="4" name="candidate-text-155">
            <a:extLst xmlns:a="http://schemas.openxmlformats.org/drawingml/2006/main">
              <a:ext uri="{FF2B5EF4-FFF2-40B4-BE49-F238E27FC236}">
                <a16:creationId xmlns:a16="http://schemas.microsoft.com/office/drawing/2014/main" id="{8A467142-FBA2-42AA-B383-D6F99398C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技术路线</a:t>
            </a:r>
          </a:p>
        </p:txBody>
      </p:sp>
      <p:sp>
        <p:nvSpPr>
          <p:cNvPr id="5" name="candidate-text-156">
            <a:extLst xmlns:a="http://schemas.openxmlformats.org/drawingml/2006/main">
              <a:ext uri="{FF2B5EF4-FFF2-40B4-BE49-F238E27FC236}">
                <a16:creationId xmlns:a16="http://schemas.microsoft.com/office/drawing/2014/main" id="{3B567BAC-2795-492D-83D4-B1FA4DA06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6457950"/>
            <a:ext cx="11525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350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000000"/>
                </a:solidFill>
              </a:defRPr>
            </a:pPr>
            <a:r>
              <a:rPr b="0">
                <a:latin typeface="Nimbus Roman"/>
                <a:ea typeface="Nimbus Roman"/>
                <a:cs typeface="Nimbus Roman"/>
              </a:rPr>
              <a:t>11A3</a:t>
            </a:r>
          </a:p>
        </p:txBody>
      </p:sp>
      <p:sp>
        <p:nvSpPr>
          <p:cNvPr id="6" name="candidate-text-157">
            <a:extLst xmlns:a="http://schemas.openxmlformats.org/drawingml/2006/main">
              <a:ext uri="{FF2B5EF4-FFF2-40B4-BE49-F238E27FC236}">
                <a16:creationId xmlns:a16="http://schemas.microsoft.com/office/drawing/2014/main" id="{E16109CC-0205-4C17-892A-32D1DF41E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38225"/>
            <a:ext cx="1095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000000"/>
                </a:solidFill>
              </a:defRPr>
            </a:pPr>
            <a:r>
              <a:rPr b="1">
                <a:latin typeface="Droid Sans Fallback"/>
                <a:ea typeface="Droid Sans Fallback"/>
                <a:cs typeface="Droid Sans Fallback"/>
              </a:rPr>
              <a:t>工艺与资源共同进入图表示，团队选择保持对前序选择的条件依赖</a:t>
            </a:r>
          </a:p>
        </p:txBody>
      </p:sp>
      <p:sp>
        <p:nvSpPr>
          <p:cNvPr id="7" name="candidate-box-158">
            <a:extLst xmlns:a="http://schemas.openxmlformats.org/drawingml/2006/main">
              <a:ext uri="{FF2B5EF4-FFF2-40B4-BE49-F238E27FC236}">
                <a16:creationId xmlns:a16="http://schemas.microsoft.com/office/drawing/2014/main" id="{CA7DBEF8-B434-4BD1-A6E1-1A1112007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81150"/>
            <a:ext cx="3381375" cy="289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0000"/>
            </a:solidFill>
            <a:prstDash val="solid"/>
          </a:ln>
        </p:spPr>
      </p:sp>
      <p:sp>
        <p:nvSpPr>
          <p:cNvPr id="8" name="candidate-text-159">
            <a:extLst xmlns:a="http://schemas.openxmlformats.org/drawingml/2006/main">
              <a:ext uri="{FF2B5EF4-FFF2-40B4-BE49-F238E27FC236}">
                <a16:creationId xmlns:a16="http://schemas.microsoft.com/office/drawing/2014/main" id="{2FEA1EF9-0376-4AFF-9AA8-485F8FBB0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666875"/>
            <a:ext cx="3190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000000"/>
                </a:solidFill>
              </a:defRPr>
            </a:pPr>
            <a:r>
              <a:rPr b="1">
                <a:latin typeface="Nimbus Roman"/>
                <a:ea typeface="Nimbus Roman"/>
                <a:cs typeface="Nimbus Roman"/>
              </a:rPr>
              <a:t>1  </a:t>
            </a:r>
            <a:r>
              <a:rPr b="1">
                <a:latin typeface="Droid Sans Fallback"/>
                <a:ea typeface="Droid Sans Fallback"/>
                <a:cs typeface="Droid Sans Fallback"/>
              </a:rPr>
              <a:t>同构图统一表示</a:t>
            </a:r>
          </a:p>
        </p:txBody>
      </p:sp>
      <p:sp>
        <p:nvSpPr>
          <p:cNvPr id="9" name="candidate-text-160">
            <a:extLst xmlns:a="http://schemas.openxmlformats.org/drawingml/2006/main">
              <a:ext uri="{FF2B5EF4-FFF2-40B4-BE49-F238E27FC236}">
                <a16:creationId xmlns:a16="http://schemas.microsoft.com/office/drawing/2014/main" id="{EEB565D1-5459-420D-ADE0-6AFD8FB3E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000250"/>
            <a:ext cx="31527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425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425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局部结构示意；实际编码完整图</a:t>
            </a:r>
          </a:p>
        </p:txBody>
      </p:sp>
      <p:sp>
        <p:nvSpPr>
          <p:cNvPr id="10" name="candidate-line-161">
            <a:extLst xmlns:a="http://schemas.openxmlformats.org/drawingml/2006/main">
              <a:ext uri="{FF2B5EF4-FFF2-40B4-BE49-F238E27FC236}">
                <a16:creationId xmlns:a16="http://schemas.microsoft.com/office/drawing/2014/main" id="{06825476-1002-4D7E-87FD-1B203337C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212533" y="2566988"/>
            <a:ext cx="106299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000000"/>
            </a:solidFill>
            <a:prstDash val="solid"/>
          </a:ln>
        </p:spPr>
      </p:sp>
      <p:sp>
        <p:nvSpPr>
          <p:cNvPr id="11" name="candidate-line-162">
            <a:extLst xmlns:a="http://schemas.openxmlformats.org/drawingml/2006/main">
              <a:ext uri="{FF2B5EF4-FFF2-40B4-BE49-F238E27FC236}">
                <a16:creationId xmlns:a16="http://schemas.microsoft.com/office/drawing/2014/main" id="{BE3F98B3-5C19-42E4-AD14-AC52C38B9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275523" y="2566988"/>
            <a:ext cx="112204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000000"/>
            </a:solidFill>
            <a:prstDash val="solid"/>
          </a:ln>
        </p:spPr>
      </p:sp>
      <p:sp>
        <p:nvSpPr>
          <p:cNvPr id="12" name="candidate-line-163">
            <a:extLst xmlns:a="http://schemas.openxmlformats.org/drawingml/2006/main">
              <a:ext uri="{FF2B5EF4-FFF2-40B4-BE49-F238E27FC236}">
                <a16:creationId xmlns:a16="http://schemas.microsoft.com/office/drawing/2014/main" id="{E040C6BD-054D-4257-A758-4E7F4AF51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212533" y="2566988"/>
            <a:ext cx="472440" cy="51101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000000"/>
            </a:solidFill>
            <a:prstDash val="solid"/>
          </a:ln>
        </p:spPr>
      </p:sp>
      <p:sp>
        <p:nvSpPr>
          <p:cNvPr id="13" name="candidate-line-164">
            <a:extLst xmlns:a="http://schemas.openxmlformats.org/drawingml/2006/main">
              <a:ext uri="{FF2B5EF4-FFF2-40B4-BE49-F238E27FC236}">
                <a16:creationId xmlns:a16="http://schemas.microsoft.com/office/drawing/2014/main" id="{849CE494-936B-492A-AB1A-96A60C0F9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1684972" y="2566988"/>
            <a:ext cx="590550" cy="51101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000000"/>
            </a:solidFill>
            <a:prstDash val="solid"/>
          </a:ln>
        </p:spPr>
      </p:sp>
      <p:sp>
        <p:nvSpPr>
          <p:cNvPr id="14" name="candidate-line-165">
            <a:extLst xmlns:a="http://schemas.openxmlformats.org/drawingml/2006/main">
              <a:ext uri="{FF2B5EF4-FFF2-40B4-BE49-F238E27FC236}">
                <a16:creationId xmlns:a16="http://schemas.microsoft.com/office/drawing/2014/main" id="{6C814815-7757-476E-9564-8A8172E40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2954655" y="2566988"/>
            <a:ext cx="442913" cy="51101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000000"/>
            </a:solidFill>
            <a:prstDash val="solid"/>
          </a:ln>
        </p:spPr>
      </p:sp>
      <p:sp>
        <p:nvSpPr>
          <p:cNvPr id="15" name="candidate-line-166">
            <a:extLst xmlns:a="http://schemas.openxmlformats.org/drawingml/2006/main">
              <a:ext uri="{FF2B5EF4-FFF2-40B4-BE49-F238E27FC236}">
                <a16:creationId xmlns:a16="http://schemas.microsoft.com/office/drawing/2014/main" id="{FBF8B480-DE13-4591-B87A-9DF1914EB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1212533" y="3078004"/>
            <a:ext cx="472440" cy="53863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000000"/>
            </a:solidFill>
            <a:prstDash val="solid"/>
          </a:ln>
        </p:spPr>
      </p:sp>
      <p:sp>
        <p:nvSpPr>
          <p:cNvPr id="16" name="candidate-line-167">
            <a:extLst xmlns:a="http://schemas.openxmlformats.org/drawingml/2006/main">
              <a:ext uri="{FF2B5EF4-FFF2-40B4-BE49-F238E27FC236}">
                <a16:creationId xmlns:a16="http://schemas.microsoft.com/office/drawing/2014/main" id="{DB0D8D1C-CE4A-40DF-9046-EBE816CA6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684972" y="3078004"/>
            <a:ext cx="590550" cy="53863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000000"/>
            </a:solidFill>
            <a:prstDash val="solid"/>
          </a:ln>
        </p:spPr>
      </p:sp>
      <p:sp>
        <p:nvSpPr>
          <p:cNvPr id="17" name="candidate-line-168">
            <a:extLst xmlns:a="http://schemas.openxmlformats.org/drawingml/2006/main">
              <a:ext uri="{FF2B5EF4-FFF2-40B4-BE49-F238E27FC236}">
                <a16:creationId xmlns:a16="http://schemas.microsoft.com/office/drawing/2014/main" id="{2F15479B-F7D1-4205-9622-E78933C52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2275523" y="3078004"/>
            <a:ext cx="679132" cy="53863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000000"/>
            </a:solidFill>
            <a:prstDash val="solid"/>
          </a:ln>
        </p:spPr>
      </p:sp>
      <p:sp>
        <p:nvSpPr>
          <p:cNvPr id="18" name="candidate-line-169">
            <a:extLst xmlns:a="http://schemas.openxmlformats.org/drawingml/2006/main">
              <a:ext uri="{FF2B5EF4-FFF2-40B4-BE49-F238E27FC236}">
                <a16:creationId xmlns:a16="http://schemas.microsoft.com/office/drawing/2014/main" id="{086D6AAF-CD39-4DC9-B6B0-5364E7AD5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954655" y="3078004"/>
            <a:ext cx="442913" cy="53863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000000"/>
            </a:solidFill>
            <a:prstDash val="solid"/>
          </a:ln>
        </p:spPr>
      </p:sp>
      <p:sp>
        <p:nvSpPr>
          <p:cNvPr id="19" name="candidate-box-170">
            <a:extLst xmlns:a="http://schemas.openxmlformats.org/drawingml/2006/main">
              <a:ext uri="{FF2B5EF4-FFF2-40B4-BE49-F238E27FC236}">
                <a16:creationId xmlns:a16="http://schemas.microsoft.com/office/drawing/2014/main" id="{D9CE5C46-C351-4937-87EB-183760F3D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458" y="2347913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00000"/>
            </a:solidFill>
            <a:prstDash val="solid"/>
          </a:ln>
        </p:spPr>
      </p:sp>
      <p:sp>
        <p:nvSpPr>
          <p:cNvPr id="20" name="candidate-text-171">
            <a:extLst xmlns:a="http://schemas.openxmlformats.org/drawingml/2006/main">
              <a:ext uri="{FF2B5EF4-FFF2-40B4-BE49-F238E27FC236}">
                <a16:creationId xmlns:a16="http://schemas.microsoft.com/office/drawing/2014/main" id="{0FF13C8E-1F1C-4F20-BD0B-812889EA2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458" y="2347913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00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500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工</a:t>
            </a:r>
            <a:r>
              <a:rPr b="0">
                <a:latin typeface="Nimbus Roman"/>
                <a:ea typeface="Nimbus Roman"/>
                <a:cs typeface="Nimbus Roman"/>
              </a:rPr>
              <a:t>1</a:t>
            </a:r>
          </a:p>
        </p:txBody>
      </p:sp>
      <p:sp>
        <p:nvSpPr>
          <p:cNvPr id="21" name="candidate-box-172">
            <a:extLst xmlns:a="http://schemas.openxmlformats.org/drawingml/2006/main">
              <a:ext uri="{FF2B5EF4-FFF2-40B4-BE49-F238E27FC236}">
                <a16:creationId xmlns:a16="http://schemas.microsoft.com/office/drawing/2014/main" id="{B6DA3828-E8AA-4201-BBAF-4DF6FA28C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6448" y="2347913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00000"/>
            </a:solidFill>
            <a:prstDash val="solid"/>
          </a:ln>
        </p:spPr>
      </p:sp>
      <p:sp>
        <p:nvSpPr>
          <p:cNvPr id="22" name="candidate-text-173">
            <a:extLst xmlns:a="http://schemas.openxmlformats.org/drawingml/2006/main">
              <a:ext uri="{FF2B5EF4-FFF2-40B4-BE49-F238E27FC236}">
                <a16:creationId xmlns:a16="http://schemas.microsoft.com/office/drawing/2014/main" id="{6711FD21-FC47-455D-90F3-86C73E61A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6448" y="2347913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00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500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工</a:t>
            </a:r>
            <a:r>
              <a:rPr b="0">
                <a:latin typeface="Nimbus Roman"/>
                <a:ea typeface="Nimbus Roman"/>
                <a:cs typeface="Nimbus Roman"/>
              </a:rPr>
              <a:t>2</a:t>
            </a:r>
          </a:p>
        </p:txBody>
      </p:sp>
      <p:sp>
        <p:nvSpPr>
          <p:cNvPr id="23" name="candidate-box-174">
            <a:extLst xmlns:a="http://schemas.openxmlformats.org/drawingml/2006/main">
              <a:ext uri="{FF2B5EF4-FFF2-40B4-BE49-F238E27FC236}">
                <a16:creationId xmlns:a16="http://schemas.microsoft.com/office/drawing/2014/main" id="{3102AEC3-8A8B-42BF-9E00-7C5E25D0C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8493" y="2347913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00000"/>
            </a:solidFill>
            <a:prstDash val="solid"/>
          </a:ln>
        </p:spPr>
      </p:sp>
      <p:sp>
        <p:nvSpPr>
          <p:cNvPr id="24" name="candidate-text-175">
            <a:extLst xmlns:a="http://schemas.openxmlformats.org/drawingml/2006/main">
              <a:ext uri="{FF2B5EF4-FFF2-40B4-BE49-F238E27FC236}">
                <a16:creationId xmlns:a16="http://schemas.microsoft.com/office/drawing/2014/main" id="{73DF41D7-40CC-44D8-B244-25661EBC3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8493" y="2347913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00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500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工</a:t>
            </a:r>
            <a:r>
              <a:rPr b="0">
                <a:latin typeface="Nimbus Roman"/>
                <a:ea typeface="Nimbus Roman"/>
                <a:cs typeface="Nimbus Roman"/>
              </a:rPr>
              <a:t>3</a:t>
            </a:r>
          </a:p>
        </p:txBody>
      </p:sp>
      <p:sp>
        <p:nvSpPr>
          <p:cNvPr id="25" name="candidate-box-176">
            <a:extLst xmlns:a="http://schemas.openxmlformats.org/drawingml/2006/main">
              <a:ext uri="{FF2B5EF4-FFF2-40B4-BE49-F238E27FC236}">
                <a16:creationId xmlns:a16="http://schemas.microsoft.com/office/drawing/2014/main" id="{FC95A6A1-BE1C-4C33-8ABF-E0DCB3E6D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5897" y="2858929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00000"/>
            </a:solidFill>
            <a:prstDash val="solid"/>
          </a:ln>
        </p:spPr>
      </p:sp>
      <p:sp>
        <p:nvSpPr>
          <p:cNvPr id="26" name="candidate-text-177">
            <a:extLst xmlns:a="http://schemas.openxmlformats.org/drawingml/2006/main">
              <a:ext uri="{FF2B5EF4-FFF2-40B4-BE49-F238E27FC236}">
                <a16:creationId xmlns:a16="http://schemas.microsoft.com/office/drawing/2014/main" id="{8EEB6C30-036A-4243-BD40-BF0879377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5897" y="2858929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00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500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站</a:t>
            </a:r>
            <a:r>
              <a:rPr b="0">
                <a:latin typeface="Nimbus Roman"/>
                <a:ea typeface="Nimbus Roman"/>
                <a:cs typeface="Nimbus Roman"/>
              </a:rPr>
              <a:t>1</a:t>
            </a:r>
          </a:p>
        </p:txBody>
      </p:sp>
      <p:sp>
        <p:nvSpPr>
          <p:cNvPr id="27" name="candidate-box-178">
            <a:extLst xmlns:a="http://schemas.openxmlformats.org/drawingml/2006/main">
              <a:ext uri="{FF2B5EF4-FFF2-40B4-BE49-F238E27FC236}">
                <a16:creationId xmlns:a16="http://schemas.microsoft.com/office/drawing/2014/main" id="{9D213129-26D3-410E-B63B-4CA9F1156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5580" y="2858929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00000"/>
            </a:solidFill>
            <a:prstDash val="solid"/>
          </a:ln>
        </p:spPr>
      </p:sp>
      <p:sp>
        <p:nvSpPr>
          <p:cNvPr id="28" name="candidate-text-179">
            <a:extLst xmlns:a="http://schemas.openxmlformats.org/drawingml/2006/main">
              <a:ext uri="{FF2B5EF4-FFF2-40B4-BE49-F238E27FC236}">
                <a16:creationId xmlns:a16="http://schemas.microsoft.com/office/drawing/2014/main" id="{B1DC7499-3E55-4B77-9AB2-6D297EC7A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5580" y="2858929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00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500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站</a:t>
            </a:r>
            <a:r>
              <a:rPr b="0">
                <a:latin typeface="Nimbus Roman"/>
                <a:ea typeface="Nimbus Roman"/>
                <a:cs typeface="Nimbus Roman"/>
              </a:rPr>
              <a:t>2</a:t>
            </a:r>
          </a:p>
        </p:txBody>
      </p:sp>
      <p:sp>
        <p:nvSpPr>
          <p:cNvPr id="29" name="candidate-box-180">
            <a:extLst xmlns:a="http://schemas.openxmlformats.org/drawingml/2006/main">
              <a:ext uri="{FF2B5EF4-FFF2-40B4-BE49-F238E27FC236}">
                <a16:creationId xmlns:a16="http://schemas.microsoft.com/office/drawing/2014/main" id="{5A96CC51-E8D0-4239-B842-1AAF519FC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458" y="3397568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00000"/>
            </a:solidFill>
            <a:prstDash val="solid"/>
          </a:ln>
        </p:spPr>
      </p:sp>
      <p:sp>
        <p:nvSpPr>
          <p:cNvPr id="30" name="candidate-text-181">
            <a:extLst xmlns:a="http://schemas.openxmlformats.org/drawingml/2006/main">
              <a:ext uri="{FF2B5EF4-FFF2-40B4-BE49-F238E27FC236}">
                <a16:creationId xmlns:a16="http://schemas.microsoft.com/office/drawing/2014/main" id="{B4990ABA-8621-41B2-BAD5-C2721A287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458" y="3397568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00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500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人</a:t>
            </a:r>
            <a:r>
              <a:rPr b="0">
                <a:latin typeface="Nimbus Roman"/>
                <a:ea typeface="Nimbus Roman"/>
                <a:cs typeface="Nimbus Roman"/>
              </a:rPr>
              <a:t>1</a:t>
            </a:r>
          </a:p>
        </p:txBody>
      </p:sp>
      <p:sp>
        <p:nvSpPr>
          <p:cNvPr id="31" name="candidate-box-182">
            <a:extLst xmlns:a="http://schemas.openxmlformats.org/drawingml/2006/main">
              <a:ext uri="{FF2B5EF4-FFF2-40B4-BE49-F238E27FC236}">
                <a16:creationId xmlns:a16="http://schemas.microsoft.com/office/drawing/2014/main" id="{CF119BF6-6DA4-41A8-A375-A7CA1DAC8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6448" y="3397568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00000"/>
            </a:solidFill>
            <a:prstDash val="solid"/>
          </a:ln>
        </p:spPr>
      </p:sp>
      <p:sp>
        <p:nvSpPr>
          <p:cNvPr id="32" name="candidate-text-183">
            <a:extLst xmlns:a="http://schemas.openxmlformats.org/drawingml/2006/main">
              <a:ext uri="{FF2B5EF4-FFF2-40B4-BE49-F238E27FC236}">
                <a16:creationId xmlns:a16="http://schemas.microsoft.com/office/drawing/2014/main" id="{37A5683F-2B0B-4E3F-87B0-16FBBBAFB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6448" y="3397568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00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500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人</a:t>
            </a:r>
            <a:r>
              <a:rPr b="0">
                <a:latin typeface="Nimbus Roman"/>
                <a:ea typeface="Nimbus Roman"/>
                <a:cs typeface="Nimbus Roman"/>
              </a:rPr>
              <a:t>2</a:t>
            </a:r>
          </a:p>
        </p:txBody>
      </p:sp>
      <p:sp>
        <p:nvSpPr>
          <p:cNvPr id="33" name="candidate-box-184">
            <a:extLst xmlns:a="http://schemas.openxmlformats.org/drawingml/2006/main">
              <a:ext uri="{FF2B5EF4-FFF2-40B4-BE49-F238E27FC236}">
                <a16:creationId xmlns:a16="http://schemas.microsoft.com/office/drawing/2014/main" id="{62FD983F-3F09-4CAE-ACD3-9C536166F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8493" y="3397568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00000"/>
            </a:solidFill>
            <a:prstDash val="solid"/>
          </a:ln>
        </p:spPr>
      </p:sp>
      <p:sp>
        <p:nvSpPr>
          <p:cNvPr id="34" name="candidate-text-185">
            <a:extLst xmlns:a="http://schemas.openxmlformats.org/drawingml/2006/main">
              <a:ext uri="{FF2B5EF4-FFF2-40B4-BE49-F238E27FC236}">
                <a16:creationId xmlns:a16="http://schemas.microsoft.com/office/drawing/2014/main" id="{B4C333C0-EAB3-4BD8-9BE4-DD28C8E83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8493" y="3397568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00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500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人</a:t>
            </a:r>
            <a:r>
              <a:rPr b="0">
                <a:latin typeface="Nimbus Roman"/>
                <a:ea typeface="Nimbus Roman"/>
                <a:cs typeface="Nimbus Roman"/>
              </a:rPr>
              <a:t>3</a:t>
            </a:r>
          </a:p>
        </p:txBody>
      </p:sp>
      <p:sp>
        <p:nvSpPr>
          <p:cNvPr id="35" name="candidate-text-186">
            <a:extLst xmlns:a="http://schemas.openxmlformats.org/drawingml/2006/main">
              <a:ext uri="{FF2B5EF4-FFF2-40B4-BE49-F238E27FC236}">
                <a16:creationId xmlns:a16="http://schemas.microsoft.com/office/drawing/2014/main" id="{05BB0D30-430B-43F9-AC26-D8B2241FF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990975"/>
            <a:ext cx="30861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00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500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工艺与资源属性统一进入节点</a:t>
            </a:r>
          </a:p>
          <a:p xmlns:a="http://schemas.openxmlformats.org/drawingml/2006/main">
            <a:pPr algn="ctr">
              <a:defRPr sz="1500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所有连接共享传播规则与参数</a:t>
            </a:r>
          </a:p>
        </p:txBody>
      </p:sp>
      <p:sp>
        <p:nvSpPr>
          <p:cNvPr id="36" name="candidate-box-187">
            <a:extLst xmlns:a="http://schemas.openxmlformats.org/drawingml/2006/main">
              <a:ext uri="{FF2B5EF4-FFF2-40B4-BE49-F238E27FC236}">
                <a16:creationId xmlns:a16="http://schemas.microsoft.com/office/drawing/2014/main" id="{37625BC9-8393-4712-8655-E84428DAF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667250"/>
            <a:ext cx="3000375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00000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725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工序／站位／人员节点表示</a:t>
            </a:r>
          </a:p>
          <a:p xmlns:a="http://schemas.openxmlformats.org/drawingml/2006/main">
            <a:pPr algn="ctr">
              <a:defRPr sz="1725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与全局调度上下文</a:t>
            </a:r>
          </a:p>
        </p:txBody>
      </p:sp>
      <p:cxnSp>
        <p:nvCxnSpPr>
          <p:cNvPr id="37" name="candidate-arrow-188">
            <a:extLst xmlns:a="http://schemas.openxmlformats.org/drawingml/2006/main">
              <a:ext uri="{FF2B5EF4-FFF2-40B4-BE49-F238E27FC236}">
                <a16:creationId xmlns:a16="http://schemas.microsoft.com/office/drawing/2014/main" id="{F160A7D8-8FD3-469E-8088-5809BB208D20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2305050" y="4476750"/>
            <a:ext cx="0" cy="19050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000000"/>
            </a:solidFill>
            <a:prstDash val="solid"/>
            <a:tailEnd type="triangle" w="sm" len="sm"/>
          </a:ln>
        </p:spPr>
      </p:cxnSp>
      <p:sp>
        <p:nvSpPr>
          <p:cNvPr id="38" name="candidate-box-189">
            <a:extLst xmlns:a="http://schemas.openxmlformats.org/drawingml/2006/main">
              <a:ext uri="{FF2B5EF4-FFF2-40B4-BE49-F238E27FC236}">
                <a16:creationId xmlns:a16="http://schemas.microsoft.com/office/drawing/2014/main" id="{5A11FDD9-0972-475D-8D21-181E24069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581150"/>
            <a:ext cx="2343150" cy="1590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0000"/>
            </a:solidFill>
            <a:prstDash val="solid"/>
          </a:ln>
        </p:spPr>
      </p:sp>
      <p:sp>
        <p:nvSpPr>
          <p:cNvPr id="39" name="candidate-text-190">
            <a:extLst xmlns:a="http://schemas.openxmlformats.org/drawingml/2006/main">
              <a:ext uri="{FF2B5EF4-FFF2-40B4-BE49-F238E27FC236}">
                <a16:creationId xmlns:a16="http://schemas.microsoft.com/office/drawing/2014/main" id="{3D1B9009-6AEE-4224-BA91-D2D29566E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666875"/>
            <a:ext cx="21526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000000"/>
                </a:solidFill>
              </a:defRPr>
            </a:pPr>
            <a:r>
              <a:rPr b="1">
                <a:latin typeface="Nimbus Roman"/>
                <a:ea typeface="Nimbus Roman"/>
                <a:cs typeface="Nimbus Roman"/>
              </a:rPr>
              <a:t>2  </a:t>
            </a:r>
            <a:r>
              <a:rPr b="1">
                <a:latin typeface="Droid Sans Fallback"/>
                <a:ea typeface="Droid Sans Fallback"/>
                <a:cs typeface="Droid Sans Fallback"/>
              </a:rPr>
              <a:t>选择工序</a:t>
            </a:r>
            <a:r>
              <a:rPr b="1">
                <a:latin typeface="Nimbus Roman"/>
                <a:ea typeface="Nimbus Roman"/>
                <a:cs typeface="Nimbus Roman"/>
              </a:rPr>
              <a:t> i</a:t>
            </a:r>
          </a:p>
        </p:txBody>
      </p:sp>
      <p:sp>
        <p:nvSpPr>
          <p:cNvPr id="40" name="candidate-text-191">
            <a:extLst xmlns:a="http://schemas.openxmlformats.org/drawingml/2006/main">
              <a:ext uri="{FF2B5EF4-FFF2-40B4-BE49-F238E27FC236}">
                <a16:creationId xmlns:a16="http://schemas.microsoft.com/office/drawing/2014/main" id="{3051BF5C-CEF9-4425-83F5-11938FB9D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2038350"/>
            <a:ext cx="2133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650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前序与当前安排</a:t>
            </a:r>
          </a:p>
          <a:p xmlns:a="http://schemas.openxmlformats.org/drawingml/2006/main">
            <a:pPr algn="ctr">
              <a:defRPr sz="1650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资源信息共同参与</a:t>
            </a:r>
          </a:p>
        </p:txBody>
      </p:sp>
      <p:sp>
        <p:nvSpPr>
          <p:cNvPr id="41" name="candidate-box-192">
            <a:extLst xmlns:a="http://schemas.openxmlformats.org/drawingml/2006/main">
              <a:ext uri="{FF2B5EF4-FFF2-40B4-BE49-F238E27FC236}">
                <a16:creationId xmlns:a16="http://schemas.microsoft.com/office/drawing/2014/main" id="{F4913CB1-6C96-4C1C-91CD-2681E923D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657475"/>
            <a:ext cx="201930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00000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000000"/>
                </a:solidFill>
              </a:defRPr>
            </a:pPr>
            <a:r>
              <a:rPr b="1">
                <a:latin typeface="Droid Sans Fallback"/>
                <a:ea typeface="Droid Sans Fallback"/>
                <a:cs typeface="Droid Sans Fallback"/>
              </a:rPr>
              <a:t>合法工序候选</a:t>
            </a:r>
            <a:r>
              <a:rPr b="1">
                <a:latin typeface="Nimbus Roman"/>
                <a:ea typeface="Nimbus Roman"/>
                <a:cs typeface="Nimbus Roman"/>
              </a:rPr>
              <a:t> </a:t>
            </a:r>
            <a:r>
              <a:rPr b="1">
                <a:latin typeface="Droid Sans Fallback"/>
                <a:ea typeface="Droid Sans Fallback"/>
                <a:cs typeface="Droid Sans Fallback"/>
              </a:rPr>
              <a:t>→</a:t>
            </a:r>
            <a:r>
              <a:rPr b="1">
                <a:latin typeface="Nimbus Roman"/>
                <a:ea typeface="Nimbus Roman"/>
                <a:cs typeface="Nimbus Roman"/>
              </a:rPr>
              <a:t> i</a:t>
            </a:r>
          </a:p>
        </p:txBody>
      </p:sp>
      <p:sp>
        <p:nvSpPr>
          <p:cNvPr id="42" name="candidate-line-193">
            <a:extLst xmlns:a="http://schemas.openxmlformats.org/drawingml/2006/main">
              <a:ext uri="{FF2B5EF4-FFF2-40B4-BE49-F238E27FC236}">
                <a16:creationId xmlns:a16="http://schemas.microsoft.com/office/drawing/2014/main" id="{21948FF2-84B9-475E-AA80-EA2BE5CE7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810000" y="4972050"/>
            <a:ext cx="4476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000000"/>
            </a:solidFill>
            <a:prstDash val="solid"/>
          </a:ln>
        </p:spPr>
      </p:sp>
      <p:sp>
        <p:nvSpPr>
          <p:cNvPr id="43" name="candidate-line-194">
            <a:extLst xmlns:a="http://schemas.openxmlformats.org/drawingml/2006/main">
              <a:ext uri="{FF2B5EF4-FFF2-40B4-BE49-F238E27FC236}">
                <a16:creationId xmlns:a16="http://schemas.microsoft.com/office/drawing/2014/main" id="{DE6E7269-A479-45B6-9ED6-0F5044525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4257675" y="2847975"/>
            <a:ext cx="0" cy="21240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000000"/>
            </a:solidFill>
            <a:prstDash val="solid"/>
          </a:ln>
        </p:spPr>
      </p:sp>
      <p:cxnSp>
        <p:nvCxnSpPr>
          <p:cNvPr id="44" name="candidate-arrow-195">
            <a:extLst xmlns:a="http://schemas.openxmlformats.org/drawingml/2006/main">
              <a:ext uri="{FF2B5EF4-FFF2-40B4-BE49-F238E27FC236}">
                <a16:creationId xmlns:a16="http://schemas.microsoft.com/office/drawing/2014/main" id="{2C9B5CAC-BBF7-455F-A557-541EEED88340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4257675" y="2847975"/>
            <a:ext cx="123825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000000"/>
            </a:solidFill>
            <a:prstDash val="solid"/>
            <a:tailEnd type="triangle" w="sm" len="sm"/>
          </a:ln>
        </p:spPr>
      </p:cxnSp>
      <p:sp>
        <p:nvSpPr>
          <p:cNvPr id="45" name="candidate-box-196">
            <a:extLst xmlns:a="http://schemas.openxmlformats.org/drawingml/2006/main">
              <a:ext uri="{FF2B5EF4-FFF2-40B4-BE49-F238E27FC236}">
                <a16:creationId xmlns:a16="http://schemas.microsoft.com/office/drawing/2014/main" id="{B6155E62-1DAA-405C-9010-56FFB86FD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514725"/>
            <a:ext cx="234315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0000"/>
            </a:solidFill>
            <a:prstDash val="solid"/>
          </a:ln>
        </p:spPr>
      </p:sp>
      <p:sp>
        <p:nvSpPr>
          <p:cNvPr id="46" name="candidate-text-197">
            <a:extLst xmlns:a="http://schemas.openxmlformats.org/drawingml/2006/main">
              <a:ext uri="{FF2B5EF4-FFF2-40B4-BE49-F238E27FC236}">
                <a16:creationId xmlns:a16="http://schemas.microsoft.com/office/drawing/2014/main" id="{5A061F3F-013A-4452-ADE5-3F90BB698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600450"/>
            <a:ext cx="21526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000000"/>
                </a:solidFill>
              </a:defRPr>
            </a:pPr>
            <a:r>
              <a:rPr b="1">
                <a:latin typeface="Nimbus Roman"/>
                <a:ea typeface="Nimbus Roman"/>
                <a:cs typeface="Nimbus Roman"/>
              </a:rPr>
              <a:t>3  </a:t>
            </a:r>
            <a:r>
              <a:rPr b="1">
                <a:latin typeface="Droid Sans Fallback"/>
                <a:ea typeface="Droid Sans Fallback"/>
                <a:cs typeface="Droid Sans Fallback"/>
              </a:rPr>
              <a:t>选择站位</a:t>
            </a:r>
            <a:r>
              <a:rPr b="1">
                <a:latin typeface="Nimbus Roman"/>
                <a:ea typeface="Nimbus Roman"/>
                <a:cs typeface="Nimbus Roman"/>
              </a:rPr>
              <a:t> m</a:t>
            </a:r>
          </a:p>
        </p:txBody>
      </p:sp>
      <p:sp>
        <p:nvSpPr>
          <p:cNvPr id="47" name="candidate-text-198">
            <a:extLst xmlns:a="http://schemas.openxmlformats.org/drawingml/2006/main">
              <a:ext uri="{FF2B5EF4-FFF2-40B4-BE49-F238E27FC236}">
                <a16:creationId xmlns:a16="http://schemas.microsoft.com/office/drawing/2014/main" id="{887FB3FE-5A47-47B6-964D-0D5ED6007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952875"/>
            <a:ext cx="21145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650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读取所选工序</a:t>
            </a:r>
            <a:r>
              <a:rPr b="0">
                <a:latin typeface="Nimbus Roman"/>
                <a:ea typeface="Nimbus Roman"/>
                <a:cs typeface="Nimbus Roman"/>
              </a:rPr>
              <a:t> i</a:t>
            </a:r>
          </a:p>
          <a:p xmlns:a="http://schemas.openxmlformats.org/drawingml/2006/main">
            <a:pPr algn="ctr">
              <a:defRPr sz="1650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检查前后序站位</a:t>
            </a:r>
          </a:p>
          <a:p xmlns:a="http://schemas.openxmlformats.org/drawingml/2006/main">
            <a:pPr algn="ctr">
              <a:defRPr sz="1650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与资源可用条件</a:t>
            </a:r>
          </a:p>
        </p:txBody>
      </p:sp>
      <p:sp>
        <p:nvSpPr>
          <p:cNvPr id="48" name="candidate-box-199">
            <a:extLst xmlns:a="http://schemas.openxmlformats.org/drawingml/2006/main">
              <a:ext uri="{FF2B5EF4-FFF2-40B4-BE49-F238E27FC236}">
                <a16:creationId xmlns:a16="http://schemas.microsoft.com/office/drawing/2014/main" id="{C12A2853-B7C4-459C-97D2-23573E7B8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4791075"/>
            <a:ext cx="20193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00000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000000"/>
                </a:solidFill>
              </a:defRPr>
            </a:pPr>
            <a:r>
              <a:rPr b="1">
                <a:latin typeface="Droid Sans Fallback"/>
                <a:ea typeface="Droid Sans Fallback"/>
                <a:cs typeface="Droid Sans Fallback"/>
              </a:rPr>
              <a:t>合法站位候选</a:t>
            </a:r>
            <a:r>
              <a:rPr b="1">
                <a:latin typeface="Nimbus Roman"/>
                <a:ea typeface="Nimbus Roman"/>
                <a:cs typeface="Nimbus Roman"/>
              </a:rPr>
              <a:t> </a:t>
            </a:r>
            <a:r>
              <a:rPr b="1">
                <a:latin typeface="Droid Sans Fallback"/>
                <a:ea typeface="Droid Sans Fallback"/>
                <a:cs typeface="Droid Sans Fallback"/>
              </a:rPr>
              <a:t>→</a:t>
            </a:r>
            <a:r>
              <a:rPr b="1">
                <a:latin typeface="Nimbus Roman"/>
                <a:ea typeface="Nimbus Roman"/>
                <a:cs typeface="Nimbus Roman"/>
              </a:rPr>
              <a:t> m</a:t>
            </a:r>
          </a:p>
        </p:txBody>
      </p:sp>
      <p:cxnSp>
        <p:nvCxnSpPr>
          <p:cNvPr id="49" name="candidate-arrow-200">
            <a:extLst xmlns:a="http://schemas.openxmlformats.org/drawingml/2006/main">
              <a:ext uri="{FF2B5EF4-FFF2-40B4-BE49-F238E27FC236}">
                <a16:creationId xmlns:a16="http://schemas.microsoft.com/office/drawing/2014/main" id="{A429E455-5B8B-4982-AB49-93821B9062E1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5553075" y="3171825"/>
            <a:ext cx="0" cy="34290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000000"/>
            </a:solidFill>
            <a:prstDash val="solid"/>
            <a:tailEnd type="triangle" w="sm" len="sm"/>
          </a:ln>
        </p:spPr>
      </p:cxnSp>
      <p:sp>
        <p:nvSpPr>
          <p:cNvPr id="50" name="candidate-box-201">
            <a:extLst xmlns:a="http://schemas.openxmlformats.org/drawingml/2006/main">
              <a:ext uri="{FF2B5EF4-FFF2-40B4-BE49-F238E27FC236}">
                <a16:creationId xmlns:a16="http://schemas.microsoft.com/office/drawing/2014/main" id="{EEAB8BEA-19EC-405B-B262-48AA537CD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1581150"/>
            <a:ext cx="4467225" cy="289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0000"/>
            </a:solidFill>
            <a:prstDash val="solid"/>
          </a:ln>
        </p:spPr>
      </p:sp>
      <p:sp>
        <p:nvSpPr>
          <p:cNvPr id="51" name="candidate-text-202">
            <a:extLst xmlns:a="http://schemas.openxmlformats.org/drawingml/2006/main">
              <a:ext uri="{FF2B5EF4-FFF2-40B4-BE49-F238E27FC236}">
                <a16:creationId xmlns:a16="http://schemas.microsoft.com/office/drawing/2014/main" id="{856F7407-AD16-4A07-ABB6-04BC283C8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666875"/>
            <a:ext cx="42767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000000"/>
                </a:solidFill>
              </a:defRPr>
            </a:pPr>
            <a:r>
              <a:rPr b="1">
                <a:latin typeface="Nimbus Roman"/>
                <a:ea typeface="Nimbus Roman"/>
                <a:cs typeface="Nimbus Roman"/>
              </a:rPr>
              <a:t>4  </a:t>
            </a:r>
            <a:r>
              <a:rPr b="1">
                <a:latin typeface="Droid Sans Fallback"/>
                <a:ea typeface="Droid Sans Fallback"/>
                <a:cs typeface="Droid Sans Fallback"/>
              </a:rPr>
              <a:t>逐人选择团队成员</a:t>
            </a:r>
          </a:p>
        </p:txBody>
      </p:sp>
      <p:sp>
        <p:nvSpPr>
          <p:cNvPr id="52" name="candidate-box-203">
            <a:extLst xmlns:a="http://schemas.openxmlformats.org/drawingml/2006/main">
              <a:ext uri="{FF2B5EF4-FFF2-40B4-BE49-F238E27FC236}">
                <a16:creationId xmlns:a16="http://schemas.microsoft.com/office/drawing/2014/main" id="{BD1F012D-076E-4EED-B896-BDD1DD6E7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2162175"/>
            <a:ext cx="19431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00000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650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已选成员</a:t>
            </a:r>
          </a:p>
        </p:txBody>
      </p:sp>
      <p:sp>
        <p:nvSpPr>
          <p:cNvPr id="53" name="candidate-box-204">
            <a:extLst xmlns:a="http://schemas.openxmlformats.org/drawingml/2006/main">
              <a:ext uri="{FF2B5EF4-FFF2-40B4-BE49-F238E27FC236}">
                <a16:creationId xmlns:a16="http://schemas.microsoft.com/office/drawing/2014/main" id="{5E417A36-589E-4C61-9196-9F05D2C44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2162175"/>
            <a:ext cx="19335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00000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00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500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工序</a:t>
            </a:r>
            <a:r>
              <a:rPr b="0">
                <a:latin typeface="Nimbus Roman"/>
                <a:ea typeface="Nimbus Roman"/>
                <a:cs typeface="Nimbus Roman"/>
              </a:rPr>
              <a:t> i</a:t>
            </a:r>
            <a:r>
              <a:rPr b="0">
                <a:latin typeface="Droid Sans Fallback"/>
                <a:ea typeface="Droid Sans Fallback"/>
                <a:cs typeface="Droid Sans Fallback"/>
              </a:rPr>
              <a:t>、站位</a:t>
            </a:r>
            <a:r>
              <a:rPr b="0">
                <a:latin typeface="Nimbus Roman"/>
                <a:ea typeface="Nimbus Roman"/>
                <a:cs typeface="Nimbus Roman"/>
              </a:rPr>
              <a:t> m</a:t>
            </a:r>
          </a:p>
          <a:p xmlns:a="http://schemas.openxmlformats.org/drawingml/2006/main">
            <a:pPr algn="ctr">
              <a:defRPr sz="1500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人员候选与合法掩码</a:t>
            </a:r>
          </a:p>
        </p:txBody>
      </p:sp>
      <p:sp>
        <p:nvSpPr>
          <p:cNvPr id="54" name="candidate-line-205">
            <a:extLst xmlns:a="http://schemas.openxmlformats.org/drawingml/2006/main">
              <a:ext uri="{FF2B5EF4-FFF2-40B4-BE49-F238E27FC236}">
                <a16:creationId xmlns:a16="http://schemas.microsoft.com/office/drawing/2014/main" id="{D445D5F6-B0BE-4755-9A02-A127EBD3C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258175" y="2686050"/>
            <a:ext cx="0" cy="228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000000"/>
            </a:solidFill>
            <a:prstDash val="solid"/>
          </a:ln>
        </p:spPr>
      </p:sp>
      <p:sp>
        <p:nvSpPr>
          <p:cNvPr id="55" name="candidate-line-206">
            <a:extLst xmlns:a="http://schemas.openxmlformats.org/drawingml/2006/main">
              <a:ext uri="{FF2B5EF4-FFF2-40B4-BE49-F238E27FC236}">
                <a16:creationId xmlns:a16="http://schemas.microsoft.com/office/drawing/2014/main" id="{193A9203-68C1-4D2C-87D0-A55439603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258175" y="2914650"/>
            <a:ext cx="10763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000000"/>
            </a:solidFill>
            <a:prstDash val="solid"/>
          </a:ln>
        </p:spPr>
      </p:sp>
      <p:cxnSp>
        <p:nvCxnSpPr>
          <p:cNvPr id="56" name="candidate-arrow-207">
            <a:extLst xmlns:a="http://schemas.openxmlformats.org/drawingml/2006/main">
              <a:ext uri="{FF2B5EF4-FFF2-40B4-BE49-F238E27FC236}">
                <a16:creationId xmlns:a16="http://schemas.microsoft.com/office/drawing/2014/main" id="{6DA343E9-E430-4EC9-ACAE-64DC6946F643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9334500" y="2914650"/>
            <a:ext cx="0" cy="180975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000000"/>
            </a:solidFill>
            <a:prstDash val="solid"/>
            <a:tailEnd type="triangle" w="sm" len="sm"/>
          </a:ln>
        </p:spPr>
      </p:cxnSp>
      <p:sp>
        <p:nvSpPr>
          <p:cNvPr id="57" name="candidate-line-208">
            <a:extLst xmlns:a="http://schemas.openxmlformats.org/drawingml/2006/main">
              <a:ext uri="{FF2B5EF4-FFF2-40B4-BE49-F238E27FC236}">
                <a16:creationId xmlns:a16="http://schemas.microsoft.com/office/drawing/2014/main" id="{6A651AA2-7D2D-4C41-846C-C8ADA5769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401300" y="2686050"/>
            <a:ext cx="0" cy="228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000000"/>
            </a:solidFill>
            <a:prstDash val="solid"/>
          </a:ln>
        </p:spPr>
      </p:sp>
      <p:cxnSp>
        <p:nvCxnSpPr>
          <p:cNvPr id="58" name="candidate-arrow-209">
            <a:extLst xmlns:a="http://schemas.openxmlformats.org/drawingml/2006/main">
              <a:ext uri="{FF2B5EF4-FFF2-40B4-BE49-F238E27FC236}">
                <a16:creationId xmlns:a16="http://schemas.microsoft.com/office/drawing/2014/main" id="{57F93556-D4CD-4553-B08D-609657F80CB0}"/>
              </a:ext>
            </a:extLst>
          </p:cNvPr>
          <p:cNvCxnSpPr/>
          <p:nvPr/>
        </p:nvCxnSpPr>
        <p:spPr>
          <a:xfrm xmlns:a="http://schemas.openxmlformats.org/drawingml/2006/main" flipH="1" flipV="0">
            <a:off x="9334500" y="2914650"/>
            <a:ext cx="1066800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000000"/>
            </a:solidFill>
            <a:prstDash val="solid"/>
            <a:tailEnd type="triangle" w="sm" len="sm"/>
          </a:ln>
        </p:spPr>
      </p:cxnSp>
      <p:sp>
        <p:nvSpPr>
          <p:cNvPr id="59" name="candidate-box-210">
            <a:extLst xmlns:a="http://schemas.openxmlformats.org/drawingml/2006/main">
              <a:ext uri="{FF2B5EF4-FFF2-40B4-BE49-F238E27FC236}">
                <a16:creationId xmlns:a16="http://schemas.microsoft.com/office/drawing/2014/main" id="{7A13AF96-CB18-49BC-8C0D-325E5959D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3095625"/>
            <a:ext cx="261937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00000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000000"/>
                </a:solidFill>
              </a:defRPr>
            </a:pPr>
            <a:r>
              <a:rPr b="1">
                <a:latin typeface="Droid Sans Fallback"/>
                <a:ea typeface="Droid Sans Fallback"/>
                <a:cs typeface="Droid Sans Fallback"/>
              </a:rPr>
              <a:t>选择下一成员</a:t>
            </a:r>
          </a:p>
        </p:txBody>
      </p:sp>
      <p:cxnSp>
        <p:nvCxnSpPr>
          <p:cNvPr id="60" name="candidate-arrow-211">
            <a:extLst xmlns:a="http://schemas.openxmlformats.org/drawingml/2006/main">
              <a:ext uri="{FF2B5EF4-FFF2-40B4-BE49-F238E27FC236}">
                <a16:creationId xmlns:a16="http://schemas.microsoft.com/office/drawing/2014/main" id="{111C5BD2-DC7E-46F3-850E-CCFA9598D614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9334500" y="3486150"/>
            <a:ext cx="0" cy="15240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000000"/>
            </a:solidFill>
            <a:prstDash val="solid"/>
            <a:tailEnd type="triangle" w="sm" len="sm"/>
          </a:ln>
        </p:spPr>
      </p:cxnSp>
      <p:sp>
        <p:nvSpPr>
          <p:cNvPr id="61" name="candidate-box-212">
            <a:extLst xmlns:a="http://schemas.openxmlformats.org/drawingml/2006/main">
              <a:ext uri="{FF2B5EF4-FFF2-40B4-BE49-F238E27FC236}">
                <a16:creationId xmlns:a16="http://schemas.microsoft.com/office/drawing/2014/main" id="{29CC9617-A599-4D1A-BD8C-B303BC6EA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3638550"/>
            <a:ext cx="261937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00000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650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加入成员，更新人员候选</a:t>
            </a:r>
          </a:p>
        </p:txBody>
      </p:sp>
      <p:sp>
        <p:nvSpPr>
          <p:cNvPr id="62" name="candidate-line-213">
            <a:extLst xmlns:a="http://schemas.openxmlformats.org/drawingml/2006/main">
              <a:ext uri="{FF2B5EF4-FFF2-40B4-BE49-F238E27FC236}">
                <a16:creationId xmlns:a16="http://schemas.microsoft.com/office/drawing/2014/main" id="{F5CF86D0-52CA-4FCB-9A96-11D004500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7286625" y="3829050"/>
            <a:ext cx="742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000000"/>
            </a:solidFill>
            <a:prstDash val="solid"/>
          </a:ln>
        </p:spPr>
      </p:sp>
      <p:cxnSp>
        <p:nvCxnSpPr>
          <p:cNvPr id="63" name="candidate-arrow-214">
            <a:extLst xmlns:a="http://schemas.openxmlformats.org/drawingml/2006/main">
              <a:ext uri="{FF2B5EF4-FFF2-40B4-BE49-F238E27FC236}">
                <a16:creationId xmlns:a16="http://schemas.microsoft.com/office/drawing/2014/main" id="{3C8A2A73-C304-4CD6-B245-DE24A679C42C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7286625" y="2419350"/>
            <a:ext cx="0" cy="140970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000000"/>
            </a:solidFill>
            <a:prstDash val="solid"/>
            <a:tailEnd type="triangle" w="sm" len="sm"/>
          </a:ln>
        </p:spPr>
      </p:cxnSp>
      <p:sp>
        <p:nvSpPr>
          <p:cNvPr id="64" name="candidate-text-215">
            <a:extLst xmlns:a="http://schemas.openxmlformats.org/drawingml/2006/main">
              <a:ext uri="{FF2B5EF4-FFF2-40B4-BE49-F238E27FC236}">
                <a16:creationId xmlns:a16="http://schemas.microsoft.com/office/drawing/2014/main" id="{9D699D6A-7AB4-4699-A4B7-2D4A4F4AB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876550"/>
            <a:ext cx="6953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人数未满</a:t>
            </a:r>
          </a:p>
          <a:p xmlns:a="http://schemas.openxmlformats.org/drawingml/2006/main">
            <a:pPr algn="ctr">
              <a:defRPr sz="1350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继续选择</a:t>
            </a:r>
          </a:p>
        </p:txBody>
      </p:sp>
      <p:cxnSp>
        <p:nvCxnSpPr>
          <p:cNvPr id="65" name="candidate-arrow-216">
            <a:extLst xmlns:a="http://schemas.openxmlformats.org/drawingml/2006/main">
              <a:ext uri="{FF2B5EF4-FFF2-40B4-BE49-F238E27FC236}">
                <a16:creationId xmlns:a16="http://schemas.microsoft.com/office/drawing/2014/main" id="{54FEFEAB-C195-4BCD-BB46-3CD6F469BE4B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9334500" y="4029075"/>
            <a:ext cx="0" cy="59055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000000"/>
            </a:solidFill>
            <a:prstDash val="solid"/>
            <a:tailEnd type="triangle" w="sm" len="sm"/>
          </a:ln>
        </p:spPr>
      </p:cxnSp>
      <p:sp>
        <p:nvSpPr>
          <p:cNvPr id="66" name="candidate-text-217">
            <a:extLst xmlns:a="http://schemas.openxmlformats.org/drawingml/2006/main">
              <a:ext uri="{FF2B5EF4-FFF2-40B4-BE49-F238E27FC236}">
                <a16:creationId xmlns:a16="http://schemas.microsoft.com/office/drawing/2014/main" id="{2DA9D11C-AE6D-4988-B695-755FDA96F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133850"/>
            <a:ext cx="1847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425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425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达到工序需求人数</a:t>
            </a:r>
          </a:p>
        </p:txBody>
      </p:sp>
      <p:sp>
        <p:nvSpPr>
          <p:cNvPr id="67" name="candidate-box-218">
            <a:extLst xmlns:a="http://schemas.openxmlformats.org/drawingml/2006/main">
              <a:ext uri="{FF2B5EF4-FFF2-40B4-BE49-F238E27FC236}">
                <a16:creationId xmlns:a16="http://schemas.microsoft.com/office/drawing/2014/main" id="{97E20428-AD65-4BCD-A3FC-0420351B4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4619625"/>
            <a:ext cx="41148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00000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000000"/>
                </a:solidFill>
              </a:defRPr>
            </a:pPr>
            <a:r>
              <a:rPr b="1">
                <a:latin typeface="Droid Sans Fallback"/>
                <a:ea typeface="Droid Sans Fallback"/>
                <a:cs typeface="Droid Sans Fallback"/>
              </a:rPr>
              <a:t>完整动作</a:t>
            </a:r>
          </a:p>
          <a:p xmlns:a="http://schemas.openxmlformats.org/drawingml/2006/main">
            <a:pPr algn="ctr">
              <a:defRPr sz="1725" b="1">
                <a:solidFill>
                  <a:srgbClr val="000000"/>
                </a:solidFill>
              </a:defRPr>
            </a:pPr>
            <a:r>
              <a:rPr b="1">
                <a:latin typeface="Droid Sans Fallback"/>
                <a:ea typeface="Droid Sans Fallback"/>
                <a:cs typeface="Droid Sans Fallback"/>
              </a:rPr>
              <a:t>工序</a:t>
            </a:r>
            <a:r>
              <a:rPr b="1">
                <a:latin typeface="Nimbus Roman"/>
                <a:ea typeface="Nimbus Roman"/>
                <a:cs typeface="Nimbus Roman"/>
              </a:rPr>
              <a:t> i</a:t>
            </a:r>
            <a:r>
              <a:rPr b="1">
                <a:latin typeface="Droid Sans Fallback"/>
                <a:ea typeface="Droid Sans Fallback"/>
                <a:cs typeface="Droid Sans Fallback"/>
              </a:rPr>
              <a:t>、站位</a:t>
            </a:r>
            <a:r>
              <a:rPr b="1">
                <a:latin typeface="Nimbus Roman"/>
                <a:ea typeface="Nimbus Roman"/>
                <a:cs typeface="Nimbus Roman"/>
              </a:rPr>
              <a:t> m</a:t>
            </a:r>
            <a:r>
              <a:rPr b="1">
                <a:latin typeface="Droid Sans Fallback"/>
                <a:ea typeface="Droid Sans Fallback"/>
                <a:cs typeface="Droid Sans Fallback"/>
              </a:rPr>
              <a:t>、具体团队</a:t>
            </a:r>
            <a:r>
              <a:rPr b="1">
                <a:latin typeface="Nimbus Roman"/>
                <a:ea typeface="Nimbus Roman"/>
                <a:cs typeface="Nimbus Roman"/>
              </a:rPr>
              <a:t> W</a:t>
            </a:r>
          </a:p>
        </p:txBody>
      </p:sp>
      <p:sp>
        <p:nvSpPr>
          <p:cNvPr id="68" name="candidate-line-219">
            <a:extLst xmlns:a="http://schemas.openxmlformats.org/drawingml/2006/main">
              <a:ext uri="{FF2B5EF4-FFF2-40B4-BE49-F238E27FC236}">
                <a16:creationId xmlns:a16="http://schemas.microsoft.com/office/drawing/2014/main" id="{900B3512-A91F-44B2-AE8E-04FDBC8EE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724650" y="4381500"/>
            <a:ext cx="2000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000000"/>
            </a:solidFill>
            <a:prstDash val="solid"/>
          </a:ln>
        </p:spPr>
      </p:sp>
      <p:sp>
        <p:nvSpPr>
          <p:cNvPr id="69" name="candidate-line-220">
            <a:extLst xmlns:a="http://schemas.openxmlformats.org/drawingml/2006/main">
              <a:ext uri="{FF2B5EF4-FFF2-40B4-BE49-F238E27FC236}">
                <a16:creationId xmlns:a16="http://schemas.microsoft.com/office/drawing/2014/main" id="{8476E872-CD5E-4B84-AC23-8705880B9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6924675" y="2419350"/>
            <a:ext cx="0" cy="1962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000000"/>
            </a:solidFill>
            <a:prstDash val="solid"/>
          </a:ln>
        </p:spPr>
      </p:sp>
      <p:cxnSp>
        <p:nvCxnSpPr>
          <p:cNvPr id="70" name="candidate-arrow-221">
            <a:extLst xmlns:a="http://schemas.openxmlformats.org/drawingml/2006/main">
              <a:ext uri="{FF2B5EF4-FFF2-40B4-BE49-F238E27FC236}">
                <a16:creationId xmlns:a16="http://schemas.microsoft.com/office/drawing/2014/main" id="{FCF8C6C7-DB2E-4E50-869D-0C4B260024D5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924675" y="2419350"/>
            <a:ext cx="180975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000000"/>
            </a:solidFill>
            <a:prstDash val="solid"/>
            <a:tailEnd type="triangle" w="sm" len="sm"/>
          </a:ln>
        </p:spPr>
      </p:cxnSp>
      <p:sp>
        <p:nvSpPr>
          <p:cNvPr id="71" name="candidate-box-222">
            <a:extLst xmlns:a="http://schemas.openxmlformats.org/drawingml/2006/main">
              <a:ext uri="{FF2B5EF4-FFF2-40B4-BE49-F238E27FC236}">
                <a16:creationId xmlns:a16="http://schemas.microsoft.com/office/drawing/2014/main" id="{E549065B-07FB-430D-BA15-ABF51D80C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543550"/>
            <a:ext cx="33813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00000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650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前驱完成＋人员日历</a:t>
            </a:r>
          </a:p>
          <a:p xmlns:a="http://schemas.openxmlformats.org/drawingml/2006/main">
            <a:pPr algn="ctr">
              <a:defRPr sz="1650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分配合法起止时刻</a:t>
            </a:r>
          </a:p>
        </p:txBody>
      </p:sp>
      <p:sp>
        <p:nvSpPr>
          <p:cNvPr id="72" name="candidate-box-223">
            <a:extLst xmlns:a="http://schemas.openxmlformats.org/drawingml/2006/main">
              <a:ext uri="{FF2B5EF4-FFF2-40B4-BE49-F238E27FC236}">
                <a16:creationId xmlns:a16="http://schemas.microsoft.com/office/drawing/2014/main" id="{7358BBC2-AC87-4506-80AA-DE44E1AD9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543550"/>
            <a:ext cx="51244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00000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650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写入安排、人员占用与首次使用绑定</a:t>
            </a:r>
          </a:p>
        </p:txBody>
      </p:sp>
      <p:sp>
        <p:nvSpPr>
          <p:cNvPr id="73" name="candidate-box-224">
            <a:extLst xmlns:a="http://schemas.openxmlformats.org/drawingml/2006/main">
              <a:ext uri="{FF2B5EF4-FFF2-40B4-BE49-F238E27FC236}">
                <a16:creationId xmlns:a16="http://schemas.microsoft.com/office/drawing/2014/main" id="{1A60579E-1AAA-42EF-BC93-EF8F3435E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5543550"/>
            <a:ext cx="17526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00000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00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000000"/>
                </a:solidFill>
              </a:defRPr>
            </a:pPr>
            <a:r>
              <a:rPr b="1">
                <a:latin typeface="Droid Sans Fallback"/>
                <a:ea typeface="Droid Sans Fallback"/>
                <a:cs typeface="Droid Sans Fallback"/>
              </a:rPr>
              <a:t>全部安排完成</a:t>
            </a:r>
          </a:p>
          <a:p xmlns:a="http://schemas.openxmlformats.org/drawingml/2006/main">
            <a:pPr algn="ctr">
              <a:defRPr sz="1500" b="1">
                <a:solidFill>
                  <a:srgbClr val="000000"/>
                </a:solidFill>
              </a:defRPr>
            </a:pPr>
            <a:r>
              <a:rPr b="1">
                <a:latin typeface="Droid Sans Fallback"/>
                <a:ea typeface="Droid Sans Fallback"/>
                <a:cs typeface="Droid Sans Fallback"/>
              </a:rPr>
              <a:t>基准排程</a:t>
            </a:r>
          </a:p>
        </p:txBody>
      </p:sp>
      <p:sp>
        <p:nvSpPr>
          <p:cNvPr id="74" name="candidate-line-225">
            <a:extLst xmlns:a="http://schemas.openxmlformats.org/drawingml/2006/main">
              <a:ext uri="{FF2B5EF4-FFF2-40B4-BE49-F238E27FC236}">
                <a16:creationId xmlns:a16="http://schemas.microsoft.com/office/drawing/2014/main" id="{EA2C1CAA-05CF-482A-9E00-D6F59804A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324975" y="5286375"/>
            <a:ext cx="0" cy="142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000000"/>
            </a:solidFill>
            <a:prstDash val="solid"/>
          </a:ln>
        </p:spPr>
      </p:sp>
      <p:sp>
        <p:nvSpPr>
          <p:cNvPr id="75" name="candidate-line-226">
            <a:extLst xmlns:a="http://schemas.openxmlformats.org/drawingml/2006/main">
              <a:ext uri="{FF2B5EF4-FFF2-40B4-BE49-F238E27FC236}">
                <a16:creationId xmlns:a16="http://schemas.microsoft.com/office/drawing/2014/main" id="{9248640C-DF14-4556-A39E-626A7B3CD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2305050" y="5429250"/>
            <a:ext cx="70199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000000"/>
            </a:solidFill>
            <a:prstDash val="solid"/>
          </a:ln>
        </p:spPr>
      </p:sp>
      <p:cxnSp>
        <p:nvCxnSpPr>
          <p:cNvPr id="76" name="candidate-arrow-227">
            <a:extLst xmlns:a="http://schemas.openxmlformats.org/drawingml/2006/main">
              <a:ext uri="{FF2B5EF4-FFF2-40B4-BE49-F238E27FC236}">
                <a16:creationId xmlns:a16="http://schemas.microsoft.com/office/drawing/2014/main" id="{FBBB97CF-18AF-467E-B6DA-D7F79D34C6D4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2305050" y="5429250"/>
            <a:ext cx="0" cy="11430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000000"/>
            </a:solidFill>
            <a:prstDash val="solid"/>
            <a:tailEnd type="triangle" w="sm" len="sm"/>
          </a:ln>
        </p:spPr>
      </p:cxnSp>
      <p:cxnSp>
        <p:nvCxnSpPr>
          <p:cNvPr id="77" name="candidate-arrow-228">
            <a:extLst xmlns:a="http://schemas.openxmlformats.org/drawingml/2006/main">
              <a:ext uri="{FF2B5EF4-FFF2-40B4-BE49-F238E27FC236}">
                <a16:creationId xmlns:a16="http://schemas.microsoft.com/office/drawing/2014/main" id="{341CE8D8-3D20-43E6-8F9C-F627C8F0B90B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4000500" y="5772150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000000"/>
            </a:solidFill>
            <a:prstDash val="solid"/>
            <a:tailEnd type="triangle" w="sm" len="sm"/>
          </a:ln>
        </p:spPr>
      </p:cxnSp>
      <p:cxnSp>
        <p:nvCxnSpPr>
          <p:cNvPr id="78" name="candidate-arrow-229">
            <a:extLst xmlns:a="http://schemas.openxmlformats.org/drawingml/2006/main">
              <a:ext uri="{FF2B5EF4-FFF2-40B4-BE49-F238E27FC236}">
                <a16:creationId xmlns:a16="http://schemas.microsoft.com/office/drawing/2014/main" id="{7B028CA7-3DF3-4E34-BEB5-E0D3B8033377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9505950" y="5772150"/>
            <a:ext cx="314325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000000"/>
            </a:solidFill>
            <a:prstDash val="solid"/>
            <a:tailEnd type="triangle" w="sm" len="sm"/>
          </a:ln>
        </p:spPr>
      </p:cxnSp>
      <p:sp>
        <p:nvSpPr>
          <p:cNvPr id="79" name="candidate-text-230">
            <a:extLst xmlns:a="http://schemas.openxmlformats.org/drawingml/2006/main">
              <a:ext uri="{FF2B5EF4-FFF2-40B4-BE49-F238E27FC236}">
                <a16:creationId xmlns:a16="http://schemas.microsoft.com/office/drawing/2014/main" id="{121C1C3C-9503-4A20-B1DE-C687E99B1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019800"/>
            <a:ext cx="10953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75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000000"/>
                </a:solidFill>
              </a:defRPr>
            </a:pPr>
            <a:r>
              <a:rPr b="1">
                <a:latin typeface="Droid Sans Fallback"/>
                <a:ea typeface="Droid Sans Fallback"/>
                <a:cs typeface="Droid Sans Fallback"/>
              </a:rPr>
              <a:t>各选择读取共享图表示；状态更新后继续构造，全部完成时输出排程</a:t>
            </a:r>
          </a:p>
        </p:txBody>
      </p:sp>
    </p:spTree>
    <p:extLst>
      <p:ext uri="{BB962C8B-B14F-4D97-AF65-F5344CB8AC3E}">
        <p14:creationId xmlns:p14="http://schemas.microsoft.com/office/powerpoint/2010/main" val="129436138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F35B6D2-F161-40E2-8740-E926C22D1080}"/>
              </a:ext>
            </a:extLst>
          </p:cNvPr>
          <p:cNvCxnSpPr>
            <a:stCxn xmlns:a="http://schemas.openxmlformats.org/drawingml/2006/main" id="22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7124700" y="2590800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000000"/>
            </a:solidFill>
            <a:prstDash val="solid"/>
            <a:tailEnd type="triangle" w="sm" len="sm"/>
          </a:ln>
        </p:spPr>
      </p:cxnSp>
      <p:cxnSp>
        <p:nvCxn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61F7F3C-1C25-4E3A-8A34-74A149BFD80D}"/>
              </a:ext>
            </a:extLst>
          </p:cNvPr>
          <p:cNvCxnSpPr>
            <a:stCxn xmlns:a="http://schemas.openxmlformats.org/drawingml/2006/main" id="26" idx="3"/>
            <a:endCxn xmlns:a="http://schemas.openxmlformats.org/drawingml/2006/main" id="27" idx="1"/>
          </p:cNvCxnSpPr>
          <p:nvPr/>
        </p:nvCxnSpPr>
        <p:spPr>
          <a:xfrm xmlns:a="http://schemas.openxmlformats.org/drawingml/2006/main">
            <a:off x="9505950" y="2590800"/>
            <a:ext cx="295275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000000"/>
            </a:solidFill>
            <a:prstDash val="solid"/>
            <a:tailEnd type="triangle" w="sm" len="sm"/>
          </a:ln>
        </p:spPr>
      </p:cxnSp>
      <p:cxnSp>
        <p:nvCxn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0FCDC17-B717-4C2B-B43C-CD467DDF9F3A}"/>
              </a:ext>
            </a:extLst>
          </p:cNvPr>
          <p:cNvCxnSpPr>
            <a:stCxn xmlns:a="http://schemas.openxmlformats.org/drawingml/2006/main" id="25" idx="3"/>
            <a:endCxn xmlns:a="http://schemas.openxmlformats.org/drawingml/2006/main" id="26" idx="1"/>
          </p:cNvCxnSpPr>
          <p:nvPr/>
        </p:nvCxnSpPr>
        <p:spPr>
          <a:xfrm xmlns:a="http://schemas.openxmlformats.org/drawingml/2006/main">
            <a:off x="8286750" y="2590800"/>
            <a:ext cx="295275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000000"/>
            </a:solidFill>
            <a:prstDash val="solid"/>
            <a:tailEnd type="triangle" w="sm" len="sm"/>
          </a:ln>
        </p:spPr>
      </p:cxnSp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41AE5BC-CC1C-4CE5-A3E7-CB5F99BE36C7}"/>
              </a:ext>
            </a:extLst>
          </p:cNvPr>
          <p:cNvCxnSpPr>
            <a:stCxn xmlns:a="http://schemas.openxmlformats.org/drawingml/2006/main" id="10" idx="6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1581150" y="3400425"/>
            <a:ext cx="828675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000000"/>
            </a:solidFill>
            <a:prstDash val="solid"/>
            <a:headEnd type="triangle" w="sm" len="sm"/>
            <a:tailEnd type="triangle" w="sm" len="sm"/>
          </a:ln>
        </p:spPr>
      </p:cxn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F7F025B-7670-4AA0-BA1D-BECF750F62C0}"/>
              </a:ext>
            </a:extLst>
          </p:cNvPr>
          <p:cNvCxnSpPr>
            <a:stCxn xmlns:a="http://schemas.openxmlformats.org/drawingml/2006/main" id="8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 flipH="1">
            <a:off x="3009900" y="2152650"/>
            <a:ext cx="19050" cy="847725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000000"/>
            </a:solidFill>
            <a:prstDash val="solid"/>
            <a:headEnd type="triangle" w="sm" len="sm"/>
            <a:tailEnd type="triangle" w="sm" len="sm"/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862DB8-A176-42FF-8231-FCA3D282B4FA}"/>
              </a:ext>
            </a:extLst>
          </p:cNvPr>
          <p:cNvCxnSpPr>
            <a:stCxn xmlns:a="http://schemas.openxmlformats.org/drawingml/2006/main" id="7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 flipH="1">
            <a:off x="1100138" y="2152650"/>
            <a:ext cx="19050" cy="95250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000000"/>
            </a:solidFill>
            <a:prstDash val="solid"/>
            <a:tailEnd type="triangle" w="sm" len="sm"/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3233D2-5815-4D18-B26C-B22D63DC1E3B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9" idx="3"/>
          </p:cNvCxnSpPr>
          <p:nvPr/>
        </p:nvCxnSpPr>
        <p:spPr>
          <a:xfrm xmlns:a="http://schemas.openxmlformats.org/drawingml/2006/main">
            <a:off x="3533775" y="1909763"/>
            <a:ext cx="581025" cy="4763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000000"/>
            </a:solidFill>
            <a:prstDash val="solid"/>
            <a:headEnd type="triangle" w="sm" len="sm"/>
            <a:tailEnd type="triangle" w="sm" len="sm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21E5A5-1B51-48AA-966C-0EF410B7536D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1619250" y="1909763"/>
            <a:ext cx="904875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000000"/>
            </a:solidFill>
            <a:prstDash val="solid"/>
            <a:tailEnd type="triangle" w="sm" len="sm"/>
          </a:ln>
        </p:spPr>
      </p:cxnSp>
      <p:sp>
        <p:nvSpPr>
          <p:cNvPr id="62" name="candidate-text-231">
            <a:extLst xmlns:a="http://schemas.openxmlformats.org/drawingml/2006/main">
              <a:ext uri="{FF2B5EF4-FFF2-40B4-BE49-F238E27FC236}">
                <a16:creationId xmlns:a16="http://schemas.microsoft.com/office/drawing/2014/main" id="{409C4BF6-B2E1-4472-BCB7-2C8ECD2BF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57175"/>
            <a:ext cx="112014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700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000000"/>
                </a:solidFill>
              </a:defRPr>
            </a:pPr>
            <a:r>
              <a:rPr b="1">
                <a:latin typeface="Droid Sans Fallback"/>
                <a:ea typeface="Droid Sans Fallback"/>
                <a:cs typeface="Droid Sans Fallback"/>
              </a:rPr>
              <a:t>技术路线二：异构联合调度与计划稳定性</a:t>
            </a:r>
          </a:p>
        </p:txBody>
      </p:sp>
      <p:sp>
        <p:nvSpPr>
          <p:cNvPr id="2" name="candidate-line-232">
            <a:extLst xmlns:a="http://schemas.openxmlformats.org/drawingml/2006/main">
              <a:ext uri="{FF2B5EF4-FFF2-40B4-BE49-F238E27FC236}">
                <a16:creationId xmlns:a16="http://schemas.microsoft.com/office/drawing/2014/main" id="{FBFBC4B8-CC2B-4D16-A9E5-F480017DA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95300" y="8953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3" name="candidate-line-233">
            <a:extLst xmlns:a="http://schemas.openxmlformats.org/drawingml/2006/main">
              <a:ext uri="{FF2B5EF4-FFF2-40B4-BE49-F238E27FC236}">
                <a16:creationId xmlns:a16="http://schemas.microsoft.com/office/drawing/2014/main" id="{47FBD105-22FD-4582-9A6F-A00FD8AFE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95300" y="6410325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000000"/>
            </a:solidFill>
            <a:prstDash val="solid"/>
          </a:ln>
        </p:spPr>
      </p:sp>
      <p:sp>
        <p:nvSpPr>
          <p:cNvPr id="4" name="candidate-text-234">
            <a:extLst xmlns:a="http://schemas.openxmlformats.org/drawingml/2006/main">
              <a:ext uri="{FF2B5EF4-FFF2-40B4-BE49-F238E27FC236}">
                <a16:creationId xmlns:a16="http://schemas.microsoft.com/office/drawing/2014/main" id="{BC8D491E-DAA6-4A58-B5A5-45F7A3014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技术路线</a:t>
            </a:r>
          </a:p>
        </p:txBody>
      </p:sp>
      <p:sp>
        <p:nvSpPr>
          <p:cNvPr id="5" name="candidate-text-235">
            <a:extLst xmlns:a="http://schemas.openxmlformats.org/drawingml/2006/main">
              <a:ext uri="{FF2B5EF4-FFF2-40B4-BE49-F238E27FC236}">
                <a16:creationId xmlns:a16="http://schemas.microsoft.com/office/drawing/2014/main" id="{6BBAD7B6-818E-4F5C-A509-6177BAADC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6457950"/>
            <a:ext cx="11525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350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000000"/>
                </a:solidFill>
              </a:defRPr>
            </a:pPr>
            <a:r>
              <a:rPr b="0">
                <a:latin typeface="Nimbus Roman"/>
                <a:ea typeface="Nimbus Roman"/>
                <a:cs typeface="Nimbus Roman"/>
              </a:rPr>
              <a:t>12A1</a:t>
            </a:r>
          </a:p>
        </p:txBody>
      </p:sp>
      <p:sp>
        <p:nvSpPr>
          <p:cNvPr id="6" name="candidate-text-236">
            <a:extLst xmlns:a="http://schemas.openxmlformats.org/drawingml/2006/main">
              <a:ext uri="{FF2B5EF4-FFF2-40B4-BE49-F238E27FC236}">
                <a16:creationId xmlns:a16="http://schemas.microsoft.com/office/drawing/2014/main" id="{2BB1A144-2607-4705-8CD1-F324D6D6D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104900"/>
            <a:ext cx="10906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950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0000"/>
                </a:solidFill>
              </a:defRPr>
            </a:pPr>
            <a:r>
              <a:rPr b="1">
                <a:latin typeface="Droid Sans Fallback"/>
                <a:ea typeface="Droid Sans Fallback"/>
                <a:cs typeface="Droid Sans Fallback"/>
              </a:rPr>
              <a:t>异构图联合调度</a:t>
            </a:r>
          </a:p>
        </p:txBody>
      </p:sp>
      <p:sp>
        <p:nvSpPr>
          <p:cNvPr id="7" name="candidate-box-237">
            <a:extLst xmlns:a="http://schemas.openxmlformats.org/drawingml/2006/main">
              <a:ext uri="{FF2B5EF4-FFF2-40B4-BE49-F238E27FC236}">
                <a16:creationId xmlns:a16="http://schemas.microsoft.com/office/drawing/2014/main" id="{BA4A37CD-257B-44CA-9C45-F6190F26F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666875"/>
            <a:ext cx="100012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00000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00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工序</a:t>
            </a:r>
            <a:r>
              <a:rPr b="0">
                <a:latin typeface="Nimbus Roman"/>
                <a:ea typeface="Nimbus Roman"/>
                <a:cs typeface="Nimbus Roman"/>
              </a:rPr>
              <a:t>1</a:t>
            </a:r>
          </a:p>
        </p:txBody>
      </p:sp>
      <p:sp>
        <p:nvSpPr>
          <p:cNvPr id="8" name="candidate-box-238">
            <a:extLst xmlns:a="http://schemas.openxmlformats.org/drawingml/2006/main">
              <a:ext uri="{FF2B5EF4-FFF2-40B4-BE49-F238E27FC236}">
                <a16:creationId xmlns:a16="http://schemas.microsoft.com/office/drawing/2014/main" id="{09020789-F84D-4246-8C8E-6E0CC12C4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1666875"/>
            <a:ext cx="100965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00000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00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工序</a:t>
            </a:r>
            <a:r>
              <a:rPr b="0">
                <a:latin typeface="Nimbus Roman"/>
                <a:ea typeface="Nimbus Roman"/>
                <a:cs typeface="Nimbus Roman"/>
              </a:rPr>
              <a:t>2</a:t>
            </a:r>
          </a:p>
        </p:txBody>
      </p:sp>
      <p:sp>
        <p:nvSpPr>
          <p:cNvPr id="9" name="candidate-box-239">
            <a:extLst xmlns:a="http://schemas.openxmlformats.org/drawingml/2006/main">
              <a:ext uri="{FF2B5EF4-FFF2-40B4-BE49-F238E27FC236}">
                <a16:creationId xmlns:a16="http://schemas.microsoft.com/office/drawing/2014/main" id="{DBF83D1F-3C7C-4AD3-A4B2-7FC4483D4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1647825"/>
            <a:ext cx="1019175" cy="533400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00000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00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站位</a:t>
            </a:r>
          </a:p>
        </p:txBody>
      </p:sp>
      <p:sp>
        <p:nvSpPr>
          <p:cNvPr id="10" name="candidate-box-240">
            <a:extLst xmlns:a="http://schemas.openxmlformats.org/drawingml/2006/main">
              <a:ext uri="{FF2B5EF4-FFF2-40B4-BE49-F238E27FC236}">
                <a16:creationId xmlns:a16="http://schemas.microsoft.com/office/drawing/2014/main" id="{E6386461-B31B-4D72-9C46-898195487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105150"/>
            <a:ext cx="962025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00000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00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人员</a:t>
            </a:r>
          </a:p>
        </p:txBody>
      </p:sp>
      <p:sp>
        <p:nvSpPr>
          <p:cNvPr id="11" name="candidate-box-241">
            <a:extLst xmlns:a="http://schemas.openxmlformats.org/drawingml/2006/main">
              <a:ext uri="{FF2B5EF4-FFF2-40B4-BE49-F238E27FC236}">
                <a16:creationId xmlns:a16="http://schemas.microsoft.com/office/drawing/2014/main" id="{57B5B6D2-9BCF-43B8-9F93-9D8259D15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3000375"/>
            <a:ext cx="1200150" cy="8001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00000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00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技能</a:t>
            </a:r>
          </a:p>
        </p:txBody>
      </p:sp>
      <p:sp>
        <p:nvSpPr>
          <p:cNvPr id="13" name="candidate-text-242">
            <a:extLst xmlns:a="http://schemas.openxmlformats.org/drawingml/2006/main">
              <a:ext uri="{FF2B5EF4-FFF2-40B4-BE49-F238E27FC236}">
                <a16:creationId xmlns:a16="http://schemas.microsoft.com/office/drawing/2014/main" id="{434A4DA9-26BA-455B-8A0D-02DE3BD39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" y="1628775"/>
            <a:ext cx="5810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650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前序</a:t>
            </a:r>
          </a:p>
        </p:txBody>
      </p:sp>
      <p:sp>
        <p:nvSpPr>
          <p:cNvPr id="15" name="candidate-text-243">
            <a:extLst xmlns:a="http://schemas.openxmlformats.org/drawingml/2006/main">
              <a:ext uri="{FF2B5EF4-FFF2-40B4-BE49-F238E27FC236}">
                <a16:creationId xmlns:a16="http://schemas.microsoft.com/office/drawing/2014/main" id="{E6ACC187-08E6-43CF-8B7B-27D702C9E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1628775"/>
            <a:ext cx="5048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575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归属</a:t>
            </a:r>
          </a:p>
        </p:txBody>
      </p:sp>
      <p:sp>
        <p:nvSpPr>
          <p:cNvPr id="17" name="candidate-text-244">
            <a:extLst xmlns:a="http://schemas.openxmlformats.org/drawingml/2006/main">
              <a:ext uri="{FF2B5EF4-FFF2-40B4-BE49-F238E27FC236}">
                <a16:creationId xmlns:a16="http://schemas.microsoft.com/office/drawing/2014/main" id="{A84949F9-CF4D-4AF3-8077-E1E5DB78C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514600"/>
            <a:ext cx="6572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650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安排</a:t>
            </a:r>
          </a:p>
        </p:txBody>
      </p:sp>
      <p:sp>
        <p:nvSpPr>
          <p:cNvPr id="19" name="candidate-text-245">
            <a:extLst xmlns:a="http://schemas.openxmlformats.org/drawingml/2006/main">
              <a:ext uri="{FF2B5EF4-FFF2-40B4-BE49-F238E27FC236}">
                <a16:creationId xmlns:a16="http://schemas.microsoft.com/office/drawing/2014/main" id="{867EA176-B55A-40E9-86B0-1F3406CC3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466975"/>
            <a:ext cx="6572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650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需求</a:t>
            </a:r>
          </a:p>
        </p:txBody>
      </p:sp>
      <p:sp>
        <p:nvSpPr>
          <p:cNvPr id="21" name="candidate-text-246">
            <a:extLst xmlns:a="http://schemas.openxmlformats.org/drawingml/2006/main">
              <a:ext uri="{FF2B5EF4-FFF2-40B4-BE49-F238E27FC236}">
                <a16:creationId xmlns:a16="http://schemas.microsoft.com/office/drawing/2014/main" id="{1B625E56-0F1E-4678-AB29-73095645B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076575"/>
            <a:ext cx="5810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650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资格</a:t>
            </a:r>
          </a:p>
        </p:txBody>
      </p:sp>
      <p:sp>
        <p:nvSpPr>
          <p:cNvPr id="22" name="candidate-box-247">
            <a:extLst xmlns:a="http://schemas.openxmlformats.org/drawingml/2006/main">
              <a:ext uri="{FF2B5EF4-FFF2-40B4-BE49-F238E27FC236}">
                <a16:creationId xmlns:a16="http://schemas.microsoft.com/office/drawing/2014/main" id="{BECD11AF-5588-41F7-8392-487790FD3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209800"/>
            <a:ext cx="1714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00000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650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异构图编码</a:t>
            </a:r>
          </a:p>
          <a:p xmlns:a="http://schemas.openxmlformats.org/drawingml/2006/main">
            <a:pPr algn="ctr">
              <a:defRPr sz="1650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按关系传播</a:t>
            </a:r>
          </a:p>
          <a:p xmlns:a="http://schemas.openxmlformats.org/drawingml/2006/main">
            <a:pPr algn="ctr">
              <a:defRPr sz="1650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节点与全局读出</a:t>
            </a:r>
          </a:p>
        </p:txBody>
      </p:sp>
      <p:cxnSp>
        <p:nvCxnSpPr>
          <p:cNvPr id="23" name="candidate-arrow-248">
            <a:extLst xmlns:a="http://schemas.openxmlformats.org/drawingml/2006/main">
              <a:ext uri="{FF2B5EF4-FFF2-40B4-BE49-F238E27FC236}">
                <a16:creationId xmlns:a16="http://schemas.microsoft.com/office/drawing/2014/main" id="{648AE435-DE78-4B7F-B222-12DEE24DB5A2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5172075" y="2590800"/>
            <a:ext cx="238125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000000"/>
            </a:solidFill>
            <a:prstDash val="solid"/>
            <a:tailEnd type="triangle" w="sm" len="sm"/>
          </a:ln>
        </p:spPr>
      </p:cxnSp>
      <p:sp>
        <p:nvSpPr>
          <p:cNvPr id="24" name="candidate-text-249">
            <a:extLst xmlns:a="http://schemas.openxmlformats.org/drawingml/2006/main">
              <a:ext uri="{FF2B5EF4-FFF2-40B4-BE49-F238E27FC236}">
                <a16:creationId xmlns:a16="http://schemas.microsoft.com/office/drawing/2014/main" id="{325B97C8-24AE-427A-A84F-A1E87E1B0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1647825"/>
            <a:ext cx="411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950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950" b="1">
                <a:solidFill>
                  <a:srgbClr val="000000"/>
                </a:solidFill>
              </a:defRPr>
            </a:pPr>
            <a:r>
              <a:rPr b="1">
                <a:latin typeface="Droid Sans Fallback"/>
                <a:ea typeface="Droid Sans Fallback"/>
                <a:cs typeface="Droid Sans Fallback"/>
              </a:rPr>
              <a:t>自回归联合选择</a:t>
            </a:r>
          </a:p>
        </p:txBody>
      </p:sp>
      <p:sp>
        <p:nvSpPr>
          <p:cNvPr id="25" name="candidate-box-250">
            <a:extLst xmlns:a="http://schemas.openxmlformats.org/drawingml/2006/main">
              <a:ext uri="{FF2B5EF4-FFF2-40B4-BE49-F238E27FC236}">
                <a16:creationId xmlns:a16="http://schemas.microsoft.com/office/drawing/2014/main" id="{0BEA8E70-DAD4-43E9-8D18-6AC4C98DF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324100"/>
            <a:ext cx="8763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00000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00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工序</a:t>
            </a:r>
          </a:p>
        </p:txBody>
      </p:sp>
      <p:sp>
        <p:nvSpPr>
          <p:cNvPr id="26" name="candidate-box-251">
            <a:extLst xmlns:a="http://schemas.openxmlformats.org/drawingml/2006/main">
              <a:ext uri="{FF2B5EF4-FFF2-40B4-BE49-F238E27FC236}">
                <a16:creationId xmlns:a16="http://schemas.microsoft.com/office/drawing/2014/main" id="{5E0DEA31-1B47-48FC-86F4-117E4ADE6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2324100"/>
            <a:ext cx="9239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00000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00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站位</a:t>
            </a:r>
          </a:p>
        </p:txBody>
      </p:sp>
      <p:sp>
        <p:nvSpPr>
          <p:cNvPr id="27" name="candidate-box-252">
            <a:extLst xmlns:a="http://schemas.openxmlformats.org/drawingml/2006/main">
              <a:ext uri="{FF2B5EF4-FFF2-40B4-BE49-F238E27FC236}">
                <a16:creationId xmlns:a16="http://schemas.microsoft.com/office/drawing/2014/main" id="{58E2F3E2-46A2-46BA-AAC4-646E3C867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2143125"/>
            <a:ext cx="17145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00000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725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具体团队</a:t>
            </a:r>
          </a:p>
          <a:p xmlns:a="http://schemas.openxmlformats.org/drawingml/2006/main">
            <a:pPr algn="ctr">
              <a:defRPr sz="1725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逐人选择</a:t>
            </a:r>
          </a:p>
          <a:p xmlns:a="http://schemas.openxmlformats.org/drawingml/2006/main">
            <a:pPr algn="ctr">
              <a:defRPr sz="1725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至给定人数</a:t>
            </a:r>
          </a:p>
        </p:txBody>
      </p:sp>
      <p:sp>
        <p:nvSpPr>
          <p:cNvPr id="31" name="candidate-text-253">
            <a:extLst xmlns:a="http://schemas.openxmlformats.org/drawingml/2006/main">
              <a:ext uri="{FF2B5EF4-FFF2-40B4-BE49-F238E27FC236}">
                <a16:creationId xmlns:a16="http://schemas.microsoft.com/office/drawing/2014/main" id="{F7ED844C-036F-410E-B395-C3C1C2BED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895600"/>
            <a:ext cx="23907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00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500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逐步屏蔽非法候选</a:t>
            </a:r>
          </a:p>
        </p:txBody>
      </p:sp>
      <p:sp>
        <p:nvSpPr>
          <p:cNvPr id="32" name="candidate-box-254">
            <a:extLst xmlns:a="http://schemas.openxmlformats.org/drawingml/2006/main">
              <a:ext uri="{FF2B5EF4-FFF2-40B4-BE49-F238E27FC236}">
                <a16:creationId xmlns:a16="http://schemas.microsoft.com/office/drawing/2014/main" id="{666E53ED-A3BB-4BE7-A226-4E89A193F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267075"/>
            <a:ext cx="41148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00000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00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前向时间分配与状态更新</a:t>
            </a:r>
          </a:p>
        </p:txBody>
      </p:sp>
      <p:sp>
        <p:nvSpPr>
          <p:cNvPr id="33" name="candidate-line-255">
            <a:extLst xmlns:a="http://schemas.openxmlformats.org/drawingml/2006/main">
              <a:ext uri="{FF2B5EF4-FFF2-40B4-BE49-F238E27FC236}">
                <a16:creationId xmlns:a16="http://schemas.microsoft.com/office/drawing/2014/main" id="{54074CBC-EB3C-4930-8878-08767A3A7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668000" y="3038475"/>
            <a:ext cx="0" cy="171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000000"/>
            </a:solidFill>
            <a:prstDash val="solid"/>
          </a:ln>
        </p:spPr>
      </p:sp>
      <p:sp>
        <p:nvSpPr>
          <p:cNvPr id="34" name="candidate-line-256">
            <a:extLst xmlns:a="http://schemas.openxmlformats.org/drawingml/2006/main">
              <a:ext uri="{FF2B5EF4-FFF2-40B4-BE49-F238E27FC236}">
                <a16:creationId xmlns:a16="http://schemas.microsoft.com/office/drawing/2014/main" id="{03F8BA44-ED59-42C6-89CE-99436DE9B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9467850" y="3209925"/>
            <a:ext cx="1200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000000"/>
            </a:solidFill>
            <a:prstDash val="solid"/>
          </a:ln>
        </p:spPr>
      </p:sp>
      <p:cxnSp>
        <p:nvCxnSpPr>
          <p:cNvPr id="35" name="candidate-arrow-257">
            <a:extLst xmlns:a="http://schemas.openxmlformats.org/drawingml/2006/main">
              <a:ext uri="{FF2B5EF4-FFF2-40B4-BE49-F238E27FC236}">
                <a16:creationId xmlns:a16="http://schemas.microsoft.com/office/drawing/2014/main" id="{E05E5710-0263-4847-9DBB-7FB990EA9F55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9467850" y="3209925"/>
            <a:ext cx="0" cy="5715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000000"/>
            </a:solidFill>
            <a:prstDash val="solid"/>
            <a:tailEnd type="triangle" w="sm" len="sm"/>
          </a:ln>
        </p:spPr>
      </p:cxnSp>
      <p:sp>
        <p:nvSpPr>
          <p:cNvPr id="36" name="candidate-line-258">
            <a:extLst xmlns:a="http://schemas.openxmlformats.org/drawingml/2006/main">
              <a:ext uri="{FF2B5EF4-FFF2-40B4-BE49-F238E27FC236}">
                <a16:creationId xmlns:a16="http://schemas.microsoft.com/office/drawing/2014/main" id="{CC99A740-8F7C-4959-9CEA-67D2322B4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7239000" y="3505200"/>
            <a:ext cx="171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00000"/>
            </a:solidFill>
            <a:prstDash val="dash"/>
          </a:ln>
        </p:spPr>
      </p:sp>
      <p:sp>
        <p:nvSpPr>
          <p:cNvPr id="37" name="candidate-line-259">
            <a:extLst xmlns:a="http://schemas.openxmlformats.org/drawingml/2006/main">
              <a:ext uri="{FF2B5EF4-FFF2-40B4-BE49-F238E27FC236}">
                <a16:creationId xmlns:a16="http://schemas.microsoft.com/office/drawing/2014/main" id="{2DE87ADC-19D3-4173-BD81-12BD90A56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7239000" y="3133725"/>
            <a:ext cx="0" cy="3714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00000"/>
            </a:solidFill>
            <a:prstDash val="dash"/>
          </a:ln>
        </p:spPr>
      </p:sp>
      <p:sp>
        <p:nvSpPr>
          <p:cNvPr id="38" name="candidate-line-260">
            <a:extLst xmlns:a="http://schemas.openxmlformats.org/drawingml/2006/main">
              <a:ext uri="{FF2B5EF4-FFF2-40B4-BE49-F238E27FC236}">
                <a16:creationId xmlns:a16="http://schemas.microsoft.com/office/drawing/2014/main" id="{A6AAEFDE-231C-47BE-A55A-2DBA813A6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6267450" y="3133725"/>
            <a:ext cx="971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00000"/>
            </a:solidFill>
            <a:prstDash val="dash"/>
          </a:ln>
        </p:spPr>
      </p:sp>
      <p:cxnSp>
        <p:nvCxnSpPr>
          <p:cNvPr id="39" name="candidate-arrow-261">
            <a:extLst xmlns:a="http://schemas.openxmlformats.org/drawingml/2006/main">
              <a:ext uri="{FF2B5EF4-FFF2-40B4-BE49-F238E27FC236}">
                <a16:creationId xmlns:a16="http://schemas.microsoft.com/office/drawing/2014/main" id="{7E2BEF43-0709-4B27-854B-015F9D145845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6267450" y="2971800"/>
            <a:ext cx="0" cy="161925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000000"/>
            </a:solidFill>
            <a:prstDash val="dash"/>
            <a:tailEnd type="triangle" w="sm" len="sm"/>
          </a:ln>
        </p:spPr>
      </p:cxnSp>
      <p:sp>
        <p:nvSpPr>
          <p:cNvPr id="40" name="candidate-text-262">
            <a:extLst xmlns:a="http://schemas.openxmlformats.org/drawingml/2006/main">
              <a:ext uri="{FF2B5EF4-FFF2-40B4-BE49-F238E27FC236}">
                <a16:creationId xmlns:a16="http://schemas.microsoft.com/office/drawing/2014/main" id="{A97F86E3-A39C-485C-8A2D-B4D4CF4F2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286125"/>
            <a:ext cx="1790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575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逐条更新当前安排</a:t>
            </a:r>
          </a:p>
        </p:txBody>
      </p:sp>
      <p:sp>
        <p:nvSpPr>
          <p:cNvPr id="41" name="candidate-text-263">
            <a:extLst xmlns:a="http://schemas.openxmlformats.org/drawingml/2006/main">
              <a:ext uri="{FF2B5EF4-FFF2-40B4-BE49-F238E27FC236}">
                <a16:creationId xmlns:a16="http://schemas.microsoft.com/office/drawing/2014/main" id="{B334552E-411C-4451-85B2-47E54EBA5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781425"/>
            <a:ext cx="4114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725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形成初始排程</a:t>
            </a:r>
          </a:p>
        </p:txBody>
      </p:sp>
      <p:sp>
        <p:nvSpPr>
          <p:cNvPr id="42" name="candidate-line-264">
            <a:extLst xmlns:a="http://schemas.openxmlformats.org/drawingml/2006/main">
              <a:ext uri="{FF2B5EF4-FFF2-40B4-BE49-F238E27FC236}">
                <a16:creationId xmlns:a16="http://schemas.microsoft.com/office/drawing/2014/main" id="{2996F2EE-022F-4A5C-A293-7EEAA9D3F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19125" y="4105275"/>
            <a:ext cx="1095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000000"/>
            </a:solidFill>
            <a:prstDash val="solid"/>
          </a:ln>
        </p:spPr>
      </p:sp>
      <p:sp>
        <p:nvSpPr>
          <p:cNvPr id="43" name="candidate-text-265">
            <a:extLst xmlns:a="http://schemas.openxmlformats.org/drawingml/2006/main">
              <a:ext uri="{FF2B5EF4-FFF2-40B4-BE49-F238E27FC236}">
                <a16:creationId xmlns:a16="http://schemas.microsoft.com/office/drawing/2014/main" id="{7BFB25CC-B2E2-42C2-9253-8416930D3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191000"/>
            <a:ext cx="10906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950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0000"/>
                </a:solidFill>
              </a:defRPr>
            </a:pPr>
            <a:r>
              <a:rPr b="1">
                <a:latin typeface="Droid Sans Fallback"/>
                <a:ea typeface="Droid Sans Fallback"/>
                <a:cs typeface="Droid Sans Fallback"/>
              </a:rPr>
              <a:t>考虑计划稳定性的重调度</a:t>
            </a:r>
          </a:p>
        </p:txBody>
      </p:sp>
      <p:sp>
        <p:nvSpPr>
          <p:cNvPr id="44" name="candidate-box-266">
            <a:extLst xmlns:a="http://schemas.openxmlformats.org/drawingml/2006/main">
              <a:ext uri="{FF2B5EF4-FFF2-40B4-BE49-F238E27FC236}">
                <a16:creationId xmlns:a16="http://schemas.microsoft.com/office/drawing/2014/main" id="{251CEEEA-7806-479D-A2A7-C9B61CBD3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819650"/>
            <a:ext cx="2200275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00000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00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固定基准计划</a:t>
            </a:r>
          </a:p>
          <a:p xmlns:a="http://schemas.openxmlformats.org/drawingml/2006/main">
            <a:pPr algn="ctr">
              <a:defRPr sz="1800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已揭示开工延迟</a:t>
            </a:r>
          </a:p>
        </p:txBody>
      </p:sp>
      <p:sp>
        <p:nvSpPr>
          <p:cNvPr id="45" name="candidate-box-267">
            <a:extLst xmlns:a="http://schemas.openxmlformats.org/drawingml/2006/main">
              <a:ext uri="{FF2B5EF4-FFF2-40B4-BE49-F238E27FC236}">
                <a16:creationId xmlns:a16="http://schemas.microsoft.com/office/drawing/2014/main" id="{7F7176B7-EC06-4905-B702-E624640B2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4638675"/>
            <a:ext cx="270510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00000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650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冻结条目</a:t>
            </a:r>
          </a:p>
          <a:p xmlns:a="http://schemas.openxmlformats.org/drawingml/2006/main">
            <a:pPr algn="ctr">
              <a:defRPr sz="1650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保留站位、团队与时刻</a:t>
            </a:r>
          </a:p>
        </p:txBody>
      </p:sp>
      <p:sp>
        <p:nvSpPr>
          <p:cNvPr id="46" name="candidate-box-268">
            <a:extLst xmlns:a="http://schemas.openxmlformats.org/drawingml/2006/main">
              <a:ext uri="{FF2B5EF4-FFF2-40B4-BE49-F238E27FC236}">
                <a16:creationId xmlns:a16="http://schemas.microsoft.com/office/drawing/2014/main" id="{42C60924-864F-47DC-B7DB-77F1911C7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5334000"/>
            <a:ext cx="270510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00000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650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可调条目</a:t>
            </a:r>
          </a:p>
          <a:p xmlns:a="http://schemas.openxmlformats.org/drawingml/2006/main">
            <a:pPr algn="ctr">
              <a:defRPr sz="1650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更新基准与释放特征</a:t>
            </a:r>
          </a:p>
        </p:txBody>
      </p:sp>
      <p:sp>
        <p:nvSpPr>
          <p:cNvPr id="47" name="candidate-box-269">
            <a:extLst xmlns:a="http://schemas.openxmlformats.org/drawingml/2006/main">
              <a:ext uri="{FF2B5EF4-FFF2-40B4-BE49-F238E27FC236}">
                <a16:creationId xmlns:a16="http://schemas.microsoft.com/office/drawing/2014/main" id="{9739E521-D388-4A3C-A925-57A50E41D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5219700"/>
            <a:ext cx="26479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00000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725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共享异构编码与联合选择</a:t>
            </a:r>
          </a:p>
          <a:p xmlns:a="http://schemas.openxmlformats.org/drawingml/2006/main">
            <a:pPr algn="ctr">
              <a:defRPr sz="1725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前向时间分配</a:t>
            </a:r>
          </a:p>
        </p:txBody>
      </p:sp>
      <p:sp>
        <p:nvSpPr>
          <p:cNvPr id="48" name="candidate-box-270">
            <a:extLst xmlns:a="http://schemas.openxmlformats.org/drawingml/2006/main">
              <a:ext uri="{FF2B5EF4-FFF2-40B4-BE49-F238E27FC236}">
                <a16:creationId xmlns:a16="http://schemas.microsoft.com/office/drawing/2014/main" id="{A6FE9310-3ABC-4439-907E-84B2F210A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638675"/>
            <a:ext cx="210502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00000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650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修复排程</a:t>
            </a:r>
          </a:p>
          <a:p xmlns:a="http://schemas.openxmlformats.org/drawingml/2006/main">
            <a:pPr algn="ctr">
              <a:defRPr sz="1650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合并保留与重构条目</a:t>
            </a:r>
          </a:p>
          <a:p xmlns:a="http://schemas.openxmlformats.org/drawingml/2006/main">
            <a:pPr algn="ctr">
              <a:defRPr sz="1650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完工与偏离评价</a:t>
            </a:r>
          </a:p>
        </p:txBody>
      </p:sp>
      <p:cxnSp>
        <p:nvCxnSpPr>
          <p:cNvPr id="49" name="candidate-arrow-271">
            <a:extLst xmlns:a="http://schemas.openxmlformats.org/drawingml/2006/main">
              <a:ext uri="{FF2B5EF4-FFF2-40B4-BE49-F238E27FC236}">
                <a16:creationId xmlns:a16="http://schemas.microsoft.com/office/drawing/2014/main" id="{EE8CE5E5-900B-4FB4-BC9F-2201D2B4B1CC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2819400" y="5229225"/>
            <a:ext cx="1905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000000"/>
            </a:solidFill>
            <a:prstDash val="solid"/>
            <a:tailEnd type="triangle" w="sm" len="sm"/>
          </a:ln>
        </p:spPr>
      </p:cxnSp>
      <p:sp>
        <p:nvSpPr>
          <p:cNvPr id="50" name="candidate-line-272">
            <a:extLst xmlns:a="http://schemas.openxmlformats.org/drawingml/2006/main">
              <a:ext uri="{FF2B5EF4-FFF2-40B4-BE49-F238E27FC236}">
                <a16:creationId xmlns:a16="http://schemas.microsoft.com/office/drawing/2014/main" id="{BFD4514A-1FE0-42EB-B23D-7EE767BD4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009900" y="4895850"/>
            <a:ext cx="0" cy="6953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000000"/>
            </a:solidFill>
            <a:prstDash val="solid"/>
          </a:ln>
        </p:spPr>
      </p:sp>
      <p:cxnSp>
        <p:nvCxnSpPr>
          <p:cNvPr id="51" name="candidate-arrow-273">
            <a:extLst xmlns:a="http://schemas.openxmlformats.org/drawingml/2006/main">
              <a:ext uri="{FF2B5EF4-FFF2-40B4-BE49-F238E27FC236}">
                <a16:creationId xmlns:a16="http://schemas.microsoft.com/office/drawing/2014/main" id="{DD6CE212-C874-459B-B0D2-43A20CC66B2F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3009900" y="4895850"/>
            <a:ext cx="200025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000000"/>
            </a:solidFill>
            <a:prstDash val="solid"/>
            <a:tailEnd type="triangle" w="sm" len="sm"/>
          </a:ln>
        </p:spPr>
      </p:cxnSp>
      <p:cxnSp>
        <p:nvCxnSpPr>
          <p:cNvPr id="52" name="candidate-arrow-274">
            <a:extLst xmlns:a="http://schemas.openxmlformats.org/drawingml/2006/main">
              <a:ext uri="{FF2B5EF4-FFF2-40B4-BE49-F238E27FC236}">
                <a16:creationId xmlns:a16="http://schemas.microsoft.com/office/drawing/2014/main" id="{C2ABF86B-F95C-4FE1-8EBA-AF1F9CB4191B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3009900" y="5591175"/>
            <a:ext cx="200025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000000"/>
            </a:solidFill>
            <a:prstDash val="solid"/>
            <a:tailEnd type="triangle" w="sm" len="sm"/>
          </a:ln>
        </p:spPr>
      </p:cxnSp>
      <p:sp>
        <p:nvSpPr>
          <p:cNvPr id="53" name="candidate-line-275">
            <a:extLst xmlns:a="http://schemas.openxmlformats.org/drawingml/2006/main">
              <a:ext uri="{FF2B5EF4-FFF2-40B4-BE49-F238E27FC236}">
                <a16:creationId xmlns:a16="http://schemas.microsoft.com/office/drawing/2014/main" id="{89F32213-4FFF-4C1C-A2C4-2A10690E8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915025" y="4895850"/>
            <a:ext cx="2000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000000"/>
            </a:solidFill>
            <a:prstDash val="solid"/>
          </a:ln>
        </p:spPr>
      </p:sp>
      <p:sp>
        <p:nvSpPr>
          <p:cNvPr id="54" name="candidate-line-276">
            <a:extLst xmlns:a="http://schemas.openxmlformats.org/drawingml/2006/main">
              <a:ext uri="{FF2B5EF4-FFF2-40B4-BE49-F238E27FC236}">
                <a16:creationId xmlns:a16="http://schemas.microsoft.com/office/drawing/2014/main" id="{F8FCF5E3-4DBC-4BAC-85CD-09D3DE6BB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6115050" y="4514850"/>
            <a:ext cx="0" cy="381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000000"/>
            </a:solidFill>
            <a:prstDash val="solid"/>
          </a:ln>
        </p:spPr>
      </p:sp>
      <p:sp>
        <p:nvSpPr>
          <p:cNvPr id="55" name="candidate-line-277">
            <a:extLst xmlns:a="http://schemas.openxmlformats.org/drawingml/2006/main">
              <a:ext uri="{FF2B5EF4-FFF2-40B4-BE49-F238E27FC236}">
                <a16:creationId xmlns:a16="http://schemas.microsoft.com/office/drawing/2014/main" id="{BE33BA92-E8DF-4B7B-8E1C-929508665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115050" y="4514850"/>
            <a:ext cx="43719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000000"/>
            </a:solidFill>
            <a:prstDash val="solid"/>
          </a:ln>
        </p:spPr>
      </p:sp>
      <p:cxnSp>
        <p:nvCxnSpPr>
          <p:cNvPr id="56" name="candidate-arrow-278">
            <a:extLst xmlns:a="http://schemas.openxmlformats.org/drawingml/2006/main">
              <a:ext uri="{FF2B5EF4-FFF2-40B4-BE49-F238E27FC236}">
                <a16:creationId xmlns:a16="http://schemas.microsoft.com/office/drawing/2014/main" id="{490EBB91-71DC-4A5B-A483-3E552FB848A4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0487025" y="4514850"/>
            <a:ext cx="0" cy="123825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000000"/>
            </a:solidFill>
            <a:prstDash val="solid"/>
            <a:tailEnd type="triangle" w="sm" len="sm"/>
          </a:ln>
        </p:spPr>
      </p:cxnSp>
      <p:cxnSp>
        <p:nvCxnSpPr>
          <p:cNvPr id="57" name="candidate-arrow-279">
            <a:extLst xmlns:a="http://schemas.openxmlformats.org/drawingml/2006/main">
              <a:ext uri="{FF2B5EF4-FFF2-40B4-BE49-F238E27FC236}">
                <a16:creationId xmlns:a16="http://schemas.microsoft.com/office/drawing/2014/main" id="{B49604A1-A19F-4292-A392-357F4D6BD085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5915025" y="5591175"/>
            <a:ext cx="4191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000000"/>
            </a:solidFill>
            <a:prstDash val="solid"/>
            <a:tailEnd type="triangle" w="sm" len="sm"/>
          </a:ln>
        </p:spPr>
      </p:cxnSp>
      <p:cxnSp>
        <p:nvCxnSpPr>
          <p:cNvPr id="58" name="candidate-arrow-280">
            <a:extLst xmlns:a="http://schemas.openxmlformats.org/drawingml/2006/main">
              <a:ext uri="{FF2B5EF4-FFF2-40B4-BE49-F238E27FC236}">
                <a16:creationId xmlns:a16="http://schemas.microsoft.com/office/drawing/2014/main" id="{C9BBFF64-E171-499E-92BF-029735B99EF9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8982075" y="5534025"/>
            <a:ext cx="447675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000000"/>
            </a:solidFill>
            <a:prstDash val="solid"/>
            <a:tailEnd type="triangle" w="sm" len="sm"/>
          </a:ln>
        </p:spPr>
      </p:cxnSp>
      <p:sp>
        <p:nvSpPr>
          <p:cNvPr id="59" name="candidate-text-281">
            <a:extLst xmlns:a="http://schemas.openxmlformats.org/drawingml/2006/main">
              <a:ext uri="{FF2B5EF4-FFF2-40B4-BE49-F238E27FC236}">
                <a16:creationId xmlns:a16="http://schemas.microsoft.com/office/drawing/2014/main" id="{FFCA0346-C9AB-448D-A232-9D1AFD226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610100"/>
            <a:ext cx="2647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650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已用人员留在原站位</a:t>
            </a:r>
          </a:p>
          <a:p xmlns:a="http://schemas.openxmlformats.org/drawingml/2006/main">
            <a:pPr algn="ctr">
              <a:defRPr sz="1650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未用人员按首次使用</a:t>
            </a:r>
          </a:p>
        </p:txBody>
      </p:sp>
      <p:cxnSp>
        <p:nvCxnSpPr>
          <p:cNvPr id="60" name="candidate-arrow-282">
            <a:extLst xmlns:a="http://schemas.openxmlformats.org/drawingml/2006/main">
              <a:ext uri="{FF2B5EF4-FFF2-40B4-BE49-F238E27FC236}">
                <a16:creationId xmlns:a16="http://schemas.microsoft.com/office/drawing/2014/main" id="{E82C9FC8-9A1E-4873-BD25-AFEE95A91527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7658100" y="5067300"/>
            <a:ext cx="0" cy="15240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000000"/>
            </a:solidFill>
            <a:prstDash val="dash"/>
            <a:tailEnd type="triangle" w="sm" len="sm"/>
          </a:ln>
        </p:spPr>
      </p:cxnSp>
      <p:sp>
        <p:nvSpPr>
          <p:cNvPr id="61" name="candidate-text-283">
            <a:extLst xmlns:a="http://schemas.openxmlformats.org/drawingml/2006/main">
              <a:ext uri="{FF2B5EF4-FFF2-40B4-BE49-F238E27FC236}">
                <a16:creationId xmlns:a16="http://schemas.microsoft.com/office/drawing/2014/main" id="{73542AC7-B7D2-435F-B1F9-5E367BD71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943600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000000"/>
                </a:solidFill>
              </a:defRPr>
            </a:pPr>
            <a:r>
              <a:rPr b="1">
                <a:latin typeface="Droid Sans Fallback"/>
                <a:ea typeface="Droid Sans Fallback"/>
                <a:cs typeface="Droid Sans Fallback"/>
              </a:rPr>
              <a:t>计划稳定性：相对固定基准，评价开工、站位与具体团队的偏离。</a:t>
            </a:r>
          </a:p>
        </p:txBody>
      </p:sp>
    </p:spTree>
    <p:extLst>
      <p:ext uri="{BB962C8B-B14F-4D97-AF65-F5344CB8AC3E}">
        <p14:creationId xmlns:p14="http://schemas.microsoft.com/office/powerpoint/2010/main" val="133375656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AA2C73C-50C7-4004-9838-FD92AC23384A}"/>
              </a:ext>
            </a:extLst>
          </p:cNvPr>
          <p:cNvCxnSpPr>
            <a:stCxn xmlns:a="http://schemas.openxmlformats.org/drawingml/2006/main" id="22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7315200" y="2576513"/>
            <a:ext cx="352425" cy="14288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000000"/>
            </a:solidFill>
            <a:prstDash val="solid"/>
            <a:tailEnd type="triangle" w="sm" len="sm"/>
          </a:ln>
        </p:spPr>
      </p:cxnSp>
      <p:cxnSp>
        <p:nvCxn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B23BB76-2E9F-45DC-A44A-97A10A94049E}"/>
              </a:ext>
            </a:extLst>
          </p:cNvPr>
          <p:cNvCxnSpPr>
            <a:stCxn xmlns:a="http://schemas.openxmlformats.org/drawingml/2006/main" id="26" idx="3"/>
            <a:endCxn xmlns:a="http://schemas.openxmlformats.org/drawingml/2006/main" id="27" idx="1"/>
          </p:cNvCxnSpPr>
          <p:nvPr/>
        </p:nvCxnSpPr>
        <p:spPr>
          <a:xfrm xmlns:a="http://schemas.openxmlformats.org/drawingml/2006/main">
            <a:off x="9763125" y="2590800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000000"/>
            </a:solidFill>
            <a:prstDash val="solid"/>
            <a:tailEnd type="triangle" w="sm" len="sm"/>
          </a:ln>
        </p:spPr>
      </p:cxnSp>
      <p:cxnSp>
        <p:nvCxn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780D32A-CA66-4B0F-A98C-FF090EAC0AAD}"/>
              </a:ext>
            </a:extLst>
          </p:cNvPr>
          <p:cNvCxnSpPr>
            <a:stCxn xmlns:a="http://schemas.openxmlformats.org/drawingml/2006/main" id="25" idx="3"/>
            <a:endCxn xmlns:a="http://schemas.openxmlformats.org/drawingml/2006/main" id="26" idx="1"/>
          </p:cNvCxnSpPr>
          <p:nvPr/>
        </p:nvCxnSpPr>
        <p:spPr>
          <a:xfrm xmlns:a="http://schemas.openxmlformats.org/drawingml/2006/main">
            <a:off x="8562975" y="2590800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000000"/>
            </a:solidFill>
            <a:prstDash val="solid"/>
            <a:tailEnd type="triangle" w="sm" len="sm"/>
          </a:ln>
        </p:spPr>
      </p:cxnSp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5E5C9AB-E581-422F-B9BC-2623C2639302}"/>
              </a:ext>
            </a:extLst>
          </p:cNvPr>
          <p:cNvCxnSpPr>
            <a:stCxn xmlns:a="http://schemas.openxmlformats.org/drawingml/2006/main" id="10" idx="6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1581150" y="3352800"/>
            <a:ext cx="828675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000000"/>
            </a:solidFill>
            <a:prstDash val="solid"/>
            <a:headEnd type="triangle" w="sm" len="sm"/>
            <a:tailEnd type="triangle" w="sm" len="sm"/>
          </a:ln>
        </p:spPr>
      </p:cxn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39AB7E9-1717-4484-8B18-6CC4E7911D66}"/>
              </a:ext>
            </a:extLst>
          </p:cNvPr>
          <p:cNvCxnSpPr>
            <a:stCxn xmlns:a="http://schemas.openxmlformats.org/drawingml/2006/main" id="8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 flipH="1">
            <a:off x="3009900" y="2105025"/>
            <a:ext cx="19050" cy="847725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000000"/>
            </a:solidFill>
            <a:prstDash val="solid"/>
            <a:headEnd type="triangle" w="sm" len="sm"/>
            <a:tailEnd type="triangle" w="sm" len="sm"/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20B05B-7E53-4F6A-B17F-A5FF79D3FB1A}"/>
              </a:ext>
            </a:extLst>
          </p:cNvPr>
          <p:cNvCxnSpPr>
            <a:stCxn xmlns:a="http://schemas.openxmlformats.org/drawingml/2006/main" id="7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 flipH="1">
            <a:off x="1100138" y="2105025"/>
            <a:ext cx="19050" cy="95250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000000"/>
            </a:solidFill>
            <a:prstDash val="solid"/>
            <a:tailEnd type="triangle" w="sm" len="sm"/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3354D1-08FC-4085-9A21-A8A3ED558389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9" idx="3"/>
          </p:cNvCxnSpPr>
          <p:nvPr/>
        </p:nvCxnSpPr>
        <p:spPr>
          <a:xfrm xmlns:a="http://schemas.openxmlformats.org/drawingml/2006/main">
            <a:off x="3533775" y="1862138"/>
            <a:ext cx="581025" cy="4763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000000"/>
            </a:solidFill>
            <a:prstDash val="solid"/>
            <a:headEnd type="triangle" w="sm" len="sm"/>
            <a:tailEnd type="triangle" w="sm" len="sm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FB3381-D56C-4088-9D00-233415248886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1619250" y="1862138"/>
            <a:ext cx="904875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000000"/>
            </a:solidFill>
            <a:prstDash val="solid"/>
            <a:tailEnd type="triangle" w="sm" len="sm"/>
          </a:ln>
        </p:spPr>
      </p:cxnSp>
      <p:sp>
        <p:nvSpPr>
          <p:cNvPr id="59" name="candidate-text-284">
            <a:extLst xmlns:a="http://schemas.openxmlformats.org/drawingml/2006/main">
              <a:ext uri="{FF2B5EF4-FFF2-40B4-BE49-F238E27FC236}">
                <a16:creationId xmlns:a16="http://schemas.microsoft.com/office/drawing/2014/main" id="{177E48EC-2914-485E-87A2-31C3C4324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57175"/>
            <a:ext cx="112014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700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000000"/>
                </a:solidFill>
              </a:defRPr>
            </a:pPr>
            <a:r>
              <a:rPr b="1">
                <a:latin typeface="Droid Sans Fallback"/>
                <a:ea typeface="Droid Sans Fallback"/>
                <a:cs typeface="Droid Sans Fallback"/>
              </a:rPr>
              <a:t>技术路线二：异构联合调度与计划稳定性</a:t>
            </a:r>
          </a:p>
        </p:txBody>
      </p:sp>
      <p:sp>
        <p:nvSpPr>
          <p:cNvPr id="2" name="candidate-line-285">
            <a:extLst xmlns:a="http://schemas.openxmlformats.org/drawingml/2006/main">
              <a:ext uri="{FF2B5EF4-FFF2-40B4-BE49-F238E27FC236}">
                <a16:creationId xmlns:a16="http://schemas.microsoft.com/office/drawing/2014/main" id="{04D7463B-8A0B-4822-AB98-A53819816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95300" y="8953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3" name="candidate-line-286">
            <a:extLst xmlns:a="http://schemas.openxmlformats.org/drawingml/2006/main">
              <a:ext uri="{FF2B5EF4-FFF2-40B4-BE49-F238E27FC236}">
                <a16:creationId xmlns:a16="http://schemas.microsoft.com/office/drawing/2014/main" id="{DEF5FEB8-1F38-4EBC-A80E-947BFDCB7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95300" y="6410325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000000"/>
            </a:solidFill>
            <a:prstDash val="solid"/>
          </a:ln>
        </p:spPr>
      </p:sp>
      <p:sp>
        <p:nvSpPr>
          <p:cNvPr id="4" name="candidate-text-287">
            <a:extLst xmlns:a="http://schemas.openxmlformats.org/drawingml/2006/main">
              <a:ext uri="{FF2B5EF4-FFF2-40B4-BE49-F238E27FC236}">
                <a16:creationId xmlns:a16="http://schemas.microsoft.com/office/drawing/2014/main" id="{9B756772-276B-4BCA-954B-B69D0A69A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技术路线</a:t>
            </a:r>
          </a:p>
        </p:txBody>
      </p:sp>
      <p:sp>
        <p:nvSpPr>
          <p:cNvPr id="5" name="candidate-text-288">
            <a:extLst xmlns:a="http://schemas.openxmlformats.org/drawingml/2006/main">
              <a:ext uri="{FF2B5EF4-FFF2-40B4-BE49-F238E27FC236}">
                <a16:creationId xmlns:a16="http://schemas.microsoft.com/office/drawing/2014/main" id="{1E489559-17DB-4882-A419-81F947B2B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6457950"/>
            <a:ext cx="11525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350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000000"/>
                </a:solidFill>
              </a:defRPr>
            </a:pPr>
            <a:r>
              <a:rPr b="0">
                <a:latin typeface="Nimbus Roman"/>
                <a:ea typeface="Nimbus Roman"/>
                <a:cs typeface="Nimbus Roman"/>
              </a:rPr>
              <a:t>12A2</a:t>
            </a:r>
          </a:p>
        </p:txBody>
      </p:sp>
      <p:sp>
        <p:nvSpPr>
          <p:cNvPr id="6" name="candidate-text-289">
            <a:extLst xmlns:a="http://schemas.openxmlformats.org/drawingml/2006/main">
              <a:ext uri="{FF2B5EF4-FFF2-40B4-BE49-F238E27FC236}">
                <a16:creationId xmlns:a16="http://schemas.microsoft.com/office/drawing/2014/main" id="{52A82E29-9E6C-4938-865C-E76611723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104900"/>
            <a:ext cx="10906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950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0000"/>
                </a:solidFill>
              </a:defRPr>
            </a:pPr>
            <a:r>
              <a:rPr b="1">
                <a:latin typeface="Droid Sans Fallback"/>
                <a:ea typeface="Droid Sans Fallback"/>
                <a:cs typeface="Droid Sans Fallback"/>
              </a:rPr>
              <a:t>异构图联合调度：共享表示与条件选择</a:t>
            </a:r>
          </a:p>
        </p:txBody>
      </p:sp>
      <p:sp>
        <p:nvSpPr>
          <p:cNvPr id="7" name="candidate-box-290">
            <a:extLst xmlns:a="http://schemas.openxmlformats.org/drawingml/2006/main">
              <a:ext uri="{FF2B5EF4-FFF2-40B4-BE49-F238E27FC236}">
                <a16:creationId xmlns:a16="http://schemas.microsoft.com/office/drawing/2014/main" id="{BA2C62E1-40D5-4538-B5BE-81D8C1D39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619250"/>
            <a:ext cx="100012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00000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00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工序</a:t>
            </a:r>
            <a:r>
              <a:rPr b="0">
                <a:latin typeface="Nimbus Roman"/>
                <a:ea typeface="Nimbus Roman"/>
                <a:cs typeface="Nimbus Roman"/>
              </a:rPr>
              <a:t>1</a:t>
            </a:r>
          </a:p>
        </p:txBody>
      </p:sp>
      <p:sp>
        <p:nvSpPr>
          <p:cNvPr id="8" name="candidate-box-291">
            <a:extLst xmlns:a="http://schemas.openxmlformats.org/drawingml/2006/main">
              <a:ext uri="{FF2B5EF4-FFF2-40B4-BE49-F238E27FC236}">
                <a16:creationId xmlns:a16="http://schemas.microsoft.com/office/drawing/2014/main" id="{070C80A9-B0B2-4571-8888-D52C1BA2A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1619250"/>
            <a:ext cx="100965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00000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00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工序</a:t>
            </a:r>
            <a:r>
              <a:rPr b="0">
                <a:latin typeface="Nimbus Roman"/>
                <a:ea typeface="Nimbus Roman"/>
                <a:cs typeface="Nimbus Roman"/>
              </a:rPr>
              <a:t>2</a:t>
            </a:r>
          </a:p>
        </p:txBody>
      </p:sp>
      <p:sp>
        <p:nvSpPr>
          <p:cNvPr id="9" name="candidate-box-292">
            <a:extLst xmlns:a="http://schemas.openxmlformats.org/drawingml/2006/main">
              <a:ext uri="{FF2B5EF4-FFF2-40B4-BE49-F238E27FC236}">
                <a16:creationId xmlns:a16="http://schemas.microsoft.com/office/drawing/2014/main" id="{B2AF787B-0DAC-40C6-B4C2-DED7767E0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1600200"/>
            <a:ext cx="1019175" cy="533400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00000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00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站位</a:t>
            </a:r>
          </a:p>
        </p:txBody>
      </p:sp>
      <p:sp>
        <p:nvSpPr>
          <p:cNvPr id="10" name="candidate-box-293">
            <a:extLst xmlns:a="http://schemas.openxmlformats.org/drawingml/2006/main">
              <a:ext uri="{FF2B5EF4-FFF2-40B4-BE49-F238E27FC236}">
                <a16:creationId xmlns:a16="http://schemas.microsoft.com/office/drawing/2014/main" id="{BD09A746-50E7-485C-AF43-96561902D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57525"/>
            <a:ext cx="962025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00000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00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人员</a:t>
            </a:r>
          </a:p>
        </p:txBody>
      </p:sp>
      <p:sp>
        <p:nvSpPr>
          <p:cNvPr id="11" name="candidate-box-294">
            <a:extLst xmlns:a="http://schemas.openxmlformats.org/drawingml/2006/main">
              <a:ext uri="{FF2B5EF4-FFF2-40B4-BE49-F238E27FC236}">
                <a16:creationId xmlns:a16="http://schemas.microsoft.com/office/drawing/2014/main" id="{CDD7A2B3-1697-477A-9B7C-9DF4C1F60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2952750"/>
            <a:ext cx="1200150" cy="8001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00000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00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技能</a:t>
            </a:r>
          </a:p>
        </p:txBody>
      </p:sp>
      <p:sp>
        <p:nvSpPr>
          <p:cNvPr id="13" name="candidate-text-295">
            <a:extLst xmlns:a="http://schemas.openxmlformats.org/drawingml/2006/main">
              <a:ext uri="{FF2B5EF4-FFF2-40B4-BE49-F238E27FC236}">
                <a16:creationId xmlns:a16="http://schemas.microsoft.com/office/drawing/2014/main" id="{44391BD7-1466-4082-B280-EF90185FC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" y="1581150"/>
            <a:ext cx="5810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650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前序</a:t>
            </a:r>
          </a:p>
        </p:txBody>
      </p:sp>
      <p:sp>
        <p:nvSpPr>
          <p:cNvPr id="15" name="candidate-text-296">
            <a:extLst xmlns:a="http://schemas.openxmlformats.org/drawingml/2006/main">
              <a:ext uri="{FF2B5EF4-FFF2-40B4-BE49-F238E27FC236}">
                <a16:creationId xmlns:a16="http://schemas.microsoft.com/office/drawing/2014/main" id="{734C00BA-CC7A-41DE-B425-9ACDC194B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1581150"/>
            <a:ext cx="5048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575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归属</a:t>
            </a:r>
          </a:p>
        </p:txBody>
      </p:sp>
      <p:sp>
        <p:nvSpPr>
          <p:cNvPr id="17" name="candidate-text-297">
            <a:extLst xmlns:a="http://schemas.openxmlformats.org/drawingml/2006/main">
              <a:ext uri="{FF2B5EF4-FFF2-40B4-BE49-F238E27FC236}">
                <a16:creationId xmlns:a16="http://schemas.microsoft.com/office/drawing/2014/main" id="{10893A9D-3437-4C3A-B905-BF8559F7F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466975"/>
            <a:ext cx="6572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650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安排</a:t>
            </a:r>
          </a:p>
        </p:txBody>
      </p:sp>
      <p:sp>
        <p:nvSpPr>
          <p:cNvPr id="19" name="candidate-text-298">
            <a:extLst xmlns:a="http://schemas.openxmlformats.org/drawingml/2006/main">
              <a:ext uri="{FF2B5EF4-FFF2-40B4-BE49-F238E27FC236}">
                <a16:creationId xmlns:a16="http://schemas.microsoft.com/office/drawing/2014/main" id="{ADDED3C2-567E-4A79-B9D1-AC2F70EBC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419350"/>
            <a:ext cx="6572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650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需求</a:t>
            </a:r>
          </a:p>
        </p:txBody>
      </p:sp>
      <p:sp>
        <p:nvSpPr>
          <p:cNvPr id="21" name="candidate-text-299">
            <a:extLst xmlns:a="http://schemas.openxmlformats.org/drawingml/2006/main">
              <a:ext uri="{FF2B5EF4-FFF2-40B4-BE49-F238E27FC236}">
                <a16:creationId xmlns:a16="http://schemas.microsoft.com/office/drawing/2014/main" id="{12E178F0-0469-44F1-B15B-44F2D6166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028950"/>
            <a:ext cx="5810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650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资格</a:t>
            </a:r>
          </a:p>
        </p:txBody>
      </p:sp>
      <p:sp>
        <p:nvSpPr>
          <p:cNvPr id="22" name="candidate-box-300">
            <a:extLst xmlns:a="http://schemas.openxmlformats.org/drawingml/2006/main">
              <a:ext uri="{FF2B5EF4-FFF2-40B4-BE49-F238E27FC236}">
                <a16:creationId xmlns:a16="http://schemas.microsoft.com/office/drawing/2014/main" id="{3D347730-413A-41BF-AA75-5A54A34E8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133600"/>
            <a:ext cx="1790700" cy="885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00000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00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异构图编码</a:t>
            </a:r>
          </a:p>
          <a:p xmlns:a="http://schemas.openxmlformats.org/drawingml/2006/main">
            <a:pPr algn="ctr">
              <a:defRPr sz="1800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按关系传播</a:t>
            </a:r>
          </a:p>
          <a:p xmlns:a="http://schemas.openxmlformats.org/drawingml/2006/main">
            <a:pPr algn="ctr">
              <a:defRPr sz="1800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共享状态表示</a:t>
            </a:r>
          </a:p>
        </p:txBody>
      </p:sp>
      <p:cxnSp>
        <p:nvCxnSpPr>
          <p:cNvPr id="23" name="candidate-arrow-301">
            <a:extLst xmlns:a="http://schemas.openxmlformats.org/drawingml/2006/main">
              <a:ext uri="{FF2B5EF4-FFF2-40B4-BE49-F238E27FC236}">
                <a16:creationId xmlns:a16="http://schemas.microsoft.com/office/drawing/2014/main" id="{63F810AF-E72F-41D2-BF90-40999232DE82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5172075" y="2571750"/>
            <a:ext cx="352425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000000"/>
            </a:solidFill>
            <a:prstDash val="solid"/>
            <a:tailEnd type="triangle" w="sm" len="sm"/>
          </a:ln>
        </p:spPr>
      </p:cxnSp>
      <p:sp>
        <p:nvSpPr>
          <p:cNvPr id="24" name="candidate-text-302">
            <a:extLst xmlns:a="http://schemas.openxmlformats.org/drawingml/2006/main">
              <a:ext uri="{FF2B5EF4-FFF2-40B4-BE49-F238E27FC236}">
                <a16:creationId xmlns:a16="http://schemas.microsoft.com/office/drawing/2014/main" id="{9C5FD066-9E90-4C62-8C67-27F3F5335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1638300"/>
            <a:ext cx="3867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950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950" b="1">
                <a:solidFill>
                  <a:srgbClr val="000000"/>
                </a:solidFill>
              </a:defRPr>
            </a:pPr>
            <a:r>
              <a:rPr b="1">
                <a:latin typeface="Droid Sans Fallback"/>
                <a:ea typeface="Droid Sans Fallback"/>
                <a:cs typeface="Droid Sans Fallback"/>
              </a:rPr>
              <a:t>自回归联合选择</a:t>
            </a:r>
          </a:p>
        </p:txBody>
      </p:sp>
      <p:sp>
        <p:nvSpPr>
          <p:cNvPr id="25" name="candidate-box-303">
            <a:extLst xmlns:a="http://schemas.openxmlformats.org/drawingml/2006/main">
              <a:ext uri="{FF2B5EF4-FFF2-40B4-BE49-F238E27FC236}">
                <a16:creationId xmlns:a16="http://schemas.microsoft.com/office/drawing/2014/main" id="{893B12CE-EF22-45C9-A257-849EE9460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324100"/>
            <a:ext cx="8953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00000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00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工序</a:t>
            </a:r>
          </a:p>
        </p:txBody>
      </p:sp>
      <p:sp>
        <p:nvSpPr>
          <p:cNvPr id="26" name="candidate-box-304">
            <a:extLst xmlns:a="http://schemas.openxmlformats.org/drawingml/2006/main">
              <a:ext uri="{FF2B5EF4-FFF2-40B4-BE49-F238E27FC236}">
                <a16:creationId xmlns:a16="http://schemas.microsoft.com/office/drawing/2014/main" id="{A20C8B6F-4D73-4660-8C4B-6C5E4274E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2324100"/>
            <a:ext cx="8953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00000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00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站位</a:t>
            </a:r>
          </a:p>
        </p:txBody>
      </p:sp>
      <p:sp>
        <p:nvSpPr>
          <p:cNvPr id="27" name="candidate-box-305">
            <a:extLst xmlns:a="http://schemas.openxmlformats.org/drawingml/2006/main">
              <a:ext uri="{FF2B5EF4-FFF2-40B4-BE49-F238E27FC236}">
                <a16:creationId xmlns:a16="http://schemas.microsoft.com/office/drawing/2014/main" id="{AB17A079-5F11-419E-ADB6-72B45125E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143125"/>
            <a:ext cx="14668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00000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725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具体团队</a:t>
            </a:r>
          </a:p>
          <a:p xmlns:a="http://schemas.openxmlformats.org/drawingml/2006/main">
            <a:pPr algn="ctr">
              <a:defRPr sz="1725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逐人选择</a:t>
            </a:r>
          </a:p>
          <a:p xmlns:a="http://schemas.openxmlformats.org/drawingml/2006/main">
            <a:pPr algn="ctr">
              <a:defRPr sz="1725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至给定人数</a:t>
            </a:r>
          </a:p>
        </p:txBody>
      </p:sp>
      <p:sp>
        <p:nvSpPr>
          <p:cNvPr id="31" name="candidate-text-306">
            <a:extLst xmlns:a="http://schemas.openxmlformats.org/drawingml/2006/main">
              <a:ext uri="{FF2B5EF4-FFF2-40B4-BE49-F238E27FC236}">
                <a16:creationId xmlns:a16="http://schemas.microsoft.com/office/drawing/2014/main" id="{682C82F6-D3BF-4762-9DD8-615A6E531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952750"/>
            <a:ext cx="24288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00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500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资格与绑定限定候选</a:t>
            </a:r>
          </a:p>
        </p:txBody>
      </p:sp>
      <p:sp>
        <p:nvSpPr>
          <p:cNvPr id="32" name="candidate-box-307">
            <a:extLst xmlns:a="http://schemas.openxmlformats.org/drawingml/2006/main">
              <a:ext uri="{FF2B5EF4-FFF2-40B4-BE49-F238E27FC236}">
                <a16:creationId xmlns:a16="http://schemas.microsoft.com/office/drawing/2014/main" id="{0AFB5F4D-9290-45F7-8DFF-5E41E5E86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305175"/>
            <a:ext cx="386715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00000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725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前向时间分配与状态更新</a:t>
            </a:r>
          </a:p>
        </p:txBody>
      </p:sp>
      <p:sp>
        <p:nvSpPr>
          <p:cNvPr id="33" name="candidate-line-308">
            <a:extLst xmlns:a="http://schemas.openxmlformats.org/drawingml/2006/main">
              <a:ext uri="{FF2B5EF4-FFF2-40B4-BE49-F238E27FC236}">
                <a16:creationId xmlns:a16="http://schemas.microsoft.com/office/drawing/2014/main" id="{4C1CC958-8B66-42F3-BA54-B79325ABD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801350" y="30384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000000"/>
            </a:solidFill>
            <a:prstDash val="solid"/>
          </a:ln>
        </p:spPr>
      </p:sp>
      <p:sp>
        <p:nvSpPr>
          <p:cNvPr id="34" name="candidate-line-309">
            <a:extLst xmlns:a="http://schemas.openxmlformats.org/drawingml/2006/main">
              <a:ext uri="{FF2B5EF4-FFF2-40B4-BE49-F238E27FC236}">
                <a16:creationId xmlns:a16="http://schemas.microsoft.com/office/drawing/2014/main" id="{FBD8F07E-4E2E-4010-9199-A00365657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9601200" y="3248025"/>
            <a:ext cx="1200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000000"/>
            </a:solidFill>
            <a:prstDash val="solid"/>
          </a:ln>
        </p:spPr>
      </p:sp>
      <p:cxnSp>
        <p:nvCxnSpPr>
          <p:cNvPr id="35" name="candidate-arrow-310">
            <a:extLst xmlns:a="http://schemas.openxmlformats.org/drawingml/2006/main">
              <a:ext uri="{FF2B5EF4-FFF2-40B4-BE49-F238E27FC236}">
                <a16:creationId xmlns:a16="http://schemas.microsoft.com/office/drawing/2014/main" id="{6342085D-6697-4203-BA78-9EFD2D2F89E9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9601200" y="3248025"/>
            <a:ext cx="0" cy="5715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000000"/>
            </a:solidFill>
            <a:prstDash val="solid"/>
            <a:tailEnd type="triangle" w="sm" len="sm"/>
          </a:ln>
        </p:spPr>
      </p:cxnSp>
      <p:cxnSp>
        <p:nvCxnSpPr>
          <p:cNvPr id="36" name="candidate-arrow-311">
            <a:extLst xmlns:a="http://schemas.openxmlformats.org/drawingml/2006/main">
              <a:ext uri="{FF2B5EF4-FFF2-40B4-BE49-F238E27FC236}">
                <a16:creationId xmlns:a16="http://schemas.microsoft.com/office/drawing/2014/main" id="{5BCBC205-7D92-4345-8555-0DD9952BABAA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8248650" y="3790950"/>
            <a:ext cx="0" cy="15240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000000"/>
            </a:solidFill>
            <a:prstDash val="solid"/>
            <a:tailEnd type="triangle" w="sm" len="sm"/>
          </a:ln>
        </p:spPr>
      </p:cxnSp>
      <p:sp>
        <p:nvSpPr>
          <p:cNvPr id="37" name="candidate-text-312">
            <a:extLst xmlns:a="http://schemas.openxmlformats.org/drawingml/2006/main">
              <a:ext uri="{FF2B5EF4-FFF2-40B4-BE49-F238E27FC236}">
                <a16:creationId xmlns:a16="http://schemas.microsoft.com/office/drawing/2014/main" id="{539F4772-8845-431D-A0AE-92B457412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943350"/>
            <a:ext cx="1809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000000"/>
                </a:solidFill>
              </a:defRPr>
            </a:pPr>
            <a:r>
              <a:rPr b="1">
                <a:latin typeface="Droid Sans Fallback"/>
                <a:ea typeface="Droid Sans Fallback"/>
                <a:cs typeface="Droid Sans Fallback"/>
              </a:rPr>
              <a:t>初始排程</a:t>
            </a:r>
          </a:p>
        </p:txBody>
      </p:sp>
      <p:sp>
        <p:nvSpPr>
          <p:cNvPr id="38" name="candidate-line-313">
            <a:extLst xmlns:a="http://schemas.openxmlformats.org/drawingml/2006/main">
              <a:ext uri="{FF2B5EF4-FFF2-40B4-BE49-F238E27FC236}">
                <a16:creationId xmlns:a16="http://schemas.microsoft.com/office/drawing/2014/main" id="{040BABA8-1056-4986-8404-95D2CA24C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19125" y="3990975"/>
            <a:ext cx="66960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000000"/>
            </a:solidFill>
            <a:prstDash val="solid"/>
          </a:ln>
        </p:spPr>
      </p:sp>
      <p:sp>
        <p:nvSpPr>
          <p:cNvPr id="39" name="candidate-text-314">
            <a:extLst xmlns:a="http://schemas.openxmlformats.org/drawingml/2006/main">
              <a:ext uri="{FF2B5EF4-FFF2-40B4-BE49-F238E27FC236}">
                <a16:creationId xmlns:a16="http://schemas.microsoft.com/office/drawing/2014/main" id="{6D648E45-4A28-4D90-91D3-D7244071E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086225"/>
            <a:ext cx="6724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950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0000"/>
                </a:solidFill>
              </a:defRPr>
            </a:pPr>
            <a:r>
              <a:rPr b="1">
                <a:latin typeface="Droid Sans Fallback"/>
                <a:ea typeface="Droid Sans Fallback"/>
                <a:cs typeface="Droid Sans Fallback"/>
              </a:rPr>
              <a:t>考虑计划稳定性的重调度</a:t>
            </a:r>
          </a:p>
        </p:txBody>
      </p:sp>
      <p:sp>
        <p:nvSpPr>
          <p:cNvPr id="40" name="candidate-box-315">
            <a:extLst xmlns:a="http://schemas.openxmlformats.org/drawingml/2006/main">
              <a:ext uri="{FF2B5EF4-FFF2-40B4-BE49-F238E27FC236}">
                <a16:creationId xmlns:a16="http://schemas.microsoft.com/office/drawing/2014/main" id="{C3F197DB-677B-4259-864F-775C4E7FC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733925"/>
            <a:ext cx="233362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00000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650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基准与已揭示延迟</a:t>
            </a:r>
          </a:p>
          <a:p xmlns:a="http://schemas.openxmlformats.org/drawingml/2006/main">
            <a:pPr algn="ctr">
              <a:defRPr sz="1650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按基准开工与边界</a:t>
            </a:r>
          </a:p>
          <a:p xmlns:a="http://schemas.openxmlformats.org/drawingml/2006/main">
            <a:pPr algn="ctr">
              <a:defRPr sz="1650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划分冻结与可调条目</a:t>
            </a:r>
          </a:p>
        </p:txBody>
      </p:sp>
      <p:sp>
        <p:nvSpPr>
          <p:cNvPr id="41" name="candidate-box-316">
            <a:extLst xmlns:a="http://schemas.openxmlformats.org/drawingml/2006/main">
              <a:ext uri="{FF2B5EF4-FFF2-40B4-BE49-F238E27FC236}">
                <a16:creationId xmlns:a16="http://schemas.microsoft.com/office/drawing/2014/main" id="{EECE7752-E33F-490C-BBB7-9E7D6144F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4533900"/>
            <a:ext cx="20478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00000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725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冻结条目</a:t>
            </a:r>
          </a:p>
          <a:p xmlns:a="http://schemas.openxmlformats.org/drawingml/2006/main">
            <a:pPr algn="ctr">
              <a:defRPr sz="1725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保留原安排</a:t>
            </a:r>
          </a:p>
        </p:txBody>
      </p:sp>
      <p:sp>
        <p:nvSpPr>
          <p:cNvPr id="42" name="candidate-box-317">
            <a:extLst xmlns:a="http://schemas.openxmlformats.org/drawingml/2006/main">
              <a:ext uri="{FF2B5EF4-FFF2-40B4-BE49-F238E27FC236}">
                <a16:creationId xmlns:a16="http://schemas.microsoft.com/office/drawing/2014/main" id="{F388C922-E2C3-4D8B-98A9-2DFABBF8A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5295900"/>
            <a:ext cx="20478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00000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725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可调条目</a:t>
            </a:r>
          </a:p>
          <a:p xmlns:a="http://schemas.openxmlformats.org/drawingml/2006/main">
            <a:pPr algn="ctr">
              <a:defRPr sz="1725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更新基准与释放</a:t>
            </a:r>
          </a:p>
        </p:txBody>
      </p:sp>
      <p:sp>
        <p:nvSpPr>
          <p:cNvPr id="43" name="candidate-box-318">
            <a:extLst xmlns:a="http://schemas.openxmlformats.org/drawingml/2006/main">
              <a:ext uri="{FF2B5EF4-FFF2-40B4-BE49-F238E27FC236}">
                <a16:creationId xmlns:a16="http://schemas.microsoft.com/office/drawing/2014/main" id="{A8B5160F-1DBE-4B10-8DF8-2B57E5E93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5172075"/>
            <a:ext cx="2038350" cy="676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00000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650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修复排程</a:t>
            </a:r>
          </a:p>
          <a:p xmlns:a="http://schemas.openxmlformats.org/drawingml/2006/main">
            <a:pPr algn="ctr">
              <a:defRPr sz="1650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合并保留与重构条目</a:t>
            </a:r>
          </a:p>
        </p:txBody>
      </p:sp>
      <p:cxnSp>
        <p:nvCxnSpPr>
          <p:cNvPr id="44" name="candidate-arrow-319">
            <a:extLst xmlns:a="http://schemas.openxmlformats.org/drawingml/2006/main">
              <a:ext uri="{FF2B5EF4-FFF2-40B4-BE49-F238E27FC236}">
                <a16:creationId xmlns:a16="http://schemas.microsoft.com/office/drawing/2014/main" id="{E7D8C9CA-769A-4E14-9EE6-CE47498B0004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2952750" y="5191125"/>
            <a:ext cx="180975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000000"/>
            </a:solidFill>
            <a:prstDash val="solid"/>
            <a:tailEnd type="triangle" w="sm" len="sm"/>
          </a:ln>
        </p:spPr>
      </p:cxnSp>
      <p:sp>
        <p:nvSpPr>
          <p:cNvPr id="45" name="candidate-line-320">
            <a:extLst xmlns:a="http://schemas.openxmlformats.org/drawingml/2006/main">
              <a:ext uri="{FF2B5EF4-FFF2-40B4-BE49-F238E27FC236}">
                <a16:creationId xmlns:a16="http://schemas.microsoft.com/office/drawing/2014/main" id="{6AAC0DC1-E792-4001-966A-9BD392BC5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133725" y="4810125"/>
            <a:ext cx="0" cy="762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000000"/>
            </a:solidFill>
            <a:prstDash val="solid"/>
          </a:ln>
        </p:spPr>
      </p:sp>
      <p:cxnSp>
        <p:nvCxnSpPr>
          <p:cNvPr id="46" name="candidate-arrow-321">
            <a:extLst xmlns:a="http://schemas.openxmlformats.org/drawingml/2006/main">
              <a:ext uri="{FF2B5EF4-FFF2-40B4-BE49-F238E27FC236}">
                <a16:creationId xmlns:a16="http://schemas.microsoft.com/office/drawing/2014/main" id="{7B2F706C-E182-4D02-83D6-873400CADAEE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3133725" y="4810125"/>
            <a:ext cx="1905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000000"/>
            </a:solidFill>
            <a:prstDash val="solid"/>
            <a:tailEnd type="triangle" w="sm" len="sm"/>
          </a:ln>
        </p:spPr>
      </p:cxnSp>
      <p:cxnSp>
        <p:nvCxnSpPr>
          <p:cNvPr id="47" name="candidate-arrow-322">
            <a:extLst xmlns:a="http://schemas.openxmlformats.org/drawingml/2006/main">
              <a:ext uri="{FF2B5EF4-FFF2-40B4-BE49-F238E27FC236}">
                <a16:creationId xmlns:a16="http://schemas.microsoft.com/office/drawing/2014/main" id="{5DAE5AD8-CD52-4FEE-92C3-BCBD18021CAB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3133725" y="5572125"/>
            <a:ext cx="1905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000000"/>
            </a:solidFill>
            <a:prstDash val="solid"/>
            <a:tailEnd type="triangle" w="sm" len="sm"/>
          </a:ln>
        </p:spPr>
      </p:cxnSp>
      <p:sp>
        <p:nvSpPr>
          <p:cNvPr id="48" name="candidate-line-323">
            <a:extLst xmlns:a="http://schemas.openxmlformats.org/drawingml/2006/main">
              <a:ext uri="{FF2B5EF4-FFF2-40B4-BE49-F238E27FC236}">
                <a16:creationId xmlns:a16="http://schemas.microsoft.com/office/drawing/2014/main" id="{3B30A3B3-6599-477E-A605-0DF234521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372100" y="4810125"/>
            <a:ext cx="39338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000000"/>
            </a:solidFill>
            <a:prstDash val="solid"/>
          </a:ln>
        </p:spPr>
      </p:sp>
      <p:sp>
        <p:nvSpPr>
          <p:cNvPr id="49" name="candidate-line-324">
            <a:extLst xmlns:a="http://schemas.openxmlformats.org/drawingml/2006/main">
              <a:ext uri="{FF2B5EF4-FFF2-40B4-BE49-F238E27FC236}">
                <a16:creationId xmlns:a16="http://schemas.microsoft.com/office/drawing/2014/main" id="{AF9E2962-9AD0-424A-A73D-447AA6FAB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305925" y="4810125"/>
            <a:ext cx="0" cy="6953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000000"/>
            </a:solidFill>
            <a:prstDash val="solid"/>
          </a:ln>
        </p:spPr>
      </p:sp>
      <p:cxnSp>
        <p:nvCxnSpPr>
          <p:cNvPr id="50" name="candidate-arrow-325">
            <a:extLst xmlns:a="http://schemas.openxmlformats.org/drawingml/2006/main">
              <a:ext uri="{FF2B5EF4-FFF2-40B4-BE49-F238E27FC236}">
                <a16:creationId xmlns:a16="http://schemas.microsoft.com/office/drawing/2014/main" id="{91742E5E-F649-4891-97A8-8F55BD87D9DA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9305925" y="5505450"/>
            <a:ext cx="1905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000000"/>
            </a:solidFill>
            <a:prstDash val="solid"/>
            <a:tailEnd type="triangle" w="sm" len="sm"/>
          </a:ln>
        </p:spPr>
      </p:cxnSp>
      <p:sp>
        <p:nvSpPr>
          <p:cNvPr id="51" name="candidate-line-326">
            <a:extLst xmlns:a="http://schemas.openxmlformats.org/drawingml/2006/main">
              <a:ext uri="{FF2B5EF4-FFF2-40B4-BE49-F238E27FC236}">
                <a16:creationId xmlns:a16="http://schemas.microsoft.com/office/drawing/2014/main" id="{843AE985-DD61-4029-864F-DBBF86A19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372100" y="5572125"/>
            <a:ext cx="2190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000000"/>
            </a:solidFill>
            <a:prstDash val="solid"/>
          </a:ln>
        </p:spPr>
      </p:sp>
      <p:sp>
        <p:nvSpPr>
          <p:cNvPr id="52" name="candidate-line-327">
            <a:extLst xmlns:a="http://schemas.openxmlformats.org/drawingml/2006/main">
              <a:ext uri="{FF2B5EF4-FFF2-40B4-BE49-F238E27FC236}">
                <a16:creationId xmlns:a16="http://schemas.microsoft.com/office/drawing/2014/main" id="{2EBADE7B-E1E1-4597-ACF1-1F26C3B39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5591175" y="3209925"/>
            <a:ext cx="0" cy="2362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000000"/>
            </a:solidFill>
            <a:prstDash val="solid"/>
          </a:ln>
        </p:spPr>
      </p:sp>
      <p:sp>
        <p:nvSpPr>
          <p:cNvPr id="53" name="candidate-line-328">
            <a:extLst xmlns:a="http://schemas.openxmlformats.org/drawingml/2006/main">
              <a:ext uri="{FF2B5EF4-FFF2-40B4-BE49-F238E27FC236}">
                <a16:creationId xmlns:a16="http://schemas.microsoft.com/office/drawing/2014/main" id="{2A0ED2BB-1BCF-4948-8765-F48D09F59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591175" y="3209925"/>
            <a:ext cx="342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000000"/>
            </a:solidFill>
            <a:prstDash val="solid"/>
          </a:ln>
        </p:spPr>
      </p:sp>
      <p:cxnSp>
        <p:nvCxnSpPr>
          <p:cNvPr id="54" name="candidate-arrow-329">
            <a:extLst xmlns:a="http://schemas.openxmlformats.org/drawingml/2006/main">
              <a:ext uri="{FF2B5EF4-FFF2-40B4-BE49-F238E27FC236}">
                <a16:creationId xmlns:a16="http://schemas.microsoft.com/office/drawing/2014/main" id="{C243AB0A-21C1-482F-B1C3-51A87D818C46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5934075" y="3019425"/>
            <a:ext cx="0" cy="19050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000000"/>
            </a:solidFill>
            <a:prstDash val="solid"/>
            <a:tailEnd type="triangle" w="sm" len="sm"/>
          </a:ln>
        </p:spPr>
      </p:cxnSp>
      <p:sp>
        <p:nvSpPr>
          <p:cNvPr id="55" name="candidate-text-330">
            <a:extLst xmlns:a="http://schemas.openxmlformats.org/drawingml/2006/main">
              <a:ext uri="{FF2B5EF4-FFF2-40B4-BE49-F238E27FC236}">
                <a16:creationId xmlns:a16="http://schemas.microsoft.com/office/drawing/2014/main" id="{EE8D370D-7000-43F4-8FB5-95760EF40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362325"/>
            <a:ext cx="1543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650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基准、释放与</a:t>
            </a:r>
          </a:p>
          <a:p xmlns:a="http://schemas.openxmlformats.org/drawingml/2006/main">
            <a:pPr algn="ctr">
              <a:defRPr sz="1650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当前修复状态</a:t>
            </a:r>
          </a:p>
        </p:txBody>
      </p:sp>
      <p:cxnSp>
        <p:nvCxnSpPr>
          <p:cNvPr id="56" name="candidate-arrow-331">
            <a:extLst xmlns:a="http://schemas.openxmlformats.org/drawingml/2006/main">
              <a:ext uri="{FF2B5EF4-FFF2-40B4-BE49-F238E27FC236}">
                <a16:creationId xmlns:a16="http://schemas.microsoft.com/office/drawing/2014/main" id="{1300FA6C-6803-42AD-8E46-468E350AD5E9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1296650" y="3790950"/>
            <a:ext cx="0" cy="1381125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000000"/>
            </a:solidFill>
            <a:prstDash val="solid"/>
            <a:tailEnd type="triangle" w="sm" len="sm"/>
          </a:ln>
        </p:spPr>
      </p:cxnSp>
      <p:sp>
        <p:nvSpPr>
          <p:cNvPr id="57" name="candidate-text-332">
            <a:extLst xmlns:a="http://schemas.openxmlformats.org/drawingml/2006/main">
              <a:ext uri="{FF2B5EF4-FFF2-40B4-BE49-F238E27FC236}">
                <a16:creationId xmlns:a16="http://schemas.microsoft.com/office/drawing/2014/main" id="{321E525A-6754-444E-BABB-301B56EEB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5095875"/>
            <a:ext cx="3200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725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已用人员留在原站位</a:t>
            </a:r>
          </a:p>
          <a:p xmlns:a="http://schemas.openxmlformats.org/drawingml/2006/main">
            <a:pPr algn="ctr">
              <a:defRPr sz="1725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未用人员按首次使用</a:t>
            </a:r>
          </a:p>
        </p:txBody>
      </p:sp>
      <p:sp>
        <p:nvSpPr>
          <p:cNvPr id="58" name="candidate-text-333">
            <a:extLst xmlns:a="http://schemas.openxmlformats.org/drawingml/2006/main">
              <a:ext uri="{FF2B5EF4-FFF2-40B4-BE49-F238E27FC236}">
                <a16:creationId xmlns:a16="http://schemas.microsoft.com/office/drawing/2014/main" id="{C42C696D-0762-46FB-8811-D9AA2EE4D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943600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000000"/>
                </a:solidFill>
              </a:defRPr>
            </a:pPr>
            <a:r>
              <a:rPr b="1">
                <a:latin typeface="Droid Sans Fallback"/>
                <a:ea typeface="Droid Sans Fallback"/>
                <a:cs typeface="Droid Sans Fallback"/>
              </a:rPr>
              <a:t>修复评价：计划完工时间及相对固定基准的开工、站位、团队偏离。</a:t>
            </a:r>
          </a:p>
        </p:txBody>
      </p:sp>
    </p:spTree>
    <p:extLst>
      <p:ext uri="{BB962C8B-B14F-4D97-AF65-F5344CB8AC3E}">
        <p14:creationId xmlns:p14="http://schemas.microsoft.com/office/powerpoint/2010/main" val="180390446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12EFDB8-E69E-44B2-9A3A-5EF457F12868}"/>
              </a:ext>
            </a:extLst>
          </p:cNvPr>
          <p:cNvCxnSpPr>
            <a:stCxn xmlns:a="http://schemas.openxmlformats.org/drawingml/2006/main" id="48" idx="3"/>
            <a:endCxn xmlns:a="http://schemas.openxmlformats.org/drawingml/2006/main" id="49" idx="1"/>
          </p:cNvCxnSpPr>
          <p:nvPr/>
        </p:nvCxnSpPr>
        <p:spPr>
          <a:xfrm xmlns:a="http://schemas.openxmlformats.org/drawingml/2006/main">
            <a:off x="9639300" y="5295900"/>
            <a:ext cx="40005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000000"/>
            </a:solidFill>
            <a:prstDash val="solid"/>
            <a:tailEnd type="triangle" w="sm" len="sm"/>
          </a:ln>
        </p:spPr>
      </p:cxnSp>
      <p:cxnSp>
        <p:nvCxn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838178B-9B6C-4766-BD42-39313E54322A}"/>
              </a:ext>
            </a:extLst>
          </p:cNvPr>
          <p:cNvCxnSpPr>
            <a:stCxn xmlns:a="http://schemas.openxmlformats.org/drawingml/2006/main" id="47" idx="3"/>
            <a:endCxn xmlns:a="http://schemas.openxmlformats.org/drawingml/2006/main" id="48" idx="1"/>
          </p:cNvCxnSpPr>
          <p:nvPr/>
        </p:nvCxnSpPr>
        <p:spPr>
          <a:xfrm xmlns:a="http://schemas.openxmlformats.org/drawingml/2006/main">
            <a:off x="7591425" y="5295900"/>
            <a:ext cx="40005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000000"/>
            </a:solidFill>
            <a:prstDash val="solid"/>
            <a:tailEnd type="triangle" w="sm" len="sm"/>
          </a:ln>
        </p:spPr>
      </p:cxnSp>
      <p:cxnSp>
        <p:nvCxn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7D653E9-D05D-4F0E-BAB7-7D0996FDF555}"/>
              </a:ext>
            </a:extLst>
          </p:cNvPr>
          <p:cNvCxnSpPr>
            <a:stCxn xmlns:a="http://schemas.openxmlformats.org/drawingml/2006/main" id="46" idx="3"/>
            <a:endCxn xmlns:a="http://schemas.openxmlformats.org/drawingml/2006/main" id="47" idx="1"/>
          </p:cNvCxnSpPr>
          <p:nvPr/>
        </p:nvCxnSpPr>
        <p:spPr>
          <a:xfrm xmlns:a="http://schemas.openxmlformats.org/drawingml/2006/main">
            <a:off x="4343400" y="5295900"/>
            <a:ext cx="371475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000000"/>
            </a:solidFill>
            <a:prstDash val="solid"/>
            <a:tailEnd type="triangle" w="sm" len="sm"/>
          </a:ln>
        </p:spPr>
      </p:cxnSp>
      <p:cxnSp>
        <p:nvCxn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9790F19-B751-48EE-9540-22425ED37398}"/>
              </a:ext>
            </a:extLst>
          </p:cNvPr>
          <p:cNvCxnSpPr>
            <a:stCxn xmlns:a="http://schemas.openxmlformats.org/drawingml/2006/main" id="45" idx="3"/>
            <a:endCxn xmlns:a="http://schemas.openxmlformats.org/drawingml/2006/main" id="46" idx="1"/>
          </p:cNvCxnSpPr>
          <p:nvPr/>
        </p:nvCxnSpPr>
        <p:spPr>
          <a:xfrm xmlns:a="http://schemas.openxmlformats.org/drawingml/2006/main">
            <a:off x="2295525" y="5295900"/>
            <a:ext cx="371475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000000"/>
            </a:solidFill>
            <a:prstDash val="solid"/>
            <a:tailEnd type="triangle" w="sm" len="sm"/>
          </a:ln>
        </p:spPr>
      </p:cxnSp>
      <p:cxnSp>
        <p:nvCxn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8388C98-C9D2-4124-A77E-073AD3AF768B}"/>
              </a:ext>
            </a:extLst>
          </p:cNvPr>
          <p:cNvCxnSpPr>
            <a:stCxn xmlns:a="http://schemas.openxmlformats.org/drawingml/2006/main" id="11" idx="6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1581150" y="3362325"/>
            <a:ext cx="828675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000000"/>
            </a:solidFill>
            <a:prstDash val="solid"/>
            <a:headEnd type="triangle" w="sm" len="sm"/>
            <a:tailEnd type="triangle" w="sm" len="sm"/>
          </a:ln>
        </p:spPr>
      </p:cxnSp>
      <p:cxnSp>
        <p:nvCxn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6CD4984-C49C-488C-9906-80C52F60C58A}"/>
              </a:ext>
            </a:extLst>
          </p:cNvPr>
          <p:cNvCxnSpPr>
            <a:stCxn xmlns:a="http://schemas.openxmlformats.org/drawingml/2006/main" id="9" idx="2"/>
            <a:endCxn xmlns:a="http://schemas.openxmlformats.org/drawingml/2006/main" id="12" idx="0"/>
          </p:cNvCxnSpPr>
          <p:nvPr/>
        </p:nvCxnSpPr>
        <p:spPr>
          <a:xfrm xmlns:a="http://schemas.openxmlformats.org/drawingml/2006/main" flipH="1">
            <a:off x="3009900" y="2114550"/>
            <a:ext cx="19050" cy="847725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000000"/>
            </a:solidFill>
            <a:prstDash val="solid"/>
            <a:headEnd type="triangle" w="sm" len="sm"/>
            <a:tailEnd type="triangle" w="sm" len="sm"/>
          </a:ln>
        </p:spPr>
      </p:cxnSp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F840D4-4F99-4310-B3AC-515569F6E0BF}"/>
              </a:ext>
            </a:extLst>
          </p:cNvPr>
          <p:cNvCxnSpPr>
            <a:stCxn xmlns:a="http://schemas.openxmlformats.org/drawingml/2006/main" id="8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 flipH="1">
            <a:off x="1100138" y="2114550"/>
            <a:ext cx="19050" cy="95250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000000"/>
            </a:solidFill>
            <a:prstDash val="solid"/>
            <a:tailEnd type="triangle" w="sm" len="sm"/>
          </a:ln>
        </p:spPr>
      </p:cxn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28BECE-4EC2-46F2-9FAE-8788DBA15737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0" idx="3"/>
          </p:cNvCxnSpPr>
          <p:nvPr/>
        </p:nvCxnSpPr>
        <p:spPr>
          <a:xfrm xmlns:a="http://schemas.openxmlformats.org/drawingml/2006/main">
            <a:off x="3533775" y="1871663"/>
            <a:ext cx="581025" cy="4763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000000"/>
            </a:solidFill>
            <a:prstDash val="solid"/>
            <a:headEnd type="triangle" w="sm" len="sm"/>
            <a:tailEnd type="triangle" w="sm" len="sm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D94AF9-500A-4E9F-8D56-8B80952CA1CC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1619250" y="1871663"/>
            <a:ext cx="904875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000000"/>
            </a:solidFill>
            <a:prstDash val="solid"/>
            <a:tailEnd type="triangle" w="sm" len="sm"/>
          </a:ln>
        </p:spPr>
      </p:cxnSp>
      <p:sp>
        <p:nvSpPr>
          <p:cNvPr id="56" name="candidate-text-334">
            <a:extLst xmlns:a="http://schemas.openxmlformats.org/drawingml/2006/main">
              <a:ext uri="{FF2B5EF4-FFF2-40B4-BE49-F238E27FC236}">
                <a16:creationId xmlns:a16="http://schemas.microsoft.com/office/drawing/2014/main" id="{A0F1FEF0-B97B-4587-ACF4-BDD854F6D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57175"/>
            <a:ext cx="112014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700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000000"/>
                </a:solidFill>
              </a:defRPr>
            </a:pPr>
            <a:r>
              <a:rPr b="1">
                <a:latin typeface="Droid Sans Fallback"/>
                <a:ea typeface="Droid Sans Fallback"/>
                <a:cs typeface="Droid Sans Fallback"/>
              </a:rPr>
              <a:t>技术路线二：异构联合调度与计划稳定性</a:t>
            </a:r>
          </a:p>
        </p:txBody>
      </p:sp>
      <p:sp>
        <p:nvSpPr>
          <p:cNvPr id="2" name="candidate-line-335">
            <a:extLst xmlns:a="http://schemas.openxmlformats.org/drawingml/2006/main">
              <a:ext uri="{FF2B5EF4-FFF2-40B4-BE49-F238E27FC236}">
                <a16:creationId xmlns:a16="http://schemas.microsoft.com/office/drawing/2014/main" id="{83369E05-DE0A-4AEB-A530-E27A2FD0B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95300" y="8953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3" name="candidate-line-336">
            <a:extLst xmlns:a="http://schemas.openxmlformats.org/drawingml/2006/main">
              <a:ext uri="{FF2B5EF4-FFF2-40B4-BE49-F238E27FC236}">
                <a16:creationId xmlns:a16="http://schemas.microsoft.com/office/drawing/2014/main" id="{14460084-0E3E-41C1-ACBB-B92D11494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95300" y="6410325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000000"/>
            </a:solidFill>
            <a:prstDash val="solid"/>
          </a:ln>
        </p:spPr>
      </p:sp>
      <p:sp>
        <p:nvSpPr>
          <p:cNvPr id="4" name="candidate-text-337">
            <a:extLst xmlns:a="http://schemas.openxmlformats.org/drawingml/2006/main">
              <a:ext uri="{FF2B5EF4-FFF2-40B4-BE49-F238E27FC236}">
                <a16:creationId xmlns:a16="http://schemas.microsoft.com/office/drawing/2014/main" id="{3FF14B7E-C9F5-4296-AB0D-2DBF75412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技术路线</a:t>
            </a:r>
          </a:p>
        </p:txBody>
      </p:sp>
      <p:sp>
        <p:nvSpPr>
          <p:cNvPr id="5" name="candidate-text-338">
            <a:extLst xmlns:a="http://schemas.openxmlformats.org/drawingml/2006/main">
              <a:ext uri="{FF2B5EF4-FFF2-40B4-BE49-F238E27FC236}">
                <a16:creationId xmlns:a16="http://schemas.microsoft.com/office/drawing/2014/main" id="{2C0DBDA4-50B1-49B2-B279-321E02F12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6457950"/>
            <a:ext cx="11525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350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000000"/>
                </a:solidFill>
              </a:defRPr>
            </a:pPr>
            <a:r>
              <a:rPr b="0">
                <a:latin typeface="Nimbus Roman"/>
                <a:ea typeface="Nimbus Roman"/>
                <a:cs typeface="Nimbus Roman"/>
              </a:rPr>
              <a:t>12A3</a:t>
            </a:r>
          </a:p>
        </p:txBody>
      </p:sp>
      <p:sp>
        <p:nvSpPr>
          <p:cNvPr id="6" name="candidate-text-339">
            <a:extLst xmlns:a="http://schemas.openxmlformats.org/drawingml/2006/main">
              <a:ext uri="{FF2B5EF4-FFF2-40B4-BE49-F238E27FC236}">
                <a16:creationId xmlns:a16="http://schemas.microsoft.com/office/drawing/2014/main" id="{11BE7E82-9209-4E67-89F6-93B21E45D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104900"/>
            <a:ext cx="44862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950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0000"/>
                </a:solidFill>
              </a:defRPr>
            </a:pPr>
            <a:r>
              <a:rPr b="1">
                <a:latin typeface="Droid Sans Fallback"/>
                <a:ea typeface="Droid Sans Fallback"/>
                <a:cs typeface="Droid Sans Fallback"/>
              </a:rPr>
              <a:t>异构图联合调度</a:t>
            </a:r>
          </a:p>
        </p:txBody>
      </p:sp>
      <p:sp>
        <p:nvSpPr>
          <p:cNvPr id="7" name="candidate-text-340">
            <a:extLst xmlns:a="http://schemas.openxmlformats.org/drawingml/2006/main">
              <a:ext uri="{FF2B5EF4-FFF2-40B4-BE49-F238E27FC236}">
                <a16:creationId xmlns:a16="http://schemas.microsoft.com/office/drawing/2014/main" id="{EF57FFE5-F7FF-4613-8619-77FC95B8A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104900"/>
            <a:ext cx="61055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950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0000"/>
                </a:solidFill>
              </a:defRPr>
            </a:pPr>
            <a:r>
              <a:rPr b="1">
                <a:latin typeface="Droid Sans Fallback"/>
                <a:ea typeface="Droid Sans Fallback"/>
                <a:cs typeface="Droid Sans Fallback"/>
              </a:rPr>
              <a:t>考虑计划稳定性的重调度</a:t>
            </a:r>
          </a:p>
        </p:txBody>
      </p:sp>
      <p:sp>
        <p:nvSpPr>
          <p:cNvPr id="8" name="candidate-box-341">
            <a:extLst xmlns:a="http://schemas.openxmlformats.org/drawingml/2006/main">
              <a:ext uri="{FF2B5EF4-FFF2-40B4-BE49-F238E27FC236}">
                <a16:creationId xmlns:a16="http://schemas.microsoft.com/office/drawing/2014/main" id="{E9D963D0-226C-43B7-B479-75CA64236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628775"/>
            <a:ext cx="100012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00000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00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工序</a:t>
            </a:r>
            <a:r>
              <a:rPr b="0">
                <a:latin typeface="Nimbus Roman"/>
                <a:ea typeface="Nimbus Roman"/>
                <a:cs typeface="Nimbus Roman"/>
              </a:rPr>
              <a:t>1</a:t>
            </a:r>
          </a:p>
        </p:txBody>
      </p:sp>
      <p:sp>
        <p:nvSpPr>
          <p:cNvPr id="9" name="candidate-box-342">
            <a:extLst xmlns:a="http://schemas.openxmlformats.org/drawingml/2006/main">
              <a:ext uri="{FF2B5EF4-FFF2-40B4-BE49-F238E27FC236}">
                <a16:creationId xmlns:a16="http://schemas.microsoft.com/office/drawing/2014/main" id="{9E9209C7-AE81-42A7-AA3C-96552AF73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1628775"/>
            <a:ext cx="100965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00000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00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工序</a:t>
            </a:r>
            <a:r>
              <a:rPr b="0">
                <a:latin typeface="Nimbus Roman"/>
                <a:ea typeface="Nimbus Roman"/>
                <a:cs typeface="Nimbus Roman"/>
              </a:rPr>
              <a:t>2</a:t>
            </a:r>
          </a:p>
        </p:txBody>
      </p:sp>
      <p:sp>
        <p:nvSpPr>
          <p:cNvPr id="10" name="candidate-box-343">
            <a:extLst xmlns:a="http://schemas.openxmlformats.org/drawingml/2006/main">
              <a:ext uri="{FF2B5EF4-FFF2-40B4-BE49-F238E27FC236}">
                <a16:creationId xmlns:a16="http://schemas.microsoft.com/office/drawing/2014/main" id="{681CC4F0-A241-4960-A13C-A4E676D5C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1609725"/>
            <a:ext cx="1019175" cy="533400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00000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00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站位</a:t>
            </a:r>
          </a:p>
        </p:txBody>
      </p:sp>
      <p:sp>
        <p:nvSpPr>
          <p:cNvPr id="11" name="candidate-box-344">
            <a:extLst xmlns:a="http://schemas.openxmlformats.org/drawingml/2006/main">
              <a:ext uri="{FF2B5EF4-FFF2-40B4-BE49-F238E27FC236}">
                <a16:creationId xmlns:a16="http://schemas.microsoft.com/office/drawing/2014/main" id="{571D804F-474C-4CE9-870E-1F5653038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67050"/>
            <a:ext cx="962025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00000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00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人员</a:t>
            </a:r>
          </a:p>
        </p:txBody>
      </p:sp>
      <p:sp>
        <p:nvSpPr>
          <p:cNvPr id="12" name="candidate-box-345">
            <a:extLst xmlns:a="http://schemas.openxmlformats.org/drawingml/2006/main">
              <a:ext uri="{FF2B5EF4-FFF2-40B4-BE49-F238E27FC236}">
                <a16:creationId xmlns:a16="http://schemas.microsoft.com/office/drawing/2014/main" id="{676C8C2C-2138-4990-86F3-A459A74E1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2962275"/>
            <a:ext cx="1200150" cy="8001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00000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00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技能</a:t>
            </a:r>
          </a:p>
        </p:txBody>
      </p:sp>
      <p:sp>
        <p:nvSpPr>
          <p:cNvPr id="14" name="candidate-text-346">
            <a:extLst xmlns:a="http://schemas.openxmlformats.org/drawingml/2006/main">
              <a:ext uri="{FF2B5EF4-FFF2-40B4-BE49-F238E27FC236}">
                <a16:creationId xmlns:a16="http://schemas.microsoft.com/office/drawing/2014/main" id="{2660BEB0-FF0C-4E81-8932-3F1D95C74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" y="1590675"/>
            <a:ext cx="5810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650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前序</a:t>
            </a:r>
          </a:p>
        </p:txBody>
      </p:sp>
      <p:sp>
        <p:nvSpPr>
          <p:cNvPr id="16" name="candidate-text-347">
            <a:extLst xmlns:a="http://schemas.openxmlformats.org/drawingml/2006/main">
              <a:ext uri="{FF2B5EF4-FFF2-40B4-BE49-F238E27FC236}">
                <a16:creationId xmlns:a16="http://schemas.microsoft.com/office/drawing/2014/main" id="{6DEB375C-0261-4D85-99F9-2F048DFD8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1590675"/>
            <a:ext cx="5048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575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归属</a:t>
            </a:r>
          </a:p>
        </p:txBody>
      </p:sp>
      <p:sp>
        <p:nvSpPr>
          <p:cNvPr id="18" name="candidate-text-348">
            <a:extLst xmlns:a="http://schemas.openxmlformats.org/drawingml/2006/main">
              <a:ext uri="{FF2B5EF4-FFF2-40B4-BE49-F238E27FC236}">
                <a16:creationId xmlns:a16="http://schemas.microsoft.com/office/drawing/2014/main" id="{63D8516D-A004-4882-8A15-5219CE616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476500"/>
            <a:ext cx="6572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650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安排</a:t>
            </a:r>
          </a:p>
        </p:txBody>
      </p:sp>
      <p:sp>
        <p:nvSpPr>
          <p:cNvPr id="20" name="candidate-text-349">
            <a:extLst xmlns:a="http://schemas.openxmlformats.org/drawingml/2006/main">
              <a:ext uri="{FF2B5EF4-FFF2-40B4-BE49-F238E27FC236}">
                <a16:creationId xmlns:a16="http://schemas.microsoft.com/office/drawing/2014/main" id="{D9C64B36-0E4C-47BD-89BD-2577354CA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428875"/>
            <a:ext cx="6572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650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需求</a:t>
            </a:r>
          </a:p>
        </p:txBody>
      </p:sp>
      <p:sp>
        <p:nvSpPr>
          <p:cNvPr id="22" name="candidate-text-350">
            <a:extLst xmlns:a="http://schemas.openxmlformats.org/drawingml/2006/main">
              <a:ext uri="{FF2B5EF4-FFF2-40B4-BE49-F238E27FC236}">
                <a16:creationId xmlns:a16="http://schemas.microsoft.com/office/drawing/2014/main" id="{95E23D67-23EC-40F3-BB4C-DEB2973ED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038475"/>
            <a:ext cx="5810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650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资格</a:t>
            </a:r>
          </a:p>
        </p:txBody>
      </p:sp>
      <p:sp>
        <p:nvSpPr>
          <p:cNvPr id="23" name="candidate-box-351">
            <a:extLst xmlns:a="http://schemas.openxmlformats.org/drawingml/2006/main">
              <a:ext uri="{FF2B5EF4-FFF2-40B4-BE49-F238E27FC236}">
                <a16:creationId xmlns:a16="http://schemas.microsoft.com/office/drawing/2014/main" id="{FF989FA2-EFDD-4806-BE11-195DF329D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886200"/>
            <a:ext cx="4238625" cy="676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00000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75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875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异构图编码</a:t>
            </a:r>
          </a:p>
          <a:p xmlns:a="http://schemas.openxmlformats.org/drawingml/2006/main">
            <a:pPr algn="ctr">
              <a:defRPr sz="1875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按关系传播与读出</a:t>
            </a:r>
          </a:p>
        </p:txBody>
      </p:sp>
      <p:cxnSp>
        <p:nvCxnSpPr>
          <p:cNvPr id="24" name="candidate-arrow-352">
            <a:extLst xmlns:a="http://schemas.openxmlformats.org/drawingml/2006/main">
              <a:ext uri="{FF2B5EF4-FFF2-40B4-BE49-F238E27FC236}">
                <a16:creationId xmlns:a16="http://schemas.microsoft.com/office/drawing/2014/main" id="{583B7EF9-4C32-4856-8D83-D00C57DB16A0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2743200" y="3762375"/>
            <a:ext cx="0" cy="123825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000000"/>
            </a:solidFill>
            <a:prstDash val="solid"/>
            <a:tailEnd type="triangle" w="sm" len="sm"/>
          </a:ln>
        </p:spPr>
      </p:cxnSp>
      <p:sp>
        <p:nvSpPr>
          <p:cNvPr id="25" name="candidate-box-353">
            <a:extLst xmlns:a="http://schemas.openxmlformats.org/drawingml/2006/main">
              <a:ext uri="{FF2B5EF4-FFF2-40B4-BE49-F238E27FC236}">
                <a16:creationId xmlns:a16="http://schemas.microsoft.com/office/drawing/2014/main" id="{DC51DD81-8560-4DEC-B99E-776BCAFCD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628775"/>
            <a:ext cx="6105525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00000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00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固定基准计划与已揭示开工延迟</a:t>
            </a:r>
          </a:p>
        </p:txBody>
      </p:sp>
      <p:sp>
        <p:nvSpPr>
          <p:cNvPr id="26" name="candidate-text-354">
            <a:extLst xmlns:a="http://schemas.openxmlformats.org/drawingml/2006/main">
              <a:ext uri="{FF2B5EF4-FFF2-40B4-BE49-F238E27FC236}">
                <a16:creationId xmlns:a16="http://schemas.microsoft.com/office/drawing/2014/main" id="{D260A90D-683A-44B0-8296-0CDF17346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324100"/>
            <a:ext cx="61055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650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按基准开工时刻与重调度边界划分</a:t>
            </a:r>
          </a:p>
        </p:txBody>
      </p:sp>
      <p:sp>
        <p:nvSpPr>
          <p:cNvPr id="27" name="candidate-box-355">
            <a:extLst xmlns:a="http://schemas.openxmlformats.org/drawingml/2006/main">
              <a:ext uri="{FF2B5EF4-FFF2-40B4-BE49-F238E27FC236}">
                <a16:creationId xmlns:a16="http://schemas.microsoft.com/office/drawing/2014/main" id="{8F297EB0-F6E7-4DDB-9D6B-684BF43BF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828925"/>
            <a:ext cx="2457450" cy="752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00000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725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冻结条目</a:t>
            </a:r>
          </a:p>
          <a:p xmlns:a="http://schemas.openxmlformats.org/drawingml/2006/main">
            <a:pPr algn="ctr">
              <a:defRPr sz="1725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保留站位、团队与时刻</a:t>
            </a:r>
          </a:p>
        </p:txBody>
      </p:sp>
      <p:sp>
        <p:nvSpPr>
          <p:cNvPr id="28" name="candidate-box-356">
            <a:extLst xmlns:a="http://schemas.openxmlformats.org/drawingml/2006/main">
              <a:ext uri="{FF2B5EF4-FFF2-40B4-BE49-F238E27FC236}">
                <a16:creationId xmlns:a16="http://schemas.microsoft.com/office/drawing/2014/main" id="{44D37401-25D8-4B90-9862-90EE1FD78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828925"/>
            <a:ext cx="2495550" cy="752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00000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725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可调条目</a:t>
            </a:r>
          </a:p>
          <a:p xmlns:a="http://schemas.openxmlformats.org/drawingml/2006/main">
            <a:pPr algn="ctr">
              <a:defRPr sz="1725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更新基准与释放特征</a:t>
            </a:r>
          </a:p>
        </p:txBody>
      </p:sp>
      <p:sp>
        <p:nvSpPr>
          <p:cNvPr id="29" name="candidate-line-357">
            <a:extLst xmlns:a="http://schemas.openxmlformats.org/drawingml/2006/main">
              <a:ext uri="{FF2B5EF4-FFF2-40B4-BE49-F238E27FC236}">
                <a16:creationId xmlns:a16="http://schemas.microsoft.com/office/drawing/2014/main" id="{7114ECF3-43BB-499F-A131-AEBBA3C6A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477250" y="2209800"/>
            <a:ext cx="0" cy="4857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000000"/>
            </a:solidFill>
            <a:prstDash val="solid"/>
          </a:ln>
        </p:spPr>
      </p:sp>
      <p:sp>
        <p:nvSpPr>
          <p:cNvPr id="30" name="candidate-line-358">
            <a:extLst xmlns:a="http://schemas.openxmlformats.org/drawingml/2006/main">
              <a:ext uri="{FF2B5EF4-FFF2-40B4-BE49-F238E27FC236}">
                <a16:creationId xmlns:a16="http://schemas.microsoft.com/office/drawing/2014/main" id="{3688A9A5-EEB9-4724-8F55-E9347D47F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657975" y="2695575"/>
            <a:ext cx="36290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000000"/>
            </a:solidFill>
            <a:prstDash val="solid"/>
          </a:ln>
        </p:spPr>
      </p:sp>
      <p:cxnSp>
        <p:nvCxnSpPr>
          <p:cNvPr id="31" name="candidate-arrow-359">
            <a:extLst xmlns:a="http://schemas.openxmlformats.org/drawingml/2006/main">
              <a:ext uri="{FF2B5EF4-FFF2-40B4-BE49-F238E27FC236}">
                <a16:creationId xmlns:a16="http://schemas.microsoft.com/office/drawing/2014/main" id="{D95B1416-C19D-4E14-98DC-D2455EE7BD47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657975" y="2695575"/>
            <a:ext cx="0" cy="13335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000000"/>
            </a:solidFill>
            <a:prstDash val="solid"/>
            <a:tailEnd type="triangle" w="sm" len="sm"/>
          </a:ln>
        </p:spPr>
      </p:cxnSp>
      <p:cxnSp>
        <p:nvCxnSpPr>
          <p:cNvPr id="32" name="candidate-arrow-360">
            <a:extLst xmlns:a="http://schemas.openxmlformats.org/drawingml/2006/main">
              <a:ext uri="{FF2B5EF4-FFF2-40B4-BE49-F238E27FC236}">
                <a16:creationId xmlns:a16="http://schemas.microsoft.com/office/drawing/2014/main" id="{E365372B-833A-457B-8976-977F3A55F85A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0287000" y="2695575"/>
            <a:ext cx="0" cy="13335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000000"/>
            </a:solidFill>
            <a:prstDash val="solid"/>
            <a:tailEnd type="triangle" w="sm" len="sm"/>
          </a:ln>
        </p:spPr>
      </p:cxnSp>
      <p:sp>
        <p:nvSpPr>
          <p:cNvPr id="33" name="candidate-text-361">
            <a:extLst xmlns:a="http://schemas.openxmlformats.org/drawingml/2006/main">
              <a:ext uri="{FF2B5EF4-FFF2-40B4-BE49-F238E27FC236}">
                <a16:creationId xmlns:a16="http://schemas.microsoft.com/office/drawing/2014/main" id="{33068A49-DB3E-4911-ABCD-20E712257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676650"/>
            <a:ext cx="61055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50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000000"/>
                </a:solidFill>
              </a:defRPr>
            </a:pPr>
            <a:r>
              <a:rPr b="1">
                <a:latin typeface="Droid Sans Fallback"/>
                <a:ea typeface="Droid Sans Fallback"/>
                <a:cs typeface="Droid Sans Fallback"/>
              </a:rPr>
              <a:t>人员候选继承规则</a:t>
            </a:r>
          </a:p>
        </p:txBody>
      </p:sp>
      <p:sp>
        <p:nvSpPr>
          <p:cNvPr id="34" name="candidate-text-362">
            <a:extLst xmlns:a="http://schemas.openxmlformats.org/drawingml/2006/main">
              <a:ext uri="{FF2B5EF4-FFF2-40B4-BE49-F238E27FC236}">
                <a16:creationId xmlns:a16="http://schemas.microsoft.com/office/drawing/2014/main" id="{71EA6D9D-27C3-4833-97A5-FFF8C686B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962400"/>
            <a:ext cx="26098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已用人员留原站位</a:t>
            </a:r>
          </a:p>
        </p:txBody>
      </p:sp>
      <p:sp>
        <p:nvSpPr>
          <p:cNvPr id="35" name="candidate-text-363">
            <a:extLst xmlns:a="http://schemas.openxmlformats.org/drawingml/2006/main">
              <a:ext uri="{FF2B5EF4-FFF2-40B4-BE49-F238E27FC236}">
                <a16:creationId xmlns:a16="http://schemas.microsoft.com/office/drawing/2014/main" id="{C0856CD2-3307-4E4F-89AD-56B7EC490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3962400"/>
            <a:ext cx="24955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未用人员按首次使用</a:t>
            </a:r>
          </a:p>
        </p:txBody>
      </p:sp>
      <p:sp>
        <p:nvSpPr>
          <p:cNvPr id="36" name="candidate-line-364">
            <a:extLst xmlns:a="http://schemas.openxmlformats.org/drawingml/2006/main">
              <a:ext uri="{FF2B5EF4-FFF2-40B4-BE49-F238E27FC236}">
                <a16:creationId xmlns:a16="http://schemas.microsoft.com/office/drawing/2014/main" id="{09031814-7B34-479E-A9AE-5AA5B7C48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8334375" y="3200400"/>
            <a:ext cx="704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000000"/>
            </a:solidFill>
            <a:prstDash val="solid"/>
          </a:ln>
        </p:spPr>
      </p:sp>
      <p:sp>
        <p:nvSpPr>
          <p:cNvPr id="37" name="candidate-line-365">
            <a:extLst xmlns:a="http://schemas.openxmlformats.org/drawingml/2006/main">
              <a:ext uri="{FF2B5EF4-FFF2-40B4-BE49-F238E27FC236}">
                <a16:creationId xmlns:a16="http://schemas.microsoft.com/office/drawing/2014/main" id="{8A5E1CCB-86D3-42B0-BEAD-F084560E1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334375" y="3200400"/>
            <a:ext cx="0" cy="1181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000000"/>
            </a:solidFill>
            <a:prstDash val="solid"/>
          </a:ln>
        </p:spPr>
      </p:sp>
      <p:cxnSp>
        <p:nvCxnSpPr>
          <p:cNvPr id="38" name="candidate-arrow-366">
            <a:extLst xmlns:a="http://schemas.openxmlformats.org/drawingml/2006/main">
              <a:ext uri="{FF2B5EF4-FFF2-40B4-BE49-F238E27FC236}">
                <a16:creationId xmlns:a16="http://schemas.microsoft.com/office/drawing/2014/main" id="{CE3B00C8-DC1C-4F98-8DEA-67DDD1E5C3F4}"/>
              </a:ext>
            </a:extLst>
          </p:cNvPr>
          <p:cNvCxnSpPr/>
          <p:nvPr/>
        </p:nvCxnSpPr>
        <p:spPr>
          <a:xfrm xmlns:a="http://schemas.openxmlformats.org/drawingml/2006/main" flipH="1" flipV="0">
            <a:off x="4857750" y="4381500"/>
            <a:ext cx="3476625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000000"/>
            </a:solidFill>
            <a:prstDash val="solid"/>
            <a:tailEnd type="triangle" w="sm" len="sm"/>
          </a:ln>
        </p:spPr>
      </p:cxnSp>
      <p:sp>
        <p:nvSpPr>
          <p:cNvPr id="39" name="candidate-line-367">
            <a:extLst xmlns:a="http://schemas.openxmlformats.org/drawingml/2006/main">
              <a:ext uri="{FF2B5EF4-FFF2-40B4-BE49-F238E27FC236}">
                <a16:creationId xmlns:a16="http://schemas.microsoft.com/office/drawing/2014/main" id="{5EBC623A-C27F-4C0C-B8BA-357D8EDD1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886700" y="3200400"/>
            <a:ext cx="209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000000"/>
            </a:solidFill>
            <a:prstDash val="solid"/>
          </a:ln>
        </p:spPr>
      </p:sp>
      <p:sp>
        <p:nvSpPr>
          <p:cNvPr id="40" name="candidate-line-368">
            <a:extLst xmlns:a="http://schemas.openxmlformats.org/drawingml/2006/main">
              <a:ext uri="{FF2B5EF4-FFF2-40B4-BE49-F238E27FC236}">
                <a16:creationId xmlns:a16="http://schemas.microsoft.com/office/drawing/2014/main" id="{1362A0D4-2E2A-4574-9B17-9FDFEDA4A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096250" y="3200400"/>
            <a:ext cx="0" cy="13620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000000"/>
            </a:solidFill>
            <a:prstDash val="solid"/>
          </a:ln>
        </p:spPr>
      </p:sp>
      <p:sp>
        <p:nvSpPr>
          <p:cNvPr id="41" name="candidate-line-369">
            <a:extLst xmlns:a="http://schemas.openxmlformats.org/drawingml/2006/main">
              <a:ext uri="{FF2B5EF4-FFF2-40B4-BE49-F238E27FC236}">
                <a16:creationId xmlns:a16="http://schemas.microsoft.com/office/drawing/2014/main" id="{6FC34DE4-7D0C-4AC2-92D8-EB26A096A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096250" y="4562475"/>
            <a:ext cx="270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000000"/>
            </a:solidFill>
            <a:prstDash val="solid"/>
          </a:ln>
        </p:spPr>
      </p:sp>
      <p:cxnSp>
        <p:nvCxnSpPr>
          <p:cNvPr id="42" name="candidate-arrow-370">
            <a:extLst xmlns:a="http://schemas.openxmlformats.org/drawingml/2006/main">
              <a:ext uri="{FF2B5EF4-FFF2-40B4-BE49-F238E27FC236}">
                <a16:creationId xmlns:a16="http://schemas.microsoft.com/office/drawing/2014/main" id="{4CC0E9F0-64E4-40D9-8574-0A0ABFD39CD2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0801350" y="4562475"/>
            <a:ext cx="0" cy="333375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000000"/>
            </a:solidFill>
            <a:prstDash val="solid"/>
            <a:tailEnd type="triangle" w="sm" len="sm"/>
          </a:ln>
        </p:spPr>
      </p:cxnSp>
      <p:sp>
        <p:nvSpPr>
          <p:cNvPr id="43" name="candidate-text-371">
            <a:extLst xmlns:a="http://schemas.openxmlformats.org/drawingml/2006/main">
              <a:ext uri="{FF2B5EF4-FFF2-40B4-BE49-F238E27FC236}">
                <a16:creationId xmlns:a16="http://schemas.microsoft.com/office/drawing/2014/main" id="{CA6DD385-B3D2-4235-A1BE-9F50B8948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257675"/>
            <a:ext cx="29241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575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冻结条目直接保留</a:t>
            </a:r>
          </a:p>
        </p:txBody>
      </p:sp>
      <p:sp>
        <p:nvSpPr>
          <p:cNvPr id="44" name="candidate-text-372">
            <a:extLst xmlns:a="http://schemas.openxmlformats.org/drawingml/2006/main">
              <a:ext uri="{FF2B5EF4-FFF2-40B4-BE49-F238E27FC236}">
                <a16:creationId xmlns:a16="http://schemas.microsoft.com/office/drawing/2014/main" id="{7083CC4C-D822-4B93-9044-EC74630F9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600575"/>
            <a:ext cx="61055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000000"/>
                </a:solidFill>
              </a:defRPr>
            </a:pPr>
            <a:r>
              <a:rPr b="1">
                <a:latin typeface="Droid Sans Fallback"/>
                <a:ea typeface="Droid Sans Fallback"/>
                <a:cs typeface="Droid Sans Fallback"/>
              </a:rPr>
              <a:t>共享自回归联合动作与时间分配</a:t>
            </a:r>
          </a:p>
        </p:txBody>
      </p:sp>
      <p:sp>
        <p:nvSpPr>
          <p:cNvPr id="45" name="candidate-box-373">
            <a:extLst xmlns:a="http://schemas.openxmlformats.org/drawingml/2006/main">
              <a:ext uri="{FF2B5EF4-FFF2-40B4-BE49-F238E27FC236}">
                <a16:creationId xmlns:a16="http://schemas.microsoft.com/office/drawing/2014/main" id="{09BC5F8D-DF23-4CBA-ABC3-DE84B405B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019675"/>
            <a:ext cx="16764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00000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00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工序选择</a:t>
            </a:r>
          </a:p>
        </p:txBody>
      </p:sp>
      <p:sp>
        <p:nvSpPr>
          <p:cNvPr id="46" name="candidate-box-374">
            <a:extLst xmlns:a="http://schemas.openxmlformats.org/drawingml/2006/main">
              <a:ext uri="{FF2B5EF4-FFF2-40B4-BE49-F238E27FC236}">
                <a16:creationId xmlns:a16="http://schemas.microsoft.com/office/drawing/2014/main" id="{1E794121-2C9B-46B8-84BB-1E99B5831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019675"/>
            <a:ext cx="16764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00000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00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站位分配</a:t>
            </a:r>
          </a:p>
        </p:txBody>
      </p:sp>
      <p:sp>
        <p:nvSpPr>
          <p:cNvPr id="47" name="candidate-box-375">
            <a:extLst xmlns:a="http://schemas.openxmlformats.org/drawingml/2006/main">
              <a:ext uri="{FF2B5EF4-FFF2-40B4-BE49-F238E27FC236}">
                <a16:creationId xmlns:a16="http://schemas.microsoft.com/office/drawing/2014/main" id="{89101907-FDC8-4F7B-A2C2-4E3728B60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4895850"/>
            <a:ext cx="28765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00000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00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具体团队选择</a:t>
            </a:r>
          </a:p>
          <a:p xmlns:a="http://schemas.openxmlformats.org/drawingml/2006/main">
            <a:pPr algn="ctr">
              <a:defRPr sz="1800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逐人选满给定人数</a:t>
            </a:r>
          </a:p>
        </p:txBody>
      </p:sp>
      <p:sp>
        <p:nvSpPr>
          <p:cNvPr id="48" name="candidate-box-376">
            <a:extLst xmlns:a="http://schemas.openxmlformats.org/drawingml/2006/main">
              <a:ext uri="{FF2B5EF4-FFF2-40B4-BE49-F238E27FC236}">
                <a16:creationId xmlns:a16="http://schemas.microsoft.com/office/drawing/2014/main" id="{E5F32FFF-37B3-4CB4-BA32-084982F23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475" y="4895850"/>
            <a:ext cx="16478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00000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725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前向时间分配</a:t>
            </a:r>
          </a:p>
          <a:p xmlns:a="http://schemas.openxmlformats.org/drawingml/2006/main">
            <a:pPr algn="ctr">
              <a:defRPr sz="1725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合法起止时刻</a:t>
            </a:r>
          </a:p>
        </p:txBody>
      </p:sp>
      <p:sp>
        <p:nvSpPr>
          <p:cNvPr id="49" name="candidate-box-377">
            <a:extLst xmlns:a="http://schemas.openxmlformats.org/drawingml/2006/main">
              <a:ext uri="{FF2B5EF4-FFF2-40B4-BE49-F238E27FC236}">
                <a16:creationId xmlns:a16="http://schemas.microsoft.com/office/drawing/2014/main" id="{474B8556-D3C6-4741-B88D-51D15FD60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4895850"/>
            <a:ext cx="14954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00000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00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初始排程</a:t>
            </a:r>
          </a:p>
          <a:p xmlns:a="http://schemas.openxmlformats.org/drawingml/2006/main">
            <a:pPr algn="ctr">
              <a:defRPr sz="1800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修复排程</a:t>
            </a:r>
          </a:p>
        </p:txBody>
      </p:sp>
      <p:cxnSp>
        <p:nvCxnSpPr>
          <p:cNvPr id="50" name="candidate-arrow-378">
            <a:extLst xmlns:a="http://schemas.openxmlformats.org/drawingml/2006/main">
              <a:ext uri="{FF2B5EF4-FFF2-40B4-BE49-F238E27FC236}">
                <a16:creationId xmlns:a16="http://schemas.microsoft.com/office/drawing/2014/main" id="{FFA749EC-FB22-4A61-A385-D0C5C3459463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457325" y="4562475"/>
            <a:ext cx="0" cy="45720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000000"/>
            </a:solidFill>
            <a:prstDash val="solid"/>
            <a:tailEnd type="triangle" w="sm" len="sm"/>
          </a:ln>
        </p:spPr>
      </p:cxnSp>
      <p:sp>
        <p:nvSpPr>
          <p:cNvPr id="55" name="candidate-text-379">
            <a:extLst xmlns:a="http://schemas.openxmlformats.org/drawingml/2006/main">
              <a:ext uri="{FF2B5EF4-FFF2-40B4-BE49-F238E27FC236}">
                <a16:creationId xmlns:a16="http://schemas.microsoft.com/office/drawing/2014/main" id="{4B3570FF-BA88-4263-B147-446A5C06C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943600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50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000000"/>
                </a:solidFill>
              </a:defRPr>
            </a:pPr>
            <a:r>
              <a:rPr b="1">
                <a:latin typeface="Droid Sans Fallback"/>
                <a:ea typeface="Droid Sans Fallback"/>
                <a:cs typeface="Droid Sans Fallback"/>
              </a:rPr>
              <a:t>修复评价：计划完工时间及相对固定基准的开工、站位、具体团队偏离。</a:t>
            </a:r>
          </a:p>
        </p:txBody>
      </p:sp>
    </p:spTree>
    <p:extLst>
      <p:ext uri="{BB962C8B-B14F-4D97-AF65-F5344CB8AC3E}">
        <p14:creationId xmlns:p14="http://schemas.microsoft.com/office/powerpoint/2010/main" val="78493262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3" name="candidate-text-380">
            <a:extLst xmlns:a="http://schemas.openxmlformats.org/drawingml/2006/main">
              <a:ext uri="{FF2B5EF4-FFF2-40B4-BE49-F238E27FC236}">
                <a16:creationId xmlns:a16="http://schemas.microsoft.com/office/drawing/2014/main" id="{CD0E5AB1-1594-4448-B047-9D1D8C887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57175"/>
            <a:ext cx="112014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700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000000"/>
                </a:solidFill>
              </a:defRPr>
            </a:pPr>
            <a:r>
              <a:rPr b="1">
                <a:latin typeface="Droid Sans Fallback"/>
                <a:ea typeface="Droid Sans Fallback"/>
                <a:cs typeface="Droid Sans Fallback"/>
              </a:rPr>
              <a:t>技术路线三：语义增强的多架次协同动态调度</a:t>
            </a:r>
          </a:p>
        </p:txBody>
      </p:sp>
      <p:sp>
        <p:nvSpPr>
          <p:cNvPr id="2" name="candidate-line-381">
            <a:extLst xmlns:a="http://schemas.openxmlformats.org/drawingml/2006/main">
              <a:ext uri="{FF2B5EF4-FFF2-40B4-BE49-F238E27FC236}">
                <a16:creationId xmlns:a16="http://schemas.microsoft.com/office/drawing/2014/main" id="{9762DAA5-7DA2-4FA8-AA1E-0A8759215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95300" y="8953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3" name="candidate-line-382">
            <a:extLst xmlns:a="http://schemas.openxmlformats.org/drawingml/2006/main">
              <a:ext uri="{FF2B5EF4-FFF2-40B4-BE49-F238E27FC236}">
                <a16:creationId xmlns:a16="http://schemas.microsoft.com/office/drawing/2014/main" id="{4A33F91A-C087-4B97-9211-311B6FAF7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95300" y="6410325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000000"/>
            </a:solidFill>
            <a:prstDash val="solid"/>
          </a:ln>
        </p:spPr>
      </p:sp>
      <p:sp>
        <p:nvSpPr>
          <p:cNvPr id="4" name="candidate-text-383">
            <a:extLst xmlns:a="http://schemas.openxmlformats.org/drawingml/2006/main">
              <a:ext uri="{FF2B5EF4-FFF2-40B4-BE49-F238E27FC236}">
                <a16:creationId xmlns:a16="http://schemas.microsoft.com/office/drawing/2014/main" id="{1E8B2016-ABCB-436E-BCC8-BC6432A0E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技术路线</a:t>
            </a:r>
          </a:p>
        </p:txBody>
      </p:sp>
      <p:sp>
        <p:nvSpPr>
          <p:cNvPr id="5" name="candidate-text-384">
            <a:extLst xmlns:a="http://schemas.openxmlformats.org/drawingml/2006/main">
              <a:ext uri="{FF2B5EF4-FFF2-40B4-BE49-F238E27FC236}">
                <a16:creationId xmlns:a16="http://schemas.microsoft.com/office/drawing/2014/main" id="{FED793F6-C0AE-411D-BE18-A7CACF9BC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6457950"/>
            <a:ext cx="11525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350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000000"/>
                </a:solidFill>
              </a:defRPr>
            </a:pPr>
            <a:r>
              <a:rPr b="0">
                <a:latin typeface="Nimbus Roman"/>
                <a:ea typeface="Nimbus Roman"/>
                <a:cs typeface="Nimbus Roman"/>
              </a:rPr>
              <a:t>13A1</a:t>
            </a:r>
          </a:p>
        </p:txBody>
      </p:sp>
      <p:sp>
        <p:nvSpPr>
          <p:cNvPr id="6" name="candidate-text-385">
            <a:extLst xmlns:a="http://schemas.openxmlformats.org/drawingml/2006/main">
              <a:ext uri="{FF2B5EF4-FFF2-40B4-BE49-F238E27FC236}">
                <a16:creationId xmlns:a16="http://schemas.microsoft.com/office/drawing/2014/main" id="{37ECDD00-B764-4393-8F11-DBCCE10E0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47750"/>
            <a:ext cx="1095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000000"/>
                </a:solidFill>
              </a:defRPr>
            </a:pPr>
            <a:r>
              <a:rPr b="1">
                <a:latin typeface="Droid Sans Fallback"/>
                <a:ea typeface="Droid Sans Fallback"/>
                <a:cs typeface="Droid Sans Fallback"/>
              </a:rPr>
              <a:t>多架飞机驻站并行，现场事件刷新当前状态</a:t>
            </a:r>
          </a:p>
        </p:txBody>
      </p:sp>
      <p:sp>
        <p:nvSpPr>
          <p:cNvPr id="7" name="candidate-box-386">
            <a:extLst xmlns:a="http://schemas.openxmlformats.org/drawingml/2006/main">
              <a:ext uri="{FF2B5EF4-FFF2-40B4-BE49-F238E27FC236}">
                <a16:creationId xmlns:a16="http://schemas.microsoft.com/office/drawing/2014/main" id="{F1087432-9559-4923-A794-1DDF5344C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09700"/>
            <a:ext cx="10953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0000"/>
            </a:solidFill>
            <a:prstDash val="solid"/>
          </a:ln>
        </p:spPr>
      </p:sp>
      <p:sp>
        <p:nvSpPr>
          <p:cNvPr id="8" name="candidate-box-387">
            <a:extLst xmlns:a="http://schemas.openxmlformats.org/drawingml/2006/main">
              <a:ext uri="{FF2B5EF4-FFF2-40B4-BE49-F238E27FC236}">
                <a16:creationId xmlns:a16="http://schemas.microsoft.com/office/drawing/2014/main" id="{E6667875-2BF4-482F-BBFA-2A5C0EC6E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495425"/>
            <a:ext cx="161544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00000"/>
            </a:solidFill>
            <a:prstDash val="solid"/>
          </a:ln>
        </p:spPr>
      </p:sp>
      <p:sp>
        <p:nvSpPr>
          <p:cNvPr id="9" name="candidate-text-388">
            <a:extLst xmlns:a="http://schemas.openxmlformats.org/drawingml/2006/main">
              <a:ext uri="{FF2B5EF4-FFF2-40B4-BE49-F238E27FC236}">
                <a16:creationId xmlns:a16="http://schemas.microsoft.com/office/drawing/2014/main" id="{6EBFC732-E8CD-4534-9D68-49DBA2495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14475"/>
            <a:ext cx="155829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75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000000"/>
                </a:solidFill>
              </a:defRPr>
            </a:pPr>
            <a:r>
              <a:rPr b="1">
                <a:latin typeface="Droid Sans Fallback"/>
                <a:ea typeface="Droid Sans Fallback"/>
                <a:cs typeface="Droid Sans Fallback"/>
              </a:rPr>
              <a:t>站位</a:t>
            </a:r>
            <a:r>
              <a:rPr b="1">
                <a:latin typeface="Nimbus Roman"/>
                <a:ea typeface="Nimbus Roman"/>
                <a:cs typeface="Nimbus Roman"/>
              </a:rPr>
              <a:t>1</a:t>
            </a:r>
          </a:p>
        </p:txBody>
      </p:sp>
      <p:sp>
        <p:nvSpPr>
          <p:cNvPr id="10" name="candidate-line-389">
            <a:extLst xmlns:a="http://schemas.openxmlformats.org/drawingml/2006/main">
              <a:ext uri="{FF2B5EF4-FFF2-40B4-BE49-F238E27FC236}">
                <a16:creationId xmlns:a16="http://schemas.microsoft.com/office/drawing/2014/main" id="{0B09A256-B9AA-40E6-952B-EB4AE069E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14375" y="1781175"/>
            <a:ext cx="16154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573">
            <a:solidFill>
              <a:srgbClr val="000000"/>
            </a:solidFill>
            <a:prstDash val="solid"/>
          </a:ln>
        </p:spPr>
      </p:sp>
      <p:sp>
        <p:nvSpPr>
          <p:cNvPr id="11" name="candidate-text-390">
            <a:extLst xmlns:a="http://schemas.openxmlformats.org/drawingml/2006/main">
              <a:ext uri="{FF2B5EF4-FFF2-40B4-BE49-F238E27FC236}">
                <a16:creationId xmlns:a16="http://schemas.microsoft.com/office/drawing/2014/main" id="{C41D1402-E21A-4733-88AF-78DC6DDE1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09750"/>
            <a:ext cx="155829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575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飞机</a:t>
            </a:r>
            <a:r>
              <a:rPr b="0">
                <a:latin typeface="Nimbus Roman"/>
                <a:ea typeface="Nimbus Roman"/>
                <a:cs typeface="Nimbus Roman"/>
              </a:rPr>
              <a:t>5</a:t>
            </a:r>
          </a:p>
        </p:txBody>
      </p:sp>
      <p:sp>
        <p:nvSpPr>
          <p:cNvPr id="12" name="candidate-box-391">
            <a:extLst xmlns:a="http://schemas.openxmlformats.org/drawingml/2006/main">
              <a:ext uri="{FF2B5EF4-FFF2-40B4-BE49-F238E27FC236}">
                <a16:creationId xmlns:a16="http://schemas.microsoft.com/office/drawing/2014/main" id="{CA749E2E-68F9-4777-8408-AD8813917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5065" y="1495425"/>
            <a:ext cx="161544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00000"/>
            </a:solidFill>
            <a:prstDash val="solid"/>
          </a:ln>
        </p:spPr>
      </p:sp>
      <p:sp>
        <p:nvSpPr>
          <p:cNvPr id="13" name="candidate-text-392">
            <a:extLst xmlns:a="http://schemas.openxmlformats.org/drawingml/2006/main">
              <a:ext uri="{FF2B5EF4-FFF2-40B4-BE49-F238E27FC236}">
                <a16:creationId xmlns:a16="http://schemas.microsoft.com/office/drawing/2014/main" id="{2A83C157-52A3-45B7-83B0-D211B2293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3640" y="1514475"/>
            <a:ext cx="155829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75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000000"/>
                </a:solidFill>
              </a:defRPr>
            </a:pPr>
            <a:r>
              <a:rPr b="1">
                <a:latin typeface="Droid Sans Fallback"/>
                <a:ea typeface="Droid Sans Fallback"/>
                <a:cs typeface="Droid Sans Fallback"/>
              </a:rPr>
              <a:t>站位</a:t>
            </a:r>
            <a:r>
              <a:rPr b="1">
                <a:latin typeface="Nimbus Roman"/>
                <a:ea typeface="Nimbus Roman"/>
                <a:cs typeface="Nimbus Roman"/>
              </a:rPr>
              <a:t>2</a:t>
            </a:r>
          </a:p>
        </p:txBody>
      </p:sp>
      <p:sp>
        <p:nvSpPr>
          <p:cNvPr id="14" name="candidate-line-393">
            <a:extLst xmlns:a="http://schemas.openxmlformats.org/drawingml/2006/main">
              <a:ext uri="{FF2B5EF4-FFF2-40B4-BE49-F238E27FC236}">
                <a16:creationId xmlns:a16="http://schemas.microsoft.com/office/drawing/2014/main" id="{C1ED559A-C05E-4991-B1F9-54135CEA2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425065" y="1781175"/>
            <a:ext cx="16154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573">
            <a:solidFill>
              <a:srgbClr val="000000"/>
            </a:solidFill>
            <a:prstDash val="solid"/>
          </a:ln>
        </p:spPr>
      </p:sp>
      <p:sp>
        <p:nvSpPr>
          <p:cNvPr id="15" name="candidate-text-394">
            <a:extLst xmlns:a="http://schemas.openxmlformats.org/drawingml/2006/main">
              <a:ext uri="{FF2B5EF4-FFF2-40B4-BE49-F238E27FC236}">
                <a16:creationId xmlns:a16="http://schemas.microsoft.com/office/drawing/2014/main" id="{807C2605-318E-4820-B18C-094221418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3640" y="1809750"/>
            <a:ext cx="155829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575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飞机</a:t>
            </a:r>
            <a:r>
              <a:rPr b="0">
                <a:latin typeface="Nimbus Roman"/>
                <a:ea typeface="Nimbus Roman"/>
                <a:cs typeface="Nimbus Roman"/>
              </a:rPr>
              <a:t>4</a:t>
            </a:r>
          </a:p>
        </p:txBody>
      </p:sp>
      <p:sp>
        <p:nvSpPr>
          <p:cNvPr id="16" name="candidate-box-395">
            <a:extLst xmlns:a="http://schemas.openxmlformats.org/drawingml/2006/main">
              <a:ext uri="{FF2B5EF4-FFF2-40B4-BE49-F238E27FC236}">
                <a16:creationId xmlns:a16="http://schemas.microsoft.com/office/drawing/2014/main" id="{9467FE61-2791-45F3-AA83-B21E00715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5755" y="1495425"/>
            <a:ext cx="161544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00000"/>
            </a:solidFill>
            <a:prstDash val="solid"/>
          </a:ln>
        </p:spPr>
      </p:sp>
      <p:sp>
        <p:nvSpPr>
          <p:cNvPr id="17" name="candidate-text-396">
            <a:extLst xmlns:a="http://schemas.openxmlformats.org/drawingml/2006/main">
              <a:ext uri="{FF2B5EF4-FFF2-40B4-BE49-F238E27FC236}">
                <a16:creationId xmlns:a16="http://schemas.microsoft.com/office/drawing/2014/main" id="{D9C73205-E780-4E6F-8153-01A8B7B35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4330" y="1514475"/>
            <a:ext cx="155829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75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000000"/>
                </a:solidFill>
              </a:defRPr>
            </a:pPr>
            <a:r>
              <a:rPr b="1">
                <a:latin typeface="Droid Sans Fallback"/>
                <a:ea typeface="Droid Sans Fallback"/>
                <a:cs typeface="Droid Sans Fallback"/>
              </a:rPr>
              <a:t>站位</a:t>
            </a:r>
            <a:r>
              <a:rPr b="1">
                <a:latin typeface="Nimbus Roman"/>
                <a:ea typeface="Nimbus Roman"/>
                <a:cs typeface="Nimbus Roman"/>
              </a:rPr>
              <a:t>3</a:t>
            </a:r>
          </a:p>
        </p:txBody>
      </p:sp>
      <p:sp>
        <p:nvSpPr>
          <p:cNvPr id="18" name="candidate-line-397">
            <a:extLst xmlns:a="http://schemas.openxmlformats.org/drawingml/2006/main">
              <a:ext uri="{FF2B5EF4-FFF2-40B4-BE49-F238E27FC236}">
                <a16:creationId xmlns:a16="http://schemas.microsoft.com/office/drawing/2014/main" id="{AD65CD37-754A-4009-8084-CDCC13CE6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135755" y="1781175"/>
            <a:ext cx="16154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573">
            <a:solidFill>
              <a:srgbClr val="000000"/>
            </a:solidFill>
            <a:prstDash val="solid"/>
          </a:ln>
        </p:spPr>
      </p:sp>
      <p:sp>
        <p:nvSpPr>
          <p:cNvPr id="19" name="candidate-text-398">
            <a:extLst xmlns:a="http://schemas.openxmlformats.org/drawingml/2006/main">
              <a:ext uri="{FF2B5EF4-FFF2-40B4-BE49-F238E27FC236}">
                <a16:creationId xmlns:a16="http://schemas.microsoft.com/office/drawing/2014/main" id="{462F904E-6FDF-41EA-83F0-928048ACB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4330" y="1809750"/>
            <a:ext cx="155829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575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飞机</a:t>
            </a:r>
            <a:r>
              <a:rPr b="0">
                <a:latin typeface="Nimbus Roman"/>
                <a:ea typeface="Nimbus Roman"/>
                <a:cs typeface="Nimbus Roman"/>
              </a:rPr>
              <a:t>3</a:t>
            </a:r>
          </a:p>
        </p:txBody>
      </p:sp>
      <p:sp>
        <p:nvSpPr>
          <p:cNvPr id="20" name="candidate-box-399">
            <a:extLst xmlns:a="http://schemas.openxmlformats.org/drawingml/2006/main">
              <a:ext uri="{FF2B5EF4-FFF2-40B4-BE49-F238E27FC236}">
                <a16:creationId xmlns:a16="http://schemas.microsoft.com/office/drawing/2014/main" id="{7E9F5DF6-00B6-46F5-B402-6475F8354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6445" y="1495425"/>
            <a:ext cx="161544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00000"/>
            </a:solidFill>
            <a:prstDash val="solid"/>
          </a:ln>
        </p:spPr>
      </p:sp>
      <p:sp>
        <p:nvSpPr>
          <p:cNvPr id="21" name="candidate-text-400">
            <a:extLst xmlns:a="http://schemas.openxmlformats.org/drawingml/2006/main">
              <a:ext uri="{FF2B5EF4-FFF2-40B4-BE49-F238E27FC236}">
                <a16:creationId xmlns:a16="http://schemas.microsoft.com/office/drawing/2014/main" id="{3A85EBEB-7024-4BD7-B09E-70EC8CD6A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5020" y="1514475"/>
            <a:ext cx="155829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75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000000"/>
                </a:solidFill>
              </a:defRPr>
            </a:pPr>
            <a:r>
              <a:rPr b="1">
                <a:latin typeface="Droid Sans Fallback"/>
                <a:ea typeface="Droid Sans Fallback"/>
                <a:cs typeface="Droid Sans Fallback"/>
              </a:rPr>
              <a:t>站位</a:t>
            </a:r>
            <a:r>
              <a:rPr b="1">
                <a:latin typeface="Nimbus Roman"/>
                <a:ea typeface="Nimbus Roman"/>
                <a:cs typeface="Nimbus Roman"/>
              </a:rPr>
              <a:t>4</a:t>
            </a:r>
          </a:p>
        </p:txBody>
      </p:sp>
      <p:sp>
        <p:nvSpPr>
          <p:cNvPr id="22" name="candidate-line-401">
            <a:extLst xmlns:a="http://schemas.openxmlformats.org/drawingml/2006/main">
              <a:ext uri="{FF2B5EF4-FFF2-40B4-BE49-F238E27FC236}">
                <a16:creationId xmlns:a16="http://schemas.microsoft.com/office/drawing/2014/main" id="{077A9B76-1669-47D3-ACED-FB82C0395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846445" y="1781175"/>
            <a:ext cx="16154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573">
            <a:solidFill>
              <a:srgbClr val="000000"/>
            </a:solidFill>
            <a:prstDash val="solid"/>
          </a:ln>
        </p:spPr>
      </p:sp>
      <p:sp>
        <p:nvSpPr>
          <p:cNvPr id="23" name="candidate-text-402">
            <a:extLst xmlns:a="http://schemas.openxmlformats.org/drawingml/2006/main">
              <a:ext uri="{FF2B5EF4-FFF2-40B4-BE49-F238E27FC236}">
                <a16:creationId xmlns:a16="http://schemas.microsoft.com/office/drawing/2014/main" id="{91F7DB12-37E6-4208-B47E-F1A9296D5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5020" y="1809750"/>
            <a:ext cx="155829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575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飞机</a:t>
            </a:r>
            <a:r>
              <a:rPr b="0">
                <a:latin typeface="Nimbus Roman"/>
                <a:ea typeface="Nimbus Roman"/>
                <a:cs typeface="Nimbus Roman"/>
              </a:rPr>
              <a:t>2</a:t>
            </a:r>
          </a:p>
        </p:txBody>
      </p:sp>
      <p:sp>
        <p:nvSpPr>
          <p:cNvPr id="24" name="candidate-box-403">
            <a:extLst xmlns:a="http://schemas.openxmlformats.org/drawingml/2006/main">
              <a:ext uri="{FF2B5EF4-FFF2-40B4-BE49-F238E27FC236}">
                <a16:creationId xmlns:a16="http://schemas.microsoft.com/office/drawing/2014/main" id="{A2E0E1F7-0EE5-429C-8757-60B427190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7135" y="1495425"/>
            <a:ext cx="161544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00000"/>
            </a:solidFill>
            <a:prstDash val="solid"/>
          </a:ln>
        </p:spPr>
      </p:sp>
      <p:sp>
        <p:nvSpPr>
          <p:cNvPr id="25" name="candidate-text-404">
            <a:extLst xmlns:a="http://schemas.openxmlformats.org/drawingml/2006/main">
              <a:ext uri="{FF2B5EF4-FFF2-40B4-BE49-F238E27FC236}">
                <a16:creationId xmlns:a16="http://schemas.microsoft.com/office/drawing/2014/main" id="{F0ADDA52-7E67-484C-A527-B1F6F70A9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5710" y="1514475"/>
            <a:ext cx="155829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75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000000"/>
                </a:solidFill>
              </a:defRPr>
            </a:pPr>
            <a:r>
              <a:rPr b="1">
                <a:latin typeface="Droid Sans Fallback"/>
                <a:ea typeface="Droid Sans Fallback"/>
                <a:cs typeface="Droid Sans Fallback"/>
              </a:rPr>
              <a:t>站位</a:t>
            </a:r>
            <a:r>
              <a:rPr b="1">
                <a:latin typeface="Nimbus Roman"/>
                <a:ea typeface="Nimbus Roman"/>
                <a:cs typeface="Nimbus Roman"/>
              </a:rPr>
              <a:t>5</a:t>
            </a:r>
          </a:p>
        </p:txBody>
      </p:sp>
      <p:sp>
        <p:nvSpPr>
          <p:cNvPr id="26" name="candidate-line-405">
            <a:extLst xmlns:a="http://schemas.openxmlformats.org/drawingml/2006/main">
              <a:ext uri="{FF2B5EF4-FFF2-40B4-BE49-F238E27FC236}">
                <a16:creationId xmlns:a16="http://schemas.microsoft.com/office/drawing/2014/main" id="{F61ACCAE-9D23-4341-8D67-E7CEDA7B7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557135" y="1781175"/>
            <a:ext cx="16154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573">
            <a:solidFill>
              <a:srgbClr val="000000"/>
            </a:solidFill>
            <a:prstDash val="solid"/>
          </a:ln>
        </p:spPr>
      </p:sp>
      <p:sp>
        <p:nvSpPr>
          <p:cNvPr id="27" name="candidate-text-406">
            <a:extLst xmlns:a="http://schemas.openxmlformats.org/drawingml/2006/main">
              <a:ext uri="{FF2B5EF4-FFF2-40B4-BE49-F238E27FC236}">
                <a16:creationId xmlns:a16="http://schemas.microsoft.com/office/drawing/2014/main" id="{426BCB51-5F2A-4591-83BC-4D1EA9FCD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5710" y="1809750"/>
            <a:ext cx="155829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575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飞机</a:t>
            </a:r>
            <a:r>
              <a:rPr b="0">
                <a:latin typeface="Nimbus Roman"/>
                <a:ea typeface="Nimbus Roman"/>
                <a:cs typeface="Nimbus Roman"/>
              </a:rPr>
              <a:t>1</a:t>
            </a:r>
          </a:p>
        </p:txBody>
      </p:sp>
      <p:sp>
        <p:nvSpPr>
          <p:cNvPr id="28" name="candidate-line-407">
            <a:extLst xmlns:a="http://schemas.openxmlformats.org/drawingml/2006/main">
              <a:ext uri="{FF2B5EF4-FFF2-40B4-BE49-F238E27FC236}">
                <a16:creationId xmlns:a16="http://schemas.microsoft.com/office/drawing/2014/main" id="{12709DA8-CB61-4441-A2A3-D637DF0F8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191625" y="1485900"/>
            <a:ext cx="0" cy="571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573">
            <a:solidFill>
              <a:srgbClr val="000000"/>
            </a:solidFill>
            <a:prstDash val="solid"/>
          </a:ln>
        </p:spPr>
      </p:sp>
      <p:sp>
        <p:nvSpPr>
          <p:cNvPr id="29" name="candidate-text-408">
            <a:extLst xmlns:a="http://schemas.openxmlformats.org/drawingml/2006/main">
              <a:ext uri="{FF2B5EF4-FFF2-40B4-BE49-F238E27FC236}">
                <a16:creationId xmlns:a16="http://schemas.microsoft.com/office/drawing/2014/main" id="{9DA1D724-362C-4518-869A-039F4E0E7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1533525"/>
            <a:ext cx="2209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000000"/>
                </a:solidFill>
              </a:defRPr>
            </a:pPr>
            <a:r>
              <a:rPr b="1">
                <a:latin typeface="Droid Sans Fallback"/>
                <a:ea typeface="Droid Sans Fallback"/>
                <a:cs typeface="Droid Sans Fallback"/>
              </a:rPr>
              <a:t>占用站位全部就绪</a:t>
            </a:r>
          </a:p>
          <a:p xmlns:a="http://schemas.openxmlformats.org/drawingml/2006/main">
            <a:pPr algn="ctr">
              <a:defRPr sz="1650" b="1">
                <a:solidFill>
                  <a:srgbClr val="000000"/>
                </a:solidFill>
              </a:defRPr>
            </a:pPr>
            <a:r>
              <a:rPr b="1">
                <a:latin typeface="Droid Sans Fallback"/>
                <a:ea typeface="Droid Sans Fallback"/>
                <a:cs typeface="Droid Sans Fallback"/>
              </a:rPr>
              <a:t>最晚时刻共同脉动</a:t>
            </a:r>
          </a:p>
        </p:txBody>
      </p:sp>
      <p:sp>
        <p:nvSpPr>
          <p:cNvPr id="30" name="candidate-text-409">
            <a:extLst xmlns:a="http://schemas.openxmlformats.org/drawingml/2006/main">
              <a:ext uri="{FF2B5EF4-FFF2-40B4-BE49-F238E27FC236}">
                <a16:creationId xmlns:a16="http://schemas.microsoft.com/office/drawing/2014/main" id="{BBC0F739-2904-411A-9AE3-1D0A137B7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324100"/>
            <a:ext cx="8572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50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000000"/>
                </a:solidFill>
              </a:defRPr>
            </a:pPr>
            <a:r>
              <a:rPr b="1">
                <a:latin typeface="Droid Sans Fallback"/>
                <a:ea typeface="Droid Sans Fallback"/>
                <a:cs typeface="Droid Sans Fallback"/>
              </a:rPr>
              <a:t>完整固定预测副本：轨迹内参数固定，每次决策重算</a:t>
            </a:r>
          </a:p>
        </p:txBody>
      </p:sp>
      <p:sp>
        <p:nvSpPr>
          <p:cNvPr id="31" name="candidate-box-410">
            <a:extLst xmlns:a="http://schemas.openxmlformats.org/drawingml/2006/main">
              <a:ext uri="{FF2B5EF4-FFF2-40B4-BE49-F238E27FC236}">
                <a16:creationId xmlns:a16="http://schemas.microsoft.com/office/drawing/2014/main" id="{8D7C207C-D6D9-4392-A3FF-FA8AEF6F2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667000"/>
            <a:ext cx="2190750" cy="2152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0000"/>
            </a:solidFill>
            <a:prstDash val="solid"/>
          </a:ln>
        </p:spPr>
      </p:sp>
      <p:sp>
        <p:nvSpPr>
          <p:cNvPr id="32" name="candidate-text-411">
            <a:extLst xmlns:a="http://schemas.openxmlformats.org/drawingml/2006/main">
              <a:ext uri="{FF2B5EF4-FFF2-40B4-BE49-F238E27FC236}">
                <a16:creationId xmlns:a16="http://schemas.microsoft.com/office/drawing/2014/main" id="{F837C790-6860-4D54-82FE-C1AC5431D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33675"/>
            <a:ext cx="20574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000000"/>
                </a:solidFill>
              </a:defRPr>
            </a:pPr>
            <a:r>
              <a:rPr b="1">
                <a:latin typeface="Droid Sans Fallback"/>
                <a:ea typeface="Droid Sans Fallback"/>
                <a:cs typeface="Droid Sans Fallback"/>
              </a:rPr>
              <a:t>完整图编码</a:t>
            </a:r>
          </a:p>
        </p:txBody>
      </p:sp>
      <p:sp>
        <p:nvSpPr>
          <p:cNvPr id="33" name="candidate-text-412">
            <a:extLst xmlns:a="http://schemas.openxmlformats.org/drawingml/2006/main">
              <a:ext uri="{FF2B5EF4-FFF2-40B4-BE49-F238E27FC236}">
                <a16:creationId xmlns:a16="http://schemas.microsoft.com/office/drawing/2014/main" id="{5714CB84-4852-4E73-900E-C7D5FA2E1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86100"/>
            <a:ext cx="2057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00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500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全部可见工序与资源</a:t>
            </a:r>
          </a:p>
        </p:txBody>
      </p:sp>
      <p:sp>
        <p:nvSpPr>
          <p:cNvPr id="34" name="candidate-box-413">
            <a:extLst xmlns:a="http://schemas.openxmlformats.org/drawingml/2006/main">
              <a:ext uri="{FF2B5EF4-FFF2-40B4-BE49-F238E27FC236}">
                <a16:creationId xmlns:a16="http://schemas.microsoft.com/office/drawing/2014/main" id="{162057EF-F586-4621-B491-178AF4F04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" y="340042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00000"/>
            </a:solidFill>
            <a:prstDash val="solid"/>
          </a:ln>
        </p:spPr>
      </p:sp>
      <p:sp>
        <p:nvSpPr>
          <p:cNvPr id="35" name="candidate-text-414">
            <a:extLst xmlns:a="http://schemas.openxmlformats.org/drawingml/2006/main">
              <a:ext uri="{FF2B5EF4-FFF2-40B4-BE49-F238E27FC236}">
                <a16:creationId xmlns:a16="http://schemas.microsoft.com/office/drawing/2014/main" id="{65FCBFB1-6E38-4CB3-94C7-075318BD2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" y="3400425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已完</a:t>
            </a:r>
          </a:p>
        </p:txBody>
      </p:sp>
      <p:sp>
        <p:nvSpPr>
          <p:cNvPr id="36" name="candidate-box-415">
            <a:extLst xmlns:a="http://schemas.openxmlformats.org/drawingml/2006/main">
              <a:ext uri="{FF2B5EF4-FFF2-40B4-BE49-F238E27FC236}">
                <a16:creationId xmlns:a16="http://schemas.microsoft.com/office/drawing/2014/main" id="{84D5E00F-F65D-4428-8B34-50B8611DB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7390" y="340042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00000"/>
            </a:solidFill>
            <a:prstDash val="solid"/>
          </a:ln>
        </p:spPr>
      </p:sp>
      <p:sp>
        <p:nvSpPr>
          <p:cNvPr id="37" name="candidate-text-416">
            <a:extLst xmlns:a="http://schemas.openxmlformats.org/drawingml/2006/main">
              <a:ext uri="{FF2B5EF4-FFF2-40B4-BE49-F238E27FC236}">
                <a16:creationId xmlns:a16="http://schemas.microsoft.com/office/drawing/2014/main" id="{3FE5E2F3-8DCE-45B0-A4DB-B30837282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7390" y="3400425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未完</a:t>
            </a:r>
          </a:p>
        </p:txBody>
      </p:sp>
      <p:sp>
        <p:nvSpPr>
          <p:cNvPr id="38" name="candidate-box-417">
            <a:extLst xmlns:a="http://schemas.openxmlformats.org/drawingml/2006/main">
              <a:ext uri="{FF2B5EF4-FFF2-40B4-BE49-F238E27FC236}">
                <a16:creationId xmlns:a16="http://schemas.microsoft.com/office/drawing/2014/main" id="{0F4172C6-5E72-4E6E-93E8-6A0A74E96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" y="395287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00000"/>
            </a:solidFill>
            <a:prstDash val="solid"/>
          </a:ln>
        </p:spPr>
      </p:sp>
      <p:sp>
        <p:nvSpPr>
          <p:cNvPr id="39" name="candidate-text-418">
            <a:extLst xmlns:a="http://schemas.openxmlformats.org/drawingml/2006/main">
              <a:ext uri="{FF2B5EF4-FFF2-40B4-BE49-F238E27FC236}">
                <a16:creationId xmlns:a16="http://schemas.microsoft.com/office/drawing/2014/main" id="{8B017C40-EA28-4FBF-8416-C61E46205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" y="3952875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未完</a:t>
            </a:r>
          </a:p>
        </p:txBody>
      </p:sp>
      <p:sp>
        <p:nvSpPr>
          <p:cNvPr id="40" name="candidate-box-419">
            <a:extLst xmlns:a="http://schemas.openxmlformats.org/drawingml/2006/main">
              <a:ext uri="{FF2B5EF4-FFF2-40B4-BE49-F238E27FC236}">
                <a16:creationId xmlns:a16="http://schemas.microsoft.com/office/drawing/2014/main" id="{1B4D49D7-50B7-4FA0-81F8-DC3CE9BF1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7390" y="395287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00000"/>
            </a:solidFill>
            <a:prstDash val="solid"/>
          </a:ln>
        </p:spPr>
      </p:sp>
      <p:sp>
        <p:nvSpPr>
          <p:cNvPr id="41" name="candidate-text-420">
            <a:extLst xmlns:a="http://schemas.openxmlformats.org/drawingml/2006/main">
              <a:ext uri="{FF2B5EF4-FFF2-40B4-BE49-F238E27FC236}">
                <a16:creationId xmlns:a16="http://schemas.microsoft.com/office/drawing/2014/main" id="{AA3D5B30-A741-4FE2-94F5-AFDD082BF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7390" y="3952875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后续</a:t>
            </a:r>
          </a:p>
        </p:txBody>
      </p:sp>
      <p:cxnSp>
        <p:nvCxnSpPr>
          <p:cNvPr id="42" name="candidate-arrow-421">
            <a:extLst xmlns:a="http://schemas.openxmlformats.org/drawingml/2006/main">
              <a:ext uri="{FF2B5EF4-FFF2-40B4-BE49-F238E27FC236}">
                <a16:creationId xmlns:a16="http://schemas.microsoft.com/office/drawing/2014/main" id="{A7F640C1-CB74-4466-BA80-471274BBD3F5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451610" y="3619500"/>
            <a:ext cx="525780" cy="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000000"/>
            </a:solidFill>
            <a:prstDash val="solid"/>
            <a:tailEnd type="triangle" w="sm" len="sm"/>
          </a:ln>
        </p:spPr>
      </p:cxnSp>
      <p:sp>
        <p:nvSpPr>
          <p:cNvPr id="43" name="candidate-line-422">
            <a:extLst xmlns:a="http://schemas.openxmlformats.org/drawingml/2006/main">
              <a:ext uri="{FF2B5EF4-FFF2-40B4-BE49-F238E27FC236}">
                <a16:creationId xmlns:a16="http://schemas.microsoft.com/office/drawing/2014/main" id="{1D2FB80C-74E2-4A5C-8D5E-61CE0A0BA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196465" y="3838575"/>
            <a:ext cx="0" cy="857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00000"/>
            </a:solidFill>
            <a:prstDash val="solid"/>
          </a:ln>
        </p:spPr>
      </p:sp>
      <p:sp>
        <p:nvSpPr>
          <p:cNvPr id="44" name="candidate-line-423">
            <a:extLst xmlns:a="http://schemas.openxmlformats.org/drawingml/2006/main">
              <a:ext uri="{FF2B5EF4-FFF2-40B4-BE49-F238E27FC236}">
                <a16:creationId xmlns:a16="http://schemas.microsoft.com/office/drawing/2014/main" id="{1CFEFD21-ED1C-459D-9BE9-D335A6424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1232535" y="3924300"/>
            <a:ext cx="96393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00000"/>
            </a:solidFill>
            <a:prstDash val="solid"/>
          </a:ln>
        </p:spPr>
      </p:sp>
      <p:cxnSp>
        <p:nvCxnSpPr>
          <p:cNvPr id="45" name="candidate-arrow-424">
            <a:extLst xmlns:a="http://schemas.openxmlformats.org/drawingml/2006/main">
              <a:ext uri="{FF2B5EF4-FFF2-40B4-BE49-F238E27FC236}">
                <a16:creationId xmlns:a16="http://schemas.microsoft.com/office/drawing/2014/main" id="{C8FDFA44-B120-4971-A5D7-D99053C01C3F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232535" y="3924300"/>
            <a:ext cx="0" cy="28575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000000"/>
            </a:solidFill>
            <a:prstDash val="solid"/>
            <a:tailEnd type="triangle" w="sm" len="sm"/>
          </a:ln>
        </p:spPr>
      </p:cxnSp>
      <p:cxnSp>
        <p:nvCxnSpPr>
          <p:cNvPr id="46" name="candidate-arrow-425">
            <a:extLst xmlns:a="http://schemas.openxmlformats.org/drawingml/2006/main">
              <a:ext uri="{FF2B5EF4-FFF2-40B4-BE49-F238E27FC236}">
                <a16:creationId xmlns:a16="http://schemas.microsoft.com/office/drawing/2014/main" id="{65D4CFD5-F656-4066-8C46-B584FF836C11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451610" y="4171950"/>
            <a:ext cx="525780" cy="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000000"/>
            </a:solidFill>
            <a:prstDash val="solid"/>
            <a:tailEnd type="triangle" w="sm" len="sm"/>
          </a:ln>
        </p:spPr>
      </p:cxnSp>
      <p:sp>
        <p:nvSpPr>
          <p:cNvPr id="47" name="candidate-text-426">
            <a:extLst xmlns:a="http://schemas.openxmlformats.org/drawingml/2006/main">
              <a:ext uri="{FF2B5EF4-FFF2-40B4-BE49-F238E27FC236}">
                <a16:creationId xmlns:a16="http://schemas.microsoft.com/office/drawing/2014/main" id="{67D25769-6261-4200-8DC9-2215F2720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20574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425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425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保留前序及资源上下文</a:t>
            </a:r>
          </a:p>
        </p:txBody>
      </p:sp>
      <p:sp>
        <p:nvSpPr>
          <p:cNvPr id="48" name="candidate-box-427">
            <a:extLst xmlns:a="http://schemas.openxmlformats.org/drawingml/2006/main">
              <a:ext uri="{FF2B5EF4-FFF2-40B4-BE49-F238E27FC236}">
                <a16:creationId xmlns:a16="http://schemas.microsoft.com/office/drawing/2014/main" id="{68B966EB-E2FD-4E13-8CD9-118B34D71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667000"/>
            <a:ext cx="3028950" cy="2152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0000"/>
            </a:solidFill>
            <a:prstDash val="solid"/>
          </a:ln>
        </p:spPr>
      </p:sp>
      <p:sp>
        <p:nvSpPr>
          <p:cNvPr id="49" name="candidate-text-428">
            <a:extLst xmlns:a="http://schemas.openxmlformats.org/drawingml/2006/main">
              <a:ext uri="{FF2B5EF4-FFF2-40B4-BE49-F238E27FC236}">
                <a16:creationId xmlns:a16="http://schemas.microsoft.com/office/drawing/2014/main" id="{ED930770-CB27-4E05-83E5-519A729D1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733675"/>
            <a:ext cx="2895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000000"/>
                </a:solidFill>
              </a:defRPr>
            </a:pPr>
            <a:r>
              <a:rPr b="1">
                <a:latin typeface="Droid Sans Fallback"/>
                <a:ea typeface="Droid Sans Fallback"/>
                <a:cs typeface="Droid Sans Fallback"/>
              </a:rPr>
              <a:t>分层汇总与</a:t>
            </a:r>
            <a:r>
              <a:rPr b="1">
                <a:latin typeface="Nimbus Roman"/>
                <a:ea typeface="Nimbus Roman"/>
                <a:cs typeface="Nimbus Roman"/>
              </a:rPr>
              <a:t>MLP</a:t>
            </a:r>
            <a:r>
              <a:rPr b="1">
                <a:latin typeface="Droid Sans Fallback"/>
                <a:ea typeface="Droid Sans Fallback"/>
                <a:cs typeface="Droid Sans Fallback"/>
              </a:rPr>
              <a:t>融合</a:t>
            </a:r>
          </a:p>
        </p:txBody>
      </p:sp>
      <p:sp>
        <p:nvSpPr>
          <p:cNvPr id="50" name="candidate-box-429">
            <a:extLst xmlns:a="http://schemas.openxmlformats.org/drawingml/2006/main">
              <a:ext uri="{FF2B5EF4-FFF2-40B4-BE49-F238E27FC236}">
                <a16:creationId xmlns:a16="http://schemas.microsoft.com/office/drawing/2014/main" id="{FF99F51A-4A03-47A1-9B85-C6EFC44F5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114675"/>
            <a:ext cx="28384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0000"/>
            </a:solidFill>
            <a:prstDash val="solid"/>
          </a:ln>
        </p:spPr>
      </p:sp>
      <p:sp>
        <p:nvSpPr>
          <p:cNvPr id="51" name="candidate-text-430">
            <a:extLst xmlns:a="http://schemas.openxmlformats.org/drawingml/2006/main">
              <a:ext uri="{FF2B5EF4-FFF2-40B4-BE49-F238E27FC236}">
                <a16:creationId xmlns:a16="http://schemas.microsoft.com/office/drawing/2014/main" id="{23D4B6E2-EC04-42BF-88F4-AC4FBF5B6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14325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000000"/>
                </a:solidFill>
              </a:defRPr>
            </a:pPr>
            <a:r>
              <a:rPr b="1">
                <a:latin typeface="Droid Sans Fallback"/>
                <a:ea typeface="Droid Sans Fallback"/>
                <a:cs typeface="Droid Sans Fallback"/>
              </a:rPr>
              <a:t>飞机摘要</a:t>
            </a:r>
          </a:p>
        </p:txBody>
      </p:sp>
      <p:sp>
        <p:nvSpPr>
          <p:cNvPr id="52" name="candidate-text-431">
            <a:extLst xmlns:a="http://schemas.openxmlformats.org/drawingml/2006/main">
              <a:ext uri="{FF2B5EF4-FFF2-40B4-BE49-F238E27FC236}">
                <a16:creationId xmlns:a16="http://schemas.microsoft.com/office/drawing/2014/main" id="{93AA631A-5989-4190-9ABC-A5DD2A71C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371850"/>
            <a:ext cx="276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00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500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未完任务与执行进度</a:t>
            </a:r>
          </a:p>
        </p:txBody>
      </p:sp>
      <p:cxnSp>
        <p:nvCxnSpPr>
          <p:cNvPr id="53" name="candidate-arrow-432">
            <a:extLst xmlns:a="http://schemas.openxmlformats.org/drawingml/2006/main">
              <a:ext uri="{FF2B5EF4-FFF2-40B4-BE49-F238E27FC236}">
                <a16:creationId xmlns:a16="http://schemas.microsoft.com/office/drawing/2014/main" id="{1119C373-333F-4FE1-BFD1-CE55E5E72833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4600575" y="3600450"/>
            <a:ext cx="0" cy="9525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000000"/>
            </a:solidFill>
            <a:prstDash val="solid"/>
            <a:tailEnd type="triangle" w="sm" len="sm"/>
          </a:ln>
        </p:spPr>
      </p:cxnSp>
      <p:sp>
        <p:nvSpPr>
          <p:cNvPr id="54" name="candidate-box-433">
            <a:extLst xmlns:a="http://schemas.openxmlformats.org/drawingml/2006/main">
              <a:ext uri="{FF2B5EF4-FFF2-40B4-BE49-F238E27FC236}">
                <a16:creationId xmlns:a16="http://schemas.microsoft.com/office/drawing/2014/main" id="{B36A65FA-684D-4B28-9A57-E18E6DF59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695700"/>
            <a:ext cx="28384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0000"/>
            </a:solidFill>
            <a:prstDash val="solid"/>
          </a:ln>
        </p:spPr>
      </p:sp>
      <p:sp>
        <p:nvSpPr>
          <p:cNvPr id="55" name="candidate-text-434">
            <a:extLst xmlns:a="http://schemas.openxmlformats.org/drawingml/2006/main">
              <a:ext uri="{FF2B5EF4-FFF2-40B4-BE49-F238E27FC236}">
                <a16:creationId xmlns:a16="http://schemas.microsoft.com/office/drawing/2014/main" id="{A0FFE4E1-7C62-49C9-8C36-EA4D2D77E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724275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000000"/>
                </a:solidFill>
              </a:defRPr>
            </a:pPr>
            <a:r>
              <a:rPr b="1">
                <a:latin typeface="Droid Sans Fallback"/>
                <a:ea typeface="Droid Sans Fallback"/>
                <a:cs typeface="Droid Sans Fallback"/>
              </a:rPr>
              <a:t>站位任务与资源</a:t>
            </a:r>
          </a:p>
        </p:txBody>
      </p:sp>
      <p:sp>
        <p:nvSpPr>
          <p:cNvPr id="56" name="candidate-text-435">
            <a:extLst xmlns:a="http://schemas.openxmlformats.org/drawingml/2006/main">
              <a:ext uri="{FF2B5EF4-FFF2-40B4-BE49-F238E27FC236}">
                <a16:creationId xmlns:a16="http://schemas.microsoft.com/office/drawing/2014/main" id="{410306C1-11D1-4F26-AD36-1A7A1EAEF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952875"/>
            <a:ext cx="276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00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500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当前／下一任务、本站人员</a:t>
            </a:r>
          </a:p>
        </p:txBody>
      </p:sp>
      <p:cxnSp>
        <p:nvCxnSpPr>
          <p:cNvPr id="57" name="candidate-arrow-436">
            <a:extLst xmlns:a="http://schemas.openxmlformats.org/drawingml/2006/main">
              <a:ext uri="{FF2B5EF4-FFF2-40B4-BE49-F238E27FC236}">
                <a16:creationId xmlns:a16="http://schemas.microsoft.com/office/drawing/2014/main" id="{2A7992F8-FDC9-41DB-B5A0-DF5159D03593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4600575" y="4181475"/>
            <a:ext cx="0" cy="9525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000000"/>
            </a:solidFill>
            <a:prstDash val="solid"/>
            <a:tailEnd type="triangle" w="sm" len="sm"/>
          </a:ln>
        </p:spPr>
      </p:cxnSp>
      <p:sp>
        <p:nvSpPr>
          <p:cNvPr id="58" name="candidate-box-437">
            <a:extLst xmlns:a="http://schemas.openxmlformats.org/drawingml/2006/main">
              <a:ext uri="{FF2B5EF4-FFF2-40B4-BE49-F238E27FC236}">
                <a16:creationId xmlns:a16="http://schemas.microsoft.com/office/drawing/2014/main" id="{1FAC4FCD-1205-45E2-AAF9-00EB6EB7E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276725"/>
            <a:ext cx="28384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0000"/>
            </a:solidFill>
            <a:prstDash val="solid"/>
          </a:ln>
        </p:spPr>
      </p:sp>
      <p:sp>
        <p:nvSpPr>
          <p:cNvPr id="59" name="candidate-text-438">
            <a:extLst xmlns:a="http://schemas.openxmlformats.org/drawingml/2006/main">
              <a:ext uri="{FF2B5EF4-FFF2-40B4-BE49-F238E27FC236}">
                <a16:creationId xmlns:a16="http://schemas.microsoft.com/office/drawing/2014/main" id="{4D2F8784-D920-4267-81BC-AF2D593AB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430530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000000"/>
                </a:solidFill>
              </a:defRPr>
            </a:pPr>
            <a:r>
              <a:rPr b="1">
                <a:latin typeface="Droid Sans Fallback"/>
                <a:ea typeface="Droid Sans Fallback"/>
                <a:cs typeface="Droid Sans Fallback"/>
              </a:rPr>
              <a:t>整线状态</a:t>
            </a:r>
          </a:p>
        </p:txBody>
      </p:sp>
      <p:sp>
        <p:nvSpPr>
          <p:cNvPr id="60" name="candidate-text-439">
            <a:extLst xmlns:a="http://schemas.openxmlformats.org/drawingml/2006/main">
              <a:ext uri="{FF2B5EF4-FFF2-40B4-BE49-F238E27FC236}">
                <a16:creationId xmlns:a16="http://schemas.microsoft.com/office/drawing/2014/main" id="{669C1B05-3235-4D06-B977-E6BFBCAF4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4533900"/>
            <a:ext cx="276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00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500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各站负荷与待投产数量</a:t>
            </a:r>
          </a:p>
        </p:txBody>
      </p:sp>
      <p:sp>
        <p:nvSpPr>
          <p:cNvPr id="61" name="candidate-box-440">
            <a:extLst xmlns:a="http://schemas.openxmlformats.org/drawingml/2006/main">
              <a:ext uri="{FF2B5EF4-FFF2-40B4-BE49-F238E27FC236}">
                <a16:creationId xmlns:a16="http://schemas.microsoft.com/office/drawing/2014/main" id="{438C0B8B-8557-4EEE-A25E-E3FFE2FAC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667000"/>
            <a:ext cx="2857500" cy="2152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0000"/>
            </a:solidFill>
            <a:prstDash val="solid"/>
          </a:ln>
        </p:spPr>
      </p:sp>
      <p:sp>
        <p:nvSpPr>
          <p:cNvPr id="62" name="candidate-text-441">
            <a:extLst xmlns:a="http://schemas.openxmlformats.org/drawingml/2006/main">
              <a:ext uri="{FF2B5EF4-FFF2-40B4-BE49-F238E27FC236}">
                <a16:creationId xmlns:a16="http://schemas.microsoft.com/office/drawing/2014/main" id="{03144EA1-45B4-453C-B1FD-B70971CCA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2733675"/>
            <a:ext cx="27241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000000"/>
                </a:solidFill>
              </a:defRPr>
            </a:pPr>
            <a:r>
              <a:rPr b="1">
                <a:latin typeface="Droid Sans Fallback"/>
                <a:ea typeface="Droid Sans Fallback"/>
                <a:cs typeface="Droid Sans Fallback"/>
              </a:rPr>
              <a:t>当前与紧邻下一周期</a:t>
            </a:r>
          </a:p>
        </p:txBody>
      </p:sp>
      <p:sp>
        <p:nvSpPr>
          <p:cNvPr id="63" name="candidate-box-442">
            <a:extLst xmlns:a="http://schemas.openxmlformats.org/drawingml/2006/main">
              <a:ext uri="{FF2B5EF4-FFF2-40B4-BE49-F238E27FC236}">
                <a16:creationId xmlns:a16="http://schemas.microsoft.com/office/drawing/2014/main" id="{3A4393EC-2836-4E7C-9DC9-5AFBD25F0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124200"/>
            <a:ext cx="26670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0000"/>
            </a:solidFill>
            <a:prstDash val="solid"/>
          </a:ln>
        </p:spPr>
      </p:sp>
      <p:sp>
        <p:nvSpPr>
          <p:cNvPr id="64" name="candidate-text-443">
            <a:extLst xmlns:a="http://schemas.openxmlformats.org/drawingml/2006/main">
              <a:ext uri="{FF2B5EF4-FFF2-40B4-BE49-F238E27FC236}">
                <a16:creationId xmlns:a16="http://schemas.microsoft.com/office/drawing/2014/main" id="{74E7B333-136A-4AEC-A29C-B5CBDF6DE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3171825"/>
            <a:ext cx="25336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000000"/>
                </a:solidFill>
              </a:defRPr>
            </a:pPr>
            <a:r>
              <a:rPr b="1">
                <a:latin typeface="Droid Sans Fallback"/>
                <a:ea typeface="Droid Sans Fallback"/>
                <a:cs typeface="Droid Sans Fallback"/>
              </a:rPr>
              <a:t>当前共同脉动</a:t>
            </a:r>
          </a:p>
        </p:txBody>
      </p:sp>
      <p:sp>
        <p:nvSpPr>
          <p:cNvPr id="65" name="candidate-text-444">
            <a:extLst xmlns:a="http://schemas.openxmlformats.org/drawingml/2006/main">
              <a:ext uri="{FF2B5EF4-FFF2-40B4-BE49-F238E27FC236}">
                <a16:creationId xmlns:a16="http://schemas.microsoft.com/office/drawing/2014/main" id="{FCA3662A-BEC9-4331-B739-16E0A343C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3467100"/>
            <a:ext cx="25336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575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启发式估计＋时间修正</a:t>
            </a:r>
          </a:p>
        </p:txBody>
      </p:sp>
      <p:sp>
        <p:nvSpPr>
          <p:cNvPr id="66" name="candidate-box-445">
            <a:extLst xmlns:a="http://schemas.openxmlformats.org/drawingml/2006/main">
              <a:ext uri="{FF2B5EF4-FFF2-40B4-BE49-F238E27FC236}">
                <a16:creationId xmlns:a16="http://schemas.microsoft.com/office/drawing/2014/main" id="{A6C88CDD-78A7-4388-97FC-5FD16BAB2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924300"/>
            <a:ext cx="2667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0000"/>
            </a:solidFill>
            <a:prstDash val="solid"/>
          </a:ln>
        </p:spPr>
      </p:sp>
      <p:sp>
        <p:nvSpPr>
          <p:cNvPr id="67" name="candidate-text-446">
            <a:extLst xmlns:a="http://schemas.openxmlformats.org/drawingml/2006/main">
              <a:ext uri="{FF2B5EF4-FFF2-40B4-BE49-F238E27FC236}">
                <a16:creationId xmlns:a16="http://schemas.microsoft.com/office/drawing/2014/main" id="{53024E7C-FBFD-42EC-985E-CD6C9761F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3971925"/>
            <a:ext cx="257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75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000000"/>
                </a:solidFill>
              </a:defRPr>
            </a:pPr>
            <a:r>
              <a:rPr b="1">
                <a:latin typeface="Droid Sans Fallback"/>
                <a:ea typeface="Droid Sans Fallback"/>
                <a:cs typeface="Droid Sans Fallback"/>
              </a:rPr>
              <a:t>下一周期各站就绪偏差</a:t>
            </a:r>
          </a:p>
        </p:txBody>
      </p:sp>
      <p:sp>
        <p:nvSpPr>
          <p:cNvPr id="68" name="candidate-box-447">
            <a:extLst xmlns:a="http://schemas.openxmlformats.org/drawingml/2006/main">
              <a:ext uri="{FF2B5EF4-FFF2-40B4-BE49-F238E27FC236}">
                <a16:creationId xmlns:a16="http://schemas.microsoft.com/office/drawing/2014/main" id="{44B099AA-7265-47FA-B1CA-8C4371197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42672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0000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00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500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Δ</a:t>
            </a:r>
            <a:r>
              <a:rPr b="0">
                <a:latin typeface="Nimbus Roman"/>
                <a:ea typeface="Nimbus Roman"/>
                <a:cs typeface="Nimbus Roman"/>
              </a:rPr>
              <a:t>1</a:t>
            </a:r>
          </a:p>
        </p:txBody>
      </p:sp>
      <p:sp>
        <p:nvSpPr>
          <p:cNvPr id="69" name="candidate-box-448">
            <a:extLst xmlns:a="http://schemas.openxmlformats.org/drawingml/2006/main">
              <a:ext uri="{FF2B5EF4-FFF2-40B4-BE49-F238E27FC236}">
                <a16:creationId xmlns:a16="http://schemas.microsoft.com/office/drawing/2014/main" id="{20ADBC05-2C61-4729-BBA8-12923BC46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2672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0000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00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500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Δ</a:t>
            </a:r>
            <a:r>
              <a:rPr b="0">
                <a:latin typeface="Nimbus Roman"/>
                <a:ea typeface="Nimbus Roman"/>
                <a:cs typeface="Nimbus Roman"/>
              </a:rPr>
              <a:t>2</a:t>
            </a:r>
          </a:p>
        </p:txBody>
      </p:sp>
      <p:sp>
        <p:nvSpPr>
          <p:cNvPr id="70" name="candidate-box-449">
            <a:extLst xmlns:a="http://schemas.openxmlformats.org/drawingml/2006/main">
              <a:ext uri="{FF2B5EF4-FFF2-40B4-BE49-F238E27FC236}">
                <a16:creationId xmlns:a16="http://schemas.microsoft.com/office/drawing/2014/main" id="{C784C230-1CDC-4E4C-AF4A-61CE0E0E5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42672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0000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00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500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Δ</a:t>
            </a:r>
            <a:r>
              <a:rPr b="0">
                <a:latin typeface="Nimbus Roman"/>
                <a:ea typeface="Nimbus Roman"/>
                <a:cs typeface="Nimbus Roman"/>
              </a:rPr>
              <a:t>3</a:t>
            </a:r>
          </a:p>
        </p:txBody>
      </p:sp>
      <p:sp>
        <p:nvSpPr>
          <p:cNvPr id="71" name="candidate-box-450">
            <a:extLst xmlns:a="http://schemas.openxmlformats.org/drawingml/2006/main">
              <a:ext uri="{FF2B5EF4-FFF2-40B4-BE49-F238E27FC236}">
                <a16:creationId xmlns:a16="http://schemas.microsoft.com/office/drawing/2014/main" id="{729B436B-A6A9-4A70-9048-B92A901FB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2672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0000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00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500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Δ</a:t>
            </a:r>
            <a:r>
              <a:rPr b="0">
                <a:latin typeface="Nimbus Roman"/>
                <a:ea typeface="Nimbus Roman"/>
                <a:cs typeface="Nimbus Roman"/>
              </a:rPr>
              <a:t>4</a:t>
            </a:r>
          </a:p>
        </p:txBody>
      </p:sp>
      <p:sp>
        <p:nvSpPr>
          <p:cNvPr id="72" name="candidate-box-451">
            <a:extLst xmlns:a="http://schemas.openxmlformats.org/drawingml/2006/main">
              <a:ext uri="{FF2B5EF4-FFF2-40B4-BE49-F238E27FC236}">
                <a16:creationId xmlns:a16="http://schemas.microsoft.com/office/drawing/2014/main" id="{C2E0CCF4-8F54-4FA6-B6FE-BC496DF17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42672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0000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00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500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Δ</a:t>
            </a:r>
            <a:r>
              <a:rPr b="0">
                <a:latin typeface="Nimbus Roman"/>
                <a:ea typeface="Nimbus Roman"/>
                <a:cs typeface="Nimbus Roman"/>
              </a:rPr>
              <a:t>5</a:t>
            </a:r>
          </a:p>
        </p:txBody>
      </p:sp>
      <p:sp>
        <p:nvSpPr>
          <p:cNvPr id="73" name="candidate-text-452">
            <a:extLst xmlns:a="http://schemas.openxmlformats.org/drawingml/2006/main">
              <a:ext uri="{FF2B5EF4-FFF2-40B4-BE49-F238E27FC236}">
                <a16:creationId xmlns:a16="http://schemas.microsoft.com/office/drawing/2014/main" id="{C9117D84-C7AD-43F4-B4B4-A634235D6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4524375"/>
            <a:ext cx="25717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425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425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正值晚，负值早</a:t>
            </a:r>
          </a:p>
        </p:txBody>
      </p:sp>
      <p:sp>
        <p:nvSpPr>
          <p:cNvPr id="74" name="candidate-box-453">
            <a:extLst xmlns:a="http://schemas.openxmlformats.org/drawingml/2006/main">
              <a:ext uri="{FF2B5EF4-FFF2-40B4-BE49-F238E27FC236}">
                <a16:creationId xmlns:a16="http://schemas.microsoft.com/office/drawing/2014/main" id="{DC39756F-3950-4446-AA99-D39EE3868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667000"/>
            <a:ext cx="1990725" cy="2152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0000"/>
            </a:solidFill>
            <a:prstDash val="solid"/>
          </a:ln>
        </p:spPr>
      </p:sp>
      <p:sp>
        <p:nvSpPr>
          <p:cNvPr id="75" name="candidate-text-454">
            <a:extLst xmlns:a="http://schemas.openxmlformats.org/drawingml/2006/main">
              <a:ext uri="{FF2B5EF4-FFF2-40B4-BE49-F238E27FC236}">
                <a16:creationId xmlns:a16="http://schemas.microsoft.com/office/drawing/2014/main" id="{68841072-7790-4F21-8F02-B35F2E8B3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743200"/>
            <a:ext cx="18764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000000"/>
                </a:solidFill>
              </a:defRPr>
            </a:pPr>
            <a:r>
              <a:rPr b="1">
                <a:latin typeface="Droid Sans Fallback"/>
                <a:ea typeface="Droid Sans Fallback"/>
                <a:cs typeface="Droid Sans Fallback"/>
              </a:rPr>
              <a:t>协同联合决策</a:t>
            </a:r>
          </a:p>
        </p:txBody>
      </p:sp>
      <p:sp>
        <p:nvSpPr>
          <p:cNvPr id="76" name="candidate-box-455">
            <a:extLst xmlns:a="http://schemas.openxmlformats.org/drawingml/2006/main">
              <a:ext uri="{FF2B5EF4-FFF2-40B4-BE49-F238E27FC236}">
                <a16:creationId xmlns:a16="http://schemas.microsoft.com/office/drawing/2014/main" id="{45AE8A3D-7A52-45E1-9857-ECF48AF25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152775"/>
            <a:ext cx="17621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0000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575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选择工序</a:t>
            </a:r>
          </a:p>
        </p:txBody>
      </p:sp>
      <p:cxnSp>
        <p:nvCxnSpPr>
          <p:cNvPr id="77" name="candidate-arrow-456">
            <a:extLst xmlns:a="http://schemas.openxmlformats.org/drawingml/2006/main">
              <a:ext uri="{FF2B5EF4-FFF2-40B4-BE49-F238E27FC236}">
                <a16:creationId xmlns:a16="http://schemas.microsoft.com/office/drawing/2014/main" id="{AC7E3957-70A5-4DFE-9963-4562A8AB5FBB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0577513" y="3505200"/>
            <a:ext cx="0" cy="123825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000000"/>
            </a:solidFill>
            <a:prstDash val="solid"/>
            <a:tailEnd type="triangle" w="sm" len="sm"/>
          </a:ln>
        </p:spPr>
      </p:cxnSp>
      <p:sp>
        <p:nvSpPr>
          <p:cNvPr id="78" name="candidate-box-457">
            <a:extLst xmlns:a="http://schemas.openxmlformats.org/drawingml/2006/main">
              <a:ext uri="{FF2B5EF4-FFF2-40B4-BE49-F238E27FC236}">
                <a16:creationId xmlns:a16="http://schemas.microsoft.com/office/drawing/2014/main" id="{63A27850-AB55-4A0E-AF7C-60792408A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629025"/>
            <a:ext cx="17621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0000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575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留站／合法后移</a:t>
            </a:r>
          </a:p>
        </p:txBody>
      </p:sp>
      <p:cxnSp>
        <p:nvCxnSpPr>
          <p:cNvPr id="79" name="candidate-arrow-458">
            <a:extLst xmlns:a="http://schemas.openxmlformats.org/drawingml/2006/main">
              <a:ext uri="{FF2B5EF4-FFF2-40B4-BE49-F238E27FC236}">
                <a16:creationId xmlns:a16="http://schemas.microsoft.com/office/drawing/2014/main" id="{77E5ECF9-0BA7-4C6F-BA6B-F86C7C051D35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0577513" y="3981450"/>
            <a:ext cx="0" cy="123825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000000"/>
            </a:solidFill>
            <a:prstDash val="solid"/>
            <a:tailEnd type="triangle" w="sm" len="sm"/>
          </a:ln>
        </p:spPr>
      </p:cxnSp>
      <p:sp>
        <p:nvSpPr>
          <p:cNvPr id="80" name="candidate-box-459">
            <a:extLst xmlns:a="http://schemas.openxmlformats.org/drawingml/2006/main">
              <a:ext uri="{FF2B5EF4-FFF2-40B4-BE49-F238E27FC236}">
                <a16:creationId xmlns:a16="http://schemas.microsoft.com/office/drawing/2014/main" id="{02412EA8-FB8D-4513-9ABD-77EC311FD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105275"/>
            <a:ext cx="17621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0000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575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留站：团队与对齐</a:t>
            </a:r>
          </a:p>
        </p:txBody>
      </p:sp>
      <p:cxnSp>
        <p:nvCxnSpPr>
          <p:cNvPr id="81" name="candidate-arrow-460">
            <a:extLst xmlns:a="http://schemas.openxmlformats.org/drawingml/2006/main">
              <a:ext uri="{FF2B5EF4-FFF2-40B4-BE49-F238E27FC236}">
                <a16:creationId xmlns:a16="http://schemas.microsoft.com/office/drawing/2014/main" id="{0870027F-A7D2-41B4-9265-48708D6B25B9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2809875" y="3724275"/>
            <a:ext cx="276225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000000"/>
            </a:solidFill>
            <a:prstDash val="solid"/>
            <a:tailEnd type="triangle" w="sm" len="sm"/>
          </a:ln>
        </p:spPr>
      </p:cxnSp>
      <p:cxnSp>
        <p:nvCxnSpPr>
          <p:cNvPr id="82" name="candidate-arrow-461">
            <a:extLst xmlns:a="http://schemas.openxmlformats.org/drawingml/2006/main">
              <a:ext uri="{FF2B5EF4-FFF2-40B4-BE49-F238E27FC236}">
                <a16:creationId xmlns:a16="http://schemas.microsoft.com/office/drawing/2014/main" id="{D512F005-991A-4EE4-850F-F4D4139EAFCD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115050" y="3724275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000000"/>
            </a:solidFill>
            <a:prstDash val="solid"/>
            <a:tailEnd type="triangle" w="sm" len="sm"/>
          </a:ln>
        </p:spPr>
      </p:cxnSp>
      <p:cxnSp>
        <p:nvCxnSpPr>
          <p:cNvPr id="83" name="candidate-arrow-462">
            <a:extLst xmlns:a="http://schemas.openxmlformats.org/drawingml/2006/main">
              <a:ext uri="{FF2B5EF4-FFF2-40B4-BE49-F238E27FC236}">
                <a16:creationId xmlns:a16="http://schemas.microsoft.com/office/drawing/2014/main" id="{2CDA0A50-ED34-4F29-AE90-4290A1E6E1FD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9258300" y="3724275"/>
            <a:ext cx="32385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000000"/>
            </a:solidFill>
            <a:prstDash val="solid"/>
            <a:tailEnd type="triangle" w="sm" len="sm"/>
          </a:ln>
        </p:spPr>
      </p:cxnSp>
      <p:sp>
        <p:nvSpPr>
          <p:cNvPr id="84" name="candidate-line-463">
            <a:extLst xmlns:a="http://schemas.openxmlformats.org/drawingml/2006/main">
              <a:ext uri="{FF2B5EF4-FFF2-40B4-BE49-F238E27FC236}">
                <a16:creationId xmlns:a16="http://schemas.microsoft.com/office/drawing/2014/main" id="{2F404CCD-132C-4633-8331-17A0C60DB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0582275" y="2352675"/>
            <a:ext cx="0" cy="3143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00000"/>
            </a:solidFill>
            <a:prstDash val="solid"/>
          </a:ln>
        </p:spPr>
      </p:sp>
      <p:sp>
        <p:nvSpPr>
          <p:cNvPr id="85" name="candidate-line-464">
            <a:extLst xmlns:a="http://schemas.openxmlformats.org/drawingml/2006/main">
              <a:ext uri="{FF2B5EF4-FFF2-40B4-BE49-F238E27FC236}">
                <a16:creationId xmlns:a16="http://schemas.microsoft.com/office/drawing/2014/main" id="{572BDF25-5B7C-42DA-B7C7-8FCEBB483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582275" y="2352675"/>
            <a:ext cx="676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00000"/>
            </a:solidFill>
            <a:prstDash val="solid"/>
          </a:ln>
        </p:spPr>
      </p:sp>
      <p:cxnSp>
        <p:nvCxnSpPr>
          <p:cNvPr id="86" name="candidate-arrow-465">
            <a:extLst xmlns:a="http://schemas.openxmlformats.org/drawingml/2006/main">
              <a:ext uri="{FF2B5EF4-FFF2-40B4-BE49-F238E27FC236}">
                <a16:creationId xmlns:a16="http://schemas.microsoft.com/office/drawing/2014/main" id="{A4DAE5E1-604A-4F57-B40E-59D2119B8C11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11258550" y="2133600"/>
            <a:ext cx="0" cy="219075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000000"/>
            </a:solidFill>
            <a:prstDash val="solid"/>
            <a:tailEnd type="triangle" w="sm" len="sm"/>
          </a:ln>
        </p:spPr>
      </p:cxnSp>
      <p:sp>
        <p:nvSpPr>
          <p:cNvPr id="87" name="candidate-text-466">
            <a:extLst xmlns:a="http://schemas.openxmlformats.org/drawingml/2006/main">
              <a:ext uri="{FF2B5EF4-FFF2-40B4-BE49-F238E27FC236}">
                <a16:creationId xmlns:a16="http://schemas.microsoft.com/office/drawing/2014/main" id="{CCCCA03E-7656-4965-921C-2718B4E3B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324100"/>
            <a:ext cx="14954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575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完整提交</a:t>
            </a:r>
          </a:p>
        </p:txBody>
      </p:sp>
      <p:sp>
        <p:nvSpPr>
          <p:cNvPr id="88" name="candidate-box-467">
            <a:extLst xmlns:a="http://schemas.openxmlformats.org/drawingml/2006/main">
              <a:ext uri="{FF2B5EF4-FFF2-40B4-BE49-F238E27FC236}">
                <a16:creationId xmlns:a16="http://schemas.microsoft.com/office/drawing/2014/main" id="{4DC4B10B-8E05-4BD4-A831-3EA2DDC9E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153025"/>
            <a:ext cx="2190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0000"/>
            </a:solidFill>
            <a:prstDash val="solid"/>
          </a:ln>
        </p:spPr>
      </p:sp>
      <p:sp>
        <p:nvSpPr>
          <p:cNvPr id="89" name="candidate-text-468">
            <a:extLst xmlns:a="http://schemas.openxmlformats.org/drawingml/2006/main">
              <a:ext uri="{FF2B5EF4-FFF2-40B4-BE49-F238E27FC236}">
                <a16:creationId xmlns:a16="http://schemas.microsoft.com/office/drawing/2014/main" id="{D18774E5-4EC3-413D-9C95-6E45C2B14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72075"/>
            <a:ext cx="2057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75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000000"/>
                </a:solidFill>
              </a:defRPr>
            </a:pPr>
            <a:r>
              <a:rPr b="1">
                <a:latin typeface="Droid Sans Fallback"/>
                <a:ea typeface="Droid Sans Fallback"/>
                <a:cs typeface="Droid Sans Fallback"/>
              </a:rPr>
              <a:t>最新状态＋最近变化</a:t>
            </a:r>
          </a:p>
        </p:txBody>
      </p:sp>
      <p:sp>
        <p:nvSpPr>
          <p:cNvPr id="90" name="candidate-text-469">
            <a:extLst xmlns:a="http://schemas.openxmlformats.org/drawingml/2006/main">
              <a:ext uri="{FF2B5EF4-FFF2-40B4-BE49-F238E27FC236}">
                <a16:creationId xmlns:a16="http://schemas.microsoft.com/office/drawing/2014/main" id="{EED19E28-4424-41DE-8C19-54B22545A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10200"/>
            <a:ext cx="20574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00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500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同一现场快照</a:t>
            </a:r>
          </a:p>
        </p:txBody>
      </p:sp>
      <p:sp>
        <p:nvSpPr>
          <p:cNvPr id="91" name="candidate-box-470">
            <a:extLst xmlns:a="http://schemas.openxmlformats.org/drawingml/2006/main">
              <a:ext uri="{FF2B5EF4-FFF2-40B4-BE49-F238E27FC236}">
                <a16:creationId xmlns:a16="http://schemas.microsoft.com/office/drawing/2014/main" id="{3C6E79EE-15E6-46EE-9763-1E647E1D9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5153025"/>
            <a:ext cx="61722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0000"/>
            </a:solidFill>
            <a:prstDash val="solid"/>
          </a:ln>
        </p:spPr>
      </p:sp>
      <p:sp>
        <p:nvSpPr>
          <p:cNvPr id="92" name="candidate-text-471">
            <a:extLst xmlns:a="http://schemas.openxmlformats.org/drawingml/2006/main">
              <a:ext uri="{FF2B5EF4-FFF2-40B4-BE49-F238E27FC236}">
                <a16:creationId xmlns:a16="http://schemas.microsoft.com/office/drawing/2014/main" id="{7DC1B557-23D5-4FDF-A747-7E41384DA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5172075"/>
            <a:ext cx="6038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000000"/>
                </a:solidFill>
              </a:defRPr>
            </a:pPr>
            <a:r>
              <a:rPr b="1">
                <a:latin typeface="Droid Sans Fallback"/>
                <a:ea typeface="Droid Sans Fallback"/>
                <a:cs typeface="Droid Sans Fallback"/>
              </a:rPr>
              <a:t>独立在线图编码与分层融合</a:t>
            </a:r>
          </a:p>
        </p:txBody>
      </p:sp>
      <p:sp>
        <p:nvSpPr>
          <p:cNvPr id="93" name="candidate-text-472">
            <a:extLst xmlns:a="http://schemas.openxmlformats.org/drawingml/2006/main">
              <a:ext uri="{FF2B5EF4-FFF2-40B4-BE49-F238E27FC236}">
                <a16:creationId xmlns:a16="http://schemas.microsoft.com/office/drawing/2014/main" id="{381BD81B-30D2-46A3-965A-FBBA17A02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5410200"/>
            <a:ext cx="60388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575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候选表示及跨层上下文</a:t>
            </a:r>
          </a:p>
        </p:txBody>
      </p:sp>
      <p:cxnSp>
        <p:nvCxnSpPr>
          <p:cNvPr id="94" name="candidate-arrow-473">
            <a:extLst xmlns:a="http://schemas.openxmlformats.org/drawingml/2006/main">
              <a:ext uri="{FF2B5EF4-FFF2-40B4-BE49-F238E27FC236}">
                <a16:creationId xmlns:a16="http://schemas.microsoft.com/office/drawing/2014/main" id="{321E835F-5F3B-4FD3-9E49-C516E0D379F6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2809875" y="5391150"/>
            <a:ext cx="276225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000000"/>
            </a:solidFill>
            <a:prstDash val="solid"/>
            <a:tailEnd type="triangle" w="sm" len="sm"/>
          </a:ln>
        </p:spPr>
      </p:cxnSp>
      <p:sp>
        <p:nvSpPr>
          <p:cNvPr id="95" name="candidate-line-474">
            <a:extLst xmlns:a="http://schemas.openxmlformats.org/drawingml/2006/main">
              <a:ext uri="{FF2B5EF4-FFF2-40B4-BE49-F238E27FC236}">
                <a16:creationId xmlns:a16="http://schemas.microsoft.com/office/drawing/2014/main" id="{C51ADCD1-A844-4487-8D71-3DADB0F8B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258300" y="5391150"/>
            <a:ext cx="13239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000000"/>
            </a:solidFill>
            <a:prstDash val="solid"/>
          </a:ln>
        </p:spPr>
      </p:sp>
      <p:cxnSp>
        <p:nvCxnSpPr>
          <p:cNvPr id="96" name="candidate-arrow-475">
            <a:extLst xmlns:a="http://schemas.openxmlformats.org/drawingml/2006/main">
              <a:ext uri="{FF2B5EF4-FFF2-40B4-BE49-F238E27FC236}">
                <a16:creationId xmlns:a16="http://schemas.microsoft.com/office/drawing/2014/main" id="{014452D9-F1A7-4EBB-B60D-E6D1FC32F7C6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10582275" y="4819650"/>
            <a:ext cx="0" cy="57150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000000"/>
            </a:solidFill>
            <a:prstDash val="solid"/>
            <a:tailEnd type="triangle" w="sm" len="sm"/>
          </a:ln>
        </p:spPr>
      </p:cxnSp>
      <p:sp>
        <p:nvSpPr>
          <p:cNvPr id="97" name="candidate-text-476">
            <a:extLst xmlns:a="http://schemas.openxmlformats.org/drawingml/2006/main">
              <a:ext uri="{FF2B5EF4-FFF2-40B4-BE49-F238E27FC236}">
                <a16:creationId xmlns:a16="http://schemas.microsoft.com/office/drawing/2014/main" id="{4DCA656B-FE68-4628-8DAB-09596666D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4886325"/>
            <a:ext cx="2143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00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500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在线候选上下文</a:t>
            </a:r>
          </a:p>
        </p:txBody>
      </p:sp>
      <p:sp>
        <p:nvSpPr>
          <p:cNvPr id="98" name="candidate-line-477">
            <a:extLst xmlns:a="http://schemas.openxmlformats.org/drawingml/2006/main">
              <a:ext uri="{FF2B5EF4-FFF2-40B4-BE49-F238E27FC236}">
                <a16:creationId xmlns:a16="http://schemas.microsoft.com/office/drawing/2014/main" id="{C21D7659-28FC-4820-8C1B-3C6442FC8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514350" y="2133600"/>
            <a:ext cx="1047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000000"/>
            </a:solidFill>
            <a:prstDash val="solid"/>
          </a:ln>
        </p:spPr>
      </p:sp>
      <p:sp>
        <p:nvSpPr>
          <p:cNvPr id="99" name="candidate-line-478">
            <a:extLst xmlns:a="http://schemas.openxmlformats.org/drawingml/2006/main">
              <a:ext uri="{FF2B5EF4-FFF2-40B4-BE49-F238E27FC236}">
                <a16:creationId xmlns:a16="http://schemas.microsoft.com/office/drawing/2014/main" id="{C24391C8-0F38-4AE9-9E03-3B4074138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14350" y="2133600"/>
            <a:ext cx="0" cy="3257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000000"/>
            </a:solidFill>
            <a:prstDash val="solid"/>
          </a:ln>
        </p:spPr>
      </p:sp>
      <p:cxnSp>
        <p:nvCxnSpPr>
          <p:cNvPr id="100" name="candidate-arrow-479">
            <a:extLst xmlns:a="http://schemas.openxmlformats.org/drawingml/2006/main">
              <a:ext uri="{FF2B5EF4-FFF2-40B4-BE49-F238E27FC236}">
                <a16:creationId xmlns:a16="http://schemas.microsoft.com/office/drawing/2014/main" id="{E854DB37-8920-47FE-91A4-017BCC0B0A23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514350" y="5391150"/>
            <a:ext cx="104775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000000"/>
            </a:solidFill>
            <a:prstDash val="solid"/>
            <a:tailEnd type="triangle" w="sm" len="sm"/>
          </a:ln>
        </p:spPr>
      </p:cxnSp>
      <p:cxnSp>
        <p:nvCxnSpPr>
          <p:cNvPr id="101" name="candidate-arrow-480">
            <a:extLst xmlns:a="http://schemas.openxmlformats.org/drawingml/2006/main">
              <a:ext uri="{FF2B5EF4-FFF2-40B4-BE49-F238E27FC236}">
                <a16:creationId xmlns:a16="http://schemas.microsoft.com/office/drawing/2014/main" id="{07D99302-AD34-47D1-A23A-02F4B7DA83D6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514350" y="3724275"/>
            <a:ext cx="104775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000000"/>
            </a:solidFill>
            <a:prstDash val="solid"/>
            <a:tailEnd type="triangle" w="sm" len="sm"/>
          </a:ln>
        </p:spPr>
      </p:cxnSp>
      <p:sp>
        <p:nvSpPr>
          <p:cNvPr id="102" name="candidate-box-481">
            <a:extLst xmlns:a="http://schemas.openxmlformats.org/drawingml/2006/main">
              <a:ext uri="{FF2B5EF4-FFF2-40B4-BE49-F238E27FC236}">
                <a16:creationId xmlns:a16="http://schemas.microsoft.com/office/drawing/2014/main" id="{FDA611D5-B73C-4EC3-9F65-C7E2B88C1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772150"/>
            <a:ext cx="25908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0000"/>
            </a:solidFill>
            <a:prstDash val="solid"/>
          </a:ln>
        </p:spPr>
      </p:sp>
      <p:sp>
        <p:nvSpPr>
          <p:cNvPr id="103" name="candidate-text-482">
            <a:extLst xmlns:a="http://schemas.openxmlformats.org/drawingml/2006/main">
              <a:ext uri="{FF2B5EF4-FFF2-40B4-BE49-F238E27FC236}">
                <a16:creationId xmlns:a16="http://schemas.microsoft.com/office/drawing/2014/main" id="{84DCAC34-756A-4B01-8EC3-3130266FA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91200"/>
            <a:ext cx="2457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75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000000"/>
                </a:solidFill>
              </a:defRPr>
            </a:pPr>
            <a:r>
              <a:rPr b="1">
                <a:latin typeface="Droid Sans Fallback"/>
                <a:ea typeface="Droid Sans Fallback"/>
                <a:cs typeface="Droid Sans Fallback"/>
              </a:rPr>
              <a:t>实际脉动与站位就绪</a:t>
            </a:r>
          </a:p>
        </p:txBody>
      </p:sp>
      <p:sp>
        <p:nvSpPr>
          <p:cNvPr id="104" name="candidate-text-483">
            <a:extLst xmlns:a="http://schemas.openxmlformats.org/drawingml/2006/main">
              <a:ext uri="{FF2B5EF4-FFF2-40B4-BE49-F238E27FC236}">
                <a16:creationId xmlns:a16="http://schemas.microsoft.com/office/drawing/2014/main" id="{013D7175-C0CC-4026-ADE2-A127111A3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29325"/>
            <a:ext cx="24574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00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500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形成实际时间结果</a:t>
            </a:r>
          </a:p>
        </p:txBody>
      </p:sp>
      <p:sp>
        <p:nvSpPr>
          <p:cNvPr id="105" name="candidate-box-484">
            <a:extLst xmlns:a="http://schemas.openxmlformats.org/drawingml/2006/main">
              <a:ext uri="{FF2B5EF4-FFF2-40B4-BE49-F238E27FC236}">
                <a16:creationId xmlns:a16="http://schemas.microsoft.com/office/drawing/2014/main" id="{B685D6FD-99EF-497C-A911-82F54F49B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5772150"/>
            <a:ext cx="25527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0000"/>
            </a:solidFill>
            <a:prstDash val="solid"/>
          </a:ln>
        </p:spPr>
      </p:sp>
      <p:sp>
        <p:nvSpPr>
          <p:cNvPr id="106" name="candidate-text-485">
            <a:extLst xmlns:a="http://schemas.openxmlformats.org/drawingml/2006/main">
              <a:ext uri="{FF2B5EF4-FFF2-40B4-BE49-F238E27FC236}">
                <a16:creationId xmlns:a16="http://schemas.microsoft.com/office/drawing/2014/main" id="{416810CC-EABC-4D1C-9107-C0555A862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5791200"/>
            <a:ext cx="2419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75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000000"/>
                </a:solidFill>
              </a:defRPr>
            </a:pPr>
            <a:r>
              <a:rPr b="1">
                <a:latin typeface="Droid Sans Fallback"/>
                <a:ea typeface="Droid Sans Fallback"/>
                <a:cs typeface="Droid Sans Fallback"/>
              </a:rPr>
              <a:t>两项时间标签分别回填</a:t>
            </a:r>
          </a:p>
        </p:txBody>
      </p:sp>
      <p:sp>
        <p:nvSpPr>
          <p:cNvPr id="107" name="candidate-text-486">
            <a:extLst xmlns:a="http://schemas.openxmlformats.org/drawingml/2006/main">
              <a:ext uri="{FF2B5EF4-FFF2-40B4-BE49-F238E27FC236}">
                <a16:creationId xmlns:a16="http://schemas.microsoft.com/office/drawing/2014/main" id="{B7A5AC68-544C-4E93-8276-843DC2242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6029325"/>
            <a:ext cx="24193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00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500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当前与下一周期分别监督</a:t>
            </a:r>
          </a:p>
        </p:txBody>
      </p:sp>
      <p:sp>
        <p:nvSpPr>
          <p:cNvPr id="108" name="candidate-box-487">
            <a:extLst xmlns:a="http://schemas.openxmlformats.org/drawingml/2006/main">
              <a:ext uri="{FF2B5EF4-FFF2-40B4-BE49-F238E27FC236}">
                <a16:creationId xmlns:a16="http://schemas.microsoft.com/office/drawing/2014/main" id="{78E1F800-3F9D-43BC-B3AC-8DBA1937C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5772150"/>
            <a:ext cx="51816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0000"/>
            </a:solidFill>
            <a:prstDash val="solid"/>
          </a:ln>
        </p:spPr>
      </p:sp>
      <p:sp>
        <p:nvSpPr>
          <p:cNvPr id="109" name="candidate-text-488">
            <a:extLst xmlns:a="http://schemas.openxmlformats.org/drawingml/2006/main">
              <a:ext uri="{FF2B5EF4-FFF2-40B4-BE49-F238E27FC236}">
                <a16:creationId xmlns:a16="http://schemas.microsoft.com/office/drawing/2014/main" id="{EE7F367D-E9A5-4E67-9A2A-C1A76DB36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791200"/>
            <a:ext cx="504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75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000000"/>
                </a:solidFill>
              </a:defRPr>
            </a:pPr>
            <a:r>
              <a:rPr b="1">
                <a:latin typeface="Droid Sans Fallback"/>
                <a:ea typeface="Droid Sans Fallback"/>
                <a:cs typeface="Droid Sans Fallback"/>
              </a:rPr>
              <a:t>在线表征与策略学习</a:t>
            </a:r>
          </a:p>
        </p:txBody>
      </p:sp>
      <p:sp>
        <p:nvSpPr>
          <p:cNvPr id="110" name="candidate-text-489">
            <a:extLst xmlns:a="http://schemas.openxmlformats.org/drawingml/2006/main">
              <a:ext uri="{FF2B5EF4-FFF2-40B4-BE49-F238E27FC236}">
                <a16:creationId xmlns:a16="http://schemas.microsoft.com/office/drawing/2014/main" id="{037E7999-EB1B-4B02-B166-2B2BDF852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6029325"/>
            <a:ext cx="5048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00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500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时间辅助监督及</a:t>
            </a:r>
            <a:r>
              <a:rPr b="0">
                <a:latin typeface="Nimbus Roman"/>
                <a:ea typeface="Nimbus Roman"/>
                <a:cs typeface="Nimbus Roman"/>
              </a:rPr>
              <a:t>PPO</a:t>
            </a:r>
            <a:r>
              <a:rPr b="0">
                <a:latin typeface="Droid Sans Fallback"/>
                <a:ea typeface="Droid Sans Fallback"/>
                <a:cs typeface="Droid Sans Fallback"/>
              </a:rPr>
              <a:t>更新</a:t>
            </a:r>
          </a:p>
        </p:txBody>
      </p:sp>
      <p:cxnSp>
        <p:nvCxnSpPr>
          <p:cNvPr id="111" name="candidate-arrow-490">
            <a:extLst xmlns:a="http://schemas.openxmlformats.org/drawingml/2006/main">
              <a:ext uri="{FF2B5EF4-FFF2-40B4-BE49-F238E27FC236}">
                <a16:creationId xmlns:a16="http://schemas.microsoft.com/office/drawing/2014/main" id="{F7CE098B-DC04-437F-99FC-F7BC30C47EB5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3209925" y="6010275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000000"/>
            </a:solidFill>
            <a:prstDash val="solid"/>
            <a:tailEnd type="triangle" w="sm" len="sm"/>
          </a:ln>
        </p:spPr>
      </p:cxnSp>
      <p:cxnSp>
        <p:nvCxnSpPr>
          <p:cNvPr id="112" name="candidate-arrow-491">
            <a:extLst xmlns:a="http://schemas.openxmlformats.org/drawingml/2006/main">
              <a:ext uri="{FF2B5EF4-FFF2-40B4-BE49-F238E27FC236}">
                <a16:creationId xmlns:a16="http://schemas.microsoft.com/office/drawing/2014/main" id="{0D177BD0-34C4-4143-8C74-23E9034A25F1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067425" y="6010275"/>
            <a:ext cx="323850" cy="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000000"/>
            </a:solidFill>
            <a:prstDash val="solid"/>
            <a:tailEnd type="triangle" w="sm" len="sm"/>
          </a:ln>
        </p:spPr>
      </p:cxnSp>
    </p:spTree>
    <p:extLst>
      <p:ext uri="{BB962C8B-B14F-4D97-AF65-F5344CB8AC3E}">
        <p14:creationId xmlns:p14="http://schemas.microsoft.com/office/powerpoint/2010/main" val="205666265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5" name="candidate-text-492">
            <a:extLst xmlns:a="http://schemas.openxmlformats.org/drawingml/2006/main">
              <a:ext uri="{FF2B5EF4-FFF2-40B4-BE49-F238E27FC236}">
                <a16:creationId xmlns:a16="http://schemas.microsoft.com/office/drawing/2014/main" id="{51966324-C845-4AA5-A341-1651D4684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57175"/>
            <a:ext cx="112014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700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000000"/>
                </a:solidFill>
              </a:defRPr>
            </a:pPr>
            <a:r>
              <a:rPr b="1">
                <a:latin typeface="Droid Sans Fallback"/>
                <a:ea typeface="Droid Sans Fallback"/>
                <a:cs typeface="Droid Sans Fallback"/>
              </a:rPr>
              <a:t>技术路线三：语义增强的多架次协同动态调度</a:t>
            </a:r>
          </a:p>
        </p:txBody>
      </p:sp>
      <p:sp>
        <p:nvSpPr>
          <p:cNvPr id="2" name="candidate-line-493">
            <a:extLst xmlns:a="http://schemas.openxmlformats.org/drawingml/2006/main">
              <a:ext uri="{FF2B5EF4-FFF2-40B4-BE49-F238E27FC236}">
                <a16:creationId xmlns:a16="http://schemas.microsoft.com/office/drawing/2014/main" id="{CE1C4E19-6428-4C89-BE82-69B5AB5F5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95300" y="8953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3" name="candidate-line-494">
            <a:extLst xmlns:a="http://schemas.openxmlformats.org/drawingml/2006/main">
              <a:ext uri="{FF2B5EF4-FFF2-40B4-BE49-F238E27FC236}">
                <a16:creationId xmlns:a16="http://schemas.microsoft.com/office/drawing/2014/main" id="{A166DB7E-4385-4B5D-A1BD-546C27278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95300" y="6410325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000000"/>
            </a:solidFill>
            <a:prstDash val="solid"/>
          </a:ln>
        </p:spPr>
      </p:sp>
      <p:sp>
        <p:nvSpPr>
          <p:cNvPr id="4" name="candidate-text-495">
            <a:extLst xmlns:a="http://schemas.openxmlformats.org/drawingml/2006/main">
              <a:ext uri="{FF2B5EF4-FFF2-40B4-BE49-F238E27FC236}">
                <a16:creationId xmlns:a16="http://schemas.microsoft.com/office/drawing/2014/main" id="{93962A88-7345-40DD-B196-6CD92D19E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技术路线</a:t>
            </a:r>
          </a:p>
        </p:txBody>
      </p:sp>
      <p:sp>
        <p:nvSpPr>
          <p:cNvPr id="5" name="candidate-text-496">
            <a:extLst xmlns:a="http://schemas.openxmlformats.org/drawingml/2006/main">
              <a:ext uri="{FF2B5EF4-FFF2-40B4-BE49-F238E27FC236}">
                <a16:creationId xmlns:a16="http://schemas.microsoft.com/office/drawing/2014/main" id="{F250144A-C52D-410F-8D57-0BB6E5571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6457950"/>
            <a:ext cx="11525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350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000000"/>
                </a:solidFill>
              </a:defRPr>
            </a:pPr>
            <a:r>
              <a:rPr b="0">
                <a:latin typeface="Nimbus Roman"/>
                <a:ea typeface="Nimbus Roman"/>
                <a:cs typeface="Nimbus Roman"/>
              </a:rPr>
              <a:t>13A2</a:t>
            </a:r>
          </a:p>
        </p:txBody>
      </p:sp>
      <p:sp>
        <p:nvSpPr>
          <p:cNvPr id="6" name="candidate-text-497">
            <a:extLst xmlns:a="http://schemas.openxmlformats.org/drawingml/2006/main">
              <a:ext uri="{FF2B5EF4-FFF2-40B4-BE49-F238E27FC236}">
                <a16:creationId xmlns:a16="http://schemas.microsoft.com/office/drawing/2014/main" id="{0A0B3C01-26E4-40A9-87D1-04B463165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47750"/>
            <a:ext cx="1095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000000"/>
                </a:solidFill>
              </a:defRPr>
            </a:pPr>
            <a:r>
              <a:rPr b="1">
                <a:latin typeface="Droid Sans Fallback"/>
                <a:ea typeface="Droid Sans Fallback"/>
                <a:cs typeface="Droid Sans Fallback"/>
              </a:rPr>
              <a:t>按飞机、站位与整线组织信息，解释当前与下一周期的时间后果</a:t>
            </a:r>
          </a:p>
        </p:txBody>
      </p:sp>
      <p:sp>
        <p:nvSpPr>
          <p:cNvPr id="7" name="candidate-box-498">
            <a:extLst xmlns:a="http://schemas.openxmlformats.org/drawingml/2006/main">
              <a:ext uri="{FF2B5EF4-FFF2-40B4-BE49-F238E27FC236}">
                <a16:creationId xmlns:a16="http://schemas.microsoft.com/office/drawing/2014/main" id="{CCEC7CB0-E1B0-4E54-9B93-24F0A910A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19225"/>
            <a:ext cx="10953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0000"/>
            </a:solidFill>
            <a:prstDash val="solid"/>
          </a:ln>
        </p:spPr>
      </p:sp>
      <p:sp>
        <p:nvSpPr>
          <p:cNvPr id="8" name="candidate-box-499">
            <a:extLst xmlns:a="http://schemas.openxmlformats.org/drawingml/2006/main">
              <a:ext uri="{FF2B5EF4-FFF2-40B4-BE49-F238E27FC236}">
                <a16:creationId xmlns:a16="http://schemas.microsoft.com/office/drawing/2014/main" id="{08B42088-2BEC-4D8D-AE43-FB4E0C3C7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504950"/>
            <a:ext cx="161544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00000"/>
            </a:solidFill>
            <a:prstDash val="solid"/>
          </a:ln>
        </p:spPr>
      </p:sp>
      <p:sp>
        <p:nvSpPr>
          <p:cNvPr id="9" name="candidate-text-500">
            <a:extLst xmlns:a="http://schemas.openxmlformats.org/drawingml/2006/main">
              <a:ext uri="{FF2B5EF4-FFF2-40B4-BE49-F238E27FC236}">
                <a16:creationId xmlns:a16="http://schemas.microsoft.com/office/drawing/2014/main" id="{0E7B0657-F309-4559-BB03-70C1845B6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24000"/>
            <a:ext cx="155829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75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000000"/>
                </a:solidFill>
              </a:defRPr>
            </a:pPr>
            <a:r>
              <a:rPr b="1">
                <a:latin typeface="Droid Sans Fallback"/>
                <a:ea typeface="Droid Sans Fallback"/>
                <a:cs typeface="Droid Sans Fallback"/>
              </a:rPr>
              <a:t>站位</a:t>
            </a:r>
            <a:r>
              <a:rPr b="1">
                <a:latin typeface="Nimbus Roman"/>
                <a:ea typeface="Nimbus Roman"/>
                <a:cs typeface="Nimbus Roman"/>
              </a:rPr>
              <a:t>1</a:t>
            </a:r>
          </a:p>
        </p:txBody>
      </p:sp>
      <p:sp>
        <p:nvSpPr>
          <p:cNvPr id="10" name="candidate-line-501">
            <a:extLst xmlns:a="http://schemas.openxmlformats.org/drawingml/2006/main">
              <a:ext uri="{FF2B5EF4-FFF2-40B4-BE49-F238E27FC236}">
                <a16:creationId xmlns:a16="http://schemas.microsoft.com/office/drawing/2014/main" id="{2BD5FE39-B5B5-40E3-8B7E-38ED69726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14375" y="1790700"/>
            <a:ext cx="16154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573">
            <a:solidFill>
              <a:srgbClr val="000000"/>
            </a:solidFill>
            <a:prstDash val="solid"/>
          </a:ln>
        </p:spPr>
      </p:sp>
      <p:sp>
        <p:nvSpPr>
          <p:cNvPr id="11" name="candidate-text-502">
            <a:extLst xmlns:a="http://schemas.openxmlformats.org/drawingml/2006/main">
              <a:ext uri="{FF2B5EF4-FFF2-40B4-BE49-F238E27FC236}">
                <a16:creationId xmlns:a16="http://schemas.microsoft.com/office/drawing/2014/main" id="{B39B323C-B580-48A6-9AC0-21C2B1933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19275"/>
            <a:ext cx="155829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575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飞机</a:t>
            </a:r>
            <a:r>
              <a:rPr b="0">
                <a:latin typeface="Nimbus Roman"/>
                <a:ea typeface="Nimbus Roman"/>
                <a:cs typeface="Nimbus Roman"/>
              </a:rPr>
              <a:t>5</a:t>
            </a:r>
          </a:p>
        </p:txBody>
      </p:sp>
      <p:sp>
        <p:nvSpPr>
          <p:cNvPr id="12" name="candidate-box-503">
            <a:extLst xmlns:a="http://schemas.openxmlformats.org/drawingml/2006/main">
              <a:ext uri="{FF2B5EF4-FFF2-40B4-BE49-F238E27FC236}">
                <a16:creationId xmlns:a16="http://schemas.microsoft.com/office/drawing/2014/main" id="{EBFF0056-FEDD-4312-BAAC-8E738D818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5065" y="1504950"/>
            <a:ext cx="161544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00000"/>
            </a:solidFill>
            <a:prstDash val="solid"/>
          </a:ln>
        </p:spPr>
      </p:sp>
      <p:sp>
        <p:nvSpPr>
          <p:cNvPr id="13" name="candidate-text-504">
            <a:extLst xmlns:a="http://schemas.openxmlformats.org/drawingml/2006/main">
              <a:ext uri="{FF2B5EF4-FFF2-40B4-BE49-F238E27FC236}">
                <a16:creationId xmlns:a16="http://schemas.microsoft.com/office/drawing/2014/main" id="{258B603A-19E9-44DD-95B4-83BF1BD15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3640" y="1524000"/>
            <a:ext cx="155829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75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000000"/>
                </a:solidFill>
              </a:defRPr>
            </a:pPr>
            <a:r>
              <a:rPr b="1">
                <a:latin typeface="Droid Sans Fallback"/>
                <a:ea typeface="Droid Sans Fallback"/>
                <a:cs typeface="Droid Sans Fallback"/>
              </a:rPr>
              <a:t>站位</a:t>
            </a:r>
            <a:r>
              <a:rPr b="1">
                <a:latin typeface="Nimbus Roman"/>
                <a:ea typeface="Nimbus Roman"/>
                <a:cs typeface="Nimbus Roman"/>
              </a:rPr>
              <a:t>2</a:t>
            </a:r>
          </a:p>
        </p:txBody>
      </p:sp>
      <p:sp>
        <p:nvSpPr>
          <p:cNvPr id="14" name="candidate-line-505">
            <a:extLst xmlns:a="http://schemas.openxmlformats.org/drawingml/2006/main">
              <a:ext uri="{FF2B5EF4-FFF2-40B4-BE49-F238E27FC236}">
                <a16:creationId xmlns:a16="http://schemas.microsoft.com/office/drawing/2014/main" id="{B7C3B6A2-B0C2-4814-BAB7-AD9E1EE93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425065" y="1790700"/>
            <a:ext cx="16154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573">
            <a:solidFill>
              <a:srgbClr val="000000"/>
            </a:solidFill>
            <a:prstDash val="solid"/>
          </a:ln>
        </p:spPr>
      </p:sp>
      <p:sp>
        <p:nvSpPr>
          <p:cNvPr id="15" name="candidate-text-506">
            <a:extLst xmlns:a="http://schemas.openxmlformats.org/drawingml/2006/main">
              <a:ext uri="{FF2B5EF4-FFF2-40B4-BE49-F238E27FC236}">
                <a16:creationId xmlns:a16="http://schemas.microsoft.com/office/drawing/2014/main" id="{99051128-A074-4F68-82B1-FAF5B5AAD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3640" y="1819275"/>
            <a:ext cx="155829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575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飞机</a:t>
            </a:r>
            <a:r>
              <a:rPr b="0">
                <a:latin typeface="Nimbus Roman"/>
                <a:ea typeface="Nimbus Roman"/>
                <a:cs typeface="Nimbus Roman"/>
              </a:rPr>
              <a:t>4</a:t>
            </a:r>
          </a:p>
        </p:txBody>
      </p:sp>
      <p:sp>
        <p:nvSpPr>
          <p:cNvPr id="16" name="candidate-box-507">
            <a:extLst xmlns:a="http://schemas.openxmlformats.org/drawingml/2006/main">
              <a:ext uri="{FF2B5EF4-FFF2-40B4-BE49-F238E27FC236}">
                <a16:creationId xmlns:a16="http://schemas.microsoft.com/office/drawing/2014/main" id="{3B4C4D66-C98C-451B-AD25-067B6825D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5755" y="1504950"/>
            <a:ext cx="161544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00000"/>
            </a:solidFill>
            <a:prstDash val="solid"/>
          </a:ln>
        </p:spPr>
      </p:sp>
      <p:sp>
        <p:nvSpPr>
          <p:cNvPr id="17" name="candidate-text-508">
            <a:extLst xmlns:a="http://schemas.openxmlformats.org/drawingml/2006/main">
              <a:ext uri="{FF2B5EF4-FFF2-40B4-BE49-F238E27FC236}">
                <a16:creationId xmlns:a16="http://schemas.microsoft.com/office/drawing/2014/main" id="{2D9901D2-CF2B-47C8-BC85-37B933B32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4330" y="1524000"/>
            <a:ext cx="155829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75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000000"/>
                </a:solidFill>
              </a:defRPr>
            </a:pPr>
            <a:r>
              <a:rPr b="1">
                <a:latin typeface="Droid Sans Fallback"/>
                <a:ea typeface="Droid Sans Fallback"/>
                <a:cs typeface="Droid Sans Fallback"/>
              </a:rPr>
              <a:t>站位</a:t>
            </a:r>
            <a:r>
              <a:rPr b="1">
                <a:latin typeface="Nimbus Roman"/>
                <a:ea typeface="Nimbus Roman"/>
                <a:cs typeface="Nimbus Roman"/>
              </a:rPr>
              <a:t>3</a:t>
            </a:r>
          </a:p>
        </p:txBody>
      </p:sp>
      <p:sp>
        <p:nvSpPr>
          <p:cNvPr id="18" name="candidate-line-509">
            <a:extLst xmlns:a="http://schemas.openxmlformats.org/drawingml/2006/main">
              <a:ext uri="{FF2B5EF4-FFF2-40B4-BE49-F238E27FC236}">
                <a16:creationId xmlns:a16="http://schemas.microsoft.com/office/drawing/2014/main" id="{68547245-0A3B-4305-A65F-8176B10A4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135755" y="1790700"/>
            <a:ext cx="16154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573">
            <a:solidFill>
              <a:srgbClr val="000000"/>
            </a:solidFill>
            <a:prstDash val="solid"/>
          </a:ln>
        </p:spPr>
      </p:sp>
      <p:sp>
        <p:nvSpPr>
          <p:cNvPr id="19" name="candidate-text-510">
            <a:extLst xmlns:a="http://schemas.openxmlformats.org/drawingml/2006/main">
              <a:ext uri="{FF2B5EF4-FFF2-40B4-BE49-F238E27FC236}">
                <a16:creationId xmlns:a16="http://schemas.microsoft.com/office/drawing/2014/main" id="{4E50B975-ABFB-4AC7-86E1-E6E198483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4330" y="1819275"/>
            <a:ext cx="155829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575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飞机</a:t>
            </a:r>
            <a:r>
              <a:rPr b="0">
                <a:latin typeface="Nimbus Roman"/>
                <a:ea typeface="Nimbus Roman"/>
                <a:cs typeface="Nimbus Roman"/>
              </a:rPr>
              <a:t>3</a:t>
            </a:r>
          </a:p>
        </p:txBody>
      </p:sp>
      <p:sp>
        <p:nvSpPr>
          <p:cNvPr id="20" name="candidate-box-511">
            <a:extLst xmlns:a="http://schemas.openxmlformats.org/drawingml/2006/main">
              <a:ext uri="{FF2B5EF4-FFF2-40B4-BE49-F238E27FC236}">
                <a16:creationId xmlns:a16="http://schemas.microsoft.com/office/drawing/2014/main" id="{AD1FA40B-CDA6-47C0-8310-FF73EB666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6445" y="1504950"/>
            <a:ext cx="161544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00000"/>
            </a:solidFill>
            <a:prstDash val="solid"/>
          </a:ln>
        </p:spPr>
      </p:sp>
      <p:sp>
        <p:nvSpPr>
          <p:cNvPr id="21" name="candidate-text-512">
            <a:extLst xmlns:a="http://schemas.openxmlformats.org/drawingml/2006/main">
              <a:ext uri="{FF2B5EF4-FFF2-40B4-BE49-F238E27FC236}">
                <a16:creationId xmlns:a16="http://schemas.microsoft.com/office/drawing/2014/main" id="{2BCCBC61-A383-4CAF-B8BB-8E6B7647A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5020" y="1524000"/>
            <a:ext cx="155829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75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000000"/>
                </a:solidFill>
              </a:defRPr>
            </a:pPr>
            <a:r>
              <a:rPr b="1">
                <a:latin typeface="Droid Sans Fallback"/>
                <a:ea typeface="Droid Sans Fallback"/>
                <a:cs typeface="Droid Sans Fallback"/>
              </a:rPr>
              <a:t>站位</a:t>
            </a:r>
            <a:r>
              <a:rPr b="1">
                <a:latin typeface="Nimbus Roman"/>
                <a:ea typeface="Nimbus Roman"/>
                <a:cs typeface="Nimbus Roman"/>
              </a:rPr>
              <a:t>4</a:t>
            </a:r>
          </a:p>
        </p:txBody>
      </p:sp>
      <p:sp>
        <p:nvSpPr>
          <p:cNvPr id="22" name="candidate-line-513">
            <a:extLst xmlns:a="http://schemas.openxmlformats.org/drawingml/2006/main">
              <a:ext uri="{FF2B5EF4-FFF2-40B4-BE49-F238E27FC236}">
                <a16:creationId xmlns:a16="http://schemas.microsoft.com/office/drawing/2014/main" id="{51242803-1C48-4FD0-AD7C-6B1933DA8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846445" y="1790700"/>
            <a:ext cx="16154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573">
            <a:solidFill>
              <a:srgbClr val="000000"/>
            </a:solidFill>
            <a:prstDash val="solid"/>
          </a:ln>
        </p:spPr>
      </p:sp>
      <p:sp>
        <p:nvSpPr>
          <p:cNvPr id="23" name="candidate-text-514">
            <a:extLst xmlns:a="http://schemas.openxmlformats.org/drawingml/2006/main">
              <a:ext uri="{FF2B5EF4-FFF2-40B4-BE49-F238E27FC236}">
                <a16:creationId xmlns:a16="http://schemas.microsoft.com/office/drawing/2014/main" id="{007C7852-FFB0-47C9-8DE3-E0B60AC2E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5020" y="1819275"/>
            <a:ext cx="155829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575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飞机</a:t>
            </a:r>
            <a:r>
              <a:rPr b="0">
                <a:latin typeface="Nimbus Roman"/>
                <a:ea typeface="Nimbus Roman"/>
                <a:cs typeface="Nimbus Roman"/>
              </a:rPr>
              <a:t>2</a:t>
            </a:r>
          </a:p>
        </p:txBody>
      </p:sp>
      <p:sp>
        <p:nvSpPr>
          <p:cNvPr id="24" name="candidate-box-515">
            <a:extLst xmlns:a="http://schemas.openxmlformats.org/drawingml/2006/main">
              <a:ext uri="{FF2B5EF4-FFF2-40B4-BE49-F238E27FC236}">
                <a16:creationId xmlns:a16="http://schemas.microsoft.com/office/drawing/2014/main" id="{B179A092-EE00-4678-B2C4-F18810A77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7135" y="1504950"/>
            <a:ext cx="161544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00000"/>
            </a:solidFill>
            <a:prstDash val="solid"/>
          </a:ln>
        </p:spPr>
      </p:sp>
      <p:sp>
        <p:nvSpPr>
          <p:cNvPr id="25" name="candidate-text-516">
            <a:extLst xmlns:a="http://schemas.openxmlformats.org/drawingml/2006/main">
              <a:ext uri="{FF2B5EF4-FFF2-40B4-BE49-F238E27FC236}">
                <a16:creationId xmlns:a16="http://schemas.microsoft.com/office/drawing/2014/main" id="{0020B76D-BD6A-4324-82CA-C5CC49694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5710" y="1524000"/>
            <a:ext cx="155829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75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000000"/>
                </a:solidFill>
              </a:defRPr>
            </a:pPr>
            <a:r>
              <a:rPr b="1">
                <a:latin typeface="Droid Sans Fallback"/>
                <a:ea typeface="Droid Sans Fallback"/>
                <a:cs typeface="Droid Sans Fallback"/>
              </a:rPr>
              <a:t>站位</a:t>
            </a:r>
            <a:r>
              <a:rPr b="1">
                <a:latin typeface="Nimbus Roman"/>
                <a:ea typeface="Nimbus Roman"/>
                <a:cs typeface="Nimbus Roman"/>
              </a:rPr>
              <a:t>5</a:t>
            </a:r>
          </a:p>
        </p:txBody>
      </p:sp>
      <p:sp>
        <p:nvSpPr>
          <p:cNvPr id="26" name="candidate-line-517">
            <a:extLst xmlns:a="http://schemas.openxmlformats.org/drawingml/2006/main">
              <a:ext uri="{FF2B5EF4-FFF2-40B4-BE49-F238E27FC236}">
                <a16:creationId xmlns:a16="http://schemas.microsoft.com/office/drawing/2014/main" id="{2A1886C7-476D-4BBD-A165-A48E50A65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557135" y="1790700"/>
            <a:ext cx="16154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573">
            <a:solidFill>
              <a:srgbClr val="000000"/>
            </a:solidFill>
            <a:prstDash val="solid"/>
          </a:ln>
        </p:spPr>
      </p:sp>
      <p:sp>
        <p:nvSpPr>
          <p:cNvPr id="27" name="candidate-text-518">
            <a:extLst xmlns:a="http://schemas.openxmlformats.org/drawingml/2006/main">
              <a:ext uri="{FF2B5EF4-FFF2-40B4-BE49-F238E27FC236}">
                <a16:creationId xmlns:a16="http://schemas.microsoft.com/office/drawing/2014/main" id="{0BE719D7-E400-43EA-ADF6-CA63C6473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5710" y="1819275"/>
            <a:ext cx="155829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575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飞机</a:t>
            </a:r>
            <a:r>
              <a:rPr b="0">
                <a:latin typeface="Nimbus Roman"/>
                <a:ea typeface="Nimbus Roman"/>
                <a:cs typeface="Nimbus Roman"/>
              </a:rPr>
              <a:t>1</a:t>
            </a:r>
          </a:p>
        </p:txBody>
      </p:sp>
      <p:sp>
        <p:nvSpPr>
          <p:cNvPr id="28" name="candidate-line-519">
            <a:extLst xmlns:a="http://schemas.openxmlformats.org/drawingml/2006/main">
              <a:ext uri="{FF2B5EF4-FFF2-40B4-BE49-F238E27FC236}">
                <a16:creationId xmlns:a16="http://schemas.microsoft.com/office/drawing/2014/main" id="{DFE4EEC4-8D00-4A8C-AA9E-03D8E4FF3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191625" y="1495425"/>
            <a:ext cx="0" cy="5619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573">
            <a:solidFill>
              <a:srgbClr val="000000"/>
            </a:solidFill>
            <a:prstDash val="solid"/>
          </a:ln>
        </p:spPr>
      </p:sp>
      <p:sp>
        <p:nvSpPr>
          <p:cNvPr id="29" name="candidate-text-520">
            <a:extLst xmlns:a="http://schemas.openxmlformats.org/drawingml/2006/main">
              <a:ext uri="{FF2B5EF4-FFF2-40B4-BE49-F238E27FC236}">
                <a16:creationId xmlns:a16="http://schemas.microsoft.com/office/drawing/2014/main" id="{176F2D8A-BF51-4236-A781-BAFD5618E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1543050"/>
            <a:ext cx="22098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000000"/>
                </a:solidFill>
              </a:defRPr>
            </a:pPr>
            <a:r>
              <a:rPr b="1">
                <a:latin typeface="Droid Sans Fallback"/>
                <a:ea typeface="Droid Sans Fallback"/>
                <a:cs typeface="Droid Sans Fallback"/>
              </a:rPr>
              <a:t>占用站位全部就绪</a:t>
            </a:r>
          </a:p>
          <a:p xmlns:a="http://schemas.openxmlformats.org/drawingml/2006/main">
            <a:pPr algn="ctr">
              <a:defRPr sz="1650" b="1">
                <a:solidFill>
                  <a:srgbClr val="000000"/>
                </a:solidFill>
              </a:defRPr>
            </a:pPr>
            <a:r>
              <a:rPr b="1">
                <a:latin typeface="Droid Sans Fallback"/>
                <a:ea typeface="Droid Sans Fallback"/>
                <a:cs typeface="Droid Sans Fallback"/>
              </a:rPr>
              <a:t>最晚时刻共同脉动</a:t>
            </a:r>
          </a:p>
        </p:txBody>
      </p:sp>
      <p:sp>
        <p:nvSpPr>
          <p:cNvPr id="30" name="candidate-text-521">
            <a:extLst xmlns:a="http://schemas.openxmlformats.org/drawingml/2006/main">
              <a:ext uri="{FF2B5EF4-FFF2-40B4-BE49-F238E27FC236}">
                <a16:creationId xmlns:a16="http://schemas.microsoft.com/office/drawing/2014/main" id="{9F228B1D-090C-4592-A18D-A1D6B0937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305050"/>
            <a:ext cx="786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50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000000"/>
                </a:solidFill>
              </a:defRPr>
            </a:pPr>
            <a:r>
              <a:rPr b="1">
                <a:latin typeface="Droid Sans Fallback"/>
                <a:ea typeface="Droid Sans Fallback"/>
                <a:cs typeface="Droid Sans Fallback"/>
              </a:rPr>
              <a:t>完整固定预测副本：图编码、分层融合与双时间输出</a:t>
            </a:r>
          </a:p>
        </p:txBody>
      </p:sp>
      <p:sp>
        <p:nvSpPr>
          <p:cNvPr id="31" name="candidate-box-522">
            <a:extLst xmlns:a="http://schemas.openxmlformats.org/drawingml/2006/main">
              <a:ext uri="{FF2B5EF4-FFF2-40B4-BE49-F238E27FC236}">
                <a16:creationId xmlns:a16="http://schemas.microsoft.com/office/drawing/2014/main" id="{88BFFD9F-99EB-41BF-B035-8AAA46A2F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667000"/>
            <a:ext cx="2143125" cy="205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0000"/>
            </a:solidFill>
            <a:prstDash val="solid"/>
          </a:ln>
        </p:spPr>
      </p:sp>
      <p:sp>
        <p:nvSpPr>
          <p:cNvPr id="32" name="candidate-text-523">
            <a:extLst xmlns:a="http://schemas.openxmlformats.org/drawingml/2006/main">
              <a:ext uri="{FF2B5EF4-FFF2-40B4-BE49-F238E27FC236}">
                <a16:creationId xmlns:a16="http://schemas.microsoft.com/office/drawing/2014/main" id="{652A5124-22E0-422B-9A8D-FEF175D55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33675"/>
            <a:ext cx="20097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000000"/>
                </a:solidFill>
              </a:defRPr>
            </a:pPr>
            <a:r>
              <a:rPr b="1">
                <a:latin typeface="Droid Sans Fallback"/>
                <a:ea typeface="Droid Sans Fallback"/>
                <a:cs typeface="Droid Sans Fallback"/>
              </a:rPr>
              <a:t>完整图编码</a:t>
            </a:r>
          </a:p>
        </p:txBody>
      </p:sp>
      <p:sp>
        <p:nvSpPr>
          <p:cNvPr id="33" name="candidate-text-524">
            <a:extLst xmlns:a="http://schemas.openxmlformats.org/drawingml/2006/main">
              <a:ext uri="{FF2B5EF4-FFF2-40B4-BE49-F238E27FC236}">
                <a16:creationId xmlns:a16="http://schemas.microsoft.com/office/drawing/2014/main" id="{006068F4-87AD-4CFC-B7DE-BACFACCE2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86100"/>
            <a:ext cx="20097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00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500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全部可见工序与资源</a:t>
            </a:r>
          </a:p>
        </p:txBody>
      </p:sp>
      <p:sp>
        <p:nvSpPr>
          <p:cNvPr id="34" name="candidate-box-525">
            <a:extLst xmlns:a="http://schemas.openxmlformats.org/drawingml/2006/main">
              <a:ext uri="{FF2B5EF4-FFF2-40B4-BE49-F238E27FC236}">
                <a16:creationId xmlns:a16="http://schemas.microsoft.com/office/drawing/2014/main" id="{C9100726-49F5-4161-834D-D814CE639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40042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00000"/>
            </a:solidFill>
            <a:prstDash val="solid"/>
          </a:ln>
        </p:spPr>
      </p:sp>
      <p:sp>
        <p:nvSpPr>
          <p:cNvPr id="35" name="candidate-text-526">
            <a:extLst xmlns:a="http://schemas.openxmlformats.org/drawingml/2006/main">
              <a:ext uri="{FF2B5EF4-FFF2-40B4-BE49-F238E27FC236}">
                <a16:creationId xmlns:a16="http://schemas.microsoft.com/office/drawing/2014/main" id="{F71260E5-05D0-401C-8D76-3B228AF4C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400425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已完</a:t>
            </a:r>
          </a:p>
        </p:txBody>
      </p:sp>
      <p:sp>
        <p:nvSpPr>
          <p:cNvPr id="36" name="candidate-box-527">
            <a:extLst xmlns:a="http://schemas.openxmlformats.org/drawingml/2006/main">
              <a:ext uri="{FF2B5EF4-FFF2-40B4-BE49-F238E27FC236}">
                <a16:creationId xmlns:a16="http://schemas.microsoft.com/office/drawing/2014/main" id="{4E2CC37C-8312-4D95-A295-7A70B7DC8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340042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00000"/>
            </a:solidFill>
            <a:prstDash val="solid"/>
          </a:ln>
        </p:spPr>
      </p:sp>
      <p:sp>
        <p:nvSpPr>
          <p:cNvPr id="37" name="candidate-text-528">
            <a:extLst xmlns:a="http://schemas.openxmlformats.org/drawingml/2006/main">
              <a:ext uri="{FF2B5EF4-FFF2-40B4-BE49-F238E27FC236}">
                <a16:creationId xmlns:a16="http://schemas.microsoft.com/office/drawing/2014/main" id="{1DB06889-D577-4F97-8D8F-EDC78EDEF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3400425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未完</a:t>
            </a:r>
          </a:p>
        </p:txBody>
      </p:sp>
      <p:sp>
        <p:nvSpPr>
          <p:cNvPr id="38" name="candidate-box-529">
            <a:extLst xmlns:a="http://schemas.openxmlformats.org/drawingml/2006/main">
              <a:ext uri="{FF2B5EF4-FFF2-40B4-BE49-F238E27FC236}">
                <a16:creationId xmlns:a16="http://schemas.microsoft.com/office/drawing/2014/main" id="{D1D8F9DC-7FC4-4C94-815A-1DA397CFC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95287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00000"/>
            </a:solidFill>
            <a:prstDash val="solid"/>
          </a:ln>
        </p:spPr>
      </p:sp>
      <p:sp>
        <p:nvSpPr>
          <p:cNvPr id="39" name="candidate-text-530">
            <a:extLst xmlns:a="http://schemas.openxmlformats.org/drawingml/2006/main">
              <a:ext uri="{FF2B5EF4-FFF2-40B4-BE49-F238E27FC236}">
                <a16:creationId xmlns:a16="http://schemas.microsoft.com/office/drawing/2014/main" id="{AE0FF91B-DE41-4EE3-AF6C-22F825953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952875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未完</a:t>
            </a:r>
          </a:p>
        </p:txBody>
      </p:sp>
      <p:sp>
        <p:nvSpPr>
          <p:cNvPr id="40" name="candidate-box-531">
            <a:extLst xmlns:a="http://schemas.openxmlformats.org/drawingml/2006/main">
              <a:ext uri="{FF2B5EF4-FFF2-40B4-BE49-F238E27FC236}">
                <a16:creationId xmlns:a16="http://schemas.microsoft.com/office/drawing/2014/main" id="{9BA9076D-3E26-4706-BBC7-8368ABCE8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395287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00000"/>
            </a:solidFill>
            <a:prstDash val="solid"/>
          </a:ln>
        </p:spPr>
      </p:sp>
      <p:sp>
        <p:nvSpPr>
          <p:cNvPr id="41" name="candidate-text-532">
            <a:extLst xmlns:a="http://schemas.openxmlformats.org/drawingml/2006/main">
              <a:ext uri="{FF2B5EF4-FFF2-40B4-BE49-F238E27FC236}">
                <a16:creationId xmlns:a16="http://schemas.microsoft.com/office/drawing/2014/main" id="{AAE19C08-7396-4BFF-A629-CC8EF78E2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3952875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后续</a:t>
            </a:r>
          </a:p>
        </p:txBody>
      </p:sp>
      <p:cxnSp>
        <p:nvCxnSpPr>
          <p:cNvPr id="42" name="candidate-arrow-533">
            <a:extLst xmlns:a="http://schemas.openxmlformats.org/drawingml/2006/main">
              <a:ext uri="{FF2B5EF4-FFF2-40B4-BE49-F238E27FC236}">
                <a16:creationId xmlns:a16="http://schemas.microsoft.com/office/drawing/2014/main" id="{17457CCD-324E-4471-A73B-33ED114A042F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438275" y="3619500"/>
            <a:ext cx="504825" cy="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000000"/>
            </a:solidFill>
            <a:prstDash val="solid"/>
            <a:tailEnd type="triangle" w="sm" len="sm"/>
          </a:ln>
        </p:spPr>
      </p:cxnSp>
      <p:sp>
        <p:nvSpPr>
          <p:cNvPr id="43" name="candidate-line-534">
            <a:extLst xmlns:a="http://schemas.openxmlformats.org/drawingml/2006/main">
              <a:ext uri="{FF2B5EF4-FFF2-40B4-BE49-F238E27FC236}">
                <a16:creationId xmlns:a16="http://schemas.microsoft.com/office/drawing/2014/main" id="{478B763C-1483-4309-966C-6DC1EA5AC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162175" y="3838575"/>
            <a:ext cx="0" cy="857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00000"/>
            </a:solidFill>
            <a:prstDash val="solid"/>
          </a:ln>
        </p:spPr>
      </p:sp>
      <p:sp>
        <p:nvSpPr>
          <p:cNvPr id="44" name="candidate-line-535">
            <a:extLst xmlns:a="http://schemas.openxmlformats.org/drawingml/2006/main">
              <a:ext uri="{FF2B5EF4-FFF2-40B4-BE49-F238E27FC236}">
                <a16:creationId xmlns:a16="http://schemas.microsoft.com/office/drawing/2014/main" id="{8327423F-2CB3-417E-88DC-3E9CAF48F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1219200" y="3924300"/>
            <a:ext cx="9429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00000"/>
            </a:solidFill>
            <a:prstDash val="solid"/>
          </a:ln>
        </p:spPr>
      </p:sp>
      <p:cxnSp>
        <p:nvCxnSpPr>
          <p:cNvPr id="45" name="candidate-arrow-536">
            <a:extLst xmlns:a="http://schemas.openxmlformats.org/drawingml/2006/main">
              <a:ext uri="{FF2B5EF4-FFF2-40B4-BE49-F238E27FC236}">
                <a16:creationId xmlns:a16="http://schemas.microsoft.com/office/drawing/2014/main" id="{5FD141E4-8A30-4922-A822-4DE07B5ACFED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219200" y="3924300"/>
            <a:ext cx="0" cy="28575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000000"/>
            </a:solidFill>
            <a:prstDash val="solid"/>
            <a:tailEnd type="triangle" w="sm" len="sm"/>
          </a:ln>
        </p:spPr>
      </p:cxnSp>
      <p:cxnSp>
        <p:nvCxnSpPr>
          <p:cNvPr id="46" name="candidate-arrow-537">
            <a:extLst xmlns:a="http://schemas.openxmlformats.org/drawingml/2006/main">
              <a:ext uri="{FF2B5EF4-FFF2-40B4-BE49-F238E27FC236}">
                <a16:creationId xmlns:a16="http://schemas.microsoft.com/office/drawing/2014/main" id="{3EF20900-3068-4E01-A42F-0EA373DA604F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438275" y="4171950"/>
            <a:ext cx="504825" cy="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000000"/>
            </a:solidFill>
            <a:prstDash val="solid"/>
            <a:tailEnd type="triangle" w="sm" len="sm"/>
          </a:ln>
        </p:spPr>
      </p:cxnSp>
      <p:sp>
        <p:nvSpPr>
          <p:cNvPr id="47" name="candidate-text-538">
            <a:extLst xmlns:a="http://schemas.openxmlformats.org/drawingml/2006/main">
              <a:ext uri="{FF2B5EF4-FFF2-40B4-BE49-F238E27FC236}">
                <a16:creationId xmlns:a16="http://schemas.microsoft.com/office/drawing/2014/main" id="{AF9A9C94-D247-4404-9FB0-AA56DEB53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62450"/>
            <a:ext cx="20097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425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425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保留前序及资源上下文</a:t>
            </a:r>
          </a:p>
        </p:txBody>
      </p:sp>
      <p:sp>
        <p:nvSpPr>
          <p:cNvPr id="48" name="candidate-box-539">
            <a:extLst xmlns:a="http://schemas.openxmlformats.org/drawingml/2006/main">
              <a:ext uri="{FF2B5EF4-FFF2-40B4-BE49-F238E27FC236}">
                <a16:creationId xmlns:a16="http://schemas.microsoft.com/office/drawing/2014/main" id="{B4892504-8BA5-49A8-95E5-F1CF43B35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667000"/>
            <a:ext cx="164782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0000"/>
            </a:solidFill>
            <a:prstDash val="solid"/>
          </a:ln>
        </p:spPr>
      </p:sp>
      <p:sp>
        <p:nvSpPr>
          <p:cNvPr id="49" name="candidate-text-540">
            <a:extLst xmlns:a="http://schemas.openxmlformats.org/drawingml/2006/main">
              <a:ext uri="{FF2B5EF4-FFF2-40B4-BE49-F238E27FC236}">
                <a16:creationId xmlns:a16="http://schemas.microsoft.com/office/drawing/2014/main" id="{8433C8E8-A043-4060-A5BF-969D9EFDB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714625"/>
            <a:ext cx="15144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000000"/>
                </a:solidFill>
              </a:defRPr>
            </a:pPr>
            <a:r>
              <a:rPr b="1">
                <a:latin typeface="Droid Sans Fallback"/>
                <a:ea typeface="Droid Sans Fallback"/>
                <a:cs typeface="Droid Sans Fallback"/>
              </a:rPr>
              <a:t>飞机摘要</a:t>
            </a:r>
          </a:p>
        </p:txBody>
      </p:sp>
      <p:sp>
        <p:nvSpPr>
          <p:cNvPr id="50" name="candidate-text-541">
            <a:extLst xmlns:a="http://schemas.openxmlformats.org/drawingml/2006/main">
              <a:ext uri="{FF2B5EF4-FFF2-40B4-BE49-F238E27FC236}">
                <a16:creationId xmlns:a16="http://schemas.microsoft.com/office/drawing/2014/main" id="{9596B0DE-D99A-4F23-9EB1-0BF0F438E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3009900"/>
            <a:ext cx="15144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575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未完任务</a:t>
            </a:r>
          </a:p>
          <a:p xmlns:a="http://schemas.openxmlformats.org/drawingml/2006/main">
            <a:pPr algn="ctr">
              <a:defRPr sz="1575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执行进度</a:t>
            </a:r>
          </a:p>
        </p:txBody>
      </p:sp>
      <p:sp>
        <p:nvSpPr>
          <p:cNvPr id="51" name="candidate-box-542">
            <a:extLst xmlns:a="http://schemas.openxmlformats.org/drawingml/2006/main">
              <a:ext uri="{FF2B5EF4-FFF2-40B4-BE49-F238E27FC236}">
                <a16:creationId xmlns:a16="http://schemas.microsoft.com/office/drawing/2014/main" id="{1FF1DE7C-4556-4566-A7B3-C80498411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2667000"/>
            <a:ext cx="164782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0000"/>
            </a:solidFill>
            <a:prstDash val="solid"/>
          </a:ln>
        </p:spPr>
      </p:sp>
      <p:sp>
        <p:nvSpPr>
          <p:cNvPr id="52" name="candidate-text-543">
            <a:extLst xmlns:a="http://schemas.openxmlformats.org/drawingml/2006/main">
              <a:ext uri="{FF2B5EF4-FFF2-40B4-BE49-F238E27FC236}">
                <a16:creationId xmlns:a16="http://schemas.microsoft.com/office/drawing/2014/main" id="{23B0AC5C-BB45-42F0-8FB2-DF9DF0697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714625"/>
            <a:ext cx="15144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000000"/>
                </a:solidFill>
              </a:defRPr>
            </a:pPr>
            <a:r>
              <a:rPr b="1">
                <a:latin typeface="Droid Sans Fallback"/>
                <a:ea typeface="Droid Sans Fallback"/>
                <a:cs typeface="Droid Sans Fallback"/>
              </a:rPr>
              <a:t>站位信息</a:t>
            </a:r>
          </a:p>
        </p:txBody>
      </p:sp>
      <p:sp>
        <p:nvSpPr>
          <p:cNvPr id="53" name="candidate-text-544">
            <a:extLst xmlns:a="http://schemas.openxmlformats.org/drawingml/2006/main">
              <a:ext uri="{FF2B5EF4-FFF2-40B4-BE49-F238E27FC236}">
                <a16:creationId xmlns:a16="http://schemas.microsoft.com/office/drawing/2014/main" id="{B6DB84F9-E074-4C1C-9AF6-ECB72EC50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009900"/>
            <a:ext cx="15144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575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当前／下一任务</a:t>
            </a:r>
          </a:p>
          <a:p xmlns:a="http://schemas.openxmlformats.org/drawingml/2006/main">
            <a:pPr algn="ctr">
              <a:defRPr sz="1575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本站人员</a:t>
            </a:r>
          </a:p>
        </p:txBody>
      </p:sp>
      <p:sp>
        <p:nvSpPr>
          <p:cNvPr id="54" name="candidate-box-545">
            <a:extLst xmlns:a="http://schemas.openxmlformats.org/drawingml/2006/main">
              <a:ext uri="{FF2B5EF4-FFF2-40B4-BE49-F238E27FC236}">
                <a16:creationId xmlns:a16="http://schemas.microsoft.com/office/drawing/2014/main" id="{5239CDFF-B0DE-4630-9328-10F81339D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667000"/>
            <a:ext cx="164782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0000"/>
            </a:solidFill>
            <a:prstDash val="solid"/>
          </a:ln>
        </p:spPr>
      </p:sp>
      <p:sp>
        <p:nvSpPr>
          <p:cNvPr id="55" name="candidate-text-546">
            <a:extLst xmlns:a="http://schemas.openxmlformats.org/drawingml/2006/main">
              <a:ext uri="{FF2B5EF4-FFF2-40B4-BE49-F238E27FC236}">
                <a16:creationId xmlns:a16="http://schemas.microsoft.com/office/drawing/2014/main" id="{1F09DE1B-3626-4D26-A667-252C9D1C4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714625"/>
            <a:ext cx="15144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000000"/>
                </a:solidFill>
              </a:defRPr>
            </a:pPr>
            <a:r>
              <a:rPr b="1">
                <a:latin typeface="Droid Sans Fallback"/>
                <a:ea typeface="Droid Sans Fallback"/>
                <a:cs typeface="Droid Sans Fallback"/>
              </a:rPr>
              <a:t>整线信息</a:t>
            </a:r>
          </a:p>
        </p:txBody>
      </p:sp>
      <p:sp>
        <p:nvSpPr>
          <p:cNvPr id="56" name="candidate-text-547">
            <a:extLst xmlns:a="http://schemas.openxmlformats.org/drawingml/2006/main">
              <a:ext uri="{FF2B5EF4-FFF2-40B4-BE49-F238E27FC236}">
                <a16:creationId xmlns:a16="http://schemas.microsoft.com/office/drawing/2014/main" id="{4AC1B53B-43B5-4139-B382-675B4C89E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009900"/>
            <a:ext cx="15144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575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各站负荷</a:t>
            </a:r>
          </a:p>
          <a:p xmlns:a="http://schemas.openxmlformats.org/drawingml/2006/main">
            <a:pPr algn="ctr">
              <a:defRPr sz="1575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批次进度</a:t>
            </a:r>
          </a:p>
        </p:txBody>
      </p:sp>
      <p:cxnSp>
        <p:nvCxnSpPr>
          <p:cNvPr id="57" name="candidate-arrow-548">
            <a:extLst xmlns:a="http://schemas.openxmlformats.org/drawingml/2006/main">
              <a:ext uri="{FF2B5EF4-FFF2-40B4-BE49-F238E27FC236}">
                <a16:creationId xmlns:a16="http://schemas.microsoft.com/office/drawing/2014/main" id="{FED71E29-2A96-4553-8143-7D4A5804AD0F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2762250" y="3076575"/>
            <a:ext cx="32385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000000"/>
            </a:solidFill>
            <a:prstDash val="solid"/>
            <a:tailEnd type="triangle" w="sm" len="sm"/>
          </a:ln>
        </p:spPr>
      </p:cxnSp>
      <p:cxnSp>
        <p:nvCxnSpPr>
          <p:cNvPr id="58" name="candidate-arrow-549">
            <a:extLst xmlns:a="http://schemas.openxmlformats.org/drawingml/2006/main">
              <a:ext uri="{FF2B5EF4-FFF2-40B4-BE49-F238E27FC236}">
                <a16:creationId xmlns:a16="http://schemas.microsoft.com/office/drawing/2014/main" id="{04B50E60-8968-4364-80C6-788B15627641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4733925" y="3076575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000000"/>
            </a:solidFill>
            <a:prstDash val="solid"/>
            <a:tailEnd type="triangle" w="sm" len="sm"/>
          </a:ln>
        </p:spPr>
      </p:cxnSp>
      <p:cxnSp>
        <p:nvCxnSpPr>
          <p:cNvPr id="59" name="candidate-arrow-550">
            <a:extLst xmlns:a="http://schemas.openxmlformats.org/drawingml/2006/main">
              <a:ext uri="{FF2B5EF4-FFF2-40B4-BE49-F238E27FC236}">
                <a16:creationId xmlns:a16="http://schemas.microsoft.com/office/drawing/2014/main" id="{2E5C3C6A-0934-4FD1-8802-9B057E98AE69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610350" y="3076575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000000"/>
            </a:solidFill>
            <a:prstDash val="solid"/>
            <a:tailEnd type="triangle" w="sm" len="sm"/>
          </a:ln>
        </p:spPr>
      </p:cxnSp>
      <p:sp>
        <p:nvSpPr>
          <p:cNvPr id="60" name="candidate-box-551">
            <a:extLst xmlns:a="http://schemas.openxmlformats.org/drawingml/2006/main">
              <a:ext uri="{FF2B5EF4-FFF2-40B4-BE49-F238E27FC236}">
                <a16:creationId xmlns:a16="http://schemas.microsoft.com/office/drawing/2014/main" id="{06C9C037-09D8-4EEA-9A48-D4752E5E9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752850"/>
            <a:ext cx="54006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0000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000000"/>
                </a:solidFill>
              </a:defRPr>
            </a:pPr>
            <a:r>
              <a:rPr b="1">
                <a:latin typeface="Nimbus Roman"/>
                <a:ea typeface="Nimbus Roman"/>
                <a:cs typeface="Nimbus Roman"/>
              </a:rPr>
              <a:t>MLP</a:t>
            </a:r>
            <a:r>
              <a:rPr b="1">
                <a:latin typeface="Droid Sans Fallback"/>
                <a:ea typeface="Droid Sans Fallback"/>
                <a:cs typeface="Droid Sans Fallback"/>
              </a:rPr>
              <a:t>融合：结合各层信息与最近变化</a:t>
            </a:r>
          </a:p>
        </p:txBody>
      </p:sp>
      <p:cxnSp>
        <p:nvCxnSpPr>
          <p:cNvPr id="61" name="candidate-arrow-552">
            <a:extLst xmlns:a="http://schemas.openxmlformats.org/drawingml/2006/main">
              <a:ext uri="{FF2B5EF4-FFF2-40B4-BE49-F238E27FC236}">
                <a16:creationId xmlns:a16="http://schemas.microsoft.com/office/drawing/2014/main" id="{E3CE9F1C-CEFB-478D-99D4-E4AD18E99F57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3914775" y="3486150"/>
            <a:ext cx="0" cy="26670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000000"/>
            </a:solidFill>
            <a:prstDash val="solid"/>
            <a:tailEnd type="triangle" w="sm" len="sm"/>
          </a:ln>
        </p:spPr>
      </p:cxnSp>
      <p:cxnSp>
        <p:nvCxnSpPr>
          <p:cNvPr id="62" name="candidate-arrow-553">
            <a:extLst xmlns:a="http://schemas.openxmlformats.org/drawingml/2006/main">
              <a:ext uri="{FF2B5EF4-FFF2-40B4-BE49-F238E27FC236}">
                <a16:creationId xmlns:a16="http://schemas.microsoft.com/office/drawing/2014/main" id="{122C1F12-ED05-48EF-8DF3-ADE0CB872DC4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5791200" y="3486150"/>
            <a:ext cx="0" cy="26670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000000"/>
            </a:solidFill>
            <a:prstDash val="solid"/>
            <a:tailEnd type="triangle" w="sm" len="sm"/>
          </a:ln>
        </p:spPr>
      </p:cxnSp>
      <p:cxnSp>
        <p:nvCxnSpPr>
          <p:cNvPr id="63" name="candidate-arrow-554">
            <a:extLst xmlns:a="http://schemas.openxmlformats.org/drawingml/2006/main">
              <a:ext uri="{FF2B5EF4-FFF2-40B4-BE49-F238E27FC236}">
                <a16:creationId xmlns:a16="http://schemas.microsoft.com/office/drawing/2014/main" id="{0C92A1DD-D5FF-47BD-8E54-C146AE5E38DF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7667625" y="3486150"/>
            <a:ext cx="0" cy="26670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000000"/>
            </a:solidFill>
            <a:prstDash val="solid"/>
            <a:tailEnd type="triangle" w="sm" len="sm"/>
          </a:ln>
        </p:spPr>
      </p:cxnSp>
      <p:sp>
        <p:nvSpPr>
          <p:cNvPr id="64" name="candidate-box-555">
            <a:extLst xmlns:a="http://schemas.openxmlformats.org/drawingml/2006/main">
              <a:ext uri="{FF2B5EF4-FFF2-40B4-BE49-F238E27FC236}">
                <a16:creationId xmlns:a16="http://schemas.microsoft.com/office/drawing/2014/main" id="{7251D642-7832-44CF-A865-A5058EEAD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4429125"/>
            <a:ext cx="5400675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0000"/>
            </a:solidFill>
            <a:prstDash val="solid"/>
          </a:ln>
        </p:spPr>
      </p:sp>
      <p:sp>
        <p:nvSpPr>
          <p:cNvPr id="65" name="candidate-line-556">
            <a:extLst xmlns:a="http://schemas.openxmlformats.org/drawingml/2006/main">
              <a:ext uri="{FF2B5EF4-FFF2-40B4-BE49-F238E27FC236}">
                <a16:creationId xmlns:a16="http://schemas.microsoft.com/office/drawing/2014/main" id="{F9C5D9B9-119A-4687-8463-D804347EE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772150" y="4429125"/>
            <a:ext cx="0" cy="9620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573">
            <a:solidFill>
              <a:srgbClr val="000000"/>
            </a:solidFill>
            <a:prstDash val="solid"/>
          </a:ln>
        </p:spPr>
      </p:sp>
      <p:sp>
        <p:nvSpPr>
          <p:cNvPr id="66" name="candidate-text-557">
            <a:extLst xmlns:a="http://schemas.openxmlformats.org/drawingml/2006/main">
              <a:ext uri="{FF2B5EF4-FFF2-40B4-BE49-F238E27FC236}">
                <a16:creationId xmlns:a16="http://schemas.microsoft.com/office/drawing/2014/main" id="{503B65BE-0517-4352-9FFB-D85ECE538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524375"/>
            <a:ext cx="2533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000000"/>
                </a:solidFill>
              </a:defRPr>
            </a:pPr>
            <a:r>
              <a:rPr b="1">
                <a:latin typeface="Droid Sans Fallback"/>
                <a:ea typeface="Droid Sans Fallback"/>
                <a:cs typeface="Droid Sans Fallback"/>
              </a:rPr>
              <a:t>当前共同脉动</a:t>
            </a:r>
          </a:p>
        </p:txBody>
      </p:sp>
      <p:sp>
        <p:nvSpPr>
          <p:cNvPr id="67" name="candidate-text-558">
            <a:extLst xmlns:a="http://schemas.openxmlformats.org/drawingml/2006/main">
              <a:ext uri="{FF2B5EF4-FFF2-40B4-BE49-F238E27FC236}">
                <a16:creationId xmlns:a16="http://schemas.microsoft.com/office/drawing/2014/main" id="{0F3368C7-4E3B-4F72-8E93-66C2DDF97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867275"/>
            <a:ext cx="2533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575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启发式估计＋时间修正</a:t>
            </a:r>
          </a:p>
        </p:txBody>
      </p:sp>
      <p:sp>
        <p:nvSpPr>
          <p:cNvPr id="68" name="candidate-text-559">
            <a:extLst xmlns:a="http://schemas.openxmlformats.org/drawingml/2006/main">
              <a:ext uri="{FF2B5EF4-FFF2-40B4-BE49-F238E27FC236}">
                <a16:creationId xmlns:a16="http://schemas.microsoft.com/office/drawing/2014/main" id="{673981A6-C838-449F-A041-D6380FEC6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524375"/>
            <a:ext cx="25622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75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000000"/>
                </a:solidFill>
              </a:defRPr>
            </a:pPr>
            <a:r>
              <a:rPr b="1">
                <a:latin typeface="Droid Sans Fallback"/>
                <a:ea typeface="Droid Sans Fallback"/>
                <a:cs typeface="Droid Sans Fallback"/>
              </a:rPr>
              <a:t>下一周期各站就绪偏差</a:t>
            </a:r>
          </a:p>
        </p:txBody>
      </p:sp>
      <p:sp>
        <p:nvSpPr>
          <p:cNvPr id="69" name="candidate-box-560">
            <a:extLst xmlns:a="http://schemas.openxmlformats.org/drawingml/2006/main">
              <a:ext uri="{FF2B5EF4-FFF2-40B4-BE49-F238E27FC236}">
                <a16:creationId xmlns:a16="http://schemas.microsoft.com/office/drawing/2014/main" id="{28E5BCF9-6687-40A8-B829-64A3968C4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876800"/>
            <a:ext cx="419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0000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00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500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Δ</a:t>
            </a:r>
            <a:r>
              <a:rPr b="0">
                <a:latin typeface="Nimbus Roman"/>
                <a:ea typeface="Nimbus Roman"/>
                <a:cs typeface="Nimbus Roman"/>
              </a:rPr>
              <a:t>1</a:t>
            </a:r>
          </a:p>
        </p:txBody>
      </p:sp>
      <p:sp>
        <p:nvSpPr>
          <p:cNvPr id="70" name="candidate-box-561">
            <a:extLst xmlns:a="http://schemas.openxmlformats.org/drawingml/2006/main">
              <a:ext uri="{FF2B5EF4-FFF2-40B4-BE49-F238E27FC236}">
                <a16:creationId xmlns:a16="http://schemas.microsoft.com/office/drawing/2014/main" id="{D2DF49D9-4D01-4FA7-8284-B642597E0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4876800"/>
            <a:ext cx="419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0000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00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500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Δ</a:t>
            </a:r>
            <a:r>
              <a:rPr b="0">
                <a:latin typeface="Nimbus Roman"/>
                <a:ea typeface="Nimbus Roman"/>
                <a:cs typeface="Nimbus Roman"/>
              </a:rPr>
              <a:t>2</a:t>
            </a:r>
          </a:p>
        </p:txBody>
      </p:sp>
      <p:sp>
        <p:nvSpPr>
          <p:cNvPr id="71" name="candidate-box-562">
            <a:extLst xmlns:a="http://schemas.openxmlformats.org/drawingml/2006/main">
              <a:ext uri="{FF2B5EF4-FFF2-40B4-BE49-F238E27FC236}">
                <a16:creationId xmlns:a16="http://schemas.microsoft.com/office/drawing/2014/main" id="{304387B3-6CFC-4A26-A99B-E19246C46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876800"/>
            <a:ext cx="419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0000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00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500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Δ</a:t>
            </a:r>
            <a:r>
              <a:rPr b="0">
                <a:latin typeface="Nimbus Roman"/>
                <a:ea typeface="Nimbus Roman"/>
                <a:cs typeface="Nimbus Roman"/>
              </a:rPr>
              <a:t>3</a:t>
            </a:r>
          </a:p>
        </p:txBody>
      </p:sp>
      <p:sp>
        <p:nvSpPr>
          <p:cNvPr id="72" name="candidate-box-563">
            <a:extLst xmlns:a="http://schemas.openxmlformats.org/drawingml/2006/main">
              <a:ext uri="{FF2B5EF4-FFF2-40B4-BE49-F238E27FC236}">
                <a16:creationId xmlns:a16="http://schemas.microsoft.com/office/drawing/2014/main" id="{A30181BD-4E1B-4F67-A7D5-DA5B5CDA6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4876800"/>
            <a:ext cx="419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0000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00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500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Δ</a:t>
            </a:r>
            <a:r>
              <a:rPr b="0">
                <a:latin typeface="Nimbus Roman"/>
                <a:ea typeface="Nimbus Roman"/>
                <a:cs typeface="Nimbus Roman"/>
              </a:rPr>
              <a:t>4</a:t>
            </a:r>
          </a:p>
        </p:txBody>
      </p:sp>
      <p:sp>
        <p:nvSpPr>
          <p:cNvPr id="73" name="candidate-box-564">
            <a:extLst xmlns:a="http://schemas.openxmlformats.org/drawingml/2006/main">
              <a:ext uri="{FF2B5EF4-FFF2-40B4-BE49-F238E27FC236}">
                <a16:creationId xmlns:a16="http://schemas.microsoft.com/office/drawing/2014/main" id="{59204801-69A3-4112-8087-FB440C484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876800"/>
            <a:ext cx="419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0000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00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500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Δ</a:t>
            </a:r>
            <a:r>
              <a:rPr b="0">
                <a:latin typeface="Nimbus Roman"/>
                <a:ea typeface="Nimbus Roman"/>
                <a:cs typeface="Nimbus Roman"/>
              </a:rPr>
              <a:t>5</a:t>
            </a:r>
          </a:p>
        </p:txBody>
      </p:sp>
      <p:sp>
        <p:nvSpPr>
          <p:cNvPr id="74" name="candidate-text-565">
            <a:extLst xmlns:a="http://schemas.openxmlformats.org/drawingml/2006/main">
              <a:ext uri="{FF2B5EF4-FFF2-40B4-BE49-F238E27FC236}">
                <a16:creationId xmlns:a16="http://schemas.microsoft.com/office/drawing/2014/main" id="{4B49C153-AD0C-469F-96CB-294F0FB07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5133975"/>
            <a:ext cx="25622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425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425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正值晚，负值早</a:t>
            </a:r>
          </a:p>
        </p:txBody>
      </p:sp>
      <p:cxnSp>
        <p:nvCxnSpPr>
          <p:cNvPr id="75" name="candidate-arrow-566">
            <a:extLst xmlns:a="http://schemas.openxmlformats.org/drawingml/2006/main">
              <a:ext uri="{FF2B5EF4-FFF2-40B4-BE49-F238E27FC236}">
                <a16:creationId xmlns:a16="http://schemas.microsoft.com/office/drawing/2014/main" id="{5160B78A-F737-4311-B320-290493AE36EF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5791200" y="4162425"/>
            <a:ext cx="0" cy="26670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000000"/>
            </a:solidFill>
            <a:prstDash val="solid"/>
            <a:tailEnd type="triangle" w="sm" len="sm"/>
          </a:ln>
        </p:spPr>
      </p:cxnSp>
      <p:sp>
        <p:nvSpPr>
          <p:cNvPr id="76" name="candidate-text-567">
            <a:extLst xmlns:a="http://schemas.openxmlformats.org/drawingml/2006/main">
              <a:ext uri="{FF2B5EF4-FFF2-40B4-BE49-F238E27FC236}">
                <a16:creationId xmlns:a16="http://schemas.microsoft.com/office/drawing/2014/main" id="{CA28CE3F-167E-4191-9561-29A666126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200525"/>
            <a:ext cx="1962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500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r">
              <a:defRPr sz="1500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状态后果语义</a:t>
            </a:r>
          </a:p>
        </p:txBody>
      </p:sp>
      <p:sp>
        <p:nvSpPr>
          <p:cNvPr id="77" name="candidate-box-568">
            <a:extLst xmlns:a="http://schemas.openxmlformats.org/drawingml/2006/main">
              <a:ext uri="{FF2B5EF4-FFF2-40B4-BE49-F238E27FC236}">
                <a16:creationId xmlns:a16="http://schemas.microsoft.com/office/drawing/2014/main" id="{BDF077E9-501B-4E26-9FDE-5B915A81D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3352800"/>
            <a:ext cx="1990725" cy="2038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0000"/>
            </a:solidFill>
            <a:prstDash val="solid"/>
          </a:ln>
        </p:spPr>
      </p:sp>
      <p:sp>
        <p:nvSpPr>
          <p:cNvPr id="78" name="candidate-text-569">
            <a:extLst xmlns:a="http://schemas.openxmlformats.org/drawingml/2006/main">
              <a:ext uri="{FF2B5EF4-FFF2-40B4-BE49-F238E27FC236}">
                <a16:creationId xmlns:a16="http://schemas.microsoft.com/office/drawing/2014/main" id="{35F7D3AD-FD2F-4F07-90B1-127688FF5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429000"/>
            <a:ext cx="18764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000000"/>
                </a:solidFill>
              </a:defRPr>
            </a:pPr>
            <a:r>
              <a:rPr b="1">
                <a:latin typeface="Droid Sans Fallback"/>
                <a:ea typeface="Droid Sans Fallback"/>
                <a:cs typeface="Droid Sans Fallback"/>
              </a:rPr>
              <a:t>协同联合决策</a:t>
            </a:r>
          </a:p>
        </p:txBody>
      </p:sp>
      <p:sp>
        <p:nvSpPr>
          <p:cNvPr id="79" name="candidate-box-570">
            <a:extLst xmlns:a="http://schemas.openxmlformats.org/drawingml/2006/main">
              <a:ext uri="{FF2B5EF4-FFF2-40B4-BE49-F238E27FC236}">
                <a16:creationId xmlns:a16="http://schemas.microsoft.com/office/drawing/2014/main" id="{1AF465ED-B1AC-4E58-8E6C-7C3871125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838575"/>
            <a:ext cx="17621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0000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575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选择工序</a:t>
            </a:r>
          </a:p>
        </p:txBody>
      </p:sp>
      <p:cxnSp>
        <p:nvCxnSpPr>
          <p:cNvPr id="80" name="candidate-arrow-571">
            <a:extLst xmlns:a="http://schemas.openxmlformats.org/drawingml/2006/main">
              <a:ext uri="{FF2B5EF4-FFF2-40B4-BE49-F238E27FC236}">
                <a16:creationId xmlns:a16="http://schemas.microsoft.com/office/drawing/2014/main" id="{CBE32D7B-A15A-45D0-BF10-486C2D335313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0577513" y="4191000"/>
            <a:ext cx="0" cy="123825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000000"/>
            </a:solidFill>
            <a:prstDash val="solid"/>
            <a:tailEnd type="triangle" w="sm" len="sm"/>
          </a:ln>
        </p:spPr>
      </p:cxnSp>
      <p:sp>
        <p:nvSpPr>
          <p:cNvPr id="81" name="candidate-box-572">
            <a:extLst xmlns:a="http://schemas.openxmlformats.org/drawingml/2006/main">
              <a:ext uri="{FF2B5EF4-FFF2-40B4-BE49-F238E27FC236}">
                <a16:creationId xmlns:a16="http://schemas.microsoft.com/office/drawing/2014/main" id="{3DCC53AF-573B-4150-9CCA-254ACEBAA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314825"/>
            <a:ext cx="17621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0000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575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留站／合法后移</a:t>
            </a:r>
          </a:p>
        </p:txBody>
      </p:sp>
      <p:cxnSp>
        <p:nvCxnSpPr>
          <p:cNvPr id="82" name="candidate-arrow-573">
            <a:extLst xmlns:a="http://schemas.openxmlformats.org/drawingml/2006/main">
              <a:ext uri="{FF2B5EF4-FFF2-40B4-BE49-F238E27FC236}">
                <a16:creationId xmlns:a16="http://schemas.microsoft.com/office/drawing/2014/main" id="{3D7BD4D4-159F-4C50-9DA3-14DDE5555073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0577513" y="4667250"/>
            <a:ext cx="0" cy="123825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000000"/>
            </a:solidFill>
            <a:prstDash val="solid"/>
            <a:tailEnd type="triangle" w="sm" len="sm"/>
          </a:ln>
        </p:spPr>
      </p:cxnSp>
      <p:sp>
        <p:nvSpPr>
          <p:cNvPr id="83" name="candidate-box-574">
            <a:extLst xmlns:a="http://schemas.openxmlformats.org/drawingml/2006/main">
              <a:ext uri="{FF2B5EF4-FFF2-40B4-BE49-F238E27FC236}">
                <a16:creationId xmlns:a16="http://schemas.microsoft.com/office/drawing/2014/main" id="{D858CD16-CF4E-4B77-BF31-A8DB8BFC4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791075"/>
            <a:ext cx="17621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0000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575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留站：团队与对齐</a:t>
            </a:r>
          </a:p>
        </p:txBody>
      </p:sp>
      <p:sp>
        <p:nvSpPr>
          <p:cNvPr id="84" name="candidate-line-575">
            <a:extLst xmlns:a="http://schemas.openxmlformats.org/drawingml/2006/main">
              <a:ext uri="{FF2B5EF4-FFF2-40B4-BE49-F238E27FC236}">
                <a16:creationId xmlns:a16="http://schemas.microsoft.com/office/drawing/2014/main" id="{84EBD5FA-B646-44CC-BD7E-83C6A76C0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486775" y="4905375"/>
            <a:ext cx="400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000000"/>
            </a:solidFill>
            <a:prstDash val="solid"/>
          </a:ln>
        </p:spPr>
      </p:sp>
      <p:sp>
        <p:nvSpPr>
          <p:cNvPr id="85" name="candidate-line-576">
            <a:extLst xmlns:a="http://schemas.openxmlformats.org/drawingml/2006/main">
              <a:ext uri="{FF2B5EF4-FFF2-40B4-BE49-F238E27FC236}">
                <a16:creationId xmlns:a16="http://schemas.microsoft.com/office/drawing/2014/main" id="{97CA2955-CECF-4C71-988F-5CB170E23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8886825" y="3905250"/>
            <a:ext cx="0" cy="1000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000000"/>
            </a:solidFill>
            <a:prstDash val="solid"/>
          </a:ln>
        </p:spPr>
      </p:sp>
      <p:cxnSp>
        <p:nvCxnSpPr>
          <p:cNvPr id="86" name="candidate-arrow-577">
            <a:extLst xmlns:a="http://schemas.openxmlformats.org/drawingml/2006/main">
              <a:ext uri="{FF2B5EF4-FFF2-40B4-BE49-F238E27FC236}">
                <a16:creationId xmlns:a16="http://schemas.microsoft.com/office/drawing/2014/main" id="{16E6362B-5FD0-4690-9359-4361A135AA5C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8886825" y="3905250"/>
            <a:ext cx="695325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000000"/>
            </a:solidFill>
            <a:prstDash val="solid"/>
            <a:tailEnd type="triangle" w="sm" len="sm"/>
          </a:ln>
        </p:spPr>
      </p:cxnSp>
      <p:sp>
        <p:nvSpPr>
          <p:cNvPr id="87" name="candidate-text-578">
            <a:extLst xmlns:a="http://schemas.openxmlformats.org/drawingml/2006/main">
              <a:ext uri="{FF2B5EF4-FFF2-40B4-BE49-F238E27FC236}">
                <a16:creationId xmlns:a16="http://schemas.microsoft.com/office/drawing/2014/main" id="{4AE47861-3495-4F3A-9BC9-F9CD4DC1D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200525"/>
            <a:ext cx="952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00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500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预测数值</a:t>
            </a:r>
          </a:p>
        </p:txBody>
      </p:sp>
      <p:sp>
        <p:nvSpPr>
          <p:cNvPr id="88" name="candidate-line-579">
            <a:extLst xmlns:a="http://schemas.openxmlformats.org/drawingml/2006/main">
              <a:ext uri="{FF2B5EF4-FFF2-40B4-BE49-F238E27FC236}">
                <a16:creationId xmlns:a16="http://schemas.microsoft.com/office/drawing/2014/main" id="{97377C7E-DB36-4F52-9676-A2FBAE4E1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0582275" y="2352675"/>
            <a:ext cx="0" cy="1000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00000"/>
            </a:solidFill>
            <a:prstDash val="solid"/>
          </a:ln>
        </p:spPr>
      </p:sp>
      <p:sp>
        <p:nvSpPr>
          <p:cNvPr id="89" name="candidate-line-580">
            <a:extLst xmlns:a="http://schemas.openxmlformats.org/drawingml/2006/main">
              <a:ext uri="{FF2B5EF4-FFF2-40B4-BE49-F238E27FC236}">
                <a16:creationId xmlns:a16="http://schemas.microsoft.com/office/drawing/2014/main" id="{2471CF85-64E9-496B-99BE-C5F6F7164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582275" y="2352675"/>
            <a:ext cx="676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00000"/>
            </a:solidFill>
            <a:prstDash val="solid"/>
          </a:ln>
        </p:spPr>
      </p:sp>
      <p:cxnSp>
        <p:nvCxnSpPr>
          <p:cNvPr id="90" name="candidate-arrow-581">
            <a:extLst xmlns:a="http://schemas.openxmlformats.org/drawingml/2006/main">
              <a:ext uri="{FF2B5EF4-FFF2-40B4-BE49-F238E27FC236}">
                <a16:creationId xmlns:a16="http://schemas.microsoft.com/office/drawing/2014/main" id="{6201E853-DBBA-42E1-8F6D-A12412D7B0D8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11258550" y="2133600"/>
            <a:ext cx="0" cy="219075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000000"/>
            </a:solidFill>
            <a:prstDash val="solid"/>
            <a:tailEnd type="triangle" w="sm" len="sm"/>
          </a:ln>
        </p:spPr>
      </p:cxnSp>
      <p:sp>
        <p:nvSpPr>
          <p:cNvPr id="91" name="candidate-text-582">
            <a:extLst xmlns:a="http://schemas.openxmlformats.org/drawingml/2006/main">
              <a:ext uri="{FF2B5EF4-FFF2-40B4-BE49-F238E27FC236}">
                <a16:creationId xmlns:a16="http://schemas.microsoft.com/office/drawing/2014/main" id="{DCCA1329-2A59-4956-8D12-C7B7F7082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2705100"/>
            <a:ext cx="952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完整提交</a:t>
            </a:r>
          </a:p>
        </p:txBody>
      </p:sp>
      <p:sp>
        <p:nvSpPr>
          <p:cNvPr id="92" name="candidate-box-583">
            <a:extLst xmlns:a="http://schemas.openxmlformats.org/drawingml/2006/main">
              <a:ext uri="{FF2B5EF4-FFF2-40B4-BE49-F238E27FC236}">
                <a16:creationId xmlns:a16="http://schemas.microsoft.com/office/drawing/2014/main" id="{1AC9319C-38FA-412E-90A4-B4AF529D1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953000"/>
            <a:ext cx="21431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0000"/>
            </a:solidFill>
            <a:prstDash val="solid"/>
          </a:ln>
        </p:spPr>
      </p:sp>
      <p:sp>
        <p:nvSpPr>
          <p:cNvPr id="93" name="candidate-text-584">
            <a:extLst xmlns:a="http://schemas.openxmlformats.org/drawingml/2006/main">
              <a:ext uri="{FF2B5EF4-FFF2-40B4-BE49-F238E27FC236}">
                <a16:creationId xmlns:a16="http://schemas.microsoft.com/office/drawing/2014/main" id="{9B151975-2DE8-42BD-9818-10D8E2C3F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00625"/>
            <a:ext cx="20097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75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000000"/>
                </a:solidFill>
              </a:defRPr>
            </a:pPr>
            <a:r>
              <a:rPr b="1">
                <a:latin typeface="Droid Sans Fallback"/>
                <a:ea typeface="Droid Sans Fallback"/>
                <a:cs typeface="Droid Sans Fallback"/>
              </a:rPr>
              <a:t>在线编码与分层融合</a:t>
            </a:r>
          </a:p>
        </p:txBody>
      </p:sp>
      <p:sp>
        <p:nvSpPr>
          <p:cNvPr id="94" name="candidate-text-585">
            <a:extLst xmlns:a="http://schemas.openxmlformats.org/drawingml/2006/main">
              <a:ext uri="{FF2B5EF4-FFF2-40B4-BE49-F238E27FC236}">
                <a16:creationId xmlns:a16="http://schemas.microsoft.com/office/drawing/2014/main" id="{A47CAAEF-1F0A-44ED-979F-960B91965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95900"/>
            <a:ext cx="20097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00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500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独立在线候选上下文</a:t>
            </a:r>
          </a:p>
        </p:txBody>
      </p:sp>
      <p:sp>
        <p:nvSpPr>
          <p:cNvPr id="95" name="candidate-line-586">
            <a:extLst xmlns:a="http://schemas.openxmlformats.org/drawingml/2006/main">
              <a:ext uri="{FF2B5EF4-FFF2-40B4-BE49-F238E27FC236}">
                <a16:creationId xmlns:a16="http://schemas.microsoft.com/office/drawing/2014/main" id="{085F0671-A2E2-40C0-A528-51D503318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514350" y="2133600"/>
            <a:ext cx="1047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000000"/>
            </a:solidFill>
            <a:prstDash val="solid"/>
          </a:ln>
        </p:spPr>
      </p:sp>
      <p:sp>
        <p:nvSpPr>
          <p:cNvPr id="96" name="candidate-line-587">
            <a:extLst xmlns:a="http://schemas.openxmlformats.org/drawingml/2006/main">
              <a:ext uri="{FF2B5EF4-FFF2-40B4-BE49-F238E27FC236}">
                <a16:creationId xmlns:a16="http://schemas.microsoft.com/office/drawing/2014/main" id="{9B983D85-32E2-452F-A03E-1C8A27686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14350" y="2133600"/>
            <a:ext cx="0" cy="31337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000000"/>
            </a:solidFill>
            <a:prstDash val="solid"/>
          </a:ln>
        </p:spPr>
      </p:sp>
      <p:cxnSp>
        <p:nvCxnSpPr>
          <p:cNvPr id="97" name="candidate-arrow-588">
            <a:extLst xmlns:a="http://schemas.openxmlformats.org/drawingml/2006/main">
              <a:ext uri="{FF2B5EF4-FFF2-40B4-BE49-F238E27FC236}">
                <a16:creationId xmlns:a16="http://schemas.microsoft.com/office/drawing/2014/main" id="{70E6A9DC-10D9-4DA1-B6F1-7E820B7B8433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514350" y="5267325"/>
            <a:ext cx="104775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000000"/>
            </a:solidFill>
            <a:prstDash val="solid"/>
            <a:tailEnd type="triangle" w="sm" len="sm"/>
          </a:ln>
        </p:spPr>
      </p:cxnSp>
      <p:cxnSp>
        <p:nvCxnSpPr>
          <p:cNvPr id="98" name="candidate-arrow-589">
            <a:extLst xmlns:a="http://schemas.openxmlformats.org/drawingml/2006/main">
              <a:ext uri="{FF2B5EF4-FFF2-40B4-BE49-F238E27FC236}">
                <a16:creationId xmlns:a16="http://schemas.microsoft.com/office/drawing/2014/main" id="{BA73983E-E28B-4518-B460-9BB74BB3E7E6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514350" y="3076575"/>
            <a:ext cx="104775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000000"/>
            </a:solidFill>
            <a:prstDash val="solid"/>
            <a:tailEnd type="triangle" w="sm" len="sm"/>
          </a:ln>
        </p:spPr>
      </p:cxnSp>
      <p:sp>
        <p:nvSpPr>
          <p:cNvPr id="99" name="candidate-line-590">
            <a:extLst xmlns:a="http://schemas.openxmlformats.org/drawingml/2006/main">
              <a:ext uri="{FF2B5EF4-FFF2-40B4-BE49-F238E27FC236}">
                <a16:creationId xmlns:a16="http://schemas.microsoft.com/office/drawing/2014/main" id="{AB1F3CAE-B685-430C-A37C-C78BC96D9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762250" y="5267325"/>
            <a:ext cx="152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00000"/>
            </a:solidFill>
            <a:prstDash val="solid"/>
          </a:ln>
        </p:spPr>
      </p:sp>
      <p:sp>
        <p:nvSpPr>
          <p:cNvPr id="100" name="candidate-line-591">
            <a:extLst xmlns:a="http://schemas.openxmlformats.org/drawingml/2006/main">
              <a:ext uri="{FF2B5EF4-FFF2-40B4-BE49-F238E27FC236}">
                <a16:creationId xmlns:a16="http://schemas.microsoft.com/office/drawing/2014/main" id="{75DB15BF-0337-4BEE-BFCD-71839FF26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914650" y="5267325"/>
            <a:ext cx="0" cy="333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00000"/>
            </a:solidFill>
            <a:prstDash val="solid"/>
          </a:ln>
        </p:spPr>
      </p:sp>
      <p:sp>
        <p:nvSpPr>
          <p:cNvPr id="101" name="candidate-line-592">
            <a:extLst xmlns:a="http://schemas.openxmlformats.org/drawingml/2006/main">
              <a:ext uri="{FF2B5EF4-FFF2-40B4-BE49-F238E27FC236}">
                <a16:creationId xmlns:a16="http://schemas.microsoft.com/office/drawing/2014/main" id="{C7A9C4F3-BAFC-4EC4-98DB-B322167E8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914650" y="5600700"/>
            <a:ext cx="7667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00000"/>
            </a:solidFill>
            <a:prstDash val="solid"/>
          </a:ln>
        </p:spPr>
      </p:sp>
      <p:cxnSp>
        <p:nvCxnSpPr>
          <p:cNvPr id="102" name="candidate-arrow-593">
            <a:extLst xmlns:a="http://schemas.openxmlformats.org/drawingml/2006/main">
              <a:ext uri="{FF2B5EF4-FFF2-40B4-BE49-F238E27FC236}">
                <a16:creationId xmlns:a16="http://schemas.microsoft.com/office/drawing/2014/main" id="{B83A4CC5-5DD8-41BE-ACE2-379C749D6171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10582275" y="5391150"/>
            <a:ext cx="0" cy="20955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000000"/>
            </a:solidFill>
            <a:prstDash val="solid"/>
            <a:tailEnd type="triangle" w="sm" len="sm"/>
          </a:ln>
        </p:spPr>
      </p:cxnSp>
      <p:sp>
        <p:nvSpPr>
          <p:cNvPr id="103" name="candidate-text-594">
            <a:extLst xmlns:a="http://schemas.openxmlformats.org/drawingml/2006/main">
              <a:ext uri="{FF2B5EF4-FFF2-40B4-BE49-F238E27FC236}">
                <a16:creationId xmlns:a16="http://schemas.microsoft.com/office/drawing/2014/main" id="{55DE9B1E-17C9-4663-AC2A-5198455BF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391150"/>
            <a:ext cx="628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00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500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同一最新状态另行生成在线候选表示</a:t>
            </a:r>
          </a:p>
        </p:txBody>
      </p:sp>
      <p:sp>
        <p:nvSpPr>
          <p:cNvPr id="104" name="candidate-box-595">
            <a:extLst xmlns:a="http://schemas.openxmlformats.org/drawingml/2006/main">
              <a:ext uri="{FF2B5EF4-FFF2-40B4-BE49-F238E27FC236}">
                <a16:creationId xmlns:a16="http://schemas.microsoft.com/office/drawing/2014/main" id="{8A43BEC1-6A1C-47D7-8D67-53EC475D8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772150"/>
            <a:ext cx="25908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0000"/>
            </a:solidFill>
            <a:prstDash val="solid"/>
          </a:ln>
        </p:spPr>
      </p:sp>
      <p:sp>
        <p:nvSpPr>
          <p:cNvPr id="105" name="candidate-text-596">
            <a:extLst xmlns:a="http://schemas.openxmlformats.org/drawingml/2006/main">
              <a:ext uri="{FF2B5EF4-FFF2-40B4-BE49-F238E27FC236}">
                <a16:creationId xmlns:a16="http://schemas.microsoft.com/office/drawing/2014/main" id="{F186F598-30F0-4642-9998-9A3817B40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91200"/>
            <a:ext cx="2457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75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000000"/>
                </a:solidFill>
              </a:defRPr>
            </a:pPr>
            <a:r>
              <a:rPr b="1">
                <a:latin typeface="Droid Sans Fallback"/>
                <a:ea typeface="Droid Sans Fallback"/>
                <a:cs typeface="Droid Sans Fallback"/>
              </a:rPr>
              <a:t>实际脉动与站位就绪</a:t>
            </a:r>
          </a:p>
        </p:txBody>
      </p:sp>
      <p:sp>
        <p:nvSpPr>
          <p:cNvPr id="106" name="candidate-text-597">
            <a:extLst xmlns:a="http://schemas.openxmlformats.org/drawingml/2006/main">
              <a:ext uri="{FF2B5EF4-FFF2-40B4-BE49-F238E27FC236}">
                <a16:creationId xmlns:a16="http://schemas.microsoft.com/office/drawing/2014/main" id="{A46B20D8-5FB8-4BA1-A4D8-F45E1BCA5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29325"/>
            <a:ext cx="24574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00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500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形成实际时间结果</a:t>
            </a:r>
          </a:p>
        </p:txBody>
      </p:sp>
      <p:sp>
        <p:nvSpPr>
          <p:cNvPr id="107" name="candidate-box-598">
            <a:extLst xmlns:a="http://schemas.openxmlformats.org/drawingml/2006/main">
              <a:ext uri="{FF2B5EF4-FFF2-40B4-BE49-F238E27FC236}">
                <a16:creationId xmlns:a16="http://schemas.microsoft.com/office/drawing/2014/main" id="{AB7B4AEE-38E0-46CE-BFDB-A46AC9B7E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5772150"/>
            <a:ext cx="25527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0000"/>
            </a:solidFill>
            <a:prstDash val="solid"/>
          </a:ln>
        </p:spPr>
      </p:sp>
      <p:sp>
        <p:nvSpPr>
          <p:cNvPr id="108" name="candidate-text-599">
            <a:extLst xmlns:a="http://schemas.openxmlformats.org/drawingml/2006/main">
              <a:ext uri="{FF2B5EF4-FFF2-40B4-BE49-F238E27FC236}">
                <a16:creationId xmlns:a16="http://schemas.microsoft.com/office/drawing/2014/main" id="{7FD62C1F-7AEA-44FD-8406-8E13B7F96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5791200"/>
            <a:ext cx="2419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75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000000"/>
                </a:solidFill>
              </a:defRPr>
            </a:pPr>
            <a:r>
              <a:rPr b="1">
                <a:latin typeface="Droid Sans Fallback"/>
                <a:ea typeface="Droid Sans Fallback"/>
                <a:cs typeface="Droid Sans Fallback"/>
              </a:rPr>
              <a:t>两项时间标签分别回填</a:t>
            </a:r>
          </a:p>
        </p:txBody>
      </p:sp>
      <p:sp>
        <p:nvSpPr>
          <p:cNvPr id="109" name="candidate-text-600">
            <a:extLst xmlns:a="http://schemas.openxmlformats.org/drawingml/2006/main">
              <a:ext uri="{FF2B5EF4-FFF2-40B4-BE49-F238E27FC236}">
                <a16:creationId xmlns:a16="http://schemas.microsoft.com/office/drawing/2014/main" id="{8FA42547-76F6-4DE1-AF7D-F72E5E7A5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6029325"/>
            <a:ext cx="24193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00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500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当前与下一周期分别监督</a:t>
            </a:r>
          </a:p>
        </p:txBody>
      </p:sp>
      <p:sp>
        <p:nvSpPr>
          <p:cNvPr id="110" name="candidate-box-601">
            <a:extLst xmlns:a="http://schemas.openxmlformats.org/drawingml/2006/main">
              <a:ext uri="{FF2B5EF4-FFF2-40B4-BE49-F238E27FC236}">
                <a16:creationId xmlns:a16="http://schemas.microsoft.com/office/drawing/2014/main" id="{96AAC4CF-39BF-478F-899E-0E6A26AFB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5772150"/>
            <a:ext cx="51816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0000"/>
            </a:solidFill>
            <a:prstDash val="solid"/>
          </a:ln>
        </p:spPr>
      </p:sp>
      <p:sp>
        <p:nvSpPr>
          <p:cNvPr id="111" name="candidate-text-602">
            <a:extLst xmlns:a="http://schemas.openxmlformats.org/drawingml/2006/main">
              <a:ext uri="{FF2B5EF4-FFF2-40B4-BE49-F238E27FC236}">
                <a16:creationId xmlns:a16="http://schemas.microsoft.com/office/drawing/2014/main" id="{3ED20BC9-E607-4725-AAFB-5B3E05C76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791200"/>
            <a:ext cx="504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75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000000"/>
                </a:solidFill>
              </a:defRPr>
            </a:pPr>
            <a:r>
              <a:rPr b="1">
                <a:latin typeface="Droid Sans Fallback"/>
                <a:ea typeface="Droid Sans Fallback"/>
                <a:cs typeface="Droid Sans Fallback"/>
              </a:rPr>
              <a:t>在线表征与策略学习</a:t>
            </a:r>
          </a:p>
        </p:txBody>
      </p:sp>
      <p:sp>
        <p:nvSpPr>
          <p:cNvPr id="112" name="candidate-text-603">
            <a:extLst xmlns:a="http://schemas.openxmlformats.org/drawingml/2006/main">
              <a:ext uri="{FF2B5EF4-FFF2-40B4-BE49-F238E27FC236}">
                <a16:creationId xmlns:a16="http://schemas.microsoft.com/office/drawing/2014/main" id="{F3FEE4D8-9192-4887-8F4C-D9C72B627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6029325"/>
            <a:ext cx="5048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00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500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时间辅助监督及</a:t>
            </a:r>
            <a:r>
              <a:rPr b="0">
                <a:latin typeface="Nimbus Roman"/>
                <a:ea typeface="Nimbus Roman"/>
                <a:cs typeface="Nimbus Roman"/>
              </a:rPr>
              <a:t>PPO</a:t>
            </a:r>
            <a:r>
              <a:rPr b="0">
                <a:latin typeface="Droid Sans Fallback"/>
                <a:ea typeface="Droid Sans Fallback"/>
                <a:cs typeface="Droid Sans Fallback"/>
              </a:rPr>
              <a:t>更新</a:t>
            </a:r>
          </a:p>
        </p:txBody>
      </p:sp>
      <p:cxnSp>
        <p:nvCxnSpPr>
          <p:cNvPr id="113" name="candidate-arrow-604">
            <a:extLst xmlns:a="http://schemas.openxmlformats.org/drawingml/2006/main">
              <a:ext uri="{FF2B5EF4-FFF2-40B4-BE49-F238E27FC236}">
                <a16:creationId xmlns:a16="http://schemas.microsoft.com/office/drawing/2014/main" id="{EB4D987F-8D2F-4601-8CE7-E181E9049FBB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3209925" y="6010275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000000"/>
            </a:solidFill>
            <a:prstDash val="solid"/>
            <a:tailEnd type="triangle" w="sm" len="sm"/>
          </a:ln>
        </p:spPr>
      </p:cxnSp>
      <p:cxnSp>
        <p:nvCxnSpPr>
          <p:cNvPr id="114" name="candidate-arrow-605">
            <a:extLst xmlns:a="http://schemas.openxmlformats.org/drawingml/2006/main">
              <a:ext uri="{FF2B5EF4-FFF2-40B4-BE49-F238E27FC236}">
                <a16:creationId xmlns:a16="http://schemas.microsoft.com/office/drawing/2014/main" id="{FF4AC840-4C0A-4498-A17A-0034F1844B41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067425" y="6010275"/>
            <a:ext cx="323850" cy="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000000"/>
            </a:solidFill>
            <a:prstDash val="solid"/>
            <a:tailEnd type="triangle" w="sm" len="sm"/>
          </a:ln>
        </p:spPr>
      </p:cxnSp>
    </p:spTree>
    <p:extLst>
      <p:ext uri="{BB962C8B-B14F-4D97-AF65-F5344CB8AC3E}">
        <p14:creationId xmlns:p14="http://schemas.microsoft.com/office/powerpoint/2010/main" val="135597773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5" name="candidate-text-606">
            <a:extLst xmlns:a="http://schemas.openxmlformats.org/drawingml/2006/main">
              <a:ext uri="{FF2B5EF4-FFF2-40B4-BE49-F238E27FC236}">
                <a16:creationId xmlns:a16="http://schemas.microsoft.com/office/drawing/2014/main" id="{E46CEF29-5D69-4A06-9F12-D71C8F040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57175"/>
            <a:ext cx="112014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700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000000"/>
                </a:solidFill>
              </a:defRPr>
            </a:pPr>
            <a:r>
              <a:rPr b="1">
                <a:latin typeface="Droid Sans Fallback"/>
                <a:ea typeface="Droid Sans Fallback"/>
                <a:cs typeface="Droid Sans Fallback"/>
              </a:rPr>
              <a:t>技术路线三：语义增强的多架次协同动态调度</a:t>
            </a:r>
          </a:p>
        </p:txBody>
      </p:sp>
      <p:sp>
        <p:nvSpPr>
          <p:cNvPr id="2" name="candidate-line-607">
            <a:extLst xmlns:a="http://schemas.openxmlformats.org/drawingml/2006/main">
              <a:ext uri="{FF2B5EF4-FFF2-40B4-BE49-F238E27FC236}">
                <a16:creationId xmlns:a16="http://schemas.microsoft.com/office/drawing/2014/main" id="{92E01011-878C-41C7-9566-011C5892D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95300" y="8953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3" name="candidate-line-608">
            <a:extLst xmlns:a="http://schemas.openxmlformats.org/drawingml/2006/main">
              <a:ext uri="{FF2B5EF4-FFF2-40B4-BE49-F238E27FC236}">
                <a16:creationId xmlns:a16="http://schemas.microsoft.com/office/drawing/2014/main" id="{88EB2757-DD9F-4166-B1BB-FCD3D27CB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95300" y="6410325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000000"/>
            </a:solidFill>
            <a:prstDash val="solid"/>
          </a:ln>
        </p:spPr>
      </p:sp>
      <p:sp>
        <p:nvSpPr>
          <p:cNvPr id="4" name="candidate-text-609">
            <a:extLst xmlns:a="http://schemas.openxmlformats.org/drawingml/2006/main">
              <a:ext uri="{FF2B5EF4-FFF2-40B4-BE49-F238E27FC236}">
                <a16:creationId xmlns:a16="http://schemas.microsoft.com/office/drawing/2014/main" id="{0B4C9D39-789D-401B-914D-026F9A4B0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技术路线</a:t>
            </a:r>
          </a:p>
        </p:txBody>
      </p:sp>
      <p:sp>
        <p:nvSpPr>
          <p:cNvPr id="5" name="candidate-text-610">
            <a:extLst xmlns:a="http://schemas.openxmlformats.org/drawingml/2006/main">
              <a:ext uri="{FF2B5EF4-FFF2-40B4-BE49-F238E27FC236}">
                <a16:creationId xmlns:a16="http://schemas.microsoft.com/office/drawing/2014/main" id="{7E6D2371-CA58-4A94-A953-E2961131C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6457950"/>
            <a:ext cx="11525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350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000000"/>
                </a:solidFill>
              </a:defRPr>
            </a:pPr>
            <a:r>
              <a:rPr b="0">
                <a:latin typeface="Nimbus Roman"/>
                <a:ea typeface="Nimbus Roman"/>
                <a:cs typeface="Nimbus Roman"/>
              </a:rPr>
              <a:t>13A3</a:t>
            </a:r>
          </a:p>
        </p:txBody>
      </p:sp>
      <p:sp>
        <p:nvSpPr>
          <p:cNvPr id="6" name="candidate-text-611">
            <a:extLst xmlns:a="http://schemas.openxmlformats.org/drawingml/2006/main">
              <a:ext uri="{FF2B5EF4-FFF2-40B4-BE49-F238E27FC236}">
                <a16:creationId xmlns:a16="http://schemas.microsoft.com/office/drawing/2014/main" id="{DDF04F56-B71B-4462-B537-98B4BF78A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66800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000000"/>
                </a:solidFill>
              </a:defRPr>
            </a:pPr>
            <a:r>
              <a:rPr b="1">
                <a:latin typeface="Droid Sans Fallback"/>
                <a:ea typeface="Droid Sans Fallback"/>
                <a:cs typeface="Droid Sans Fallback"/>
              </a:rPr>
              <a:t>真实生产事件</a:t>
            </a:r>
          </a:p>
        </p:txBody>
      </p:sp>
      <p:sp>
        <p:nvSpPr>
          <p:cNvPr id="7" name="candidate-box-612">
            <a:extLst xmlns:a="http://schemas.openxmlformats.org/drawingml/2006/main">
              <a:ext uri="{FF2B5EF4-FFF2-40B4-BE49-F238E27FC236}">
                <a16:creationId xmlns:a16="http://schemas.microsoft.com/office/drawing/2014/main" id="{C2DD13DC-0404-494D-A413-AA24C9F6A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76375"/>
            <a:ext cx="2762250" cy="2124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0000"/>
            </a:solidFill>
            <a:prstDash val="solid"/>
          </a:ln>
        </p:spPr>
      </p:sp>
      <p:sp>
        <p:nvSpPr>
          <p:cNvPr id="8" name="candidate-text-613">
            <a:extLst xmlns:a="http://schemas.openxmlformats.org/drawingml/2006/main">
              <a:ext uri="{FF2B5EF4-FFF2-40B4-BE49-F238E27FC236}">
                <a16:creationId xmlns:a16="http://schemas.microsoft.com/office/drawing/2014/main" id="{D17C0E6B-AA49-4CCC-B747-03F91C28E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562100"/>
            <a:ext cx="24955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000000"/>
                </a:solidFill>
              </a:defRPr>
            </a:pPr>
            <a:r>
              <a:rPr b="1">
                <a:latin typeface="Droid Sans Fallback"/>
                <a:ea typeface="Droid Sans Fallback"/>
                <a:cs typeface="Droid Sans Fallback"/>
              </a:rPr>
              <a:t>五站驻站并行示意</a:t>
            </a:r>
          </a:p>
        </p:txBody>
      </p:sp>
      <p:sp>
        <p:nvSpPr>
          <p:cNvPr id="9" name="candidate-text-614">
            <a:extLst xmlns:a="http://schemas.openxmlformats.org/drawingml/2006/main">
              <a:ext uri="{FF2B5EF4-FFF2-40B4-BE49-F238E27FC236}">
                <a16:creationId xmlns:a16="http://schemas.microsoft.com/office/drawing/2014/main" id="{621E7622-6BC4-4CCA-8B6E-66EAC1569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933575"/>
            <a:ext cx="22193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575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站位</a:t>
            </a:r>
            <a:r>
              <a:rPr b="0">
                <a:latin typeface="Nimbus Roman"/>
                <a:ea typeface="Nimbus Roman"/>
                <a:cs typeface="Nimbus Roman"/>
              </a:rPr>
              <a:t>1</a:t>
            </a:r>
            <a:r>
              <a:rPr b="0">
                <a:latin typeface="Droid Sans Fallback"/>
                <a:ea typeface="Droid Sans Fallback"/>
                <a:cs typeface="Droid Sans Fallback"/>
              </a:rPr>
              <a:t>　飞机</a:t>
            </a:r>
            <a:r>
              <a:rPr b="0">
                <a:latin typeface="Nimbus Roman"/>
                <a:ea typeface="Nimbus Roman"/>
                <a:cs typeface="Nimbus Roman"/>
              </a:rPr>
              <a:t>5</a:t>
            </a:r>
          </a:p>
        </p:txBody>
      </p:sp>
      <p:sp>
        <p:nvSpPr>
          <p:cNvPr id="10" name="candidate-line-615">
            <a:extLst xmlns:a="http://schemas.openxmlformats.org/drawingml/2006/main">
              <a:ext uri="{FF2B5EF4-FFF2-40B4-BE49-F238E27FC236}">
                <a16:creationId xmlns:a16="http://schemas.microsoft.com/office/drawing/2014/main" id="{DAE686DD-AB4C-4B1D-A98F-E0FC07646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52500" y="2190750"/>
            <a:ext cx="2295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000000"/>
            </a:solidFill>
            <a:prstDash val="solid"/>
          </a:ln>
        </p:spPr>
      </p:sp>
      <p:sp>
        <p:nvSpPr>
          <p:cNvPr id="11" name="candidate-text-616">
            <a:extLst xmlns:a="http://schemas.openxmlformats.org/drawingml/2006/main">
              <a:ext uri="{FF2B5EF4-FFF2-40B4-BE49-F238E27FC236}">
                <a16:creationId xmlns:a16="http://schemas.microsoft.com/office/drawing/2014/main" id="{8BE25EB3-2E0B-42BA-A12B-3A74E61DA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00275"/>
            <a:ext cx="22193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575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站位</a:t>
            </a:r>
            <a:r>
              <a:rPr b="0">
                <a:latin typeface="Nimbus Roman"/>
                <a:ea typeface="Nimbus Roman"/>
                <a:cs typeface="Nimbus Roman"/>
              </a:rPr>
              <a:t>2</a:t>
            </a:r>
            <a:r>
              <a:rPr b="0">
                <a:latin typeface="Droid Sans Fallback"/>
                <a:ea typeface="Droid Sans Fallback"/>
                <a:cs typeface="Droid Sans Fallback"/>
              </a:rPr>
              <a:t>　飞机</a:t>
            </a:r>
            <a:r>
              <a:rPr b="0">
                <a:latin typeface="Nimbus Roman"/>
                <a:ea typeface="Nimbus Roman"/>
                <a:cs typeface="Nimbus Roman"/>
              </a:rPr>
              <a:t>4</a:t>
            </a:r>
          </a:p>
        </p:txBody>
      </p:sp>
      <p:sp>
        <p:nvSpPr>
          <p:cNvPr id="12" name="candidate-line-617">
            <a:extLst xmlns:a="http://schemas.openxmlformats.org/drawingml/2006/main">
              <a:ext uri="{FF2B5EF4-FFF2-40B4-BE49-F238E27FC236}">
                <a16:creationId xmlns:a16="http://schemas.microsoft.com/office/drawing/2014/main" id="{F9DA97B1-5F35-4B97-8EA2-BACBF2C1B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52500" y="2457450"/>
            <a:ext cx="2295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000000"/>
            </a:solidFill>
            <a:prstDash val="solid"/>
          </a:ln>
        </p:spPr>
      </p:sp>
      <p:sp>
        <p:nvSpPr>
          <p:cNvPr id="13" name="candidate-text-618">
            <a:extLst xmlns:a="http://schemas.openxmlformats.org/drawingml/2006/main">
              <a:ext uri="{FF2B5EF4-FFF2-40B4-BE49-F238E27FC236}">
                <a16:creationId xmlns:a16="http://schemas.microsoft.com/office/drawing/2014/main" id="{FBDAB41B-4D10-4A59-849F-314C95779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466975"/>
            <a:ext cx="22193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575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站位</a:t>
            </a:r>
            <a:r>
              <a:rPr b="0">
                <a:latin typeface="Nimbus Roman"/>
                <a:ea typeface="Nimbus Roman"/>
                <a:cs typeface="Nimbus Roman"/>
              </a:rPr>
              <a:t>3</a:t>
            </a:r>
            <a:r>
              <a:rPr b="0">
                <a:latin typeface="Droid Sans Fallback"/>
                <a:ea typeface="Droid Sans Fallback"/>
                <a:cs typeface="Droid Sans Fallback"/>
              </a:rPr>
              <a:t>　飞机</a:t>
            </a:r>
            <a:r>
              <a:rPr b="0">
                <a:latin typeface="Nimbus Roman"/>
                <a:ea typeface="Nimbus Roman"/>
                <a:cs typeface="Nimbus Roman"/>
              </a:rPr>
              <a:t>3</a:t>
            </a:r>
          </a:p>
        </p:txBody>
      </p:sp>
      <p:sp>
        <p:nvSpPr>
          <p:cNvPr id="14" name="candidate-line-619">
            <a:extLst xmlns:a="http://schemas.openxmlformats.org/drawingml/2006/main">
              <a:ext uri="{FF2B5EF4-FFF2-40B4-BE49-F238E27FC236}">
                <a16:creationId xmlns:a16="http://schemas.microsoft.com/office/drawing/2014/main" id="{9219498E-EED5-43FF-A8F5-2F171B4D5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52500" y="2724150"/>
            <a:ext cx="2295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000000"/>
            </a:solidFill>
            <a:prstDash val="solid"/>
          </a:ln>
        </p:spPr>
      </p:sp>
      <p:sp>
        <p:nvSpPr>
          <p:cNvPr id="15" name="candidate-text-620">
            <a:extLst xmlns:a="http://schemas.openxmlformats.org/drawingml/2006/main">
              <a:ext uri="{FF2B5EF4-FFF2-40B4-BE49-F238E27FC236}">
                <a16:creationId xmlns:a16="http://schemas.microsoft.com/office/drawing/2014/main" id="{6F2C84E0-FDA7-4571-ABDB-B54A603B0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733675"/>
            <a:ext cx="22193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575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站位</a:t>
            </a:r>
            <a:r>
              <a:rPr b="0">
                <a:latin typeface="Nimbus Roman"/>
                <a:ea typeface="Nimbus Roman"/>
                <a:cs typeface="Nimbus Roman"/>
              </a:rPr>
              <a:t>4</a:t>
            </a:r>
            <a:r>
              <a:rPr b="0">
                <a:latin typeface="Droid Sans Fallback"/>
                <a:ea typeface="Droid Sans Fallback"/>
                <a:cs typeface="Droid Sans Fallback"/>
              </a:rPr>
              <a:t>　飞机</a:t>
            </a:r>
            <a:r>
              <a:rPr b="0">
                <a:latin typeface="Nimbus Roman"/>
                <a:ea typeface="Nimbus Roman"/>
                <a:cs typeface="Nimbus Roman"/>
              </a:rPr>
              <a:t>2</a:t>
            </a:r>
          </a:p>
        </p:txBody>
      </p:sp>
      <p:sp>
        <p:nvSpPr>
          <p:cNvPr id="16" name="candidate-line-621">
            <a:extLst xmlns:a="http://schemas.openxmlformats.org/drawingml/2006/main">
              <a:ext uri="{FF2B5EF4-FFF2-40B4-BE49-F238E27FC236}">
                <a16:creationId xmlns:a16="http://schemas.microsoft.com/office/drawing/2014/main" id="{0B191C40-0920-4C48-A73C-ABB0F16C1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52500" y="2990850"/>
            <a:ext cx="2295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000000"/>
            </a:solidFill>
            <a:prstDash val="solid"/>
          </a:ln>
        </p:spPr>
      </p:sp>
      <p:sp>
        <p:nvSpPr>
          <p:cNvPr id="17" name="candidate-text-622">
            <a:extLst xmlns:a="http://schemas.openxmlformats.org/drawingml/2006/main">
              <a:ext uri="{FF2B5EF4-FFF2-40B4-BE49-F238E27FC236}">
                <a16:creationId xmlns:a16="http://schemas.microsoft.com/office/drawing/2014/main" id="{525625FD-4F91-4F41-87AB-B76A20DAD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000375"/>
            <a:ext cx="22193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575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站位</a:t>
            </a:r>
            <a:r>
              <a:rPr b="0">
                <a:latin typeface="Nimbus Roman"/>
                <a:ea typeface="Nimbus Roman"/>
                <a:cs typeface="Nimbus Roman"/>
              </a:rPr>
              <a:t>5</a:t>
            </a:r>
            <a:r>
              <a:rPr b="0">
                <a:latin typeface="Droid Sans Fallback"/>
                <a:ea typeface="Droid Sans Fallback"/>
                <a:cs typeface="Droid Sans Fallback"/>
              </a:rPr>
              <a:t>　飞机</a:t>
            </a:r>
            <a:r>
              <a:rPr b="0">
                <a:latin typeface="Nimbus Roman"/>
                <a:ea typeface="Nimbus Roman"/>
                <a:cs typeface="Nimbus Roman"/>
              </a:rPr>
              <a:t>1</a:t>
            </a:r>
          </a:p>
        </p:txBody>
      </p:sp>
      <p:cxnSp>
        <p:nvCxnSpPr>
          <p:cNvPr id="18" name="candidate-arrow-623">
            <a:extLst xmlns:a="http://schemas.openxmlformats.org/drawingml/2006/main">
              <a:ext uri="{FF2B5EF4-FFF2-40B4-BE49-F238E27FC236}">
                <a16:creationId xmlns:a16="http://schemas.microsoft.com/office/drawing/2014/main" id="{90102EAD-A7D0-4AC7-AE39-AA7DB88F3631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809625" y="1981200"/>
            <a:ext cx="0" cy="1152525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000000"/>
            </a:solidFill>
            <a:prstDash val="solid"/>
            <a:tailEnd type="triangle" w="sm" len="sm"/>
          </a:ln>
        </p:spPr>
      </p:cxnSp>
      <p:sp>
        <p:nvSpPr>
          <p:cNvPr id="19" name="candidate-line-624">
            <a:extLst xmlns:a="http://schemas.openxmlformats.org/drawingml/2006/main">
              <a:ext uri="{FF2B5EF4-FFF2-40B4-BE49-F238E27FC236}">
                <a16:creationId xmlns:a16="http://schemas.microsoft.com/office/drawing/2014/main" id="{B176DE37-A0B7-4289-8223-6ACDD0FB7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19125" y="3276600"/>
            <a:ext cx="2762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573">
            <a:solidFill>
              <a:srgbClr val="000000"/>
            </a:solidFill>
            <a:prstDash val="solid"/>
          </a:ln>
        </p:spPr>
      </p:sp>
      <p:sp>
        <p:nvSpPr>
          <p:cNvPr id="20" name="candidate-text-625">
            <a:extLst xmlns:a="http://schemas.openxmlformats.org/drawingml/2006/main">
              <a:ext uri="{FF2B5EF4-FFF2-40B4-BE49-F238E27FC236}">
                <a16:creationId xmlns:a16="http://schemas.microsoft.com/office/drawing/2014/main" id="{F71B00A9-8656-4574-8287-27BAC39ED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314700"/>
            <a:ext cx="2533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75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000000"/>
                </a:solidFill>
              </a:defRPr>
            </a:pPr>
            <a:r>
              <a:rPr b="1">
                <a:latin typeface="Droid Sans Fallback"/>
                <a:ea typeface="Droid Sans Fallback"/>
                <a:cs typeface="Droid Sans Fallback"/>
              </a:rPr>
              <a:t>最晚就绪时刻共同脉动</a:t>
            </a:r>
          </a:p>
        </p:txBody>
      </p:sp>
      <p:sp>
        <p:nvSpPr>
          <p:cNvPr id="21" name="candidate-box-626">
            <a:extLst xmlns:a="http://schemas.openxmlformats.org/drawingml/2006/main">
              <a:ext uri="{FF2B5EF4-FFF2-40B4-BE49-F238E27FC236}">
                <a16:creationId xmlns:a16="http://schemas.microsoft.com/office/drawing/2014/main" id="{022157A4-5D81-416A-9C8F-5FC68B6EB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867150"/>
            <a:ext cx="2762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0000"/>
            </a:solidFill>
            <a:prstDash val="solid"/>
          </a:ln>
        </p:spPr>
      </p:sp>
      <p:sp>
        <p:nvSpPr>
          <p:cNvPr id="22" name="candidate-text-627">
            <a:extLst xmlns:a="http://schemas.openxmlformats.org/drawingml/2006/main">
              <a:ext uri="{FF2B5EF4-FFF2-40B4-BE49-F238E27FC236}">
                <a16:creationId xmlns:a16="http://schemas.microsoft.com/office/drawing/2014/main" id="{A00C06F0-7594-4200-AEF3-ED58088DF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14775"/>
            <a:ext cx="26289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000000"/>
                </a:solidFill>
              </a:defRPr>
            </a:pPr>
            <a:r>
              <a:rPr b="1">
                <a:latin typeface="Droid Sans Fallback"/>
                <a:ea typeface="Droid Sans Fallback"/>
                <a:cs typeface="Droid Sans Fallback"/>
              </a:rPr>
              <a:t>最新状态＋最近变化</a:t>
            </a:r>
          </a:p>
        </p:txBody>
      </p:sp>
      <p:sp>
        <p:nvSpPr>
          <p:cNvPr id="23" name="candidate-text-628">
            <a:extLst xmlns:a="http://schemas.openxmlformats.org/drawingml/2006/main">
              <a:ext uri="{FF2B5EF4-FFF2-40B4-BE49-F238E27FC236}">
                <a16:creationId xmlns:a16="http://schemas.microsoft.com/office/drawing/2014/main" id="{EDE27042-EAB6-4BFB-AAA8-00A0140BB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10050"/>
            <a:ext cx="2628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575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进度、人员占用、已知扰动</a:t>
            </a:r>
          </a:p>
        </p:txBody>
      </p:sp>
      <p:cxnSp>
        <p:nvCxnSpPr>
          <p:cNvPr id="24" name="candidate-arrow-629">
            <a:extLst xmlns:a="http://schemas.openxmlformats.org/drawingml/2006/main">
              <a:ext uri="{FF2B5EF4-FFF2-40B4-BE49-F238E27FC236}">
                <a16:creationId xmlns:a16="http://schemas.microsoft.com/office/drawing/2014/main" id="{F04A0524-0E78-493E-800B-3C2C85AA51CD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2000250" y="3600450"/>
            <a:ext cx="0" cy="26670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000000"/>
            </a:solidFill>
            <a:prstDash val="solid"/>
            <a:tailEnd type="triangle" w="sm" len="sm"/>
          </a:ln>
        </p:spPr>
      </p:cxnSp>
      <p:sp>
        <p:nvSpPr>
          <p:cNvPr id="25" name="candidate-box-630">
            <a:extLst xmlns:a="http://schemas.openxmlformats.org/drawingml/2006/main">
              <a:ext uri="{FF2B5EF4-FFF2-40B4-BE49-F238E27FC236}">
                <a16:creationId xmlns:a16="http://schemas.microsoft.com/office/drawing/2014/main" id="{24583BFD-7570-4F43-8D0F-B504DFD93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476375"/>
            <a:ext cx="7839075" cy="3190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0000"/>
            </a:solidFill>
            <a:prstDash val="solid"/>
          </a:ln>
        </p:spPr>
      </p:sp>
      <p:sp>
        <p:nvSpPr>
          <p:cNvPr id="26" name="candidate-text-631">
            <a:extLst xmlns:a="http://schemas.openxmlformats.org/drawingml/2006/main">
              <a:ext uri="{FF2B5EF4-FFF2-40B4-BE49-F238E27FC236}">
                <a16:creationId xmlns:a16="http://schemas.microsoft.com/office/drawing/2014/main" id="{BFC1B7AD-0AF4-4B32-AE7F-1B5293D17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1562100"/>
            <a:ext cx="7572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000000"/>
                </a:solidFill>
              </a:defRPr>
            </a:pPr>
            <a:r>
              <a:rPr b="1">
                <a:latin typeface="Droid Sans Fallback"/>
                <a:ea typeface="Droid Sans Fallback"/>
                <a:cs typeface="Droid Sans Fallback"/>
              </a:rPr>
              <a:t>完整固定预测副本</a:t>
            </a:r>
          </a:p>
        </p:txBody>
      </p:sp>
      <p:sp>
        <p:nvSpPr>
          <p:cNvPr id="27" name="candidate-box-632">
            <a:extLst xmlns:a="http://schemas.openxmlformats.org/drawingml/2006/main">
              <a:ext uri="{FF2B5EF4-FFF2-40B4-BE49-F238E27FC236}">
                <a16:creationId xmlns:a16="http://schemas.microsoft.com/office/drawing/2014/main" id="{3CDC1F78-203D-4059-AE9D-7D1F8D531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1990725"/>
            <a:ext cx="1990725" cy="2228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0000"/>
            </a:solidFill>
            <a:prstDash val="solid"/>
          </a:ln>
        </p:spPr>
      </p:sp>
      <p:sp>
        <p:nvSpPr>
          <p:cNvPr id="28" name="candidate-text-633">
            <a:extLst xmlns:a="http://schemas.openxmlformats.org/drawingml/2006/main">
              <a:ext uri="{FF2B5EF4-FFF2-40B4-BE49-F238E27FC236}">
                <a16:creationId xmlns:a16="http://schemas.microsoft.com/office/drawing/2014/main" id="{23F58C59-2688-427E-A147-3EB7FB3A8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2057400"/>
            <a:ext cx="1857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000000"/>
                </a:solidFill>
              </a:defRPr>
            </a:pPr>
            <a:r>
              <a:rPr b="1">
                <a:latin typeface="Droid Sans Fallback"/>
                <a:ea typeface="Droid Sans Fallback"/>
                <a:cs typeface="Droid Sans Fallback"/>
              </a:rPr>
              <a:t>完整图编码</a:t>
            </a:r>
          </a:p>
        </p:txBody>
      </p:sp>
      <p:sp>
        <p:nvSpPr>
          <p:cNvPr id="29" name="candidate-text-634">
            <a:extLst xmlns:a="http://schemas.openxmlformats.org/drawingml/2006/main">
              <a:ext uri="{FF2B5EF4-FFF2-40B4-BE49-F238E27FC236}">
                <a16:creationId xmlns:a16="http://schemas.microsoft.com/office/drawing/2014/main" id="{299F36C1-8A0F-44A6-A851-107A7090F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2409825"/>
            <a:ext cx="1857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00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500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全部可见工序与资源</a:t>
            </a:r>
          </a:p>
        </p:txBody>
      </p:sp>
      <p:sp>
        <p:nvSpPr>
          <p:cNvPr id="30" name="candidate-box-635">
            <a:extLst xmlns:a="http://schemas.openxmlformats.org/drawingml/2006/main">
              <a:ext uri="{FF2B5EF4-FFF2-40B4-BE49-F238E27FC236}">
                <a16:creationId xmlns:a16="http://schemas.microsoft.com/office/drawing/2014/main" id="{CDC2710B-4707-4FE2-9693-EDFF58311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5478" y="27241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00000"/>
            </a:solidFill>
            <a:prstDash val="solid"/>
          </a:ln>
        </p:spPr>
      </p:sp>
      <p:sp>
        <p:nvSpPr>
          <p:cNvPr id="31" name="candidate-text-636">
            <a:extLst xmlns:a="http://schemas.openxmlformats.org/drawingml/2006/main">
              <a:ext uri="{FF2B5EF4-FFF2-40B4-BE49-F238E27FC236}">
                <a16:creationId xmlns:a16="http://schemas.microsoft.com/office/drawing/2014/main" id="{8E395C2B-2C01-44FE-AE02-47F8EF5BF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5478" y="2724150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已完</a:t>
            </a:r>
          </a:p>
        </p:txBody>
      </p:sp>
      <p:sp>
        <p:nvSpPr>
          <p:cNvPr id="32" name="candidate-box-637">
            <a:extLst xmlns:a="http://schemas.openxmlformats.org/drawingml/2006/main">
              <a:ext uri="{FF2B5EF4-FFF2-40B4-BE49-F238E27FC236}">
                <a16:creationId xmlns:a16="http://schemas.microsoft.com/office/drawing/2014/main" id="{DAB6275D-E08D-4CE2-9B62-F94A3A75B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1397" y="27241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00000"/>
            </a:solidFill>
            <a:prstDash val="solid"/>
          </a:ln>
        </p:spPr>
      </p:sp>
      <p:sp>
        <p:nvSpPr>
          <p:cNvPr id="33" name="candidate-text-638">
            <a:extLst xmlns:a="http://schemas.openxmlformats.org/drawingml/2006/main">
              <a:ext uri="{FF2B5EF4-FFF2-40B4-BE49-F238E27FC236}">
                <a16:creationId xmlns:a16="http://schemas.microsoft.com/office/drawing/2014/main" id="{8C70B2BE-9964-4871-B195-2D6C38A87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1397" y="2724150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未完</a:t>
            </a:r>
          </a:p>
        </p:txBody>
      </p:sp>
      <p:sp>
        <p:nvSpPr>
          <p:cNvPr id="34" name="candidate-box-639">
            <a:extLst xmlns:a="http://schemas.openxmlformats.org/drawingml/2006/main">
              <a:ext uri="{FF2B5EF4-FFF2-40B4-BE49-F238E27FC236}">
                <a16:creationId xmlns:a16="http://schemas.microsoft.com/office/drawing/2014/main" id="{85FE31A9-9E52-40C2-91E8-95F0142F8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5478" y="32766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00000"/>
            </a:solidFill>
            <a:prstDash val="solid"/>
          </a:ln>
        </p:spPr>
      </p:sp>
      <p:sp>
        <p:nvSpPr>
          <p:cNvPr id="35" name="candidate-text-640">
            <a:extLst xmlns:a="http://schemas.openxmlformats.org/drawingml/2006/main">
              <a:ext uri="{FF2B5EF4-FFF2-40B4-BE49-F238E27FC236}">
                <a16:creationId xmlns:a16="http://schemas.microsoft.com/office/drawing/2014/main" id="{332C5659-B71E-409C-8843-23D1E5658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5478" y="3276600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未完</a:t>
            </a:r>
          </a:p>
        </p:txBody>
      </p:sp>
      <p:sp>
        <p:nvSpPr>
          <p:cNvPr id="36" name="candidate-box-641">
            <a:extLst xmlns:a="http://schemas.openxmlformats.org/drawingml/2006/main">
              <a:ext uri="{FF2B5EF4-FFF2-40B4-BE49-F238E27FC236}">
                <a16:creationId xmlns:a16="http://schemas.microsoft.com/office/drawing/2014/main" id="{F14BD823-F04C-4DCA-A16D-12C7CB71E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1397" y="32766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00000"/>
            </a:solidFill>
            <a:prstDash val="solid"/>
          </a:ln>
        </p:spPr>
      </p:sp>
      <p:sp>
        <p:nvSpPr>
          <p:cNvPr id="37" name="candidate-text-642">
            <a:extLst xmlns:a="http://schemas.openxmlformats.org/drawingml/2006/main">
              <a:ext uri="{FF2B5EF4-FFF2-40B4-BE49-F238E27FC236}">
                <a16:creationId xmlns:a16="http://schemas.microsoft.com/office/drawing/2014/main" id="{A668B3DF-C55C-4DFD-86DE-1AC3C3888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1397" y="3276600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后续</a:t>
            </a:r>
          </a:p>
        </p:txBody>
      </p:sp>
      <p:cxnSp>
        <p:nvCxnSpPr>
          <p:cNvPr id="38" name="candidate-arrow-643">
            <a:extLst xmlns:a="http://schemas.openxmlformats.org/drawingml/2006/main">
              <a:ext uri="{FF2B5EF4-FFF2-40B4-BE49-F238E27FC236}">
                <a16:creationId xmlns:a16="http://schemas.microsoft.com/office/drawing/2014/main" id="{A53081E0-5D53-44F3-A332-19A1A2CD7E30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4643628" y="2943225"/>
            <a:ext cx="437769" cy="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000000"/>
            </a:solidFill>
            <a:prstDash val="solid"/>
            <a:tailEnd type="triangle" w="sm" len="sm"/>
          </a:ln>
        </p:spPr>
      </p:cxnSp>
      <p:sp>
        <p:nvSpPr>
          <p:cNvPr id="39" name="candidate-line-644">
            <a:extLst xmlns:a="http://schemas.openxmlformats.org/drawingml/2006/main">
              <a:ext uri="{FF2B5EF4-FFF2-40B4-BE49-F238E27FC236}">
                <a16:creationId xmlns:a16="http://schemas.microsoft.com/office/drawing/2014/main" id="{76423E4B-40FB-45FD-B109-5D2ADDAE5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300472" y="3162300"/>
            <a:ext cx="0" cy="857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00000"/>
            </a:solidFill>
            <a:prstDash val="solid"/>
          </a:ln>
        </p:spPr>
      </p:sp>
      <p:sp>
        <p:nvSpPr>
          <p:cNvPr id="40" name="candidate-line-645">
            <a:extLst xmlns:a="http://schemas.openxmlformats.org/drawingml/2006/main">
              <a:ext uri="{FF2B5EF4-FFF2-40B4-BE49-F238E27FC236}">
                <a16:creationId xmlns:a16="http://schemas.microsoft.com/office/drawing/2014/main" id="{AA149361-7331-49C9-B6A2-EF97C680B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4424553" y="3248025"/>
            <a:ext cx="87591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00000"/>
            </a:solidFill>
            <a:prstDash val="solid"/>
          </a:ln>
        </p:spPr>
      </p:sp>
      <p:cxnSp>
        <p:nvCxnSpPr>
          <p:cNvPr id="41" name="candidate-arrow-646">
            <a:extLst xmlns:a="http://schemas.openxmlformats.org/drawingml/2006/main">
              <a:ext uri="{FF2B5EF4-FFF2-40B4-BE49-F238E27FC236}">
                <a16:creationId xmlns:a16="http://schemas.microsoft.com/office/drawing/2014/main" id="{7E888B78-824B-41AB-9DF6-C00B6692B601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4424553" y="3248025"/>
            <a:ext cx="0" cy="28575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000000"/>
            </a:solidFill>
            <a:prstDash val="solid"/>
            <a:tailEnd type="triangle" w="sm" len="sm"/>
          </a:ln>
        </p:spPr>
      </p:cxnSp>
      <p:cxnSp>
        <p:nvCxnSpPr>
          <p:cNvPr id="42" name="candidate-arrow-647">
            <a:extLst xmlns:a="http://schemas.openxmlformats.org/drawingml/2006/main">
              <a:ext uri="{FF2B5EF4-FFF2-40B4-BE49-F238E27FC236}">
                <a16:creationId xmlns:a16="http://schemas.microsoft.com/office/drawing/2014/main" id="{86CC5781-F899-43F6-AA7B-3972C0860E92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4643628" y="3495675"/>
            <a:ext cx="437769" cy="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000000"/>
            </a:solidFill>
            <a:prstDash val="solid"/>
            <a:tailEnd type="triangle" w="sm" len="sm"/>
          </a:ln>
        </p:spPr>
      </p:cxnSp>
      <p:sp>
        <p:nvSpPr>
          <p:cNvPr id="43" name="candidate-text-648">
            <a:extLst xmlns:a="http://schemas.openxmlformats.org/drawingml/2006/main">
              <a:ext uri="{FF2B5EF4-FFF2-40B4-BE49-F238E27FC236}">
                <a16:creationId xmlns:a16="http://schemas.microsoft.com/office/drawing/2014/main" id="{4BCAB06D-8BAD-4717-9707-AE7D1ED3C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3857625"/>
            <a:ext cx="18573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425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425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保留前序及资源上下文</a:t>
            </a:r>
          </a:p>
        </p:txBody>
      </p:sp>
      <p:sp>
        <p:nvSpPr>
          <p:cNvPr id="44" name="candidate-box-649">
            <a:extLst xmlns:a="http://schemas.openxmlformats.org/drawingml/2006/main">
              <a:ext uri="{FF2B5EF4-FFF2-40B4-BE49-F238E27FC236}">
                <a16:creationId xmlns:a16="http://schemas.microsoft.com/office/drawing/2014/main" id="{A0B063A4-E46A-4DB7-A08E-4D0F78C59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990725"/>
            <a:ext cx="2695575" cy="2228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0000"/>
            </a:solidFill>
            <a:prstDash val="solid"/>
          </a:ln>
        </p:spPr>
      </p:sp>
      <p:sp>
        <p:nvSpPr>
          <p:cNvPr id="45" name="candidate-text-650">
            <a:extLst xmlns:a="http://schemas.openxmlformats.org/drawingml/2006/main">
              <a:ext uri="{FF2B5EF4-FFF2-40B4-BE49-F238E27FC236}">
                <a16:creationId xmlns:a16="http://schemas.microsoft.com/office/drawing/2014/main" id="{B653A706-E2D4-474A-9613-0A18848D8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057400"/>
            <a:ext cx="25622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000000"/>
                </a:solidFill>
              </a:defRPr>
            </a:pPr>
            <a:r>
              <a:rPr b="1">
                <a:latin typeface="Droid Sans Fallback"/>
                <a:ea typeface="Droid Sans Fallback"/>
                <a:cs typeface="Droid Sans Fallback"/>
              </a:rPr>
              <a:t>分层汇总与</a:t>
            </a:r>
            <a:r>
              <a:rPr b="1">
                <a:latin typeface="Nimbus Roman"/>
                <a:ea typeface="Nimbus Roman"/>
                <a:cs typeface="Nimbus Roman"/>
              </a:rPr>
              <a:t>MLP</a:t>
            </a:r>
            <a:r>
              <a:rPr b="1">
                <a:latin typeface="Droid Sans Fallback"/>
                <a:ea typeface="Droid Sans Fallback"/>
                <a:cs typeface="Droid Sans Fallback"/>
              </a:rPr>
              <a:t>融合</a:t>
            </a:r>
          </a:p>
        </p:txBody>
      </p:sp>
      <p:sp>
        <p:nvSpPr>
          <p:cNvPr id="46" name="candidate-box-651">
            <a:extLst xmlns:a="http://schemas.openxmlformats.org/drawingml/2006/main">
              <a:ext uri="{FF2B5EF4-FFF2-40B4-BE49-F238E27FC236}">
                <a16:creationId xmlns:a16="http://schemas.microsoft.com/office/drawing/2014/main" id="{58DC2E1E-7214-46ED-A37D-4B14F48F2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438400"/>
            <a:ext cx="250507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0000"/>
            </a:solidFill>
            <a:prstDash val="solid"/>
          </a:ln>
        </p:spPr>
      </p:sp>
      <p:sp>
        <p:nvSpPr>
          <p:cNvPr id="47" name="candidate-text-652">
            <a:extLst xmlns:a="http://schemas.openxmlformats.org/drawingml/2006/main">
              <a:ext uri="{FF2B5EF4-FFF2-40B4-BE49-F238E27FC236}">
                <a16:creationId xmlns:a16="http://schemas.microsoft.com/office/drawing/2014/main" id="{1EAC2106-9466-4A6A-90A0-64E306C60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466975"/>
            <a:ext cx="2428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000000"/>
                </a:solidFill>
              </a:defRPr>
            </a:pPr>
            <a:r>
              <a:rPr b="1">
                <a:latin typeface="Droid Sans Fallback"/>
                <a:ea typeface="Droid Sans Fallback"/>
                <a:cs typeface="Droid Sans Fallback"/>
              </a:rPr>
              <a:t>飞机摘要</a:t>
            </a:r>
          </a:p>
        </p:txBody>
      </p:sp>
      <p:sp>
        <p:nvSpPr>
          <p:cNvPr id="48" name="candidate-text-653">
            <a:extLst xmlns:a="http://schemas.openxmlformats.org/drawingml/2006/main">
              <a:ext uri="{FF2B5EF4-FFF2-40B4-BE49-F238E27FC236}">
                <a16:creationId xmlns:a16="http://schemas.microsoft.com/office/drawing/2014/main" id="{CE028FB5-0AFA-44F5-9B13-86D352DA6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695575"/>
            <a:ext cx="2428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00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500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未完任务与执行进度</a:t>
            </a:r>
          </a:p>
        </p:txBody>
      </p:sp>
      <p:cxnSp>
        <p:nvCxnSpPr>
          <p:cNvPr id="49" name="candidate-arrow-654">
            <a:extLst xmlns:a="http://schemas.openxmlformats.org/drawingml/2006/main">
              <a:ext uri="{FF2B5EF4-FFF2-40B4-BE49-F238E27FC236}">
                <a16:creationId xmlns:a16="http://schemas.microsoft.com/office/drawing/2014/main" id="{41D3EEA5-C3B3-4022-B1D5-2583B852F5F4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7462838" y="2924175"/>
            <a:ext cx="0" cy="9525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000000"/>
            </a:solidFill>
            <a:prstDash val="solid"/>
            <a:tailEnd type="triangle" w="sm" len="sm"/>
          </a:ln>
        </p:spPr>
      </p:cxnSp>
      <p:sp>
        <p:nvSpPr>
          <p:cNvPr id="50" name="candidate-box-655">
            <a:extLst xmlns:a="http://schemas.openxmlformats.org/drawingml/2006/main">
              <a:ext uri="{FF2B5EF4-FFF2-40B4-BE49-F238E27FC236}">
                <a16:creationId xmlns:a16="http://schemas.microsoft.com/office/drawing/2014/main" id="{0D3BC95D-62A9-4BAE-AE35-5DC080BF1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019425"/>
            <a:ext cx="250507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0000"/>
            </a:solidFill>
            <a:prstDash val="solid"/>
          </a:ln>
        </p:spPr>
      </p:sp>
      <p:sp>
        <p:nvSpPr>
          <p:cNvPr id="51" name="candidate-text-656">
            <a:extLst xmlns:a="http://schemas.openxmlformats.org/drawingml/2006/main">
              <a:ext uri="{FF2B5EF4-FFF2-40B4-BE49-F238E27FC236}">
                <a16:creationId xmlns:a16="http://schemas.microsoft.com/office/drawing/2014/main" id="{81739B8F-C228-4FC1-B253-07962D040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048000"/>
            <a:ext cx="2428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000000"/>
                </a:solidFill>
              </a:defRPr>
            </a:pPr>
            <a:r>
              <a:rPr b="1">
                <a:latin typeface="Droid Sans Fallback"/>
                <a:ea typeface="Droid Sans Fallback"/>
                <a:cs typeface="Droid Sans Fallback"/>
              </a:rPr>
              <a:t>站位任务与资源</a:t>
            </a:r>
          </a:p>
        </p:txBody>
      </p:sp>
      <p:sp>
        <p:nvSpPr>
          <p:cNvPr id="52" name="candidate-text-657">
            <a:extLst xmlns:a="http://schemas.openxmlformats.org/drawingml/2006/main">
              <a:ext uri="{FF2B5EF4-FFF2-40B4-BE49-F238E27FC236}">
                <a16:creationId xmlns:a16="http://schemas.microsoft.com/office/drawing/2014/main" id="{ACEC14F7-B486-416E-8407-1923F0A5A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276600"/>
            <a:ext cx="2428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00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500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当前／下一任务、本站人员</a:t>
            </a:r>
          </a:p>
        </p:txBody>
      </p:sp>
      <p:cxnSp>
        <p:nvCxnSpPr>
          <p:cNvPr id="53" name="candidate-arrow-658">
            <a:extLst xmlns:a="http://schemas.openxmlformats.org/drawingml/2006/main">
              <a:ext uri="{FF2B5EF4-FFF2-40B4-BE49-F238E27FC236}">
                <a16:creationId xmlns:a16="http://schemas.microsoft.com/office/drawing/2014/main" id="{13FCCAFC-F226-46B1-BB78-2D3C8280DD10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7462838" y="3505200"/>
            <a:ext cx="0" cy="9525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000000"/>
            </a:solidFill>
            <a:prstDash val="solid"/>
            <a:tailEnd type="triangle" w="sm" len="sm"/>
          </a:ln>
        </p:spPr>
      </p:cxnSp>
      <p:sp>
        <p:nvSpPr>
          <p:cNvPr id="54" name="candidate-box-659">
            <a:extLst xmlns:a="http://schemas.openxmlformats.org/drawingml/2006/main">
              <a:ext uri="{FF2B5EF4-FFF2-40B4-BE49-F238E27FC236}">
                <a16:creationId xmlns:a16="http://schemas.microsoft.com/office/drawing/2014/main" id="{E2E4BD39-31E9-4CB2-8CF9-99CDBE6BB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600450"/>
            <a:ext cx="250507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0000"/>
            </a:solidFill>
            <a:prstDash val="solid"/>
          </a:ln>
        </p:spPr>
      </p:sp>
      <p:sp>
        <p:nvSpPr>
          <p:cNvPr id="55" name="candidate-text-660">
            <a:extLst xmlns:a="http://schemas.openxmlformats.org/drawingml/2006/main">
              <a:ext uri="{FF2B5EF4-FFF2-40B4-BE49-F238E27FC236}">
                <a16:creationId xmlns:a16="http://schemas.microsoft.com/office/drawing/2014/main" id="{EE76DC6A-9860-4EA9-BDFB-C0B1E26D9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629025"/>
            <a:ext cx="2428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000000"/>
                </a:solidFill>
              </a:defRPr>
            </a:pPr>
            <a:r>
              <a:rPr b="1">
                <a:latin typeface="Droid Sans Fallback"/>
                <a:ea typeface="Droid Sans Fallback"/>
                <a:cs typeface="Droid Sans Fallback"/>
              </a:rPr>
              <a:t>整线状态</a:t>
            </a:r>
          </a:p>
        </p:txBody>
      </p:sp>
      <p:sp>
        <p:nvSpPr>
          <p:cNvPr id="56" name="candidate-text-661">
            <a:extLst xmlns:a="http://schemas.openxmlformats.org/drawingml/2006/main">
              <a:ext uri="{FF2B5EF4-FFF2-40B4-BE49-F238E27FC236}">
                <a16:creationId xmlns:a16="http://schemas.microsoft.com/office/drawing/2014/main" id="{C94B4A3D-7AAA-4B63-93B7-8949CD71B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857625"/>
            <a:ext cx="2428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00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500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各站负荷与待投产数量</a:t>
            </a:r>
          </a:p>
        </p:txBody>
      </p:sp>
      <p:sp>
        <p:nvSpPr>
          <p:cNvPr id="57" name="candidate-box-662">
            <a:extLst xmlns:a="http://schemas.openxmlformats.org/drawingml/2006/main">
              <a:ext uri="{FF2B5EF4-FFF2-40B4-BE49-F238E27FC236}">
                <a16:creationId xmlns:a16="http://schemas.microsoft.com/office/drawing/2014/main" id="{94647600-7AEC-4E46-A92B-FB2B72F20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1990725"/>
            <a:ext cx="2390775" cy="2228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0000"/>
            </a:solidFill>
            <a:prstDash val="solid"/>
          </a:ln>
        </p:spPr>
      </p:sp>
      <p:sp>
        <p:nvSpPr>
          <p:cNvPr id="58" name="candidate-text-663">
            <a:extLst xmlns:a="http://schemas.openxmlformats.org/drawingml/2006/main">
              <a:ext uri="{FF2B5EF4-FFF2-40B4-BE49-F238E27FC236}">
                <a16:creationId xmlns:a16="http://schemas.microsoft.com/office/drawing/2014/main" id="{16627601-9740-4087-A061-F60105F09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057400"/>
            <a:ext cx="22574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000000"/>
                </a:solidFill>
              </a:defRPr>
            </a:pPr>
            <a:r>
              <a:rPr b="1">
                <a:latin typeface="Droid Sans Fallback"/>
                <a:ea typeface="Droid Sans Fallback"/>
                <a:cs typeface="Droid Sans Fallback"/>
              </a:rPr>
              <a:t>当前与紧邻下一周期</a:t>
            </a:r>
          </a:p>
        </p:txBody>
      </p:sp>
      <p:sp>
        <p:nvSpPr>
          <p:cNvPr id="59" name="candidate-box-664">
            <a:extLst xmlns:a="http://schemas.openxmlformats.org/drawingml/2006/main">
              <a:ext uri="{FF2B5EF4-FFF2-40B4-BE49-F238E27FC236}">
                <a16:creationId xmlns:a16="http://schemas.microsoft.com/office/drawing/2014/main" id="{4D067466-E1FC-49D6-A935-2E0BA43AC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2447925"/>
            <a:ext cx="2200275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0000"/>
            </a:solidFill>
            <a:prstDash val="solid"/>
          </a:ln>
        </p:spPr>
      </p:sp>
      <p:sp>
        <p:nvSpPr>
          <p:cNvPr id="60" name="candidate-text-665">
            <a:extLst xmlns:a="http://schemas.openxmlformats.org/drawingml/2006/main">
              <a:ext uri="{FF2B5EF4-FFF2-40B4-BE49-F238E27FC236}">
                <a16:creationId xmlns:a16="http://schemas.microsoft.com/office/drawing/2014/main" id="{FE704426-D3CC-4761-8281-E69FE256B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495550"/>
            <a:ext cx="20669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000000"/>
                </a:solidFill>
              </a:defRPr>
            </a:pPr>
            <a:r>
              <a:rPr b="1">
                <a:latin typeface="Droid Sans Fallback"/>
                <a:ea typeface="Droid Sans Fallback"/>
                <a:cs typeface="Droid Sans Fallback"/>
              </a:rPr>
              <a:t>当前共同脉动</a:t>
            </a:r>
          </a:p>
        </p:txBody>
      </p:sp>
      <p:sp>
        <p:nvSpPr>
          <p:cNvPr id="61" name="candidate-text-666">
            <a:extLst xmlns:a="http://schemas.openxmlformats.org/drawingml/2006/main">
              <a:ext uri="{FF2B5EF4-FFF2-40B4-BE49-F238E27FC236}">
                <a16:creationId xmlns:a16="http://schemas.microsoft.com/office/drawing/2014/main" id="{8193BC36-0AA7-4F02-9290-0068410AA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790825"/>
            <a:ext cx="20669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575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启发式估计＋时间修正</a:t>
            </a:r>
          </a:p>
        </p:txBody>
      </p:sp>
      <p:sp>
        <p:nvSpPr>
          <p:cNvPr id="62" name="candidate-box-667">
            <a:extLst xmlns:a="http://schemas.openxmlformats.org/drawingml/2006/main">
              <a:ext uri="{FF2B5EF4-FFF2-40B4-BE49-F238E27FC236}">
                <a16:creationId xmlns:a16="http://schemas.microsoft.com/office/drawing/2014/main" id="{D884BF9E-7020-4696-843D-9AED0C31E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3248025"/>
            <a:ext cx="220027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0000"/>
            </a:solidFill>
            <a:prstDash val="solid"/>
          </a:ln>
        </p:spPr>
      </p:sp>
      <p:sp>
        <p:nvSpPr>
          <p:cNvPr id="63" name="candidate-text-668">
            <a:extLst xmlns:a="http://schemas.openxmlformats.org/drawingml/2006/main">
              <a:ext uri="{FF2B5EF4-FFF2-40B4-BE49-F238E27FC236}">
                <a16:creationId xmlns:a16="http://schemas.microsoft.com/office/drawing/2014/main" id="{6861580A-4447-44A7-BBEC-80A3CBA1E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295650"/>
            <a:ext cx="21050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75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000000"/>
                </a:solidFill>
              </a:defRPr>
            </a:pPr>
            <a:r>
              <a:rPr b="1">
                <a:latin typeface="Droid Sans Fallback"/>
                <a:ea typeface="Droid Sans Fallback"/>
                <a:cs typeface="Droid Sans Fallback"/>
              </a:rPr>
              <a:t>下一周期各站就绪偏差</a:t>
            </a:r>
          </a:p>
        </p:txBody>
      </p:sp>
      <p:sp>
        <p:nvSpPr>
          <p:cNvPr id="64" name="candidate-box-669">
            <a:extLst xmlns:a="http://schemas.openxmlformats.org/drawingml/2006/main">
              <a:ext uri="{FF2B5EF4-FFF2-40B4-BE49-F238E27FC236}">
                <a16:creationId xmlns:a16="http://schemas.microsoft.com/office/drawing/2014/main" id="{09F9C75C-F9DA-4DEB-ACB3-DD2FD2EAD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590925"/>
            <a:ext cx="38290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0000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00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500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Δ</a:t>
            </a:r>
            <a:r>
              <a:rPr b="0">
                <a:latin typeface="Nimbus Roman"/>
                <a:ea typeface="Nimbus Roman"/>
                <a:cs typeface="Nimbus Roman"/>
              </a:rPr>
              <a:t>1</a:t>
            </a:r>
          </a:p>
        </p:txBody>
      </p:sp>
      <p:sp>
        <p:nvSpPr>
          <p:cNvPr id="65" name="candidate-box-670">
            <a:extLst xmlns:a="http://schemas.openxmlformats.org/drawingml/2006/main">
              <a:ext uri="{FF2B5EF4-FFF2-40B4-BE49-F238E27FC236}">
                <a16:creationId xmlns:a16="http://schemas.microsoft.com/office/drawing/2014/main" id="{5CE79EE4-12D5-4659-923B-25194C08D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1680" y="3590925"/>
            <a:ext cx="38290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0000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00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500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Δ</a:t>
            </a:r>
            <a:r>
              <a:rPr b="0">
                <a:latin typeface="Nimbus Roman"/>
                <a:ea typeface="Nimbus Roman"/>
                <a:cs typeface="Nimbus Roman"/>
              </a:rPr>
              <a:t>2</a:t>
            </a:r>
          </a:p>
        </p:txBody>
      </p:sp>
      <p:sp>
        <p:nvSpPr>
          <p:cNvPr id="66" name="candidate-box-671">
            <a:extLst xmlns:a="http://schemas.openxmlformats.org/drawingml/2006/main">
              <a:ext uri="{FF2B5EF4-FFF2-40B4-BE49-F238E27FC236}">
                <a16:creationId xmlns:a16="http://schemas.microsoft.com/office/drawing/2014/main" id="{A94639AD-159F-46BC-BA6B-1A2F7492C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2210" y="3590925"/>
            <a:ext cx="38290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0000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00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500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Δ</a:t>
            </a:r>
            <a:r>
              <a:rPr b="0">
                <a:latin typeface="Nimbus Roman"/>
                <a:ea typeface="Nimbus Roman"/>
                <a:cs typeface="Nimbus Roman"/>
              </a:rPr>
              <a:t>3</a:t>
            </a:r>
          </a:p>
        </p:txBody>
      </p:sp>
      <p:sp>
        <p:nvSpPr>
          <p:cNvPr id="67" name="candidate-box-672">
            <a:extLst xmlns:a="http://schemas.openxmlformats.org/drawingml/2006/main">
              <a:ext uri="{FF2B5EF4-FFF2-40B4-BE49-F238E27FC236}">
                <a16:creationId xmlns:a16="http://schemas.microsoft.com/office/drawing/2014/main" id="{93CAD62D-F111-4B58-932C-3C2607956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2740" y="3590925"/>
            <a:ext cx="38290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0000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00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500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Δ</a:t>
            </a:r>
            <a:r>
              <a:rPr b="0">
                <a:latin typeface="Nimbus Roman"/>
                <a:ea typeface="Nimbus Roman"/>
                <a:cs typeface="Nimbus Roman"/>
              </a:rPr>
              <a:t>4</a:t>
            </a:r>
          </a:p>
        </p:txBody>
      </p:sp>
      <p:sp>
        <p:nvSpPr>
          <p:cNvPr id="68" name="candidate-box-673">
            <a:extLst xmlns:a="http://schemas.openxmlformats.org/drawingml/2006/main">
              <a:ext uri="{FF2B5EF4-FFF2-40B4-BE49-F238E27FC236}">
                <a16:creationId xmlns:a16="http://schemas.microsoft.com/office/drawing/2014/main" id="{828ECFB4-BB32-45F9-ACEB-4DECF90BB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3270" y="3590925"/>
            <a:ext cx="38290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0000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00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500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Δ</a:t>
            </a:r>
            <a:r>
              <a:rPr b="0">
                <a:latin typeface="Nimbus Roman"/>
                <a:ea typeface="Nimbus Roman"/>
                <a:cs typeface="Nimbus Roman"/>
              </a:rPr>
              <a:t>5</a:t>
            </a:r>
          </a:p>
        </p:txBody>
      </p:sp>
      <p:sp>
        <p:nvSpPr>
          <p:cNvPr id="69" name="candidate-text-674">
            <a:extLst xmlns:a="http://schemas.openxmlformats.org/drawingml/2006/main">
              <a:ext uri="{FF2B5EF4-FFF2-40B4-BE49-F238E27FC236}">
                <a16:creationId xmlns:a16="http://schemas.microsoft.com/office/drawing/2014/main" id="{D8CA45C5-C315-4590-8419-6C6E88078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848100"/>
            <a:ext cx="21050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425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425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正值晚，负值早</a:t>
            </a:r>
          </a:p>
        </p:txBody>
      </p:sp>
      <p:cxnSp>
        <p:nvCxnSpPr>
          <p:cNvPr id="70" name="candidate-arrow-675">
            <a:extLst xmlns:a="http://schemas.openxmlformats.org/drawingml/2006/main">
              <a:ext uri="{FF2B5EF4-FFF2-40B4-BE49-F238E27FC236}">
                <a16:creationId xmlns:a16="http://schemas.microsoft.com/office/drawing/2014/main" id="{8D29ADCB-E3F8-44DC-AAD2-42949755A984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5857875" y="3105150"/>
            <a:ext cx="257175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000000"/>
            </a:solidFill>
            <a:prstDash val="solid"/>
            <a:tailEnd type="triangle" w="sm" len="sm"/>
          </a:ln>
        </p:spPr>
      </p:cxnSp>
      <p:cxnSp>
        <p:nvCxnSpPr>
          <p:cNvPr id="71" name="candidate-arrow-676">
            <a:extLst xmlns:a="http://schemas.openxmlformats.org/drawingml/2006/main">
              <a:ext uri="{FF2B5EF4-FFF2-40B4-BE49-F238E27FC236}">
                <a16:creationId xmlns:a16="http://schemas.microsoft.com/office/drawing/2014/main" id="{DDC5C710-59A7-4086-BD84-C84B432B8E0D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8810625" y="31051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000000"/>
            </a:solidFill>
            <a:prstDash val="solid"/>
            <a:tailEnd type="triangle" w="sm" len="sm"/>
          </a:ln>
        </p:spPr>
      </p:cxnSp>
      <p:sp>
        <p:nvSpPr>
          <p:cNvPr id="72" name="candidate-text-677">
            <a:extLst xmlns:a="http://schemas.openxmlformats.org/drawingml/2006/main">
              <a:ext uri="{FF2B5EF4-FFF2-40B4-BE49-F238E27FC236}">
                <a16:creationId xmlns:a16="http://schemas.microsoft.com/office/drawing/2014/main" id="{DD8FCFDD-A36F-4F9B-981B-ABAC33531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295775"/>
            <a:ext cx="75152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575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轨迹内参数固定，每次决策读取最新状态重算</a:t>
            </a:r>
          </a:p>
        </p:txBody>
      </p:sp>
      <p:sp>
        <p:nvSpPr>
          <p:cNvPr id="73" name="candidate-line-678">
            <a:extLst xmlns:a="http://schemas.openxmlformats.org/drawingml/2006/main">
              <a:ext uri="{FF2B5EF4-FFF2-40B4-BE49-F238E27FC236}">
                <a16:creationId xmlns:a16="http://schemas.microsoft.com/office/drawing/2014/main" id="{391BB82E-E3FD-4E49-B035-C0075E9B4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381375" y="4267200"/>
            <a:ext cx="228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00000"/>
            </a:solidFill>
            <a:prstDash val="solid"/>
          </a:ln>
        </p:spPr>
      </p:sp>
      <p:sp>
        <p:nvSpPr>
          <p:cNvPr id="74" name="candidate-line-679">
            <a:extLst xmlns:a="http://schemas.openxmlformats.org/drawingml/2006/main">
              <a:ext uri="{FF2B5EF4-FFF2-40B4-BE49-F238E27FC236}">
                <a16:creationId xmlns:a16="http://schemas.microsoft.com/office/drawing/2014/main" id="{D0D3FF37-6CE2-4BDE-9BD2-799FEBBB1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3609975" y="3105150"/>
            <a:ext cx="0" cy="1162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00000"/>
            </a:solidFill>
            <a:prstDash val="solid"/>
          </a:ln>
        </p:spPr>
      </p:sp>
      <p:cxnSp>
        <p:nvCxnSpPr>
          <p:cNvPr id="75" name="candidate-arrow-680">
            <a:extLst xmlns:a="http://schemas.openxmlformats.org/drawingml/2006/main">
              <a:ext uri="{FF2B5EF4-FFF2-40B4-BE49-F238E27FC236}">
                <a16:creationId xmlns:a16="http://schemas.microsoft.com/office/drawing/2014/main" id="{65A724EA-5326-4E57-AF89-A6118282B1D9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3609975" y="3105150"/>
            <a:ext cx="257175" cy="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000000"/>
            </a:solidFill>
            <a:prstDash val="solid"/>
            <a:tailEnd type="triangle" w="sm" len="sm"/>
          </a:ln>
        </p:spPr>
      </p:cxnSp>
      <p:sp>
        <p:nvSpPr>
          <p:cNvPr id="76" name="candidate-box-681">
            <a:extLst xmlns:a="http://schemas.openxmlformats.org/drawingml/2006/main">
              <a:ext uri="{FF2B5EF4-FFF2-40B4-BE49-F238E27FC236}">
                <a16:creationId xmlns:a16="http://schemas.microsoft.com/office/drawing/2014/main" id="{C400AE97-11A0-4665-9A19-4F03428F0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000625"/>
            <a:ext cx="4114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0000"/>
            </a:solidFill>
            <a:prstDash val="solid"/>
          </a:ln>
        </p:spPr>
      </p:sp>
      <p:sp>
        <p:nvSpPr>
          <p:cNvPr id="77" name="candidate-text-682">
            <a:extLst xmlns:a="http://schemas.openxmlformats.org/drawingml/2006/main">
              <a:ext uri="{FF2B5EF4-FFF2-40B4-BE49-F238E27FC236}">
                <a16:creationId xmlns:a16="http://schemas.microsoft.com/office/drawing/2014/main" id="{3487A0D7-4ACD-43AC-B5D3-E6C1A9580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5048250"/>
            <a:ext cx="39814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000000"/>
                </a:solidFill>
              </a:defRPr>
            </a:pPr>
            <a:r>
              <a:rPr b="1">
                <a:latin typeface="Droid Sans Fallback"/>
                <a:ea typeface="Droid Sans Fallback"/>
                <a:cs typeface="Droid Sans Fallback"/>
              </a:rPr>
              <a:t>独立在线图编码与分层融合</a:t>
            </a:r>
          </a:p>
        </p:txBody>
      </p:sp>
      <p:sp>
        <p:nvSpPr>
          <p:cNvPr id="78" name="candidate-text-683">
            <a:extLst xmlns:a="http://schemas.openxmlformats.org/drawingml/2006/main">
              <a:ext uri="{FF2B5EF4-FFF2-40B4-BE49-F238E27FC236}">
                <a16:creationId xmlns:a16="http://schemas.microsoft.com/office/drawing/2014/main" id="{9385C68D-D7F1-403C-BE5D-7566DA642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5343525"/>
            <a:ext cx="3981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575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在线候选表示及跨层上下文</a:t>
            </a:r>
          </a:p>
        </p:txBody>
      </p:sp>
      <p:sp>
        <p:nvSpPr>
          <p:cNvPr id="79" name="candidate-box-684">
            <a:extLst xmlns:a="http://schemas.openxmlformats.org/drawingml/2006/main">
              <a:ext uri="{FF2B5EF4-FFF2-40B4-BE49-F238E27FC236}">
                <a16:creationId xmlns:a16="http://schemas.microsoft.com/office/drawing/2014/main" id="{FAD79630-17C0-47A6-8E13-42D7C5F99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5000625"/>
            <a:ext cx="3390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0000"/>
            </a:solidFill>
            <a:prstDash val="solid"/>
          </a:ln>
        </p:spPr>
      </p:sp>
      <p:sp>
        <p:nvSpPr>
          <p:cNvPr id="80" name="candidate-text-685">
            <a:extLst xmlns:a="http://schemas.openxmlformats.org/drawingml/2006/main">
              <a:ext uri="{FF2B5EF4-FFF2-40B4-BE49-F238E27FC236}">
                <a16:creationId xmlns:a16="http://schemas.microsoft.com/office/drawing/2014/main" id="{E4A81EE9-E979-47A0-AEF5-58C6A8BC7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5048250"/>
            <a:ext cx="32575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000000"/>
                </a:solidFill>
              </a:defRPr>
            </a:pPr>
            <a:r>
              <a:rPr b="1">
                <a:latin typeface="Droid Sans Fallback"/>
                <a:ea typeface="Droid Sans Fallback"/>
                <a:cs typeface="Droid Sans Fallback"/>
              </a:rPr>
              <a:t>协同联合决策</a:t>
            </a:r>
          </a:p>
        </p:txBody>
      </p:sp>
      <p:sp>
        <p:nvSpPr>
          <p:cNvPr id="81" name="candidate-text-686">
            <a:extLst xmlns:a="http://schemas.openxmlformats.org/drawingml/2006/main">
              <a:ext uri="{FF2B5EF4-FFF2-40B4-BE49-F238E27FC236}">
                <a16:creationId xmlns:a16="http://schemas.microsoft.com/office/drawing/2014/main" id="{2DE1FAA5-125B-40D2-9625-5980444E2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5343525"/>
            <a:ext cx="3257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575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工序、目标站；留站时选队与对齐</a:t>
            </a:r>
          </a:p>
        </p:txBody>
      </p:sp>
      <p:sp>
        <p:nvSpPr>
          <p:cNvPr id="82" name="candidate-line-687">
            <a:extLst xmlns:a="http://schemas.openxmlformats.org/drawingml/2006/main">
              <a:ext uri="{FF2B5EF4-FFF2-40B4-BE49-F238E27FC236}">
                <a16:creationId xmlns:a16="http://schemas.microsoft.com/office/drawing/2014/main" id="{E6D3F0E6-D34D-4F6A-B4DB-7EBF4828D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381375" y="4267200"/>
            <a:ext cx="1238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00000"/>
            </a:solidFill>
            <a:prstDash val="solid"/>
          </a:ln>
        </p:spPr>
      </p:sp>
      <p:sp>
        <p:nvSpPr>
          <p:cNvPr id="83" name="candidate-line-688">
            <a:extLst xmlns:a="http://schemas.openxmlformats.org/drawingml/2006/main">
              <a:ext uri="{FF2B5EF4-FFF2-40B4-BE49-F238E27FC236}">
                <a16:creationId xmlns:a16="http://schemas.microsoft.com/office/drawing/2014/main" id="{BDFB3145-0300-4BEF-B5C4-EBD9DC86D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505200" y="4267200"/>
            <a:ext cx="0" cy="1085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00000"/>
            </a:solidFill>
            <a:prstDash val="solid"/>
          </a:ln>
        </p:spPr>
      </p:sp>
      <p:cxnSp>
        <p:nvCxnSpPr>
          <p:cNvPr id="84" name="candidate-arrow-689">
            <a:extLst xmlns:a="http://schemas.openxmlformats.org/drawingml/2006/main">
              <a:ext uri="{FF2B5EF4-FFF2-40B4-BE49-F238E27FC236}">
                <a16:creationId xmlns:a16="http://schemas.microsoft.com/office/drawing/2014/main" id="{72B8A6AF-9FB8-4417-8545-A5F87B3DAB9B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3505200" y="5353050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000000"/>
            </a:solidFill>
            <a:prstDash val="solid"/>
            <a:tailEnd type="triangle" w="sm" len="sm"/>
          </a:ln>
        </p:spPr>
      </p:cxnSp>
      <p:cxnSp>
        <p:nvCxnSpPr>
          <p:cNvPr id="85" name="candidate-arrow-690">
            <a:extLst xmlns:a="http://schemas.openxmlformats.org/drawingml/2006/main">
              <a:ext uri="{FF2B5EF4-FFF2-40B4-BE49-F238E27FC236}">
                <a16:creationId xmlns:a16="http://schemas.microsoft.com/office/drawing/2014/main" id="{316FB07D-B462-4B6E-AB18-D4E97934C9A8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7848600" y="5353050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000000"/>
            </a:solidFill>
            <a:prstDash val="solid"/>
            <a:tailEnd type="triangle" w="sm" len="sm"/>
          </a:ln>
        </p:spPr>
      </p:cxnSp>
      <p:cxnSp>
        <p:nvCxnSpPr>
          <p:cNvPr id="86" name="candidate-arrow-691">
            <a:extLst xmlns:a="http://schemas.openxmlformats.org/drawingml/2006/main">
              <a:ext uri="{FF2B5EF4-FFF2-40B4-BE49-F238E27FC236}">
                <a16:creationId xmlns:a16="http://schemas.microsoft.com/office/drawing/2014/main" id="{0E144AFA-114C-4A13-8572-8B212EB9CAFA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0258425" y="4667250"/>
            <a:ext cx="0" cy="333375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000000"/>
            </a:solidFill>
            <a:prstDash val="solid"/>
            <a:tailEnd type="triangle" w="sm" len="sm"/>
          </a:ln>
        </p:spPr>
      </p:cxnSp>
      <p:sp>
        <p:nvSpPr>
          <p:cNvPr id="87" name="candidate-text-692">
            <a:extLst xmlns:a="http://schemas.openxmlformats.org/drawingml/2006/main">
              <a:ext uri="{FF2B5EF4-FFF2-40B4-BE49-F238E27FC236}">
                <a16:creationId xmlns:a16="http://schemas.microsoft.com/office/drawing/2014/main" id="{D411896C-A835-4FB7-AFF8-60BFAFCF3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695825"/>
            <a:ext cx="19716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00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500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两项预测数值</a:t>
            </a:r>
          </a:p>
        </p:txBody>
      </p:sp>
      <p:sp>
        <p:nvSpPr>
          <p:cNvPr id="88" name="candidate-line-693">
            <a:extLst xmlns:a="http://schemas.openxmlformats.org/drawingml/2006/main">
              <a:ext uri="{FF2B5EF4-FFF2-40B4-BE49-F238E27FC236}">
                <a16:creationId xmlns:a16="http://schemas.microsoft.com/office/drawing/2014/main" id="{F30D5F1A-DCE7-4D3F-82E4-A56215F00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877425" y="5705475"/>
            <a:ext cx="0" cy="114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000000"/>
            </a:solidFill>
            <a:prstDash val="solid"/>
          </a:ln>
        </p:spPr>
      </p:sp>
      <p:sp>
        <p:nvSpPr>
          <p:cNvPr id="89" name="candidate-line-694">
            <a:extLst xmlns:a="http://schemas.openxmlformats.org/drawingml/2006/main">
              <a:ext uri="{FF2B5EF4-FFF2-40B4-BE49-F238E27FC236}">
                <a16:creationId xmlns:a16="http://schemas.microsoft.com/office/drawing/2014/main" id="{87D6EE93-80DA-4CC1-934B-7B80E0886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3514725" y="5819775"/>
            <a:ext cx="6362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000000"/>
            </a:solidFill>
            <a:prstDash val="solid"/>
          </a:ln>
        </p:spPr>
      </p:sp>
      <p:sp>
        <p:nvSpPr>
          <p:cNvPr id="90" name="candidate-line-695">
            <a:extLst xmlns:a="http://schemas.openxmlformats.org/drawingml/2006/main">
              <a:ext uri="{FF2B5EF4-FFF2-40B4-BE49-F238E27FC236}">
                <a16:creationId xmlns:a16="http://schemas.microsoft.com/office/drawing/2014/main" id="{92CA4B81-A244-4EFF-931D-20E6A2EBF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3514725" y="2543175"/>
            <a:ext cx="0" cy="3276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000000"/>
            </a:solidFill>
            <a:prstDash val="solid"/>
          </a:ln>
        </p:spPr>
      </p:sp>
      <p:cxnSp>
        <p:nvCxnSpPr>
          <p:cNvPr id="91" name="candidate-arrow-696">
            <a:extLst xmlns:a="http://schemas.openxmlformats.org/drawingml/2006/main">
              <a:ext uri="{FF2B5EF4-FFF2-40B4-BE49-F238E27FC236}">
                <a16:creationId xmlns:a16="http://schemas.microsoft.com/office/drawing/2014/main" id="{885F4C3C-58CE-47AB-B927-68B9868358AF}"/>
              </a:ext>
            </a:extLst>
          </p:cNvPr>
          <p:cNvCxnSpPr/>
          <p:nvPr/>
        </p:nvCxnSpPr>
        <p:spPr>
          <a:xfrm xmlns:a="http://schemas.openxmlformats.org/drawingml/2006/main" flipH="1" flipV="0">
            <a:off x="3381375" y="2543175"/>
            <a:ext cx="133350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000000"/>
            </a:solidFill>
            <a:prstDash val="solid"/>
            <a:tailEnd type="triangle" w="sm" len="sm"/>
          </a:ln>
        </p:spPr>
      </p:cxnSp>
      <p:sp>
        <p:nvSpPr>
          <p:cNvPr id="92" name="candidate-text-697">
            <a:extLst xmlns:a="http://schemas.openxmlformats.org/drawingml/2006/main">
              <a:ext uri="{FF2B5EF4-FFF2-40B4-BE49-F238E27FC236}">
                <a16:creationId xmlns:a16="http://schemas.microsoft.com/office/drawing/2014/main" id="{0801617F-FCB3-453A-806D-8E6D27B77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5000625"/>
            <a:ext cx="2619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000000"/>
                </a:solidFill>
              </a:defRPr>
            </a:pPr>
            <a:r>
              <a:rPr b="1">
                <a:latin typeface="Droid Sans Fallback"/>
                <a:ea typeface="Droid Sans Fallback"/>
                <a:cs typeface="Droid Sans Fallback"/>
              </a:rPr>
              <a:t>完整提交</a:t>
            </a:r>
          </a:p>
        </p:txBody>
      </p:sp>
      <p:sp>
        <p:nvSpPr>
          <p:cNvPr id="93" name="candidate-text-698">
            <a:extLst xmlns:a="http://schemas.openxmlformats.org/drawingml/2006/main">
              <a:ext uri="{FF2B5EF4-FFF2-40B4-BE49-F238E27FC236}">
                <a16:creationId xmlns:a16="http://schemas.microsoft.com/office/drawing/2014/main" id="{FAE9513F-6EEC-4D07-A65A-777946AB0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5314950"/>
            <a:ext cx="2619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575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真实执行后继续处理事件</a:t>
            </a:r>
          </a:p>
        </p:txBody>
      </p:sp>
      <p:sp>
        <p:nvSpPr>
          <p:cNvPr id="94" name="candidate-box-699">
            <a:extLst xmlns:a="http://schemas.openxmlformats.org/drawingml/2006/main">
              <a:ext uri="{FF2B5EF4-FFF2-40B4-BE49-F238E27FC236}">
                <a16:creationId xmlns:a16="http://schemas.microsoft.com/office/drawing/2014/main" id="{21F782FD-E6D6-4AB2-8861-70BB00EF6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010275"/>
            <a:ext cx="1095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0000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575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实际时间结果用于两项时间监督，</a:t>
            </a:r>
            <a:r>
              <a:rPr b="0">
                <a:latin typeface="Nimbus Roman"/>
                <a:ea typeface="Nimbus Roman"/>
                <a:cs typeface="Nimbus Roman"/>
              </a:rPr>
              <a:t>PPO</a:t>
            </a:r>
            <a:r>
              <a:rPr b="0">
                <a:latin typeface="Droid Sans Fallback"/>
                <a:ea typeface="Droid Sans Fallback"/>
                <a:cs typeface="Droid Sans Fallback"/>
              </a:rPr>
              <a:t>更新在线策略与共享表征</a:t>
            </a:r>
          </a:p>
        </p:txBody>
      </p:sp>
    </p:spTree>
    <p:extLst>
      <p:ext uri="{BB962C8B-B14F-4D97-AF65-F5344CB8AC3E}">
        <p14:creationId xmlns:p14="http://schemas.microsoft.com/office/powerpoint/2010/main" val="188165035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2026-10-09T08:45:26.4570000Z</dcterms:created>
  <dcterms:modified xsi:type="dcterms:W3CDTF">2026-10-09T08:45:26.4570000Z</dcterms:modified>
</coreProperties>
</file>