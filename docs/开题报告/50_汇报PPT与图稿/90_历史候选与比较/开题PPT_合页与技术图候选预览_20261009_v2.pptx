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6dca069ef94cdf" /><Relationship Type="http://schemas.openxmlformats.org/officeDocument/2006/relationships/extended-properties" Target="/docProps/app.xml" Id="R2bcf76f1b08f4603" /><Relationship Type="http://schemas.openxmlformats.org/officeDocument/2006/relationships/officeDocument" Target="/ppt/presentation.xml" Id="R189f11366488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81436c8efe4e76"/>
  </p:sldMasterIdLst>
  <p:notesMasterIdLst>
    <p:notesMasterId xmlns:r="http://schemas.openxmlformats.org/officeDocument/2006/relationships" r:id="R09c9160d2af3470e"/>
  </p:notesMasterIdLst>
  <p:sldIdLst>
    <p:sldId xmlns:r="http://schemas.openxmlformats.org/officeDocument/2006/relationships" id="256" r:id="Rc3a288e3ff784f88"/>
    <p:sldId xmlns:r="http://schemas.openxmlformats.org/officeDocument/2006/relationships" id="257" r:id="Racacd29dbe25499f"/>
    <p:sldId xmlns:r="http://schemas.openxmlformats.org/officeDocument/2006/relationships" id="258" r:id="R4b0855d0b9a14650"/>
    <p:sldId xmlns:r="http://schemas.openxmlformats.org/officeDocument/2006/relationships" id="259" r:id="R5de5ab20edc74ccd"/>
    <p:sldId xmlns:r="http://schemas.openxmlformats.org/officeDocument/2006/relationships" id="260" r:id="R13bd6f87049f4418"/>
    <p:sldId xmlns:r="http://schemas.openxmlformats.org/officeDocument/2006/relationships" id="261" r:id="R4c1b625add6345b4"/>
    <p:sldId xmlns:r="http://schemas.openxmlformats.org/officeDocument/2006/relationships" id="262" r:id="Rfa7cb66d3142419b"/>
    <p:sldId xmlns:r="http://schemas.openxmlformats.org/officeDocument/2006/relationships" id="263" r:id="R77b08d4c7a114fee"/>
    <p:sldId xmlns:r="http://schemas.openxmlformats.org/officeDocument/2006/relationships" id="264" r:id="R951c9b3e0a2c49b4"/>
    <p:sldId xmlns:r="http://schemas.openxmlformats.org/officeDocument/2006/relationships" id="265" r:id="Rf20966f5cd884396"/>
    <p:sldId xmlns:r="http://schemas.openxmlformats.org/officeDocument/2006/relationships" id="266" r:id="R24dc05413b6e42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727fbbcba4dcd" /><Relationship Type="http://schemas.openxmlformats.org/officeDocument/2006/relationships/slideMaster" Target="/ppt/slideMasters/slideMaster1.xml" Id="R6a81436c8efe4e76" /><Relationship Type="http://schemas.openxmlformats.org/officeDocument/2006/relationships/notesMaster" Target="/ppt/notesMasters/notesMaster1.xml" Id="R09c9160d2af3470e" /><Relationship Type="http://schemas.openxmlformats.org/officeDocument/2006/relationships/presProps" Target="/ppt/presProps.xml" Id="Re4fee795dfa04c9c" /><Relationship Type="http://schemas.openxmlformats.org/officeDocument/2006/relationships/tableStyles" Target="/ppt/tableStyles.xml" Id="Ra83e943ee723435d" /><Relationship Type="http://schemas.openxmlformats.org/officeDocument/2006/relationships/slide" Target="/ppt/slides/slide1.xml" Id="Rc3a288e3ff784f88" /><Relationship Type="http://schemas.openxmlformats.org/officeDocument/2006/relationships/slide" Target="/ppt/slides/slide2.xml" Id="Racacd29dbe25499f" /><Relationship Type="http://schemas.openxmlformats.org/officeDocument/2006/relationships/slide" Target="/ppt/slides/slide3.xml" Id="R4b0855d0b9a14650" /><Relationship Type="http://schemas.openxmlformats.org/officeDocument/2006/relationships/slide" Target="/ppt/slides/slide4.xml" Id="R5de5ab20edc74ccd" /><Relationship Type="http://schemas.openxmlformats.org/officeDocument/2006/relationships/slide" Target="/ppt/slides/slide5.xml" Id="R13bd6f87049f4418" /><Relationship Type="http://schemas.openxmlformats.org/officeDocument/2006/relationships/slide" Target="/ppt/slides/slide6.xml" Id="R4c1b625add6345b4" /><Relationship Type="http://schemas.openxmlformats.org/officeDocument/2006/relationships/slide" Target="/ppt/slides/slide7.xml" Id="Rfa7cb66d3142419b" /><Relationship Type="http://schemas.openxmlformats.org/officeDocument/2006/relationships/slide" Target="/ppt/slides/slide8.xml" Id="R77b08d4c7a114fee" /><Relationship Type="http://schemas.openxmlformats.org/officeDocument/2006/relationships/slide" Target="/ppt/slides/slide9.xml" Id="R951c9b3e0a2c49b4" /><Relationship Type="http://schemas.openxmlformats.org/officeDocument/2006/relationships/slide" Target="/ppt/slides/slide10.xml" Id="Rf20966f5cd884396" /><Relationship Type="http://schemas.openxmlformats.org/officeDocument/2006/relationships/slide" Target="/ppt/slides/slide11.xml" Id="R24dc05413b6e42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731a1fe1e1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005af0a8c74d38" /><Relationship Type="http://schemas.openxmlformats.org/officeDocument/2006/relationships/notesMaster" Target="/ppt/notesMasters/notesMaster1.xml" Id="R0617b14c144a44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8c209ef9094b77" /><Relationship Type="http://schemas.openxmlformats.org/officeDocument/2006/relationships/notesMaster" Target="/ppt/notesMasters/notesMaster1.xml" Id="R8ad3e31f013d4b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018ff78b0545f1" /><Relationship Type="http://schemas.openxmlformats.org/officeDocument/2006/relationships/notesMaster" Target="/ppt/notesMasters/notesMaster1.xml" Id="R081bf79b36aa49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e9151c47ad4e3c" /><Relationship Type="http://schemas.openxmlformats.org/officeDocument/2006/relationships/notesMaster" Target="/ppt/notesMasters/notesMaster1.xml" Id="R36d4e729577a41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c285f799034a0f" /><Relationship Type="http://schemas.openxmlformats.org/officeDocument/2006/relationships/notesMaster" Target="/ppt/notesMasters/notesMaster1.xml" Id="R690787b9403048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c54f529c834094" /><Relationship Type="http://schemas.openxmlformats.org/officeDocument/2006/relationships/notesMaster" Target="/ppt/notesMasters/notesMaster1.xml" Id="R2f55ecbb5bfe48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9ef649d14c495e" /><Relationship Type="http://schemas.openxmlformats.org/officeDocument/2006/relationships/notesMaster" Target="/ppt/notesMasters/notesMaster1.xml" Id="Raba7bf95437545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bd6fd8f144800" /><Relationship Type="http://schemas.openxmlformats.org/officeDocument/2006/relationships/notesMaster" Target="/ppt/notesMasters/notesMaster1.xml" Id="R54460296b5844d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29e53e56c644d0" /><Relationship Type="http://schemas.openxmlformats.org/officeDocument/2006/relationships/notesMaster" Target="/ppt/notesMasters/notesMaster1.xml" Id="R8c7b3b5688c348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a785e04d8e4951" /><Relationship Type="http://schemas.openxmlformats.org/officeDocument/2006/relationships/notesMaster" Target="/ppt/notesMasters/notesMaster1.xml" Id="Rdb338f317f3948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7985a430774c6e" /><Relationship Type="http://schemas.openxmlformats.org/officeDocument/2006/relationships/notesMaster" Target="/ppt/notesMasters/notesMaster1.xml" Id="R127c09846cc84f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样稿把产业背景、脉动装配特点和联合决策放在一页。国产大飞机规模化发展，需要相应的总装能力。飞机在站位上完成装配任务后同步转站，不同站位上的飞机可以并行作业。安排任务时，需要一起考虑工序、站位和人员团队：工序受到前序限制，站位影响任务分布与可用人员，团队资格和效率影响工序时长及人员占用。这些选择共同影响本站进度，并可能影响共同转站和下一周期。课题据此从无扰动联合安排，逐步扩展到延迟开工后的修复和多架次实际执行。五站位为本研究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参考依据（沿用正文编号）：</a:t>
            </a:r>
          </a:p>
          <a:p xmlns:a="http://schemas.openxmlformats.org/drawingml/2006/main">
            <a:r>
              <a:t>[1] 中华人民共和国国民经济和社会发展第十五个五年规划纲要[EB/OL]. (2026-03-13)[2026-10-08]. https://www.ln.gov.cn/web/ywdt/rdgz/2026031407581924489/index.shtml.</a:t>
            </a:r>
          </a:p>
          <a:p xmlns:a="http://schemas.openxmlformats.org/drawingml/2006/main">
            <a:r>
              <a:t>[2] 工业和信息化部等八部门. “人工智能+制造”专项行动实施意见[EB/OL]. (2026-01-07)[2026-10-09]. https://www.miit.gov.cn/jgsj/kjs/wjfb/art/2026/art_5ea5b1663f264fcea69df0ab00d1f6f3.html.</a:t>
            </a:r>
          </a:p>
          <a:p xmlns:a="http://schemas.openxmlformats.org/drawingml/2006/main">
            <a:r>
              <a:t>[3] 上海飞机制造有限公司. 贯彻1号文丨乘改革之势，聚攻坚之力，强发展之效[EB/OL]. (2025-04-17)[2026-10-08]. https://samc.comac.cc/xwzx/sfyxw/202504/17/t20250417_7404410.shtml.</a:t>
            </a:r>
          </a:p>
          <a:p xmlns:a="http://schemas.openxmlformats.org/drawingml/2006/main">
            <a:r>
              <a:t>[4] 方水良，刘猛男，鲜果，秦永辉，田雨辰. 飞机移动装配线——脉动与续动[J]. 航空制造技术, 2021, 64(16):40–50. DOI: 10.16080/j.issn1671-833x.2021.16.040.</a:t>
            </a:r>
          </a:p>
          <a:p xmlns:a="http://schemas.openxmlformats.org/drawingml/2006/main">
            <a:r>
              <a:t>[6] Bao Z, Chen L, Qiu K. An aircraft final assembly line balancing problem considering resource constraints and parallel task scheduling[J]. Computers &amp; Industrial Engineering, 2023, 182:109436. DOI: 10.1016/j.cie.2023.109436.</a:t>
            </a:r>
          </a:p>
          <a:p xmlns:a="http://schemas.openxmlformats.org/drawingml/2006/main">
            <a:r>
              <a:t>[10] Zheng X, Qiao F, You S, et al. Joint optimization of production scheduling and worker allocation under a resource dedication policy in aircraft assembly lines[J]. Robotics and Computer-Integrated Manufacturing, 2025, 96:103047. DOI: 10.1016/j.rcim.2025.103047.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样稿保留已选B3的三行递进结构，把原第10页的解释放在右侧。研究一面向无扰动条件，以同构图统一组织工艺与人员信息，联合选择工序、站位和团队。研究二进一步区分实体与关系，并处理工序延迟开工后的计划修复，兼顾完工效率与计划稳定性。研究三进一步面向多架次实际执行，将飞机、站位和整线状态结合，用当前及紧邻下一周期的时间后果帮助协调共同脉动。三个研究围绕同一生产问题扩展信息表示和执行范围，并非由工作一向工作二提供基准排程。图中是工作的功能介绍，未修改已确定的工作标题，也未表示已有实验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依据：/workspace/scratch/0dffb7d03718/opening_candidates_20261009/source1/开题报告/10_研究设计确认稿/工作一_同构图联合决策机制与贡献细化_详细资料_20261004.md，第2、4、5、7节。</a:t>
            </a:r>
          </a:p>
          <a:p xmlns:a="http://schemas.openxmlformats.org/drawingml/2006/main">
            <a:r>
              <a:t>依据：/workspace/scratch/0dffb7d03718/opening_candidates_20261009/source1/开题报告/10_研究设计确认稿/开题报告_统一术语与当前定义_20261006.md，第2、3、5节。</a:t>
            </a:r>
          </a:p>
          <a:p xmlns:a="http://schemas.openxmlformats.org/drawingml/2006/main">
            <a:r>
              <a:t>依据：/workspace/scratch/0dffb7d03718/opening_candidates_20261009/source1/开题报告/10_研究设计确认稿/总体技术路线_详细讨论稿_20261006.md，第3节。</a:t>
            </a:r>
          </a:p>
          <a:p xmlns:a="http://schemas.openxmlformats.org/drawingml/2006/main">
            <a:r>
              <a:t>本页是工作一同一方案的展示候选，不修改正式研究题名、原论文方法或生产代码。</a:t>
            </a:r>
          </a:p>
          <a:p xmlns:a="http://schemas.openxmlformats.org/drawingml/2006/main">
            <a:r>
              <a:t>无扰动条件下构造基准排程。图中局部结构仅为信息组织示意，实际编码使用环境可见的完整工序图及资源信息，已安排节点保留上下文。所有示意节点同样式，实体身份与差异作为属性，单一图传播共享规则与参数，不设实体或关系专门传播通道。</a:t>
            </a:r>
          </a:p>
          <a:p xmlns:a="http://schemas.openxmlformats.org/drawingml/2006/main">
            <a:r>
              <a:t>条件决策依次选择工序、站位、给定人数的具体团队。人员逐次选择读取已选成员，形成完整动作后才提交起止安排并更新占用与首次使用绑定。合法性掩码及前向时间分配沿用原机制。</a:t>
            </a:r>
          </a:p>
          <a:p xmlns:a="http://schemas.openxmlformats.org/drawingml/2006/main">
            <a:r>
              <a:t>Actor/Critic组织、原奖励和PPO共同训练沿用原工作一。训练图只说明信息和反馈流，不规定新的权重共享架构。</a:t>
            </a:r>
          </a:p>
          <a:p xmlns:a="http://schemas.openxmlformats.org/drawingml/2006/main">
            <a:r>
              <a:t>新同构方案尚需实现及对应训练、测试。原异构论文结果不视为新同构结果，不将计划构造过程表述为多架次真实执行。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依据：/workspace/scratch/0dffb7d03718/opening_candidates_20261009/source1/开题报告/10_研究设计确认稿/工作一_同构图联合决策机制与贡献细化_详细资料_20261004.md，第2、4、5、7节。</a:t>
            </a:r>
          </a:p>
          <a:p xmlns:a="http://schemas.openxmlformats.org/drawingml/2006/main">
            <a:r>
              <a:t>依据：/workspace/scratch/0dffb7d03718/opening_candidates_20261009/source1/开题报告/10_研究设计确认稿/开题报告_统一术语与当前定义_20261006.md，第2、3、5节。</a:t>
            </a:r>
          </a:p>
          <a:p xmlns:a="http://schemas.openxmlformats.org/drawingml/2006/main">
            <a:r>
              <a:t>依据：/workspace/scratch/0dffb7d03718/opening_candidates_20261009/source1/开题报告/10_研究设计确认稿/总体技术路线_详细讨论稿_20261006.md，第3节。</a:t>
            </a:r>
          </a:p>
          <a:p xmlns:a="http://schemas.openxmlformats.org/drawingml/2006/main">
            <a:r>
              <a:t>本页是工作一同一方案的展示候选，不修改正式研究题名、原论文方法或生产代码。</a:t>
            </a:r>
          </a:p>
          <a:p xmlns:a="http://schemas.openxmlformats.org/drawingml/2006/main">
            <a:r>
              <a:t>无扰动条件下构造基准排程。图中局部结构仅为信息组织示意，实际编码使用环境可见的完整工序图及资源信息，已安排节点保留上下文。所有示意节点同样式，实体身份与差异作为属性，单一图传播共享规则与参数，不设实体或关系专门传播通道。</a:t>
            </a:r>
          </a:p>
          <a:p xmlns:a="http://schemas.openxmlformats.org/drawingml/2006/main">
            <a:r>
              <a:t>条件决策依次选择工序、站位、给定人数的具体团队。人员逐次选择读取已选成员，形成完整动作后才提交起止安排并更新占用与首次使用绑定。合法性掩码及前向时间分配沿用原机制。</a:t>
            </a:r>
          </a:p>
          <a:p xmlns:a="http://schemas.openxmlformats.org/drawingml/2006/main">
            <a:r>
              <a:t>Actor/Critic组织、原奖励和PPO共同训练沿用原工作一。训练图只说明信息和反馈流，不规定新的权重共享架构。</a:t>
            </a:r>
          </a:p>
          <a:p xmlns:a="http://schemas.openxmlformats.org/drawingml/2006/main">
            <a:r>
              <a:t>新同构方案尚需实现及对应训练、测试。原异构论文结果不视为新同构结果，不将计划构造过程表述为多架次真实执行。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依据：/workspace/scratch/0dffb7d03718/opening_candidates_20261009/source1/开题报告/10_研究设计确认稿/工作一_同构图联合决策机制与贡献细化_详细资料_20261004.md，第2、4、5、7节。</a:t>
            </a:r>
          </a:p>
          <a:p xmlns:a="http://schemas.openxmlformats.org/drawingml/2006/main">
            <a:r>
              <a:t>依据：/workspace/scratch/0dffb7d03718/opening_candidates_20261009/source1/开题报告/10_研究设计确认稿/开题报告_统一术语与当前定义_20261006.md，第2、3、5节。</a:t>
            </a:r>
          </a:p>
          <a:p xmlns:a="http://schemas.openxmlformats.org/drawingml/2006/main">
            <a:r>
              <a:t>依据：/workspace/scratch/0dffb7d03718/opening_candidates_20261009/source1/开题报告/10_研究设计确认稿/总体技术路线_详细讨论稿_20261006.md，第3节。</a:t>
            </a:r>
          </a:p>
          <a:p xmlns:a="http://schemas.openxmlformats.org/drawingml/2006/main">
            <a:r>
              <a:t>本页是工作一同一方案的展示候选，不修改正式研究题名、原论文方法或生产代码。</a:t>
            </a:r>
          </a:p>
          <a:p xmlns:a="http://schemas.openxmlformats.org/drawingml/2006/main">
            <a:r>
              <a:t>无扰动条件下构造基准排程。图中局部结构仅为信息组织示意，实际编码使用环境可见的完整工序图及资源信息，已安排节点保留上下文。所有示意节点同样式，实体身份与差异作为属性，单一图传播共享规则与参数，不设实体或关系专门传播通道。</a:t>
            </a:r>
          </a:p>
          <a:p xmlns:a="http://schemas.openxmlformats.org/drawingml/2006/main">
            <a:r>
              <a:t>条件决策依次选择工序、站位、给定人数的具体团队。人员逐次选择读取已选成员，形成完整动作后才提交起止安排并更新占用与首次使用绑定。合法性掩码及前向时间分配沿用原机制。</a:t>
            </a:r>
          </a:p>
          <a:p xmlns:a="http://schemas.openxmlformats.org/drawingml/2006/main">
            <a:r>
              <a:t>Actor/Critic组织、原奖励和PPO共同训练沿用原工作一。训练图只说明信息和反馈流，不规定新的权重共享架构。</a:t>
            </a:r>
          </a:p>
          <a:p xmlns:a="http://schemas.openxmlformats.org/drawingml/2006/main">
            <a:r>
              <a:t>新同构方案尚需实现及对应训练、测试。原异构论文结果不视为新同构结果，不将计划构造过程表述为多架次真实执行。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来源：工作二_研究问题方法贡献与证据对照_详细资料_20261004.md，§1、§3、§4.1–4.3；开题报告_统一术语与当前定义_20261006.md，§2–4；总体技术路线_详细讨论稿_20261006.md，§4。 四类实体和关系按当前未投稿稿及确认资料解释。图中前序为工序间关系，归属为工序与站位关系，安排为工序与人员关系，需求为工序与技能关系，资格为人员与技能关系。关系名称为中文生产含义。人员站位绑定由继承和合法性逻辑处理。冻结条目按论文基准开工时刻与重调度边界判定，保留原站位、具体团队与起止时刻。基准已使用人员继承原站位绑定，未使用人员按首次使用规则处理，阶段内不跨站重新配置。网络选择工序、站位和具体团队，前向时间分配确定合法起止时刻。基准计划为工作二内部固定参照，偏离始终与该参照比较。模型包括周期及多架次展开，计划完工时间为原模型的计划模板跨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来源：工作二_研究问题方法贡献与证据对照_详细资料_20261004.md，§1、§3、§4.1–4.3；开题报告_统一术语与当前定义_20261006.md，§2–4；总体技术路线_详细讨论稿_20261006.md，§4。 四类实体和关系按当前未投稿稿及确认资料解释。图中前序为工序间关系，归属为工序与站位关系，安排为工序与人员关系，需求为工序与技能关系，资格为人员与技能关系。关系名称为中文生产含义。人员站位绑定由继承和合法性逻辑处理。冻结条目按论文基准开工时刻与重调度边界判定，保留原站位、具体团队与起止时刻。基准已使用人员继承原站位绑定，未使用人员按首次使用规则处理，阶段内不跨站重新配置。网络选择工序、站位和具体团队，前向时间分配确定合法起止时刻。基准计划为工作二内部固定参照，偏离始终与该参照比较。模型包括周期及多架次展开，计划完工时间为原模型的计划模板跨度。 正常安排与受扰修复复用同一异构编码、自回归联合动作和前向时间分配。初始排程为工作二内部的构造输出。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来源：工作二_研究问题方法贡献与证据对照_详细资料_20261004.md，§1、§3、§4.1–4.3；开题报告_统一术语与当前定义_20261006.md，§2–4；总体技术路线_详细讨论稿_20261006.md，§4。 四类实体和关系按当前未投稿稿及确认资料解释。图中前序为工序间关系，归属为工序与站位关系，安排为工序与人员关系，需求为工序与技能关系，资格为人员与技能关系。关系名称为中文生产含义。人员站位绑定由继承和合法性逻辑处理。冻结条目按论文基准开工时刻与重调度边界判定，保留原站位、具体团队与起止时刻。基准已使用人员继承原站位绑定，未使用人员按首次使用规则处理，阶段内不跨站重新配置。网络选择工序、站位和具体团队，前向时间分配确定合法起止时刻。基准计划为工作二内部固定参照，偏离始终与该参照比较。模型包括周期及多架次展开，计划完工时间为原模型的计划模板跨度。 本页四个基准开工时点仅为无刻度的概念示意，不代表实验实例、加工持续时间或实际甘特数据。冻结划分采用当前论文的基准开工时刻与重调度边界定义。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依据：开题报告_统一术语与当前定义_20261006.md；工作三_方法设计阶段确认稿_执行流程奖励与表征学习.md 最新确认、§7.4–7.6、§13–14；工作三_状态动作与执行流程_阶段确认稿.md。</a:t>
            </a:r>
          </a:p>
          <a:p xmlns:a="http://schemas.openxmlformats.org/drawingml/2006/main">
            <a:r>
              <a:t>共同定义：只有一个真实事件驱动仿真环境。不同飞机分处有序站位并行，同一飞机不跨站并行。实际共同脉动时刻是有效占用站位首次实际就绪时刻的最大值；首次就绪后等待。完整执行决定不可撤回，实际开工非抢占。每次完整决策前由最新一致状态重算在线表示与固定副本预测，内部条件解码共用该快照，提交后更新环境。</a:t>
            </a:r>
          </a:p>
          <a:p xmlns:a="http://schemas.openxmlformats.org/drawingml/2006/main">
            <a:r>
              <a:t>图编码保留完整可见工序上下文及资源关系。分层读出汇总未完物理任务，而不是只编码未完或可行动作子图。下一周期任务仅对应下一次实际脉动进入本站的飞机，已正式相邻后移任务按唯一身份加入，飞机位置在实际脉动前不变。首版后移每次仅合法单工序、紧邻一站，且不迫使其他任务新增换站。</a:t>
            </a:r>
          </a:p>
          <a:p xmlns:a="http://schemas.openxmlformats.org/drawingml/2006/main">
            <a:r>
              <a:t>语义以当前状态和最近实际变化为输入，在动作前预测当前共同脉动的启发式时间残差、紧邻下一周期各站有符号就绪偏差。下一周期正值晚、负值早，参照为本次实际脉动时刻加基准周期；不表示候选动作的因果收益，也不预测未知扰动。扰动发生后才知道持续时间或新下界。当前修正时间服务Actor和已有势函数，下一周期向量仅供动作上下文，不新增未来风险罚项。</a:t>
            </a:r>
          </a:p>
          <a:p xmlns:a="http://schemas.openxmlformats.org/drawingml/2006/main">
            <a:r>
              <a:t>网络方案B：完整轨迹开始复制编码、分层读出/MLP、两项预测头与归一化统计，形成独立固定预测副本。副本轨迹内权重及统计不变、无梯度，每次读取最新状态重算预测。在线Actor读取副本数值和在线候选表示。PPO重放使用当时保存的预测值、占用标记和副本版本，在线表示以历史输入和当前在线参数重算。PPO更新在线动作头及共享编码/融合，辅助时间监督更新在线预测头及共享编码/融合，不沿外部数值或奖励支路更新副本。固定副本不等于固定Actor。</a:t>
            </a:r>
          </a:p>
          <a:p xmlns:a="http://schemas.openxmlformats.org/drawingml/2006/main">
            <a:r>
              <a:t>实际结果发生后分别回填当前与下一周期标签；无目标用有效性掩码，待结算结果保留且不得填零。保存不可变、可复原的历史输入，近期已结算样本用于辅助学习。仅展示已确认的方法设计，代码未完成，完整效果尚待验证。</a:t>
            </a:r>
          </a:p>
          <a:p xmlns:a="http://schemas.openxmlformats.org/drawingml/2006/main">
            <a:r>
              <a:t>13A布局：五站现场与决策闭环。五架飞机只是当前五站全占用的结构示意，不包含加工时间、任务数或性能数值。学习条带为训练职责概括，箭头停留在在线学习模块，不回传至固定副本。语义模块的显式数值由完整固定副本输出，在线编码/融合与副本采用同一结构但独立前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依据：开题报告_统一术语与当前定义_20261006.md；工作三_方法设计阶段确认稿_执行流程奖励与表征学习.md 最新确认、§7.4–7.6、§13–14；工作三_状态动作与执行流程_阶段确认稿.md。</a:t>
            </a:r>
          </a:p>
          <a:p xmlns:a="http://schemas.openxmlformats.org/drawingml/2006/main">
            <a:r>
              <a:t>共同定义：只有一个真实事件驱动仿真环境。不同飞机分处有序站位并行，同一飞机不跨站并行。实际共同脉动时刻是有效占用站位首次实际就绪时刻的最大值；首次就绪后等待。完整执行决定不可撤回，实际开工非抢占。每次完整决策前由最新一致状态重算在线表示与固定副本预测，内部条件解码共用该快照，提交后更新环境。</a:t>
            </a:r>
          </a:p>
          <a:p xmlns:a="http://schemas.openxmlformats.org/drawingml/2006/main">
            <a:r>
              <a:t>图编码保留完整可见工序上下文及资源关系。分层读出汇总未完物理任务，而不是只编码未完或可行动作子图。下一周期任务仅对应下一次实际脉动进入本站的飞机，已正式相邻后移任务按唯一身份加入，飞机位置在实际脉动前不变。首版后移每次仅合法单工序、紧邻一站，且不迫使其他任务新增换站。</a:t>
            </a:r>
          </a:p>
          <a:p xmlns:a="http://schemas.openxmlformats.org/drawingml/2006/main">
            <a:r>
              <a:t>语义以当前状态和最近实际变化为输入，在动作前预测当前共同脉动的启发式时间残差、紧邻下一周期各站有符号就绪偏差。下一周期正值晚、负值早，参照为本次实际脉动时刻加基准周期；不表示候选动作的因果收益，也不预测未知扰动。扰动发生后才知道持续时间或新下界。当前修正时间服务Actor和已有势函数，下一周期向量仅供动作上下文，不新增未来风险罚项。</a:t>
            </a:r>
          </a:p>
          <a:p xmlns:a="http://schemas.openxmlformats.org/drawingml/2006/main">
            <a:r>
              <a:t>网络方案B：完整轨迹开始复制编码、分层读出/MLP、两项预测头与归一化统计，形成独立固定预测副本。副本轨迹内权重及统计不变、无梯度，每次读取最新状态重算预测。在线Actor读取副本数值和在线候选表示。PPO重放使用当时保存的预测值、占用标记和副本版本，在线表示以历史输入和当前在线参数重算。PPO更新在线动作头及共享编码/融合，辅助时间监督更新在线预测头及共享编码/融合，不沿外部数值或奖励支路更新副本。固定副本不等于固定Actor。</a:t>
            </a:r>
          </a:p>
          <a:p xmlns:a="http://schemas.openxmlformats.org/drawingml/2006/main">
            <a:r>
              <a:t>实际结果发生后分别回填当前与下一周期标签；无目标用有效性掩码，待结算结果保留且不得填零。保存不可变、可复原的历史输入，近期已结算样本用于辅助学习。仅展示已确认的方法设计，代码未完成，完整效果尚待验证。</a:t>
            </a:r>
          </a:p>
          <a:p xmlns:a="http://schemas.openxmlformats.org/drawingml/2006/main">
            <a:r>
              <a:t>13B布局：展开固定预测副本内部的完整图编码、未完任务分层读出、MLP与双输出，底部保留独立在线候选路径。编码和融合结构可以复用，但副本与在线参数、动态嵌入不同，不在图中把一份嵌入当成两条路径共同输出。已完/未完/后续节点为编码范围示意，节点数量无实证含义。五个Δ符号为五站下一周期有符号偏差，空站及不存在下一周期由占用/有效性信息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依据：开题报告_统一术语与当前定义_20261006.md；工作三_方法设计阶段确认稿_执行流程奖励与表征学习.md 最新确认、§7.4–7.6、§13–14；工作三_状态动作与执行流程_阶段确认稿.md。</a:t>
            </a:r>
          </a:p>
          <a:p xmlns:a="http://schemas.openxmlformats.org/drawingml/2006/main">
            <a:r>
              <a:t>共同定义：只有一个真实事件驱动仿真环境。不同飞机分处有序站位并行，同一飞机不跨站并行。实际共同脉动时刻是有效占用站位首次实际就绪时刻的最大值；首次就绪后等待。完整执行决定不可撤回，实际开工非抢占。每次完整决策前由最新一致状态重算在线表示与固定副本预测，内部条件解码共用该快照，提交后更新环境。</a:t>
            </a:r>
          </a:p>
          <a:p xmlns:a="http://schemas.openxmlformats.org/drawingml/2006/main">
            <a:r>
              <a:t>图编码保留完整可见工序上下文及资源关系。分层读出汇总未完物理任务，而不是只编码未完或可行动作子图。下一周期任务仅对应下一次实际脉动进入本站的飞机，已正式相邻后移任务按唯一身份加入，飞机位置在实际脉动前不变。首版后移每次仅合法单工序、紧邻一站，且不迫使其他任务新增换站。</a:t>
            </a:r>
          </a:p>
          <a:p xmlns:a="http://schemas.openxmlformats.org/drawingml/2006/main">
            <a:r>
              <a:t>语义以当前状态和最近实际变化为输入，在动作前预测当前共同脉动的启发式时间残差、紧邻下一周期各站有符号就绪偏差。下一周期正值晚、负值早，参照为本次实际脉动时刻加基准周期；不表示候选动作的因果收益，也不预测未知扰动。扰动发生后才知道持续时间或新下界。当前修正时间服务Actor和已有势函数，下一周期向量仅供动作上下文，不新增未来风险罚项。</a:t>
            </a:r>
          </a:p>
          <a:p xmlns:a="http://schemas.openxmlformats.org/drawingml/2006/main">
            <a:r>
              <a:t>网络方案B：完整轨迹开始复制编码、分层读出/MLP、两项预测头与归一化统计，形成独立固定预测副本。副本轨迹内权重及统计不变、无梯度，每次读取最新状态重算预测。在线Actor读取副本数值和在线候选表示。PPO重放使用当时保存的预测值、占用标记和副本版本，在线表示以历史输入和当前在线参数重算。PPO更新在线动作头及共享编码/融合，辅助时间监督更新在线预测头及共享编码/融合，不沿外部数值或奖励支路更新副本。固定副本不等于固定Actor。</a:t>
            </a:r>
          </a:p>
          <a:p xmlns:a="http://schemas.openxmlformats.org/drawingml/2006/main">
            <a:r>
              <a:t>实际结果发生后分别回填当前与下一周期标签；无目标用有效性掩码，待结算结果保留且不得填零。保存不可变、可复原的历史输入，近期已结算样本用于辅助学习。仅展示已确认的方法设计，代码未完成，完整效果尚待验证。</a:t>
            </a:r>
          </a:p>
          <a:p xmlns:a="http://schemas.openxmlformats.org/drawingml/2006/main">
            <a:r>
              <a:t>13C布局：上部为现场决策前向，下部为历史数据与在线更新。实线为生产/采样前向及轨迹开始复制，虚线只指向在线共享路径和Actor，不接固定副本。在线共享路径框内的时间头只接受辅助监督，PPO更新其共享编码/MLP而不直接更新时间头。下部在线辅助训练用当前在线参数重编码历史输入；PPO使用历史状态和采样时保存的外部预测值，不能把新预测替换进历史样本。顶部复制箭头表示复制完整预测路径及归一化统计，不复制或冻结Actor动作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3c1efb7b04b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c34a37add47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3994ff51b4a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f233a151c4c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8d2c77faa4c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d0d20d2c240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7446CA-0536-42FB-A212-F59CFD5CB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0D5B6F-9FF3-4EE2-93D4-A6DA1AF00B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DB4740-B233-446F-A3C1-53675180A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E6CCD-73EC-423B-8B08-13701A7AA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546036-239B-4972-89FC-EAF64055E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F38FE2-61EE-4004-9A1A-5BF8BB907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1CE4DE-DBDA-4E95-B2DE-EFD23720B6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670CE8-F8F3-49DC-B764-6374787099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CF179E-C9F6-4578-9EA1-75E4980F2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3AC643-2B75-4F96-8075-2CBE86243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af5cccb18e4839" /><Relationship Type="http://schemas.openxmlformats.org/officeDocument/2006/relationships/slideLayout" Target="/ppt/slideLayouts/slideLayout1.xml" Id="Rf9a9bf6ab7884010" /><Relationship Type="http://schemas.openxmlformats.org/officeDocument/2006/relationships/slideLayout" Target="/ppt/slideLayouts/slideLayout2.xml" Id="Rd9157567d04c4275" /><Relationship Type="http://schemas.openxmlformats.org/officeDocument/2006/relationships/slideLayout" Target="/ppt/slideLayouts/slideLayout3.xml" Id="R543298e9cb954e03" /><Relationship Type="http://schemas.openxmlformats.org/officeDocument/2006/relationships/slideLayout" Target="/ppt/slideLayouts/slideLayout4.xml" Id="Rca93a1f2145143db" /><Relationship Type="http://schemas.openxmlformats.org/officeDocument/2006/relationships/slideLayout" Target="/ppt/slideLayouts/slideLayout5.xml" Id="Rb7a5b096d73945e3" /><Relationship Type="http://schemas.openxmlformats.org/officeDocument/2006/relationships/slideLayout" Target="/ppt/slideLayouts/slideLayout6.xml" Id="R8aa1f6c1457040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a9bf6ab7884010"/>
    <p:sldLayoutId xmlns:r="http://schemas.openxmlformats.org/officeDocument/2006/relationships" id="2147483650" r:id="Rd9157567d04c4275"/>
    <p:sldLayoutId xmlns:r="http://schemas.openxmlformats.org/officeDocument/2006/relationships" id="2147483651" r:id="R543298e9cb954e03"/>
    <p:sldLayoutId xmlns:r="http://schemas.openxmlformats.org/officeDocument/2006/relationships" id="2147483652" r:id="Rca93a1f2145143db"/>
    <p:sldLayoutId xmlns:r="http://schemas.openxmlformats.org/officeDocument/2006/relationships" id="2147483653" r:id="Rb7a5b096d73945e3"/>
    <p:sldLayoutId xmlns:r="http://schemas.openxmlformats.org/officeDocument/2006/relationships" id="2147483654" r:id="R8aa1f6c1457040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12a5afe3e4f97" /><Relationship Type="http://schemas.openxmlformats.org/officeDocument/2006/relationships/notesSlide" Target="/ppt/notesSlides/notesSlide1.xml" Id="Rb69fa30e0a154f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dee142e1146e8" /><Relationship Type="http://schemas.openxmlformats.org/officeDocument/2006/relationships/notesSlide" Target="/ppt/notesSlides/notesSlide2.xml" Id="R523977b9e6ef47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2a572c0a540a4" /><Relationship Type="http://schemas.openxmlformats.org/officeDocument/2006/relationships/notesSlide" Target="/ppt/notesSlides/notesSlide3.xml" Id="R4700578888cd45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3a9ed9de34cf8" /><Relationship Type="http://schemas.openxmlformats.org/officeDocument/2006/relationships/notesSlide" Target="/ppt/notesSlides/notesSlide4.xml" Id="R29e7e2a85d2b4f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ef145af3c48ea" /><Relationship Type="http://schemas.openxmlformats.org/officeDocument/2006/relationships/notesSlide" Target="/ppt/notesSlides/notesSlide5.xml" Id="R2e0c00d641b348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4cc14d0a447ea" /><Relationship Type="http://schemas.openxmlformats.org/officeDocument/2006/relationships/notesSlide" Target="/ppt/notesSlides/notesSlide6.xml" Id="Rb9ef9d829f984e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af9649f3546e6" /><Relationship Type="http://schemas.openxmlformats.org/officeDocument/2006/relationships/notesSlide" Target="/ppt/notesSlides/notesSlide7.xml" Id="Rcd7dd92fd81542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fbc6217e44269" /><Relationship Type="http://schemas.openxmlformats.org/officeDocument/2006/relationships/notesSlide" Target="/ppt/notesSlides/notesSlide8.xml" Id="R388aa75cab4546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3e8c7d3d4d4f65" /><Relationship Type="http://schemas.openxmlformats.org/officeDocument/2006/relationships/notesSlide" Target="/ppt/notesSlides/notesSlide9.xml" Id="R9ada9d893f134e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01430c38e46d3" /><Relationship Type="http://schemas.openxmlformats.org/officeDocument/2006/relationships/notesSlide" Target="/ppt/notesSlides/notesSlide10.xml" Id="R82c9a68a1af544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167cd0dd34873" /><Relationship Type="http://schemas.openxmlformats.org/officeDocument/2006/relationships/notesSlide" Target="/ppt/notesSlides/notesSlide11.xml" Id="Re7a2a824c30a4e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5A02D1-8A33-4D96-9E31-96C8FE188D19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734300" y="49815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136A79-4391-4760-8CF3-835FDE99A9EF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905250" y="49815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579C3-62A9-4132-AA64-593F59BD6135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0458450" y="215265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34198-5338-4CEC-AE77-6ECBA02AE08E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382125" y="215265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906F8-7621-4CFF-A30A-9138EA6AD63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305800" y="215265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BA9C5-0A36-4F40-8DFC-628D316A1F3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229475" y="215265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5" name="candidate-text-1">
            <a:extLst xmlns:a="http://schemas.openxmlformats.org/drawingml/2006/main">
              <a:ext uri="{FF2B5EF4-FFF2-40B4-BE49-F238E27FC236}">
                <a16:creationId xmlns:a16="http://schemas.microsoft.com/office/drawing/2014/main" id="{D4C96A6C-08F8-4FA9-8CF6-CCFE4531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研究背景：飞机脉动装配线调度</a:t>
            </a:r>
          </a:p>
        </p:txBody>
      </p:sp>
      <p:sp>
        <p:nvSpPr>
          <p:cNvPr id="2" name="candidate-line-2">
            <a:extLst xmlns:a="http://schemas.openxmlformats.org/drawingml/2006/main">
              <a:ext uri="{FF2B5EF4-FFF2-40B4-BE49-F238E27FC236}">
                <a16:creationId xmlns:a16="http://schemas.microsoft.com/office/drawing/2014/main" id="{CC982C60-B776-491B-8702-A8E92371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3">
            <a:extLst xmlns:a="http://schemas.openxmlformats.org/drawingml/2006/main">
              <a:ext uri="{FF2B5EF4-FFF2-40B4-BE49-F238E27FC236}">
                <a16:creationId xmlns:a16="http://schemas.microsoft.com/office/drawing/2014/main" id="{332E5F21-1948-47EA-828D-459ADEDA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4">
            <a:extLst xmlns:a="http://schemas.openxmlformats.org/drawingml/2006/main">
              <a:ext uri="{FF2B5EF4-FFF2-40B4-BE49-F238E27FC236}">
                <a16:creationId xmlns:a16="http://schemas.microsoft.com/office/drawing/2014/main" id="{431B5EFB-6291-44A2-BABA-C789C48F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研究背景</a:t>
            </a:r>
          </a:p>
        </p:txBody>
      </p:sp>
      <p:sp>
        <p:nvSpPr>
          <p:cNvPr id="5" name="candidate-text-5">
            <a:extLst xmlns:a="http://schemas.openxmlformats.org/drawingml/2006/main">
              <a:ext uri="{FF2B5EF4-FFF2-40B4-BE49-F238E27FC236}">
                <a16:creationId xmlns:a16="http://schemas.microsoft.com/office/drawing/2014/main" id="{B0AD71B7-0241-4A9E-A8F6-992F531A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3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＋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6" name="candidate-text-6">
            <a:extLst xmlns:a="http://schemas.openxmlformats.org/drawingml/2006/main">
              <a:ext uri="{FF2B5EF4-FFF2-40B4-BE49-F238E27FC236}">
                <a16:creationId xmlns:a16="http://schemas.microsoft.com/office/drawing/2014/main" id="{EE76550B-7369-4A93-885D-71E7E175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76325"/>
            <a:ext cx="501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大飞机产业发展与装配需求</a:t>
            </a:r>
          </a:p>
        </p:txBody>
      </p:sp>
      <p:sp>
        <p:nvSpPr>
          <p:cNvPr id="7" name="candidate-text-7">
            <a:extLst xmlns:a="http://schemas.openxmlformats.org/drawingml/2006/main">
              <a:ext uri="{FF2B5EF4-FFF2-40B4-BE49-F238E27FC236}">
                <a16:creationId xmlns:a16="http://schemas.microsoft.com/office/drawing/2014/main" id="{3F44F6FA-FDDE-4EFB-BBAA-91874EA6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9725"/>
            <a:ext cx="5000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国产大飞机规模化、系列化发展</a:t>
            </a:r>
          </a:p>
        </p:txBody>
      </p:sp>
      <p:sp>
        <p:nvSpPr>
          <p:cNvPr id="8" name="candidate-text-8">
            <a:extLst xmlns:a="http://schemas.openxmlformats.org/drawingml/2006/main">
              <a:ext uri="{FF2B5EF4-FFF2-40B4-BE49-F238E27FC236}">
                <a16:creationId xmlns:a16="http://schemas.microsoft.com/office/drawing/2014/main" id="{015A32C5-4434-4A8C-898D-1C0DA650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5019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“十五五”规划提出推进国产大飞机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规模化、系列化发展。</a:t>
            </a:r>
            <a:r>
              <a:rPr b="0">
                <a:latin typeface="Nimbus Roman"/>
                <a:ea typeface="Nimbus Roman"/>
                <a:cs typeface="Nimbus Roman"/>
              </a:rPr>
              <a:t>[1]</a:t>
            </a:r>
          </a:p>
        </p:txBody>
      </p:sp>
      <p:sp>
        <p:nvSpPr>
          <p:cNvPr id="9" name="candidate-text-9">
            <a:extLst xmlns:a="http://schemas.openxmlformats.org/drawingml/2006/main">
              <a:ext uri="{FF2B5EF4-FFF2-40B4-BE49-F238E27FC236}">
                <a16:creationId xmlns:a16="http://schemas.microsoft.com/office/drawing/2014/main" id="{0EA32D82-5CDD-4E48-BD50-E7B5760F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5000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总装能力建设与生产组织优化</a:t>
            </a:r>
          </a:p>
        </p:txBody>
      </p:sp>
      <p:sp>
        <p:nvSpPr>
          <p:cNvPr id="10" name="candidate-text-10">
            <a:extLst xmlns:a="http://schemas.openxmlformats.org/drawingml/2006/main">
              <a:ext uri="{FF2B5EF4-FFF2-40B4-BE49-F238E27FC236}">
                <a16:creationId xmlns:a16="http://schemas.microsoft.com/office/drawing/2014/main" id="{670B869E-D05B-4CCC-89AA-A1DDB457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5019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总装产能提升需要生产组织支撑；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“人工智能</a:t>
            </a:r>
            <a:r>
              <a:rPr b="0">
                <a:latin typeface="Nimbus Roman"/>
                <a:ea typeface="Nimbus Roman"/>
                <a:cs typeface="Nimbus Roman"/>
              </a:rPr>
              <a:t>+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制造”将排产调度列为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应用环节。</a:t>
            </a:r>
            <a:r>
              <a:rPr b="0">
                <a:latin typeface="Nimbus Roman"/>
                <a:ea typeface="Nimbus Roman"/>
                <a:cs typeface="Nimbus Roman"/>
              </a:rPr>
              <a:t>[2,3]</a:t>
            </a:r>
          </a:p>
        </p:txBody>
      </p:sp>
      <p:sp>
        <p:nvSpPr>
          <p:cNvPr id="11" name="candidate-line-11">
            <a:extLst xmlns:a="http://schemas.openxmlformats.org/drawingml/2006/main">
              <a:ext uri="{FF2B5EF4-FFF2-40B4-BE49-F238E27FC236}">
                <a16:creationId xmlns:a16="http://schemas.microsoft.com/office/drawing/2014/main" id="{A794E708-F0CE-43C0-9FC4-C7576790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24550" y="1133475"/>
            <a:ext cx="0" cy="2752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" name="candidate-text-12">
            <a:extLst xmlns:a="http://schemas.openxmlformats.org/drawingml/2006/main">
              <a:ext uri="{FF2B5EF4-FFF2-40B4-BE49-F238E27FC236}">
                <a16:creationId xmlns:a16="http://schemas.microsoft.com/office/drawing/2014/main" id="{AB415FEA-B027-41F9-A1CF-4D0BA36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076325"/>
            <a:ext cx="531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飞机脉动装配线的生产特点</a:t>
            </a:r>
          </a:p>
        </p:txBody>
      </p:sp>
      <p:sp>
        <p:nvSpPr>
          <p:cNvPr id="13" name="candidate-text-13">
            <a:extLst xmlns:a="http://schemas.openxmlformats.org/drawingml/2006/main">
              <a:ext uri="{FF2B5EF4-FFF2-40B4-BE49-F238E27FC236}">
                <a16:creationId xmlns:a16="http://schemas.microsoft.com/office/drawing/2014/main" id="{255D300F-D08E-4E0A-8893-5885CC8C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14" name="candidate-box-14">
            <a:extLst xmlns:a="http://schemas.openxmlformats.org/drawingml/2006/main">
              <a:ext uri="{FF2B5EF4-FFF2-40B4-BE49-F238E27FC236}">
                <a16:creationId xmlns:a16="http://schemas.microsoft.com/office/drawing/2014/main" id="{ECB4E59E-5056-4AE1-9DF7-4FB7A501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9810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15" name="candidate-text-15">
            <a:extLst xmlns:a="http://schemas.openxmlformats.org/drawingml/2006/main">
              <a:ext uri="{FF2B5EF4-FFF2-40B4-BE49-F238E27FC236}">
                <a16:creationId xmlns:a16="http://schemas.microsoft.com/office/drawing/2014/main" id="{B0A7C120-9A4A-4FBD-ADAC-9A1F1DA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5811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16" name="candidate-box-16">
            <a:extLst xmlns:a="http://schemas.openxmlformats.org/drawingml/2006/main">
              <a:ext uri="{FF2B5EF4-FFF2-40B4-BE49-F238E27FC236}">
                <a16:creationId xmlns:a16="http://schemas.microsoft.com/office/drawing/2014/main" id="{246C4E52-2E06-4522-817B-3C2DB4B3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52625"/>
            <a:ext cx="9810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18" name="candidate-text-17">
            <a:extLst xmlns:a="http://schemas.openxmlformats.org/drawingml/2006/main">
              <a:ext uri="{FF2B5EF4-FFF2-40B4-BE49-F238E27FC236}">
                <a16:creationId xmlns:a16="http://schemas.microsoft.com/office/drawing/2014/main" id="{90ECAFA1-53C9-4294-AF8A-B43EE0F9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811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19" name="candidate-box-18">
            <a:extLst xmlns:a="http://schemas.openxmlformats.org/drawingml/2006/main">
              <a:ext uri="{FF2B5EF4-FFF2-40B4-BE49-F238E27FC236}">
                <a16:creationId xmlns:a16="http://schemas.microsoft.com/office/drawing/2014/main" id="{AC6F5075-E4BA-4459-9E4B-82195969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52625"/>
            <a:ext cx="9810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1" name="candidate-text-19">
            <a:extLst xmlns:a="http://schemas.openxmlformats.org/drawingml/2006/main">
              <a:ext uri="{FF2B5EF4-FFF2-40B4-BE49-F238E27FC236}">
                <a16:creationId xmlns:a16="http://schemas.microsoft.com/office/drawing/2014/main" id="{DDEB5CAF-D3B2-4C7A-9B40-68D52D38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811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22" name="candidate-box-20">
            <a:extLst xmlns:a="http://schemas.openxmlformats.org/drawingml/2006/main">
              <a:ext uri="{FF2B5EF4-FFF2-40B4-BE49-F238E27FC236}">
                <a16:creationId xmlns:a16="http://schemas.microsoft.com/office/drawing/2014/main" id="{1C922EAE-51A1-4EB1-A589-C2591FDB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52625"/>
            <a:ext cx="9810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4" name="candidate-text-21">
            <a:extLst xmlns:a="http://schemas.openxmlformats.org/drawingml/2006/main">
              <a:ext uri="{FF2B5EF4-FFF2-40B4-BE49-F238E27FC236}">
                <a16:creationId xmlns:a16="http://schemas.microsoft.com/office/drawing/2014/main" id="{50A80B54-44CC-4838-B748-936748A4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5811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25" name="candidate-box-22">
            <a:extLst xmlns:a="http://schemas.openxmlformats.org/drawingml/2006/main">
              <a:ext uri="{FF2B5EF4-FFF2-40B4-BE49-F238E27FC236}">
                <a16:creationId xmlns:a16="http://schemas.microsoft.com/office/drawing/2014/main" id="{02B6944E-0F6B-47BD-B875-CB02D3D1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52625"/>
            <a:ext cx="9810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7" name="candidate-text-23">
            <a:extLst xmlns:a="http://schemas.openxmlformats.org/drawingml/2006/main">
              <a:ext uri="{FF2B5EF4-FFF2-40B4-BE49-F238E27FC236}">
                <a16:creationId xmlns:a16="http://schemas.microsoft.com/office/drawing/2014/main" id="{8DFF270F-287C-4FDB-9575-E3436949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38400"/>
            <a:ext cx="526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同步转站（本研究五站位设置）</a:t>
            </a:r>
          </a:p>
        </p:txBody>
      </p:sp>
      <p:sp>
        <p:nvSpPr>
          <p:cNvPr id="28" name="candidate-text-24">
            <a:extLst xmlns:a="http://schemas.openxmlformats.org/drawingml/2006/main">
              <a:ext uri="{FF2B5EF4-FFF2-40B4-BE49-F238E27FC236}">
                <a16:creationId xmlns:a16="http://schemas.microsoft.com/office/drawing/2014/main" id="{4FDAED3A-E7F0-4C6B-A1C2-D5ADE0EB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47975"/>
            <a:ext cx="531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驻站装配，完成后同步转站</a:t>
            </a:r>
          </a:p>
        </p:txBody>
      </p:sp>
      <p:sp>
        <p:nvSpPr>
          <p:cNvPr id="29" name="candidate-text-25">
            <a:extLst xmlns:a="http://schemas.openxmlformats.org/drawingml/2006/main">
              <a:ext uri="{FF2B5EF4-FFF2-40B4-BE49-F238E27FC236}">
                <a16:creationId xmlns:a16="http://schemas.microsoft.com/office/drawing/2014/main" id="{21B0CD21-A8DE-4423-908E-01E82BC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531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工序满足前序关系；团队受资格与效率约束。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不同站位上的飞机并行作业，先完成的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站位等待其余站位。</a:t>
            </a:r>
          </a:p>
        </p:txBody>
      </p:sp>
      <p:sp>
        <p:nvSpPr>
          <p:cNvPr id="30" name="candidate-line-26">
            <a:extLst xmlns:a="http://schemas.openxmlformats.org/drawingml/2006/main">
              <a:ext uri="{FF2B5EF4-FFF2-40B4-BE49-F238E27FC236}">
                <a16:creationId xmlns:a16="http://schemas.microsoft.com/office/drawing/2014/main" id="{08495AF0-9995-425B-8E52-CA7C4548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1052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solid"/>
          </a:ln>
        </p:spPr>
      </p:sp>
      <p:sp>
        <p:nvSpPr>
          <p:cNvPr id="31" name="candidate-text-27">
            <a:extLst xmlns:a="http://schemas.openxmlformats.org/drawingml/2006/main">
              <a:ext uri="{FF2B5EF4-FFF2-40B4-BE49-F238E27FC236}">
                <a16:creationId xmlns:a16="http://schemas.microsoft.com/office/drawing/2014/main" id="{582B0B1B-1197-45AD-A0AE-6EB63DDD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工序、站位与人员团队相互耦合</a:t>
            </a:r>
          </a:p>
        </p:txBody>
      </p:sp>
      <p:sp>
        <p:nvSpPr>
          <p:cNvPr id="32" name="candidate-box-28">
            <a:extLst xmlns:a="http://schemas.openxmlformats.org/drawingml/2006/main">
              <a:ext uri="{FF2B5EF4-FFF2-40B4-BE49-F238E27FC236}">
                <a16:creationId xmlns:a16="http://schemas.microsoft.com/office/drawing/2014/main" id="{194BF62F-4F4A-4F84-A365-F9C48324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工序选择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前序与可开工任务</a:t>
            </a:r>
          </a:p>
        </p:txBody>
      </p:sp>
      <p:sp>
        <p:nvSpPr>
          <p:cNvPr id="33" name="candidate-box-29">
            <a:extLst xmlns:a="http://schemas.openxmlformats.org/drawingml/2006/main">
              <a:ext uri="{FF2B5EF4-FFF2-40B4-BE49-F238E27FC236}">
                <a16:creationId xmlns:a16="http://schemas.microsoft.com/office/drawing/2014/main" id="{48164E0E-D92B-473A-9B41-0F1EFEC0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8630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站位选择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本站负荷与人员范围</a:t>
            </a:r>
          </a:p>
        </p:txBody>
      </p:sp>
      <p:sp>
        <p:nvSpPr>
          <p:cNvPr id="34" name="candidate-box-30">
            <a:extLst xmlns:a="http://schemas.openxmlformats.org/drawingml/2006/main">
              <a:ext uri="{FF2B5EF4-FFF2-40B4-BE49-F238E27FC236}">
                <a16:creationId xmlns:a16="http://schemas.microsoft.com/office/drawing/2014/main" id="{2AF7A814-EBB2-4788-9B6E-68C6B28C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8630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团队选择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作业时长与人员占用</a:t>
            </a:r>
          </a:p>
        </p:txBody>
      </p:sp>
      <p:sp>
        <p:nvSpPr>
          <p:cNvPr id="37" name="candidate-text-31">
            <a:extLst xmlns:a="http://schemas.openxmlformats.org/drawingml/2006/main">
              <a:ext uri="{FF2B5EF4-FFF2-40B4-BE49-F238E27FC236}">
                <a16:creationId xmlns:a16="http://schemas.microsoft.com/office/drawing/2014/main" id="{C6F22F2D-4425-4338-9BA3-C329023A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43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共同影响起止时刻与资源占用，进而可能影响本站就绪和共同脉动。</a:t>
            </a:r>
          </a:p>
        </p:txBody>
      </p:sp>
      <p:sp>
        <p:nvSpPr>
          <p:cNvPr id="38" name="candidate-line-32">
            <a:extLst xmlns:a="http://schemas.openxmlformats.org/drawingml/2006/main">
              <a:ext uri="{FF2B5EF4-FFF2-40B4-BE49-F238E27FC236}">
                <a16:creationId xmlns:a16="http://schemas.microsoft.com/office/drawing/2014/main" id="{F068B0FB-D8EB-4D34-9AA0-E5122DB6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762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9" name="candidate-text-33">
            <a:extLst xmlns:a="http://schemas.openxmlformats.org/drawingml/2006/main">
              <a:ext uri="{FF2B5EF4-FFF2-40B4-BE49-F238E27FC236}">
                <a16:creationId xmlns:a16="http://schemas.microsoft.com/office/drawing/2014/main" id="{88E7A1A9-3D7B-4031-828C-E406C7B0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研究范围</a:t>
            </a:r>
          </a:p>
        </p:txBody>
      </p:sp>
      <p:sp>
        <p:nvSpPr>
          <p:cNvPr id="40" name="candidate-text-34">
            <a:extLst xmlns:a="http://schemas.openxmlformats.org/drawingml/2006/main">
              <a:ext uri="{FF2B5EF4-FFF2-40B4-BE49-F238E27FC236}">
                <a16:creationId xmlns:a16="http://schemas.microsoft.com/office/drawing/2014/main" id="{6A231839-D9EF-46B3-AD7C-2CC0F8C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85787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无扰动联合安排</a:t>
            </a:r>
          </a:p>
        </p:txBody>
      </p:sp>
      <p:cxnSp>
        <p:nvCxnSpPr>
          <p:cNvPr id="41" name="candidate-arrow-35">
            <a:extLst xmlns:a="http://schemas.openxmlformats.org/drawingml/2006/main">
              <a:ext uri="{FF2B5EF4-FFF2-40B4-BE49-F238E27FC236}">
                <a16:creationId xmlns:a16="http://schemas.microsoft.com/office/drawing/2014/main" id="{5970EA6B-59FE-44A5-A0E5-60E14AC9E62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81525" y="60293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2" name="candidate-text-36">
            <a:extLst xmlns:a="http://schemas.openxmlformats.org/drawingml/2006/main">
              <a:ext uri="{FF2B5EF4-FFF2-40B4-BE49-F238E27FC236}">
                <a16:creationId xmlns:a16="http://schemas.microsoft.com/office/drawing/2014/main" id="{9091D7F3-0E51-4771-A2E8-3930FB99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857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延迟开工后的修复</a:t>
            </a:r>
          </a:p>
        </p:txBody>
      </p:sp>
      <p:cxnSp>
        <p:nvCxnSpPr>
          <p:cNvPr id="43" name="candidate-arrow-37">
            <a:extLst xmlns:a="http://schemas.openxmlformats.org/drawingml/2006/main">
              <a:ext uri="{FF2B5EF4-FFF2-40B4-BE49-F238E27FC236}">
                <a16:creationId xmlns:a16="http://schemas.microsoft.com/office/drawing/2014/main" id="{68BA18E6-4D5A-443D-A481-1F8516638C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67625" y="60293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4" name="candidate-text-38">
            <a:extLst xmlns:a="http://schemas.openxmlformats.org/drawingml/2006/main">
              <a:ext uri="{FF2B5EF4-FFF2-40B4-BE49-F238E27FC236}">
                <a16:creationId xmlns:a16="http://schemas.microsoft.com/office/drawing/2014/main" id="{D0FB16BB-3009-432A-A954-59BB0871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57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多架次实际执行</a:t>
            </a:r>
          </a:p>
        </p:txBody>
      </p:sp>
    </p:spTree>
    <p:extLst>
      <p:ext uri="{BB962C8B-B14F-4D97-AF65-F5344CB8AC3E}">
        <p14:creationId xmlns:p14="http://schemas.microsoft.com/office/powerpoint/2010/main" val="840408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A7F9A9-3CE5-41AD-A570-7E326670BBC1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 flipV="1">
            <a:off x="7334250" y="5357813"/>
            <a:ext cx="333375" cy="2238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DE830F-C124-47AE-9883-BA26AC199F7B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334250" y="5048250"/>
            <a:ext cx="333375" cy="3095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CFD8A2-DE14-43B6-8EB2-E5A4032E93D3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V="1">
            <a:off x="5124450" y="5581650"/>
            <a:ext cx="25717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778510-AF9B-424D-B8E1-780FFC549813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981700" y="5048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5065DD-650A-4132-B8DA-C1085C0ADF4D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4629150" y="5048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4AE565-C0B3-4499-AF1D-994ADB4BD9FB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6743700" y="3662363"/>
            <a:ext cx="419100" cy="28098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DE2A75-5616-4554-83A4-F9AC45D2C0A8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743700" y="3362325"/>
            <a:ext cx="419100" cy="3000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718C95-15F1-40C9-AC3C-EB7FCE26F6F2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724400" y="3652838"/>
            <a:ext cx="323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D1C90E-600E-41F0-97F8-A6FC9D3D7396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4724400" y="3362325"/>
            <a:ext cx="323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27C3F-655B-4FC2-A0CE-9950F2448011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458075" y="19907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10D89-FF50-483F-B233-6541E42202E5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191250" y="1990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F1F72-8DD1-4096-B433-FB6901951173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4867275" y="1990725"/>
            <a:ext cx="3143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5" name="candidate-text-39">
            <a:extLst xmlns:a="http://schemas.openxmlformats.org/drawingml/2006/main">
              <a:ext uri="{FF2B5EF4-FFF2-40B4-BE49-F238E27FC236}">
                <a16:creationId xmlns:a16="http://schemas.microsoft.com/office/drawing/2014/main" id="{6EA4E417-5BC2-496A-B91C-82FABCC4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研究内容：三项研究及其递进关系</a:t>
            </a:r>
          </a:p>
        </p:txBody>
      </p:sp>
      <p:sp>
        <p:nvSpPr>
          <p:cNvPr id="2" name="candidate-line-40">
            <a:extLst xmlns:a="http://schemas.openxmlformats.org/drawingml/2006/main">
              <a:ext uri="{FF2B5EF4-FFF2-40B4-BE49-F238E27FC236}">
                <a16:creationId xmlns:a16="http://schemas.microsoft.com/office/drawing/2014/main" id="{BA431984-2960-4C13-BE4D-112146D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41">
            <a:extLst xmlns:a="http://schemas.openxmlformats.org/drawingml/2006/main">
              <a:ext uri="{FF2B5EF4-FFF2-40B4-BE49-F238E27FC236}">
                <a16:creationId xmlns:a16="http://schemas.microsoft.com/office/drawing/2014/main" id="{6F265D38-EA12-4F46-BA76-CE04E845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42">
            <a:extLst xmlns:a="http://schemas.openxmlformats.org/drawingml/2006/main">
              <a:ext uri="{FF2B5EF4-FFF2-40B4-BE49-F238E27FC236}">
                <a16:creationId xmlns:a16="http://schemas.microsoft.com/office/drawing/2014/main" id="{B3245586-FD9F-47DB-9B27-66E65741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研究内容</a:t>
            </a:r>
          </a:p>
        </p:txBody>
      </p:sp>
      <p:sp>
        <p:nvSpPr>
          <p:cNvPr id="5" name="candidate-text-43">
            <a:extLst xmlns:a="http://schemas.openxmlformats.org/drawingml/2006/main">
              <a:ext uri="{FF2B5EF4-FFF2-40B4-BE49-F238E27FC236}">
                <a16:creationId xmlns:a16="http://schemas.microsoft.com/office/drawing/2014/main" id="{3CB32327-CF95-4776-A876-80428401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9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＋</a:t>
            </a:r>
            <a:r>
              <a:rPr b="0">
                <a:latin typeface="Nimbus Roman"/>
                <a:ea typeface="Nimbus Roman"/>
                <a:cs typeface="Nimbus Roman"/>
              </a:rPr>
              <a:t>10</a:t>
            </a:r>
          </a:p>
        </p:txBody>
      </p:sp>
      <p:sp>
        <p:nvSpPr>
          <p:cNvPr id="6" name="candidate-text-44">
            <a:extLst xmlns:a="http://schemas.openxmlformats.org/drawingml/2006/main">
              <a:ext uri="{FF2B5EF4-FFF2-40B4-BE49-F238E27FC236}">
                <a16:creationId xmlns:a16="http://schemas.microsoft.com/office/drawing/2014/main" id="{7F95F8D0-C7BD-4008-8EB8-C332EC72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研究问题</a:t>
            </a:r>
          </a:p>
        </p:txBody>
      </p:sp>
      <p:sp>
        <p:nvSpPr>
          <p:cNvPr id="7" name="candidate-text-45">
            <a:extLst xmlns:a="http://schemas.openxmlformats.org/drawingml/2006/main">
              <a:ext uri="{FF2B5EF4-FFF2-40B4-BE49-F238E27FC236}">
                <a16:creationId xmlns:a16="http://schemas.microsoft.com/office/drawing/2014/main" id="{AED3C5AA-02BF-4F93-8CEA-2C74E4BF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09650"/>
            <a:ext cx="5686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主要研究内容</a:t>
            </a:r>
          </a:p>
        </p:txBody>
      </p:sp>
      <p:sp>
        <p:nvSpPr>
          <p:cNvPr id="8" name="candidate-text-46">
            <a:extLst xmlns:a="http://schemas.openxmlformats.org/drawingml/2006/main">
              <a:ext uri="{FF2B5EF4-FFF2-40B4-BE49-F238E27FC236}">
                <a16:creationId xmlns:a16="http://schemas.microsoft.com/office/drawing/2014/main" id="{DFF5855C-990A-48BD-9984-C7D54DAA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0096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工作说明</a:t>
            </a:r>
          </a:p>
        </p:txBody>
      </p:sp>
      <p:sp>
        <p:nvSpPr>
          <p:cNvPr id="9" name="candidate-box-47">
            <a:extLst xmlns:a="http://schemas.openxmlformats.org/drawingml/2006/main">
              <a:ext uri="{FF2B5EF4-FFF2-40B4-BE49-F238E27FC236}">
                <a16:creationId xmlns:a16="http://schemas.microsoft.com/office/drawing/2014/main" id="{B144DFDD-E405-4BAD-9180-9D8E3DDE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dash"/>
          </a:ln>
        </p:spPr>
      </p:sp>
      <p:sp>
        <p:nvSpPr>
          <p:cNvPr id="10" name="candidate-line-48">
            <a:extLst xmlns:a="http://schemas.openxmlformats.org/drawingml/2006/main">
              <a:ext uri="{FF2B5EF4-FFF2-40B4-BE49-F238E27FC236}">
                <a16:creationId xmlns:a16="http://schemas.microsoft.com/office/drawing/2014/main" id="{4705F2BE-2D96-46D1-AE84-50F1406D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7975" y="1466850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1" name="candidate-line-49">
            <a:extLst xmlns:a="http://schemas.openxmlformats.org/drawingml/2006/main">
              <a:ext uri="{FF2B5EF4-FFF2-40B4-BE49-F238E27FC236}">
                <a16:creationId xmlns:a16="http://schemas.microsoft.com/office/drawing/2014/main" id="{A1E2B6C2-995E-47DC-A1A9-5C0B4006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86825" y="1466850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" name="candidate-box-50">
            <a:extLst xmlns:a="http://schemas.openxmlformats.org/drawingml/2006/main">
              <a:ext uri="{FF2B5EF4-FFF2-40B4-BE49-F238E27FC236}">
                <a16:creationId xmlns:a16="http://schemas.microsoft.com/office/drawing/2014/main" id="{BC0C4579-44BA-4A84-8B15-EAA164C0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110871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dash"/>
          </a:ln>
        </p:spPr>
      </p:sp>
      <p:sp>
        <p:nvSpPr>
          <p:cNvPr id="13" name="candidate-line-51">
            <a:extLst xmlns:a="http://schemas.openxmlformats.org/drawingml/2006/main">
              <a:ext uri="{FF2B5EF4-FFF2-40B4-BE49-F238E27FC236}">
                <a16:creationId xmlns:a16="http://schemas.microsoft.com/office/drawing/2014/main" id="{931C96B9-58D9-4E42-AD81-0FEACF46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7975" y="3124200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4" name="candidate-line-52">
            <a:extLst xmlns:a="http://schemas.openxmlformats.org/drawingml/2006/main">
              <a:ext uri="{FF2B5EF4-FFF2-40B4-BE49-F238E27FC236}">
                <a16:creationId xmlns:a16="http://schemas.microsoft.com/office/drawing/2014/main" id="{88C5A264-4E54-4D37-9748-B337DBDA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86825" y="3124200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5" name="candidate-box-53">
            <a:extLst xmlns:a="http://schemas.openxmlformats.org/drawingml/2006/main">
              <a:ext uri="{FF2B5EF4-FFF2-40B4-BE49-F238E27FC236}">
                <a16:creationId xmlns:a16="http://schemas.microsoft.com/office/drawing/2014/main" id="{45425D25-49B0-43E0-8F69-E041811C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110871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dash"/>
          </a:ln>
        </p:spPr>
      </p:sp>
      <p:sp>
        <p:nvSpPr>
          <p:cNvPr id="16" name="candidate-line-54">
            <a:extLst xmlns:a="http://schemas.openxmlformats.org/drawingml/2006/main">
              <a:ext uri="{FF2B5EF4-FFF2-40B4-BE49-F238E27FC236}">
                <a16:creationId xmlns:a16="http://schemas.microsoft.com/office/drawing/2014/main" id="{173E9054-9E09-4770-AB9F-57973013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7975" y="4781550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7" name="candidate-line-55">
            <a:extLst xmlns:a="http://schemas.openxmlformats.org/drawingml/2006/main">
              <a:ext uri="{FF2B5EF4-FFF2-40B4-BE49-F238E27FC236}">
                <a16:creationId xmlns:a16="http://schemas.microsoft.com/office/drawing/2014/main" id="{76369CD9-CF2D-4342-B31B-FEBEE9E1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86825" y="4781550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8" name="candidate-text-56">
            <a:extLst xmlns:a="http://schemas.openxmlformats.org/drawingml/2006/main">
              <a:ext uri="{FF2B5EF4-FFF2-40B4-BE49-F238E27FC236}">
                <a16:creationId xmlns:a16="http://schemas.microsoft.com/office/drawing/2014/main" id="{715C91D2-478F-4D94-9FD6-418EB828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工艺与人员约束下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如何联合安排？</a:t>
            </a:r>
          </a:p>
        </p:txBody>
      </p:sp>
      <p:sp>
        <p:nvSpPr>
          <p:cNvPr id="19" name="candidate-box-57">
            <a:extLst xmlns:a="http://schemas.openxmlformats.org/drawingml/2006/main">
              <a:ext uri="{FF2B5EF4-FFF2-40B4-BE49-F238E27FC236}">
                <a16:creationId xmlns:a16="http://schemas.microsoft.com/office/drawing/2014/main" id="{09ABAAE0-0D9D-4C42-9475-2404C900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62100"/>
            <a:ext cx="18288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同构图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统一表示</a:t>
            </a:r>
          </a:p>
        </p:txBody>
      </p:sp>
      <p:sp>
        <p:nvSpPr>
          <p:cNvPr id="20" name="candidate-box-58">
            <a:extLst xmlns:a="http://schemas.openxmlformats.org/drawingml/2006/main">
              <a:ext uri="{FF2B5EF4-FFF2-40B4-BE49-F238E27FC236}">
                <a16:creationId xmlns:a16="http://schemas.microsoft.com/office/drawing/2014/main" id="{9F2F3660-FF98-49CC-AFF3-6ACEC252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04975"/>
            <a:ext cx="100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选工序</a:t>
            </a:r>
          </a:p>
        </p:txBody>
      </p:sp>
      <p:sp>
        <p:nvSpPr>
          <p:cNvPr id="21" name="candidate-box-59">
            <a:extLst xmlns:a="http://schemas.openxmlformats.org/drawingml/2006/main">
              <a:ext uri="{FF2B5EF4-FFF2-40B4-BE49-F238E27FC236}">
                <a16:creationId xmlns:a16="http://schemas.microsoft.com/office/drawing/2014/main" id="{1C22FE4D-C899-4392-8AAD-9F251DF3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04975"/>
            <a:ext cx="100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选站位</a:t>
            </a:r>
          </a:p>
        </p:txBody>
      </p:sp>
      <p:sp>
        <p:nvSpPr>
          <p:cNvPr id="22" name="candidate-box-60">
            <a:extLst xmlns:a="http://schemas.openxmlformats.org/drawingml/2006/main">
              <a:ext uri="{FF2B5EF4-FFF2-40B4-BE49-F238E27FC236}">
                <a16:creationId xmlns:a16="http://schemas.microsoft.com/office/drawing/2014/main" id="{429889FB-FE9F-4557-ADD5-10C31A36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00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选团队</a:t>
            </a:r>
          </a:p>
        </p:txBody>
      </p:sp>
      <p:sp>
        <p:nvSpPr>
          <p:cNvPr id="26" name="candidate-text-61">
            <a:extLst xmlns:a="http://schemas.openxmlformats.org/drawingml/2006/main">
              <a:ext uri="{FF2B5EF4-FFF2-40B4-BE49-F238E27FC236}">
                <a16:creationId xmlns:a16="http://schemas.microsoft.com/office/drawing/2014/main" id="{129473CB-385C-46CB-A942-29A0CB89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495425"/>
            <a:ext cx="24479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无扰动条件下，统一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表示工艺与人员信息，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联合选择工序、站位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及人员团队。</a:t>
            </a:r>
          </a:p>
        </p:txBody>
      </p:sp>
      <p:cxnSp>
        <p:nvCxnSpPr>
          <p:cNvPr id="27" name="candidate-arrow-62">
            <a:extLst xmlns:a="http://schemas.openxmlformats.org/drawingml/2006/main">
              <a:ext uri="{FF2B5EF4-FFF2-40B4-BE49-F238E27FC236}">
                <a16:creationId xmlns:a16="http://schemas.microsoft.com/office/drawing/2014/main" id="{19A38322-9438-4DB1-A56F-0DF42BF2CBA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66875" y="26289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8" name="candidate-text-63">
            <a:extLst xmlns:a="http://schemas.openxmlformats.org/drawingml/2006/main">
              <a:ext uri="{FF2B5EF4-FFF2-40B4-BE49-F238E27FC236}">
                <a16:creationId xmlns:a16="http://schemas.microsoft.com/office/drawing/2014/main" id="{981FD5C0-4A29-4CAE-B176-13BBC86A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76525"/>
            <a:ext cx="5686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进一步区分关系，并响应工序延迟开工</a:t>
            </a:r>
          </a:p>
        </p:txBody>
      </p:sp>
      <p:sp>
        <p:nvSpPr>
          <p:cNvPr id="29" name="candidate-text-64">
            <a:extLst xmlns:a="http://schemas.openxmlformats.org/drawingml/2006/main">
              <a:ext uri="{FF2B5EF4-FFF2-40B4-BE49-F238E27FC236}">
                <a16:creationId xmlns:a16="http://schemas.microsoft.com/office/drawing/2014/main" id="{8B24E39C-F76D-4E47-B457-C47ACE9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延迟开工后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如何修复计划？</a:t>
            </a:r>
          </a:p>
        </p:txBody>
      </p:sp>
      <p:sp>
        <p:nvSpPr>
          <p:cNvPr id="30" name="candidate-box-65">
            <a:extLst xmlns:a="http://schemas.openxmlformats.org/drawingml/2006/main">
              <a:ext uri="{FF2B5EF4-FFF2-40B4-BE49-F238E27FC236}">
                <a16:creationId xmlns:a16="http://schemas.microsoft.com/office/drawing/2014/main" id="{364803BD-EDEA-47C2-9203-1294A810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19450"/>
            <a:ext cx="16859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异构图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关系表示</a:t>
            </a:r>
          </a:p>
        </p:txBody>
      </p:sp>
      <p:sp>
        <p:nvSpPr>
          <p:cNvPr id="31" name="candidate-box-66">
            <a:extLst xmlns:a="http://schemas.openxmlformats.org/drawingml/2006/main">
              <a:ext uri="{FF2B5EF4-FFF2-40B4-BE49-F238E27FC236}">
                <a16:creationId xmlns:a16="http://schemas.microsoft.com/office/drawing/2014/main" id="{344C28AF-73D1-4C44-8B2D-6F4A9D6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保留冻结安排</a:t>
            </a:r>
          </a:p>
        </p:txBody>
      </p:sp>
      <p:sp>
        <p:nvSpPr>
          <p:cNvPr id="32" name="candidate-box-67">
            <a:extLst xmlns:a="http://schemas.openxmlformats.org/drawingml/2006/main">
              <a:ext uri="{FF2B5EF4-FFF2-40B4-BE49-F238E27FC236}">
                <a16:creationId xmlns:a16="http://schemas.microsoft.com/office/drawing/2014/main" id="{4858B6C6-706F-4B2F-97BB-EFBE1BA8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242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修复可调任务</a:t>
            </a:r>
          </a:p>
        </p:txBody>
      </p:sp>
      <p:sp>
        <p:nvSpPr>
          <p:cNvPr id="33" name="candidate-box-68">
            <a:extLst xmlns:a="http://schemas.openxmlformats.org/drawingml/2006/main">
              <a:ext uri="{FF2B5EF4-FFF2-40B4-BE49-F238E27FC236}">
                <a16:creationId xmlns:a16="http://schemas.microsoft.com/office/drawing/2014/main" id="{922569CE-A3B6-477F-A729-1AEA0190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71850"/>
            <a:ext cx="15525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修复排程</a:t>
            </a:r>
          </a:p>
        </p:txBody>
      </p:sp>
      <p:sp>
        <p:nvSpPr>
          <p:cNvPr id="38" name="candidate-text-69">
            <a:extLst xmlns:a="http://schemas.openxmlformats.org/drawingml/2006/main">
              <a:ext uri="{FF2B5EF4-FFF2-40B4-BE49-F238E27FC236}">
                <a16:creationId xmlns:a16="http://schemas.microsoft.com/office/drawing/2014/main" id="{BB8865B2-EAF5-47DA-AD3C-EB907AE8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24479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区分实体与关系，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延迟开工后修复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可调任务，兼顾效率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与计划稳定性。</a:t>
            </a:r>
          </a:p>
        </p:txBody>
      </p:sp>
      <p:cxnSp>
        <p:nvCxnSpPr>
          <p:cNvPr id="39" name="candidate-arrow-70">
            <a:extLst xmlns:a="http://schemas.openxmlformats.org/drawingml/2006/main">
              <a:ext uri="{FF2B5EF4-FFF2-40B4-BE49-F238E27FC236}">
                <a16:creationId xmlns:a16="http://schemas.microsoft.com/office/drawing/2014/main" id="{8E3663AE-787A-403D-AE7B-D7C5F063E6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66875" y="42862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0" name="candidate-text-71">
            <a:extLst xmlns:a="http://schemas.openxmlformats.org/drawingml/2006/main">
              <a:ext uri="{FF2B5EF4-FFF2-40B4-BE49-F238E27FC236}">
                <a16:creationId xmlns:a16="http://schemas.microsoft.com/office/drawing/2014/main" id="{29B36E15-5765-4B39-BCE8-BDA628E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33875"/>
            <a:ext cx="5686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进一步跟踪多架次状态与共同脉动</a:t>
            </a:r>
          </a:p>
        </p:txBody>
      </p:sp>
      <p:sp>
        <p:nvSpPr>
          <p:cNvPr id="41" name="candidate-text-72">
            <a:extLst xmlns:a="http://schemas.openxmlformats.org/drawingml/2006/main">
              <a:ext uri="{FF2B5EF4-FFF2-40B4-BE49-F238E27FC236}">
                <a16:creationId xmlns:a16="http://schemas.microsoft.com/office/drawing/2014/main" id="{DC3DC788-D80D-4FC7-9193-7A1502BC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多架次实际执行中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如何协调转站？</a:t>
            </a:r>
          </a:p>
        </p:txBody>
      </p:sp>
      <p:sp>
        <p:nvSpPr>
          <p:cNvPr id="42" name="candidate-box-73">
            <a:extLst xmlns:a="http://schemas.openxmlformats.org/drawingml/2006/main">
              <a:ext uri="{FF2B5EF4-FFF2-40B4-BE49-F238E27FC236}">
                <a16:creationId xmlns:a16="http://schemas.microsoft.com/office/drawing/2014/main" id="{F8A79BFF-BF5B-4540-B8CD-A53CE93A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38700"/>
            <a:ext cx="1590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工序／飞机</a:t>
            </a:r>
          </a:p>
        </p:txBody>
      </p:sp>
      <p:sp>
        <p:nvSpPr>
          <p:cNvPr id="43" name="candidate-box-74">
            <a:extLst xmlns:a="http://schemas.openxmlformats.org/drawingml/2006/main">
              <a:ext uri="{FF2B5EF4-FFF2-40B4-BE49-F238E27FC236}">
                <a16:creationId xmlns:a16="http://schemas.microsoft.com/office/drawing/2014/main" id="{37B0D40C-B056-4915-8AEC-A6C5C1FE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38700"/>
            <a:ext cx="10763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44" name="candidate-box-75">
            <a:extLst xmlns:a="http://schemas.openxmlformats.org/drawingml/2006/main">
              <a:ext uri="{FF2B5EF4-FFF2-40B4-BE49-F238E27FC236}">
                <a16:creationId xmlns:a16="http://schemas.microsoft.com/office/drawing/2014/main" id="{4CD4E7D9-0B1E-4102-812C-C1BABC11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38700"/>
            <a:ext cx="10763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整线</a:t>
            </a:r>
          </a:p>
        </p:txBody>
      </p:sp>
      <p:sp>
        <p:nvSpPr>
          <p:cNvPr id="47" name="candidate-box-76">
            <a:extLst xmlns:a="http://schemas.openxmlformats.org/drawingml/2006/main">
              <a:ext uri="{FF2B5EF4-FFF2-40B4-BE49-F238E27FC236}">
                <a16:creationId xmlns:a16="http://schemas.microsoft.com/office/drawing/2014/main" id="{88380B27-4658-4A11-8C3B-75C368C8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438775"/>
            <a:ext cx="2085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实际状态与最近变化</a:t>
            </a:r>
          </a:p>
        </p:txBody>
      </p:sp>
      <p:sp>
        <p:nvSpPr>
          <p:cNvPr id="48" name="candidate-box-77">
            <a:extLst xmlns:a="http://schemas.openxmlformats.org/drawingml/2006/main">
              <a:ext uri="{FF2B5EF4-FFF2-40B4-BE49-F238E27FC236}">
                <a16:creationId xmlns:a16="http://schemas.microsoft.com/office/drawing/2014/main" id="{F51836AB-5D14-4E95-BE70-59112006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43525"/>
            <a:ext cx="1952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当前与下一周期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时间后果</a:t>
            </a:r>
          </a:p>
        </p:txBody>
      </p:sp>
      <p:sp>
        <p:nvSpPr>
          <p:cNvPr id="49" name="candidate-box-78">
            <a:extLst xmlns:a="http://schemas.openxmlformats.org/drawingml/2006/main">
              <a:ext uri="{FF2B5EF4-FFF2-40B4-BE49-F238E27FC236}">
                <a16:creationId xmlns:a16="http://schemas.microsoft.com/office/drawing/2014/main" id="{A28AAB71-2238-4E9E-B36D-B0C2FAFA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53000"/>
            <a:ext cx="1047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语义增强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协同调度</a:t>
            </a:r>
          </a:p>
        </p:txBody>
      </p:sp>
      <p:sp>
        <p:nvSpPr>
          <p:cNvPr id="53" name="candidate-text-79">
            <a:extLst xmlns:a="http://schemas.openxmlformats.org/drawingml/2006/main">
              <a:ext uri="{FF2B5EF4-FFF2-40B4-BE49-F238E27FC236}">
                <a16:creationId xmlns:a16="http://schemas.microsoft.com/office/drawing/2014/main" id="{7F238F41-8A58-4A82-BE79-8B8D880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10125"/>
            <a:ext cx="24479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融合飞机、站位与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整线状态，面向多架次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执行，协调共同脉动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及紧邻下一周期。</a:t>
            </a:r>
          </a:p>
        </p:txBody>
      </p:sp>
      <p:sp>
        <p:nvSpPr>
          <p:cNvPr id="54" name="candidate-text-80">
            <a:extLst xmlns:a="http://schemas.openxmlformats.org/drawingml/2006/main">
              <a:ext uri="{FF2B5EF4-FFF2-40B4-BE49-F238E27FC236}">
                <a16:creationId xmlns:a16="http://schemas.microsoft.com/office/drawing/2014/main" id="{D555E113-2EB1-42D1-9D82-4391FD89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887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共同基础：工艺与人员约束、工序—站位—团队联合决策、可行性检查。</a:t>
            </a:r>
          </a:p>
        </p:txBody>
      </p:sp>
    </p:spTree>
    <p:extLst>
      <p:ext uri="{BB962C8B-B14F-4D97-AF65-F5344CB8AC3E}">
        <p14:creationId xmlns:p14="http://schemas.microsoft.com/office/powerpoint/2010/main" val="554074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candidate-text-81">
            <a:extLst xmlns:a="http://schemas.openxmlformats.org/drawingml/2006/main">
              <a:ext uri="{FF2B5EF4-FFF2-40B4-BE49-F238E27FC236}">
                <a16:creationId xmlns:a16="http://schemas.microsoft.com/office/drawing/2014/main" id="{830F84DE-6C80-4F2E-8831-0CA2027D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技术路线一：同构图下的联合静态调度</a:t>
            </a:r>
          </a:p>
        </p:txBody>
      </p:sp>
      <p:sp>
        <p:nvSpPr>
          <p:cNvPr id="2" name="candidate-line-82">
            <a:extLst xmlns:a="http://schemas.openxmlformats.org/drawingml/2006/main">
              <a:ext uri="{FF2B5EF4-FFF2-40B4-BE49-F238E27FC236}">
                <a16:creationId xmlns:a16="http://schemas.microsoft.com/office/drawing/2014/main" id="{5F29D168-F07D-4BA9-BC90-CBC6B4B2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83">
            <a:extLst xmlns:a="http://schemas.openxmlformats.org/drawingml/2006/main">
              <a:ext uri="{FF2B5EF4-FFF2-40B4-BE49-F238E27FC236}">
                <a16:creationId xmlns:a16="http://schemas.microsoft.com/office/drawing/2014/main" id="{0E70D36C-8031-4B4C-B48B-170135E6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84">
            <a:extLst xmlns:a="http://schemas.openxmlformats.org/drawingml/2006/main">
              <a:ext uri="{FF2B5EF4-FFF2-40B4-BE49-F238E27FC236}">
                <a16:creationId xmlns:a16="http://schemas.microsoft.com/office/drawing/2014/main" id="{3B8F3B17-4C0D-4155-BC48-1B0A920C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85">
            <a:extLst xmlns:a="http://schemas.openxmlformats.org/drawingml/2006/main">
              <a:ext uri="{FF2B5EF4-FFF2-40B4-BE49-F238E27FC236}">
                <a16:creationId xmlns:a16="http://schemas.microsoft.com/office/drawing/2014/main" id="{EDD6A9A0-1272-4FD3-8E95-44CA0407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11A</a:t>
            </a:r>
          </a:p>
        </p:txBody>
      </p:sp>
      <p:sp>
        <p:nvSpPr>
          <p:cNvPr id="6" name="candidate-text-86">
            <a:extLst xmlns:a="http://schemas.openxmlformats.org/drawingml/2006/main">
              <a:ext uri="{FF2B5EF4-FFF2-40B4-BE49-F238E27FC236}">
                <a16:creationId xmlns:a16="http://schemas.microsoft.com/office/drawing/2014/main" id="{67E4634A-0CC9-43F0-BE88-222C07A4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无扰动条件下，按完整动作循环构造基准排程</a:t>
            </a:r>
          </a:p>
        </p:txBody>
      </p:sp>
      <p:sp>
        <p:nvSpPr>
          <p:cNvPr id="7" name="candidate-box-87">
            <a:extLst xmlns:a="http://schemas.openxmlformats.org/drawingml/2006/main">
              <a:ext uri="{FF2B5EF4-FFF2-40B4-BE49-F238E27FC236}">
                <a16:creationId xmlns:a16="http://schemas.microsoft.com/office/drawing/2014/main" id="{5C4C6A1F-84C7-4B11-B797-3750D725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9725"/>
            <a:ext cx="24765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8" name="candidate-text-88">
            <a:extLst xmlns:a="http://schemas.openxmlformats.org/drawingml/2006/main">
              <a:ext uri="{FF2B5EF4-FFF2-40B4-BE49-F238E27FC236}">
                <a16:creationId xmlns:a16="http://schemas.microsoft.com/office/drawing/2014/main" id="{39024EF1-9B64-497F-9985-1292A898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049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1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同构图编码</a:t>
            </a:r>
          </a:p>
        </p:txBody>
      </p:sp>
      <p:sp>
        <p:nvSpPr>
          <p:cNvPr id="9" name="candidate-line-89">
            <a:extLst xmlns:a="http://schemas.openxmlformats.org/drawingml/2006/main">
              <a:ext uri="{FF2B5EF4-FFF2-40B4-BE49-F238E27FC236}">
                <a16:creationId xmlns:a16="http://schemas.microsoft.com/office/drawing/2014/main" id="{7F8BB21E-93AF-4492-84E4-CA1AAEA6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28700" y="2247900"/>
            <a:ext cx="84772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0" name="candidate-line-90">
            <a:extLst xmlns:a="http://schemas.openxmlformats.org/drawingml/2006/main">
              <a:ext uri="{FF2B5EF4-FFF2-40B4-BE49-F238E27FC236}">
                <a16:creationId xmlns:a16="http://schemas.microsoft.com/office/drawing/2014/main" id="{E4115B37-3E48-4363-AD85-BD7AFCFB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76425" y="2247900"/>
            <a:ext cx="809625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1" name="candidate-line-91">
            <a:extLst xmlns:a="http://schemas.openxmlformats.org/drawingml/2006/main">
              <a:ext uri="{FF2B5EF4-FFF2-40B4-BE49-F238E27FC236}">
                <a16:creationId xmlns:a16="http://schemas.microsoft.com/office/drawing/2014/main" id="{5046137E-8AEE-40EF-87DA-DA32A5AC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2409825"/>
            <a:ext cx="32385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2" name="candidate-line-92">
            <a:extLst xmlns:a="http://schemas.openxmlformats.org/drawingml/2006/main">
              <a:ext uri="{FF2B5EF4-FFF2-40B4-BE49-F238E27FC236}">
                <a16:creationId xmlns:a16="http://schemas.microsoft.com/office/drawing/2014/main" id="{4941F4FD-C6E0-4F50-BE05-9961577F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52550" y="2247900"/>
            <a:ext cx="523875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3" name="candidate-line-93">
            <a:extLst xmlns:a="http://schemas.openxmlformats.org/drawingml/2006/main">
              <a:ext uri="{FF2B5EF4-FFF2-40B4-BE49-F238E27FC236}">
                <a16:creationId xmlns:a16="http://schemas.microsoft.com/office/drawing/2014/main" id="{08B5884D-8F66-4632-A6E8-BF9B42CA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00300" y="2409825"/>
            <a:ext cx="28575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4" name="candidate-line-94">
            <a:extLst xmlns:a="http://schemas.openxmlformats.org/drawingml/2006/main">
              <a:ext uri="{FF2B5EF4-FFF2-40B4-BE49-F238E27FC236}">
                <a16:creationId xmlns:a16="http://schemas.microsoft.com/office/drawing/2014/main" id="{B89EDF5F-99BA-4844-A6CA-1C7D1550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28700" y="3048000"/>
            <a:ext cx="3238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5" name="candidate-line-95">
            <a:extLst xmlns:a="http://schemas.openxmlformats.org/drawingml/2006/main">
              <a:ext uri="{FF2B5EF4-FFF2-40B4-BE49-F238E27FC236}">
                <a16:creationId xmlns:a16="http://schemas.microsoft.com/office/drawing/2014/main" id="{36843780-759E-47E6-97AD-39D0FD1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048000"/>
            <a:ext cx="133350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6" name="candidate-line-96">
            <a:extLst xmlns:a="http://schemas.openxmlformats.org/drawingml/2006/main">
              <a:ext uri="{FF2B5EF4-FFF2-40B4-BE49-F238E27FC236}">
                <a16:creationId xmlns:a16="http://schemas.microsoft.com/office/drawing/2014/main" id="{2CBE9B4E-BCE5-4523-9781-E9824067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0300" y="3048000"/>
            <a:ext cx="2857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7" name="candidate-box-97">
            <a:extLst xmlns:a="http://schemas.openxmlformats.org/drawingml/2006/main">
              <a:ext uri="{FF2B5EF4-FFF2-40B4-BE49-F238E27FC236}">
                <a16:creationId xmlns:a16="http://schemas.microsoft.com/office/drawing/2014/main" id="{F216F86D-0C5E-4B9C-9FAE-892F43BA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8" y="2176463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8" name="candidate-text-98">
            <a:extLst xmlns:a="http://schemas.openxmlformats.org/drawingml/2006/main">
              <a:ext uri="{FF2B5EF4-FFF2-40B4-BE49-F238E27FC236}">
                <a16:creationId xmlns:a16="http://schemas.microsoft.com/office/drawing/2014/main" id="{3CE3494D-C213-48C9-B1B1-AA4CAF58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8" y="2176463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19" name="candidate-box-99">
            <a:extLst xmlns:a="http://schemas.openxmlformats.org/drawingml/2006/main">
              <a:ext uri="{FF2B5EF4-FFF2-40B4-BE49-F238E27FC236}">
                <a16:creationId xmlns:a16="http://schemas.microsoft.com/office/drawing/2014/main" id="{C8C25558-218E-4031-8AEC-3FD773A2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014538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0" name="candidate-text-100">
            <a:extLst xmlns:a="http://schemas.openxmlformats.org/drawingml/2006/main">
              <a:ext uri="{FF2B5EF4-FFF2-40B4-BE49-F238E27FC236}">
                <a16:creationId xmlns:a16="http://schemas.microsoft.com/office/drawing/2014/main" id="{14AFCF8B-325C-4468-84C6-E96D9E4F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014538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1" name="candidate-box-101">
            <a:extLst xmlns:a="http://schemas.openxmlformats.org/drawingml/2006/main">
              <a:ext uri="{FF2B5EF4-FFF2-40B4-BE49-F238E27FC236}">
                <a16:creationId xmlns:a16="http://schemas.microsoft.com/office/drawing/2014/main" id="{976F52EB-EABF-472F-A04C-64775208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2176463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candidate-text-102">
            <a:extLst xmlns:a="http://schemas.openxmlformats.org/drawingml/2006/main">
              <a:ext uri="{FF2B5EF4-FFF2-40B4-BE49-F238E27FC236}">
                <a16:creationId xmlns:a16="http://schemas.microsoft.com/office/drawing/2014/main" id="{3C84B7D0-8431-4FD6-817E-04D3E329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2176463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3" name="candidate-box-103">
            <a:extLst xmlns:a="http://schemas.openxmlformats.org/drawingml/2006/main">
              <a:ext uri="{FF2B5EF4-FFF2-40B4-BE49-F238E27FC236}">
                <a16:creationId xmlns:a16="http://schemas.microsoft.com/office/drawing/2014/main" id="{545A98CE-FC80-45DE-A66E-289D4ABC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8" y="2814638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4" name="candidate-text-104">
            <a:extLst xmlns:a="http://schemas.openxmlformats.org/drawingml/2006/main">
              <a:ext uri="{FF2B5EF4-FFF2-40B4-BE49-F238E27FC236}">
                <a16:creationId xmlns:a16="http://schemas.microsoft.com/office/drawing/2014/main" id="{6E404ECB-17DA-4602-8551-1657831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8" y="2814638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5" name="candidate-box-105">
            <a:extLst xmlns:a="http://schemas.openxmlformats.org/drawingml/2006/main">
              <a:ext uri="{FF2B5EF4-FFF2-40B4-BE49-F238E27FC236}">
                <a16:creationId xmlns:a16="http://schemas.microsoft.com/office/drawing/2014/main" id="{A069C36C-8B31-452D-B312-A791FEF3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2814638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6" name="candidate-text-106">
            <a:extLst xmlns:a="http://schemas.openxmlformats.org/drawingml/2006/main">
              <a:ext uri="{FF2B5EF4-FFF2-40B4-BE49-F238E27FC236}">
                <a16:creationId xmlns:a16="http://schemas.microsoft.com/office/drawing/2014/main" id="{7E6ECEC0-AD7D-4144-8293-3F9171A1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2814638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7" name="candidate-box-107">
            <a:extLst xmlns:a="http://schemas.openxmlformats.org/drawingml/2006/main">
              <a:ext uri="{FF2B5EF4-FFF2-40B4-BE49-F238E27FC236}">
                <a16:creationId xmlns:a16="http://schemas.microsoft.com/office/drawing/2014/main" id="{57650C27-F959-4E5C-9CA5-132AF2A2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8" y="3443288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8" name="candidate-text-108">
            <a:extLst xmlns:a="http://schemas.openxmlformats.org/drawingml/2006/main">
              <a:ext uri="{FF2B5EF4-FFF2-40B4-BE49-F238E27FC236}">
                <a16:creationId xmlns:a16="http://schemas.microsoft.com/office/drawing/2014/main" id="{6A33FB8A-8930-44BE-B584-7D0F578F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8" y="3443288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9" name="candidate-box-109">
            <a:extLst xmlns:a="http://schemas.openxmlformats.org/drawingml/2006/main">
              <a:ext uri="{FF2B5EF4-FFF2-40B4-BE49-F238E27FC236}">
                <a16:creationId xmlns:a16="http://schemas.microsoft.com/office/drawing/2014/main" id="{E3307B4B-7C3A-4D4C-889D-26105778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3443288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0" name="candidate-text-110">
            <a:extLst xmlns:a="http://schemas.openxmlformats.org/drawingml/2006/main">
              <a:ext uri="{FF2B5EF4-FFF2-40B4-BE49-F238E27FC236}">
                <a16:creationId xmlns:a16="http://schemas.microsoft.com/office/drawing/2014/main" id="{0842263B-2E68-4BF6-9A45-2EB0EA90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3443288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31" name="candidate-text-111">
            <a:extLst xmlns:a="http://schemas.openxmlformats.org/drawingml/2006/main">
              <a:ext uri="{FF2B5EF4-FFF2-40B4-BE49-F238E27FC236}">
                <a16:creationId xmlns:a16="http://schemas.microsoft.com/office/drawing/2014/main" id="{00937AB6-36E6-49BD-924E-5D4E53B4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266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完整工序图与资源信息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共享传播规则与参数</a:t>
            </a:r>
          </a:p>
        </p:txBody>
      </p:sp>
      <p:sp>
        <p:nvSpPr>
          <p:cNvPr id="32" name="candidate-box-112">
            <a:extLst xmlns:a="http://schemas.openxmlformats.org/drawingml/2006/main">
              <a:ext uri="{FF2B5EF4-FFF2-40B4-BE49-F238E27FC236}">
                <a16:creationId xmlns:a16="http://schemas.microsoft.com/office/drawing/2014/main" id="{59436741-B1BA-49E0-BFC8-2D7DC7E2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09725"/>
            <a:ext cx="3857625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33" name="candidate-text-113">
            <a:extLst xmlns:a="http://schemas.openxmlformats.org/drawingml/2006/main">
              <a:ext uri="{FF2B5EF4-FFF2-40B4-BE49-F238E27FC236}">
                <a16:creationId xmlns:a16="http://schemas.microsoft.com/office/drawing/2014/main" id="{B106B749-8976-42BD-8780-E53C43F1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049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2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条件联合选择</a:t>
            </a:r>
          </a:p>
        </p:txBody>
      </p:sp>
      <p:sp>
        <p:nvSpPr>
          <p:cNvPr id="34" name="candidate-box-114">
            <a:extLst xmlns:a="http://schemas.openxmlformats.org/drawingml/2006/main">
              <a:ext uri="{FF2B5EF4-FFF2-40B4-BE49-F238E27FC236}">
                <a16:creationId xmlns:a16="http://schemas.microsoft.com/office/drawing/2014/main" id="{387ABA03-C217-4475-9D2B-E4EB3516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05025"/>
            <a:ext cx="34194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：选择合法工序</a:t>
            </a:r>
          </a:p>
        </p:txBody>
      </p:sp>
      <p:sp>
        <p:nvSpPr>
          <p:cNvPr id="35" name="candidate-box-115">
            <a:extLst xmlns:a="http://schemas.openxmlformats.org/drawingml/2006/main">
              <a:ext uri="{FF2B5EF4-FFF2-40B4-BE49-F238E27FC236}">
                <a16:creationId xmlns:a16="http://schemas.microsoft.com/office/drawing/2014/main" id="{6AA39E58-06AB-47B2-99C4-2AF01B2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34194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0">
                <a:latin typeface="Nimbus Roman"/>
                <a:ea typeface="Nimbus Roman"/>
                <a:cs typeface="Nimbus Roman"/>
              </a:rPr>
              <a:t> m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：以工序</a:t>
            </a:r>
            <a:r>
              <a:rPr b="0">
                <a:latin typeface="Nimbus Roman"/>
                <a:ea typeface="Nimbus Roman"/>
                <a:cs typeface="Nimbus Roman"/>
              </a:rPr>
              <a:t> i 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为条件</a:t>
            </a:r>
          </a:p>
        </p:txBody>
      </p:sp>
      <p:sp>
        <p:nvSpPr>
          <p:cNvPr id="36" name="candidate-box-116">
            <a:extLst xmlns:a="http://schemas.openxmlformats.org/drawingml/2006/main">
              <a:ext uri="{FF2B5EF4-FFF2-40B4-BE49-F238E27FC236}">
                <a16:creationId xmlns:a16="http://schemas.microsoft.com/office/drawing/2014/main" id="{303DCEF4-5907-4841-BFAF-E00C91BA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33775"/>
            <a:ext cx="34194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团队</a:t>
            </a:r>
            <a:r>
              <a:rPr b="0">
                <a:latin typeface="Nimbus Roman"/>
                <a:ea typeface="Nimbus Roman"/>
                <a:cs typeface="Nimbus Roman"/>
              </a:rPr>
              <a:t> W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：逐人选满给定人数</a:t>
            </a:r>
          </a:p>
        </p:txBody>
      </p:sp>
      <p:cxnSp>
        <p:nvCxnSpPr>
          <p:cNvPr id="37" name="candidate-arrow-117">
            <a:extLst xmlns:a="http://schemas.openxmlformats.org/drawingml/2006/main">
              <a:ext uri="{FF2B5EF4-FFF2-40B4-BE49-F238E27FC236}">
                <a16:creationId xmlns:a16="http://schemas.microsoft.com/office/drawing/2014/main" id="{58F8DE1A-5F43-4A26-B4C7-3A52335CB9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19725" y="26003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8" name="candidate-arrow-118">
            <a:extLst xmlns:a="http://schemas.openxmlformats.org/drawingml/2006/main">
              <a:ext uri="{FF2B5EF4-FFF2-40B4-BE49-F238E27FC236}">
                <a16:creationId xmlns:a16="http://schemas.microsoft.com/office/drawing/2014/main" id="{A3447B1B-45B1-4C97-B1BA-7084D6A05D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19725" y="331470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9" name="candidate-text-119">
            <a:extLst xmlns:a="http://schemas.openxmlformats.org/drawingml/2006/main">
              <a:ext uri="{FF2B5EF4-FFF2-40B4-BE49-F238E27FC236}">
                <a16:creationId xmlns:a16="http://schemas.microsoft.com/office/drawing/2014/main" id="{D52D6ED7-FACE-48DD-98B6-0C9E8A0D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05275"/>
            <a:ext cx="3457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各步施加合法性掩码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选人时读取已选成员并更新候选</a:t>
            </a:r>
          </a:p>
        </p:txBody>
      </p:sp>
      <p:cxnSp>
        <p:nvCxnSpPr>
          <p:cNvPr id="40" name="candidate-arrow-120">
            <a:extLst xmlns:a="http://schemas.openxmlformats.org/drawingml/2006/main">
              <a:ext uri="{FF2B5EF4-FFF2-40B4-BE49-F238E27FC236}">
                <a16:creationId xmlns:a16="http://schemas.microsoft.com/office/drawing/2014/main" id="{D6629952-39FC-485D-A669-E66669C7C5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31051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1" name="candidate-box-121">
            <a:extLst xmlns:a="http://schemas.openxmlformats.org/drawingml/2006/main">
              <a:ext uri="{FF2B5EF4-FFF2-40B4-BE49-F238E27FC236}">
                <a16:creationId xmlns:a16="http://schemas.microsoft.com/office/drawing/2014/main" id="{9CA8EE5F-4135-49A9-8429-42E6A465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09725"/>
            <a:ext cx="1762125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42" name="candidate-text-122">
            <a:extLst xmlns:a="http://schemas.openxmlformats.org/drawingml/2006/main">
              <a:ext uri="{FF2B5EF4-FFF2-40B4-BE49-F238E27FC236}">
                <a16:creationId xmlns:a16="http://schemas.microsoft.com/office/drawing/2014/main" id="{3E575F90-DD83-4FFB-8EC4-C9E47ED7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0497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3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时间分配</a:t>
            </a:r>
          </a:p>
        </p:txBody>
      </p:sp>
      <p:sp>
        <p:nvSpPr>
          <p:cNvPr id="43" name="candidate-text-123">
            <a:extLst xmlns:a="http://schemas.openxmlformats.org/drawingml/2006/main">
              <a:ext uri="{FF2B5EF4-FFF2-40B4-BE49-F238E27FC236}">
                <a16:creationId xmlns:a16="http://schemas.microsoft.com/office/drawing/2014/main" id="{70F3AD80-AE55-47DF-9C93-BA92025A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1514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前驱完成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人员日历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合法起止时刻</a:t>
            </a:r>
          </a:p>
        </p:txBody>
      </p:sp>
      <p:sp>
        <p:nvSpPr>
          <p:cNvPr id="44" name="candidate-text-124">
            <a:extLst xmlns:a="http://schemas.openxmlformats.org/drawingml/2006/main">
              <a:ext uri="{FF2B5EF4-FFF2-40B4-BE49-F238E27FC236}">
                <a16:creationId xmlns:a16="http://schemas.microsoft.com/office/drawing/2014/main" id="{6061FED0-5D1E-4675-BCAD-B29E98D1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起止安排</a:t>
            </a:r>
          </a:p>
        </p:txBody>
      </p:sp>
      <p:sp>
        <p:nvSpPr>
          <p:cNvPr id="45" name="candidate-box-125">
            <a:extLst xmlns:a="http://schemas.openxmlformats.org/drawingml/2006/main">
              <a:ext uri="{FF2B5EF4-FFF2-40B4-BE49-F238E27FC236}">
                <a16:creationId xmlns:a16="http://schemas.microsoft.com/office/drawing/2014/main" id="{59009D0C-6B88-48EB-A431-5EC9C311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43325"/>
            <a:ext cx="981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</a:p>
        </p:txBody>
      </p:sp>
      <p:cxnSp>
        <p:nvCxnSpPr>
          <p:cNvPr id="46" name="candidate-arrow-126">
            <a:extLst xmlns:a="http://schemas.openxmlformats.org/drawingml/2006/main">
              <a:ext uri="{FF2B5EF4-FFF2-40B4-BE49-F238E27FC236}">
                <a16:creationId xmlns:a16="http://schemas.microsoft.com/office/drawing/2014/main" id="{013A641B-B4D0-4CD2-8D00-00A8C46687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53375" y="4229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7" name="candidate-line-127">
            <a:extLst xmlns:a="http://schemas.openxmlformats.org/drawingml/2006/main">
              <a:ext uri="{FF2B5EF4-FFF2-40B4-BE49-F238E27FC236}">
                <a16:creationId xmlns:a16="http://schemas.microsoft.com/office/drawing/2014/main" id="{46B9B004-6680-4990-A3E6-D2949484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3875" y="410527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48" name="candidate-line-128">
            <a:extLst xmlns:a="http://schemas.openxmlformats.org/drawingml/2006/main">
              <a:ext uri="{FF2B5EF4-FFF2-40B4-BE49-F238E27FC236}">
                <a16:creationId xmlns:a16="http://schemas.microsoft.com/office/drawing/2014/main" id="{6C2D7E24-1AF5-467E-90EA-A223AC80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24950" y="410527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49" name="candidate-text-129">
            <a:extLst xmlns:a="http://schemas.openxmlformats.org/drawingml/2006/main">
              <a:ext uri="{FF2B5EF4-FFF2-40B4-BE49-F238E27FC236}">
                <a16:creationId xmlns:a16="http://schemas.microsoft.com/office/drawing/2014/main" id="{543BCFE1-F397-4315-B28C-C922C32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s_i</a:t>
            </a:r>
          </a:p>
        </p:txBody>
      </p:sp>
      <p:sp>
        <p:nvSpPr>
          <p:cNvPr id="50" name="candidate-text-130">
            <a:extLst xmlns:a="http://schemas.openxmlformats.org/drawingml/2006/main">
              <a:ext uri="{FF2B5EF4-FFF2-40B4-BE49-F238E27FC236}">
                <a16:creationId xmlns:a16="http://schemas.microsoft.com/office/drawing/2014/main" id="{8568B51C-171C-4E0A-BF34-773B1496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862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e_i</a:t>
            </a:r>
          </a:p>
        </p:txBody>
      </p:sp>
      <p:cxnSp>
        <p:nvCxnSpPr>
          <p:cNvPr id="51" name="candidate-arrow-131">
            <a:extLst xmlns:a="http://schemas.openxmlformats.org/drawingml/2006/main">
              <a:ext uri="{FF2B5EF4-FFF2-40B4-BE49-F238E27FC236}">
                <a16:creationId xmlns:a16="http://schemas.microsoft.com/office/drawing/2014/main" id="{A15C6BC1-C4C3-4C88-9513-37ED4DFEA4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53300" y="31051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2" name="candidate-box-132">
            <a:extLst xmlns:a="http://schemas.openxmlformats.org/drawingml/2006/main">
              <a:ext uri="{FF2B5EF4-FFF2-40B4-BE49-F238E27FC236}">
                <a16:creationId xmlns:a16="http://schemas.microsoft.com/office/drawing/2014/main" id="{24852582-99BE-4D5B-8838-9431A23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09725"/>
            <a:ext cx="1647825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53" name="candidate-text-133">
            <a:extLst xmlns:a="http://schemas.openxmlformats.org/drawingml/2006/main">
              <a:ext uri="{FF2B5EF4-FFF2-40B4-BE49-F238E27FC236}">
                <a16:creationId xmlns:a16="http://schemas.microsoft.com/office/drawing/2014/main" id="{1195E0D2-F7E4-4682-8B0A-87F77B47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704975"/>
            <a:ext cx="1457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4  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状态更新</a:t>
            </a:r>
          </a:p>
        </p:txBody>
      </p:sp>
      <p:sp>
        <p:nvSpPr>
          <p:cNvPr id="54" name="candidate-text-134">
            <a:extLst xmlns:a="http://schemas.openxmlformats.org/drawingml/2006/main">
              <a:ext uri="{FF2B5EF4-FFF2-40B4-BE49-F238E27FC236}">
                <a16:creationId xmlns:a16="http://schemas.microsoft.com/office/drawing/2014/main" id="{09A0CE03-B0D9-43D4-8331-37FE4727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81225"/>
            <a:ext cx="1457325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写入起止安排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更新人员占用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首次使用绑定</a:t>
            </a:r>
          </a:p>
        </p:txBody>
      </p:sp>
      <p:cxnSp>
        <p:nvCxnSpPr>
          <p:cNvPr id="55" name="candidate-arrow-135">
            <a:extLst xmlns:a="http://schemas.openxmlformats.org/drawingml/2006/main">
              <a:ext uri="{FF2B5EF4-FFF2-40B4-BE49-F238E27FC236}">
                <a16:creationId xmlns:a16="http://schemas.microsoft.com/office/drawing/2014/main" id="{D25D8396-831B-4DAB-AAEE-0CDAEDBAA5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0" y="31051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6" name="candidate-line-136">
            <a:extLst xmlns:a="http://schemas.openxmlformats.org/drawingml/2006/main">
              <a:ext uri="{FF2B5EF4-FFF2-40B4-BE49-F238E27FC236}">
                <a16:creationId xmlns:a16="http://schemas.microsoft.com/office/drawing/2014/main" id="{31D052D4-E24F-4547-832E-2AFA63F2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44200" y="46005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7" name="candidate-line-137">
            <a:extLst xmlns:a="http://schemas.openxmlformats.org/drawingml/2006/main">
              <a:ext uri="{FF2B5EF4-FFF2-40B4-BE49-F238E27FC236}">
                <a16:creationId xmlns:a16="http://schemas.microsoft.com/office/drawing/2014/main" id="{FB2AF99D-DA64-4AE2-859E-513669B2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76425" y="5095875"/>
            <a:ext cx="8867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58" name="candidate-arrow-138">
            <a:extLst xmlns:a="http://schemas.openxmlformats.org/drawingml/2006/main">
              <a:ext uri="{FF2B5EF4-FFF2-40B4-BE49-F238E27FC236}">
                <a16:creationId xmlns:a16="http://schemas.microsoft.com/office/drawing/2014/main" id="{5B568100-1D84-40DB-A4E1-B8480F7C4EF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876425" y="4600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9" name="candidate-text-139">
            <a:extLst xmlns:a="http://schemas.openxmlformats.org/drawingml/2006/main">
              <a:ext uri="{FF2B5EF4-FFF2-40B4-BE49-F238E27FC236}">
                <a16:creationId xmlns:a16="http://schemas.microsoft.com/office/drawing/2014/main" id="{F7DDAB14-81A7-4340-B1A2-23A518A6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52975"/>
            <a:ext cx="681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继续构造：更新后的状态进入下一完整动作</a:t>
            </a:r>
          </a:p>
        </p:txBody>
      </p:sp>
      <p:sp>
        <p:nvSpPr>
          <p:cNvPr id="60" name="candidate-text-140">
            <a:extLst xmlns:a="http://schemas.openxmlformats.org/drawingml/2006/main">
              <a:ext uri="{FF2B5EF4-FFF2-40B4-BE49-F238E27FC236}">
                <a16:creationId xmlns:a16="http://schemas.microsoft.com/office/drawing/2014/main" id="{26BE23C8-5DDF-4399-BF95-6272EAA8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6732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PPO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共同训练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沿用原奖励与采样轨迹</a:t>
            </a:r>
          </a:p>
        </p:txBody>
      </p:sp>
      <p:cxnSp>
        <p:nvCxnSpPr>
          <p:cNvPr id="61" name="candidate-arrow-141">
            <a:extLst xmlns:a="http://schemas.openxmlformats.org/drawingml/2006/main">
              <a:ext uri="{FF2B5EF4-FFF2-40B4-BE49-F238E27FC236}">
                <a16:creationId xmlns:a16="http://schemas.microsoft.com/office/drawing/2014/main" id="{BC8729ED-4D9F-482F-9E0F-CED2869D29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44200" y="50958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2" name="candidate-box-142">
            <a:extLst xmlns:a="http://schemas.openxmlformats.org/drawingml/2006/main">
              <a:ext uri="{FF2B5EF4-FFF2-40B4-BE49-F238E27FC236}">
                <a16:creationId xmlns:a16="http://schemas.microsoft.com/office/drawing/2014/main" id="{2B8680F9-D834-4BE1-8E88-CAAD28F4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054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全部安排完成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输出基准排程</a:t>
            </a:r>
          </a:p>
        </p:txBody>
      </p:sp>
      <p:sp>
        <p:nvSpPr>
          <p:cNvPr id="63" name="candidate-text-143">
            <a:extLst xmlns:a="http://schemas.openxmlformats.org/drawingml/2006/main">
              <a:ext uri="{FF2B5EF4-FFF2-40B4-BE49-F238E27FC236}">
                <a16:creationId xmlns:a16="http://schemas.microsoft.com/office/drawing/2014/main" id="{4F3983EA-C6FA-4B81-B6FF-AA4C722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新同构方案需独立验证：约束满足情况、排程质量与推理成本</a:t>
            </a:r>
          </a:p>
        </p:txBody>
      </p:sp>
    </p:spTree>
    <p:extLst>
      <p:ext uri="{BB962C8B-B14F-4D97-AF65-F5344CB8AC3E}">
        <p14:creationId xmlns:p14="http://schemas.microsoft.com/office/powerpoint/2010/main" val="155791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candidate-text-144">
            <a:extLst xmlns:a="http://schemas.openxmlformats.org/drawingml/2006/main">
              <a:ext uri="{FF2B5EF4-FFF2-40B4-BE49-F238E27FC236}">
                <a16:creationId xmlns:a16="http://schemas.microsoft.com/office/drawing/2014/main" id="{0D444F5A-B9DC-4C7D-B71A-BDAA0E82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技术路线一：同构图下的联合静态调度</a:t>
            </a:r>
          </a:p>
        </p:txBody>
      </p:sp>
      <p:sp>
        <p:nvSpPr>
          <p:cNvPr id="2" name="candidate-line-145">
            <a:extLst xmlns:a="http://schemas.openxmlformats.org/drawingml/2006/main">
              <a:ext uri="{FF2B5EF4-FFF2-40B4-BE49-F238E27FC236}">
                <a16:creationId xmlns:a16="http://schemas.microsoft.com/office/drawing/2014/main" id="{8A1A625B-7A30-4C8F-8211-17CC8AC0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146">
            <a:extLst xmlns:a="http://schemas.openxmlformats.org/drawingml/2006/main">
              <a:ext uri="{FF2B5EF4-FFF2-40B4-BE49-F238E27FC236}">
                <a16:creationId xmlns:a16="http://schemas.microsoft.com/office/drawing/2014/main" id="{9297C87A-6FD8-442C-95D7-69FB98D7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147">
            <a:extLst xmlns:a="http://schemas.openxmlformats.org/drawingml/2006/main">
              <a:ext uri="{FF2B5EF4-FFF2-40B4-BE49-F238E27FC236}">
                <a16:creationId xmlns:a16="http://schemas.microsoft.com/office/drawing/2014/main" id="{54CED950-64F7-4CAE-959A-7DF96A6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148">
            <a:extLst xmlns:a="http://schemas.openxmlformats.org/drawingml/2006/main">
              <a:ext uri="{FF2B5EF4-FFF2-40B4-BE49-F238E27FC236}">
                <a16:creationId xmlns:a16="http://schemas.microsoft.com/office/drawing/2014/main" id="{50C3D7B7-C08F-4374-9F64-113FBF86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11B</a:t>
            </a:r>
          </a:p>
        </p:txBody>
      </p:sp>
      <p:sp>
        <p:nvSpPr>
          <p:cNvPr id="6" name="candidate-text-149">
            <a:extLst xmlns:a="http://schemas.openxmlformats.org/drawingml/2006/main">
              <a:ext uri="{FF2B5EF4-FFF2-40B4-BE49-F238E27FC236}">
                <a16:creationId xmlns:a16="http://schemas.microsoft.com/office/drawing/2014/main" id="{10320E0B-2382-4E0A-AAC8-85A7DA2F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82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同构图编码与联合策略沿用</a:t>
            </a:r>
            <a:r>
              <a:rPr b="1">
                <a:latin typeface="Nimbus Roman"/>
                <a:ea typeface="Nimbus Roman"/>
                <a:cs typeface="Nimbus Roman"/>
              </a:rPr>
              <a:t>PPO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共同训练</a:t>
            </a:r>
          </a:p>
        </p:txBody>
      </p:sp>
      <p:sp>
        <p:nvSpPr>
          <p:cNvPr id="7" name="candidate-box-150">
            <a:extLst xmlns:a="http://schemas.openxmlformats.org/drawingml/2006/main">
              <a:ext uri="{FF2B5EF4-FFF2-40B4-BE49-F238E27FC236}">
                <a16:creationId xmlns:a16="http://schemas.microsoft.com/office/drawing/2014/main" id="{DD3509EF-1B8A-4EE1-858E-0E66EF53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4572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8" name="candidate-text-151">
            <a:extLst xmlns:a="http://schemas.openxmlformats.org/drawingml/2006/main">
              <a:ext uri="{FF2B5EF4-FFF2-40B4-BE49-F238E27FC236}">
                <a16:creationId xmlns:a16="http://schemas.microsoft.com/office/drawing/2014/main" id="{325E95B4-F3D5-41B9-AEBE-0E87E010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单一同构图与共享传播</a:t>
            </a:r>
          </a:p>
        </p:txBody>
      </p:sp>
      <p:sp>
        <p:nvSpPr>
          <p:cNvPr id="9" name="candidate-text-152">
            <a:extLst xmlns:a="http://schemas.openxmlformats.org/drawingml/2006/main">
              <a:ext uri="{FF2B5EF4-FFF2-40B4-BE49-F238E27FC236}">
                <a16:creationId xmlns:a16="http://schemas.microsoft.com/office/drawing/2014/main" id="{FC12D5F0-BE3B-4C91-8C95-CD019BC4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2882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局部结构示意，编码使用完整图</a:t>
            </a:r>
          </a:p>
        </p:txBody>
      </p:sp>
      <p:sp>
        <p:nvSpPr>
          <p:cNvPr id="10" name="candidate-line-153">
            <a:extLst xmlns:a="http://schemas.openxmlformats.org/drawingml/2006/main">
              <a:ext uri="{FF2B5EF4-FFF2-40B4-BE49-F238E27FC236}">
                <a16:creationId xmlns:a16="http://schemas.microsoft.com/office/drawing/2014/main" id="{C4DFDD0E-4A3C-43EC-A3D4-3D5B920F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0650" y="2609850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1" name="candidate-line-154">
            <a:extLst xmlns:a="http://schemas.openxmlformats.org/drawingml/2006/main">
              <a:ext uri="{FF2B5EF4-FFF2-40B4-BE49-F238E27FC236}">
                <a16:creationId xmlns:a16="http://schemas.microsoft.com/office/drawing/2014/main" id="{F8234AB3-9777-4857-A64D-8E5250B0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86050" y="2609850"/>
            <a:ext cx="134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2" name="candidate-line-155">
            <a:extLst xmlns:a="http://schemas.openxmlformats.org/drawingml/2006/main">
              <a:ext uri="{FF2B5EF4-FFF2-40B4-BE49-F238E27FC236}">
                <a16:creationId xmlns:a16="http://schemas.microsoft.com/office/drawing/2014/main" id="{B9FF2D7C-815F-4363-B697-8FAD65F7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0650" y="26098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3" name="candidate-line-156">
            <a:extLst xmlns:a="http://schemas.openxmlformats.org/drawingml/2006/main">
              <a:ext uri="{FF2B5EF4-FFF2-40B4-BE49-F238E27FC236}">
                <a16:creationId xmlns:a16="http://schemas.microsoft.com/office/drawing/2014/main" id="{71DA239D-921B-4608-B47F-B0DE76A5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90650" y="2609850"/>
            <a:ext cx="12954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4" name="candidate-line-157">
            <a:extLst xmlns:a="http://schemas.openxmlformats.org/drawingml/2006/main">
              <a:ext uri="{FF2B5EF4-FFF2-40B4-BE49-F238E27FC236}">
                <a16:creationId xmlns:a16="http://schemas.microsoft.com/office/drawing/2014/main" id="{0338C5E4-45C5-4FE4-B0ED-AB9C9E41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86050" y="2609850"/>
            <a:ext cx="13430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5" name="candidate-line-158">
            <a:extLst xmlns:a="http://schemas.openxmlformats.org/drawingml/2006/main">
              <a:ext uri="{FF2B5EF4-FFF2-40B4-BE49-F238E27FC236}">
                <a16:creationId xmlns:a16="http://schemas.microsoft.com/office/drawing/2014/main" id="{74E873CF-7B07-4AE9-A721-7BE05F4C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29075" y="26098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6" name="candidate-line-159">
            <a:extLst xmlns:a="http://schemas.openxmlformats.org/drawingml/2006/main">
              <a:ext uri="{FF2B5EF4-FFF2-40B4-BE49-F238E27FC236}">
                <a16:creationId xmlns:a16="http://schemas.microsoft.com/office/drawing/2014/main" id="{EB4C08C1-9BC1-42F5-BF6F-2F327E2D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0650" y="3276600"/>
            <a:ext cx="89535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7" name="candidate-line-160">
            <a:extLst xmlns:a="http://schemas.openxmlformats.org/drawingml/2006/main">
              <a:ext uri="{FF2B5EF4-FFF2-40B4-BE49-F238E27FC236}">
                <a16:creationId xmlns:a16="http://schemas.microsoft.com/office/drawing/2014/main" id="{BBD9B979-747F-4FD8-8CB2-FB5D3E25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0650" y="3276600"/>
            <a:ext cx="179070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8" name="candidate-line-161">
            <a:extLst xmlns:a="http://schemas.openxmlformats.org/drawingml/2006/main">
              <a:ext uri="{FF2B5EF4-FFF2-40B4-BE49-F238E27FC236}">
                <a16:creationId xmlns:a16="http://schemas.microsoft.com/office/drawing/2014/main" id="{76C97F28-C288-4ABB-8543-7D96F93F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181350" y="3276600"/>
            <a:ext cx="84772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9" name="candidate-box-162">
            <a:extLst xmlns:a="http://schemas.openxmlformats.org/drawingml/2006/main">
              <a:ext uri="{FF2B5EF4-FFF2-40B4-BE49-F238E27FC236}">
                <a16:creationId xmlns:a16="http://schemas.microsoft.com/office/drawing/2014/main" id="{BC961992-DBCD-4F9C-BC2D-4DB21B4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2357438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0" name="candidate-text-163">
            <a:extLst xmlns:a="http://schemas.openxmlformats.org/drawingml/2006/main">
              <a:ext uri="{FF2B5EF4-FFF2-40B4-BE49-F238E27FC236}">
                <a16:creationId xmlns:a16="http://schemas.microsoft.com/office/drawing/2014/main" id="{3459E079-235E-48D0-A5E0-EFA65245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2357438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1" name="candidate-box-164">
            <a:extLst xmlns:a="http://schemas.openxmlformats.org/drawingml/2006/main">
              <a:ext uri="{FF2B5EF4-FFF2-40B4-BE49-F238E27FC236}">
                <a16:creationId xmlns:a16="http://schemas.microsoft.com/office/drawing/2014/main" id="{FB292C56-34D4-4305-BCBB-380675B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8" y="2357438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candidate-text-165">
            <a:extLst xmlns:a="http://schemas.openxmlformats.org/drawingml/2006/main">
              <a:ext uri="{FF2B5EF4-FFF2-40B4-BE49-F238E27FC236}">
                <a16:creationId xmlns:a16="http://schemas.microsoft.com/office/drawing/2014/main" id="{ACF592C6-F680-4FDE-9176-47B238C2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8" y="2357438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3" name="candidate-box-166">
            <a:extLst xmlns:a="http://schemas.openxmlformats.org/drawingml/2006/main">
              <a:ext uri="{FF2B5EF4-FFF2-40B4-BE49-F238E27FC236}">
                <a16:creationId xmlns:a16="http://schemas.microsoft.com/office/drawing/2014/main" id="{75987052-1019-4058-A856-79B78648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2357438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4" name="candidate-text-167">
            <a:extLst xmlns:a="http://schemas.openxmlformats.org/drawingml/2006/main">
              <a:ext uri="{FF2B5EF4-FFF2-40B4-BE49-F238E27FC236}">
                <a16:creationId xmlns:a16="http://schemas.microsoft.com/office/drawing/2014/main" id="{7F4F2342-2E40-4D0E-A0D0-78B2086B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2357438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5" name="candidate-box-168">
            <a:extLst xmlns:a="http://schemas.openxmlformats.org/drawingml/2006/main">
              <a:ext uri="{FF2B5EF4-FFF2-40B4-BE49-F238E27FC236}">
                <a16:creationId xmlns:a16="http://schemas.microsoft.com/office/drawing/2014/main" id="{F3C20AA5-6FC1-4183-856C-588A14E0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3024188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6" name="candidate-text-169">
            <a:extLst xmlns:a="http://schemas.openxmlformats.org/drawingml/2006/main">
              <a:ext uri="{FF2B5EF4-FFF2-40B4-BE49-F238E27FC236}">
                <a16:creationId xmlns:a16="http://schemas.microsoft.com/office/drawing/2014/main" id="{51ABEBE7-3BBE-4EFA-8000-E13902C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3024188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7" name="candidate-box-170">
            <a:extLst xmlns:a="http://schemas.openxmlformats.org/drawingml/2006/main">
              <a:ext uri="{FF2B5EF4-FFF2-40B4-BE49-F238E27FC236}">
                <a16:creationId xmlns:a16="http://schemas.microsoft.com/office/drawing/2014/main" id="{9C20EE77-532D-4D57-96E7-EE934091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3024188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8" name="candidate-text-171">
            <a:extLst xmlns:a="http://schemas.openxmlformats.org/drawingml/2006/main">
              <a:ext uri="{FF2B5EF4-FFF2-40B4-BE49-F238E27FC236}">
                <a16:creationId xmlns:a16="http://schemas.microsoft.com/office/drawing/2014/main" id="{B4D84B03-F58C-41E4-AFE8-51FAD2A4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3024188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9" name="candidate-box-172">
            <a:extLst xmlns:a="http://schemas.openxmlformats.org/drawingml/2006/main">
              <a:ext uri="{FF2B5EF4-FFF2-40B4-BE49-F238E27FC236}">
                <a16:creationId xmlns:a16="http://schemas.microsoft.com/office/drawing/2014/main" id="{AF6ED80A-AF44-49C8-9B88-477ED613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588" y="3605213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0" name="candidate-text-173">
            <a:extLst xmlns:a="http://schemas.openxmlformats.org/drawingml/2006/main">
              <a:ext uri="{FF2B5EF4-FFF2-40B4-BE49-F238E27FC236}">
                <a16:creationId xmlns:a16="http://schemas.microsoft.com/office/drawing/2014/main" id="{2DF0417A-CA95-4C4C-A482-E46FBBEE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588" y="3605213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31" name="candidate-box-174">
            <a:extLst xmlns:a="http://schemas.openxmlformats.org/drawingml/2006/main">
              <a:ext uri="{FF2B5EF4-FFF2-40B4-BE49-F238E27FC236}">
                <a16:creationId xmlns:a16="http://schemas.microsoft.com/office/drawing/2014/main" id="{17DD6703-BEA0-4477-BEDD-BB641B67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3605213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2" name="candidate-text-175">
            <a:extLst xmlns:a="http://schemas.openxmlformats.org/drawingml/2006/main">
              <a:ext uri="{FF2B5EF4-FFF2-40B4-BE49-F238E27FC236}">
                <a16:creationId xmlns:a16="http://schemas.microsoft.com/office/drawing/2014/main" id="{755EF9B7-E6DA-4DD0-B87C-3F530B23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3605213"/>
            <a:ext cx="504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33" name="candidate-text-176">
            <a:extLst xmlns:a="http://schemas.openxmlformats.org/drawingml/2006/main">
              <a:ext uri="{FF2B5EF4-FFF2-40B4-BE49-F238E27FC236}">
                <a16:creationId xmlns:a16="http://schemas.microsoft.com/office/drawing/2014/main" id="{E4205412-3DC5-47BD-B53C-5DD6DE5F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保留完整工序图与资源信息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角色和状态作为属性</a:t>
            </a:r>
          </a:p>
        </p:txBody>
      </p:sp>
      <p:sp>
        <p:nvSpPr>
          <p:cNvPr id="34" name="candidate-box-177">
            <a:extLst xmlns:a="http://schemas.openxmlformats.org/drawingml/2006/main">
              <a:ext uri="{FF2B5EF4-FFF2-40B4-BE49-F238E27FC236}">
                <a16:creationId xmlns:a16="http://schemas.microsoft.com/office/drawing/2014/main" id="{50BCEF7C-54D0-4745-8136-E8059736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00200"/>
            <a:ext cx="59055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35" name="candidate-text-178">
            <a:extLst xmlns:a="http://schemas.openxmlformats.org/drawingml/2006/main">
              <a:ext uri="{FF2B5EF4-FFF2-40B4-BE49-F238E27FC236}">
                <a16:creationId xmlns:a16="http://schemas.microsoft.com/office/drawing/2014/main" id="{38786D5C-7B31-463C-9449-F7944EE9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954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条件联合解码</a:t>
            </a:r>
          </a:p>
        </p:txBody>
      </p:sp>
      <p:sp>
        <p:nvSpPr>
          <p:cNvPr id="36" name="candidate-box-179">
            <a:extLst xmlns:a="http://schemas.openxmlformats.org/drawingml/2006/main">
              <a:ext uri="{FF2B5EF4-FFF2-40B4-BE49-F238E27FC236}">
                <a16:creationId xmlns:a16="http://schemas.microsoft.com/office/drawing/2014/main" id="{D2A70141-6A4B-4164-B77C-1ECEE94A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43125"/>
            <a:ext cx="542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节点表示与全局上下文</a:t>
            </a:r>
          </a:p>
        </p:txBody>
      </p:sp>
      <p:cxnSp>
        <p:nvCxnSpPr>
          <p:cNvPr id="37" name="candidate-arrow-180">
            <a:extLst xmlns:a="http://schemas.openxmlformats.org/drawingml/2006/main">
              <a:ext uri="{FF2B5EF4-FFF2-40B4-BE49-F238E27FC236}">
                <a16:creationId xmlns:a16="http://schemas.microsoft.com/office/drawing/2014/main" id="{9D116F4D-6C05-4003-AD86-A8F9504C6E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91125" y="23526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8" name="candidate-line-181">
            <a:extLst xmlns:a="http://schemas.openxmlformats.org/drawingml/2006/main">
              <a:ext uri="{FF2B5EF4-FFF2-40B4-BE49-F238E27FC236}">
                <a16:creationId xmlns:a16="http://schemas.microsoft.com/office/drawing/2014/main" id="{8F374150-99BF-4EE1-AE4E-54F9D6BD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29650" y="256222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39" name="candidate-line-182">
            <a:extLst xmlns:a="http://schemas.openxmlformats.org/drawingml/2006/main">
              <a:ext uri="{FF2B5EF4-FFF2-40B4-BE49-F238E27FC236}">
                <a16:creationId xmlns:a16="http://schemas.microsoft.com/office/drawing/2014/main" id="{EDBE5F17-A58D-4DD4-8765-81111093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2752725"/>
            <a:ext cx="3743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40" name="candidate-arrow-183">
            <a:extLst xmlns:a="http://schemas.openxmlformats.org/drawingml/2006/main">
              <a:ext uri="{FF2B5EF4-FFF2-40B4-BE49-F238E27FC236}">
                <a16:creationId xmlns:a16="http://schemas.microsoft.com/office/drawing/2014/main" id="{D50F7EF2-C7CD-4533-ABC8-41AD127B22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24625" y="27527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1" name="candidate-arrow-184">
            <a:extLst xmlns:a="http://schemas.openxmlformats.org/drawingml/2006/main">
              <a:ext uri="{FF2B5EF4-FFF2-40B4-BE49-F238E27FC236}">
                <a16:creationId xmlns:a16="http://schemas.microsoft.com/office/drawing/2014/main" id="{84C57CBA-F8F6-4C0E-888E-0B21158FA0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91500" y="27527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2" name="candidate-arrow-185">
            <a:extLst xmlns:a="http://schemas.openxmlformats.org/drawingml/2006/main">
              <a:ext uri="{FF2B5EF4-FFF2-40B4-BE49-F238E27FC236}">
                <a16:creationId xmlns:a16="http://schemas.microsoft.com/office/drawing/2014/main" id="{21618F18-BFDA-4263-A262-A3E3599FA5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267950" y="27527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3" name="candidate-box-186">
            <a:extLst xmlns:a="http://schemas.openxmlformats.org/drawingml/2006/main">
              <a:ext uri="{FF2B5EF4-FFF2-40B4-BE49-F238E27FC236}">
                <a16:creationId xmlns:a16="http://schemas.microsoft.com/office/drawing/2014/main" id="{5462CFE8-1A8F-43E0-A628-E110465C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合法工序候选</a:t>
            </a:r>
          </a:p>
        </p:txBody>
      </p:sp>
      <p:sp>
        <p:nvSpPr>
          <p:cNvPr id="44" name="candidate-box-187">
            <a:extLst xmlns:a="http://schemas.openxmlformats.org/drawingml/2006/main">
              <a:ext uri="{FF2B5EF4-FFF2-40B4-BE49-F238E27FC236}">
                <a16:creationId xmlns:a16="http://schemas.microsoft.com/office/drawing/2014/main" id="{127558E1-0BA4-423B-BFCC-AC188F4C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0375"/>
            <a:ext cx="1409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0">
                <a:latin typeface="Nimbus Roman"/>
                <a:ea typeface="Nimbus Roman"/>
                <a:cs typeface="Nimbus Roman"/>
              </a:rPr>
              <a:t> m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以</a:t>
            </a:r>
            <a:r>
              <a:rPr b="0">
                <a:latin typeface="Nimbus Roman"/>
                <a:ea typeface="Nimbus Roman"/>
                <a:cs typeface="Nimbus Roman"/>
              </a:rPr>
              <a:t> i 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为条件</a:t>
            </a:r>
          </a:p>
        </p:txBody>
      </p:sp>
      <p:sp>
        <p:nvSpPr>
          <p:cNvPr id="45" name="candidate-box-188">
            <a:extLst xmlns:a="http://schemas.openxmlformats.org/drawingml/2006/main">
              <a:ext uri="{FF2B5EF4-FFF2-40B4-BE49-F238E27FC236}">
                <a16:creationId xmlns:a16="http://schemas.microsoft.com/office/drawing/2014/main" id="{7F182392-6782-476D-803C-F371AA6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成员</a:t>
            </a:r>
            <a:r>
              <a:rPr b="0">
                <a:latin typeface="Nimbus Roman"/>
                <a:ea typeface="Nimbus Roman"/>
                <a:cs typeface="Nimbus Roman"/>
              </a:rPr>
              <a:t> w_r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读取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、</a:t>
            </a:r>
            <a:r>
              <a:rPr b="0">
                <a:latin typeface="Nimbus Roman"/>
                <a:ea typeface="Nimbus Roman"/>
                <a:cs typeface="Nimbus Roman"/>
              </a:rPr>
              <a:t>m 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与已选成员</a:t>
            </a:r>
          </a:p>
        </p:txBody>
      </p:sp>
      <p:cxnSp>
        <p:nvCxnSpPr>
          <p:cNvPr id="46" name="candidate-arrow-189">
            <a:extLst xmlns:a="http://schemas.openxmlformats.org/drawingml/2006/main">
              <a:ext uri="{FF2B5EF4-FFF2-40B4-BE49-F238E27FC236}">
                <a16:creationId xmlns:a16="http://schemas.microsoft.com/office/drawing/2014/main" id="{95F8276E-A085-4491-A632-DFCD63AD49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39000" y="33147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7" name="candidate-arrow-190">
            <a:extLst xmlns:a="http://schemas.openxmlformats.org/drawingml/2006/main">
              <a:ext uri="{FF2B5EF4-FFF2-40B4-BE49-F238E27FC236}">
                <a16:creationId xmlns:a16="http://schemas.microsoft.com/office/drawing/2014/main" id="{4ED65AE5-0832-4F7D-9807-4E0165F34F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96350" y="33147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8" name="candidate-line-191">
            <a:extLst xmlns:a="http://schemas.openxmlformats.org/drawingml/2006/main">
              <a:ext uri="{FF2B5EF4-FFF2-40B4-BE49-F238E27FC236}">
                <a16:creationId xmlns:a16="http://schemas.microsoft.com/office/drawing/2014/main" id="{E929B8F9-36D5-4102-9F8C-39C9B36C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82375" y="33147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49" name="candidate-line-192">
            <a:extLst xmlns:a="http://schemas.openxmlformats.org/drawingml/2006/main">
              <a:ext uri="{FF2B5EF4-FFF2-40B4-BE49-F238E27FC236}">
                <a16:creationId xmlns:a16="http://schemas.microsoft.com/office/drawing/2014/main" id="{78585A60-23FF-44DE-9492-41F911A6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77625" y="331470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50" name="candidate-line-193">
            <a:extLst xmlns:a="http://schemas.openxmlformats.org/drawingml/2006/main">
              <a:ext uri="{FF2B5EF4-FFF2-40B4-BE49-F238E27FC236}">
                <a16:creationId xmlns:a16="http://schemas.microsoft.com/office/drawing/2014/main" id="{5BE7135F-764C-4C37-B9AD-212A4346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353550" y="4143375"/>
            <a:ext cx="2124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51" name="candidate-arrow-194">
            <a:extLst xmlns:a="http://schemas.openxmlformats.org/drawingml/2006/main">
              <a:ext uri="{FF2B5EF4-FFF2-40B4-BE49-F238E27FC236}">
                <a16:creationId xmlns:a16="http://schemas.microsoft.com/office/drawing/2014/main" id="{DFD01532-A533-4AA5-AF40-02BCB855AF4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3629025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2" name="candidate-text-195">
            <a:extLst xmlns:a="http://schemas.openxmlformats.org/drawingml/2006/main">
              <a:ext uri="{FF2B5EF4-FFF2-40B4-BE49-F238E27FC236}">
                <a16:creationId xmlns:a16="http://schemas.microsoft.com/office/drawing/2014/main" id="{7E5779D4-7E4E-4D40-98A1-6E1BAE4A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67125"/>
            <a:ext cx="1933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更新已选成员与掩码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直至选满给定人数</a:t>
            </a:r>
          </a:p>
        </p:txBody>
      </p:sp>
      <p:sp>
        <p:nvSpPr>
          <p:cNvPr id="53" name="candidate-box-196">
            <a:extLst xmlns:a="http://schemas.openxmlformats.org/drawingml/2006/main">
              <a:ext uri="{FF2B5EF4-FFF2-40B4-BE49-F238E27FC236}">
                <a16:creationId xmlns:a16="http://schemas.microsoft.com/office/drawing/2014/main" id="{3E04E10A-FA63-4A53-A3C6-195E8351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掩码：前序、站位、资格、人数、绑定与重复成员</a:t>
            </a:r>
          </a:p>
        </p:txBody>
      </p:sp>
      <p:sp>
        <p:nvSpPr>
          <p:cNvPr id="54" name="candidate-box-197">
            <a:extLst xmlns:a="http://schemas.openxmlformats.org/drawingml/2006/main">
              <a:ext uri="{FF2B5EF4-FFF2-40B4-BE49-F238E27FC236}">
                <a16:creationId xmlns:a16="http://schemas.microsoft.com/office/drawing/2014/main" id="{8D933A57-7EFB-44C6-8507-92D62B83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48275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完整动作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、站位</a:t>
            </a:r>
            <a:r>
              <a:rPr b="0">
                <a:latin typeface="Nimbus Roman"/>
                <a:ea typeface="Nimbus Roman"/>
                <a:cs typeface="Nimbus Roman"/>
              </a:rPr>
              <a:t> m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、具体团队</a:t>
            </a:r>
            <a:r>
              <a:rPr b="0">
                <a:latin typeface="Nimbus Roman"/>
                <a:ea typeface="Nimbus Roman"/>
                <a:cs typeface="Nimbus Roman"/>
              </a:rPr>
              <a:t> W</a:t>
            </a:r>
          </a:p>
        </p:txBody>
      </p:sp>
      <p:sp>
        <p:nvSpPr>
          <p:cNvPr id="55" name="candidate-box-198">
            <a:extLst xmlns:a="http://schemas.openxmlformats.org/drawingml/2006/main">
              <a:ext uri="{FF2B5EF4-FFF2-40B4-BE49-F238E27FC236}">
                <a16:creationId xmlns:a16="http://schemas.microsoft.com/office/drawing/2014/main" id="{DEB3F6B4-D9A3-463A-A47B-F305D4AC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48275"/>
            <a:ext cx="300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可行时间分配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前驱完成与人员日历</a:t>
            </a:r>
          </a:p>
        </p:txBody>
      </p:sp>
      <p:sp>
        <p:nvSpPr>
          <p:cNvPr id="56" name="candidate-box-199">
            <a:extLst xmlns:a="http://schemas.openxmlformats.org/drawingml/2006/main">
              <a:ext uri="{FF2B5EF4-FFF2-40B4-BE49-F238E27FC236}">
                <a16:creationId xmlns:a16="http://schemas.microsoft.com/office/drawing/2014/main" id="{10F3DF6C-3B6A-468C-9328-BE6AEAA1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48275"/>
            <a:ext cx="4143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更新安排、人员占用与首次使用绑定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完成后输出基准排程</a:t>
            </a:r>
          </a:p>
        </p:txBody>
      </p:sp>
      <p:cxnSp>
        <p:nvCxnSpPr>
          <p:cNvPr id="57" name="candidate-arrow-200">
            <a:extLst xmlns:a="http://schemas.openxmlformats.org/drawingml/2006/main">
              <a:ext uri="{FF2B5EF4-FFF2-40B4-BE49-F238E27FC236}">
                <a16:creationId xmlns:a16="http://schemas.microsoft.com/office/drawing/2014/main" id="{3F67A8C7-AE25-4580-8588-F0072C434F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62375" y="55340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8" name="candidate-arrow-201">
            <a:extLst xmlns:a="http://schemas.openxmlformats.org/drawingml/2006/main">
              <a:ext uri="{FF2B5EF4-FFF2-40B4-BE49-F238E27FC236}">
                <a16:creationId xmlns:a16="http://schemas.microsoft.com/office/drawing/2014/main" id="{03F48699-B92C-4694-937D-18D4F866CB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096125" y="55340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9" name="candidate-line-202">
            <a:extLst xmlns:a="http://schemas.openxmlformats.org/drawingml/2006/main">
              <a:ext uri="{FF2B5EF4-FFF2-40B4-BE49-F238E27FC236}">
                <a16:creationId xmlns:a16="http://schemas.microsoft.com/office/drawing/2014/main" id="{2AB54A11-54A1-4CE6-AB77-2F7252CC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05950" y="50101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0" name="candidate-line-203">
            <a:extLst xmlns:a="http://schemas.openxmlformats.org/drawingml/2006/main">
              <a:ext uri="{FF2B5EF4-FFF2-40B4-BE49-F238E27FC236}">
                <a16:creationId xmlns:a16="http://schemas.microsoft.com/office/drawing/2014/main" id="{2E5F36DD-C203-4B96-B1A8-66F5997C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905125" y="5010150"/>
            <a:ext cx="660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61" name="candidate-arrow-204">
            <a:extLst xmlns:a="http://schemas.openxmlformats.org/drawingml/2006/main">
              <a:ext uri="{FF2B5EF4-FFF2-40B4-BE49-F238E27FC236}">
                <a16:creationId xmlns:a16="http://schemas.microsoft.com/office/drawing/2014/main" id="{5F5B6862-BAE6-43BE-A6BD-6B90169BF35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905125" y="47053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2" name="candidate-text-205">
            <a:extLst xmlns:a="http://schemas.openxmlformats.org/drawingml/2006/main">
              <a:ext uri="{FF2B5EF4-FFF2-40B4-BE49-F238E27FC236}">
                <a16:creationId xmlns:a16="http://schemas.microsoft.com/office/drawing/2014/main" id="{1956AAD6-8620-4CE2-9FD2-A9C86944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43450"/>
            <a:ext cx="538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更新构造状态，继续下一完整动作</a:t>
            </a:r>
          </a:p>
        </p:txBody>
      </p:sp>
      <p:sp>
        <p:nvSpPr>
          <p:cNvPr id="63" name="candidate-text-206">
            <a:extLst xmlns:a="http://schemas.openxmlformats.org/drawingml/2006/main">
              <a:ext uri="{FF2B5EF4-FFF2-40B4-BE49-F238E27FC236}">
                <a16:creationId xmlns:a16="http://schemas.microsoft.com/office/drawing/2014/main" id="{2E3475DA-C0C5-4AB7-8EB9-D59AE4B7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新同构方案需独立验证：约束满足情况、排程质量与推理成本</a:t>
            </a:r>
          </a:p>
        </p:txBody>
      </p:sp>
    </p:spTree>
    <p:extLst>
      <p:ext uri="{BB962C8B-B14F-4D97-AF65-F5344CB8AC3E}">
        <p14:creationId xmlns:p14="http://schemas.microsoft.com/office/powerpoint/2010/main" val="1930970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candidate-text-207">
            <a:extLst xmlns:a="http://schemas.openxmlformats.org/drawingml/2006/main">
              <a:ext uri="{FF2B5EF4-FFF2-40B4-BE49-F238E27FC236}">
                <a16:creationId xmlns:a16="http://schemas.microsoft.com/office/drawing/2014/main" id="{4C61B078-B9CB-446A-A495-91A07A87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技术路线一：同构图下的联合静态调度</a:t>
            </a:r>
          </a:p>
        </p:txBody>
      </p:sp>
      <p:sp>
        <p:nvSpPr>
          <p:cNvPr id="2" name="candidate-line-208">
            <a:extLst xmlns:a="http://schemas.openxmlformats.org/drawingml/2006/main">
              <a:ext uri="{FF2B5EF4-FFF2-40B4-BE49-F238E27FC236}">
                <a16:creationId xmlns:a16="http://schemas.microsoft.com/office/drawing/2014/main" id="{D076937E-5B75-46D8-AF46-DBA62EB9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209">
            <a:extLst xmlns:a="http://schemas.openxmlformats.org/drawingml/2006/main">
              <a:ext uri="{FF2B5EF4-FFF2-40B4-BE49-F238E27FC236}">
                <a16:creationId xmlns:a16="http://schemas.microsoft.com/office/drawing/2014/main" id="{C92B40CD-2340-448F-A128-2643DE7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210">
            <a:extLst xmlns:a="http://schemas.openxmlformats.org/drawingml/2006/main">
              <a:ext uri="{FF2B5EF4-FFF2-40B4-BE49-F238E27FC236}">
                <a16:creationId xmlns:a16="http://schemas.microsoft.com/office/drawing/2014/main" id="{7A530A40-5B34-402A-82B6-81EFB38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211">
            <a:extLst xmlns:a="http://schemas.openxmlformats.org/drawingml/2006/main">
              <a:ext uri="{FF2B5EF4-FFF2-40B4-BE49-F238E27FC236}">
                <a16:creationId xmlns:a16="http://schemas.microsoft.com/office/drawing/2014/main" id="{595A6E54-66B6-47CF-8558-A24BDB1D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11C</a:t>
            </a:r>
          </a:p>
        </p:txBody>
      </p:sp>
      <p:sp>
        <p:nvSpPr>
          <p:cNvPr id="6" name="candidate-text-212">
            <a:extLst xmlns:a="http://schemas.openxmlformats.org/drawingml/2006/main">
              <a:ext uri="{FF2B5EF4-FFF2-40B4-BE49-F238E27FC236}">
                <a16:creationId xmlns:a16="http://schemas.microsoft.com/office/drawing/2014/main" id="{46C5899F-D80B-487F-91F2-7EBBDF72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0668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构造状态反馈</a:t>
            </a:r>
          </a:p>
        </p:txBody>
      </p:sp>
      <p:sp>
        <p:nvSpPr>
          <p:cNvPr id="7" name="candidate-line-213">
            <a:extLst xmlns:a="http://schemas.openxmlformats.org/drawingml/2006/main">
              <a:ext uri="{FF2B5EF4-FFF2-40B4-BE49-F238E27FC236}">
                <a16:creationId xmlns:a16="http://schemas.microsoft.com/office/drawing/2014/main" id="{3AF748B0-F006-4696-9AC3-DAF6BEB2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067925" y="14097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8" name="candidate-line-214">
            <a:extLst xmlns:a="http://schemas.openxmlformats.org/drawingml/2006/main">
              <a:ext uri="{FF2B5EF4-FFF2-40B4-BE49-F238E27FC236}">
                <a16:creationId xmlns:a16="http://schemas.microsoft.com/office/drawing/2014/main" id="{6E7642D2-33A4-42C1-B738-C7051E22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095500" y="1409700"/>
            <a:ext cx="797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9" name="candidate-arrow-215">
            <a:extLst xmlns:a="http://schemas.openxmlformats.org/drawingml/2006/main">
              <a:ext uri="{FF2B5EF4-FFF2-40B4-BE49-F238E27FC236}">
                <a16:creationId xmlns:a16="http://schemas.microsoft.com/office/drawing/2014/main" id="{5D246EE2-468A-42FA-8389-25FD869FE6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140970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0" name="candidate-box-216">
            <a:extLst xmlns:a="http://schemas.openxmlformats.org/drawingml/2006/main">
              <a:ext uri="{FF2B5EF4-FFF2-40B4-BE49-F238E27FC236}">
                <a16:creationId xmlns:a16="http://schemas.microsoft.com/office/drawing/2014/main" id="{43687CCE-C48B-44ED-92B1-E764AAB3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2952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1" name="candidate-text-217">
            <a:extLst xmlns:a="http://schemas.openxmlformats.org/drawingml/2006/main">
              <a:ext uri="{FF2B5EF4-FFF2-40B4-BE49-F238E27FC236}">
                <a16:creationId xmlns:a16="http://schemas.microsoft.com/office/drawing/2014/main" id="{C7F4C8A8-A58F-449C-8151-6547CF86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调度状态与同构表示</a:t>
            </a:r>
          </a:p>
        </p:txBody>
      </p:sp>
      <p:sp>
        <p:nvSpPr>
          <p:cNvPr id="12" name="candidate-line-218">
            <a:extLst xmlns:a="http://schemas.openxmlformats.org/drawingml/2006/main">
              <a:ext uri="{FF2B5EF4-FFF2-40B4-BE49-F238E27FC236}">
                <a16:creationId xmlns:a16="http://schemas.microsoft.com/office/drawing/2014/main" id="{6ECFF857-6961-4CD9-9719-3F68A738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3950" y="2219325"/>
            <a:ext cx="9715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3" name="candidate-line-219">
            <a:extLst xmlns:a="http://schemas.openxmlformats.org/drawingml/2006/main">
              <a:ext uri="{FF2B5EF4-FFF2-40B4-BE49-F238E27FC236}">
                <a16:creationId xmlns:a16="http://schemas.microsoft.com/office/drawing/2014/main" id="{2133493D-5C90-4E62-B568-538B3D13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2219325"/>
            <a:ext cx="9715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4" name="candidate-line-220">
            <a:extLst xmlns:a="http://schemas.openxmlformats.org/drawingml/2006/main">
              <a:ext uri="{FF2B5EF4-FFF2-40B4-BE49-F238E27FC236}">
                <a16:creationId xmlns:a16="http://schemas.microsoft.com/office/drawing/2014/main" id="{4EB93C2D-DE87-4FAD-9920-2533AAC6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" y="2352675"/>
            <a:ext cx="32385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5" name="candidate-line-221">
            <a:extLst xmlns:a="http://schemas.openxmlformats.org/drawingml/2006/main">
              <a:ext uri="{FF2B5EF4-FFF2-40B4-BE49-F238E27FC236}">
                <a16:creationId xmlns:a16="http://schemas.microsoft.com/office/drawing/2014/main" id="{F963E4CD-B4F6-45FC-945B-9F1D9FAF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447800" y="2219325"/>
            <a:ext cx="6477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6" name="candidate-line-222">
            <a:extLst xmlns:a="http://schemas.openxmlformats.org/drawingml/2006/main">
              <a:ext uri="{FF2B5EF4-FFF2-40B4-BE49-F238E27FC236}">
                <a16:creationId xmlns:a16="http://schemas.microsoft.com/office/drawing/2014/main" id="{412B8D88-0AD6-4EEC-9C3C-D7108F7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743200" y="2352675"/>
            <a:ext cx="32385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7" name="candidate-line-223">
            <a:extLst xmlns:a="http://schemas.openxmlformats.org/drawingml/2006/main">
              <a:ext uri="{FF2B5EF4-FFF2-40B4-BE49-F238E27FC236}">
                <a16:creationId xmlns:a16="http://schemas.microsoft.com/office/drawing/2014/main" id="{C8733073-1391-4C0C-9023-2A147446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23950" y="2943225"/>
            <a:ext cx="3238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8" name="candidate-line-224">
            <a:extLst xmlns:a="http://schemas.openxmlformats.org/drawingml/2006/main">
              <a:ext uri="{FF2B5EF4-FFF2-40B4-BE49-F238E27FC236}">
                <a16:creationId xmlns:a16="http://schemas.microsoft.com/office/drawing/2014/main" id="{6055C4AF-B41B-4CDD-9D01-57D934D8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2943225"/>
            <a:ext cx="16192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9" name="candidate-line-225">
            <a:extLst xmlns:a="http://schemas.openxmlformats.org/drawingml/2006/main">
              <a:ext uri="{FF2B5EF4-FFF2-40B4-BE49-F238E27FC236}">
                <a16:creationId xmlns:a16="http://schemas.microsoft.com/office/drawing/2014/main" id="{67E4A5AB-A24C-4C1C-B6E3-BEF8A68B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43200" y="2943225"/>
            <a:ext cx="3238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20" name="candidate-box-226">
            <a:extLst xmlns:a="http://schemas.openxmlformats.org/drawingml/2006/main">
              <a:ext uri="{FF2B5EF4-FFF2-40B4-BE49-F238E27FC236}">
                <a16:creationId xmlns:a16="http://schemas.microsoft.com/office/drawing/2014/main" id="{13973226-A63D-4413-BF21-C757D1D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2119313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1" name="candidate-text-227">
            <a:extLst xmlns:a="http://schemas.openxmlformats.org/drawingml/2006/main">
              <a:ext uri="{FF2B5EF4-FFF2-40B4-BE49-F238E27FC236}">
                <a16:creationId xmlns:a16="http://schemas.microsoft.com/office/drawing/2014/main" id="{6EF7A174-46DA-4C67-BDE3-E5C06183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2119313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2" name="candidate-box-228">
            <a:extLst xmlns:a="http://schemas.openxmlformats.org/drawingml/2006/main">
              <a:ext uri="{FF2B5EF4-FFF2-40B4-BE49-F238E27FC236}">
                <a16:creationId xmlns:a16="http://schemas.microsoft.com/office/drawing/2014/main" id="{322EB1DB-65E2-44BC-9C05-C46B8DA2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38" y="1985963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3" name="candidate-text-229">
            <a:extLst xmlns:a="http://schemas.openxmlformats.org/drawingml/2006/main">
              <a:ext uri="{FF2B5EF4-FFF2-40B4-BE49-F238E27FC236}">
                <a16:creationId xmlns:a16="http://schemas.microsoft.com/office/drawing/2014/main" id="{8683BA4F-B787-4644-85F4-C5BEBD10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38" y="1985963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4" name="candidate-box-230">
            <a:extLst xmlns:a="http://schemas.openxmlformats.org/drawingml/2006/main">
              <a:ext uri="{FF2B5EF4-FFF2-40B4-BE49-F238E27FC236}">
                <a16:creationId xmlns:a16="http://schemas.microsoft.com/office/drawing/2014/main" id="{86667D8D-62F0-4AAC-AC86-17DEFC33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2119313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5" name="candidate-text-231">
            <a:extLst xmlns:a="http://schemas.openxmlformats.org/drawingml/2006/main">
              <a:ext uri="{FF2B5EF4-FFF2-40B4-BE49-F238E27FC236}">
                <a16:creationId xmlns:a16="http://schemas.microsoft.com/office/drawing/2014/main" id="{480DAD7D-66AB-4842-93B2-DC106327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2119313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6" name="candidate-box-232">
            <a:extLst xmlns:a="http://schemas.openxmlformats.org/drawingml/2006/main">
              <a:ext uri="{FF2B5EF4-FFF2-40B4-BE49-F238E27FC236}">
                <a16:creationId xmlns:a16="http://schemas.microsoft.com/office/drawing/2014/main" id="{57386C68-F0E3-499B-9FDB-F67B106B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2709863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7" name="candidate-text-233">
            <a:extLst xmlns:a="http://schemas.openxmlformats.org/drawingml/2006/main">
              <a:ext uri="{FF2B5EF4-FFF2-40B4-BE49-F238E27FC236}">
                <a16:creationId xmlns:a16="http://schemas.microsoft.com/office/drawing/2014/main" id="{D6D38AE1-2338-40AA-B71F-2E411505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2709863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28" name="candidate-box-234">
            <a:extLst xmlns:a="http://schemas.openxmlformats.org/drawingml/2006/main">
              <a:ext uri="{FF2B5EF4-FFF2-40B4-BE49-F238E27FC236}">
                <a16:creationId xmlns:a16="http://schemas.microsoft.com/office/drawing/2014/main" id="{C51751CE-5486-40BB-99D2-D04442A7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2709863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9" name="candidate-text-235">
            <a:extLst xmlns:a="http://schemas.openxmlformats.org/drawingml/2006/main">
              <a:ext uri="{FF2B5EF4-FFF2-40B4-BE49-F238E27FC236}">
                <a16:creationId xmlns:a16="http://schemas.microsoft.com/office/drawing/2014/main" id="{6AB65AE9-4BD9-48F3-962C-7AF5631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2709863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30" name="candidate-box-236">
            <a:extLst xmlns:a="http://schemas.openxmlformats.org/drawingml/2006/main">
              <a:ext uri="{FF2B5EF4-FFF2-40B4-BE49-F238E27FC236}">
                <a16:creationId xmlns:a16="http://schemas.microsoft.com/office/drawing/2014/main" id="{856C9551-D7F5-404B-857B-FDD97D82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3328988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1" name="candidate-text-237">
            <a:extLst xmlns:a="http://schemas.openxmlformats.org/drawingml/2006/main">
              <a:ext uri="{FF2B5EF4-FFF2-40B4-BE49-F238E27FC236}">
                <a16:creationId xmlns:a16="http://schemas.microsoft.com/office/drawing/2014/main" id="{F896B8C2-E7C7-44D3-9D96-BA5F86BB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3328988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32" name="candidate-box-238">
            <a:extLst xmlns:a="http://schemas.openxmlformats.org/drawingml/2006/main">
              <a:ext uri="{FF2B5EF4-FFF2-40B4-BE49-F238E27FC236}">
                <a16:creationId xmlns:a16="http://schemas.microsoft.com/office/drawing/2014/main" id="{28FAF9D2-A786-4576-88EE-BE9BB6A7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328988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3" name="candidate-text-239">
            <a:extLst xmlns:a="http://schemas.openxmlformats.org/drawingml/2006/main">
              <a:ext uri="{FF2B5EF4-FFF2-40B4-BE49-F238E27FC236}">
                <a16:creationId xmlns:a16="http://schemas.microsoft.com/office/drawing/2014/main" id="{DA46AD6F-B928-4564-B691-60363650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328988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34" name="candidate-text-240">
            <a:extLst xmlns:a="http://schemas.openxmlformats.org/drawingml/2006/main">
              <a:ext uri="{FF2B5EF4-FFF2-40B4-BE49-F238E27FC236}">
                <a16:creationId xmlns:a16="http://schemas.microsoft.com/office/drawing/2014/main" id="{86729E4E-DC74-494B-A9D0-87E7166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90975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完整工序图与资源信息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共享传播规则与参数</a:t>
            </a:r>
          </a:p>
        </p:txBody>
      </p:sp>
      <p:sp>
        <p:nvSpPr>
          <p:cNvPr id="35" name="candidate-box-241">
            <a:extLst xmlns:a="http://schemas.openxmlformats.org/drawingml/2006/main">
              <a:ext uri="{FF2B5EF4-FFF2-40B4-BE49-F238E27FC236}">
                <a16:creationId xmlns:a16="http://schemas.microsoft.com/office/drawing/2014/main" id="{D400DE9E-BB68-4183-B322-827B2023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571625"/>
            <a:ext cx="3429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36" name="candidate-text-242">
            <a:extLst xmlns:a="http://schemas.openxmlformats.org/drawingml/2006/main">
              <a:ext uri="{FF2B5EF4-FFF2-40B4-BE49-F238E27FC236}">
                <a16:creationId xmlns:a16="http://schemas.microsoft.com/office/drawing/2014/main" id="{30E0A9B2-DD04-42B2-B547-5DCE4B6A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66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Actor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：条件联合选择</a:t>
            </a:r>
          </a:p>
        </p:txBody>
      </p:sp>
      <p:sp>
        <p:nvSpPr>
          <p:cNvPr id="37" name="candidate-box-243">
            <a:extLst xmlns:a="http://schemas.openxmlformats.org/drawingml/2006/main">
              <a:ext uri="{FF2B5EF4-FFF2-40B4-BE49-F238E27FC236}">
                <a16:creationId xmlns:a16="http://schemas.microsoft.com/office/drawing/2014/main" id="{4ACC0902-1C82-407B-A881-8400A972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90750"/>
            <a:ext cx="914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 i</a:t>
            </a:r>
          </a:p>
        </p:txBody>
      </p:sp>
      <p:sp>
        <p:nvSpPr>
          <p:cNvPr id="38" name="candidate-box-244">
            <a:extLst xmlns:a="http://schemas.openxmlformats.org/drawingml/2006/main">
              <a:ext uri="{FF2B5EF4-FFF2-40B4-BE49-F238E27FC236}">
                <a16:creationId xmlns:a16="http://schemas.microsoft.com/office/drawing/2014/main" id="{E2A7DBB3-A997-4318-A482-3A0B73D1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90750"/>
            <a:ext cx="914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0">
                <a:latin typeface="Nimbus Roman"/>
                <a:ea typeface="Nimbus Roman"/>
                <a:cs typeface="Nimbus Roman"/>
              </a:rPr>
              <a:t> m</a:t>
            </a:r>
          </a:p>
        </p:txBody>
      </p:sp>
      <p:sp>
        <p:nvSpPr>
          <p:cNvPr id="39" name="candidate-box-245">
            <a:extLst xmlns:a="http://schemas.openxmlformats.org/drawingml/2006/main">
              <a:ext uri="{FF2B5EF4-FFF2-40B4-BE49-F238E27FC236}">
                <a16:creationId xmlns:a16="http://schemas.microsoft.com/office/drawing/2014/main" id="{DD9C069F-DA38-4535-B01A-B3703EC7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90750"/>
            <a:ext cx="971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成员</a:t>
            </a:r>
            <a:r>
              <a:rPr b="0">
                <a:latin typeface="Nimbus Roman"/>
                <a:ea typeface="Nimbus Roman"/>
                <a:cs typeface="Nimbus Roman"/>
              </a:rPr>
              <a:t> w_r</a:t>
            </a:r>
          </a:p>
        </p:txBody>
      </p:sp>
      <p:cxnSp>
        <p:nvCxnSpPr>
          <p:cNvPr id="40" name="candidate-arrow-246">
            <a:extLst xmlns:a="http://schemas.openxmlformats.org/drawingml/2006/main">
              <a:ext uri="{FF2B5EF4-FFF2-40B4-BE49-F238E27FC236}">
                <a16:creationId xmlns:a16="http://schemas.microsoft.com/office/drawing/2014/main" id="{519F4997-06C5-495C-959D-8C866FF228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00625" y="24479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1" name="candidate-arrow-247">
            <a:extLst xmlns:a="http://schemas.openxmlformats.org/drawingml/2006/main">
              <a:ext uri="{FF2B5EF4-FFF2-40B4-BE49-F238E27FC236}">
                <a16:creationId xmlns:a16="http://schemas.microsoft.com/office/drawing/2014/main" id="{1131E9BF-98B8-44DD-B667-B141566ED9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0" y="24479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2" name="candidate-text-248">
            <a:extLst xmlns:a="http://schemas.openxmlformats.org/drawingml/2006/main">
              <a:ext uri="{FF2B5EF4-FFF2-40B4-BE49-F238E27FC236}">
                <a16:creationId xmlns:a16="http://schemas.microsoft.com/office/drawing/2014/main" id="{FF5636CD-8C32-4A5A-8B15-1083F061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886075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合法性掩码限制各步候选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团队逐人构造至给定人数</a:t>
            </a:r>
          </a:p>
        </p:txBody>
      </p:sp>
      <p:cxnSp>
        <p:nvCxnSpPr>
          <p:cNvPr id="43" name="candidate-arrow-249">
            <a:extLst xmlns:a="http://schemas.openxmlformats.org/drawingml/2006/main">
              <a:ext uri="{FF2B5EF4-FFF2-40B4-BE49-F238E27FC236}">
                <a16:creationId xmlns:a16="http://schemas.microsoft.com/office/drawing/2014/main" id="{A4115B9D-066D-4BC3-A4AC-4BCEBFF7D4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71875" y="24574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4" name="candidate-box-250">
            <a:extLst xmlns:a="http://schemas.openxmlformats.org/drawingml/2006/main">
              <a:ext uri="{FF2B5EF4-FFF2-40B4-BE49-F238E27FC236}">
                <a16:creationId xmlns:a16="http://schemas.microsoft.com/office/drawing/2014/main" id="{8601996B-A4D3-4A37-AF7F-63EA9AB5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528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Critic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：累计回报估计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为</a:t>
            </a:r>
            <a:r>
              <a:rPr b="0">
                <a:latin typeface="Nimbus Roman"/>
                <a:ea typeface="Nimbus Roman"/>
                <a:cs typeface="Nimbus Roman"/>
              </a:rPr>
              <a:t>PPO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提供价值估计</a:t>
            </a:r>
          </a:p>
        </p:txBody>
      </p:sp>
      <p:cxnSp>
        <p:nvCxnSpPr>
          <p:cNvPr id="45" name="candidate-arrow-251">
            <a:extLst xmlns:a="http://schemas.openxmlformats.org/drawingml/2006/main">
              <a:ext uri="{FF2B5EF4-FFF2-40B4-BE49-F238E27FC236}">
                <a16:creationId xmlns:a16="http://schemas.microsoft.com/office/drawing/2014/main" id="{7FCE6C70-BEE0-4118-8AD5-24C65DF9FE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71875" y="4114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6" name="candidate-box-252">
            <a:extLst xmlns:a="http://schemas.openxmlformats.org/drawingml/2006/main">
              <a:ext uri="{FF2B5EF4-FFF2-40B4-BE49-F238E27FC236}">
                <a16:creationId xmlns:a16="http://schemas.microsoft.com/office/drawing/2014/main" id="{5B9377D0-71DC-4509-9998-E092507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5718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47" name="candidate-text-253">
            <a:extLst xmlns:a="http://schemas.openxmlformats.org/drawingml/2006/main">
              <a:ext uri="{FF2B5EF4-FFF2-40B4-BE49-F238E27FC236}">
                <a16:creationId xmlns:a16="http://schemas.microsoft.com/office/drawing/2014/main" id="{2AFD71E0-6B36-43EF-B690-10B2BE50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计划构造与约束落实</a:t>
            </a:r>
          </a:p>
        </p:txBody>
      </p:sp>
      <p:sp>
        <p:nvSpPr>
          <p:cNvPr id="48" name="candidate-box-254">
            <a:extLst xmlns:a="http://schemas.openxmlformats.org/drawingml/2006/main">
              <a:ext uri="{FF2B5EF4-FFF2-40B4-BE49-F238E27FC236}">
                <a16:creationId xmlns:a16="http://schemas.microsoft.com/office/drawing/2014/main" id="{30DF6489-F702-4D4B-9E95-E4DC5627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309562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可行时间分配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前驱完成与人员日历</a:t>
            </a:r>
          </a:p>
        </p:txBody>
      </p:sp>
      <p:cxnSp>
        <p:nvCxnSpPr>
          <p:cNvPr id="49" name="candidate-arrow-255">
            <a:extLst xmlns:a="http://schemas.openxmlformats.org/drawingml/2006/main">
              <a:ext uri="{FF2B5EF4-FFF2-40B4-BE49-F238E27FC236}">
                <a16:creationId xmlns:a16="http://schemas.microsoft.com/office/drawing/2014/main" id="{41285965-52A4-4654-9588-95C4E48FAF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82175" y="29527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0" name="candidate-box-256">
            <a:extLst xmlns:a="http://schemas.openxmlformats.org/drawingml/2006/main">
              <a:ext uri="{FF2B5EF4-FFF2-40B4-BE49-F238E27FC236}">
                <a16:creationId xmlns:a16="http://schemas.microsoft.com/office/drawing/2014/main" id="{A6090374-52DA-4CA7-A38C-37B8231E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76600"/>
            <a:ext cx="3095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起止安排、人员占用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与首次使用绑定更新</a:t>
            </a:r>
          </a:p>
        </p:txBody>
      </p:sp>
      <p:cxnSp>
        <p:nvCxnSpPr>
          <p:cNvPr id="51" name="candidate-arrow-257">
            <a:extLst xmlns:a="http://schemas.openxmlformats.org/drawingml/2006/main">
              <a:ext uri="{FF2B5EF4-FFF2-40B4-BE49-F238E27FC236}">
                <a16:creationId xmlns:a16="http://schemas.microsoft.com/office/drawing/2014/main" id="{19906024-C21C-46FC-85D5-383C60EDCB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81875" y="24574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2" name="candidate-text-258">
            <a:extLst xmlns:a="http://schemas.openxmlformats.org/drawingml/2006/main">
              <a:ext uri="{FF2B5EF4-FFF2-40B4-BE49-F238E27FC236}">
                <a16:creationId xmlns:a16="http://schemas.microsoft.com/office/drawing/2014/main" id="{0D1CD97A-6F28-491D-87A5-5DEE540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动作</a:t>
            </a:r>
          </a:p>
        </p:txBody>
      </p:sp>
      <p:sp>
        <p:nvSpPr>
          <p:cNvPr id="53" name="candidate-box-259">
            <a:extLst xmlns:a="http://schemas.openxmlformats.org/drawingml/2006/main">
              <a:ext uri="{FF2B5EF4-FFF2-40B4-BE49-F238E27FC236}">
                <a16:creationId xmlns:a16="http://schemas.microsoft.com/office/drawing/2014/main" id="{609ECE5B-446A-4F73-B9BF-D130B4C9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81600"/>
            <a:ext cx="3476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PPO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共同训练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策略损失与价值损失</a:t>
            </a:r>
          </a:p>
        </p:txBody>
      </p:sp>
      <p:sp>
        <p:nvSpPr>
          <p:cNvPr id="54" name="candidate-box-260">
            <a:extLst xmlns:a="http://schemas.openxmlformats.org/drawingml/2006/main">
              <a:ext uri="{FF2B5EF4-FFF2-40B4-BE49-F238E27FC236}">
                <a16:creationId xmlns:a16="http://schemas.microsoft.com/office/drawing/2014/main" id="{5B71F999-0D95-48DD-959C-45BA40E7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81600"/>
            <a:ext cx="3000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采样轨迹与原奖励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动作概率、回报</a:t>
            </a:r>
          </a:p>
        </p:txBody>
      </p:sp>
      <p:cxnSp>
        <p:nvCxnSpPr>
          <p:cNvPr id="55" name="candidate-arrow-261">
            <a:extLst xmlns:a="http://schemas.openxmlformats.org/drawingml/2006/main">
              <a:ext uri="{FF2B5EF4-FFF2-40B4-BE49-F238E27FC236}">
                <a16:creationId xmlns:a16="http://schemas.microsoft.com/office/drawing/2014/main" id="{99FB6D5A-9EEA-4A00-A776-5226A4B158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67925" y="4476750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6" name="candidate-arrow-262">
            <a:extLst xmlns:a="http://schemas.openxmlformats.org/drawingml/2006/main">
              <a:ext uri="{FF2B5EF4-FFF2-40B4-BE49-F238E27FC236}">
                <a16:creationId xmlns:a16="http://schemas.microsoft.com/office/drawing/2014/main" id="{ED1F2903-FDC0-4FC6-9B79-29DDEA3D2F7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239125" y="54959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7" name="candidate-arrow-263">
            <a:extLst xmlns:a="http://schemas.openxmlformats.org/drawingml/2006/main">
              <a:ext uri="{FF2B5EF4-FFF2-40B4-BE49-F238E27FC236}">
                <a16:creationId xmlns:a16="http://schemas.microsoft.com/office/drawing/2014/main" id="{7FA48ADC-815E-4C52-85F0-A4A9FF558F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43500" y="4476750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8" name="candidate-text-264">
            <a:extLst xmlns:a="http://schemas.openxmlformats.org/drawingml/2006/main">
              <a:ext uri="{FF2B5EF4-FFF2-40B4-BE49-F238E27FC236}">
                <a16:creationId xmlns:a16="http://schemas.microsoft.com/office/drawing/2014/main" id="{C20F4E96-AE7B-4003-B21B-0B9CF941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14875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价值估计</a:t>
            </a:r>
          </a:p>
        </p:txBody>
      </p:sp>
      <p:sp>
        <p:nvSpPr>
          <p:cNvPr id="59" name="candidate-line-265">
            <a:extLst xmlns:a="http://schemas.openxmlformats.org/drawingml/2006/main">
              <a:ext uri="{FF2B5EF4-FFF2-40B4-BE49-F238E27FC236}">
                <a16:creationId xmlns:a16="http://schemas.microsoft.com/office/drawing/2014/main" id="{5774F815-77F3-44E2-BE5B-B3CC6132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810000" y="54959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60" name="candidate-line-266">
            <a:extLst xmlns:a="http://schemas.openxmlformats.org/drawingml/2006/main">
              <a:ext uri="{FF2B5EF4-FFF2-40B4-BE49-F238E27FC236}">
                <a16:creationId xmlns:a16="http://schemas.microsoft.com/office/drawing/2014/main" id="{95DCD9B7-1399-436D-8853-7C63A43A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10000" y="2047875"/>
            <a:ext cx="0" cy="344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cxnSp>
        <p:nvCxnSpPr>
          <p:cNvPr id="61" name="candidate-arrow-267">
            <a:extLst xmlns:a="http://schemas.openxmlformats.org/drawingml/2006/main">
              <a:ext uri="{FF2B5EF4-FFF2-40B4-BE49-F238E27FC236}">
                <a16:creationId xmlns:a16="http://schemas.microsoft.com/office/drawing/2014/main" id="{A8C7EB7F-B09A-498B-93A6-5B97C569DE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10000" y="20478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dash"/>
            <a:tailEnd type="triangle" w="sm" len="sm"/>
          </a:ln>
        </p:spPr>
      </p:cxnSp>
      <p:cxnSp>
        <p:nvCxnSpPr>
          <p:cNvPr id="62" name="candidate-arrow-268">
            <a:extLst xmlns:a="http://schemas.openxmlformats.org/drawingml/2006/main">
              <a:ext uri="{FF2B5EF4-FFF2-40B4-BE49-F238E27FC236}">
                <a16:creationId xmlns:a16="http://schemas.microsoft.com/office/drawing/2014/main" id="{93E5D84C-539B-49A3-A0D1-EFC9679F2F7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048500" y="4476750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dash"/>
            <a:tailEnd type="triangle" w="sm" len="sm"/>
          </a:ln>
        </p:spPr>
      </p:cxnSp>
      <p:sp>
        <p:nvSpPr>
          <p:cNvPr id="63" name="candidate-text-269">
            <a:extLst xmlns:a="http://schemas.openxmlformats.org/drawingml/2006/main">
              <a:ext uri="{FF2B5EF4-FFF2-40B4-BE49-F238E27FC236}">
                <a16:creationId xmlns:a16="http://schemas.microsoft.com/office/drawing/2014/main" id="{12CC428F-CF5D-4584-8D7A-0A7DEA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695825"/>
            <a:ext cx="92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参数更新</a:t>
            </a:r>
          </a:p>
        </p:txBody>
      </p:sp>
      <p:sp>
        <p:nvSpPr>
          <p:cNvPr id="64" name="candidate-text-270">
            <a:extLst xmlns:a="http://schemas.openxmlformats.org/drawingml/2006/main">
              <a:ext uri="{FF2B5EF4-FFF2-40B4-BE49-F238E27FC236}">
                <a16:creationId xmlns:a16="http://schemas.microsoft.com/office/drawing/2014/main" id="{9D6F130E-244E-4CAD-A6D5-A9DE785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2914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完成后输出基准排程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训练更新用虚线表示</a:t>
            </a:r>
          </a:p>
        </p:txBody>
      </p:sp>
      <p:sp>
        <p:nvSpPr>
          <p:cNvPr id="65" name="candidate-text-271">
            <a:extLst xmlns:a="http://schemas.openxmlformats.org/drawingml/2006/main">
              <a:ext uri="{FF2B5EF4-FFF2-40B4-BE49-F238E27FC236}">
                <a16:creationId xmlns:a16="http://schemas.microsoft.com/office/drawing/2014/main" id="{576A2171-0C07-4A71-B3E8-9B5081C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新同构方案需独立验证：约束满足情况、排程质量与推理成本</a:t>
            </a:r>
          </a:p>
        </p:txBody>
      </p:sp>
    </p:spTree>
    <p:extLst>
      <p:ext uri="{BB962C8B-B14F-4D97-AF65-F5344CB8AC3E}">
        <p14:creationId xmlns:p14="http://schemas.microsoft.com/office/powerpoint/2010/main" val="1847020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1A23C3-6316-41E9-9F08-5B0099EB940F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639175" y="4910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045362-5532-40CB-A08B-15C1A4777932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581650" y="4910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540CFA-1E0D-41BD-AE4B-3D0BABFE9802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943225" y="4910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D1ED5-6239-4045-856A-E832E4E29FB8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7353300" y="2333625"/>
            <a:ext cx="3905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CA501C-0780-4372-A4A7-1BBD01008C52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0137775" y="23336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B64CA-F01E-44C6-8D49-9DD00E6D96F4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778875" y="23336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AE16C-A6A9-4D79-8F93-8225973250D1}"/>
              </a:ext>
            </a:extLst>
          </p:cNvPr>
          <p:cNvCxnSpPr>
            <a:stCxn xmlns:a="http://schemas.openxmlformats.org/drawingml/2006/main" id="10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543050" y="3257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C9A24-9AFA-4EB2-8AEB-4BC7D3D04E5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895600" y="220027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9B93C-22F9-4D78-BB71-562CFA40A94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143000" y="2200275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3E59C-5AAD-4835-8D43-BC10A097C08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3"/>
          </p:cNvCxnSpPr>
          <p:nvPr/>
        </p:nvCxnSpPr>
        <p:spPr>
          <a:xfrm xmlns:a="http://schemas.openxmlformats.org/drawingml/2006/main">
            <a:off x="3314700" y="1971675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DAA30-EA02-4D05-8539-7747170E0DB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62100" y="19716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2" name="candidate-text-272">
            <a:extLst xmlns:a="http://schemas.openxmlformats.org/drawingml/2006/main">
              <a:ext uri="{FF2B5EF4-FFF2-40B4-BE49-F238E27FC236}">
                <a16:creationId xmlns:a16="http://schemas.microsoft.com/office/drawing/2014/main" id="{850D5339-B99C-4D01-8F65-004A8D5C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技术路线二：异构联合调度与计划稳定性</a:t>
            </a:r>
          </a:p>
        </p:txBody>
      </p:sp>
      <p:sp>
        <p:nvSpPr>
          <p:cNvPr id="2" name="candidate-line-273">
            <a:extLst xmlns:a="http://schemas.openxmlformats.org/drawingml/2006/main">
              <a:ext uri="{FF2B5EF4-FFF2-40B4-BE49-F238E27FC236}">
                <a16:creationId xmlns:a16="http://schemas.microsoft.com/office/drawing/2014/main" id="{7B46EB50-FCDA-4755-817A-ADA4DCC2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274">
            <a:extLst xmlns:a="http://schemas.openxmlformats.org/drawingml/2006/main">
              <a:ext uri="{FF2B5EF4-FFF2-40B4-BE49-F238E27FC236}">
                <a16:creationId xmlns:a16="http://schemas.microsoft.com/office/drawing/2014/main" id="{658F630A-ECAB-4028-BBE8-9ED0BC06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275">
            <a:extLst xmlns:a="http://schemas.openxmlformats.org/drawingml/2006/main">
              <a:ext uri="{FF2B5EF4-FFF2-40B4-BE49-F238E27FC236}">
                <a16:creationId xmlns:a16="http://schemas.microsoft.com/office/drawing/2014/main" id="{519B63CE-73EA-448B-ADC8-D5B46B1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276">
            <a:extLst xmlns:a="http://schemas.openxmlformats.org/drawingml/2006/main">
              <a:ext uri="{FF2B5EF4-FFF2-40B4-BE49-F238E27FC236}">
                <a16:creationId xmlns:a16="http://schemas.microsoft.com/office/drawing/2014/main" id="{1A1CF1B8-3C31-4E9D-B0DB-B89FB789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12A</a:t>
            </a:r>
          </a:p>
        </p:txBody>
      </p:sp>
      <p:sp>
        <p:nvSpPr>
          <p:cNvPr id="6" name="candidate-text-277">
            <a:extLst xmlns:a="http://schemas.openxmlformats.org/drawingml/2006/main">
              <a:ext uri="{FF2B5EF4-FFF2-40B4-BE49-F238E27FC236}">
                <a16:creationId xmlns:a16="http://schemas.microsoft.com/office/drawing/2014/main" id="{18C21F2B-DD4E-41FA-B8F9-59109AA6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144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异构联合构造</a:t>
            </a:r>
          </a:p>
        </p:txBody>
      </p:sp>
      <p:sp>
        <p:nvSpPr>
          <p:cNvPr id="7" name="candidate-box-278">
            <a:extLst xmlns:a="http://schemas.openxmlformats.org/drawingml/2006/main">
              <a:ext uri="{FF2B5EF4-FFF2-40B4-BE49-F238E27FC236}">
                <a16:creationId xmlns:a16="http://schemas.microsoft.com/office/drawing/2014/main" id="{953F70A9-2A7C-47CA-88E1-A0BEB022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83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8" name="candidate-box-279">
            <a:extLst xmlns:a="http://schemas.openxmlformats.org/drawingml/2006/main">
              <a:ext uri="{FF2B5EF4-FFF2-40B4-BE49-F238E27FC236}">
                <a16:creationId xmlns:a16="http://schemas.microsoft.com/office/drawing/2014/main" id="{F1829CF8-69BA-4721-8B69-1A79300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43075"/>
            <a:ext cx="83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9" name="candidate-box-280">
            <a:extLst xmlns:a="http://schemas.openxmlformats.org/drawingml/2006/main">
              <a:ext uri="{FF2B5EF4-FFF2-40B4-BE49-F238E27FC236}">
                <a16:creationId xmlns:a16="http://schemas.microsoft.com/office/drawing/2014/main" id="{C22F741C-7CFC-4521-AD33-02CD47D6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14500"/>
            <a:ext cx="933450" cy="5143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10" name="candidate-box-281">
            <a:extLst xmlns:a="http://schemas.openxmlformats.org/drawingml/2006/main">
              <a:ext uri="{FF2B5EF4-FFF2-40B4-BE49-F238E27FC236}">
                <a16:creationId xmlns:a16="http://schemas.microsoft.com/office/drawing/2014/main" id="{202AB4F0-96C1-47BB-A33F-847CCB5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8001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人员</a:t>
            </a:r>
          </a:p>
        </p:txBody>
      </p:sp>
      <p:sp>
        <p:nvSpPr>
          <p:cNvPr id="11" name="candidate-box-282">
            <a:extLst xmlns:a="http://schemas.openxmlformats.org/drawingml/2006/main">
              <a:ext uri="{FF2B5EF4-FFF2-40B4-BE49-F238E27FC236}">
                <a16:creationId xmlns:a16="http://schemas.microsoft.com/office/drawing/2014/main" id="{B339D99C-CB6F-421B-887B-C773B3AB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76550"/>
            <a:ext cx="990600" cy="762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技能</a:t>
            </a:r>
          </a:p>
        </p:txBody>
      </p:sp>
      <p:sp>
        <p:nvSpPr>
          <p:cNvPr id="13" name="candidate-text-283">
            <a:extLst xmlns:a="http://schemas.openxmlformats.org/drawingml/2006/main">
              <a:ext uri="{FF2B5EF4-FFF2-40B4-BE49-F238E27FC236}">
                <a16:creationId xmlns:a16="http://schemas.microsoft.com/office/drawing/2014/main" id="{27D2F60D-BC28-46C1-85CB-1330CA3E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95450"/>
            <a:ext cx="581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前序</a:t>
            </a:r>
          </a:p>
        </p:txBody>
      </p:sp>
      <p:sp>
        <p:nvSpPr>
          <p:cNvPr id="15" name="candidate-text-284">
            <a:extLst xmlns:a="http://schemas.openxmlformats.org/drawingml/2006/main">
              <a:ext uri="{FF2B5EF4-FFF2-40B4-BE49-F238E27FC236}">
                <a16:creationId xmlns:a16="http://schemas.microsoft.com/office/drawing/2014/main" id="{63DA591B-6218-499D-AA9B-05BDD72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95450"/>
            <a:ext cx="447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归属</a:t>
            </a:r>
          </a:p>
        </p:txBody>
      </p:sp>
      <p:sp>
        <p:nvSpPr>
          <p:cNvPr id="17" name="candidate-text-285">
            <a:extLst xmlns:a="http://schemas.openxmlformats.org/drawingml/2006/main">
              <a:ext uri="{FF2B5EF4-FFF2-40B4-BE49-F238E27FC236}">
                <a16:creationId xmlns:a16="http://schemas.microsoft.com/office/drawing/2014/main" id="{45B888F5-F9BD-4FC4-873D-DD296616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66975"/>
            <a:ext cx="67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安排</a:t>
            </a:r>
          </a:p>
        </p:txBody>
      </p:sp>
      <p:sp>
        <p:nvSpPr>
          <p:cNvPr id="19" name="candidate-text-286">
            <a:extLst xmlns:a="http://schemas.openxmlformats.org/drawingml/2006/main">
              <a:ext uri="{FF2B5EF4-FFF2-40B4-BE49-F238E27FC236}">
                <a16:creationId xmlns:a16="http://schemas.microsoft.com/office/drawing/2014/main" id="{587BFB2A-D01E-4FB4-BE55-53F291B1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66975"/>
            <a:ext cx="657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需求</a:t>
            </a:r>
          </a:p>
        </p:txBody>
      </p:sp>
      <p:sp>
        <p:nvSpPr>
          <p:cNvPr id="21" name="candidate-text-287">
            <a:extLst xmlns:a="http://schemas.openxmlformats.org/drawingml/2006/main">
              <a:ext uri="{FF2B5EF4-FFF2-40B4-BE49-F238E27FC236}">
                <a16:creationId xmlns:a16="http://schemas.microsoft.com/office/drawing/2014/main" id="{968764E5-4A20-4582-88FB-71797550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33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资格</a:t>
            </a:r>
          </a:p>
        </p:txBody>
      </p:sp>
      <p:cxnSp>
        <p:nvCxnSpPr>
          <p:cNvPr id="22" name="candidate-arrow-288">
            <a:extLst xmlns:a="http://schemas.openxmlformats.org/drawingml/2006/main">
              <a:ext uri="{FF2B5EF4-FFF2-40B4-BE49-F238E27FC236}">
                <a16:creationId xmlns:a16="http://schemas.microsoft.com/office/drawing/2014/main" id="{A2B83632-7CA6-4BEA-BE8D-14DDC88723B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48225" y="23336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3" name="candidate-box-289">
            <a:extLst xmlns:a="http://schemas.openxmlformats.org/drawingml/2006/main">
              <a:ext uri="{FF2B5EF4-FFF2-40B4-BE49-F238E27FC236}">
                <a16:creationId xmlns:a16="http://schemas.microsoft.com/office/drawing/2014/main" id="{B70E3B01-B09A-48A9-9C70-2A20F06D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76425"/>
            <a:ext cx="22193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异构图编码</a:t>
            </a:r>
          </a:p>
          <a:p xmlns:a="http://schemas.openxmlformats.org/drawingml/2006/main">
            <a:pPr algn="ctr">
              <a:defRPr sz="18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按关系传播与读出</a:t>
            </a:r>
          </a:p>
        </p:txBody>
      </p:sp>
      <p:sp>
        <p:nvSpPr>
          <p:cNvPr id="24" name="candidate-text-290">
            <a:extLst xmlns:a="http://schemas.openxmlformats.org/drawingml/2006/main">
              <a:ext uri="{FF2B5EF4-FFF2-40B4-BE49-F238E27FC236}">
                <a16:creationId xmlns:a16="http://schemas.microsoft.com/office/drawing/2014/main" id="{354DA5CB-227A-462C-932B-CC7275E1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590675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自回归联合选择</a:t>
            </a:r>
          </a:p>
        </p:txBody>
      </p:sp>
      <p:sp>
        <p:nvSpPr>
          <p:cNvPr id="25" name="candidate-box-291">
            <a:extLst xmlns:a="http://schemas.openxmlformats.org/drawingml/2006/main">
              <a:ext uri="{FF2B5EF4-FFF2-40B4-BE49-F238E27FC236}">
                <a16:creationId xmlns:a16="http://schemas.microsoft.com/office/drawing/2014/main" id="{A6B7A87D-3C4C-48EC-935B-6AC4ECA5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57400"/>
            <a:ext cx="103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</a:p>
        </p:txBody>
      </p:sp>
      <p:sp>
        <p:nvSpPr>
          <p:cNvPr id="26" name="candidate-box-292">
            <a:extLst xmlns:a="http://schemas.openxmlformats.org/drawingml/2006/main">
              <a:ext uri="{FF2B5EF4-FFF2-40B4-BE49-F238E27FC236}">
                <a16:creationId xmlns:a16="http://schemas.microsoft.com/office/drawing/2014/main" id="{3154A2BA-0125-4A53-9768-D9C12F2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725" y="2057400"/>
            <a:ext cx="103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27" name="candidate-box-293">
            <a:extLst xmlns:a="http://schemas.openxmlformats.org/drawingml/2006/main">
              <a:ext uri="{FF2B5EF4-FFF2-40B4-BE49-F238E27FC236}">
                <a16:creationId xmlns:a16="http://schemas.microsoft.com/office/drawing/2014/main" id="{96124EE7-738D-41D6-A8BA-A91051A9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625" y="2057400"/>
            <a:ext cx="103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具体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团队</a:t>
            </a:r>
          </a:p>
        </p:txBody>
      </p:sp>
      <p:sp>
        <p:nvSpPr>
          <p:cNvPr id="31" name="candidate-box-294">
            <a:extLst xmlns:a="http://schemas.openxmlformats.org/drawingml/2006/main">
              <a:ext uri="{FF2B5EF4-FFF2-40B4-BE49-F238E27FC236}">
                <a16:creationId xmlns:a16="http://schemas.microsoft.com/office/drawing/2014/main" id="{DA1F911F-81E8-46BF-97E8-F14E8FA9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81325"/>
            <a:ext cx="3752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前向时间分配与状态更新</a:t>
            </a:r>
          </a:p>
        </p:txBody>
      </p:sp>
      <p:sp>
        <p:nvSpPr>
          <p:cNvPr id="32" name="candidate-line-295">
            <a:extLst xmlns:a="http://schemas.openxmlformats.org/drawingml/2006/main">
              <a:ext uri="{FF2B5EF4-FFF2-40B4-BE49-F238E27FC236}">
                <a16:creationId xmlns:a16="http://schemas.microsoft.com/office/drawing/2014/main" id="{620B9CD5-EBB0-4B27-8F2E-3F06F04E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82325" y="26098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3" name="candidate-line-296">
            <a:extLst xmlns:a="http://schemas.openxmlformats.org/drawingml/2006/main">
              <a:ext uri="{FF2B5EF4-FFF2-40B4-BE49-F238E27FC236}">
                <a16:creationId xmlns:a16="http://schemas.microsoft.com/office/drawing/2014/main" id="{A25C0F43-4FD1-428C-AEA1-5220B56F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20250" y="2800350"/>
            <a:ext cx="136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34" name="candidate-arrow-297">
            <a:extLst xmlns:a="http://schemas.openxmlformats.org/drawingml/2006/main">
              <a:ext uri="{FF2B5EF4-FFF2-40B4-BE49-F238E27FC236}">
                <a16:creationId xmlns:a16="http://schemas.microsoft.com/office/drawing/2014/main" id="{D78462FF-1689-420E-A986-D08C772580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20250" y="28003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5" name="candidate-line-298">
            <a:extLst xmlns:a="http://schemas.openxmlformats.org/drawingml/2006/main">
              <a:ext uri="{FF2B5EF4-FFF2-40B4-BE49-F238E27FC236}">
                <a16:creationId xmlns:a16="http://schemas.microsoft.com/office/drawing/2014/main" id="{E61271E8-B231-4ED8-81AD-AB96C6F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86650" y="32289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dash"/>
          </a:ln>
        </p:spPr>
      </p:sp>
      <p:sp>
        <p:nvSpPr>
          <p:cNvPr id="36" name="candidate-line-299">
            <a:extLst xmlns:a="http://schemas.openxmlformats.org/drawingml/2006/main">
              <a:ext uri="{FF2B5EF4-FFF2-40B4-BE49-F238E27FC236}">
                <a16:creationId xmlns:a16="http://schemas.microsoft.com/office/drawing/2014/main" id="{56B15B68-E5D1-42BC-A91B-68436043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86650" y="2952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dash"/>
          </a:ln>
        </p:spPr>
      </p:sp>
      <p:sp>
        <p:nvSpPr>
          <p:cNvPr id="37" name="candidate-line-300">
            <a:extLst xmlns:a="http://schemas.openxmlformats.org/drawingml/2006/main">
              <a:ext uri="{FF2B5EF4-FFF2-40B4-BE49-F238E27FC236}">
                <a16:creationId xmlns:a16="http://schemas.microsoft.com/office/drawing/2014/main" id="{EBCDC6EC-8899-4D44-B043-FECB6BA9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248400" y="29527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dash"/>
          </a:ln>
        </p:spPr>
      </p:sp>
      <p:cxnSp>
        <p:nvCxnSpPr>
          <p:cNvPr id="38" name="candidate-arrow-301">
            <a:extLst xmlns:a="http://schemas.openxmlformats.org/drawingml/2006/main">
              <a:ext uri="{FF2B5EF4-FFF2-40B4-BE49-F238E27FC236}">
                <a16:creationId xmlns:a16="http://schemas.microsoft.com/office/drawing/2014/main" id="{CE38CAD6-957B-4A93-A86B-7B3D97E7026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248400" y="28003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dash"/>
            <a:tailEnd type="triangle" w="sm" len="sm"/>
          </a:ln>
        </p:spPr>
      </p:cxnSp>
      <p:sp>
        <p:nvSpPr>
          <p:cNvPr id="39" name="candidate-text-302">
            <a:extLst xmlns:a="http://schemas.openxmlformats.org/drawingml/2006/main">
              <a:ext uri="{FF2B5EF4-FFF2-40B4-BE49-F238E27FC236}">
                <a16:creationId xmlns:a16="http://schemas.microsoft.com/office/drawing/2014/main" id="{DEA3140F-68BC-4896-95B4-601FD6A3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52775"/>
            <a:ext cx="1971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更新当前安排</a:t>
            </a:r>
          </a:p>
        </p:txBody>
      </p:sp>
      <p:sp>
        <p:nvSpPr>
          <p:cNvPr id="40" name="candidate-text-303">
            <a:extLst xmlns:a="http://schemas.openxmlformats.org/drawingml/2006/main">
              <a:ext uri="{FF2B5EF4-FFF2-40B4-BE49-F238E27FC236}">
                <a16:creationId xmlns:a16="http://schemas.microsoft.com/office/drawing/2014/main" id="{93369008-626B-4F58-AFD6-AAEA5A13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14725"/>
            <a:ext cx="375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形成可行初始排程</a:t>
            </a:r>
          </a:p>
        </p:txBody>
      </p:sp>
      <p:sp>
        <p:nvSpPr>
          <p:cNvPr id="41" name="candidate-line-304">
            <a:extLst xmlns:a="http://schemas.openxmlformats.org/drawingml/2006/main">
              <a:ext uri="{FF2B5EF4-FFF2-40B4-BE49-F238E27FC236}">
                <a16:creationId xmlns:a16="http://schemas.microsoft.com/office/drawing/2014/main" id="{07D00F50-226D-4840-90B7-B5B875E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8385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solid"/>
          </a:ln>
        </p:spPr>
      </p:sp>
      <p:sp>
        <p:nvSpPr>
          <p:cNvPr id="42" name="candidate-text-305">
            <a:extLst xmlns:a="http://schemas.openxmlformats.org/drawingml/2006/main">
              <a:ext uri="{FF2B5EF4-FFF2-40B4-BE49-F238E27FC236}">
                <a16:creationId xmlns:a16="http://schemas.microsoft.com/office/drawing/2014/main" id="{610BD976-A05F-42F0-AFB8-430053E6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受扰后的计划修复</a:t>
            </a:r>
          </a:p>
        </p:txBody>
      </p:sp>
      <p:sp>
        <p:nvSpPr>
          <p:cNvPr id="43" name="candidate-box-306">
            <a:extLst xmlns:a="http://schemas.openxmlformats.org/drawingml/2006/main">
              <a:ext uri="{FF2B5EF4-FFF2-40B4-BE49-F238E27FC236}">
                <a16:creationId xmlns:a16="http://schemas.microsoft.com/office/drawing/2014/main" id="{51D00183-C866-4798-A6DE-BAF9F88E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23241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固定基准计划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已揭示释放延迟</a:t>
            </a:r>
          </a:p>
        </p:txBody>
      </p:sp>
      <p:sp>
        <p:nvSpPr>
          <p:cNvPr id="44" name="candidate-box-307">
            <a:extLst xmlns:a="http://schemas.openxmlformats.org/drawingml/2006/main">
              <a:ext uri="{FF2B5EF4-FFF2-40B4-BE49-F238E27FC236}">
                <a16:creationId xmlns:a16="http://schemas.microsoft.com/office/drawing/2014/main" id="{6A251FCC-669A-4AB0-9E21-FA221DEC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29125"/>
            <a:ext cx="22955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保留冻结条目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继承人员站位绑定</a:t>
            </a:r>
          </a:p>
        </p:txBody>
      </p:sp>
      <p:sp>
        <p:nvSpPr>
          <p:cNvPr id="45" name="candidate-box-308">
            <a:extLst xmlns:a="http://schemas.openxmlformats.org/drawingml/2006/main">
              <a:ext uri="{FF2B5EF4-FFF2-40B4-BE49-F238E27FC236}">
                <a16:creationId xmlns:a16="http://schemas.microsoft.com/office/drawing/2014/main" id="{FE15F57B-7343-45F9-B0D9-D8125C5B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29125"/>
            <a:ext cx="2714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共享编码与联合选择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前向分配可行时间</a:t>
            </a:r>
          </a:p>
        </p:txBody>
      </p:sp>
      <p:sp>
        <p:nvSpPr>
          <p:cNvPr id="46" name="candidate-box-309">
            <a:extLst xmlns:a="http://schemas.openxmlformats.org/drawingml/2006/main">
              <a:ext uri="{FF2B5EF4-FFF2-40B4-BE49-F238E27FC236}">
                <a16:creationId xmlns:a16="http://schemas.microsoft.com/office/drawing/2014/main" id="{724BAC15-158E-418D-B34A-F6C39C20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29125"/>
            <a:ext cx="25146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修复排程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完工与计划偏离评价</a:t>
            </a:r>
          </a:p>
        </p:txBody>
      </p:sp>
      <p:sp>
        <p:nvSpPr>
          <p:cNvPr id="50" name="candidate-text-310">
            <a:extLst xmlns:a="http://schemas.openxmlformats.org/drawingml/2006/main">
              <a:ext uri="{FF2B5EF4-FFF2-40B4-BE49-F238E27FC236}">
                <a16:creationId xmlns:a16="http://schemas.microsoft.com/office/drawing/2014/main" id="{A4FAD732-960E-4F10-A3B8-CCFB0AF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86400"/>
            <a:ext cx="1087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冻结范围依据基准开工时刻，联合修复仅调整允许修改的工序。</a:t>
            </a:r>
          </a:p>
        </p:txBody>
      </p:sp>
      <p:sp>
        <p:nvSpPr>
          <p:cNvPr id="51" name="candidate-text-311">
            <a:extLst xmlns:a="http://schemas.openxmlformats.org/drawingml/2006/main">
              <a:ext uri="{FF2B5EF4-FFF2-40B4-BE49-F238E27FC236}">
                <a16:creationId xmlns:a16="http://schemas.microsoft.com/office/drawing/2014/main" id="{0BD27EA8-BFC5-4EB4-8ECE-588B034C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计划稳定性：相对固定基准，核查开工、站位和具体团队的偏离。</a:t>
            </a:r>
          </a:p>
        </p:txBody>
      </p:sp>
    </p:spTree>
    <p:extLst>
      <p:ext uri="{BB962C8B-B14F-4D97-AF65-F5344CB8AC3E}">
        <p14:creationId xmlns:p14="http://schemas.microsoft.com/office/powerpoint/2010/main" val="938912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55063-4CBA-429A-B276-AF0C82EB0A11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34050" y="3824288"/>
            <a:ext cx="371475" cy="333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741FF-A730-4D61-8A0C-34ABAB43668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578725" y="38576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A5249-0DC5-45C3-9E53-A47FE92DF31F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680200" y="38576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3" name="candidate-text-312">
            <a:extLst xmlns:a="http://schemas.openxmlformats.org/drawingml/2006/main">
              <a:ext uri="{FF2B5EF4-FFF2-40B4-BE49-F238E27FC236}">
                <a16:creationId xmlns:a16="http://schemas.microsoft.com/office/drawing/2014/main" id="{49F73703-0D92-4BE1-8D00-AE4757AD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技术路线二：异构联合调度与计划稳定性</a:t>
            </a:r>
          </a:p>
        </p:txBody>
      </p:sp>
      <p:sp>
        <p:nvSpPr>
          <p:cNvPr id="2" name="candidate-line-313">
            <a:extLst xmlns:a="http://schemas.openxmlformats.org/drawingml/2006/main">
              <a:ext uri="{FF2B5EF4-FFF2-40B4-BE49-F238E27FC236}">
                <a16:creationId xmlns:a16="http://schemas.microsoft.com/office/drawing/2014/main" id="{ABF8928C-762C-45AD-A886-D078862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314">
            <a:extLst xmlns:a="http://schemas.openxmlformats.org/drawingml/2006/main">
              <a:ext uri="{FF2B5EF4-FFF2-40B4-BE49-F238E27FC236}">
                <a16:creationId xmlns:a16="http://schemas.microsoft.com/office/drawing/2014/main" id="{DD0E52A6-5C88-461F-BFC8-E86AC40B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315">
            <a:extLst xmlns:a="http://schemas.openxmlformats.org/drawingml/2006/main">
              <a:ext uri="{FF2B5EF4-FFF2-40B4-BE49-F238E27FC236}">
                <a16:creationId xmlns:a16="http://schemas.microsoft.com/office/drawing/2014/main" id="{53320A16-22B1-406B-B8CE-9A4BBC90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316">
            <a:extLst xmlns:a="http://schemas.openxmlformats.org/drawingml/2006/main">
              <a:ext uri="{FF2B5EF4-FFF2-40B4-BE49-F238E27FC236}">
                <a16:creationId xmlns:a16="http://schemas.microsoft.com/office/drawing/2014/main" id="{AFA60F26-4ED5-4F64-BBE9-49FC1AB7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12B</a:t>
            </a:r>
          </a:p>
        </p:txBody>
      </p:sp>
      <p:sp>
        <p:nvSpPr>
          <p:cNvPr id="6" name="candidate-text-317">
            <a:extLst xmlns:a="http://schemas.openxmlformats.org/drawingml/2006/main">
              <a:ext uri="{FF2B5EF4-FFF2-40B4-BE49-F238E27FC236}">
                <a16:creationId xmlns:a16="http://schemas.microsoft.com/office/drawing/2014/main" id="{7AA67194-02C3-4BED-ABC3-398B813F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1442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正常安排与受扰修复共用联合构造机制</a:t>
            </a:r>
          </a:p>
        </p:txBody>
      </p:sp>
      <p:sp>
        <p:nvSpPr>
          <p:cNvPr id="7" name="candidate-text-318">
            <a:extLst xmlns:a="http://schemas.openxmlformats.org/drawingml/2006/main">
              <a:ext uri="{FF2B5EF4-FFF2-40B4-BE49-F238E27FC236}">
                <a16:creationId xmlns:a16="http://schemas.microsoft.com/office/drawing/2014/main" id="{D9F39E80-4CF3-468B-A490-4123211C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正常安排</a:t>
            </a:r>
          </a:p>
        </p:txBody>
      </p:sp>
      <p:sp>
        <p:nvSpPr>
          <p:cNvPr id="8" name="candidate-box-319">
            <a:extLst xmlns:a="http://schemas.openxmlformats.org/drawingml/2006/main">
              <a:ext uri="{FF2B5EF4-FFF2-40B4-BE49-F238E27FC236}">
                <a16:creationId xmlns:a16="http://schemas.microsoft.com/office/drawing/2014/main" id="{0D5C85E0-8860-4443-ADDA-3D3302A9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25622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工艺前序</a:t>
            </a:r>
          </a:p>
          <a:p xmlns:a="http://schemas.openxmlformats.org/drawingml/2006/main">
            <a:pPr algn="ctr">
              <a:defRPr sz="18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当前资源状态</a:t>
            </a:r>
          </a:p>
        </p:txBody>
      </p:sp>
      <p:sp>
        <p:nvSpPr>
          <p:cNvPr id="9" name="candidate-text-320">
            <a:extLst xmlns:a="http://schemas.openxmlformats.org/drawingml/2006/main">
              <a:ext uri="{FF2B5EF4-FFF2-40B4-BE49-F238E27FC236}">
                <a16:creationId xmlns:a16="http://schemas.microsoft.com/office/drawing/2014/main" id="{4AD691FE-3AB4-4EBF-838D-4F085116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24000"/>
            <a:ext cx="224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初始排程</a:t>
            </a:r>
          </a:p>
        </p:txBody>
      </p:sp>
      <p:sp>
        <p:nvSpPr>
          <p:cNvPr id="10" name="candidate-box-321">
            <a:extLst xmlns:a="http://schemas.openxmlformats.org/drawingml/2006/main">
              <a:ext uri="{FF2B5EF4-FFF2-40B4-BE49-F238E27FC236}">
                <a16:creationId xmlns:a16="http://schemas.microsoft.com/office/drawing/2014/main" id="{3BD4FD5F-99ED-45DC-9BFB-9B884378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85950"/>
            <a:ext cx="2247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可行站位与团队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工序起止时刻</a:t>
            </a:r>
          </a:p>
        </p:txBody>
      </p:sp>
      <p:sp>
        <p:nvSpPr>
          <p:cNvPr id="11" name="candidate-text-322">
            <a:extLst xmlns:a="http://schemas.openxmlformats.org/drawingml/2006/main">
              <a:ext uri="{FF2B5EF4-FFF2-40B4-BE49-F238E27FC236}">
                <a16:creationId xmlns:a16="http://schemas.microsoft.com/office/drawing/2014/main" id="{E7853ABC-1982-4FEA-B61E-0107708D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19400"/>
            <a:ext cx="446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共同的异构表示与联合动作</a:t>
            </a:r>
          </a:p>
        </p:txBody>
      </p:sp>
      <p:sp>
        <p:nvSpPr>
          <p:cNvPr id="12" name="candidate-box-323">
            <a:extLst xmlns:a="http://schemas.openxmlformats.org/drawingml/2006/main">
              <a:ext uri="{FF2B5EF4-FFF2-40B4-BE49-F238E27FC236}">
                <a16:creationId xmlns:a16="http://schemas.microsoft.com/office/drawing/2014/main" id="{80EA5315-8FD3-48C4-92F8-3D98E278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57550"/>
            <a:ext cx="17240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异构图编码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工序、站位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人员、技能</a:t>
            </a:r>
          </a:p>
        </p:txBody>
      </p:sp>
      <p:sp>
        <p:nvSpPr>
          <p:cNvPr id="13" name="candidate-text-324">
            <a:extLst xmlns:a="http://schemas.openxmlformats.org/drawingml/2006/main">
              <a:ext uri="{FF2B5EF4-FFF2-40B4-BE49-F238E27FC236}">
                <a16:creationId xmlns:a16="http://schemas.microsoft.com/office/drawing/2014/main" id="{56A5F9A6-9CA6-4733-817D-569E3903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718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自回归联合选择</a:t>
            </a:r>
          </a:p>
        </p:txBody>
      </p:sp>
      <p:sp>
        <p:nvSpPr>
          <p:cNvPr id="14" name="candidate-box-325">
            <a:extLst xmlns:a="http://schemas.openxmlformats.org/drawingml/2006/main">
              <a:ext uri="{FF2B5EF4-FFF2-40B4-BE49-F238E27FC236}">
                <a16:creationId xmlns:a16="http://schemas.microsoft.com/office/drawing/2014/main" id="{5686A3EF-61C8-448B-918C-BE7FE3A4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81400"/>
            <a:ext cx="574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</a:p>
        </p:txBody>
      </p:sp>
      <p:sp>
        <p:nvSpPr>
          <p:cNvPr id="15" name="candidate-box-326">
            <a:extLst xmlns:a="http://schemas.openxmlformats.org/drawingml/2006/main">
              <a:ext uri="{FF2B5EF4-FFF2-40B4-BE49-F238E27FC236}">
                <a16:creationId xmlns:a16="http://schemas.microsoft.com/office/drawing/2014/main" id="{40A2EF7A-6D85-4BDC-B0AD-C1E4D55E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050" y="3581400"/>
            <a:ext cx="574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16" name="candidate-box-327">
            <a:extLst xmlns:a="http://schemas.openxmlformats.org/drawingml/2006/main">
              <a:ext uri="{FF2B5EF4-FFF2-40B4-BE49-F238E27FC236}">
                <a16:creationId xmlns:a16="http://schemas.microsoft.com/office/drawing/2014/main" id="{75A2E828-DDB4-4FF2-A8C8-A9DAA73F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3581400"/>
            <a:ext cx="574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具体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团队</a:t>
            </a:r>
          </a:p>
        </p:txBody>
      </p:sp>
      <p:sp>
        <p:nvSpPr>
          <p:cNvPr id="19" name="candidate-box-328">
            <a:extLst xmlns:a="http://schemas.openxmlformats.org/drawingml/2006/main">
              <a:ext uri="{FF2B5EF4-FFF2-40B4-BE49-F238E27FC236}">
                <a16:creationId xmlns:a16="http://schemas.microsoft.com/office/drawing/2014/main" id="{71E93697-1F6A-4451-991A-F3E7165E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72000"/>
            <a:ext cx="2371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前向时间分配</a:t>
            </a:r>
          </a:p>
        </p:txBody>
      </p:sp>
      <p:sp>
        <p:nvSpPr>
          <p:cNvPr id="21" name="candidate-line-329">
            <a:extLst xmlns:a="http://schemas.openxmlformats.org/drawingml/2006/main">
              <a:ext uri="{FF2B5EF4-FFF2-40B4-BE49-F238E27FC236}">
                <a16:creationId xmlns:a16="http://schemas.microsoft.com/office/drawing/2014/main" id="{81236358-E5BB-4652-B386-D9ABD47E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81975" y="41338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22" name="candidate-line-330">
            <a:extLst xmlns:a="http://schemas.openxmlformats.org/drawingml/2006/main">
              <a:ext uri="{FF2B5EF4-FFF2-40B4-BE49-F238E27FC236}">
                <a16:creationId xmlns:a16="http://schemas.microsoft.com/office/drawing/2014/main" id="{5778D070-F73B-481E-A243-A444A049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286625" y="43434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23" name="candidate-arrow-331">
            <a:extLst xmlns:a="http://schemas.openxmlformats.org/drawingml/2006/main">
              <a:ext uri="{FF2B5EF4-FFF2-40B4-BE49-F238E27FC236}">
                <a16:creationId xmlns:a16="http://schemas.microsoft.com/office/drawing/2014/main" id="{65DE39CD-4A5D-4D2F-87C2-9922D16E729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86625" y="43434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4" name="candidate-line-332">
            <a:extLst xmlns:a="http://schemas.openxmlformats.org/drawingml/2006/main">
              <a:ext uri="{FF2B5EF4-FFF2-40B4-BE49-F238E27FC236}">
                <a16:creationId xmlns:a16="http://schemas.microsoft.com/office/drawing/2014/main" id="{C38187AD-FC73-4F1E-ADDC-5F11FF66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2371725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25" name="candidate-line-333">
            <a:extLst xmlns:a="http://schemas.openxmlformats.org/drawingml/2006/main">
              <a:ext uri="{FF2B5EF4-FFF2-40B4-BE49-F238E27FC236}">
                <a16:creationId xmlns:a16="http://schemas.microsoft.com/office/drawing/2014/main" id="{D01102E1-6729-429E-A38D-A7EDCA7F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1875" y="23717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26" name="candidate-arrow-334">
            <a:extLst xmlns:a="http://schemas.openxmlformats.org/drawingml/2006/main">
              <a:ext uri="{FF2B5EF4-FFF2-40B4-BE49-F238E27FC236}">
                <a16:creationId xmlns:a16="http://schemas.microsoft.com/office/drawing/2014/main" id="{AB4A6135-04E8-4C32-ABEF-0B53C41E06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71875" y="37052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7" name="candidate-line-335">
            <a:extLst xmlns:a="http://schemas.openxmlformats.org/drawingml/2006/main">
              <a:ext uri="{FF2B5EF4-FFF2-40B4-BE49-F238E27FC236}">
                <a16:creationId xmlns:a16="http://schemas.microsoft.com/office/drawing/2014/main" id="{3E8AF9E1-17F4-4A64-A4DE-09BDF820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49339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28" name="candidate-line-336">
            <a:extLst xmlns:a="http://schemas.openxmlformats.org/drawingml/2006/main">
              <a:ext uri="{FF2B5EF4-FFF2-40B4-BE49-F238E27FC236}">
                <a16:creationId xmlns:a16="http://schemas.microsoft.com/office/drawing/2014/main" id="{14EDBD38-4094-4667-8D22-FFFE57BC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19475" y="40195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29" name="candidate-arrow-337">
            <a:extLst xmlns:a="http://schemas.openxmlformats.org/drawingml/2006/main">
              <a:ext uri="{FF2B5EF4-FFF2-40B4-BE49-F238E27FC236}">
                <a16:creationId xmlns:a16="http://schemas.microsoft.com/office/drawing/2014/main" id="{2EBA3058-E20E-497C-BF37-2378A9D090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19475" y="40195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0" name="candidate-line-338">
            <a:extLst xmlns:a="http://schemas.openxmlformats.org/drawingml/2006/main">
              <a:ext uri="{FF2B5EF4-FFF2-40B4-BE49-F238E27FC236}">
                <a16:creationId xmlns:a16="http://schemas.microsoft.com/office/drawing/2014/main" id="{F956F7B3-9731-45EA-9727-D1AF2C57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48006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1" name="candidate-line-339">
            <a:extLst xmlns:a="http://schemas.openxmlformats.org/drawingml/2006/main">
              <a:ext uri="{FF2B5EF4-FFF2-40B4-BE49-F238E27FC236}">
                <a16:creationId xmlns:a16="http://schemas.microsoft.com/office/drawing/2014/main" id="{E7309538-9EE2-4033-BE3F-C191F8EA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029700" y="2371725"/>
            <a:ext cx="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32" name="candidate-arrow-340">
            <a:extLst xmlns:a="http://schemas.openxmlformats.org/drawingml/2006/main">
              <a:ext uri="{FF2B5EF4-FFF2-40B4-BE49-F238E27FC236}">
                <a16:creationId xmlns:a16="http://schemas.microsoft.com/office/drawing/2014/main" id="{B79012B8-F053-476A-BDED-74C360564C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029700" y="23717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3" name="candidate-line-341">
            <a:extLst xmlns:a="http://schemas.openxmlformats.org/drawingml/2006/main">
              <a:ext uri="{FF2B5EF4-FFF2-40B4-BE49-F238E27FC236}">
                <a16:creationId xmlns:a16="http://schemas.microsoft.com/office/drawing/2014/main" id="{B4BFE23A-9FE3-4A2E-B0C2-C831243C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48006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4" name="candidate-line-342">
            <a:extLst xmlns:a="http://schemas.openxmlformats.org/drawingml/2006/main">
              <a:ext uri="{FF2B5EF4-FFF2-40B4-BE49-F238E27FC236}">
                <a16:creationId xmlns:a16="http://schemas.microsoft.com/office/drawing/2014/main" id="{4A45436C-4332-4B5D-AA10-480442A2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91575" y="48006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35" name="candidate-arrow-343">
            <a:extLst xmlns:a="http://schemas.openxmlformats.org/drawingml/2006/main">
              <a:ext uri="{FF2B5EF4-FFF2-40B4-BE49-F238E27FC236}">
                <a16:creationId xmlns:a16="http://schemas.microsoft.com/office/drawing/2014/main" id="{3913DBC4-6885-4E97-BDE6-9D4CECADF6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91575" y="49339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6" name="candidate-text-344">
            <a:extLst xmlns:a="http://schemas.openxmlformats.org/drawingml/2006/main">
              <a:ext uri="{FF2B5EF4-FFF2-40B4-BE49-F238E27FC236}">
                <a16:creationId xmlns:a16="http://schemas.microsoft.com/office/drawing/2014/main" id="{6FADC867-C4D3-4E10-8AD6-58F62D10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受扰修复</a:t>
            </a:r>
          </a:p>
        </p:txBody>
      </p:sp>
      <p:sp>
        <p:nvSpPr>
          <p:cNvPr id="37" name="candidate-box-345">
            <a:extLst xmlns:a="http://schemas.openxmlformats.org/drawingml/2006/main">
              <a:ext uri="{FF2B5EF4-FFF2-40B4-BE49-F238E27FC236}">
                <a16:creationId xmlns:a16="http://schemas.microsoft.com/office/drawing/2014/main" id="{0922C016-5A62-4B79-A99A-BE3C3214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256222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固定基准与释放条件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保留冻结条目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继承原人员绑定</a:t>
            </a:r>
          </a:p>
        </p:txBody>
      </p:sp>
      <p:sp>
        <p:nvSpPr>
          <p:cNvPr id="38" name="candidate-text-346">
            <a:extLst xmlns:a="http://schemas.openxmlformats.org/drawingml/2006/main">
              <a:ext uri="{FF2B5EF4-FFF2-40B4-BE49-F238E27FC236}">
                <a16:creationId xmlns:a16="http://schemas.microsoft.com/office/drawing/2014/main" id="{B213EACA-BFB2-42BD-809F-C54CE260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90975"/>
            <a:ext cx="224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修复排程</a:t>
            </a:r>
          </a:p>
        </p:txBody>
      </p:sp>
      <p:sp>
        <p:nvSpPr>
          <p:cNvPr id="39" name="candidate-box-347">
            <a:extLst xmlns:a="http://schemas.openxmlformats.org/drawingml/2006/main">
              <a:ext uri="{FF2B5EF4-FFF2-40B4-BE49-F238E27FC236}">
                <a16:creationId xmlns:a16="http://schemas.microsoft.com/office/drawing/2014/main" id="{B94B9CF9-5FF0-4185-8FFB-172786A8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38650"/>
            <a:ext cx="22479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完工时间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开工／站位／团队偏离</a:t>
            </a:r>
          </a:p>
        </p:txBody>
      </p:sp>
      <p:sp>
        <p:nvSpPr>
          <p:cNvPr id="40" name="candidate-text-348">
            <a:extLst xmlns:a="http://schemas.openxmlformats.org/drawingml/2006/main">
              <a:ext uri="{FF2B5EF4-FFF2-40B4-BE49-F238E27FC236}">
                <a16:creationId xmlns:a16="http://schemas.microsoft.com/office/drawing/2014/main" id="{7FB476F2-552D-4D3B-B0A7-97789DA8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3209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按基准开工时刻划分冻结</a:t>
            </a:r>
          </a:p>
        </p:txBody>
      </p:sp>
      <p:sp>
        <p:nvSpPr>
          <p:cNvPr id="41" name="candidate-text-349">
            <a:extLst xmlns:a="http://schemas.openxmlformats.org/drawingml/2006/main">
              <a:ext uri="{FF2B5EF4-FFF2-40B4-BE49-F238E27FC236}">
                <a16:creationId xmlns:a16="http://schemas.microsoft.com/office/drawing/2014/main" id="{FFB8EE44-28D1-4580-A8A5-A89C253E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191125"/>
            <a:ext cx="446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约束掩码屏蔽非法候选</a:t>
            </a:r>
          </a:p>
        </p:txBody>
      </p:sp>
      <p:sp>
        <p:nvSpPr>
          <p:cNvPr id="42" name="candidate-text-350">
            <a:extLst xmlns:a="http://schemas.openxmlformats.org/drawingml/2006/main">
              <a:ext uri="{FF2B5EF4-FFF2-40B4-BE49-F238E27FC236}">
                <a16:creationId xmlns:a16="http://schemas.microsoft.com/office/drawing/2014/main" id="{F7CBD9FF-7030-4DDB-AF73-316FAF03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受扰修复保留冻结安排与既有站位绑定，在允许范围内兼顾效率和稳定性。</a:t>
            </a:r>
          </a:p>
        </p:txBody>
      </p:sp>
    </p:spTree>
    <p:extLst>
      <p:ext uri="{BB962C8B-B14F-4D97-AF65-F5344CB8AC3E}">
        <p14:creationId xmlns:p14="http://schemas.microsoft.com/office/powerpoint/2010/main" val="1419350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EB0491-989A-43C9-BCCA-C437304592FB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896350" y="5114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A34097-9436-4F9B-AF1A-D0D08CB42F84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257800" y="51149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4E74F9-C757-431D-A7A3-5584DD1011E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819400" y="51149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5CBB5C-E34A-44B6-866A-A8FAAAE4269F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696200" y="51149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0ED9C9-8DEE-4E40-8DAC-EAA4A85A582F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96050" y="51149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A60257-23A1-404E-BA6C-45A623F3C899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0253663" y="27051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7" name="candidate-text-351">
            <a:extLst xmlns:a="http://schemas.openxmlformats.org/drawingml/2006/main">
              <a:ext uri="{FF2B5EF4-FFF2-40B4-BE49-F238E27FC236}">
                <a16:creationId xmlns:a16="http://schemas.microsoft.com/office/drawing/2014/main" id="{A2A7DD58-0D13-4525-B596-2C1147FC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技术路线二：异构联合调度与计划稳定性</a:t>
            </a:r>
          </a:p>
        </p:txBody>
      </p:sp>
      <p:sp>
        <p:nvSpPr>
          <p:cNvPr id="2" name="candidate-line-352">
            <a:extLst xmlns:a="http://schemas.openxmlformats.org/drawingml/2006/main">
              <a:ext uri="{FF2B5EF4-FFF2-40B4-BE49-F238E27FC236}">
                <a16:creationId xmlns:a16="http://schemas.microsoft.com/office/drawing/2014/main" id="{D7655651-5925-4691-9E26-16A6C2E0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353">
            <a:extLst xmlns:a="http://schemas.openxmlformats.org/drawingml/2006/main">
              <a:ext uri="{FF2B5EF4-FFF2-40B4-BE49-F238E27FC236}">
                <a16:creationId xmlns:a16="http://schemas.microsoft.com/office/drawing/2014/main" id="{FFE2F783-2183-4CFA-9F02-CC9D5DEF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354">
            <a:extLst xmlns:a="http://schemas.openxmlformats.org/drawingml/2006/main">
              <a:ext uri="{FF2B5EF4-FFF2-40B4-BE49-F238E27FC236}">
                <a16:creationId xmlns:a16="http://schemas.microsoft.com/office/drawing/2014/main" id="{CC55E41D-1065-415B-A148-1023B4A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355">
            <a:extLst xmlns:a="http://schemas.openxmlformats.org/drawingml/2006/main">
              <a:ext uri="{FF2B5EF4-FFF2-40B4-BE49-F238E27FC236}">
                <a16:creationId xmlns:a16="http://schemas.microsoft.com/office/drawing/2014/main" id="{B567129C-141A-4074-8AC7-947C8519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12C</a:t>
            </a:r>
          </a:p>
        </p:txBody>
      </p:sp>
      <p:sp>
        <p:nvSpPr>
          <p:cNvPr id="6" name="candidate-text-356">
            <a:extLst xmlns:a="http://schemas.openxmlformats.org/drawingml/2006/main">
              <a:ext uri="{FF2B5EF4-FFF2-40B4-BE49-F238E27FC236}">
                <a16:creationId xmlns:a16="http://schemas.microsoft.com/office/drawing/2014/main" id="{D2095C27-BC3F-499D-A26E-7847A696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144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重调度边界、冻结条目与可调范围（示意）</a:t>
            </a:r>
          </a:p>
        </p:txBody>
      </p:sp>
      <p:sp>
        <p:nvSpPr>
          <p:cNvPr id="7" name="candidate-text-357">
            <a:extLst xmlns:a="http://schemas.openxmlformats.org/drawingml/2006/main">
              <a:ext uri="{FF2B5EF4-FFF2-40B4-BE49-F238E27FC236}">
                <a16:creationId xmlns:a16="http://schemas.microsoft.com/office/drawing/2014/main" id="{E08B8417-6F40-4CA3-9040-4A362E80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478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冻结条目</a:t>
            </a:r>
          </a:p>
        </p:txBody>
      </p:sp>
      <p:sp>
        <p:nvSpPr>
          <p:cNvPr id="8" name="candidate-text-358">
            <a:extLst xmlns:a="http://schemas.openxmlformats.org/drawingml/2006/main">
              <a:ext uri="{FF2B5EF4-FFF2-40B4-BE49-F238E27FC236}">
                <a16:creationId xmlns:a16="http://schemas.microsoft.com/office/drawing/2014/main" id="{0A1E3265-F128-4C0D-8A13-93C8FE7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478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允许调整的条目</a:t>
            </a:r>
          </a:p>
        </p:txBody>
      </p:sp>
      <p:sp>
        <p:nvSpPr>
          <p:cNvPr id="9" name="candidate-text-359">
            <a:extLst xmlns:a="http://schemas.openxmlformats.org/drawingml/2006/main">
              <a:ext uri="{FF2B5EF4-FFF2-40B4-BE49-F238E27FC236}">
                <a16:creationId xmlns:a16="http://schemas.microsoft.com/office/drawing/2014/main" id="{7C62C624-96BE-4F00-B4FE-56A19658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383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重调度边界</a:t>
            </a:r>
          </a:p>
        </p:txBody>
      </p:sp>
      <p:sp>
        <p:nvSpPr>
          <p:cNvPr id="10" name="candidate-line-360">
            <a:extLst xmlns:a="http://schemas.openxmlformats.org/drawingml/2006/main">
              <a:ext uri="{FF2B5EF4-FFF2-40B4-BE49-F238E27FC236}">
                <a16:creationId xmlns:a16="http://schemas.microsoft.com/office/drawing/2014/main" id="{0EB30122-EC62-440A-9321-3795A4DC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2362200"/>
            <a:ext cx="0" cy="1114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00000"/>
            </a:solidFill>
            <a:prstDash val="dash"/>
          </a:ln>
        </p:spPr>
      </p:sp>
      <p:cxnSp>
        <p:nvCxnSpPr>
          <p:cNvPr id="11" name="candidate-arrow-361">
            <a:extLst xmlns:a="http://schemas.openxmlformats.org/drawingml/2006/main">
              <a:ext uri="{FF2B5EF4-FFF2-40B4-BE49-F238E27FC236}">
                <a16:creationId xmlns:a16="http://schemas.microsoft.com/office/drawing/2014/main" id="{93FF7962-9A93-48DE-BC68-39B94AB776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8225" y="2762250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2" name="candidate-box-362">
            <a:extLst xmlns:a="http://schemas.openxmlformats.org/drawingml/2006/main">
              <a:ext uri="{FF2B5EF4-FFF2-40B4-BE49-F238E27FC236}">
                <a16:creationId xmlns:a16="http://schemas.microsoft.com/office/drawing/2014/main" id="{C6E30B2C-048B-4385-BE0C-F6558DB3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6950"/>
            <a:ext cx="819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13" name="candidate-line-363">
            <a:extLst xmlns:a="http://schemas.openxmlformats.org/drawingml/2006/main">
              <a:ext uri="{FF2B5EF4-FFF2-40B4-BE49-F238E27FC236}">
                <a16:creationId xmlns:a16="http://schemas.microsoft.com/office/drawing/2014/main" id="{3287A0C2-0CA4-46F4-A74A-80E8C34B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05025" y="26765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4" name="candidate-box-364">
            <a:extLst xmlns:a="http://schemas.openxmlformats.org/drawingml/2006/main">
              <a:ext uri="{FF2B5EF4-FFF2-40B4-BE49-F238E27FC236}">
                <a16:creationId xmlns:a16="http://schemas.microsoft.com/office/drawing/2014/main" id="{F8D05D33-2E3B-41DA-98F7-210DE231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candidate-box-365">
            <a:extLst xmlns:a="http://schemas.openxmlformats.org/drawingml/2006/main">
              <a:ext uri="{FF2B5EF4-FFF2-40B4-BE49-F238E27FC236}">
                <a16:creationId xmlns:a16="http://schemas.microsoft.com/office/drawing/2014/main" id="{3273A075-FFDE-4C82-93DF-1E8A3CF1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66950"/>
            <a:ext cx="819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16" name="candidate-line-366">
            <a:extLst xmlns:a="http://schemas.openxmlformats.org/drawingml/2006/main">
              <a:ext uri="{FF2B5EF4-FFF2-40B4-BE49-F238E27FC236}">
                <a16:creationId xmlns:a16="http://schemas.microsoft.com/office/drawing/2014/main" id="{8DF07387-251C-4C32-B8EF-521FB088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90925" y="26765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7" name="candidate-box-367">
            <a:extLst xmlns:a="http://schemas.openxmlformats.org/drawingml/2006/main">
              <a:ext uri="{FF2B5EF4-FFF2-40B4-BE49-F238E27FC236}">
                <a16:creationId xmlns:a16="http://schemas.microsoft.com/office/drawing/2014/main" id="{D88B7BAC-B278-4D5B-A02F-6D91A5B3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candidate-box-368">
            <a:extLst xmlns:a="http://schemas.openxmlformats.org/drawingml/2006/main">
              <a:ext uri="{FF2B5EF4-FFF2-40B4-BE49-F238E27FC236}">
                <a16:creationId xmlns:a16="http://schemas.microsoft.com/office/drawing/2014/main" id="{8204337B-E2D2-4B4D-AC9D-EE9F3FBC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819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19" name="candidate-line-369">
            <a:extLst xmlns:a="http://schemas.openxmlformats.org/drawingml/2006/main">
              <a:ext uri="{FF2B5EF4-FFF2-40B4-BE49-F238E27FC236}">
                <a16:creationId xmlns:a16="http://schemas.microsoft.com/office/drawing/2014/main" id="{D98FC7A4-D342-4736-B2EA-9BAFA947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9775" y="26765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20" name="candidate-box-370">
            <a:extLst xmlns:a="http://schemas.openxmlformats.org/drawingml/2006/main">
              <a:ext uri="{FF2B5EF4-FFF2-40B4-BE49-F238E27FC236}">
                <a16:creationId xmlns:a16="http://schemas.microsoft.com/office/drawing/2014/main" id="{61CE84AC-59FD-4C61-9A02-A1C74FCE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candidate-box-371">
            <a:extLst xmlns:a="http://schemas.openxmlformats.org/drawingml/2006/main">
              <a:ext uri="{FF2B5EF4-FFF2-40B4-BE49-F238E27FC236}">
                <a16:creationId xmlns:a16="http://schemas.microsoft.com/office/drawing/2014/main" id="{B5BB05D9-FB88-40BE-85E7-6787830D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819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22" name="candidate-line-372">
            <a:extLst xmlns:a="http://schemas.openxmlformats.org/drawingml/2006/main">
              <a:ext uri="{FF2B5EF4-FFF2-40B4-BE49-F238E27FC236}">
                <a16:creationId xmlns:a16="http://schemas.microsoft.com/office/drawing/2014/main" id="{950AFF54-D986-42FC-A6D9-5E840785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1875" y="26765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23" name="candidate-box-373">
            <a:extLst xmlns:a="http://schemas.openxmlformats.org/drawingml/2006/main">
              <a:ext uri="{FF2B5EF4-FFF2-40B4-BE49-F238E27FC236}">
                <a16:creationId xmlns:a16="http://schemas.microsoft.com/office/drawing/2014/main" id="{C3A4E324-F3EB-45F9-9179-7F76556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candidate-text-374">
            <a:extLst xmlns:a="http://schemas.openxmlformats.org/drawingml/2006/main">
              <a:ext uri="{FF2B5EF4-FFF2-40B4-BE49-F238E27FC236}">
                <a16:creationId xmlns:a16="http://schemas.microsoft.com/office/drawing/2014/main" id="{F84790DE-84C0-4F3E-9012-297F8CC3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2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保留原站位、团队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及起止时刻</a:t>
            </a:r>
          </a:p>
        </p:txBody>
      </p:sp>
      <p:sp>
        <p:nvSpPr>
          <p:cNvPr id="25" name="candidate-text-375">
            <a:extLst xmlns:a="http://schemas.openxmlformats.org/drawingml/2006/main">
              <a:ext uri="{FF2B5EF4-FFF2-40B4-BE49-F238E27FC236}">
                <a16:creationId xmlns:a16="http://schemas.microsoft.com/office/drawing/2014/main" id="{A7A635C5-A0F2-46C2-9F47-137ADBD5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62275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结合更新释放条件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重新确定可行安排</a:t>
            </a:r>
          </a:p>
        </p:txBody>
      </p:sp>
      <p:sp>
        <p:nvSpPr>
          <p:cNvPr id="26" name="candidate-text-376">
            <a:extLst xmlns:a="http://schemas.openxmlformats.org/drawingml/2006/main">
              <a:ext uri="{FF2B5EF4-FFF2-40B4-BE49-F238E27FC236}">
                <a16:creationId xmlns:a16="http://schemas.microsoft.com/office/drawing/2014/main" id="{833C32EB-F425-43F2-9E56-6F7A879B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909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基准开工时刻示意，无时间刻度</a:t>
            </a:r>
          </a:p>
        </p:txBody>
      </p:sp>
      <p:sp>
        <p:nvSpPr>
          <p:cNvPr id="27" name="candidate-text-377">
            <a:extLst xmlns:a="http://schemas.openxmlformats.org/drawingml/2006/main">
              <a:ext uri="{FF2B5EF4-FFF2-40B4-BE49-F238E27FC236}">
                <a16:creationId xmlns:a16="http://schemas.microsoft.com/office/drawing/2014/main" id="{C7C530F6-8E32-435C-B93F-7F8EEE32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47825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人员绑定继承</a:t>
            </a:r>
          </a:p>
        </p:txBody>
      </p:sp>
      <p:sp>
        <p:nvSpPr>
          <p:cNvPr id="28" name="candidate-box-378">
            <a:extLst xmlns:a="http://schemas.openxmlformats.org/drawingml/2006/main">
              <a:ext uri="{FF2B5EF4-FFF2-40B4-BE49-F238E27FC236}">
                <a16:creationId xmlns:a16="http://schemas.microsoft.com/office/drawing/2014/main" id="{C46530C3-3C0C-4ABB-8256-949C46AC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2562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基准已使用人员</a:t>
            </a:r>
          </a:p>
        </p:txBody>
      </p:sp>
      <p:sp>
        <p:nvSpPr>
          <p:cNvPr id="29" name="candidate-box-379">
            <a:extLst xmlns:a="http://schemas.openxmlformats.org/drawingml/2006/main">
              <a:ext uri="{FF2B5EF4-FFF2-40B4-BE49-F238E27FC236}">
                <a16:creationId xmlns:a16="http://schemas.microsoft.com/office/drawing/2014/main" id="{E1548B10-0CBA-4A35-9805-F4239F2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9900"/>
            <a:ext cx="2562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阶段内保留原站位</a:t>
            </a:r>
          </a:p>
        </p:txBody>
      </p:sp>
      <p:sp>
        <p:nvSpPr>
          <p:cNvPr id="31" name="candidate-line-380">
            <a:extLst xmlns:a="http://schemas.openxmlformats.org/drawingml/2006/main">
              <a:ext uri="{FF2B5EF4-FFF2-40B4-BE49-F238E27FC236}">
                <a16:creationId xmlns:a16="http://schemas.microsoft.com/office/drawing/2014/main" id="{1CFECC5D-3882-45D4-A8F3-9496C17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9814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00000"/>
            </a:solidFill>
            <a:prstDash val="solid"/>
          </a:ln>
        </p:spPr>
      </p:sp>
      <p:sp>
        <p:nvSpPr>
          <p:cNvPr id="32" name="candidate-text-381">
            <a:extLst xmlns:a="http://schemas.openxmlformats.org/drawingml/2006/main">
              <a:ext uri="{FF2B5EF4-FFF2-40B4-BE49-F238E27FC236}">
                <a16:creationId xmlns:a16="http://schemas.microsoft.com/office/drawing/2014/main" id="{E7015347-1062-4566-9887-5DFA6C0C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86225"/>
            <a:ext cx="10915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冻结依据：基准开工时刻与重调度边界</a:t>
            </a:r>
          </a:p>
        </p:txBody>
      </p:sp>
      <p:sp>
        <p:nvSpPr>
          <p:cNvPr id="33" name="candidate-box-382">
            <a:extLst xmlns:a="http://schemas.openxmlformats.org/drawingml/2006/main">
              <a:ext uri="{FF2B5EF4-FFF2-40B4-BE49-F238E27FC236}">
                <a16:creationId xmlns:a16="http://schemas.microsoft.com/office/drawing/2014/main" id="{09062AE6-416B-4B7C-B4A6-CC6E5583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22002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基准与更新释放条件</a:t>
            </a:r>
          </a:p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冻结及绑定继承</a:t>
            </a:r>
          </a:p>
        </p:txBody>
      </p:sp>
      <p:sp>
        <p:nvSpPr>
          <p:cNvPr id="34" name="candidate-box-383">
            <a:extLst xmlns:a="http://schemas.openxmlformats.org/drawingml/2006/main">
              <a:ext uri="{FF2B5EF4-FFF2-40B4-BE49-F238E27FC236}">
                <a16:creationId xmlns:a16="http://schemas.microsoft.com/office/drawing/2014/main" id="{DE658FE9-BB67-41E7-81FE-116204F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714875"/>
            <a:ext cx="21050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异构图编码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更新状态表示</a:t>
            </a:r>
          </a:p>
        </p:txBody>
      </p:sp>
      <p:sp>
        <p:nvSpPr>
          <p:cNvPr id="35" name="candidate-text-384">
            <a:extLst xmlns:a="http://schemas.openxmlformats.org/drawingml/2006/main">
              <a:ext uri="{FF2B5EF4-FFF2-40B4-BE49-F238E27FC236}">
                <a16:creationId xmlns:a16="http://schemas.microsoft.com/office/drawing/2014/main" id="{E678911A-6E77-441F-BDD3-89A87C9B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862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自回归联合选择</a:t>
            </a:r>
          </a:p>
        </p:txBody>
      </p:sp>
      <p:sp>
        <p:nvSpPr>
          <p:cNvPr id="36" name="candidate-box-385">
            <a:extLst xmlns:a="http://schemas.openxmlformats.org/drawingml/2006/main">
              <a:ext uri="{FF2B5EF4-FFF2-40B4-BE49-F238E27FC236}">
                <a16:creationId xmlns:a16="http://schemas.microsoft.com/office/drawing/2014/main" id="{C0C86D5C-3A07-473F-B429-B1CF45C6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387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</a:p>
        </p:txBody>
      </p:sp>
      <p:sp>
        <p:nvSpPr>
          <p:cNvPr id="37" name="candidate-box-386">
            <a:extLst xmlns:a="http://schemas.openxmlformats.org/drawingml/2006/main">
              <a:ext uri="{FF2B5EF4-FFF2-40B4-BE49-F238E27FC236}">
                <a16:creationId xmlns:a16="http://schemas.microsoft.com/office/drawing/2014/main" id="{C77646E1-5B8D-4791-B885-1BD40575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38" name="candidate-box-387">
            <a:extLst xmlns:a="http://schemas.openxmlformats.org/drawingml/2006/main">
              <a:ext uri="{FF2B5EF4-FFF2-40B4-BE49-F238E27FC236}">
                <a16:creationId xmlns:a16="http://schemas.microsoft.com/office/drawing/2014/main" id="{30CD1F77-F29B-4F46-B532-92E9267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387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具体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团队</a:t>
            </a:r>
          </a:p>
        </p:txBody>
      </p:sp>
      <p:sp>
        <p:nvSpPr>
          <p:cNvPr id="41" name="candidate-box-388">
            <a:extLst xmlns:a="http://schemas.openxmlformats.org/drawingml/2006/main">
              <a:ext uri="{FF2B5EF4-FFF2-40B4-BE49-F238E27FC236}">
                <a16:creationId xmlns:a16="http://schemas.microsoft.com/office/drawing/2014/main" id="{215F9D85-EC72-471B-B54A-4E318B3D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714875"/>
            <a:ext cx="2209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前向时间分配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生成修复排程</a:t>
            </a:r>
          </a:p>
        </p:txBody>
      </p:sp>
      <p:sp>
        <p:nvSpPr>
          <p:cNvPr id="45" name="candidate-text-389">
            <a:extLst xmlns:a="http://schemas.openxmlformats.org/drawingml/2006/main">
              <a:ext uri="{FF2B5EF4-FFF2-40B4-BE49-F238E27FC236}">
                <a16:creationId xmlns:a16="http://schemas.microsoft.com/office/drawing/2014/main" id="{957F0BE7-D669-4206-B372-32A77E3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00700"/>
            <a:ext cx="1091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修复目标：完工时间与相对基准的开工、站位、团队偏离</a:t>
            </a:r>
          </a:p>
        </p:txBody>
      </p:sp>
      <p:sp>
        <p:nvSpPr>
          <p:cNvPr id="46" name="candidate-text-390">
            <a:extLst xmlns:a="http://schemas.openxmlformats.org/drawingml/2006/main">
              <a:ext uri="{FF2B5EF4-FFF2-40B4-BE49-F238E27FC236}">
                <a16:creationId xmlns:a16="http://schemas.microsoft.com/office/drawing/2014/main" id="{E607057D-DE3C-460D-AF77-747F07EB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冻结与人员绑定规定修复范围，联合选择完成允许范围内的调整。</a:t>
            </a:r>
          </a:p>
        </p:txBody>
      </p:sp>
    </p:spTree>
    <p:extLst>
      <p:ext uri="{BB962C8B-B14F-4D97-AF65-F5344CB8AC3E}">
        <p14:creationId xmlns:p14="http://schemas.microsoft.com/office/powerpoint/2010/main" val="1454339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candidate-text-391">
            <a:extLst xmlns:a="http://schemas.openxmlformats.org/drawingml/2006/main">
              <a:ext uri="{FF2B5EF4-FFF2-40B4-BE49-F238E27FC236}">
                <a16:creationId xmlns:a16="http://schemas.microsoft.com/office/drawing/2014/main" id="{43CE249C-DF26-4839-B2D8-68B9AA43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技术路线三：语义增强的多架次协同动态调度</a:t>
            </a:r>
          </a:p>
        </p:txBody>
      </p:sp>
      <p:sp>
        <p:nvSpPr>
          <p:cNvPr id="2" name="candidate-line-392">
            <a:extLst xmlns:a="http://schemas.openxmlformats.org/drawingml/2006/main">
              <a:ext uri="{FF2B5EF4-FFF2-40B4-BE49-F238E27FC236}">
                <a16:creationId xmlns:a16="http://schemas.microsoft.com/office/drawing/2014/main" id="{B3FFCDF6-D29A-479C-B693-EEFE726B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393">
            <a:extLst xmlns:a="http://schemas.openxmlformats.org/drawingml/2006/main">
              <a:ext uri="{FF2B5EF4-FFF2-40B4-BE49-F238E27FC236}">
                <a16:creationId xmlns:a16="http://schemas.microsoft.com/office/drawing/2014/main" id="{0807C156-890A-4438-A7D2-83C1DB48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394">
            <a:extLst xmlns:a="http://schemas.openxmlformats.org/drawingml/2006/main">
              <a:ext uri="{FF2B5EF4-FFF2-40B4-BE49-F238E27FC236}">
                <a16:creationId xmlns:a16="http://schemas.microsoft.com/office/drawing/2014/main" id="{36164802-CE8C-4B31-AF6F-58785CF3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395">
            <a:extLst xmlns:a="http://schemas.openxmlformats.org/drawingml/2006/main">
              <a:ext uri="{FF2B5EF4-FFF2-40B4-BE49-F238E27FC236}">
                <a16:creationId xmlns:a16="http://schemas.microsoft.com/office/drawing/2014/main" id="{E48236E3-3FA5-4B1A-8D87-80429C0C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13A</a:t>
            </a:r>
          </a:p>
        </p:txBody>
      </p:sp>
      <p:sp>
        <p:nvSpPr>
          <p:cNvPr id="6" name="candidate-text-396">
            <a:extLst xmlns:a="http://schemas.openxmlformats.org/drawingml/2006/main">
              <a:ext uri="{FF2B5EF4-FFF2-40B4-BE49-F238E27FC236}">
                <a16:creationId xmlns:a16="http://schemas.microsoft.com/office/drawing/2014/main" id="{6DE8E0F5-EF75-4366-A604-6D127DB0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不同飞机驻站并行，共同脉动时沿有序站位同步前移</a:t>
            </a:r>
          </a:p>
        </p:txBody>
      </p:sp>
      <p:sp>
        <p:nvSpPr>
          <p:cNvPr id="7" name="candidate-box-397">
            <a:extLst xmlns:a="http://schemas.openxmlformats.org/drawingml/2006/main">
              <a:ext uri="{FF2B5EF4-FFF2-40B4-BE49-F238E27FC236}">
                <a16:creationId xmlns:a16="http://schemas.microsoft.com/office/drawing/2014/main" id="{6C414309-971B-4883-B003-9585BE84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04950"/>
            <a:ext cx="107632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candidate-text-398">
            <a:extLst xmlns:a="http://schemas.openxmlformats.org/drawingml/2006/main">
              <a:ext uri="{FF2B5EF4-FFF2-40B4-BE49-F238E27FC236}">
                <a16:creationId xmlns:a16="http://schemas.microsoft.com/office/drawing/2014/main" id="{3C397F43-4B87-490B-96E4-06558955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4143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一个真实事件驱动环境</a:t>
            </a:r>
          </a:p>
        </p:txBody>
      </p:sp>
      <p:sp>
        <p:nvSpPr>
          <p:cNvPr id="9" name="candidate-box-399">
            <a:extLst xmlns:a="http://schemas.openxmlformats.org/drawingml/2006/main">
              <a:ext uri="{FF2B5EF4-FFF2-40B4-BE49-F238E27FC236}">
                <a16:creationId xmlns:a16="http://schemas.microsoft.com/office/drawing/2014/main" id="{37967ADB-2703-403E-B70B-19E4D67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390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" name="candidate-text-400">
            <a:extLst xmlns:a="http://schemas.openxmlformats.org/drawingml/2006/main">
              <a:ext uri="{FF2B5EF4-FFF2-40B4-BE49-F238E27FC236}">
                <a16:creationId xmlns:a16="http://schemas.microsoft.com/office/drawing/2014/main" id="{259E6E75-9E63-40A8-B533-26C1384D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11" name="candidate-line-401">
            <a:extLst xmlns:a="http://schemas.openxmlformats.org/drawingml/2006/main">
              <a:ext uri="{FF2B5EF4-FFF2-40B4-BE49-F238E27FC236}">
                <a16:creationId xmlns:a16="http://schemas.microsoft.com/office/drawing/2014/main" id="{4F92A770-CDD2-4051-ACFD-EE99A1D2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257425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candidate-text-402">
            <a:extLst xmlns:a="http://schemas.openxmlformats.org/drawingml/2006/main">
              <a:ext uri="{FF2B5EF4-FFF2-40B4-BE49-F238E27FC236}">
                <a16:creationId xmlns:a16="http://schemas.microsoft.com/office/drawing/2014/main" id="{93CE9A8A-2373-434D-ADC0-602B32CB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13" name="candidate-text-403">
            <a:extLst xmlns:a="http://schemas.openxmlformats.org/drawingml/2006/main">
              <a:ext uri="{FF2B5EF4-FFF2-40B4-BE49-F238E27FC236}">
                <a16:creationId xmlns:a16="http://schemas.microsoft.com/office/drawing/2014/main" id="{CF7B643B-7B95-4131-B8CA-AD06BE88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首次就绪</a:t>
            </a:r>
            <a:r>
              <a:rPr b="0">
                <a:latin typeface="Nimbus Roman"/>
                <a:ea typeface="Nimbus Roman"/>
                <a:cs typeface="Nimbus Roman"/>
              </a:rPr>
              <a:t> F1</a:t>
            </a:r>
          </a:p>
        </p:txBody>
      </p:sp>
      <p:sp>
        <p:nvSpPr>
          <p:cNvPr id="14" name="candidate-box-404">
            <a:extLst xmlns:a="http://schemas.openxmlformats.org/drawingml/2006/main">
              <a:ext uri="{FF2B5EF4-FFF2-40B4-BE49-F238E27FC236}">
                <a16:creationId xmlns:a16="http://schemas.microsoft.com/office/drawing/2014/main" id="{E6DDE989-36FB-4C67-999E-364F446B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24050"/>
            <a:ext cx="1390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5" name="candidate-text-405">
            <a:extLst xmlns:a="http://schemas.openxmlformats.org/drawingml/2006/main">
              <a:ext uri="{FF2B5EF4-FFF2-40B4-BE49-F238E27FC236}">
                <a16:creationId xmlns:a16="http://schemas.microsoft.com/office/drawing/2014/main" id="{CD9AA98E-F590-4209-ABAA-A8DC4D8A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716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16" name="candidate-line-406">
            <a:extLst xmlns:a="http://schemas.openxmlformats.org/drawingml/2006/main">
              <a:ext uri="{FF2B5EF4-FFF2-40B4-BE49-F238E27FC236}">
                <a16:creationId xmlns:a16="http://schemas.microsoft.com/office/drawing/2014/main" id="{E5824551-60A3-4BCF-A4F6-7E22FC02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95550" y="2257425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candidate-text-407">
            <a:extLst xmlns:a="http://schemas.openxmlformats.org/drawingml/2006/main">
              <a:ext uri="{FF2B5EF4-FFF2-40B4-BE49-F238E27FC236}">
                <a16:creationId xmlns:a16="http://schemas.microsoft.com/office/drawing/2014/main" id="{F654FDF1-3635-42A5-8068-544ECC95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14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18" name="candidate-text-408">
            <a:extLst xmlns:a="http://schemas.openxmlformats.org/drawingml/2006/main">
              <a:ext uri="{FF2B5EF4-FFF2-40B4-BE49-F238E27FC236}">
                <a16:creationId xmlns:a16="http://schemas.microsoft.com/office/drawing/2014/main" id="{B4350146-7CD4-46EC-9F23-81434F43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62225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首次就绪</a:t>
            </a:r>
            <a:r>
              <a:rPr b="0">
                <a:latin typeface="Nimbus Roman"/>
                <a:ea typeface="Nimbus Roman"/>
                <a:cs typeface="Nimbus Roman"/>
              </a:rPr>
              <a:t> F2</a:t>
            </a:r>
          </a:p>
        </p:txBody>
      </p:sp>
      <p:sp>
        <p:nvSpPr>
          <p:cNvPr id="19" name="candidate-box-409">
            <a:extLst xmlns:a="http://schemas.openxmlformats.org/drawingml/2006/main">
              <a:ext uri="{FF2B5EF4-FFF2-40B4-BE49-F238E27FC236}">
                <a16:creationId xmlns:a16="http://schemas.microsoft.com/office/drawing/2014/main" id="{A5843877-EF39-4553-9153-959076EA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24050"/>
            <a:ext cx="1390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0" name="candidate-text-410">
            <a:extLst xmlns:a="http://schemas.openxmlformats.org/drawingml/2006/main">
              <a:ext uri="{FF2B5EF4-FFF2-40B4-BE49-F238E27FC236}">
                <a16:creationId xmlns:a16="http://schemas.microsoft.com/office/drawing/2014/main" id="{4CA505D9-EF62-45F3-8DBD-0F6DF679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716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1" name="candidate-line-411">
            <a:extLst xmlns:a="http://schemas.openxmlformats.org/drawingml/2006/main">
              <a:ext uri="{FF2B5EF4-FFF2-40B4-BE49-F238E27FC236}">
                <a16:creationId xmlns:a16="http://schemas.microsoft.com/office/drawing/2014/main" id="{90AA93F7-4D7B-4FE2-81BC-0DF2692D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33850" y="2257425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candidate-text-412">
            <a:extLst xmlns:a="http://schemas.openxmlformats.org/drawingml/2006/main">
              <a:ext uri="{FF2B5EF4-FFF2-40B4-BE49-F238E27FC236}">
                <a16:creationId xmlns:a16="http://schemas.microsoft.com/office/drawing/2014/main" id="{2DDE7032-04A7-4EE6-B2AC-8CC81983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14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23" name="candidate-text-413">
            <a:extLst xmlns:a="http://schemas.openxmlformats.org/drawingml/2006/main">
              <a:ext uri="{FF2B5EF4-FFF2-40B4-BE49-F238E27FC236}">
                <a16:creationId xmlns:a16="http://schemas.microsoft.com/office/drawing/2014/main" id="{6C161707-17EE-4D85-9AD8-8C5706D8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62225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首次就绪</a:t>
            </a:r>
            <a:r>
              <a:rPr b="0">
                <a:latin typeface="Nimbus Roman"/>
                <a:ea typeface="Nimbus Roman"/>
                <a:cs typeface="Nimbus Roman"/>
              </a:rPr>
              <a:t> F3</a:t>
            </a:r>
          </a:p>
        </p:txBody>
      </p:sp>
      <p:sp>
        <p:nvSpPr>
          <p:cNvPr id="24" name="candidate-box-414">
            <a:extLst xmlns:a="http://schemas.openxmlformats.org/drawingml/2006/main">
              <a:ext uri="{FF2B5EF4-FFF2-40B4-BE49-F238E27FC236}">
                <a16:creationId xmlns:a16="http://schemas.microsoft.com/office/drawing/2014/main" id="{18624FBA-606C-4FFB-889E-60F01CAD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24050"/>
            <a:ext cx="1390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5" name="candidate-text-415">
            <a:extLst xmlns:a="http://schemas.openxmlformats.org/drawingml/2006/main">
              <a:ext uri="{FF2B5EF4-FFF2-40B4-BE49-F238E27FC236}">
                <a16:creationId xmlns:a16="http://schemas.microsoft.com/office/drawing/2014/main" id="{AF06D2ED-8BF9-4BBF-82AE-6BE36F70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716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26" name="candidate-line-416">
            <a:extLst xmlns:a="http://schemas.openxmlformats.org/drawingml/2006/main">
              <a:ext uri="{FF2B5EF4-FFF2-40B4-BE49-F238E27FC236}">
                <a16:creationId xmlns:a16="http://schemas.microsoft.com/office/drawing/2014/main" id="{88123704-E502-4ED1-8EAB-0DA278B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2257425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candidate-text-417">
            <a:extLst xmlns:a="http://schemas.openxmlformats.org/drawingml/2006/main">
              <a:ext uri="{FF2B5EF4-FFF2-40B4-BE49-F238E27FC236}">
                <a16:creationId xmlns:a16="http://schemas.microsoft.com/office/drawing/2014/main" id="{305A689E-58CB-4AC6-B90D-B4D65BC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14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28" name="candidate-text-418">
            <a:extLst xmlns:a="http://schemas.openxmlformats.org/drawingml/2006/main">
              <a:ext uri="{FF2B5EF4-FFF2-40B4-BE49-F238E27FC236}">
                <a16:creationId xmlns:a16="http://schemas.microsoft.com/office/drawing/2014/main" id="{E8920DE0-984A-49DF-B0CB-A894CA7F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62225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首次就绪</a:t>
            </a:r>
            <a:r>
              <a:rPr b="0">
                <a:latin typeface="Nimbus Roman"/>
                <a:ea typeface="Nimbus Roman"/>
                <a:cs typeface="Nimbus Roman"/>
              </a:rPr>
              <a:t> F4</a:t>
            </a:r>
          </a:p>
        </p:txBody>
      </p:sp>
      <p:sp>
        <p:nvSpPr>
          <p:cNvPr id="29" name="candidate-box-419">
            <a:extLst xmlns:a="http://schemas.openxmlformats.org/drawingml/2006/main">
              <a:ext uri="{FF2B5EF4-FFF2-40B4-BE49-F238E27FC236}">
                <a16:creationId xmlns:a16="http://schemas.microsoft.com/office/drawing/2014/main" id="{11FFD57C-4516-4E49-8971-AF8AAC08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1390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0" name="candidate-text-420">
            <a:extLst xmlns:a="http://schemas.openxmlformats.org/drawingml/2006/main">
              <a:ext uri="{FF2B5EF4-FFF2-40B4-BE49-F238E27FC236}">
                <a16:creationId xmlns:a16="http://schemas.microsoft.com/office/drawing/2014/main" id="{5C426918-8FDF-4D1C-B1D8-CE2B8D2B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716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  <a:r>
              <a:rPr b="1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31" name="candidate-line-421">
            <a:extLst xmlns:a="http://schemas.openxmlformats.org/drawingml/2006/main">
              <a:ext uri="{FF2B5EF4-FFF2-40B4-BE49-F238E27FC236}">
                <a16:creationId xmlns:a16="http://schemas.microsoft.com/office/drawing/2014/main" id="{A3295041-FEAF-47E6-8C67-F2216F5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0450" y="2257425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candidate-text-422">
            <a:extLst xmlns:a="http://schemas.openxmlformats.org/drawingml/2006/main">
              <a:ext uri="{FF2B5EF4-FFF2-40B4-BE49-F238E27FC236}">
                <a16:creationId xmlns:a16="http://schemas.microsoft.com/office/drawing/2014/main" id="{588CFADE-51C7-4524-B236-E926ED6C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14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飞机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33" name="candidate-text-423">
            <a:extLst xmlns:a="http://schemas.openxmlformats.org/drawingml/2006/main">
              <a:ext uri="{FF2B5EF4-FFF2-40B4-BE49-F238E27FC236}">
                <a16:creationId xmlns:a16="http://schemas.microsoft.com/office/drawing/2014/main" id="{B919A714-7286-4DD5-A17F-44A4706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62225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首次就绪</a:t>
            </a:r>
            <a:r>
              <a:rPr b="0">
                <a:latin typeface="Nimbus Roman"/>
                <a:ea typeface="Nimbus Roman"/>
                <a:cs typeface="Nimbus Roman"/>
              </a:rPr>
              <a:t> F5</a:t>
            </a:r>
          </a:p>
        </p:txBody>
      </p:sp>
      <p:cxnSp>
        <p:nvCxnSpPr>
          <p:cNvPr id="34" name="candidate-arrow-424">
            <a:extLst xmlns:a="http://schemas.openxmlformats.org/drawingml/2006/main">
              <a:ext uri="{FF2B5EF4-FFF2-40B4-BE49-F238E27FC236}">
                <a16:creationId xmlns:a16="http://schemas.microsoft.com/office/drawing/2014/main" id="{0040D603-B328-4EDE-A10E-E94F5DA60D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66800" y="2876550"/>
            <a:ext cx="75723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5" name="candidate-text-425">
            <a:extLst xmlns:a="http://schemas.openxmlformats.org/drawingml/2006/main">
              <a:ext uri="{FF2B5EF4-FFF2-40B4-BE49-F238E27FC236}">
                <a16:creationId xmlns:a16="http://schemas.microsoft.com/office/drawing/2014/main" id="{82395422-D13C-4133-807A-13EF6F0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88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共同前移</a:t>
            </a:r>
          </a:p>
        </p:txBody>
      </p:sp>
      <p:sp>
        <p:nvSpPr>
          <p:cNvPr id="36" name="candidate-text-426">
            <a:extLst xmlns:a="http://schemas.openxmlformats.org/drawingml/2006/main">
              <a:ext uri="{FF2B5EF4-FFF2-40B4-BE49-F238E27FC236}">
                <a16:creationId xmlns:a16="http://schemas.microsoft.com/office/drawing/2014/main" id="{8E8AC810-DA15-46E9-81D6-16B85DF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2625"/>
            <a:ext cx="1990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占用站位全部就绪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按最晚时刻共同脉动</a:t>
            </a:r>
          </a:p>
        </p:txBody>
      </p:sp>
      <p:sp>
        <p:nvSpPr>
          <p:cNvPr id="37" name="candidate-line-427">
            <a:extLst xmlns:a="http://schemas.openxmlformats.org/drawingml/2006/main">
              <a:ext uri="{FF2B5EF4-FFF2-40B4-BE49-F238E27FC236}">
                <a16:creationId xmlns:a16="http://schemas.microsoft.com/office/drawing/2014/main" id="{6709E1BB-AC59-49CD-979A-5C4700B5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0200" y="1866900"/>
            <a:ext cx="0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38" name="candidate-text-428">
            <a:extLst xmlns:a="http://schemas.openxmlformats.org/drawingml/2006/main">
              <a:ext uri="{FF2B5EF4-FFF2-40B4-BE49-F238E27FC236}">
                <a16:creationId xmlns:a16="http://schemas.microsoft.com/office/drawing/2014/main" id="{08367349-3BC0-46BB-A3B7-5FE376E4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71825"/>
            <a:ext cx="695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决策前重算语义预测与在线候选表示</a:t>
            </a:r>
          </a:p>
        </p:txBody>
      </p:sp>
      <p:sp>
        <p:nvSpPr>
          <p:cNvPr id="39" name="candidate-box-429">
            <a:extLst xmlns:a="http://schemas.openxmlformats.org/drawingml/2006/main">
              <a:ext uri="{FF2B5EF4-FFF2-40B4-BE49-F238E27FC236}">
                <a16:creationId xmlns:a16="http://schemas.microsoft.com/office/drawing/2014/main" id="{F039DAB4-D9B6-4A26-9FDC-2FE8D1DB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7526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0" name="candidate-text-430">
            <a:extLst xmlns:a="http://schemas.openxmlformats.org/drawingml/2006/main">
              <a:ext uri="{FF2B5EF4-FFF2-40B4-BE49-F238E27FC236}">
                <a16:creationId xmlns:a16="http://schemas.microsoft.com/office/drawing/2014/main" id="{8D606164-F35D-4CAA-9DCF-29B890F2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48075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现场最新状态</a:t>
            </a:r>
          </a:p>
        </p:txBody>
      </p:sp>
      <p:sp>
        <p:nvSpPr>
          <p:cNvPr id="41" name="candidate-text-431">
            <a:extLst xmlns:a="http://schemas.openxmlformats.org/drawingml/2006/main">
              <a:ext uri="{FF2B5EF4-FFF2-40B4-BE49-F238E27FC236}">
                <a16:creationId xmlns:a16="http://schemas.microsoft.com/office/drawing/2014/main" id="{C1E9C3FB-F5C3-4AD9-AC08-96CC5609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52875"/>
            <a:ext cx="1600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进度与人员占用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最近已知变化</a:t>
            </a:r>
          </a:p>
        </p:txBody>
      </p:sp>
      <p:sp>
        <p:nvSpPr>
          <p:cNvPr id="42" name="candidate-box-432">
            <a:extLst xmlns:a="http://schemas.openxmlformats.org/drawingml/2006/main">
              <a:ext uri="{FF2B5EF4-FFF2-40B4-BE49-F238E27FC236}">
                <a16:creationId xmlns:a16="http://schemas.microsoft.com/office/drawing/2014/main" id="{6DF065D2-2C22-48A7-AC5C-52B0305A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90925"/>
            <a:ext cx="17240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3" name="candidate-text-433">
            <a:extLst xmlns:a="http://schemas.openxmlformats.org/drawingml/2006/main">
              <a:ext uri="{FF2B5EF4-FFF2-40B4-BE49-F238E27FC236}">
                <a16:creationId xmlns:a16="http://schemas.microsoft.com/office/drawing/2014/main" id="{1AA1242C-E8B3-43CD-BFDC-FD729F23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64807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完整图编码</a:t>
            </a:r>
          </a:p>
        </p:txBody>
      </p:sp>
      <p:sp>
        <p:nvSpPr>
          <p:cNvPr id="44" name="candidate-text-434">
            <a:extLst xmlns:a="http://schemas.openxmlformats.org/drawingml/2006/main">
              <a:ext uri="{FF2B5EF4-FFF2-40B4-BE49-F238E27FC236}">
                <a16:creationId xmlns:a16="http://schemas.microsoft.com/office/drawing/2014/main" id="{0728A268-9C91-4C60-A547-3F6AFA7D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52875"/>
            <a:ext cx="1571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工序与资源关系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保留完整上下文</a:t>
            </a:r>
          </a:p>
        </p:txBody>
      </p:sp>
      <p:sp>
        <p:nvSpPr>
          <p:cNvPr id="45" name="candidate-box-435">
            <a:extLst xmlns:a="http://schemas.openxmlformats.org/drawingml/2006/main">
              <a:ext uri="{FF2B5EF4-FFF2-40B4-BE49-F238E27FC236}">
                <a16:creationId xmlns:a16="http://schemas.microsoft.com/office/drawing/2014/main" id="{EED26FB5-12C0-440A-BC00-7F4758B7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90925"/>
            <a:ext cx="17240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6" name="candidate-text-436">
            <a:extLst xmlns:a="http://schemas.openxmlformats.org/drawingml/2006/main">
              <a:ext uri="{FF2B5EF4-FFF2-40B4-BE49-F238E27FC236}">
                <a16:creationId xmlns:a16="http://schemas.microsoft.com/office/drawing/2014/main" id="{F29F3845-0914-4B07-8178-49C0726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4807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分层</a:t>
            </a:r>
            <a:r>
              <a:rPr b="1">
                <a:latin typeface="Nimbus Roman"/>
                <a:ea typeface="Nimbus Roman"/>
                <a:cs typeface="Nimbus Roman"/>
              </a:rPr>
              <a:t>MLP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融合</a:t>
            </a:r>
          </a:p>
        </p:txBody>
      </p:sp>
      <p:sp>
        <p:nvSpPr>
          <p:cNvPr id="47" name="candidate-text-437">
            <a:extLst xmlns:a="http://schemas.openxmlformats.org/drawingml/2006/main">
              <a:ext uri="{FF2B5EF4-FFF2-40B4-BE49-F238E27FC236}">
                <a16:creationId xmlns:a16="http://schemas.microsoft.com/office/drawing/2014/main" id="{F08932CB-5709-42E0-9756-32F2637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1571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工序／飞机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站位／整线</a:t>
            </a:r>
          </a:p>
        </p:txBody>
      </p:sp>
      <p:sp>
        <p:nvSpPr>
          <p:cNvPr id="48" name="candidate-box-438">
            <a:extLst xmlns:a="http://schemas.openxmlformats.org/drawingml/2006/main">
              <a:ext uri="{FF2B5EF4-FFF2-40B4-BE49-F238E27FC236}">
                <a16:creationId xmlns:a16="http://schemas.microsoft.com/office/drawing/2014/main" id="{9C3FBEF6-6C15-455F-AF08-9A0A629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76625"/>
            <a:ext cx="2952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9" name="candidate-text-439">
            <a:extLst xmlns:a="http://schemas.openxmlformats.org/drawingml/2006/main">
              <a:ext uri="{FF2B5EF4-FFF2-40B4-BE49-F238E27FC236}">
                <a16:creationId xmlns:a16="http://schemas.microsoft.com/office/drawing/2014/main" id="{12BBD5E6-AC30-4212-BBBA-73F6BFAC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5528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状态后果语义</a:t>
            </a:r>
          </a:p>
        </p:txBody>
      </p:sp>
      <p:sp>
        <p:nvSpPr>
          <p:cNvPr id="50" name="candidate-line-440">
            <a:extLst xmlns:a="http://schemas.openxmlformats.org/drawingml/2006/main">
              <a:ext uri="{FF2B5EF4-FFF2-40B4-BE49-F238E27FC236}">
                <a16:creationId xmlns:a16="http://schemas.microsoft.com/office/drawing/2014/main" id="{E223FCD2-1E07-43C2-9340-56E33C74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43675" y="39052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1" name="candidate-text-441">
            <a:extLst xmlns:a="http://schemas.openxmlformats.org/drawingml/2006/main">
              <a:ext uri="{FF2B5EF4-FFF2-40B4-BE49-F238E27FC236}">
                <a16:creationId xmlns:a16="http://schemas.microsoft.com/office/drawing/2014/main" id="{CD4160D7-01B9-4A82-8650-7E75B957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19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当前：共同脉动时间修正</a:t>
            </a:r>
          </a:p>
        </p:txBody>
      </p:sp>
      <p:sp>
        <p:nvSpPr>
          <p:cNvPr id="52" name="candidate-text-442">
            <a:extLst xmlns:a="http://schemas.openxmlformats.org/drawingml/2006/main">
              <a:ext uri="{FF2B5EF4-FFF2-40B4-BE49-F238E27FC236}">
                <a16:creationId xmlns:a16="http://schemas.microsoft.com/office/drawing/2014/main" id="{905B16AD-BD88-434B-A594-BD76B664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148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下周期：各站就绪早晚</a:t>
            </a:r>
          </a:p>
        </p:txBody>
      </p:sp>
      <p:sp>
        <p:nvSpPr>
          <p:cNvPr id="53" name="candidate-box-443">
            <a:extLst xmlns:a="http://schemas.openxmlformats.org/drawingml/2006/main">
              <a:ext uri="{FF2B5EF4-FFF2-40B4-BE49-F238E27FC236}">
                <a16:creationId xmlns:a16="http://schemas.microsoft.com/office/drawing/2014/main" id="{C8366737-F804-4BF4-A86D-8F8AD2E3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514725"/>
            <a:ext cx="1771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4" name="candidate-text-444">
            <a:extLst xmlns:a="http://schemas.openxmlformats.org/drawingml/2006/main">
              <a:ext uri="{FF2B5EF4-FFF2-40B4-BE49-F238E27FC236}">
                <a16:creationId xmlns:a16="http://schemas.microsoft.com/office/drawing/2014/main" id="{76E6C3C4-E7B6-487C-9D09-51013533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57187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联合动作</a:t>
            </a:r>
          </a:p>
        </p:txBody>
      </p:sp>
      <p:sp>
        <p:nvSpPr>
          <p:cNvPr id="55" name="candidate-text-445">
            <a:extLst xmlns:a="http://schemas.openxmlformats.org/drawingml/2006/main">
              <a:ext uri="{FF2B5EF4-FFF2-40B4-BE49-F238E27FC236}">
                <a16:creationId xmlns:a16="http://schemas.microsoft.com/office/drawing/2014/main" id="{899D7548-3F75-4460-A88B-48372FEC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8766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工序、留站／后移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团队、开工对齐</a:t>
            </a:r>
          </a:p>
        </p:txBody>
      </p:sp>
      <p:cxnSp>
        <p:nvCxnSpPr>
          <p:cNvPr id="56" name="candidate-arrow-446">
            <a:extLst xmlns:a="http://schemas.openxmlformats.org/drawingml/2006/main">
              <a:ext uri="{FF2B5EF4-FFF2-40B4-BE49-F238E27FC236}">
                <a16:creationId xmlns:a16="http://schemas.microsoft.com/office/drawing/2014/main" id="{BA693FFA-A13B-4639-9F32-8384EB6F05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66975" y="40862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7" name="candidate-arrow-447">
            <a:extLst xmlns:a="http://schemas.openxmlformats.org/drawingml/2006/main">
              <a:ext uri="{FF2B5EF4-FFF2-40B4-BE49-F238E27FC236}">
                <a16:creationId xmlns:a16="http://schemas.microsoft.com/office/drawing/2014/main" id="{75540D92-9844-44C9-B884-9B1416796B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00550" y="40862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8" name="candidate-arrow-448">
            <a:extLst xmlns:a="http://schemas.openxmlformats.org/drawingml/2006/main">
              <a:ext uri="{FF2B5EF4-FFF2-40B4-BE49-F238E27FC236}">
                <a16:creationId xmlns:a16="http://schemas.microsoft.com/office/drawing/2014/main" id="{9D516051-D8E5-4070-94A4-9F4F5A827BD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34125" y="40862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9" name="candidate-arrow-449">
            <a:extLst xmlns:a="http://schemas.openxmlformats.org/drawingml/2006/main">
              <a:ext uri="{FF2B5EF4-FFF2-40B4-BE49-F238E27FC236}">
                <a16:creationId xmlns:a16="http://schemas.microsoft.com/office/drawing/2014/main" id="{BE928F27-1AE6-4DA5-97EC-5A7A42EB94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96425" y="40862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0" name="candidate-arrow-450">
            <a:extLst xmlns:a="http://schemas.openxmlformats.org/drawingml/2006/main">
              <a:ext uri="{FF2B5EF4-FFF2-40B4-BE49-F238E27FC236}">
                <a16:creationId xmlns:a16="http://schemas.microsoft.com/office/drawing/2014/main" id="{E74CC478-2A76-411D-A20A-DA9426B61B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71625" y="301942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1" name="candidate-text-451">
            <a:extLst xmlns:a="http://schemas.openxmlformats.org/drawingml/2006/main">
              <a:ext uri="{FF2B5EF4-FFF2-40B4-BE49-F238E27FC236}">
                <a16:creationId xmlns:a16="http://schemas.microsoft.com/office/drawing/2014/main" id="{F04B70CB-14FC-4A53-89C5-A8944B2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289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事件刷新</a:t>
            </a:r>
          </a:p>
        </p:txBody>
      </p:sp>
      <p:cxnSp>
        <p:nvCxnSpPr>
          <p:cNvPr id="62" name="candidate-arrow-452">
            <a:extLst xmlns:a="http://schemas.openxmlformats.org/drawingml/2006/main">
              <a:ext uri="{FF2B5EF4-FFF2-40B4-BE49-F238E27FC236}">
                <a16:creationId xmlns:a16="http://schemas.microsoft.com/office/drawing/2014/main" id="{3E734F10-C50B-49F4-9B29-5A09B1E9018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591800" y="301942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3" name="candidate-text-453">
            <a:extLst xmlns:a="http://schemas.openxmlformats.org/drawingml/2006/main">
              <a:ext uri="{FF2B5EF4-FFF2-40B4-BE49-F238E27FC236}">
                <a16:creationId xmlns:a16="http://schemas.microsoft.com/office/drawing/2014/main" id="{99D73148-34A2-4508-9A6E-18067788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228975"/>
            <a:ext cx="86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完整提交</a:t>
            </a:r>
          </a:p>
        </p:txBody>
      </p:sp>
      <p:sp>
        <p:nvSpPr>
          <p:cNvPr id="64" name="candidate-line-454">
            <a:extLst xmlns:a="http://schemas.openxmlformats.org/drawingml/2006/main">
              <a:ext uri="{FF2B5EF4-FFF2-40B4-BE49-F238E27FC236}">
                <a16:creationId xmlns:a16="http://schemas.microsoft.com/office/drawing/2014/main" id="{FC756F6B-2ABF-4D32-9BAB-EAC6638F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45910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65" name="candidate-line-455">
            <a:extLst xmlns:a="http://schemas.openxmlformats.org/drawingml/2006/main">
              <a:ext uri="{FF2B5EF4-FFF2-40B4-BE49-F238E27FC236}">
                <a16:creationId xmlns:a16="http://schemas.microsoft.com/office/drawing/2014/main" id="{7FA722CA-0EC0-49ED-9F87-A4F8C7DC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4953000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66" name="candidate-arrow-456">
            <a:extLst xmlns:a="http://schemas.openxmlformats.org/drawingml/2006/main">
              <a:ext uri="{FF2B5EF4-FFF2-40B4-BE49-F238E27FC236}">
                <a16:creationId xmlns:a16="http://schemas.microsoft.com/office/drawing/2014/main" id="{DACE3274-5D6B-43DA-B8A7-4CEF913FDCC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591800" y="467677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7" name="candidate-text-457">
            <a:extLst xmlns:a="http://schemas.openxmlformats.org/drawingml/2006/main">
              <a:ext uri="{FF2B5EF4-FFF2-40B4-BE49-F238E27FC236}">
                <a16:creationId xmlns:a16="http://schemas.microsoft.com/office/drawing/2014/main" id="{3B01DD1E-040C-452B-8109-6FA973A6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674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在线编码与分层融合产生候选表示</a:t>
            </a:r>
          </a:p>
        </p:txBody>
      </p:sp>
      <p:sp>
        <p:nvSpPr>
          <p:cNvPr id="68" name="candidate-box-458">
            <a:extLst xmlns:a="http://schemas.openxmlformats.org/drawingml/2006/main">
              <a:ext uri="{FF2B5EF4-FFF2-40B4-BE49-F238E27FC236}">
                <a16:creationId xmlns:a16="http://schemas.microsoft.com/office/drawing/2014/main" id="{98F3530D-8DBF-4491-9B98-0DF05AE3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2486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9" name="candidate-text-459">
            <a:extLst xmlns:a="http://schemas.openxmlformats.org/drawingml/2006/main">
              <a:ext uri="{FF2B5EF4-FFF2-40B4-BE49-F238E27FC236}">
                <a16:creationId xmlns:a16="http://schemas.microsoft.com/office/drawing/2014/main" id="{B55E71D2-9D79-4E0A-A294-587D17AD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5302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实际结果</a:t>
            </a:r>
          </a:p>
        </p:txBody>
      </p:sp>
      <p:sp>
        <p:nvSpPr>
          <p:cNvPr id="70" name="candidate-text-460">
            <a:extLst xmlns:a="http://schemas.openxmlformats.org/drawingml/2006/main">
              <a:ext uri="{FF2B5EF4-FFF2-40B4-BE49-F238E27FC236}">
                <a16:creationId xmlns:a16="http://schemas.microsoft.com/office/drawing/2014/main" id="{7990C98F-0FE8-46FF-9D26-8DA7DDFA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57825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共同脉动与站位就绪</a:t>
            </a:r>
          </a:p>
        </p:txBody>
      </p:sp>
      <p:sp>
        <p:nvSpPr>
          <p:cNvPr id="71" name="candidate-box-461">
            <a:extLst xmlns:a="http://schemas.openxmlformats.org/drawingml/2006/main">
              <a:ext uri="{FF2B5EF4-FFF2-40B4-BE49-F238E27FC236}">
                <a16:creationId xmlns:a16="http://schemas.microsoft.com/office/drawing/2014/main" id="{3FC1D9EB-AE51-4F92-B665-3571EA5E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95875"/>
            <a:ext cx="25812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2" name="candidate-text-462">
            <a:extLst xmlns:a="http://schemas.openxmlformats.org/drawingml/2006/main">
              <a:ext uri="{FF2B5EF4-FFF2-40B4-BE49-F238E27FC236}">
                <a16:creationId xmlns:a16="http://schemas.microsoft.com/office/drawing/2014/main" id="{13597F2F-5C79-4E90-96BC-E2187CE6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153025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分别回填时间标签</a:t>
            </a:r>
          </a:p>
        </p:txBody>
      </p:sp>
      <p:sp>
        <p:nvSpPr>
          <p:cNvPr id="73" name="candidate-text-463">
            <a:extLst xmlns:a="http://schemas.openxmlformats.org/drawingml/2006/main">
              <a:ext uri="{FF2B5EF4-FFF2-40B4-BE49-F238E27FC236}">
                <a16:creationId xmlns:a16="http://schemas.microsoft.com/office/drawing/2014/main" id="{F37F98E7-D649-4A18-8FCF-F24C44D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578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当前与紧邻下一周期</a:t>
            </a:r>
          </a:p>
        </p:txBody>
      </p:sp>
      <p:sp>
        <p:nvSpPr>
          <p:cNvPr id="74" name="candidate-box-464">
            <a:extLst xmlns:a="http://schemas.openxmlformats.org/drawingml/2006/main">
              <a:ext uri="{FF2B5EF4-FFF2-40B4-BE49-F238E27FC236}">
                <a16:creationId xmlns:a16="http://schemas.microsoft.com/office/drawing/2014/main" id="{D3B23155-88E0-4690-A850-0DE7F8F1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95875"/>
            <a:ext cx="49244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5" name="candidate-text-465">
            <a:extLst xmlns:a="http://schemas.openxmlformats.org/drawingml/2006/main">
              <a:ext uri="{FF2B5EF4-FFF2-40B4-BE49-F238E27FC236}">
                <a16:creationId xmlns:a16="http://schemas.microsoft.com/office/drawing/2014/main" id="{D62734F2-A611-4D4B-95AA-34455FC7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53025"/>
            <a:ext cx="4772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在线学习</a:t>
            </a:r>
          </a:p>
        </p:txBody>
      </p:sp>
      <p:sp>
        <p:nvSpPr>
          <p:cNvPr id="76" name="candidate-text-466">
            <a:extLst xmlns:a="http://schemas.openxmlformats.org/drawingml/2006/main">
              <a:ext uri="{FF2B5EF4-FFF2-40B4-BE49-F238E27FC236}">
                <a16:creationId xmlns:a16="http://schemas.microsoft.com/office/drawing/2014/main" id="{386AB012-831E-4061-8033-018476C2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57825"/>
            <a:ext cx="4772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时间辅助监督与</a:t>
            </a:r>
            <a:r>
              <a:rPr b="0">
                <a:latin typeface="Nimbus Roman"/>
                <a:ea typeface="Nimbus Roman"/>
                <a:cs typeface="Nimbus Roman"/>
              </a:rPr>
              <a:t>PPO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策略更新</a:t>
            </a:r>
          </a:p>
        </p:txBody>
      </p:sp>
      <p:cxnSp>
        <p:nvCxnSpPr>
          <p:cNvPr id="77" name="candidate-arrow-467">
            <a:extLst xmlns:a="http://schemas.openxmlformats.org/drawingml/2006/main">
              <a:ext uri="{FF2B5EF4-FFF2-40B4-BE49-F238E27FC236}">
                <a16:creationId xmlns:a16="http://schemas.microsoft.com/office/drawing/2014/main" id="{BE97AFCA-864F-434F-AE2E-21EB1C9093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0400" y="54102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8" name="candidate-arrow-468">
            <a:extLst xmlns:a="http://schemas.openxmlformats.org/drawingml/2006/main">
              <a:ext uri="{FF2B5EF4-FFF2-40B4-BE49-F238E27FC236}">
                <a16:creationId xmlns:a16="http://schemas.microsoft.com/office/drawing/2014/main" id="{643BD898-8C57-4710-B394-724A38C1FD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53150" y="54102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79" name="candidate-text-469">
            <a:extLst xmlns:a="http://schemas.openxmlformats.org/drawingml/2006/main">
              <a:ext uri="{FF2B5EF4-FFF2-40B4-BE49-F238E27FC236}">
                <a16:creationId xmlns:a16="http://schemas.microsoft.com/office/drawing/2014/main" id="{3FF9A3D6-129A-4DE0-A14A-D7F01D5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信息边界：未知扰动发生后才进入状态，显式后果仅覆盖当前与下一周期</a:t>
            </a:r>
          </a:p>
        </p:txBody>
      </p:sp>
    </p:spTree>
    <p:extLst>
      <p:ext uri="{BB962C8B-B14F-4D97-AF65-F5344CB8AC3E}">
        <p14:creationId xmlns:p14="http://schemas.microsoft.com/office/powerpoint/2010/main" val="538228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candidate-text-470">
            <a:extLst xmlns:a="http://schemas.openxmlformats.org/drawingml/2006/main">
              <a:ext uri="{FF2B5EF4-FFF2-40B4-BE49-F238E27FC236}">
                <a16:creationId xmlns:a16="http://schemas.microsoft.com/office/drawing/2014/main" id="{7E6B1ABB-352D-46FF-85D1-042C06C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技术路线三：语义增强的多架次协同动态调度</a:t>
            </a:r>
          </a:p>
        </p:txBody>
      </p:sp>
      <p:sp>
        <p:nvSpPr>
          <p:cNvPr id="2" name="candidate-line-471">
            <a:extLst xmlns:a="http://schemas.openxmlformats.org/drawingml/2006/main">
              <a:ext uri="{FF2B5EF4-FFF2-40B4-BE49-F238E27FC236}">
                <a16:creationId xmlns:a16="http://schemas.microsoft.com/office/drawing/2014/main" id="{F84A64E2-D547-4EFB-9F23-8A231BC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472">
            <a:extLst xmlns:a="http://schemas.openxmlformats.org/drawingml/2006/main">
              <a:ext uri="{FF2B5EF4-FFF2-40B4-BE49-F238E27FC236}">
                <a16:creationId xmlns:a16="http://schemas.microsoft.com/office/drawing/2014/main" id="{F166315F-60C5-4704-86ED-96CB77BF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473">
            <a:extLst xmlns:a="http://schemas.openxmlformats.org/drawingml/2006/main">
              <a:ext uri="{FF2B5EF4-FFF2-40B4-BE49-F238E27FC236}">
                <a16:creationId xmlns:a16="http://schemas.microsoft.com/office/drawing/2014/main" id="{C257DDCB-C9A1-401C-BCF2-23B20340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474">
            <a:extLst xmlns:a="http://schemas.openxmlformats.org/drawingml/2006/main">
              <a:ext uri="{FF2B5EF4-FFF2-40B4-BE49-F238E27FC236}">
                <a16:creationId xmlns:a16="http://schemas.microsoft.com/office/drawing/2014/main" id="{985D4F27-A199-43CA-862A-44C016A2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13B</a:t>
            </a:r>
          </a:p>
        </p:txBody>
      </p:sp>
      <p:sp>
        <p:nvSpPr>
          <p:cNvPr id="6" name="candidate-text-475">
            <a:extLst xmlns:a="http://schemas.openxmlformats.org/drawingml/2006/main">
              <a:ext uri="{FF2B5EF4-FFF2-40B4-BE49-F238E27FC236}">
                <a16:creationId xmlns:a16="http://schemas.microsoft.com/office/drawing/2014/main" id="{469F6992-1AE1-45D3-83D4-8B3603AD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固定预测副本：完整图编码与分层</a:t>
            </a:r>
            <a:r>
              <a:rPr b="1">
                <a:latin typeface="Nimbus Roman"/>
                <a:ea typeface="Nimbus Roman"/>
                <a:cs typeface="Nimbus Roman"/>
              </a:rPr>
              <a:t>MLP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结构展开</a:t>
            </a:r>
          </a:p>
        </p:txBody>
      </p:sp>
      <p:sp>
        <p:nvSpPr>
          <p:cNvPr id="7" name="candidate-box-476">
            <a:extLst xmlns:a="http://schemas.openxmlformats.org/drawingml/2006/main">
              <a:ext uri="{FF2B5EF4-FFF2-40B4-BE49-F238E27FC236}">
                <a16:creationId xmlns:a16="http://schemas.microsoft.com/office/drawing/2014/main" id="{4881B42B-67ED-4B5F-AAE2-16691E8D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52575"/>
            <a:ext cx="2143125" cy="305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candidate-text-477">
            <a:extLst xmlns:a="http://schemas.openxmlformats.org/drawingml/2006/main">
              <a:ext uri="{FF2B5EF4-FFF2-40B4-BE49-F238E27FC236}">
                <a16:creationId xmlns:a16="http://schemas.microsoft.com/office/drawing/2014/main" id="{DA5F2C81-1B62-4089-8DFC-8534A96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完整图编码</a:t>
            </a:r>
          </a:p>
        </p:txBody>
      </p:sp>
      <p:sp>
        <p:nvSpPr>
          <p:cNvPr id="9" name="candidate-line-478">
            <a:extLst xmlns:a="http://schemas.openxmlformats.org/drawingml/2006/main">
              <a:ext uri="{FF2B5EF4-FFF2-40B4-BE49-F238E27FC236}">
                <a16:creationId xmlns:a16="http://schemas.microsoft.com/office/drawing/2014/main" id="{FDAE845B-0D4B-49B1-8F03-69DB2BA3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0383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candidate-box-479">
            <a:extLst xmlns:a="http://schemas.openxmlformats.org/drawingml/2006/main">
              <a:ext uri="{FF2B5EF4-FFF2-40B4-BE49-F238E27FC236}">
                <a16:creationId xmlns:a16="http://schemas.microsoft.com/office/drawing/2014/main" id="{709C8E4A-EEDF-4ED1-A445-48493D19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7143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已完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</a:p>
        </p:txBody>
      </p:sp>
      <p:sp>
        <p:nvSpPr>
          <p:cNvPr id="11" name="candidate-box-480">
            <a:extLst xmlns:a="http://schemas.openxmlformats.org/drawingml/2006/main">
              <a:ext uri="{FF2B5EF4-FFF2-40B4-BE49-F238E27FC236}">
                <a16:creationId xmlns:a16="http://schemas.microsoft.com/office/drawing/2014/main" id="{1E258367-4F4E-4312-A743-AFC07A3E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28850"/>
            <a:ext cx="7143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未完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</a:p>
        </p:txBody>
      </p:sp>
      <p:sp>
        <p:nvSpPr>
          <p:cNvPr id="12" name="candidate-box-481">
            <a:extLst xmlns:a="http://schemas.openxmlformats.org/drawingml/2006/main">
              <a:ext uri="{FF2B5EF4-FFF2-40B4-BE49-F238E27FC236}">
                <a16:creationId xmlns:a16="http://schemas.microsoft.com/office/drawing/2014/main" id="{8C6B861B-5367-4DA5-9B55-8114E6CA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143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后续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</a:p>
        </p:txBody>
      </p:sp>
      <p:sp>
        <p:nvSpPr>
          <p:cNvPr id="13" name="candidate-box-482">
            <a:extLst xmlns:a="http://schemas.openxmlformats.org/drawingml/2006/main">
              <a:ext uri="{FF2B5EF4-FFF2-40B4-BE49-F238E27FC236}">
                <a16:creationId xmlns:a16="http://schemas.microsoft.com/office/drawing/2014/main" id="{53032197-85A8-4FA6-AB66-28452717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09925"/>
            <a:ext cx="7143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后续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</a:t>
            </a:r>
          </a:p>
        </p:txBody>
      </p:sp>
      <p:cxnSp>
        <p:nvCxnSpPr>
          <p:cNvPr id="14" name="candidate-arrow-483">
            <a:extLst xmlns:a="http://schemas.openxmlformats.org/drawingml/2006/main">
              <a:ext uri="{FF2B5EF4-FFF2-40B4-BE49-F238E27FC236}">
                <a16:creationId xmlns:a16="http://schemas.microsoft.com/office/drawing/2014/main" id="{AA4722B5-E2E8-41D0-8C82-3F6AAE1754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76375" y="25336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5" name="candidate-line-484">
            <a:extLst xmlns:a="http://schemas.openxmlformats.org/drawingml/2006/main">
              <a:ext uri="{FF2B5EF4-FFF2-40B4-BE49-F238E27FC236}">
                <a16:creationId xmlns:a16="http://schemas.microsoft.com/office/drawing/2014/main" id="{38000B4B-EA4E-413A-9EDD-0083C6F5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82892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6" name="candidate-line-485">
            <a:extLst xmlns:a="http://schemas.openxmlformats.org/drawingml/2006/main">
              <a:ext uri="{FF2B5EF4-FFF2-40B4-BE49-F238E27FC236}">
                <a16:creationId xmlns:a16="http://schemas.microsoft.com/office/drawing/2014/main" id="{CDA6641D-6E57-4F8A-8845-7FA2D5B1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23950" y="3019425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17" name="candidate-arrow-486">
            <a:extLst xmlns:a="http://schemas.openxmlformats.org/drawingml/2006/main">
              <a:ext uri="{FF2B5EF4-FFF2-40B4-BE49-F238E27FC236}">
                <a16:creationId xmlns:a16="http://schemas.microsoft.com/office/drawing/2014/main" id="{22984784-13CA-45EE-A95A-C98C7E4D2D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3950" y="30194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8" name="candidate-arrow-487">
            <a:extLst xmlns:a="http://schemas.openxmlformats.org/drawingml/2006/main">
              <a:ext uri="{FF2B5EF4-FFF2-40B4-BE49-F238E27FC236}">
                <a16:creationId xmlns:a16="http://schemas.microsoft.com/office/drawing/2014/main" id="{0F9CF52E-7364-4114-86BC-305A295471D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09800" y="28289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9" name="candidate-text-488">
            <a:extLst xmlns:a="http://schemas.openxmlformats.org/drawingml/2006/main">
              <a:ext uri="{FF2B5EF4-FFF2-40B4-BE49-F238E27FC236}">
                <a16:creationId xmlns:a16="http://schemas.microsoft.com/office/drawing/2014/main" id="{B87A20BB-FEAB-4098-A3D1-D8CEEB14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完整前序与资源关系</a:t>
            </a:r>
          </a:p>
        </p:txBody>
      </p:sp>
      <p:sp>
        <p:nvSpPr>
          <p:cNvPr id="20" name="candidate-text-489">
            <a:extLst xmlns:a="http://schemas.openxmlformats.org/drawingml/2006/main">
              <a:ext uri="{FF2B5EF4-FFF2-40B4-BE49-F238E27FC236}">
                <a16:creationId xmlns:a16="http://schemas.microsoft.com/office/drawing/2014/main" id="{A13E7249-F0A8-4C55-8542-B6A961D3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933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人员资源全线共享</a:t>
            </a:r>
          </a:p>
        </p:txBody>
      </p:sp>
      <p:sp>
        <p:nvSpPr>
          <p:cNvPr id="21" name="candidate-box-490">
            <a:extLst xmlns:a="http://schemas.openxmlformats.org/drawingml/2006/main">
              <a:ext uri="{FF2B5EF4-FFF2-40B4-BE49-F238E27FC236}">
                <a16:creationId xmlns:a16="http://schemas.microsoft.com/office/drawing/2014/main" id="{26FBD7AF-4E3E-4D3A-A34E-01735452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52575"/>
            <a:ext cx="2809875" cy="305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2" name="candidate-text-491">
            <a:extLst xmlns:a="http://schemas.openxmlformats.org/drawingml/2006/main">
              <a:ext uri="{FF2B5EF4-FFF2-40B4-BE49-F238E27FC236}">
                <a16:creationId xmlns:a16="http://schemas.microsoft.com/office/drawing/2014/main" id="{0FAEEFDB-3794-48D7-8ABD-CE9D33F7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66875"/>
            <a:ext cx="2638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未完物理任务分组汇总</a:t>
            </a:r>
          </a:p>
        </p:txBody>
      </p:sp>
      <p:sp>
        <p:nvSpPr>
          <p:cNvPr id="23" name="candidate-box-492">
            <a:extLst xmlns:a="http://schemas.openxmlformats.org/drawingml/2006/main">
              <a:ext uri="{FF2B5EF4-FFF2-40B4-BE49-F238E27FC236}">
                <a16:creationId xmlns:a16="http://schemas.microsoft.com/office/drawing/2014/main" id="{920A2377-08D6-4DE1-B2D4-312C9A3F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66925"/>
            <a:ext cx="2543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4" name="candidate-text-493">
            <a:extLst xmlns:a="http://schemas.openxmlformats.org/drawingml/2006/main">
              <a:ext uri="{FF2B5EF4-FFF2-40B4-BE49-F238E27FC236}">
                <a16:creationId xmlns:a16="http://schemas.microsoft.com/office/drawing/2014/main" id="{DF71FB1E-B598-4F84-9C6B-C6B7283E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24075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13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13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工序／飞机</a:t>
            </a:r>
          </a:p>
        </p:txBody>
      </p:sp>
      <p:sp>
        <p:nvSpPr>
          <p:cNvPr id="25" name="candidate-text-494">
            <a:extLst xmlns:a="http://schemas.openxmlformats.org/drawingml/2006/main">
              <a:ext uri="{FF2B5EF4-FFF2-40B4-BE49-F238E27FC236}">
                <a16:creationId xmlns:a16="http://schemas.microsoft.com/office/drawing/2014/main" id="{AB0919FA-7D6A-48E1-89E6-0E5589FC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28875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38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当前、下一及更后摘要</a:t>
            </a:r>
          </a:p>
        </p:txBody>
      </p:sp>
      <p:sp>
        <p:nvSpPr>
          <p:cNvPr id="26" name="candidate-box-495">
            <a:extLst xmlns:a="http://schemas.openxmlformats.org/drawingml/2006/main">
              <a:ext uri="{FF2B5EF4-FFF2-40B4-BE49-F238E27FC236}">
                <a16:creationId xmlns:a16="http://schemas.microsoft.com/office/drawing/2014/main" id="{6945E896-2864-4CDF-B2F5-13A741CE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924175"/>
            <a:ext cx="2543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7" name="candidate-text-496">
            <a:extLst xmlns:a="http://schemas.openxmlformats.org/drawingml/2006/main">
              <a:ext uri="{FF2B5EF4-FFF2-40B4-BE49-F238E27FC236}">
                <a16:creationId xmlns:a16="http://schemas.microsoft.com/office/drawing/2014/main" id="{C9DA5452-4F9B-442C-9E5F-632DC6FB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81325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13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13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站位</a:t>
            </a:r>
          </a:p>
        </p:txBody>
      </p:sp>
      <p:sp>
        <p:nvSpPr>
          <p:cNvPr id="28" name="candidate-text-497">
            <a:extLst xmlns:a="http://schemas.openxmlformats.org/drawingml/2006/main">
              <a:ext uri="{FF2B5EF4-FFF2-40B4-BE49-F238E27FC236}">
                <a16:creationId xmlns:a16="http://schemas.microsoft.com/office/drawing/2014/main" id="{4678B1EF-0DB8-47FC-99F0-A0DDCB85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86125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38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当前／下一任务与本站资源</a:t>
            </a:r>
          </a:p>
        </p:txBody>
      </p:sp>
      <p:sp>
        <p:nvSpPr>
          <p:cNvPr id="29" name="candidate-box-498">
            <a:extLst xmlns:a="http://schemas.openxmlformats.org/drawingml/2006/main">
              <a:ext uri="{FF2B5EF4-FFF2-40B4-BE49-F238E27FC236}">
                <a16:creationId xmlns:a16="http://schemas.microsoft.com/office/drawing/2014/main" id="{00A1F104-D473-4814-9CAD-7A996709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81425"/>
            <a:ext cx="2543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0" name="candidate-text-499">
            <a:extLst xmlns:a="http://schemas.openxmlformats.org/drawingml/2006/main">
              <a:ext uri="{FF2B5EF4-FFF2-40B4-BE49-F238E27FC236}">
                <a16:creationId xmlns:a16="http://schemas.microsoft.com/office/drawing/2014/main" id="{E89E4ECD-B8AF-49F5-AE36-3800D758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38575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13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13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整线</a:t>
            </a:r>
          </a:p>
        </p:txBody>
      </p:sp>
      <p:sp>
        <p:nvSpPr>
          <p:cNvPr id="31" name="candidate-text-500">
            <a:extLst xmlns:a="http://schemas.openxmlformats.org/drawingml/2006/main">
              <a:ext uri="{FF2B5EF4-FFF2-40B4-BE49-F238E27FC236}">
                <a16:creationId xmlns:a16="http://schemas.microsoft.com/office/drawing/2014/main" id="{9F0E47E2-B79E-41AF-9A28-70997092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143375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38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各站负荷与批次进度</a:t>
            </a:r>
          </a:p>
        </p:txBody>
      </p:sp>
      <p:cxnSp>
        <p:nvCxnSpPr>
          <p:cNvPr id="32" name="candidate-arrow-501">
            <a:extLst xmlns:a="http://schemas.openxmlformats.org/drawingml/2006/main">
              <a:ext uri="{FF2B5EF4-FFF2-40B4-BE49-F238E27FC236}">
                <a16:creationId xmlns:a16="http://schemas.microsoft.com/office/drawing/2014/main" id="{88F7212E-9A87-49FC-94F7-91143CD723D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95800" y="26574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3" name="candidate-arrow-502">
            <a:extLst xmlns:a="http://schemas.openxmlformats.org/drawingml/2006/main">
              <a:ext uri="{FF2B5EF4-FFF2-40B4-BE49-F238E27FC236}">
                <a16:creationId xmlns:a16="http://schemas.microsoft.com/office/drawing/2014/main" id="{7AF3545C-846D-43CF-B211-164870D307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95800" y="351472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4" name="candidate-box-503">
            <a:extLst xmlns:a="http://schemas.openxmlformats.org/drawingml/2006/main">
              <a:ext uri="{FF2B5EF4-FFF2-40B4-BE49-F238E27FC236}">
                <a16:creationId xmlns:a16="http://schemas.microsoft.com/office/drawing/2014/main" id="{FCFE6C83-92C6-4E43-9154-2B8E3460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19375"/>
            <a:ext cx="14763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35" name="candidate-text-504">
            <a:extLst xmlns:a="http://schemas.openxmlformats.org/drawingml/2006/main">
              <a:ext uri="{FF2B5EF4-FFF2-40B4-BE49-F238E27FC236}">
                <a16:creationId xmlns:a16="http://schemas.microsoft.com/office/drawing/2014/main" id="{8F978FE1-5305-4868-8CEA-3C62C64F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76525"/>
            <a:ext cx="1323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Nimbus Roman"/>
                <a:ea typeface="Nimbus Roman"/>
                <a:cs typeface="Nimbus Roman"/>
              </a:rPr>
              <a:t>MLP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融合</a:t>
            </a:r>
          </a:p>
        </p:txBody>
      </p:sp>
      <p:sp>
        <p:nvSpPr>
          <p:cNvPr id="36" name="candidate-text-505">
            <a:extLst xmlns:a="http://schemas.openxmlformats.org/drawingml/2006/main">
              <a:ext uri="{FF2B5EF4-FFF2-40B4-BE49-F238E27FC236}">
                <a16:creationId xmlns:a16="http://schemas.microsoft.com/office/drawing/2014/main" id="{D7426882-B945-4B83-9734-A31546D8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81325"/>
            <a:ext cx="1323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分层表示</a:t>
            </a:r>
          </a:p>
        </p:txBody>
      </p:sp>
      <p:cxnSp>
        <p:nvCxnSpPr>
          <p:cNvPr id="37" name="candidate-arrow-506">
            <a:extLst xmlns:a="http://schemas.openxmlformats.org/drawingml/2006/main">
              <a:ext uri="{FF2B5EF4-FFF2-40B4-BE49-F238E27FC236}">
                <a16:creationId xmlns:a16="http://schemas.microsoft.com/office/drawing/2014/main" id="{2AE7E9F7-F14E-4889-9697-7235C65114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62250" y="30765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8" name="candidate-arrow-507">
            <a:extLst xmlns:a="http://schemas.openxmlformats.org/drawingml/2006/main">
              <a:ext uri="{FF2B5EF4-FFF2-40B4-BE49-F238E27FC236}">
                <a16:creationId xmlns:a16="http://schemas.microsoft.com/office/drawing/2014/main" id="{B1D8EDA8-6205-4CC4-8E5A-B702D11BF0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30765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9" name="candidate-arrow-508">
            <a:extLst xmlns:a="http://schemas.openxmlformats.org/drawingml/2006/main">
              <a:ext uri="{FF2B5EF4-FFF2-40B4-BE49-F238E27FC236}">
                <a16:creationId xmlns:a16="http://schemas.microsoft.com/office/drawing/2014/main" id="{91B947D6-E0CE-4962-A381-83706691EF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34300" y="30765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0" name="candidate-box-509">
            <a:extLst xmlns:a="http://schemas.openxmlformats.org/drawingml/2006/main">
              <a:ext uri="{FF2B5EF4-FFF2-40B4-BE49-F238E27FC236}">
                <a16:creationId xmlns:a16="http://schemas.microsoft.com/office/drawing/2014/main" id="{C5072AF3-B8E9-4724-8464-3F88B19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52575"/>
            <a:ext cx="3381375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1" name="candidate-text-510">
            <a:extLst xmlns:a="http://schemas.openxmlformats.org/drawingml/2006/main">
              <a:ext uri="{FF2B5EF4-FFF2-40B4-BE49-F238E27FC236}">
                <a16:creationId xmlns:a16="http://schemas.microsoft.com/office/drawing/2014/main" id="{2896EE9F-6993-40DB-A610-C453E1DC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076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状态后果语义</a:t>
            </a:r>
          </a:p>
        </p:txBody>
      </p:sp>
      <p:sp>
        <p:nvSpPr>
          <p:cNvPr id="42" name="candidate-box-511">
            <a:extLst xmlns:a="http://schemas.openxmlformats.org/drawingml/2006/main">
              <a:ext uri="{FF2B5EF4-FFF2-40B4-BE49-F238E27FC236}">
                <a16:creationId xmlns:a16="http://schemas.microsoft.com/office/drawing/2014/main" id="{218B0F53-2C49-493E-BAB7-E5BB149E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30384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3" name="candidate-text-512">
            <a:extLst xmlns:a="http://schemas.openxmlformats.org/drawingml/2006/main">
              <a:ext uri="{FF2B5EF4-FFF2-40B4-BE49-F238E27FC236}">
                <a16:creationId xmlns:a16="http://schemas.microsoft.com/office/drawing/2014/main" id="{EB863396-FE30-404C-A7F8-C605DFFB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2886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当前共同脉动时间</a:t>
            </a:r>
          </a:p>
        </p:txBody>
      </p:sp>
      <p:sp>
        <p:nvSpPr>
          <p:cNvPr id="44" name="candidate-text-513">
            <a:extLst xmlns:a="http://schemas.openxmlformats.org/drawingml/2006/main">
              <a:ext uri="{FF2B5EF4-FFF2-40B4-BE49-F238E27FC236}">
                <a16:creationId xmlns:a16="http://schemas.microsoft.com/office/drawing/2014/main" id="{D2719518-794E-4811-BB93-FF52B18B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886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启发式估计的修正量</a:t>
            </a:r>
          </a:p>
        </p:txBody>
      </p:sp>
      <p:sp>
        <p:nvSpPr>
          <p:cNvPr id="45" name="candidate-box-514">
            <a:extLst xmlns:a="http://schemas.openxmlformats.org/drawingml/2006/main">
              <a:ext uri="{FF2B5EF4-FFF2-40B4-BE49-F238E27FC236}">
                <a16:creationId xmlns:a16="http://schemas.microsoft.com/office/drawing/2014/main" id="{CF03D6A7-E619-4463-A1A7-A820C18D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30384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6" name="candidate-text-515">
            <a:extLst xmlns:a="http://schemas.openxmlformats.org/drawingml/2006/main">
              <a:ext uri="{FF2B5EF4-FFF2-40B4-BE49-F238E27FC236}">
                <a16:creationId xmlns:a16="http://schemas.microsoft.com/office/drawing/2014/main" id="{DC386D45-C409-45A3-9AA7-E6D2305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下一周期各站就绪偏差</a:t>
            </a:r>
          </a:p>
        </p:txBody>
      </p:sp>
      <p:sp>
        <p:nvSpPr>
          <p:cNvPr id="47" name="candidate-box-516">
            <a:extLst xmlns:a="http://schemas.openxmlformats.org/drawingml/2006/main">
              <a:ext uri="{FF2B5EF4-FFF2-40B4-BE49-F238E27FC236}">
                <a16:creationId xmlns:a16="http://schemas.microsoft.com/office/drawing/2014/main" id="{A219849C-1B57-4AF8-95E1-FD69F8B8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00450"/>
            <a:ext cx="485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1</a:t>
            </a:r>
          </a:p>
        </p:txBody>
      </p:sp>
      <p:sp>
        <p:nvSpPr>
          <p:cNvPr id="48" name="candidate-box-517">
            <a:extLst xmlns:a="http://schemas.openxmlformats.org/drawingml/2006/main">
              <a:ext uri="{FF2B5EF4-FFF2-40B4-BE49-F238E27FC236}">
                <a16:creationId xmlns:a16="http://schemas.microsoft.com/office/drawing/2014/main" id="{9F086D02-0F1C-47B7-8877-F4DA460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0450"/>
            <a:ext cx="485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2</a:t>
            </a:r>
          </a:p>
        </p:txBody>
      </p:sp>
      <p:sp>
        <p:nvSpPr>
          <p:cNvPr id="49" name="candidate-box-518">
            <a:extLst xmlns:a="http://schemas.openxmlformats.org/drawingml/2006/main">
              <a:ext uri="{FF2B5EF4-FFF2-40B4-BE49-F238E27FC236}">
                <a16:creationId xmlns:a16="http://schemas.microsoft.com/office/drawing/2014/main" id="{64220ADF-1DE6-4132-8E4B-807F4EB9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600450"/>
            <a:ext cx="485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3</a:t>
            </a:r>
          </a:p>
        </p:txBody>
      </p:sp>
      <p:sp>
        <p:nvSpPr>
          <p:cNvPr id="50" name="candidate-box-519">
            <a:extLst xmlns:a="http://schemas.openxmlformats.org/drawingml/2006/main">
              <a:ext uri="{FF2B5EF4-FFF2-40B4-BE49-F238E27FC236}">
                <a16:creationId xmlns:a16="http://schemas.microsoft.com/office/drawing/2014/main" id="{D56BD0E5-CB07-4F25-B0A8-C0DBA7D4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00450"/>
            <a:ext cx="485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4</a:t>
            </a:r>
          </a:p>
        </p:txBody>
      </p:sp>
      <p:sp>
        <p:nvSpPr>
          <p:cNvPr id="51" name="candidate-box-520">
            <a:extLst xmlns:a="http://schemas.openxmlformats.org/drawingml/2006/main">
              <a:ext uri="{FF2B5EF4-FFF2-40B4-BE49-F238E27FC236}">
                <a16:creationId xmlns:a16="http://schemas.microsoft.com/office/drawing/2014/main" id="{2A4DD824-68B8-4F78-869D-6623A34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600450"/>
            <a:ext cx="485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Δ</a:t>
            </a:r>
            <a:r>
              <a:rPr b="0">
                <a:latin typeface="Nimbus Roman"/>
                <a:ea typeface="Nimbus Roman"/>
                <a:cs typeface="Nimbus Roman"/>
              </a:rPr>
              <a:t>5</a:t>
            </a:r>
          </a:p>
        </p:txBody>
      </p:sp>
      <p:sp>
        <p:nvSpPr>
          <p:cNvPr id="52" name="candidate-text-521">
            <a:extLst xmlns:a="http://schemas.openxmlformats.org/drawingml/2006/main">
              <a:ext uri="{FF2B5EF4-FFF2-40B4-BE49-F238E27FC236}">
                <a16:creationId xmlns:a16="http://schemas.microsoft.com/office/drawing/2014/main" id="{B08EF9AE-F37C-4966-B9E8-5DA4E69D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33825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正值晚，负值早</a:t>
            </a:r>
          </a:p>
        </p:txBody>
      </p:sp>
      <p:sp>
        <p:nvSpPr>
          <p:cNvPr id="53" name="candidate-box-522">
            <a:extLst xmlns:a="http://schemas.openxmlformats.org/drawingml/2006/main">
              <a:ext uri="{FF2B5EF4-FFF2-40B4-BE49-F238E27FC236}">
                <a16:creationId xmlns:a16="http://schemas.microsoft.com/office/drawing/2014/main" id="{A2A69D3D-59B1-46E9-80E9-DDF23872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2143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4" name="candidate-text-523">
            <a:extLst xmlns:a="http://schemas.openxmlformats.org/drawingml/2006/main">
              <a:ext uri="{FF2B5EF4-FFF2-40B4-BE49-F238E27FC236}">
                <a16:creationId xmlns:a16="http://schemas.microsoft.com/office/drawing/2014/main" id="{C0166BDD-CB5B-4B00-AE7A-024B72F7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10150"/>
            <a:ext cx="199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最新现场状态</a:t>
            </a:r>
          </a:p>
        </p:txBody>
      </p:sp>
      <p:sp>
        <p:nvSpPr>
          <p:cNvPr id="55" name="candidate-text-524">
            <a:extLst xmlns:a="http://schemas.openxmlformats.org/drawingml/2006/main">
              <a:ext uri="{FF2B5EF4-FFF2-40B4-BE49-F238E27FC236}">
                <a16:creationId xmlns:a16="http://schemas.microsoft.com/office/drawing/2014/main" id="{7E340350-8E8B-4483-9DC8-87572966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14950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当前进度与最近变化</a:t>
            </a:r>
          </a:p>
        </p:txBody>
      </p:sp>
      <p:sp>
        <p:nvSpPr>
          <p:cNvPr id="56" name="candidate-box-525">
            <a:extLst xmlns:a="http://schemas.openxmlformats.org/drawingml/2006/main">
              <a:ext uri="{FF2B5EF4-FFF2-40B4-BE49-F238E27FC236}">
                <a16:creationId xmlns:a16="http://schemas.microsoft.com/office/drawing/2014/main" id="{BC7E8282-4ED3-48CA-A19C-23E8E587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53000"/>
            <a:ext cx="2809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7" name="candidate-text-526">
            <a:extLst xmlns:a="http://schemas.openxmlformats.org/drawingml/2006/main">
              <a:ext uri="{FF2B5EF4-FFF2-40B4-BE49-F238E27FC236}">
                <a16:creationId xmlns:a16="http://schemas.microsoft.com/office/drawing/2014/main" id="{AD6166AE-B349-4354-BA54-B27EC17B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010150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在线编码与分层</a:t>
            </a:r>
            <a:r>
              <a:rPr b="1">
                <a:latin typeface="Nimbus Roman"/>
                <a:ea typeface="Nimbus Roman"/>
                <a:cs typeface="Nimbus Roman"/>
              </a:rPr>
              <a:t>MLP</a:t>
            </a:r>
          </a:p>
        </p:txBody>
      </p:sp>
      <p:sp>
        <p:nvSpPr>
          <p:cNvPr id="58" name="candidate-text-527">
            <a:extLst xmlns:a="http://schemas.openxmlformats.org/drawingml/2006/main">
              <a:ext uri="{FF2B5EF4-FFF2-40B4-BE49-F238E27FC236}">
                <a16:creationId xmlns:a16="http://schemas.microsoft.com/office/drawing/2014/main" id="{008BD22F-8885-4D76-B5DF-955BDF37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314950"/>
            <a:ext cx="2657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候选与跨层上下文</a:t>
            </a:r>
          </a:p>
        </p:txBody>
      </p:sp>
      <p:sp>
        <p:nvSpPr>
          <p:cNvPr id="59" name="candidate-box-528">
            <a:extLst xmlns:a="http://schemas.openxmlformats.org/drawingml/2006/main">
              <a:ext uri="{FF2B5EF4-FFF2-40B4-BE49-F238E27FC236}">
                <a16:creationId xmlns:a16="http://schemas.microsoft.com/office/drawing/2014/main" id="{C39FEBC5-60B1-461F-8E87-7810FED7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3381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0" name="candidate-text-529">
            <a:extLst xmlns:a="http://schemas.openxmlformats.org/drawingml/2006/main">
              <a:ext uri="{FF2B5EF4-FFF2-40B4-BE49-F238E27FC236}">
                <a16:creationId xmlns:a16="http://schemas.microsoft.com/office/drawing/2014/main" id="{69C35519-B775-4013-BE04-C213890B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3228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联合动作</a:t>
            </a:r>
          </a:p>
        </p:txBody>
      </p:sp>
      <p:sp>
        <p:nvSpPr>
          <p:cNvPr id="61" name="candidate-text-530">
            <a:extLst xmlns:a="http://schemas.openxmlformats.org/drawingml/2006/main">
              <a:ext uri="{FF2B5EF4-FFF2-40B4-BE49-F238E27FC236}">
                <a16:creationId xmlns:a16="http://schemas.microsoft.com/office/drawing/2014/main" id="{261584F5-F204-40BB-AA30-8D2DEBE1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3228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工序、站位、团队与对齐</a:t>
            </a:r>
          </a:p>
        </p:txBody>
      </p:sp>
      <p:cxnSp>
        <p:nvCxnSpPr>
          <p:cNvPr id="62" name="candidate-arrow-531">
            <a:extLst xmlns:a="http://schemas.openxmlformats.org/drawingml/2006/main">
              <a:ext uri="{FF2B5EF4-FFF2-40B4-BE49-F238E27FC236}">
                <a16:creationId xmlns:a16="http://schemas.microsoft.com/office/drawing/2014/main" id="{24F4E0C0-5049-4A75-A8C4-A98F49E1CE1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685925" y="4610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3" name="candidate-arrow-532">
            <a:extLst xmlns:a="http://schemas.openxmlformats.org/drawingml/2006/main">
              <a:ext uri="{FF2B5EF4-FFF2-40B4-BE49-F238E27FC236}">
                <a16:creationId xmlns:a16="http://schemas.microsoft.com/office/drawing/2014/main" id="{2561586B-3291-4015-844B-BD4097B14B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62250" y="52673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4" name="candidate-arrow-533">
            <a:extLst xmlns:a="http://schemas.openxmlformats.org/drawingml/2006/main">
              <a:ext uri="{FF2B5EF4-FFF2-40B4-BE49-F238E27FC236}">
                <a16:creationId xmlns:a16="http://schemas.microsoft.com/office/drawing/2014/main" id="{8811BD51-4740-43FD-B7B0-B623570ED4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5267325"/>
            <a:ext cx="2209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5" name="candidate-text-534">
            <a:extLst xmlns:a="http://schemas.openxmlformats.org/drawingml/2006/main">
              <a:ext uri="{FF2B5EF4-FFF2-40B4-BE49-F238E27FC236}">
                <a16:creationId xmlns:a16="http://schemas.microsoft.com/office/drawing/2014/main" id="{089F4BEE-8CF0-446F-A19A-C7D18EF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在线候选表示</a:t>
            </a:r>
          </a:p>
        </p:txBody>
      </p:sp>
      <p:cxnSp>
        <p:nvCxnSpPr>
          <p:cNvPr id="66" name="candidate-arrow-535">
            <a:extLst xmlns:a="http://schemas.openxmlformats.org/drawingml/2006/main">
              <a:ext uri="{FF2B5EF4-FFF2-40B4-BE49-F238E27FC236}">
                <a16:creationId xmlns:a16="http://schemas.microsoft.com/office/drawing/2014/main" id="{6BFD7199-A180-4242-AA9E-8C1616AA69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01225" y="434340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67" name="candidate-text-536">
            <a:extLst xmlns:a="http://schemas.openxmlformats.org/drawingml/2006/main">
              <a:ext uri="{FF2B5EF4-FFF2-40B4-BE49-F238E27FC236}">
                <a16:creationId xmlns:a16="http://schemas.microsoft.com/office/drawing/2014/main" id="{44721488-6288-43F0-BD91-93CE9C10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5624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无梯度预测数值</a:t>
            </a:r>
          </a:p>
        </p:txBody>
      </p:sp>
      <p:sp>
        <p:nvSpPr>
          <p:cNvPr id="68" name="candidate-text-537">
            <a:extLst xmlns:a="http://schemas.openxmlformats.org/drawingml/2006/main">
              <a:ext uri="{FF2B5EF4-FFF2-40B4-BE49-F238E27FC236}">
                <a16:creationId xmlns:a16="http://schemas.microsoft.com/office/drawing/2014/main" id="{ECC0F59D-5186-43F1-9323-E86914E9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决策前形成两类时间语义，兼顾当前共同等待与紧邻下一周期的站位负荷</a:t>
            </a:r>
          </a:p>
        </p:txBody>
      </p:sp>
    </p:spTree>
    <p:extLst>
      <p:ext uri="{BB962C8B-B14F-4D97-AF65-F5344CB8AC3E}">
        <p14:creationId xmlns:p14="http://schemas.microsoft.com/office/powerpoint/2010/main" val="6469057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candidate-text-538">
            <a:extLst xmlns:a="http://schemas.openxmlformats.org/drawingml/2006/main">
              <a:ext uri="{FF2B5EF4-FFF2-40B4-BE49-F238E27FC236}">
                <a16:creationId xmlns:a16="http://schemas.microsoft.com/office/drawing/2014/main" id="{3BBCFE23-A35B-4097-875D-39F2415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120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技术路线三：语义增强的多架次协同动态调度</a:t>
            </a:r>
          </a:p>
        </p:txBody>
      </p:sp>
      <p:sp>
        <p:nvSpPr>
          <p:cNvPr id="2" name="candidate-line-539">
            <a:extLst xmlns:a="http://schemas.openxmlformats.org/drawingml/2006/main">
              <a:ext uri="{FF2B5EF4-FFF2-40B4-BE49-F238E27FC236}">
                <a16:creationId xmlns:a16="http://schemas.microsoft.com/office/drawing/2014/main" id="{575E369F-23DB-4697-A60F-9AA6A1F0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8953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3" name="candidate-line-540">
            <a:extLst xmlns:a="http://schemas.openxmlformats.org/drawingml/2006/main">
              <a:ext uri="{FF2B5EF4-FFF2-40B4-BE49-F238E27FC236}">
                <a16:creationId xmlns:a16="http://schemas.microsoft.com/office/drawing/2014/main" id="{3957128E-46BF-4BD2-A14E-9BA70C16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64103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" name="candidate-text-541">
            <a:extLst xmlns:a="http://schemas.openxmlformats.org/drawingml/2006/main">
              <a:ext uri="{FF2B5EF4-FFF2-40B4-BE49-F238E27FC236}">
                <a16:creationId xmlns:a16="http://schemas.microsoft.com/office/drawing/2014/main" id="{BB7DE6A9-F653-4F6D-9213-F6F5AA84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技术路线</a:t>
            </a:r>
          </a:p>
        </p:txBody>
      </p:sp>
      <p:sp>
        <p:nvSpPr>
          <p:cNvPr id="5" name="candidate-text-542">
            <a:extLst xmlns:a="http://schemas.openxmlformats.org/drawingml/2006/main">
              <a:ext uri="{FF2B5EF4-FFF2-40B4-BE49-F238E27FC236}">
                <a16:creationId xmlns:a16="http://schemas.microsoft.com/office/drawing/2014/main" id="{0ADA5D81-EA68-4688-89E8-68EEA45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57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13C</a:t>
            </a:r>
          </a:p>
        </p:txBody>
      </p:sp>
      <p:sp>
        <p:nvSpPr>
          <p:cNvPr id="6" name="candidate-text-543">
            <a:extLst xmlns:a="http://schemas.openxmlformats.org/drawingml/2006/main">
              <a:ext uri="{FF2B5EF4-FFF2-40B4-BE49-F238E27FC236}">
                <a16:creationId xmlns:a16="http://schemas.microsoft.com/office/drawing/2014/main" id="{812A0695-46C4-4A43-ADEF-F987A9D4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现场决策：固定预测特征与在线</a:t>
            </a:r>
            <a:r>
              <a:rPr b="1">
                <a:latin typeface="Nimbus Roman"/>
                <a:ea typeface="Nimbus Roman"/>
                <a:cs typeface="Nimbus Roman"/>
              </a:rPr>
              <a:t>Actor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协同使用</a:t>
            </a:r>
          </a:p>
        </p:txBody>
      </p:sp>
      <p:sp>
        <p:nvSpPr>
          <p:cNvPr id="7" name="candidate-box-544">
            <a:extLst xmlns:a="http://schemas.openxmlformats.org/drawingml/2006/main">
              <a:ext uri="{FF2B5EF4-FFF2-40B4-BE49-F238E27FC236}">
                <a16:creationId xmlns:a16="http://schemas.microsoft.com/office/drawing/2014/main" id="{63370594-138D-4172-A34A-5589712D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4075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" name="candidate-text-545">
            <a:extLst xmlns:a="http://schemas.openxmlformats.org/drawingml/2006/main">
              <a:ext uri="{FF2B5EF4-FFF2-40B4-BE49-F238E27FC236}">
                <a16:creationId xmlns:a16="http://schemas.microsoft.com/office/drawing/2014/main" id="{B10468F7-D02B-44D4-B7D4-A7793EBD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8122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最新现场状态</a:t>
            </a:r>
          </a:p>
        </p:txBody>
      </p:sp>
      <p:sp>
        <p:nvSpPr>
          <p:cNvPr id="9" name="candidate-text-546">
            <a:extLst xmlns:a="http://schemas.openxmlformats.org/drawingml/2006/main">
              <a:ext uri="{FF2B5EF4-FFF2-40B4-BE49-F238E27FC236}">
                <a16:creationId xmlns:a16="http://schemas.microsoft.com/office/drawing/2014/main" id="{E7E67FE4-300E-4BA6-A635-06626E26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8602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当前进度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最近已知变化</a:t>
            </a:r>
          </a:p>
        </p:txBody>
      </p:sp>
      <p:sp>
        <p:nvSpPr>
          <p:cNvPr id="10" name="candidate-box-547">
            <a:extLst xmlns:a="http://schemas.openxmlformats.org/drawingml/2006/main">
              <a:ext uri="{FF2B5EF4-FFF2-40B4-BE49-F238E27FC236}">
                <a16:creationId xmlns:a16="http://schemas.microsoft.com/office/drawing/2014/main" id="{92346788-9B8E-4025-B1D1-1D4810A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1" name="candidate-text-548">
            <a:extLst xmlns:a="http://schemas.openxmlformats.org/drawingml/2006/main">
              <a:ext uri="{FF2B5EF4-FFF2-40B4-BE49-F238E27FC236}">
                <a16:creationId xmlns:a16="http://schemas.microsoft.com/office/drawing/2014/main" id="{D10540FC-BC83-4B3B-8A1F-892FD9D9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28775"/>
            <a:ext cx="241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在线共享路径</a:t>
            </a:r>
          </a:p>
        </p:txBody>
      </p:sp>
      <p:sp>
        <p:nvSpPr>
          <p:cNvPr id="12" name="candidate-text-549">
            <a:extLst xmlns:a="http://schemas.openxmlformats.org/drawingml/2006/main">
              <a:ext uri="{FF2B5EF4-FFF2-40B4-BE49-F238E27FC236}">
                <a16:creationId xmlns:a16="http://schemas.microsoft.com/office/drawing/2014/main" id="{0AEA0FE2-9E12-4A96-A42F-F691FC05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33575"/>
            <a:ext cx="241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图编码、分层</a:t>
            </a:r>
            <a:r>
              <a:rPr b="0">
                <a:latin typeface="Nimbus Roman"/>
                <a:ea typeface="Nimbus Roman"/>
                <a:cs typeface="Nimbus Roman"/>
              </a:rPr>
              <a:t>MLP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在线时间预测头</a:t>
            </a:r>
          </a:p>
        </p:txBody>
      </p:sp>
      <p:sp>
        <p:nvSpPr>
          <p:cNvPr id="13" name="candidate-box-550">
            <a:extLst xmlns:a="http://schemas.openxmlformats.org/drawingml/2006/main">
              <a:ext uri="{FF2B5EF4-FFF2-40B4-BE49-F238E27FC236}">
                <a16:creationId xmlns:a16="http://schemas.microsoft.com/office/drawing/2014/main" id="{887D3F5E-FD63-443D-A0E7-CF7EA0EA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71625"/>
            <a:ext cx="2114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4" name="candidate-text-551">
            <a:extLst xmlns:a="http://schemas.openxmlformats.org/drawingml/2006/main">
              <a:ext uri="{FF2B5EF4-FFF2-40B4-BE49-F238E27FC236}">
                <a16:creationId xmlns:a16="http://schemas.microsoft.com/office/drawing/2014/main" id="{B769F1A1-E635-455C-BCD9-F9087F55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287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在线</a:t>
            </a:r>
            <a:r>
              <a:rPr b="1">
                <a:latin typeface="Nimbus Roman"/>
                <a:ea typeface="Nimbus Roman"/>
                <a:cs typeface="Nimbus Roman"/>
              </a:rPr>
              <a:t>Actor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动作头</a:t>
            </a:r>
          </a:p>
        </p:txBody>
      </p:sp>
      <p:sp>
        <p:nvSpPr>
          <p:cNvPr id="15" name="candidate-text-552">
            <a:extLst xmlns:a="http://schemas.openxmlformats.org/drawingml/2006/main">
              <a:ext uri="{FF2B5EF4-FFF2-40B4-BE49-F238E27FC236}">
                <a16:creationId xmlns:a16="http://schemas.microsoft.com/office/drawing/2014/main" id="{9A8DBDD3-9249-4FA0-B989-165B8161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3357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条件联合决策</a:t>
            </a:r>
          </a:p>
        </p:txBody>
      </p:sp>
      <p:sp>
        <p:nvSpPr>
          <p:cNvPr id="16" name="candidate-box-553">
            <a:extLst xmlns:a="http://schemas.openxmlformats.org/drawingml/2006/main">
              <a:ext uri="{FF2B5EF4-FFF2-40B4-BE49-F238E27FC236}">
                <a16:creationId xmlns:a16="http://schemas.microsoft.com/office/drawing/2014/main" id="{B94C339D-A112-426C-931C-9A614E8A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571625"/>
            <a:ext cx="16192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7" name="candidate-text-554">
            <a:extLst xmlns:a="http://schemas.openxmlformats.org/drawingml/2006/main">
              <a:ext uri="{FF2B5EF4-FFF2-40B4-BE49-F238E27FC236}">
                <a16:creationId xmlns:a16="http://schemas.microsoft.com/office/drawing/2014/main" id="{BCD8FA29-D202-4244-B7DB-6837F652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628775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真实执行环境</a:t>
            </a:r>
          </a:p>
        </p:txBody>
      </p:sp>
      <p:sp>
        <p:nvSpPr>
          <p:cNvPr id="18" name="candidate-text-555">
            <a:extLst xmlns:a="http://schemas.openxmlformats.org/drawingml/2006/main">
              <a:ext uri="{FF2B5EF4-FFF2-40B4-BE49-F238E27FC236}">
                <a16:creationId xmlns:a16="http://schemas.microsoft.com/office/drawing/2014/main" id="{54B36D90-CC7C-44E5-8266-7E6AF4A3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33575"/>
            <a:ext cx="14668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开工、完成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已揭示扰动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共同脉动</a:t>
            </a:r>
          </a:p>
        </p:txBody>
      </p:sp>
      <p:sp>
        <p:nvSpPr>
          <p:cNvPr id="19" name="candidate-box-556">
            <a:extLst xmlns:a="http://schemas.openxmlformats.org/drawingml/2006/main">
              <a:ext uri="{FF2B5EF4-FFF2-40B4-BE49-F238E27FC236}">
                <a16:creationId xmlns:a16="http://schemas.microsoft.com/office/drawing/2014/main" id="{48E11163-050D-4FAC-ABE0-EBF09D96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0" name="candidate-text-557">
            <a:extLst xmlns:a="http://schemas.openxmlformats.org/drawingml/2006/main">
              <a:ext uri="{FF2B5EF4-FFF2-40B4-BE49-F238E27FC236}">
                <a16:creationId xmlns:a16="http://schemas.microsoft.com/office/drawing/2014/main" id="{197E07B1-034F-4744-BA33-CBC43325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9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固定预测副本</a:t>
            </a:r>
          </a:p>
        </p:txBody>
      </p:sp>
      <p:sp>
        <p:nvSpPr>
          <p:cNvPr id="21" name="candidate-text-558">
            <a:extLst xmlns:a="http://schemas.openxmlformats.org/drawingml/2006/main">
              <a:ext uri="{FF2B5EF4-FFF2-40B4-BE49-F238E27FC236}">
                <a16:creationId xmlns:a16="http://schemas.microsoft.com/office/drawing/2014/main" id="{A83F4FD1-348F-49A6-A942-18DD7BAB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38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38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编码、</a:t>
            </a:r>
            <a:r>
              <a:rPr b="0">
                <a:latin typeface="Nimbus Roman"/>
                <a:ea typeface="Nimbus Roman"/>
                <a:cs typeface="Nimbus Roman"/>
              </a:rPr>
              <a:t>MLP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、双时间头</a:t>
            </a:r>
          </a:p>
          <a:p xmlns:a="http://schemas.openxmlformats.org/drawingml/2006/main">
            <a:pPr algn="ctr">
              <a:defRPr sz="1538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含归一化，轨迹内固定</a:t>
            </a:r>
          </a:p>
        </p:txBody>
      </p:sp>
      <p:sp>
        <p:nvSpPr>
          <p:cNvPr id="22" name="candidate-box-559">
            <a:extLst xmlns:a="http://schemas.openxmlformats.org/drawingml/2006/main">
              <a:ext uri="{FF2B5EF4-FFF2-40B4-BE49-F238E27FC236}">
                <a16:creationId xmlns:a16="http://schemas.microsoft.com/office/drawing/2014/main" id="{D15CDE5E-6E65-40E5-97CC-287FC98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2114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38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当前共同脉动修正</a:t>
            </a:r>
          </a:p>
          <a:p xmlns:a="http://schemas.openxmlformats.org/drawingml/2006/main">
            <a:pPr algn="ctr">
              <a:defRPr sz="1538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下一周期各站</a:t>
            </a:r>
          </a:p>
          <a:p xmlns:a="http://schemas.openxmlformats.org/drawingml/2006/main">
            <a:pPr algn="ctr">
              <a:defRPr sz="1538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有符号就绪偏差</a:t>
            </a:r>
          </a:p>
        </p:txBody>
      </p:sp>
      <p:sp>
        <p:nvSpPr>
          <p:cNvPr id="23" name="candidate-line-560">
            <a:extLst xmlns:a="http://schemas.openxmlformats.org/drawingml/2006/main">
              <a:ext uri="{FF2B5EF4-FFF2-40B4-BE49-F238E27FC236}">
                <a16:creationId xmlns:a16="http://schemas.microsoft.com/office/drawing/2014/main" id="{02EF5FA2-E56C-46A8-9297-2BFABC8D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14625" y="2600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24" name="candidate-line-561">
            <a:extLst xmlns:a="http://schemas.openxmlformats.org/drawingml/2006/main">
              <a:ext uri="{FF2B5EF4-FFF2-40B4-BE49-F238E27FC236}">
                <a16:creationId xmlns:a16="http://schemas.microsoft.com/office/drawing/2014/main" id="{9FBC0B8D-8123-4633-9DE3-A2C985FC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00375" y="209550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25" name="candidate-arrow-562">
            <a:extLst xmlns:a="http://schemas.openxmlformats.org/drawingml/2006/main">
              <a:ext uri="{FF2B5EF4-FFF2-40B4-BE49-F238E27FC236}">
                <a16:creationId xmlns:a16="http://schemas.microsoft.com/office/drawing/2014/main" id="{8E8F5774-5CDE-4BCE-A21A-A8B40B468E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0375" y="2095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6" name="candidate-line-563">
            <a:extLst xmlns:a="http://schemas.openxmlformats.org/drawingml/2006/main">
              <a:ext uri="{FF2B5EF4-FFF2-40B4-BE49-F238E27FC236}">
                <a16:creationId xmlns:a16="http://schemas.microsoft.com/office/drawing/2014/main" id="{305127AD-1C99-4CF2-9B4C-F8A338E7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2600325"/>
            <a:ext cx="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cxnSp>
        <p:nvCxnSpPr>
          <p:cNvPr id="27" name="candidate-arrow-564">
            <a:extLst xmlns:a="http://schemas.openxmlformats.org/drawingml/2006/main">
              <a:ext uri="{FF2B5EF4-FFF2-40B4-BE49-F238E27FC236}">
                <a16:creationId xmlns:a16="http://schemas.microsoft.com/office/drawing/2014/main" id="{DB9C351D-08B0-483D-9B27-8FD12032BA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0375" y="3524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28" name="candidate-arrow-565">
            <a:extLst xmlns:a="http://schemas.openxmlformats.org/drawingml/2006/main">
              <a:ext uri="{FF2B5EF4-FFF2-40B4-BE49-F238E27FC236}">
                <a16:creationId xmlns:a16="http://schemas.microsoft.com/office/drawing/2014/main" id="{C38BB366-AAE4-4434-8B29-C6F3A5F59B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20955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9" name="candidate-text-566">
            <a:extLst xmlns:a="http://schemas.openxmlformats.org/drawingml/2006/main">
              <a:ext uri="{FF2B5EF4-FFF2-40B4-BE49-F238E27FC236}">
                <a16:creationId xmlns:a16="http://schemas.microsoft.com/office/drawing/2014/main" id="{502BBF3E-3674-40DB-AB62-7D3CA3C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526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候选表征</a:t>
            </a:r>
          </a:p>
        </p:txBody>
      </p:sp>
      <p:cxnSp>
        <p:nvCxnSpPr>
          <p:cNvPr id="30" name="candidate-arrow-567">
            <a:extLst xmlns:a="http://schemas.openxmlformats.org/drawingml/2006/main">
              <a:ext uri="{FF2B5EF4-FFF2-40B4-BE49-F238E27FC236}">
                <a16:creationId xmlns:a16="http://schemas.microsoft.com/office/drawing/2014/main" id="{0857BBD3-9EC2-4072-9D09-0C95D5629B2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3524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1" name="candidate-text-568">
            <a:extLst xmlns:a="http://schemas.openxmlformats.org/drawingml/2006/main">
              <a:ext uri="{FF2B5EF4-FFF2-40B4-BE49-F238E27FC236}">
                <a16:creationId xmlns:a16="http://schemas.microsoft.com/office/drawing/2014/main" id="{60C7C5F8-6104-477F-A106-2F72E652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28975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预测数值</a:t>
            </a:r>
          </a:p>
        </p:txBody>
      </p:sp>
      <p:cxnSp>
        <p:nvCxnSpPr>
          <p:cNvPr id="32" name="candidate-arrow-569">
            <a:extLst xmlns:a="http://schemas.openxmlformats.org/drawingml/2006/main">
              <a:ext uri="{FF2B5EF4-FFF2-40B4-BE49-F238E27FC236}">
                <a16:creationId xmlns:a16="http://schemas.microsoft.com/office/drawing/2014/main" id="{EB8DAF53-65C1-45FE-8EC8-A80C8669E81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391525" y="26193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3" name="candidate-text-570">
            <a:extLst xmlns:a="http://schemas.openxmlformats.org/drawingml/2006/main">
              <a:ext uri="{FF2B5EF4-FFF2-40B4-BE49-F238E27FC236}">
                <a16:creationId xmlns:a16="http://schemas.microsoft.com/office/drawing/2014/main" id="{23DBFA9F-9DB1-4C25-BBE4-282B3E3E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743200"/>
            <a:ext cx="1019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无梯度数值</a:t>
            </a:r>
          </a:p>
        </p:txBody>
      </p:sp>
      <p:cxnSp>
        <p:nvCxnSpPr>
          <p:cNvPr id="34" name="candidate-arrow-571">
            <a:extLst xmlns:a="http://schemas.openxmlformats.org/drawingml/2006/main">
              <a:ext uri="{FF2B5EF4-FFF2-40B4-BE49-F238E27FC236}">
                <a16:creationId xmlns:a16="http://schemas.microsoft.com/office/drawing/2014/main" id="{256FEBF7-94A0-493A-8E16-863B5E3CA1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48800" y="20955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5" name="candidate-text-572">
            <a:extLst xmlns:a="http://schemas.openxmlformats.org/drawingml/2006/main">
              <a:ext uri="{FF2B5EF4-FFF2-40B4-BE49-F238E27FC236}">
                <a16:creationId xmlns:a16="http://schemas.microsoft.com/office/drawing/2014/main" id="{A9E9ACCB-6E92-4E4F-B58C-757700A7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62125"/>
            <a:ext cx="409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动作</a:t>
            </a:r>
          </a:p>
        </p:txBody>
      </p:sp>
      <p:sp>
        <p:nvSpPr>
          <p:cNvPr id="36" name="candidate-line-573">
            <a:extLst xmlns:a="http://schemas.openxmlformats.org/drawingml/2006/main">
              <a:ext uri="{FF2B5EF4-FFF2-40B4-BE49-F238E27FC236}">
                <a16:creationId xmlns:a16="http://schemas.microsoft.com/office/drawing/2014/main" id="{2E56AD28-A82B-426B-94CD-4C90DF9F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19625" y="26193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37" name="candidate-arrow-574">
            <a:extLst xmlns:a="http://schemas.openxmlformats.org/drawingml/2006/main">
              <a:ext uri="{FF2B5EF4-FFF2-40B4-BE49-F238E27FC236}">
                <a16:creationId xmlns:a16="http://schemas.microsoft.com/office/drawing/2014/main" id="{7110B9E0-0FC0-461A-A5B1-791E3AF0A8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19625" y="3009900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8" name="candidate-text-575">
            <a:extLst xmlns:a="http://schemas.openxmlformats.org/drawingml/2006/main">
              <a:ext uri="{FF2B5EF4-FFF2-40B4-BE49-F238E27FC236}">
                <a16:creationId xmlns:a16="http://schemas.microsoft.com/office/drawing/2014/main" id="{80FDDCE4-E8FF-4015-B48A-E0D028B2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52725"/>
            <a:ext cx="1171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轨迹开始复制</a:t>
            </a:r>
          </a:p>
        </p:txBody>
      </p:sp>
      <p:sp>
        <p:nvSpPr>
          <p:cNvPr id="39" name="candidate-line-576">
            <a:extLst xmlns:a="http://schemas.openxmlformats.org/drawingml/2006/main">
              <a:ext uri="{FF2B5EF4-FFF2-40B4-BE49-F238E27FC236}">
                <a16:creationId xmlns:a16="http://schemas.microsoft.com/office/drawing/2014/main" id="{9F89C302-A9DB-400A-AFE4-C4AD35CD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0" y="377190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40" name="candidate-line-577">
            <a:extLst xmlns:a="http://schemas.openxmlformats.org/drawingml/2006/main">
              <a:ext uri="{FF2B5EF4-FFF2-40B4-BE49-F238E27FC236}">
                <a16:creationId xmlns:a16="http://schemas.microsoft.com/office/drawing/2014/main" id="{56113922-EEB9-4110-9132-4BCCAAD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666875" y="4181475"/>
            <a:ext cx="900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cxnSp>
        <p:nvCxnSpPr>
          <p:cNvPr id="41" name="candidate-arrow-578">
            <a:extLst xmlns:a="http://schemas.openxmlformats.org/drawingml/2006/main">
              <a:ext uri="{FF2B5EF4-FFF2-40B4-BE49-F238E27FC236}">
                <a16:creationId xmlns:a16="http://schemas.microsoft.com/office/drawing/2014/main" id="{7969AD46-1AF5-4C3D-8A10-436FC52E870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666875" y="3076575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42" name="candidate-text-579">
            <a:extLst xmlns:a="http://schemas.openxmlformats.org/drawingml/2006/main">
              <a:ext uri="{FF2B5EF4-FFF2-40B4-BE49-F238E27FC236}">
                <a16:creationId xmlns:a16="http://schemas.microsoft.com/office/drawing/2014/main" id="{33AE8338-86E5-4113-BA23-85A1E1F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433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事件刷新事实，每次决策重算</a:t>
            </a:r>
          </a:p>
        </p:txBody>
      </p:sp>
      <p:sp>
        <p:nvSpPr>
          <p:cNvPr id="43" name="candidate-line-580">
            <a:extLst xmlns:a="http://schemas.openxmlformats.org/drawingml/2006/main">
              <a:ext uri="{FF2B5EF4-FFF2-40B4-BE49-F238E27FC236}">
                <a16:creationId xmlns:a16="http://schemas.microsoft.com/office/drawing/2014/main" id="{898138B2-813F-451A-B191-D5256881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3529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44" name="candidate-text-581">
            <a:extLst xmlns:a="http://schemas.openxmlformats.org/drawingml/2006/main">
              <a:ext uri="{FF2B5EF4-FFF2-40B4-BE49-F238E27FC236}">
                <a16:creationId xmlns:a16="http://schemas.microsoft.com/office/drawing/2014/main" id="{3A6B28C6-79EE-41DB-8DF0-EB6E79D8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8175"/>
            <a:ext cx="890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事后学习：保存历史输入，分别回填实际时间标签</a:t>
            </a:r>
          </a:p>
        </p:txBody>
      </p:sp>
      <p:sp>
        <p:nvSpPr>
          <p:cNvPr id="45" name="candidate-box-582">
            <a:extLst xmlns:a="http://schemas.openxmlformats.org/drawingml/2006/main">
              <a:ext uri="{FF2B5EF4-FFF2-40B4-BE49-F238E27FC236}">
                <a16:creationId xmlns:a16="http://schemas.microsoft.com/office/drawing/2014/main" id="{557C0186-1508-46F5-A381-F3501B9E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6" name="candidate-text-583">
            <a:extLst xmlns:a="http://schemas.openxmlformats.org/drawingml/2006/main">
              <a:ext uri="{FF2B5EF4-FFF2-40B4-BE49-F238E27FC236}">
                <a16:creationId xmlns:a16="http://schemas.microsoft.com/office/drawing/2014/main" id="{5FCC1014-6085-4447-8AA8-565EC054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6255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逐决策保存历史输入</a:t>
            </a:r>
          </a:p>
        </p:txBody>
      </p:sp>
      <p:sp>
        <p:nvSpPr>
          <p:cNvPr id="47" name="candidate-text-584">
            <a:extLst xmlns:a="http://schemas.openxmlformats.org/drawingml/2006/main">
              <a:ext uri="{FF2B5EF4-FFF2-40B4-BE49-F238E27FC236}">
                <a16:creationId xmlns:a16="http://schemas.microsoft.com/office/drawing/2014/main" id="{CC590B01-6D17-4BE2-AD5C-0DF9DB77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673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及当时预测数值</a:t>
            </a:r>
          </a:p>
        </p:txBody>
      </p:sp>
      <p:sp>
        <p:nvSpPr>
          <p:cNvPr id="48" name="candidate-box-585">
            <a:extLst xmlns:a="http://schemas.openxmlformats.org/drawingml/2006/main">
              <a:ext uri="{FF2B5EF4-FFF2-40B4-BE49-F238E27FC236}">
                <a16:creationId xmlns:a16="http://schemas.microsoft.com/office/drawing/2014/main" id="{56B15B9F-F3DE-433B-9297-D6449D5C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5400"/>
            <a:ext cx="2590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9" name="candidate-text-586">
            <a:extLst xmlns:a="http://schemas.openxmlformats.org/drawingml/2006/main">
              <a:ext uri="{FF2B5EF4-FFF2-40B4-BE49-F238E27FC236}">
                <a16:creationId xmlns:a16="http://schemas.microsoft.com/office/drawing/2014/main" id="{7C82BFA3-FBA6-4D0E-966E-2CF5252E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62550"/>
            <a:ext cx="243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实际结果分别回填</a:t>
            </a:r>
          </a:p>
        </p:txBody>
      </p:sp>
      <p:sp>
        <p:nvSpPr>
          <p:cNvPr id="50" name="candidate-text-587">
            <a:extLst xmlns:a="http://schemas.openxmlformats.org/drawingml/2006/main">
              <a:ext uri="{FF2B5EF4-FFF2-40B4-BE49-F238E27FC236}">
                <a16:creationId xmlns:a16="http://schemas.microsoft.com/office/drawing/2014/main" id="{6E178883-46D7-4258-821B-0C71C732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673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当前／下周期时间标签</a:t>
            </a:r>
          </a:p>
        </p:txBody>
      </p:sp>
      <p:sp>
        <p:nvSpPr>
          <p:cNvPr id="51" name="candidate-box-588">
            <a:extLst xmlns:a="http://schemas.openxmlformats.org/drawingml/2006/main">
              <a:ext uri="{FF2B5EF4-FFF2-40B4-BE49-F238E27FC236}">
                <a16:creationId xmlns:a16="http://schemas.microsoft.com/office/drawing/2014/main" id="{8F642435-02BA-492A-B8DC-C1EBF32F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3162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2" name="candidate-text-589">
            <a:extLst xmlns:a="http://schemas.openxmlformats.org/drawingml/2006/main">
              <a:ext uri="{FF2B5EF4-FFF2-40B4-BE49-F238E27FC236}">
                <a16:creationId xmlns:a16="http://schemas.microsoft.com/office/drawing/2014/main" id="{9A749989-5B36-4B1A-8913-1CD05F99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1720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时间监督更新表示与预测头</a:t>
            </a:r>
          </a:p>
          <a:p xmlns:a="http://schemas.openxmlformats.org/drawingml/2006/main">
            <a:pPr algn="ctr">
              <a:defRPr sz="1575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PPO</a:t>
            </a:r>
            <a:r>
              <a:rPr b="0">
                <a:latin typeface="Droid Sans Fallback"/>
                <a:ea typeface="Droid Sans Fallback"/>
                <a:cs typeface="Droid Sans Fallback"/>
              </a:rPr>
              <a:t>更新表示与动作头</a:t>
            </a:r>
          </a:p>
        </p:txBody>
      </p:sp>
      <p:sp>
        <p:nvSpPr>
          <p:cNvPr id="53" name="candidate-text-590">
            <a:extLst xmlns:a="http://schemas.openxmlformats.org/drawingml/2006/main">
              <a:ext uri="{FF2B5EF4-FFF2-40B4-BE49-F238E27FC236}">
                <a16:creationId xmlns:a16="http://schemas.microsoft.com/office/drawing/2014/main" id="{EE8E0114-F7F1-4D3C-AFBB-71DDCDD6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43500"/>
            <a:ext cx="161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有效性掩码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待结算保留</a:t>
            </a:r>
          </a:p>
        </p:txBody>
      </p:sp>
      <p:cxnSp>
        <p:nvCxnSpPr>
          <p:cNvPr id="54" name="candidate-arrow-591">
            <a:extLst xmlns:a="http://schemas.openxmlformats.org/drawingml/2006/main">
              <a:ext uri="{FF2B5EF4-FFF2-40B4-BE49-F238E27FC236}">
                <a16:creationId xmlns:a16="http://schemas.microsoft.com/office/drawing/2014/main" id="{AB89F504-7E57-404A-BA9A-2BAA759156E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05125" y="54197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5" name="candidate-arrow-592">
            <a:extLst xmlns:a="http://schemas.openxmlformats.org/drawingml/2006/main">
              <a:ext uri="{FF2B5EF4-FFF2-40B4-BE49-F238E27FC236}">
                <a16:creationId xmlns:a16="http://schemas.microsoft.com/office/drawing/2014/main" id="{4715AC30-2CD8-410B-9DD1-6D5199B55D3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5419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6" name="candidate-line-593">
            <a:extLst xmlns:a="http://schemas.openxmlformats.org/drawingml/2006/main">
              <a:ext uri="{FF2B5EF4-FFF2-40B4-BE49-F238E27FC236}">
                <a16:creationId xmlns:a16="http://schemas.microsoft.com/office/drawing/2014/main" id="{A43CE16E-68D3-4D19-814E-DAD4621F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0" y="4181475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57" name="candidate-line-594">
            <a:extLst xmlns:a="http://schemas.openxmlformats.org/drawingml/2006/main">
              <a:ext uri="{FF2B5EF4-FFF2-40B4-BE49-F238E27FC236}">
                <a16:creationId xmlns:a16="http://schemas.microsoft.com/office/drawing/2014/main" id="{A6740B03-A5FB-42DA-898D-D7C9E606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19625" y="4829175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cxnSp>
        <p:nvCxnSpPr>
          <p:cNvPr id="58" name="candidate-arrow-595">
            <a:extLst xmlns:a="http://schemas.openxmlformats.org/drawingml/2006/main">
              <a:ext uri="{FF2B5EF4-FFF2-40B4-BE49-F238E27FC236}">
                <a16:creationId xmlns:a16="http://schemas.microsoft.com/office/drawing/2014/main" id="{FCBB93F0-2CBF-4EC3-9AFA-A3BBA2D6AD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19625" y="482917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9" name="candidate-text-596">
            <a:extLst xmlns:a="http://schemas.openxmlformats.org/drawingml/2006/main">
              <a:ext uri="{FF2B5EF4-FFF2-40B4-BE49-F238E27FC236}">
                <a16:creationId xmlns:a16="http://schemas.microsoft.com/office/drawing/2014/main" id="{F31D80FA-C988-466B-974B-7AC3585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572000"/>
            <a:ext cx="1362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Droid Sans Fallback"/>
                <a:ea typeface="Droid Sans Fallback"/>
                <a:cs typeface="Droid Sans Fallback"/>
              </a:rPr>
              <a:t>实际结果</a:t>
            </a:r>
          </a:p>
        </p:txBody>
      </p:sp>
      <p:sp>
        <p:nvSpPr>
          <p:cNvPr id="60" name="candidate-line-597">
            <a:extLst xmlns:a="http://schemas.openxmlformats.org/drawingml/2006/main">
              <a:ext uri="{FF2B5EF4-FFF2-40B4-BE49-F238E27FC236}">
                <a16:creationId xmlns:a16="http://schemas.microsoft.com/office/drawing/2014/main" id="{4CA63F3D-B3EE-4EF2-8E2E-D2718767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191250" y="51054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61" name="candidate-line-598">
            <a:extLst xmlns:a="http://schemas.openxmlformats.org/drawingml/2006/main">
              <a:ext uri="{FF2B5EF4-FFF2-40B4-BE49-F238E27FC236}">
                <a16:creationId xmlns:a16="http://schemas.microsoft.com/office/drawing/2014/main" id="{0C9AC8A8-A50D-4EBE-856F-3110E7EA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91250" y="2876550"/>
            <a:ext cx="0" cy="2228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62" name="candidate-line-599">
            <a:extLst xmlns:a="http://schemas.openxmlformats.org/drawingml/2006/main">
              <a:ext uri="{FF2B5EF4-FFF2-40B4-BE49-F238E27FC236}">
                <a16:creationId xmlns:a16="http://schemas.microsoft.com/office/drawing/2014/main" id="{7D86FB09-72B5-4B2C-9422-C5A2F408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619750" y="28765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cxnSp>
        <p:nvCxnSpPr>
          <p:cNvPr id="63" name="candidate-arrow-600">
            <a:extLst xmlns:a="http://schemas.openxmlformats.org/drawingml/2006/main">
              <a:ext uri="{FF2B5EF4-FFF2-40B4-BE49-F238E27FC236}">
                <a16:creationId xmlns:a16="http://schemas.microsoft.com/office/drawing/2014/main" id="{0EC7C425-F5E1-4E5E-8BD2-11D42B7CC72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619750" y="261937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dash"/>
            <a:tailEnd type="triangle" w="sm" len="sm"/>
          </a:ln>
        </p:spPr>
      </p:cxnSp>
      <p:sp>
        <p:nvSpPr>
          <p:cNvPr id="64" name="candidate-line-601">
            <a:extLst xmlns:a="http://schemas.openxmlformats.org/drawingml/2006/main">
              <a:ext uri="{FF2B5EF4-FFF2-40B4-BE49-F238E27FC236}">
                <a16:creationId xmlns:a16="http://schemas.microsoft.com/office/drawing/2014/main" id="{38892C80-0B27-4879-9D7D-194002E8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7800" y="51054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65" name="candidate-line-602">
            <a:extLst xmlns:a="http://schemas.openxmlformats.org/drawingml/2006/main">
              <a:ext uri="{FF2B5EF4-FFF2-40B4-BE49-F238E27FC236}">
                <a16:creationId xmlns:a16="http://schemas.microsoft.com/office/drawing/2014/main" id="{99A77619-8BE3-46FE-A58B-199728C4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39300" y="2867025"/>
            <a:ext cx="0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sp>
        <p:nvSpPr>
          <p:cNvPr id="66" name="candidate-line-603">
            <a:extLst xmlns:a="http://schemas.openxmlformats.org/drawingml/2006/main">
              <a:ext uri="{FF2B5EF4-FFF2-40B4-BE49-F238E27FC236}">
                <a16:creationId xmlns:a16="http://schemas.microsoft.com/office/drawing/2014/main" id="{B8B2502B-1FE9-4B6E-8998-55286D4E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144000" y="28670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dash"/>
          </a:ln>
        </p:spPr>
      </p:sp>
      <p:cxnSp>
        <p:nvCxnSpPr>
          <p:cNvPr id="67" name="candidate-arrow-604">
            <a:extLst xmlns:a="http://schemas.openxmlformats.org/drawingml/2006/main">
              <a:ext uri="{FF2B5EF4-FFF2-40B4-BE49-F238E27FC236}">
                <a16:creationId xmlns:a16="http://schemas.microsoft.com/office/drawing/2014/main" id="{04491A1F-E02D-4F6E-A7F4-1A7F2CE768C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144000" y="26193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dash"/>
            <a:tailEnd type="triangle" w="sm" len="sm"/>
          </a:ln>
        </p:spPr>
      </p:cxnSp>
      <p:sp>
        <p:nvSpPr>
          <p:cNvPr id="68" name="candidate-text-605">
            <a:extLst xmlns:a="http://schemas.openxmlformats.org/drawingml/2006/main">
              <a:ext uri="{FF2B5EF4-FFF2-40B4-BE49-F238E27FC236}">
                <a16:creationId xmlns:a16="http://schemas.microsoft.com/office/drawing/2014/main" id="{73AD04AE-8421-409F-9809-B0ECBE46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14650"/>
            <a:ext cx="447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</a:defRPr>
            </a:pPr>
            <a:r>
              <a:rPr b="0">
                <a:latin typeface="Nimbus Roman"/>
                <a:ea typeface="Nimbus Roman"/>
                <a:cs typeface="Nimbus Roman"/>
              </a:rPr>
              <a:t>PPO</a:t>
            </a:r>
          </a:p>
        </p:txBody>
      </p:sp>
      <p:sp>
        <p:nvSpPr>
          <p:cNvPr id="69" name="candidate-text-606">
            <a:extLst xmlns:a="http://schemas.openxmlformats.org/drawingml/2006/main">
              <a:ext uri="{FF2B5EF4-FFF2-40B4-BE49-F238E27FC236}">
                <a16:creationId xmlns:a16="http://schemas.microsoft.com/office/drawing/2014/main" id="{E9724CDA-F446-440B-9C36-512519AD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b="1">
                <a:latin typeface="Droid Sans Fallback"/>
                <a:ea typeface="Droid Sans Fallback"/>
                <a:cs typeface="Droid Sans Fallback"/>
              </a:rPr>
              <a:t>副本参数在整条生产轨迹内固定，现场输入与预测随事件更新，在线</a:t>
            </a:r>
            <a:r>
              <a:rPr b="1">
                <a:latin typeface="Nimbus Roman"/>
                <a:ea typeface="Nimbus Roman"/>
                <a:cs typeface="Nimbus Roman"/>
              </a:rPr>
              <a:t>Actor</a:t>
            </a:r>
            <a:r>
              <a:rPr b="1">
                <a:latin typeface="Droid Sans Fallback"/>
                <a:ea typeface="Droid Sans Fallback"/>
                <a:cs typeface="Droid Sans Fallback"/>
              </a:rPr>
              <a:t>继续学习</a:t>
            </a:r>
          </a:p>
        </p:txBody>
      </p:sp>
    </p:spTree>
    <p:extLst>
      <p:ext uri="{BB962C8B-B14F-4D97-AF65-F5344CB8AC3E}">
        <p14:creationId xmlns:p14="http://schemas.microsoft.com/office/powerpoint/2010/main" val="1225615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2026-10-09T04:48:12.3670000Z</dcterms:created>
  <dcterms:modified xsi:type="dcterms:W3CDTF">2026-10-09T04:48:12.3670000Z</dcterms:modified>
</coreProperties>
</file>