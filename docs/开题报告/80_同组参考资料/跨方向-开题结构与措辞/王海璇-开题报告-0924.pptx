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6" r:id="rId3"/>
    <p:sldId id="347" r:id="rId5"/>
    <p:sldId id="348" r:id="rId6"/>
    <p:sldId id="349" r:id="rId7"/>
    <p:sldId id="350" r:id="rId8"/>
    <p:sldId id="351" r:id="rId9"/>
    <p:sldId id="352" r:id="rId10"/>
    <p:sldId id="353" r:id="rId11"/>
    <p:sldId id="354" r:id="rId12"/>
    <p:sldId id="355" r:id="rId13"/>
    <p:sldId id="357" r:id="rId14"/>
    <p:sldId id="358" r:id="rId15"/>
    <p:sldId id="359" r:id="rId16"/>
    <p:sldId id="360" r:id="rId17"/>
    <p:sldId id="361" r:id="rId18"/>
    <p:sldId id="362" r:id="rId19"/>
    <p:sldId id="363" r:id="rId20"/>
    <p:sldId id="364" r:id="rId21"/>
    <p:sldId id="365" r:id="rId22"/>
    <p:sldId id="366" r:id="rId23"/>
    <p:sldId id="367" r:id="rId24"/>
  </p:sldIdLst>
  <p:sldSz cx="12192000" cy="6858000" type="screen16x9"/>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07.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18" name=""/>
        <p:cNvGrpSpPr/>
        <p:nvPr/>
      </p:nvGrpSpPr>
      <p:grpSpPr>
        <a:xfrm>
          <a:off x="0" y="0"/>
          <a:ext cx="0" cy="0"/>
          <a:chOff x="0" y="0"/>
          <a:chExt cx="0" cy="0"/>
        </a:xfrm>
      </p:grpSpPr>
      <p:sp>
        <p:nvSpPr>
          <p:cNvPr id="1048843"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44"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48845"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8846"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847"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48"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98" name="幻灯片图像占位符 1"/>
          <p:cNvSpPr>
            <a:spLocks noGrp="1" noRot="1" noChangeAspect="1"/>
          </p:cNvSpPr>
          <p:nvPr>
            <p:ph type="sldImg"/>
          </p:nvPr>
        </p:nvSpPr>
        <p:spPr/>
      </p:sp>
      <p:sp>
        <p:nvSpPr>
          <p:cNvPr id="1048699" name="备注占位符 2"/>
          <p:cNvSpPr>
            <a:spLocks noGrp="1"/>
          </p:cNvSpPr>
          <p:nvPr>
            <p:ph type="body" idx="1"/>
          </p:nvPr>
        </p:nvSpPr>
        <p:spPr/>
        <p:txBody>
          <a:bodyPr/>
          <a:p>
            <a:r>
              <a:rPr lang="zh-CN" altLang="en-US" dirty="0"/>
              <a:t>大家好！我是王海璇，本次组会我将进行开题汇报</a:t>
            </a:r>
            <a:endParaRPr lang="zh-CN" altLang="en-US" dirty="0"/>
          </a:p>
          <a:p>
            <a:r>
              <a:rPr lang="zh-CN" altLang="en-US" dirty="0"/>
              <a:t>我的研究课题是：</a:t>
            </a:r>
            <a:r>
              <a:rPr lang="zh-CN" b="1" dirty="0">
                <a:solidFill>
                  <a:schemeClr val="bg1"/>
                </a:solidFill>
                <a:latin typeface="+mj-ea"/>
                <a:ea typeface="+mj-ea"/>
                <a:sym typeface="+mn-ea"/>
              </a:rPr>
              <a:t>退化效应下航空零部件并行批处理调度与维护协同优化研究</a:t>
            </a:r>
            <a:endParaRPr lang="zh-CN" b="1" dirty="0">
              <a:solidFill>
                <a:schemeClr val="bg1"/>
              </a:solidFill>
              <a:latin typeface="+mj-ea"/>
              <a:ea typeface="+mj-ea"/>
            </a:endParaRPr>
          </a:p>
          <a:p>
            <a:endParaRPr lang="zh-CN" altLang="en-US" dirty="0"/>
          </a:p>
        </p:txBody>
      </p:sp>
      <p:sp>
        <p:nvSpPr>
          <p:cNvPr id="1048700" name="灯片编号占位符 3"/>
          <p:cNvSpPr>
            <a:spLocks noGrp="1"/>
          </p:cNvSpPr>
          <p:nvPr>
            <p:ph type="sldNum" sz="quarter" idx="10"/>
          </p:nvPr>
        </p:nvSpPr>
        <p:spPr/>
        <p:txBody>
          <a:bodyPr/>
          <a:p>
            <a:fld id="{20DF6D40-62BD-4332-A45C-BC60E90CE6F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87" name="幻灯片图像占位符 1"/>
          <p:cNvSpPr>
            <a:spLocks noGrp="1" noRot="1" noChangeAspect="1"/>
          </p:cNvSpPr>
          <p:nvPr>
            <p:ph type="sldImg"/>
          </p:nvPr>
        </p:nvSpPr>
        <p:spPr/>
      </p:sp>
      <p:sp>
        <p:nvSpPr>
          <p:cNvPr id="1048688" name="备注占位符 2"/>
          <p:cNvSpPr>
            <a:spLocks noGrp="1"/>
          </p:cNvSpPr>
          <p:nvPr>
            <p:ph type="body" idx="1"/>
          </p:nvPr>
        </p:nvSpPr>
        <p:spPr/>
        <p:txBody>
          <a:bodyPr/>
          <a:p>
            <a:endParaRPr lang="zh-CN" altLang="en-US" dirty="0"/>
          </a:p>
        </p:txBody>
      </p:sp>
      <p:sp>
        <p:nvSpPr>
          <p:cNvPr id="1048689" name="灯片编号占位符 3"/>
          <p:cNvSpPr>
            <a:spLocks noGrp="1"/>
          </p:cNvSpPr>
          <p:nvPr>
            <p:ph type="sldNum" sz="quarter" idx="5"/>
          </p:nvPr>
        </p:nvSpPr>
        <p:spPr/>
        <p:txBody>
          <a:bodyPr/>
          <a:p>
            <a:fld id="{F05682C6-BE15-415E-9985-CDCE9943C8C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r>
              <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rPr>
              <a:t>中国制造2025战略目标旨在推动我国从制造大国迈向制造强国。</a:t>
            </a:r>
            <a:r>
              <a:rPr lang="en-US" altLang="zh-CN" b="1"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sym typeface="+mn-ea"/>
              </a:rPr>
              <a:t>由于飞行器对寿命、可靠性及其他战技指标的苛刻要求，航空制造技术一直被视为工业制造领域的先进代表。</a:t>
            </a:r>
            <a:r>
              <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rPr>
              <a:t>航空制造的发展水平无疑成为衡量一个国家综合实力的重要标志。</a:t>
            </a:r>
            <a:endPar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rPr>
              <a:t>近年来，航空产业的快速发展带动了军用和民用航空市场的持续扩大。根据2015年中国国防白皮书《中国的军事战略》，军事力量建设已被提升为国家重要战略[]。与此同时，民用航空市场因经济和客流的快速增长而变得更加庞大，民航运输业在过去十年中保持了稳健的增长态势。</a:t>
            </a:r>
            <a:endPar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b="1"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sym typeface="+mn-ea"/>
              </a:rPr>
              <a:t>随着我国航空产业的蓬勃发展，航空标准零部件行业也迎来了前所未有的机遇与挑战，为我国制造业转型升级贡献力量。</a:t>
            </a:r>
            <a:endParaRPr lang="en-US" altLang="zh-CN" b="1"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pPr>
            <a:r>
              <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rPr>
              <a:t>在航空零部件生产过程中，由于热处理工序耗能高、加工时间长，已经成为航空标准件企业生产管理的重要工序。</a:t>
            </a:r>
            <a:r>
              <a:rPr lang="zh-CN" altLang="en-US" b="1" dirty="0">
                <a:latin typeface="微软雅黑" panose="020B0503020204020204" charset="-122"/>
                <a:ea typeface="微软雅黑" panose="020B0503020204020204" charset="-122"/>
                <a:sym typeface="+mn-ea"/>
              </a:rPr>
              <a:t>对产品制造周期、热处理无效能耗以及制造成本有着重要影响。</a:t>
            </a:r>
            <a:r>
              <a:rPr lang="zh-CN" altLang="en-US" b="1" dirty="0">
                <a:solidFill>
                  <a:srgbClr val="C00000"/>
                </a:solidFill>
                <a:latin typeface="微软雅黑" panose="020B0503020204020204" charset="-122"/>
                <a:ea typeface="微软雅黑" panose="020B0503020204020204" charset="-122"/>
                <a:sym typeface="+mn-ea"/>
              </a:rPr>
              <a:t>目前，热处理工序的合理调度与维护已经成为困扰航空标准零部件企业的难题之一。</a:t>
            </a:r>
            <a:endParaRPr lang="zh-CN" altLang="en-US" b="1"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54"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29" name="幻灯片图像占位符 1"/>
          <p:cNvSpPr>
            <a:spLocks noGrp="1" noRot="1" noChangeAspect="1"/>
          </p:cNvSpPr>
          <p:nvPr>
            <p:ph type="sldImg"/>
          </p:nvPr>
        </p:nvSpPr>
        <p:spPr/>
      </p:sp>
      <p:sp>
        <p:nvSpPr>
          <p:cNvPr id="1048630"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r>
              <a:rPr lang="zh-CN" altLang="en-US">
                <a:latin typeface="微软雅黑" panose="020B0503020204020204" charset="-122"/>
                <a:ea typeface="微软雅黑" panose="020B0503020204020204" charset="-122"/>
                <a:sym typeface="+mn-ea"/>
              </a:rPr>
              <a:t>航空零部件热处理环节具有以下的特点：</a:t>
            </a:r>
            <a:endParaRPr lang="zh-CN" altLang="en-US">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a:latin typeface="微软雅黑" panose="020B0503020204020204" charset="-122"/>
                <a:ea typeface="微软雅黑" panose="020B0503020204020204" charset="-122"/>
                <a:sym typeface="+mn-ea"/>
              </a:rPr>
              <a:t>首先它是典型的并行批处理调度问题，</a:t>
            </a:r>
            <a:r>
              <a:rPr lang="zh-CN" altLang="en-US" b="1" dirty="0">
                <a:solidFill>
                  <a:srgbClr val="0C4994"/>
                </a:solidFill>
                <a:latin typeface="Times New Roman" panose="02020603050405020304" pitchFamily="18" charset="0"/>
                <a:ea typeface="微软雅黑" panose="020B0503020204020204" charset="-122"/>
                <a:cs typeface="Times New Roman" panose="02020603050405020304" pitchFamily="18" charset="0"/>
                <a:sym typeface="+mn-ea"/>
              </a:rPr>
              <a:t>由</a:t>
            </a:r>
            <a:r>
              <a:rPr lang="en-US" altLang="zh-CN" b="1" dirty="0">
                <a:solidFill>
                  <a:srgbClr val="0C4994"/>
                </a:solidFill>
                <a:latin typeface="Times New Roman" panose="02020603050405020304" pitchFamily="18" charset="0"/>
                <a:ea typeface="微软雅黑" panose="020B0503020204020204" charset="-122"/>
                <a:cs typeface="Times New Roman" panose="02020603050405020304" pitchFamily="18" charset="0"/>
                <a:sym typeface="+mn-ea"/>
              </a:rPr>
              <a:t>批处理机进行处理，</a:t>
            </a:r>
            <a:r>
              <a:rPr lang="zh-CN" altLang="en-US" b="1" dirty="0">
                <a:solidFill>
                  <a:srgbClr val="0C4994"/>
                </a:solidFill>
                <a:latin typeface="Times New Roman" panose="02020603050405020304" pitchFamily="18" charset="0"/>
                <a:ea typeface="微软雅黑" panose="020B0503020204020204" charset="-122"/>
                <a:cs typeface="Times New Roman" panose="02020603050405020304" pitchFamily="18" charset="0"/>
                <a:sym typeface="+mn-ea"/>
              </a:rPr>
              <a:t>可</a:t>
            </a:r>
            <a:r>
              <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sym typeface="+mn-ea"/>
              </a:rPr>
              <a:t>同时加工同一族多个工件</a:t>
            </a:r>
            <a:endParaRPr lang="en-US" altLang="zh-CN">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a:latin typeface="微软雅黑" panose="020B0503020204020204" charset="-122"/>
                <a:ea typeface="微软雅黑" panose="020B0503020204020204" charset="-122"/>
                <a:sym typeface="+mn-ea"/>
              </a:rPr>
              <a:t>但是由于航空零部件品种繁多、批量小，加工任务具有多工件族不相容性，即不同材料的零部件不能同时进行热处理，同一材料如果工艺要求不同，也不能同时进行；</a:t>
            </a:r>
            <a:endParaRPr lang="zh-CN" altLang="en-US">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pPr>
            <a:r>
              <a:rPr lang="zh-CN"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sym typeface="+mn-ea"/>
              </a:rPr>
              <a:t>因此，我们需要开发</a:t>
            </a:r>
            <a:r>
              <a:rPr 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sym typeface="+mn-ea"/>
              </a:rPr>
              <a:t>高效的调度策略</a:t>
            </a:r>
            <a:r>
              <a:rPr lang="zh-CN"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sym typeface="+mn-ea"/>
              </a:rPr>
              <a:t>，以实现工件族的合理排序和设备资源的最大化利用</a:t>
            </a:r>
            <a:endParaRPr lang="zh-CN"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en-US" altLang="zh-CN">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pPr>
            <a:r>
              <a:rPr lang="zh-CN">
                <a:latin typeface="微软雅黑" panose="020B0503020204020204" charset="-122"/>
                <a:ea typeface="微软雅黑" panose="020B0503020204020204" charset="-122"/>
                <a:sym typeface="+mn-ea"/>
              </a:rPr>
              <a:t>其次，</a:t>
            </a:r>
            <a:r>
              <a:rPr lang="en-US" altLang="zh-CN" b="1" dirty="0">
                <a:solidFill>
                  <a:srgbClr val="000F82"/>
                </a:solidFill>
                <a:latin typeface="微软雅黑" panose="020B0503020204020204" charset="-122"/>
                <a:ea typeface="微软雅黑" panose="020B0503020204020204" charset="-122"/>
                <a:sym typeface="+mn-ea"/>
              </a:rPr>
              <a:t>热处理耗能高、耗时长</a:t>
            </a:r>
            <a:r>
              <a:rPr lang="zh-CN" altLang="en-US" b="1" dirty="0">
                <a:solidFill>
                  <a:srgbClr val="000F82"/>
                </a:solidFill>
                <a:latin typeface="微软雅黑" panose="020B0503020204020204" charset="-122"/>
                <a:ea typeface="微软雅黑" panose="020B0503020204020204" charset="-122"/>
                <a:sym typeface="+mn-ea"/>
              </a:rPr>
              <a:t>，导致</a:t>
            </a:r>
            <a:r>
              <a:rPr lang="zh-CN" altLang="en-US" b="1" dirty="0">
                <a:solidFill>
                  <a:srgbClr val="C00000"/>
                </a:solidFill>
                <a:latin typeface="微软雅黑" panose="020B0503020204020204" charset="-122"/>
                <a:ea typeface="微软雅黑" panose="020B0503020204020204" charset="-122"/>
                <a:sym typeface="+mn-ea"/>
              </a:rPr>
              <a:t>设备退化</a:t>
            </a:r>
            <a:r>
              <a:rPr lang="zh-CN" altLang="en-US" b="1" dirty="0">
                <a:solidFill>
                  <a:srgbClr val="000F82"/>
                </a:solidFill>
                <a:latin typeface="微软雅黑" panose="020B0503020204020204" charset="-122"/>
                <a:ea typeface="微软雅黑" panose="020B0503020204020204" charset="-122"/>
                <a:sym typeface="+mn-ea"/>
              </a:rPr>
              <a:t>加速，设备</a:t>
            </a:r>
            <a:r>
              <a:rPr lang="zh-CN" altLang="en-US" b="1" dirty="0">
                <a:solidFill>
                  <a:srgbClr val="C00000"/>
                </a:solidFill>
                <a:latin typeface="微软雅黑" panose="020B0503020204020204" charset="-122"/>
                <a:ea typeface="微软雅黑" panose="020B0503020204020204" charset="-122"/>
                <a:sym typeface="+mn-ea"/>
              </a:rPr>
              <a:t>维护需求</a:t>
            </a:r>
            <a:r>
              <a:rPr lang="zh-CN" altLang="en-US" b="1" dirty="0">
                <a:solidFill>
                  <a:srgbClr val="000F82"/>
                </a:solidFill>
                <a:latin typeface="微软雅黑" panose="020B0503020204020204" charset="-122"/>
                <a:ea typeface="微软雅黑" panose="020B0503020204020204" charset="-122"/>
                <a:sym typeface="+mn-ea"/>
              </a:rPr>
              <a:t>随之增加</a:t>
            </a:r>
            <a:endParaRPr lang="zh-CN" altLang="en-US" b="1" dirty="0">
              <a:solidFill>
                <a:srgbClr val="000F82"/>
              </a:solidFill>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sym typeface="+mn-ea"/>
              </a:rPr>
              <a:t>要建立相应的退化模型以及</a:t>
            </a:r>
            <a:r>
              <a:rPr lang="zh-CN" altLang="en-US" b="1" dirty="0">
                <a:solidFill>
                  <a:srgbClr val="C00000"/>
                </a:solidFill>
                <a:latin typeface="Times New Roman" panose="02020603050405020304" pitchFamily="18" charset="0"/>
                <a:ea typeface="微软雅黑" panose="020B0503020204020204" charset="-122"/>
                <a:cs typeface="Times New Roman" panose="02020603050405020304" pitchFamily="18" charset="0"/>
                <a:sym typeface="+mn-ea"/>
              </a:rPr>
              <a:t>协同维护机制</a:t>
            </a:r>
            <a:r>
              <a:rPr lang="zh-CN" altLang="en-US"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sym typeface="+mn-ea"/>
              </a:rPr>
              <a:t>，以实现热处理工序的整体优化和效能提升</a:t>
            </a:r>
            <a:endParaRPr lang="zh-CN" altLang="en-US"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zh-CN" altLang="en-US"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zh-CN" altLang="en-US"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31"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1" name="幻灯片图像占位符 1"/>
          <p:cNvSpPr>
            <a:spLocks noGrp="1" noRot="1" noChangeAspect="1"/>
          </p:cNvSpPr>
          <p:nvPr>
            <p:ph type="sldImg"/>
          </p:nvPr>
        </p:nvSpPr>
        <p:spPr/>
      </p:sp>
      <p:sp>
        <p:nvSpPr>
          <p:cNvPr id="1048592"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调度问题的描述方法（三元法）]为了更好地描述本课题所研究的问题，我们使用数学建模将不同研究类型和约束条件的实际调度问题转化为数学问题。目前，国内外学者较多采用三参数法来表示生产调度问题的描述。</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表示机器的运行环境，用以描述机器的类型与数量。具体可分为单机环境、等同并行机环境、不相关并行机环境等；</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则描述了调度问题的工件特征和约束条件，此部分可能包含多种内容。具体可分为批处理机、工件尺寸、工件是否兼容、维护活动等有关工作处理的细节的信息；</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表示调度问题的优化目标。与类似，它可能有多个优化目标，目标函数之间可用逗号分隔，常见的优化目标包括最大完工时间、总完工时间、总滞后时间等。</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这种方法通过三个关键参数来表示和分析生产调度问题，有助于深入理解调度问题的复杂性。</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本课题的研究重点在于航空零部件热处理过程中的并行批处理调度问题。在并行批处理调度领域，研究又主要分为单机批处理调度和并行机批处理调度两大类。并行批处理调度问题是在单机批处理调度的基础上发展起来的，它允许工件在多台机器上并行加工。与单机批处理调度相比，并行机批处理调度需要考虑如何在多台机器之间合理分配任务，这无疑增加了问题的复杂性和解决难度。本研究将主要集中在并行机环境下批处理调度问题的探讨。</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可以看出</a:t>
            </a:r>
            <a:r>
              <a:rPr lang="zh-CN" altLang="en-US" b="1" dirty="0">
                <a:solidFill>
                  <a:srgbClr val="000F82"/>
                </a:solidFill>
                <a:latin typeface="微软雅黑" panose="020B0503020204020204" charset="-122"/>
                <a:ea typeface="微软雅黑" panose="020B0503020204020204" charset="-122"/>
                <a:sym typeface="+mn-ea"/>
              </a:rPr>
              <a:t>并行批调度问题种类繁多、约束复杂</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593"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598" name="幻灯片图像占位符 1"/>
          <p:cNvSpPr>
            <a:spLocks noGrp="1" noRot="1" noChangeAspect="1"/>
          </p:cNvSpPr>
          <p:nvPr>
            <p:ph type="sldImg"/>
          </p:nvPr>
        </p:nvSpPr>
        <p:spPr/>
      </p:sp>
      <p:sp>
        <p:nvSpPr>
          <p:cNvPr id="1048599"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首先我们对相容工件进行调研</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并行批调度问题的核心是往往要解决三类子问题：批次形成，指派和批次排序</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批次形成，顾名思义即</a:t>
            </a:r>
            <a:r>
              <a:rPr lang="zh-CN" altLang="en-US" dirty="0">
                <a:latin typeface="微软雅黑" panose="020B0503020204020204" charset="-122"/>
                <a:ea typeface="微软雅黑" panose="020B0503020204020204" charset="-122"/>
                <a:sym typeface="+mn-ea"/>
              </a:rPr>
              <a:t>如何合理形成批次，一般受到与容量相关的特征</a:t>
            </a: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（包括工件大小[2]、二维尺寸[3]、机器容量[4]）等影响</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针对这一子问题的求解，我们可以参考单机的算法。主要集中于设计指派规则，早期主要首先将工件按加工时间排序排序，然后使用 First-Fit 或 Best-Fit 策略填充批量。</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随后，随着考虑环境的不断发咋，进一步在考虑未来到达、工件尺寸、截止日期等因素的基础上，通过不同的策略来形成批量，从而提高调度的性能</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指派环节，基于</a:t>
            </a:r>
            <a:r>
              <a:rPr lang="zh-CN" altLang="en-US" dirty="0">
                <a:latin typeface="微软雅黑" panose="020B0503020204020204" charset="-122"/>
                <a:ea typeface="微软雅黑" panose="020B0503020204020204" charset="-122"/>
                <a:sym typeface="+mn-ea"/>
              </a:rPr>
              <a:t>和批次形成环节的先后顺序，实现将工件或批次指派给具体机器的操作，通常和机器运行环境有关，通过启发式算法的解码部分</a:t>
            </a: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或单独设计指派规则实现、</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批次排序则是对某一台机器批次的合理排序，考虑与时间相关的工件特征，设计指派规则生成初始排序，再局部搜索最优</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00"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38" name="幻灯片图像占位符 1"/>
          <p:cNvSpPr>
            <a:spLocks noGrp="1" noRot="1" noChangeAspect="1"/>
          </p:cNvSpPr>
          <p:nvPr>
            <p:ph type="sldImg"/>
          </p:nvPr>
        </p:nvSpPr>
        <p:spPr/>
      </p:sp>
      <p:sp>
        <p:nvSpPr>
          <p:cNvPr id="1048639"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对于第一类的解决方案</a:t>
            </a:r>
            <a:endParaRPr kumimoji="0" lang="zh-CN" altLang="en-US"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一般可以视为两个阶段进行：</a:t>
            </a:r>
            <a:endParaRPr lang="zh-CN" altLang="en-US"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首先，根据工件特性以及相关约束条件，设计指派规则以指导</a:t>
            </a:r>
            <a:r>
              <a:rPr lang="zh-CN" altLang="en-US" b="1">
                <a:solidFill>
                  <a:srgbClr val="FF0000"/>
                </a:solidFill>
                <a:latin typeface="微软雅黑" panose="020B0503020204020204" charset="-122"/>
                <a:ea typeface="微软雅黑" panose="020B0503020204020204" charset="-122"/>
                <a:sym typeface="+mn-ea"/>
              </a:rPr>
              <a:t>不同子问题</a:t>
            </a:r>
            <a:r>
              <a:rPr lang="zh-CN" altLang="en-US" b="1">
                <a:latin typeface="微软雅黑" panose="020B0503020204020204" charset="-122"/>
                <a:ea typeface="微软雅黑" panose="020B0503020204020204" charset="-122"/>
                <a:sym typeface="+mn-ea"/>
              </a:rPr>
              <a:t>的调度决策；</a:t>
            </a:r>
            <a:endParaRPr lang="zh-CN" altLang="en-US"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其次，实现</a:t>
            </a:r>
            <a:r>
              <a:rPr lang="zh-CN" altLang="en-US" b="1">
                <a:solidFill>
                  <a:srgbClr val="FF0000"/>
                </a:solidFill>
                <a:latin typeface="微软雅黑" panose="020B0503020204020204" charset="-122"/>
                <a:ea typeface="微软雅黑" panose="020B0503020204020204" charset="-122"/>
                <a:sym typeface="+mn-ea"/>
              </a:rPr>
              <a:t>子问题间的交互</a:t>
            </a:r>
            <a:r>
              <a:rPr lang="zh-CN" altLang="en-US" b="1">
                <a:latin typeface="微软雅黑" panose="020B0503020204020204" charset="-122"/>
                <a:ea typeface="微软雅黑" panose="020B0503020204020204" charset="-122"/>
                <a:sym typeface="+mn-ea"/>
              </a:rPr>
              <a:t>，研究者进一步开发算法以寻找可行的调度方案。</a:t>
            </a:r>
            <a:endParaRPr lang="zh-CN" altLang="en-US"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该类算法可以有效地探索解空间，目前使用度较高。但算法执行时间和求解质量之间的平衡仍需进一步优化。</a:t>
            </a:r>
            <a:endParaRPr lang="zh-CN" altLang="en-US" b="1">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40"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61" name="幻灯片图像占位符 1"/>
          <p:cNvSpPr>
            <a:spLocks noGrp="1" noRot="1" noChangeAspect="1"/>
          </p:cNvSpPr>
          <p:nvPr>
            <p:ph type="sldImg"/>
          </p:nvPr>
        </p:nvSpPr>
        <p:spPr/>
      </p:sp>
      <p:sp>
        <p:nvSpPr>
          <p:cNvPr id="1048662"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而还有一类解决方案，将三个子问题合并在一起直接解决</a:t>
            </a: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这一类解决方案一般是基于邻域结构的算法，研究重点在设计解的结构和邻域搜索策略</a:t>
            </a:r>
            <a:endParaRPr lang="zh-CN" altLang="en-US"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在设计解的结构时往往</a:t>
            </a:r>
            <a:r>
              <a:rPr lang="zh-CN" altLang="en-US" b="1">
                <a:solidFill>
                  <a:srgbClr val="FF0000"/>
                </a:solidFill>
                <a:latin typeface="微软雅黑" panose="020B0503020204020204" charset="-122"/>
                <a:ea typeface="微软雅黑" panose="020B0503020204020204" charset="-122"/>
                <a:sym typeface="+mn-ea"/>
              </a:rPr>
              <a:t>基于批次形成和指派</a:t>
            </a:r>
            <a:r>
              <a:rPr lang="zh-CN" altLang="en-US" b="1">
                <a:latin typeface="微软雅黑" panose="020B0503020204020204" charset="-122"/>
                <a:ea typeface="微软雅黑" panose="020B0503020204020204" charset="-122"/>
                <a:sym typeface="+mn-ea"/>
              </a:rPr>
              <a:t>两个子问题形成合适的列表以体现调度方案</a:t>
            </a:r>
            <a:endParaRPr lang="zh-CN" altLang="en-US"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而在邻域搜索环节则一般考虑改变</a:t>
            </a:r>
            <a:r>
              <a:rPr lang="zh-CN" altLang="en-US" b="1">
                <a:solidFill>
                  <a:srgbClr val="FF0000"/>
                </a:solidFill>
                <a:latin typeface="微软雅黑" panose="020B0503020204020204" charset="-122"/>
                <a:ea typeface="微软雅黑" panose="020B0503020204020204" charset="-122"/>
                <a:sym typeface="+mn-ea"/>
              </a:rPr>
              <a:t>工件或批次的排列顺序或机器的指派</a:t>
            </a:r>
            <a:r>
              <a:rPr lang="zh-CN" altLang="en-US" b="1">
                <a:latin typeface="微软雅黑" panose="020B0503020204020204" charset="-122"/>
                <a:ea typeface="微软雅黑" panose="020B0503020204020204" charset="-122"/>
                <a:sym typeface="+mn-ea"/>
              </a:rPr>
              <a:t>方案，来寻找更好的解。</a:t>
            </a:r>
            <a:endParaRPr lang="zh-CN" altLang="en-US"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b="1">
                <a:latin typeface="微软雅黑" panose="020B0503020204020204" charset="-122"/>
                <a:ea typeface="微软雅黑" panose="020B0503020204020204" charset="-122"/>
                <a:sym typeface="+mn-ea"/>
              </a:rPr>
              <a:t>该类算法计算复杂度较低，但搜索效率较低。</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63"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708" name="幻灯片图像占位符 1"/>
          <p:cNvSpPr>
            <a:spLocks noGrp="1" noRot="1" noChangeAspect="1"/>
          </p:cNvSpPr>
          <p:nvPr>
            <p:ph type="sldImg"/>
          </p:nvPr>
        </p:nvSpPr>
        <p:spPr/>
      </p:sp>
      <p:sp>
        <p:nvSpPr>
          <p:cNvPr id="1048709"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考虑到航空零部件的种类繁多，存在工件族的特性，我们进一步对非相容调度问题进行调研</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a:latin typeface="微软雅黑" panose="020B0503020204020204" charset="-122"/>
                <a:ea typeface="微软雅黑" panose="020B0503020204020204" charset="-122"/>
                <a:sym typeface="+mn-ea"/>
              </a:rPr>
              <a:t>在进行批处理的时候，要求对于相同加工工艺的工件放到同一个批次，而属于</a:t>
            </a:r>
            <a:r>
              <a:rPr lang="zh-CN" altLang="en-US" b="1">
                <a:solidFill>
                  <a:srgbClr val="FF0000"/>
                </a:solidFill>
                <a:latin typeface="微软雅黑" panose="020B0503020204020204" charset="-122"/>
                <a:ea typeface="微软雅黑" panose="020B0503020204020204" charset="-122"/>
                <a:sym typeface="+mn-ea"/>
              </a:rPr>
              <a:t>不同工件族的工件不能放到同一个批次中</a:t>
            </a:r>
            <a:r>
              <a:rPr lang="zh-CN" altLang="en-US">
                <a:latin typeface="微软雅黑" panose="020B0503020204020204" charset="-122"/>
                <a:ea typeface="微软雅黑" panose="020B0503020204020204" charset="-122"/>
                <a:sym typeface="+mn-ea"/>
              </a:rPr>
              <a:t>进行加工。</a:t>
            </a:r>
            <a:r>
              <a:rPr lang="en-US" altLang="zh-CN">
                <a:latin typeface="微软雅黑" panose="020B0503020204020204" charset="-122"/>
                <a:ea typeface="微软雅黑" panose="020B0503020204020204" charset="-122"/>
                <a:sym typeface="+mn-ea"/>
              </a:rPr>
              <a:t>[10]</a:t>
            </a:r>
            <a:r>
              <a:rPr lang="zh-CN" altLang="en-US">
                <a:latin typeface="微软雅黑" panose="020B0503020204020204" charset="-122"/>
                <a:ea typeface="微软雅黑" panose="020B0503020204020204" charset="-122"/>
                <a:sym typeface="+mn-ea"/>
              </a:rPr>
              <a:t>这一类问题称为非相容工件族的批调度问题。</a:t>
            </a:r>
            <a:endParaRPr lang="zh-CN" altLang="en-US">
              <a:latin typeface="微软雅黑" panose="020B0503020204020204" charset="-122"/>
              <a:ea typeface="微软雅黑" panose="020B0503020204020204" charset="-122"/>
            </a:endParaRPr>
          </a:p>
          <a:p>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批次形成，由于不同的族无法放入同一批次加工，往往需要增加预检步骤来分类工件是否相容并在设计指派规则时需要加强约束[12][13]</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指派环节则主要增加了编码的复杂度</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在批次排序环节，主要的影响包括两点，一是设备从一个工件族加工转换到另一个工件族需要准备时间，因此</a:t>
            </a:r>
            <a:r>
              <a:rPr lang="zh-CN" altLang="en-US" b="1" kern="100" dirty="0">
                <a:solidFill>
                  <a:srgbClr val="FF0000"/>
                </a:solidFill>
                <a:effectLst/>
                <a:latin typeface="微软雅黑" panose="020B0503020204020204" charset="-122"/>
                <a:ea typeface="微软雅黑" panose="020B0503020204020204" charset="-122"/>
                <a:cs typeface="Times New Roman" panose="02020603050405020304" pitchFamily="18" charset="0"/>
                <a:sym typeface="+mn-ea"/>
              </a:rPr>
              <a:t>存在转换时间，</a:t>
            </a:r>
            <a:r>
              <a:rPr lang="zh-CN" altLang="en-US" dirty="0">
                <a:latin typeface="微软雅黑" panose="020B0503020204020204" charset="-122"/>
                <a:ea typeface="微软雅黑" panose="020B0503020204020204" charset="-122"/>
                <a:sym typeface="+mn-ea"/>
              </a:rPr>
              <a:t>批次排序过程中需要考虑将相同族的批次进行连续加工</a:t>
            </a:r>
            <a:endParaRPr lang="zh-CN" altLang="en-US" dirty="0">
              <a:latin typeface="微软雅黑" panose="020B0503020204020204" charset="-122"/>
              <a:ea typeface="微软雅黑" panose="020B0503020204020204" charset="-122"/>
            </a:endParaRPr>
          </a:p>
          <a:p>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不同族存在退化效应不同，这一点主要会在后面的维护活动协同中，带来动态退化效应与时间不确定性</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除此之外，批次族的约束会</a:t>
            </a:r>
            <a:r>
              <a:rPr lang="zh-CN" altLang="en-US" dirty="0">
                <a:solidFill>
                  <a:schemeClr val="dk1"/>
                </a:solidFill>
                <a:effectLst/>
                <a:latin typeface="微软雅黑" panose="020B0503020204020204" charset="-122"/>
                <a:ea typeface="微软雅黑" panose="020B0503020204020204" charset="-122"/>
                <a:sym typeface="+mn-ea"/>
              </a:rPr>
              <a:t>在邻域搜索的破坏与重建过程中容易产生大量新的无效解，算法设计带来困难</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10"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713" name="幻灯片图像占位符 1"/>
          <p:cNvSpPr>
            <a:spLocks noGrp="1" noRot="1" noChangeAspect="1"/>
          </p:cNvSpPr>
          <p:nvPr>
            <p:ph type="sldImg"/>
          </p:nvPr>
        </p:nvSpPr>
        <p:spPr/>
      </p:sp>
      <p:sp>
        <p:nvSpPr>
          <p:cNvPr id="1048714"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15"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726" name="幻灯片图像占位符 1"/>
          <p:cNvSpPr>
            <a:spLocks noGrp="1" noRot="1" noChangeAspect="1"/>
          </p:cNvSpPr>
          <p:nvPr>
            <p:ph type="sldImg"/>
          </p:nvPr>
        </p:nvSpPr>
        <p:spPr/>
      </p:sp>
      <p:sp>
        <p:nvSpPr>
          <p:cNvPr id="1048727"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28"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732" name="幻灯片图像占位符 1"/>
          <p:cNvSpPr>
            <a:spLocks noGrp="1" noRot="1" noChangeAspect="1"/>
          </p:cNvSpPr>
          <p:nvPr>
            <p:ph type="sldImg"/>
          </p:nvPr>
        </p:nvSpPr>
        <p:spPr/>
      </p:sp>
      <p:sp>
        <p:nvSpPr>
          <p:cNvPr id="1048733"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34"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739" name="幻灯片图像占位符 1"/>
          <p:cNvSpPr>
            <a:spLocks noGrp="1" noRot="1" noChangeAspect="1"/>
          </p:cNvSpPr>
          <p:nvPr>
            <p:ph type="sldImg"/>
          </p:nvPr>
        </p:nvSpPr>
        <p:spPr/>
      </p:sp>
      <p:sp>
        <p:nvSpPr>
          <p:cNvPr id="1048740"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41"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746" name="幻灯片图像占位符 1"/>
          <p:cNvSpPr>
            <a:spLocks noGrp="1" noRot="1" noChangeAspect="1"/>
          </p:cNvSpPr>
          <p:nvPr>
            <p:ph type="sldImg"/>
          </p:nvPr>
        </p:nvSpPr>
        <p:spPr/>
      </p:sp>
      <p:sp>
        <p:nvSpPr>
          <p:cNvPr id="1048747"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对多目标进化算法进行改进，实现动态种群调整以提高收敛性</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种群拆分为多个子种群，分别</a:t>
            </a:r>
            <a:r>
              <a:rPr lang="zh-CN" altLang="en-US" b="1" kern="100" dirty="0">
                <a:solidFill>
                  <a:srgbClr val="FF0000"/>
                </a:solidFill>
                <a:effectLst/>
                <a:latin typeface="微软雅黑" panose="020B0503020204020204" charset="-122"/>
                <a:ea typeface="微软雅黑" panose="020B0503020204020204" charset="-122"/>
                <a:cs typeface="Times New Roman" panose="02020603050405020304" pitchFamily="18" charset="0"/>
                <a:sym typeface="+mn-ea"/>
              </a:rPr>
              <a:t>选取有偏向性的不同策略进行协同进化，以实现全局搜索、局部寻优和平衡能力的互补。</a:t>
            </a:r>
            <a:r>
              <a:rPr lang="zh-CN" altLang="en-US" b="1" kern="100" dirty="0">
                <a:solidFill>
                  <a:srgbClr val="FF0000"/>
                </a:solidFill>
                <a:effectLst/>
                <a:latin typeface="微软雅黑" panose="020B0503020204020204" charset="-122"/>
                <a:ea typeface="微软雅黑" panose="020B0503020204020204" charset="-122"/>
                <a:cs typeface="Times New Roman" panose="02020603050405020304" pitchFamily="18" charset="0"/>
                <a:sym typeface="+mn-ea"/>
              </a:rPr>
              <a:t>每种变异策略分配不同的邻域，以适应不同进化阶段的需求。</a:t>
            </a:r>
            <a:endParaRPr lang="zh-CN" altLang="en-US" b="1" kern="100" dirty="0">
              <a:solidFill>
                <a:srgbClr val="FF0000"/>
              </a:solidFill>
              <a:effectLst/>
              <a:latin typeface="微软雅黑" panose="020B0503020204020204" charset="-122"/>
              <a:ea typeface="微软雅黑" panose="020B0503020204020204" charset="-122"/>
              <a:cs typeface="Times New Roman" panose="02020603050405020304" pitchFamily="18" charset="0"/>
              <a:sym typeface="+mn-ea"/>
            </a:endParaRPr>
          </a:p>
          <a:p>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引入强化学习机制，根据种群状态，动态调整子种群规模，确保各策略的占比与当前进化阶段的需求相适应，从而避免进化停滞，保持算法的高效性。</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48"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753" name="幻灯片图像占位符 1"/>
          <p:cNvSpPr>
            <a:spLocks noGrp="1" noRot="1" noChangeAspect="1"/>
          </p:cNvSpPr>
          <p:nvPr>
            <p:ph type="sldImg"/>
          </p:nvPr>
        </p:nvSpPr>
        <p:spPr/>
      </p:sp>
      <p:sp>
        <p:nvSpPr>
          <p:cNvPr id="1048754"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r>
              <a:rPr lang="zh-CN" kern="100" dirty="0">
                <a:latin typeface="微软雅黑" panose="020B0503020204020204" charset="-122"/>
                <a:ea typeface="微软雅黑" panose="020B0503020204020204" charset="-122"/>
                <a:cs typeface="Times New Roman" panose="02020603050405020304" pitchFamily="18" charset="0"/>
                <a:sym typeface="+mn-ea"/>
              </a:rPr>
              <a:t>在研究动态退化效应下非相容工件的并行批处理调度与维护协同优化问题中</a:t>
            </a: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我们提出了一种基于多智能体强化学习的方法来解决生产调度与维护活动的协同优化问题。</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该多智能体系统由两个主要部分构成：调度智能体和维护智能体。调度智能体的任务是制定最优的生产计划，旨在最小化加工时长、能耗、成本等关键指标。在调度智能体的设计中，融入研究内容1和2中的形成与调度环节所设计的启发式规则，并将这些规则作为智能体的动作策略，以优化调度决策。</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与此同时，</a:t>
            </a: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对退化效应进行进一步的研究，</a:t>
            </a:r>
            <a:r>
              <a:rPr lang="zh-CN" altLang="en-US" kern="100" dirty="0">
                <a:latin typeface="+mn-ea"/>
                <a:cs typeface="+mn-ea"/>
                <a:sym typeface="+mn-ea"/>
              </a:rPr>
              <a:t>进一步考虑退化效应随工件族变化的动态环境，</a:t>
            </a:r>
            <a:r>
              <a:rPr lang="en-US" altLang="zh-CN" b="1" kern="100" dirty="0">
                <a:solidFill>
                  <a:srgbClr val="FF0000"/>
                </a:solidFill>
                <a:effectLst/>
                <a:latin typeface="微软雅黑" panose="020B0503020204020204" charset="-122"/>
                <a:ea typeface="微软雅黑" panose="020B0503020204020204" charset="-122"/>
                <a:cs typeface="Times New Roman" panose="02020603050405020304" pitchFamily="18" charset="0"/>
                <a:sym typeface="+mn-ea"/>
              </a:rPr>
              <a:t>维护智能体</a:t>
            </a:r>
            <a:r>
              <a:rPr lang="zh-CN" altLang="en-US" b="1" kern="100" dirty="0">
                <a:solidFill>
                  <a:srgbClr val="FF0000"/>
                </a:solidFill>
                <a:effectLst/>
                <a:latin typeface="微软雅黑" panose="020B0503020204020204" charset="-122"/>
                <a:ea typeface="微软雅黑" panose="020B0503020204020204" charset="-122"/>
                <a:cs typeface="Times New Roman" panose="02020603050405020304" pitchFamily="18" charset="0"/>
                <a:sym typeface="+mn-ea"/>
              </a:rPr>
              <a:t>将</a:t>
            </a: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分析设备的状态，执行预防性维护活动，以确保设备的持续可靠性和高效运行，避免设备故障引发的生产中断。维护智能体的决策涉及维护时机和维护类型。</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多智能体强化学习的架构如</a:t>
            </a: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图</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在多智能体协同学习中需要考虑如何实现两个智能体在同一个重放缓冲区中有效共享经验，同时确保每个智能体都能从共享的经验中学习到有用的信息以实现生产调度与维护活动的交互。并且如何设计算法使得调度智能体和维护智能体能够有效地协同工作的同时保持各自策略的独立性。</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（1）初始化：</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初始化行动者网络、批评家网络和重放缓冲区。</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（2）环境交互：</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由两个智能体的行动者和评论家计算出联合行动者 π_env，并通过联合行动者网络传递到环境中。环境将会根据这些动作提供下一个状态和奖励。利用联合行动者网络的这种交互方式考虑到了两个智能体的协同决策。</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（3）样本采集与存储：</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从环境中采样得到的状态、动作、奖励和下一个状态被存储在重放缓冲区中。</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（4）学习过程：</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调度智能体和维护智能体分别从回放缓冲区中采样一批数据。两个智能体在同一个回放缓冲区中采样经验，这种共享经验的方式有利于智能体学习到更丰富的行为。</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通过对 π_Φ_1 和 π_Φ_2并基于Q_θ1、Q_θ2、Q_θ3、Q_θ4计算出联合行动者π_guide_1和π_guide_2进行指导。保证了两个智能体之间的交互协作，使得学习更加有效。</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（5）同步更新：</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定期同步目标批评家网络的权重，以确保它们不会过快地偏离在线批评家网络。</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（6）重复迭代：</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不断重复这一过程，直到达到预定的收敛条件或最大迭代次数。</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55"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760" name="幻灯片图像占位符 1"/>
          <p:cNvSpPr>
            <a:spLocks noGrp="1" noRot="1" noChangeAspect="1"/>
          </p:cNvSpPr>
          <p:nvPr>
            <p:ph type="sldImg"/>
          </p:nvPr>
        </p:nvSpPr>
        <p:spPr/>
      </p:sp>
      <p:sp>
        <p:nvSpPr>
          <p:cNvPr id="1048761"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62"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767" name="幻灯片图像占位符 1"/>
          <p:cNvSpPr>
            <a:spLocks noGrp="1" noRot="1" noChangeAspect="1"/>
          </p:cNvSpPr>
          <p:nvPr>
            <p:ph type="sldImg"/>
          </p:nvPr>
        </p:nvSpPr>
        <p:spPr/>
      </p:sp>
      <p:sp>
        <p:nvSpPr>
          <p:cNvPr id="1048768"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69"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775" name="幻灯片图像占位符 1"/>
          <p:cNvSpPr>
            <a:spLocks noGrp="1" noRot="1" noChangeAspect="1"/>
          </p:cNvSpPr>
          <p:nvPr>
            <p:ph type="sldImg"/>
          </p:nvPr>
        </p:nvSpPr>
        <p:spPr/>
      </p:sp>
      <p:sp>
        <p:nvSpPr>
          <p:cNvPr id="1048776"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77"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781" name="幻灯片图像占位符 1"/>
          <p:cNvSpPr>
            <a:spLocks noGrp="1" noRot="1" noChangeAspect="1"/>
          </p:cNvSpPr>
          <p:nvPr>
            <p:ph type="sldImg"/>
          </p:nvPr>
        </p:nvSpPr>
        <p:spPr/>
      </p:sp>
      <p:sp>
        <p:nvSpPr>
          <p:cNvPr id="1048782"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83"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787" name="幻灯片图像占位符 1"/>
          <p:cNvSpPr>
            <a:spLocks noGrp="1" noRot="1" noChangeAspect="1"/>
          </p:cNvSpPr>
          <p:nvPr>
            <p:ph type="sldImg"/>
          </p:nvPr>
        </p:nvSpPr>
        <p:spPr/>
      </p:sp>
      <p:sp>
        <p:nvSpPr>
          <p:cNvPr id="1048788"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89" name="灯片编号占位符 3"/>
          <p:cNvSpPr>
            <a:spLocks noGrp="1"/>
          </p:cNvSpPr>
          <p:nvPr>
            <p:ph type="sldNum" sz="quarter" idx="5"/>
          </p:nvPr>
        </p:nvSpPr>
        <p:spPr/>
        <p:txBody>
          <a:bodyPr/>
          <a:p>
            <a:fld id="{11F0D06E-EB29-4662-B5EC-0BDFC722356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794" name="幻灯片图像占位符 1"/>
          <p:cNvSpPr>
            <a:spLocks noGrp="1" noRot="1" noChangeAspect="1"/>
          </p:cNvSpPr>
          <p:nvPr>
            <p:ph type="sldImg"/>
          </p:nvPr>
        </p:nvSpPr>
        <p:spPr/>
      </p:sp>
      <p:sp>
        <p:nvSpPr>
          <p:cNvPr id="1048795" name="备注占位符 2"/>
          <p:cNvSpPr>
            <a:spLocks noGrp="1"/>
          </p:cNvSpPr>
          <p:nvPr>
            <p:ph type="body" idx="1"/>
          </p:nvPr>
        </p:nvSpPr>
        <p:spPr/>
        <p:txBody>
          <a:bodyPr/>
          <a:p>
            <a:endParaRPr lang="zh-CN" altLang="en-US" dirty="0"/>
          </a:p>
        </p:txBody>
      </p:sp>
      <p:sp>
        <p:nvSpPr>
          <p:cNvPr id="1048796" name="灯片编号占位符 3"/>
          <p:cNvSpPr>
            <a:spLocks noGrp="1"/>
          </p:cNvSpPr>
          <p:nvPr>
            <p:ph type="sldNum" sz="quarter" idx="5"/>
          </p:nvPr>
        </p:nvSpPr>
        <p:spPr/>
        <p:txBody>
          <a:bodyPr/>
          <a:p>
            <a:fld id="{20DF6D40-62BD-4332-A45C-BC60E90CE6F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24" name=""/>
        <p:cNvGrpSpPr/>
        <p:nvPr/>
      </p:nvGrpSpPr>
      <p:grpSpPr>
        <a:xfrm>
          <a:off x="0" y="0"/>
          <a:ext cx="0" cy="0"/>
          <a:chOff x="0" y="0"/>
          <a:chExt cx="0" cy="0"/>
        </a:xfrm>
      </p:grpSpPr>
      <p:sp>
        <p:nvSpPr>
          <p:cNvPr id="1048581"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1048582"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048583" name="日期占位符 15"/>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584" name="页脚占位符 16"/>
          <p:cNvSpPr>
            <a:spLocks noGrp="1"/>
          </p:cNvSpPr>
          <p:nvPr>
            <p:ph type="ftr" sz="quarter" idx="11"/>
            <p:custDataLst>
              <p:tags r:id="rId5"/>
            </p:custDataLst>
          </p:nvPr>
        </p:nvSpPr>
        <p:spPr/>
        <p:txBody>
          <a:bodyPr/>
          <a:p>
            <a:endParaRPr lang="zh-CN" altLang="en-US" dirty="0"/>
          </a:p>
        </p:txBody>
      </p:sp>
      <p:sp>
        <p:nvSpPr>
          <p:cNvPr id="1048585" name="灯片编号占位符 17"/>
          <p:cNvSpPr>
            <a:spLocks noGrp="1"/>
          </p:cNvSpPr>
          <p:nvPr>
            <p:ph type="sldNum" sz="quarter" idx="12"/>
            <p:custDataLst>
              <p:tags r:id="rId6"/>
            </p:custDataLst>
          </p:nvPr>
        </p:nvSpPr>
        <p:spPr/>
        <p:txBody>
          <a:bodyPr/>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55" name=""/>
        <p:cNvGrpSpPr/>
        <p:nvPr/>
      </p:nvGrpSpPr>
      <p:grpSpPr>
        <a:xfrm>
          <a:off x="0" y="0"/>
          <a:ext cx="0" cy="0"/>
          <a:chOff x="0" y="0"/>
          <a:chExt cx="0" cy="0"/>
        </a:xfrm>
      </p:grpSpPr>
      <p:sp>
        <p:nvSpPr>
          <p:cNvPr id="1048664"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665"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666"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667" name="页脚占位符 4"/>
          <p:cNvSpPr>
            <a:spLocks noGrp="1"/>
          </p:cNvSpPr>
          <p:nvPr>
            <p:ph type="ftr" sz="quarter" idx="11"/>
            <p:custDataLst>
              <p:tags r:id="rId5"/>
            </p:custDataLst>
          </p:nvPr>
        </p:nvSpPr>
        <p:spPr/>
        <p:txBody>
          <a:bodyPr/>
          <a:p>
            <a:endParaRPr lang="zh-CN" altLang="en-US"/>
          </a:p>
        </p:txBody>
      </p:sp>
      <p:sp>
        <p:nvSpPr>
          <p:cNvPr id="1048668"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13" name=""/>
        <p:cNvGrpSpPr/>
        <p:nvPr/>
      </p:nvGrpSpPr>
      <p:grpSpPr>
        <a:xfrm>
          <a:off x="0" y="0"/>
          <a:ext cx="0" cy="0"/>
          <a:chOff x="0" y="0"/>
          <a:chExt cx="0" cy="0"/>
        </a:xfrm>
      </p:grpSpPr>
      <p:sp>
        <p:nvSpPr>
          <p:cNvPr id="1048815"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1048816"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817"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818" name="页脚占位符 4"/>
          <p:cNvSpPr>
            <a:spLocks noGrp="1"/>
          </p:cNvSpPr>
          <p:nvPr>
            <p:ph type="ftr" sz="quarter" idx="11"/>
            <p:custDataLst>
              <p:tags r:id="rId5"/>
            </p:custDataLst>
          </p:nvPr>
        </p:nvSpPr>
        <p:spPr/>
        <p:txBody>
          <a:bodyPr/>
          <a:p>
            <a:endParaRPr lang="zh-CN" altLang="en-US"/>
          </a:p>
        </p:txBody>
      </p:sp>
      <p:sp>
        <p:nvSpPr>
          <p:cNvPr id="1048819"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14" name=""/>
        <p:cNvGrpSpPr/>
        <p:nvPr/>
      </p:nvGrpSpPr>
      <p:grpSpPr>
        <a:xfrm>
          <a:off x="0" y="0"/>
          <a:ext cx="0" cy="0"/>
          <a:chOff x="0" y="0"/>
          <a:chExt cx="0" cy="0"/>
        </a:xfrm>
      </p:grpSpPr>
      <p:sp>
        <p:nvSpPr>
          <p:cNvPr id="1048820"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821"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822"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823" name="日期占位符 4"/>
          <p:cNvSpPr>
            <a:spLocks noGrp="1"/>
          </p:cNvSpPr>
          <p:nvPr>
            <p:ph type="dt" sz="half" idx="10"/>
            <p:custDataLst>
              <p:tags r:id="rId5"/>
            </p:custDataLst>
          </p:nvPr>
        </p:nvSpPr>
        <p:spPr/>
        <p:txBody>
          <a:bodyPr/>
          <a:p>
            <a:fld id="{760FBDFE-C587-4B4C-A407-44438C67B59E}" type="datetimeFigureOut">
              <a:rPr lang="zh-CN" altLang="en-US" smtClean="0"/>
            </a:fld>
            <a:endParaRPr lang="zh-CN" altLang="en-US"/>
          </a:p>
        </p:txBody>
      </p:sp>
      <p:sp>
        <p:nvSpPr>
          <p:cNvPr id="1048824" name="页脚占位符 5"/>
          <p:cNvSpPr>
            <a:spLocks noGrp="1"/>
          </p:cNvSpPr>
          <p:nvPr>
            <p:ph type="ftr" sz="quarter" idx="11"/>
            <p:custDataLst>
              <p:tags r:id="rId6"/>
            </p:custDataLst>
          </p:nvPr>
        </p:nvSpPr>
        <p:spPr/>
        <p:txBody>
          <a:bodyPr/>
          <a:p>
            <a:endParaRPr lang="zh-CN" altLang="en-US"/>
          </a:p>
        </p:txBody>
      </p:sp>
      <p:sp>
        <p:nvSpPr>
          <p:cNvPr id="1048825" name="灯片编号占位符 6"/>
          <p:cNvSpPr>
            <a:spLocks noGrp="1"/>
          </p:cNvSpPr>
          <p:nvPr>
            <p:ph type="sldNum" sz="quarter" idx="12"/>
            <p:custDataLst>
              <p:tags r:id="rId7"/>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15" name=""/>
        <p:cNvGrpSpPr/>
        <p:nvPr/>
      </p:nvGrpSpPr>
      <p:grpSpPr>
        <a:xfrm>
          <a:off x="0" y="0"/>
          <a:ext cx="0" cy="0"/>
          <a:chOff x="0" y="0"/>
          <a:chExt cx="0" cy="0"/>
        </a:xfrm>
      </p:grpSpPr>
      <p:sp>
        <p:nvSpPr>
          <p:cNvPr id="1048826"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827"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828"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829"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1048830"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831" name="日期占位符 6"/>
          <p:cNvSpPr>
            <a:spLocks noGrp="1"/>
          </p:cNvSpPr>
          <p:nvPr>
            <p:ph type="dt" sz="half" idx="10"/>
            <p:custDataLst>
              <p:tags r:id="rId7"/>
            </p:custDataLst>
          </p:nvPr>
        </p:nvSpPr>
        <p:spPr/>
        <p:txBody>
          <a:bodyPr/>
          <a:p>
            <a:fld id="{760FBDFE-C587-4B4C-A407-44438C67B59E}" type="datetimeFigureOut">
              <a:rPr lang="zh-CN" altLang="en-US" smtClean="0"/>
            </a:fld>
            <a:endParaRPr lang="zh-CN" altLang="en-US"/>
          </a:p>
        </p:txBody>
      </p:sp>
      <p:sp>
        <p:nvSpPr>
          <p:cNvPr id="1048832" name="页脚占位符 7"/>
          <p:cNvSpPr>
            <a:spLocks noGrp="1"/>
          </p:cNvSpPr>
          <p:nvPr>
            <p:ph type="ftr" sz="quarter" idx="11"/>
            <p:custDataLst>
              <p:tags r:id="rId8"/>
            </p:custDataLst>
          </p:nvPr>
        </p:nvSpPr>
        <p:spPr/>
        <p:txBody>
          <a:bodyPr/>
          <a:p>
            <a:endParaRPr lang="zh-CN" altLang="en-US"/>
          </a:p>
        </p:txBody>
      </p:sp>
      <p:sp>
        <p:nvSpPr>
          <p:cNvPr id="1048833" name="灯片编号占位符 8"/>
          <p:cNvSpPr>
            <a:spLocks noGrp="1"/>
          </p:cNvSpPr>
          <p:nvPr>
            <p:ph type="sldNum" sz="quarter" idx="12"/>
            <p:custDataLst>
              <p:tags r:id="rId9"/>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09" name=""/>
        <p:cNvGrpSpPr/>
        <p:nvPr/>
      </p:nvGrpSpPr>
      <p:grpSpPr>
        <a:xfrm>
          <a:off x="0" y="0"/>
          <a:ext cx="0" cy="0"/>
          <a:chOff x="0" y="0"/>
          <a:chExt cx="0" cy="0"/>
        </a:xfrm>
      </p:grpSpPr>
      <p:sp>
        <p:nvSpPr>
          <p:cNvPr id="1048797"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798" name="日期占位符 2"/>
          <p:cNvSpPr>
            <a:spLocks noGrp="1"/>
          </p:cNvSpPr>
          <p:nvPr>
            <p:ph type="dt" sz="half" idx="10"/>
            <p:custDataLst>
              <p:tags r:id="rId3"/>
            </p:custDataLst>
          </p:nvPr>
        </p:nvSpPr>
        <p:spPr/>
        <p:txBody>
          <a:bodyPr/>
          <a:p>
            <a:fld id="{760FBDFE-C587-4B4C-A407-44438C67B59E}" type="datetimeFigureOut">
              <a:rPr lang="zh-CN" altLang="en-US" smtClean="0"/>
            </a:fld>
            <a:endParaRPr lang="zh-CN" altLang="en-US"/>
          </a:p>
        </p:txBody>
      </p:sp>
      <p:sp>
        <p:nvSpPr>
          <p:cNvPr id="1048799" name="页脚占位符 3"/>
          <p:cNvSpPr>
            <a:spLocks noGrp="1"/>
          </p:cNvSpPr>
          <p:nvPr>
            <p:ph type="ftr" sz="quarter" idx="11"/>
            <p:custDataLst>
              <p:tags r:id="rId4"/>
            </p:custDataLst>
          </p:nvPr>
        </p:nvSpPr>
        <p:spPr/>
        <p:txBody>
          <a:bodyPr/>
          <a:p>
            <a:endParaRPr lang="zh-CN" altLang="en-US"/>
          </a:p>
        </p:txBody>
      </p:sp>
      <p:sp>
        <p:nvSpPr>
          <p:cNvPr id="1048800" name="灯片编号占位符 4"/>
          <p:cNvSpPr>
            <a:spLocks noGrp="1"/>
          </p:cNvSpPr>
          <p:nvPr>
            <p:ph type="sldNum" sz="quarter" idx="12"/>
            <p:custDataLst>
              <p:tags r:id="rId5"/>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16" name=""/>
        <p:cNvGrpSpPr/>
        <p:nvPr/>
      </p:nvGrpSpPr>
      <p:grpSpPr>
        <a:xfrm>
          <a:off x="0" y="0"/>
          <a:ext cx="0" cy="0"/>
          <a:chOff x="0" y="0"/>
          <a:chExt cx="0" cy="0"/>
        </a:xfrm>
      </p:grpSpPr>
      <p:sp>
        <p:nvSpPr>
          <p:cNvPr id="1048834" name="日期占位符 1"/>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8835" name="页脚占位符 2"/>
          <p:cNvSpPr>
            <a:spLocks noGrp="1"/>
          </p:cNvSpPr>
          <p:nvPr>
            <p:ph type="ftr" sz="quarter" idx="11"/>
            <p:custDataLst>
              <p:tags r:id="rId3"/>
            </p:custDataLst>
          </p:nvPr>
        </p:nvSpPr>
        <p:spPr/>
        <p:txBody>
          <a:bodyPr/>
          <a:p>
            <a:endParaRPr lang="zh-CN" altLang="en-US"/>
          </a:p>
        </p:txBody>
      </p:sp>
      <p:sp>
        <p:nvSpPr>
          <p:cNvPr id="1048836" name="灯片编号占位符 3"/>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17" name=""/>
        <p:cNvGrpSpPr/>
        <p:nvPr/>
      </p:nvGrpSpPr>
      <p:grpSpPr>
        <a:xfrm>
          <a:off x="0" y="0"/>
          <a:ext cx="0" cy="0"/>
          <a:chOff x="0" y="0"/>
          <a:chExt cx="0" cy="0"/>
        </a:xfrm>
      </p:grpSpPr>
      <p:sp>
        <p:nvSpPr>
          <p:cNvPr id="1048837"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1048838"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1048839" name="日期占位符 4"/>
          <p:cNvSpPr>
            <a:spLocks noGrp="1"/>
          </p:cNvSpPr>
          <p:nvPr>
            <p:ph type="dt" sz="half" idx="10"/>
            <p:custDataLst>
              <p:tags r:id="rId4"/>
            </p:custDataLst>
          </p:nvPr>
        </p:nvSpPr>
        <p:spPr/>
        <p:txBody>
          <a:bodyPr/>
          <a:p>
            <a:fld id="{9EFD9D74-47D9-4702-A33C-335B63B48DBF}" type="datetimeFigureOut">
              <a:rPr lang="zh-CN" altLang="en-US" smtClean="0"/>
            </a:fld>
            <a:endParaRPr lang="zh-CN" altLang="en-US" dirty="0"/>
          </a:p>
        </p:txBody>
      </p:sp>
      <p:sp>
        <p:nvSpPr>
          <p:cNvPr id="1048840" name="页脚占位符 5"/>
          <p:cNvSpPr>
            <a:spLocks noGrp="1"/>
          </p:cNvSpPr>
          <p:nvPr>
            <p:ph type="ftr" sz="quarter" idx="11"/>
            <p:custDataLst>
              <p:tags r:id="rId5"/>
            </p:custDataLst>
          </p:nvPr>
        </p:nvSpPr>
        <p:spPr/>
        <p:txBody>
          <a:bodyPr/>
          <a:p>
            <a:endParaRPr lang="zh-CN" altLang="en-US" dirty="0"/>
          </a:p>
        </p:txBody>
      </p:sp>
      <p:sp>
        <p:nvSpPr>
          <p:cNvPr id="1048841" name="灯片编号占位符 6"/>
          <p:cNvSpPr>
            <a:spLocks noGrp="1"/>
          </p:cNvSpPr>
          <p:nvPr>
            <p:ph type="sldNum" sz="quarter" idx="12"/>
            <p:custDataLst>
              <p:tags r:id="rId6"/>
            </p:custDataLst>
          </p:nvPr>
        </p:nvSpPr>
        <p:spPr/>
        <p:txBody>
          <a:bodyPr/>
          <a:p>
            <a:fld id="{FABC47A4-756D-490B-A52F-7D9E2C9FC05F}" type="slidenum">
              <a:rPr lang="zh-CN" altLang="en-US" smtClean="0"/>
            </a:fld>
            <a:endParaRPr lang="zh-CN" altLang="en-US"/>
          </a:p>
        </p:txBody>
      </p:sp>
      <p:sp>
        <p:nvSpPr>
          <p:cNvPr id="1048842"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11" name=""/>
        <p:cNvGrpSpPr/>
        <p:nvPr/>
      </p:nvGrpSpPr>
      <p:grpSpPr>
        <a:xfrm>
          <a:off x="0" y="0"/>
          <a:ext cx="0" cy="0"/>
          <a:chOff x="0" y="0"/>
          <a:chExt cx="0" cy="0"/>
        </a:xfrm>
      </p:grpSpPr>
      <p:sp>
        <p:nvSpPr>
          <p:cNvPr id="1048806"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1048807"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808"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809" name="页脚占位符 4"/>
          <p:cNvSpPr>
            <a:spLocks noGrp="1"/>
          </p:cNvSpPr>
          <p:nvPr>
            <p:ph type="ftr" sz="quarter" idx="11"/>
            <p:custDataLst>
              <p:tags r:id="rId5"/>
            </p:custDataLst>
          </p:nvPr>
        </p:nvSpPr>
        <p:spPr/>
        <p:txBody>
          <a:bodyPr/>
          <a:p>
            <a:endParaRPr lang="zh-CN" altLang="en-US"/>
          </a:p>
        </p:txBody>
      </p:sp>
      <p:sp>
        <p:nvSpPr>
          <p:cNvPr id="1048810"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12" name=""/>
        <p:cNvGrpSpPr/>
        <p:nvPr/>
      </p:nvGrpSpPr>
      <p:grpSpPr>
        <a:xfrm>
          <a:off x="0" y="0"/>
          <a:ext cx="0" cy="0"/>
          <a:chOff x="0" y="0"/>
          <a:chExt cx="0" cy="0"/>
        </a:xfrm>
      </p:grpSpPr>
      <p:sp>
        <p:nvSpPr>
          <p:cNvPr id="1048811" name="日期占位符 2"/>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8812" name="页脚占位符 3"/>
          <p:cNvSpPr>
            <a:spLocks noGrp="1"/>
          </p:cNvSpPr>
          <p:nvPr>
            <p:ph type="ftr" sz="quarter" idx="11"/>
            <p:custDataLst>
              <p:tags r:id="rId3"/>
            </p:custDataLst>
          </p:nvPr>
        </p:nvSpPr>
        <p:spPr/>
        <p:txBody>
          <a:bodyPr/>
          <a:p>
            <a:endParaRPr lang="zh-CN" altLang="en-US"/>
          </a:p>
        </p:txBody>
      </p:sp>
      <p:sp>
        <p:nvSpPr>
          <p:cNvPr id="1048813" name="灯片编号占位符 4"/>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
        <p:nvSpPr>
          <p:cNvPr id="1048814" name="内容占位符 6"/>
          <p:cNvSpPr>
            <a:spLocks noGrp="1"/>
          </p:cNvSpPr>
          <p:nvPr>
            <p:ph sz="quarter" idx="13"/>
            <p:custDataLst>
              <p:tags r:id="rId5"/>
            </p:custDataLst>
          </p:nvPr>
        </p:nvSpPr>
        <p:spPr>
          <a:xfrm>
            <a:off x="608400" y="774000"/>
            <a:ext cx="10972800" cy="5482800"/>
          </a:xfrm>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10" name=""/>
        <p:cNvGrpSpPr/>
        <p:nvPr/>
      </p:nvGrpSpPr>
      <p:grpSpPr>
        <a:xfrm>
          <a:off x="0" y="0"/>
          <a:ext cx="0" cy="0"/>
          <a:chOff x="0" y="0"/>
          <a:chExt cx="0" cy="0"/>
        </a:xfrm>
      </p:grpSpPr>
      <p:sp>
        <p:nvSpPr>
          <p:cNvPr id="1048801" name="日期占位符 2"/>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8802" name="页脚占位符 3"/>
          <p:cNvSpPr>
            <a:spLocks noGrp="1"/>
          </p:cNvSpPr>
          <p:nvPr>
            <p:ph type="ftr" sz="quarter" idx="11"/>
            <p:custDataLst>
              <p:tags r:id="rId3"/>
            </p:custDataLst>
          </p:nvPr>
        </p:nvSpPr>
        <p:spPr/>
        <p:txBody>
          <a:bodyPr/>
          <a:p>
            <a:endParaRPr lang="zh-CN" altLang="en-US"/>
          </a:p>
        </p:txBody>
      </p:sp>
      <p:sp>
        <p:nvSpPr>
          <p:cNvPr id="1048803" name="灯片编号占位符 4"/>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
        <p:nvSpPr>
          <p:cNvPr id="1048804"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1048805"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p>
            <a:r>
              <a:rPr lang="zh-CN" altLang="en-US" dirty="0"/>
              <a:t>单击此处编辑母版标题样式</a:t>
            </a:r>
            <a:endParaRPr lang="zh-CN" altLang="en-US" dirty="0"/>
          </a:p>
        </p:txBody>
      </p:sp>
      <p:sp>
        <p:nvSpPr>
          <p:cNvPr id="1048577"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048579"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1" Type="http://schemas.openxmlformats.org/officeDocument/2006/relationships/notesSlide" Target="../notesSlides/notesSlide2.xml"/><Relationship Id="rId20" Type="http://schemas.openxmlformats.org/officeDocument/2006/relationships/slideLayout" Target="../slideLayouts/slideLayout2.xml"/><Relationship Id="rId2" Type="http://schemas.openxmlformats.org/officeDocument/2006/relationships/tags" Target="../tags/tag64.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image" Target="../media/image4.png"/><Relationship Id="rId3" Type="http://schemas.openxmlformats.org/officeDocument/2006/relationships/tags" Target="../tags/tag83.xml"/><Relationship Id="rId2" Type="http://schemas.openxmlformats.org/officeDocument/2006/relationships/tags" Target="../tags/tag82.xml"/><Relationship Id="rId16" Type="http://schemas.openxmlformats.org/officeDocument/2006/relationships/notesSlide" Target="../notesSlides/notesSlide3.xml"/><Relationship Id="rId15" Type="http://schemas.openxmlformats.org/officeDocument/2006/relationships/slideLayout" Target="../slideLayouts/slideLayout1.xml"/><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tags" Target="../tags/tag94.xml"/><Relationship Id="rId4" Type="http://schemas.openxmlformats.org/officeDocument/2006/relationships/image" Target="../media/image4.png"/><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98.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99.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100.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106.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90" name="矩形 4"/>
          <p:cNvSpPr/>
          <p:nvPr/>
        </p:nvSpPr>
        <p:spPr>
          <a:xfrm>
            <a:off x="2081" y="1990089"/>
            <a:ext cx="12189743" cy="30791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691" name="文本框 9"/>
          <p:cNvSpPr txBox="1"/>
          <p:nvPr/>
        </p:nvSpPr>
        <p:spPr>
          <a:xfrm>
            <a:off x="2081" y="1917271"/>
            <a:ext cx="12189744" cy="3393419"/>
          </a:xfrm>
          <a:prstGeom prst="rect">
            <a:avLst/>
          </a:prstGeom>
          <a:noFill/>
        </p:spPr>
        <p:txBody>
          <a:bodyPr wrap="square" lIns="91421" tIns="45710" rIns="91421" bIns="45710" rtlCol="0">
            <a:spAutoFit/>
          </a:bodyPr>
          <a:p>
            <a:pPr algn="ctr"/>
            <a:r>
              <a:rPr lang="en-US" altLang="zh-CN" sz="19895" b="1" dirty="0">
                <a:solidFill>
                  <a:schemeClr val="bg1">
                    <a:alpha val="5000"/>
                  </a:schemeClr>
                </a:solidFill>
                <a:effectLst>
                  <a:reflection blurRad="6350" stA="55000" endA="300" endPos="45500" dir="5400000" sy="-100000" algn="bl" rotWithShape="0"/>
                </a:effectLst>
                <a:latin typeface="Helvetica" panose="020B0604020202020204" pitchFamily="34" charset="0"/>
                <a:ea typeface="思源黑体 CN Medium" panose="020B0600000000000000" pitchFamily="34" charset="-122"/>
                <a:cs typeface="Helvetica" panose="020B0604020202020204" pitchFamily="34" charset="0"/>
              </a:rPr>
              <a:t>REPORT</a:t>
            </a:r>
            <a:endParaRPr lang="zh-CN" altLang="en-US" sz="19895" b="1" dirty="0">
              <a:solidFill>
                <a:schemeClr val="bg1">
                  <a:alpha val="5000"/>
                </a:schemeClr>
              </a:solidFill>
              <a:effectLst>
                <a:reflection blurRad="6350" stA="55000" endA="300" endPos="45500" dir="5400000" sy="-100000" algn="bl" rotWithShape="0"/>
              </a:effectLst>
              <a:latin typeface="Helvetica" panose="020B0604020202020204" pitchFamily="34" charset="0"/>
              <a:ea typeface="思源黑体 CN Medium" panose="020B0600000000000000" pitchFamily="34" charset="-122"/>
              <a:cs typeface="Helvetica" panose="020B0604020202020204" pitchFamily="34" charset="0"/>
            </a:endParaRPr>
          </a:p>
        </p:txBody>
      </p:sp>
      <p:sp>
        <p:nvSpPr>
          <p:cNvPr id="1048692" name="矩形 3"/>
          <p:cNvSpPr/>
          <p:nvPr/>
        </p:nvSpPr>
        <p:spPr>
          <a:xfrm>
            <a:off x="176802" y="186576"/>
            <a:ext cx="11878198" cy="647424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693" name="圆角矩形 10"/>
          <p:cNvSpPr/>
          <p:nvPr/>
        </p:nvSpPr>
        <p:spPr>
          <a:xfrm>
            <a:off x="3453960" y="5663858"/>
            <a:ext cx="2336496" cy="39592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694" name="圆角矩形 11"/>
          <p:cNvSpPr/>
          <p:nvPr/>
        </p:nvSpPr>
        <p:spPr>
          <a:xfrm>
            <a:off x="6409809" y="5663858"/>
            <a:ext cx="2336496" cy="39592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695" name="文本框 7"/>
          <p:cNvSpPr txBox="1"/>
          <p:nvPr/>
        </p:nvSpPr>
        <p:spPr>
          <a:xfrm>
            <a:off x="83185" y="1990090"/>
            <a:ext cx="12189460" cy="2898140"/>
          </a:xfrm>
          <a:prstGeom prst="rect">
            <a:avLst/>
          </a:prstGeom>
          <a:noFill/>
        </p:spPr>
        <p:txBody>
          <a:bodyPr wrap="square" rtlCol="0" anchor="ctr" anchorCtr="0">
            <a:noAutofit/>
          </a:bodyPr>
          <a:p>
            <a:pPr algn="ctr">
              <a:lnSpc>
                <a:spcPct val="125000"/>
              </a:lnSpc>
            </a:pPr>
            <a:r>
              <a:rPr lang="zh-CN" sz="4800" b="1" dirty="0">
                <a:solidFill>
                  <a:schemeClr val="bg1"/>
                </a:solidFill>
                <a:latin typeface="+mj-ea"/>
                <a:ea typeface="+mj-ea"/>
                <a:sym typeface="+mn-ea"/>
              </a:rPr>
              <a:t>退化效应下航空零部件</a:t>
            </a:r>
            <a:endParaRPr lang="zh-CN" sz="4800" b="1" dirty="0">
              <a:solidFill>
                <a:schemeClr val="bg1"/>
              </a:solidFill>
              <a:latin typeface="+mj-ea"/>
              <a:ea typeface="+mj-ea"/>
              <a:sym typeface="+mn-ea"/>
            </a:endParaRPr>
          </a:p>
          <a:p>
            <a:pPr algn="ctr">
              <a:lnSpc>
                <a:spcPct val="125000"/>
              </a:lnSpc>
            </a:pPr>
            <a:r>
              <a:rPr lang="zh-CN" sz="4800" b="1" dirty="0">
                <a:solidFill>
                  <a:schemeClr val="bg1"/>
                </a:solidFill>
                <a:latin typeface="+mj-ea"/>
                <a:ea typeface="+mj-ea"/>
                <a:sym typeface="+mn-ea"/>
              </a:rPr>
              <a:t>并行批处理调度与维护协同优化研究</a:t>
            </a:r>
            <a:endParaRPr lang="zh-CN" altLang="en-US" sz="4800" b="1" kern="100" dirty="0">
              <a:solidFill>
                <a:schemeClr val="bg1"/>
              </a:solidFill>
              <a:latin typeface="微软雅黑" panose="020B0503020204020204" charset="-122"/>
              <a:ea typeface="微软雅黑" panose="020B0503020204020204" charset="-122"/>
              <a:cs typeface="+mn-ea"/>
              <a:sym typeface="Source Han Sans SC"/>
            </a:endParaRPr>
          </a:p>
        </p:txBody>
      </p:sp>
      <p:sp>
        <p:nvSpPr>
          <p:cNvPr id="1048696" name="文本框 8"/>
          <p:cNvSpPr txBox="1"/>
          <p:nvPr/>
        </p:nvSpPr>
        <p:spPr>
          <a:xfrm>
            <a:off x="3565889" y="5695020"/>
            <a:ext cx="2136124" cy="337185"/>
          </a:xfrm>
          <a:prstGeom prst="rect">
            <a:avLst/>
          </a:prstGeom>
          <a:noFill/>
        </p:spPr>
        <p:txBody>
          <a:bodyPr wrap="square" rtlCol="0">
            <a:spAutoFit/>
          </a:bodyPr>
          <a:p>
            <a:pPr algn="ctr"/>
            <a:r>
              <a:rPr kumimoji="1" lang="zh-CN" altLang="en-US" sz="1600" b="1" dirty="0">
                <a:solidFill>
                  <a:schemeClr val="bg1"/>
                </a:solidFill>
                <a:latin typeface="微软雅黑" panose="020B0503020204020204" charset="-122"/>
                <a:ea typeface="微软雅黑" panose="020B0503020204020204" charset="-122"/>
              </a:rPr>
              <a:t>答辩人：王海璇</a:t>
            </a:r>
            <a:endParaRPr kumimoji="1" lang="en-US" altLang="zh-CN" sz="1600" b="1" dirty="0">
              <a:solidFill>
                <a:schemeClr val="bg1"/>
              </a:solidFill>
              <a:latin typeface="微软雅黑" panose="020B0503020204020204" charset="-122"/>
              <a:ea typeface="微软雅黑" panose="020B0503020204020204" charset="-122"/>
            </a:endParaRPr>
          </a:p>
        </p:txBody>
      </p:sp>
      <p:sp>
        <p:nvSpPr>
          <p:cNvPr id="1048697" name="文本框 9"/>
          <p:cNvSpPr txBox="1"/>
          <p:nvPr/>
        </p:nvSpPr>
        <p:spPr>
          <a:xfrm>
            <a:off x="6414412" y="5697862"/>
            <a:ext cx="2327077" cy="337185"/>
          </a:xfrm>
          <a:prstGeom prst="rect">
            <a:avLst/>
          </a:prstGeom>
          <a:noFill/>
        </p:spPr>
        <p:txBody>
          <a:bodyPr wrap="square" rtlCol="0">
            <a:spAutoFit/>
          </a:bodyPr>
          <a:p>
            <a:pPr algn="ctr"/>
            <a:r>
              <a:rPr kumimoji="1" lang="zh-CN" sz="1600" b="1" dirty="0">
                <a:solidFill>
                  <a:schemeClr val="bg1"/>
                </a:solidFill>
                <a:latin typeface="微软雅黑" panose="020B0503020204020204" charset="-122"/>
                <a:ea typeface="微软雅黑" panose="020B0503020204020204" charset="-122"/>
              </a:rPr>
              <a:t>导师：乔非</a:t>
            </a:r>
            <a:endParaRPr kumimoji="1" lang="zh-CN" sz="1600" b="1" dirty="0">
              <a:solidFill>
                <a:schemeClr val="bg1"/>
              </a:solidFill>
              <a:latin typeface="微软雅黑" panose="020B0503020204020204" charset="-122"/>
              <a:ea typeface="微软雅黑" panose="020B0503020204020204" charset="-122"/>
            </a:endParaRPr>
          </a:p>
        </p:txBody>
      </p:sp>
      <p:grpSp>
        <p:nvGrpSpPr>
          <p:cNvPr id="66" name="组合 18"/>
          <p:cNvGrpSpPr/>
          <p:nvPr/>
        </p:nvGrpSpPr>
        <p:grpSpPr>
          <a:xfrm>
            <a:off x="4552253" y="926274"/>
            <a:ext cx="3087810" cy="816709"/>
            <a:chOff x="4632728" y="981012"/>
            <a:chExt cx="3088382" cy="816860"/>
          </a:xfrm>
        </p:grpSpPr>
        <p:pic>
          <p:nvPicPr>
            <p:cNvPr id="2097162" name="Picture 2" descr="C:\Users\Asaskaa\Desktop\1.png"/>
            <p:cNvPicPr>
              <a:picLocks noChangeAspect="1" noChangeArrowheads="1"/>
            </p:cNvPicPr>
            <p:nvPr/>
          </p:nvPicPr>
          <p:blipFill rotWithShape="1">
            <a:blip r:embed="rId1" cstate="print"/>
            <a:srcRect l="13505" r="13805"/>
            <a:stretch>
              <a:fillRect/>
            </a:stretch>
          </p:blipFill>
          <p:spPr bwMode="auto">
            <a:xfrm>
              <a:off x="4632728" y="1053530"/>
              <a:ext cx="865967" cy="744342"/>
            </a:xfrm>
            <a:prstGeom prst="rect">
              <a:avLst/>
            </a:prstGeom>
            <a:noFill/>
          </p:spPr>
        </p:pic>
        <p:pic>
          <p:nvPicPr>
            <p:cNvPr id="2097163" name="Picture 3" descr="C:\Users\Asaskaa\Desktop\3.png"/>
            <p:cNvPicPr>
              <a:picLocks noChangeAspect="1" noChangeArrowheads="1"/>
            </p:cNvPicPr>
            <p:nvPr/>
          </p:nvPicPr>
          <p:blipFill rotWithShape="1">
            <a:blip r:embed="rId2" cstate="print"/>
            <a:srcRect l="31933" t="22857" r="9687" b="25687"/>
            <a:stretch>
              <a:fillRect/>
            </a:stretch>
          </p:blipFill>
          <p:spPr bwMode="auto">
            <a:xfrm>
              <a:off x="5498695" y="981012"/>
              <a:ext cx="2222415" cy="816860"/>
            </a:xfrm>
            <a:prstGeom prst="rect">
              <a:avLst/>
            </a:prstGeom>
            <a:noFill/>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grpSp>
        <p:nvGrpSpPr>
          <p:cNvPr id="57" name="组合 13"/>
          <p:cNvGrpSpPr/>
          <p:nvPr/>
        </p:nvGrpSpPr>
        <p:grpSpPr>
          <a:xfrm>
            <a:off x="0" y="0"/>
            <a:ext cx="4651513" cy="6858000"/>
            <a:chOff x="0" y="0"/>
            <a:chExt cx="4651513" cy="6858000"/>
          </a:xfrm>
          <a:solidFill>
            <a:srgbClr val="005BAE"/>
          </a:solidFill>
        </p:grpSpPr>
        <p:grpSp>
          <p:nvGrpSpPr>
            <p:cNvPr id="58" name="组合 12"/>
            <p:cNvGrpSpPr/>
            <p:nvPr/>
          </p:nvGrpSpPr>
          <p:grpSpPr>
            <a:xfrm>
              <a:off x="0" y="0"/>
              <a:ext cx="4651513" cy="6858000"/>
              <a:chOff x="0" y="0"/>
              <a:chExt cx="4651513" cy="6858000"/>
            </a:xfrm>
            <a:grpFill/>
          </p:grpSpPr>
          <p:sp>
            <p:nvSpPr>
              <p:cNvPr id="1048669" name="矩形 4"/>
              <p:cNvSpPr/>
              <p:nvPr/>
            </p:nvSpPr>
            <p:spPr>
              <a:xfrm>
                <a:off x="0" y="0"/>
                <a:ext cx="465151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48670" name="文本框 8"/>
              <p:cNvSpPr txBox="1"/>
              <p:nvPr/>
            </p:nvSpPr>
            <p:spPr>
              <a:xfrm>
                <a:off x="3536013" y="4081670"/>
                <a:ext cx="982979" cy="2544418"/>
              </a:xfrm>
              <a:prstGeom prst="rect">
                <a:avLst/>
              </a:prstGeom>
              <a:grpFill/>
            </p:spPr>
            <p:txBody>
              <a:bodyPr vert="eaVert" wrap="square" rtlCol="0">
                <a:spAutoFit/>
              </a:bodyPr>
              <a:p>
                <a:pPr algn="ctr"/>
                <a:r>
                  <a:rPr lang="en-US" altLang="zh-CN" sz="4800" b="1" dirty="0">
                    <a:solidFill>
                      <a:schemeClr val="bg1"/>
                    </a:solidFill>
                  </a:rPr>
                  <a:t>Content</a:t>
                </a:r>
                <a:endParaRPr lang="zh-CN" altLang="en-US" sz="4800" b="1" dirty="0">
                  <a:solidFill>
                    <a:schemeClr val="bg1"/>
                  </a:solidFill>
                </a:endParaRPr>
              </a:p>
            </p:txBody>
          </p:sp>
        </p:grpSp>
        <p:sp>
          <p:nvSpPr>
            <p:cNvPr id="1048671" name="矩形 6"/>
            <p:cNvSpPr/>
            <p:nvPr/>
          </p:nvSpPr>
          <p:spPr>
            <a:xfrm>
              <a:off x="808382" y="1782419"/>
              <a:ext cx="3045613" cy="1646581"/>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7200" b="1" dirty="0"/>
                <a:t>目录</a:t>
              </a:r>
              <a:endParaRPr lang="zh-CN" altLang="en-US" sz="7200" b="1" dirty="0"/>
            </a:p>
          </p:txBody>
        </p:sp>
      </p:grpSp>
      <p:grpSp>
        <p:nvGrpSpPr>
          <p:cNvPr id="59" name="组合 31"/>
          <p:cNvGrpSpPr/>
          <p:nvPr>
            <p:custDataLst>
              <p:tags r:id="rId1"/>
            </p:custDataLst>
          </p:nvPr>
        </p:nvGrpSpPr>
        <p:grpSpPr>
          <a:xfrm>
            <a:off x="5271511" y="1640262"/>
            <a:ext cx="3438937" cy="461665"/>
            <a:chOff x="5247396" y="2156695"/>
            <a:chExt cx="3438937" cy="461665"/>
          </a:xfrm>
        </p:grpSpPr>
        <p:sp>
          <p:nvSpPr>
            <p:cNvPr id="1048672" name="椭圆 18"/>
            <p:cNvSpPr/>
            <p:nvPr>
              <p:custDataLst>
                <p:tags r:id="rId2"/>
              </p:custDataLst>
            </p:nvPr>
          </p:nvSpPr>
          <p:spPr>
            <a:xfrm>
              <a:off x="6408565" y="2292623"/>
              <a:ext cx="145774" cy="145774"/>
            </a:xfrm>
            <a:prstGeom prst="ellipse">
              <a:avLst/>
            </a:prstGeom>
            <a:solidFill>
              <a:srgbClr val="0054A6"/>
            </a:solidFill>
            <a:ln>
              <a:solidFill>
                <a:srgbClr val="0054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73" name="文本框 23"/>
            <p:cNvSpPr txBox="1"/>
            <p:nvPr>
              <p:custDataLst>
                <p:tags r:id="rId3"/>
              </p:custDataLst>
            </p:nvPr>
          </p:nvSpPr>
          <p:spPr>
            <a:xfrm>
              <a:off x="5247396" y="2156695"/>
              <a:ext cx="893381" cy="461665"/>
            </a:xfrm>
            <a:prstGeom prst="rect">
              <a:avLst/>
            </a:prstGeom>
            <a:noFill/>
          </p:spPr>
          <p:txBody>
            <a:bodyPr wrap="square" rtlCol="0">
              <a:spAutoFit/>
            </a:bodyPr>
            <a:p>
              <a:pPr algn="ctr"/>
              <a:r>
                <a:rPr lang="en-US" altLang="zh-CN" sz="2400" b="1" dirty="0">
                  <a:solidFill>
                    <a:srgbClr val="0054A6"/>
                  </a:solidFill>
                </a:rPr>
                <a:t>01</a:t>
              </a:r>
              <a:endParaRPr lang="zh-CN" altLang="en-US" sz="2400" b="1" dirty="0">
                <a:solidFill>
                  <a:srgbClr val="0054A6"/>
                </a:solidFill>
              </a:endParaRPr>
            </a:p>
          </p:txBody>
        </p:sp>
        <p:sp>
          <p:nvSpPr>
            <p:cNvPr id="1048674" name="文本框 27"/>
            <p:cNvSpPr txBox="1"/>
            <p:nvPr>
              <p:custDataLst>
                <p:tags r:id="rId4"/>
              </p:custDataLst>
            </p:nvPr>
          </p:nvSpPr>
          <p:spPr>
            <a:xfrm>
              <a:off x="7168391" y="2156695"/>
              <a:ext cx="1517942" cy="461665"/>
            </a:xfrm>
            <a:prstGeom prst="rect">
              <a:avLst/>
            </a:prstGeom>
            <a:noFill/>
          </p:spPr>
          <p:txBody>
            <a:bodyPr wrap="square" rtlCol="0">
              <a:spAutoFit/>
            </a:bodyPr>
            <a:p>
              <a:r>
                <a:rPr lang="zh-CN" altLang="en-US" sz="2400" b="1" dirty="0">
                  <a:solidFill>
                    <a:srgbClr val="0054A6"/>
                  </a:solidFill>
                </a:rPr>
                <a:t>研究背景</a:t>
              </a:r>
              <a:endParaRPr lang="zh-CN" altLang="en-US" sz="2400" b="1" dirty="0">
                <a:solidFill>
                  <a:srgbClr val="0054A6"/>
                </a:solidFill>
              </a:endParaRPr>
            </a:p>
          </p:txBody>
        </p:sp>
      </p:grpSp>
      <p:grpSp>
        <p:nvGrpSpPr>
          <p:cNvPr id="60" name="组合 32"/>
          <p:cNvGrpSpPr/>
          <p:nvPr>
            <p:custDataLst>
              <p:tags r:id="rId5"/>
            </p:custDataLst>
          </p:nvPr>
        </p:nvGrpSpPr>
        <p:grpSpPr>
          <a:xfrm>
            <a:off x="5271045" y="2523073"/>
            <a:ext cx="5473607" cy="461666"/>
            <a:chOff x="5247397" y="3051218"/>
            <a:chExt cx="5473607" cy="461666"/>
          </a:xfrm>
        </p:grpSpPr>
        <p:sp>
          <p:nvSpPr>
            <p:cNvPr id="1048675" name="椭圆 19"/>
            <p:cNvSpPr/>
            <p:nvPr>
              <p:custDataLst>
                <p:tags r:id="rId6"/>
              </p:custDataLst>
            </p:nvPr>
          </p:nvSpPr>
          <p:spPr>
            <a:xfrm>
              <a:off x="6408565" y="3209165"/>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76" name="文本框 24"/>
            <p:cNvSpPr txBox="1"/>
            <p:nvPr>
              <p:custDataLst>
                <p:tags r:id="rId7"/>
              </p:custDataLst>
            </p:nvPr>
          </p:nvSpPr>
          <p:spPr>
            <a:xfrm>
              <a:off x="5247397" y="3051219"/>
              <a:ext cx="893381" cy="461665"/>
            </a:xfrm>
            <a:prstGeom prst="rect">
              <a:avLst/>
            </a:prstGeom>
            <a:noFill/>
          </p:spPr>
          <p:txBody>
            <a:bodyPr wrap="square" rtlCol="0">
              <a:spAutoFit/>
            </a:bodyPr>
            <a:p>
              <a:pPr algn="ctr"/>
              <a:r>
                <a:rPr lang="en-US" altLang="zh-CN" sz="2400" b="1" dirty="0">
                  <a:solidFill>
                    <a:srgbClr val="0054A6"/>
                  </a:solidFill>
                </a:rPr>
                <a:t>02</a:t>
              </a:r>
              <a:endParaRPr lang="zh-CN" altLang="en-US" sz="2400" b="1" dirty="0">
                <a:solidFill>
                  <a:srgbClr val="0054A6"/>
                </a:solidFill>
              </a:endParaRPr>
            </a:p>
          </p:txBody>
        </p:sp>
        <p:sp>
          <p:nvSpPr>
            <p:cNvPr id="1048677" name="文本框 28"/>
            <p:cNvSpPr txBox="1"/>
            <p:nvPr>
              <p:custDataLst>
                <p:tags r:id="rId8"/>
              </p:custDataLst>
            </p:nvPr>
          </p:nvSpPr>
          <p:spPr>
            <a:xfrm>
              <a:off x="7168390" y="3051218"/>
              <a:ext cx="3552614" cy="461665"/>
            </a:xfrm>
            <a:prstGeom prst="rect">
              <a:avLst/>
            </a:prstGeom>
            <a:noFill/>
          </p:spPr>
          <p:txBody>
            <a:bodyPr wrap="square" rtlCol="0">
              <a:spAutoFit/>
            </a:bodyPr>
            <a:p>
              <a:r>
                <a:rPr lang="zh-CN" altLang="en-US" sz="2400" b="1" dirty="0">
                  <a:solidFill>
                    <a:srgbClr val="0054A6"/>
                  </a:solidFill>
                </a:rPr>
                <a:t>文献综述</a:t>
              </a:r>
              <a:endParaRPr lang="zh-CN" altLang="en-US" sz="2400" b="1" dirty="0">
                <a:solidFill>
                  <a:srgbClr val="0054A6"/>
                </a:solidFill>
              </a:endParaRPr>
            </a:p>
          </p:txBody>
        </p:sp>
      </p:grpSp>
      <p:grpSp>
        <p:nvGrpSpPr>
          <p:cNvPr id="61" name="组合 33"/>
          <p:cNvGrpSpPr/>
          <p:nvPr>
            <p:custDataLst>
              <p:tags r:id="rId9"/>
            </p:custDataLst>
          </p:nvPr>
        </p:nvGrpSpPr>
        <p:grpSpPr>
          <a:xfrm>
            <a:off x="5259503" y="3417598"/>
            <a:ext cx="5485149" cy="461665"/>
            <a:chOff x="5235855" y="3945743"/>
            <a:chExt cx="5485149" cy="461665"/>
          </a:xfrm>
        </p:grpSpPr>
        <p:sp>
          <p:nvSpPr>
            <p:cNvPr id="1048678" name="椭圆 20"/>
            <p:cNvSpPr/>
            <p:nvPr>
              <p:custDataLst>
                <p:tags r:id="rId10"/>
              </p:custDataLst>
            </p:nvPr>
          </p:nvSpPr>
          <p:spPr>
            <a:xfrm>
              <a:off x="6408565" y="4103689"/>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79" name="文本框 25"/>
            <p:cNvSpPr txBox="1"/>
            <p:nvPr>
              <p:custDataLst>
                <p:tags r:id="rId11"/>
              </p:custDataLst>
            </p:nvPr>
          </p:nvSpPr>
          <p:spPr>
            <a:xfrm>
              <a:off x="5235855" y="3945743"/>
              <a:ext cx="893381" cy="461665"/>
            </a:xfrm>
            <a:prstGeom prst="rect">
              <a:avLst/>
            </a:prstGeom>
            <a:noFill/>
          </p:spPr>
          <p:txBody>
            <a:bodyPr wrap="square" rtlCol="0">
              <a:spAutoFit/>
            </a:bodyPr>
            <a:p>
              <a:pPr algn="ctr"/>
              <a:r>
                <a:rPr lang="en-US" altLang="zh-CN" sz="2400" b="1" dirty="0">
                  <a:solidFill>
                    <a:srgbClr val="0054A6"/>
                  </a:solidFill>
                </a:rPr>
                <a:t>03</a:t>
              </a:r>
              <a:endParaRPr lang="zh-CN" altLang="en-US" sz="2400" b="1" dirty="0">
                <a:solidFill>
                  <a:srgbClr val="0054A6"/>
                </a:solidFill>
              </a:endParaRPr>
            </a:p>
          </p:txBody>
        </p:sp>
        <p:sp>
          <p:nvSpPr>
            <p:cNvPr id="1048680" name="文本框 29"/>
            <p:cNvSpPr txBox="1"/>
            <p:nvPr>
              <p:custDataLst>
                <p:tags r:id="rId12"/>
              </p:custDataLst>
            </p:nvPr>
          </p:nvSpPr>
          <p:spPr>
            <a:xfrm>
              <a:off x="7168390" y="3945743"/>
              <a:ext cx="3552614" cy="461665"/>
            </a:xfrm>
            <a:prstGeom prst="rect">
              <a:avLst/>
            </a:prstGeom>
            <a:noFill/>
          </p:spPr>
          <p:txBody>
            <a:bodyPr wrap="square" rtlCol="0">
              <a:spAutoFit/>
            </a:bodyPr>
            <a:p>
              <a:r>
                <a:rPr lang="zh-CN" altLang="en-US" sz="2400" b="1" dirty="0">
                  <a:solidFill>
                    <a:srgbClr val="0054A6"/>
                  </a:solidFill>
                </a:rPr>
                <a:t>研究内容</a:t>
              </a:r>
              <a:endParaRPr lang="zh-CN" altLang="en-US" sz="2400" b="1" dirty="0">
                <a:solidFill>
                  <a:srgbClr val="0054A6"/>
                </a:solidFill>
              </a:endParaRPr>
            </a:p>
          </p:txBody>
        </p:sp>
      </p:grpSp>
      <p:grpSp>
        <p:nvGrpSpPr>
          <p:cNvPr id="62" name="组合 34"/>
          <p:cNvGrpSpPr/>
          <p:nvPr>
            <p:custDataLst>
              <p:tags r:id="rId13"/>
            </p:custDataLst>
          </p:nvPr>
        </p:nvGrpSpPr>
        <p:grpSpPr>
          <a:xfrm>
            <a:off x="5271044" y="4312122"/>
            <a:ext cx="5473608" cy="461665"/>
            <a:chOff x="5247396" y="4840267"/>
            <a:chExt cx="5473608" cy="461665"/>
          </a:xfrm>
        </p:grpSpPr>
        <p:sp>
          <p:nvSpPr>
            <p:cNvPr id="1048681" name="椭圆 21"/>
            <p:cNvSpPr/>
            <p:nvPr>
              <p:custDataLst>
                <p:tags r:id="rId14"/>
              </p:custDataLst>
            </p:nvPr>
          </p:nvSpPr>
          <p:spPr>
            <a:xfrm>
              <a:off x="6408565" y="4976190"/>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2" name="文本框 26"/>
            <p:cNvSpPr txBox="1"/>
            <p:nvPr>
              <p:custDataLst>
                <p:tags r:id="rId15"/>
              </p:custDataLst>
            </p:nvPr>
          </p:nvSpPr>
          <p:spPr>
            <a:xfrm>
              <a:off x="5247396" y="4840267"/>
              <a:ext cx="893381" cy="461665"/>
            </a:xfrm>
            <a:prstGeom prst="rect">
              <a:avLst/>
            </a:prstGeom>
            <a:noFill/>
          </p:spPr>
          <p:txBody>
            <a:bodyPr wrap="square" rtlCol="0">
              <a:spAutoFit/>
            </a:bodyPr>
            <a:p>
              <a:pPr algn="ctr"/>
              <a:r>
                <a:rPr lang="en-US" altLang="zh-CN" sz="2400" b="1" dirty="0">
                  <a:solidFill>
                    <a:srgbClr val="0054A6"/>
                  </a:solidFill>
                </a:rPr>
                <a:t>04</a:t>
              </a:r>
              <a:endParaRPr lang="zh-CN" altLang="en-US" sz="2400" b="1" dirty="0">
                <a:solidFill>
                  <a:srgbClr val="0054A6"/>
                </a:solidFill>
              </a:endParaRPr>
            </a:p>
          </p:txBody>
        </p:sp>
        <p:sp>
          <p:nvSpPr>
            <p:cNvPr id="1048683" name="文本框 30"/>
            <p:cNvSpPr txBox="1"/>
            <p:nvPr>
              <p:custDataLst>
                <p:tags r:id="rId16"/>
              </p:custDataLst>
            </p:nvPr>
          </p:nvSpPr>
          <p:spPr>
            <a:xfrm>
              <a:off x="7168390" y="4840267"/>
              <a:ext cx="3552614" cy="461665"/>
            </a:xfrm>
            <a:prstGeom prst="rect">
              <a:avLst/>
            </a:prstGeom>
            <a:noFill/>
          </p:spPr>
          <p:txBody>
            <a:bodyPr wrap="square" rtlCol="0">
              <a:spAutoFit/>
            </a:bodyPr>
            <a:p>
              <a:r>
                <a:rPr lang="zh-CN" altLang="en-US" sz="2400" b="1" dirty="0">
                  <a:solidFill>
                    <a:srgbClr val="0054A6"/>
                  </a:solidFill>
                </a:rPr>
                <a:t>技术路线</a:t>
              </a:r>
              <a:endParaRPr lang="zh-CN" altLang="en-US" sz="2400" b="1" dirty="0">
                <a:solidFill>
                  <a:srgbClr val="0054A6"/>
                </a:solidFill>
              </a:endParaRPr>
            </a:p>
          </p:txBody>
        </p:sp>
      </p:grpSp>
      <p:sp>
        <p:nvSpPr>
          <p:cNvPr id="1048684" name="椭圆 21"/>
          <p:cNvSpPr/>
          <p:nvPr>
            <p:custDataLst>
              <p:tags r:id="rId17"/>
            </p:custDataLst>
          </p:nvPr>
        </p:nvSpPr>
        <p:spPr>
          <a:xfrm>
            <a:off x="6432213" y="5320546"/>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5" name="文本框 26"/>
          <p:cNvSpPr txBox="1"/>
          <p:nvPr>
            <p:custDataLst>
              <p:tags r:id="rId18"/>
            </p:custDataLst>
          </p:nvPr>
        </p:nvSpPr>
        <p:spPr>
          <a:xfrm>
            <a:off x="5271044" y="5162600"/>
            <a:ext cx="893381" cy="461665"/>
          </a:xfrm>
          <a:prstGeom prst="rect">
            <a:avLst/>
          </a:prstGeom>
          <a:noFill/>
        </p:spPr>
        <p:txBody>
          <a:bodyPr wrap="square" rtlCol="0">
            <a:spAutoFit/>
          </a:bodyPr>
          <a:p>
            <a:pPr algn="ctr"/>
            <a:r>
              <a:rPr lang="en-US" altLang="zh-CN" sz="2400" b="1" dirty="0">
                <a:solidFill>
                  <a:srgbClr val="0054A6"/>
                </a:solidFill>
              </a:rPr>
              <a:t>05</a:t>
            </a:r>
            <a:endParaRPr lang="zh-CN" altLang="en-US" sz="2400" b="1" dirty="0">
              <a:solidFill>
                <a:srgbClr val="0054A6"/>
              </a:solidFill>
            </a:endParaRPr>
          </a:p>
        </p:txBody>
      </p:sp>
      <p:sp>
        <p:nvSpPr>
          <p:cNvPr id="1048686" name="文本框 29"/>
          <p:cNvSpPr txBox="1"/>
          <p:nvPr>
            <p:custDataLst>
              <p:tags r:id="rId19"/>
            </p:custDataLst>
          </p:nvPr>
        </p:nvSpPr>
        <p:spPr>
          <a:xfrm>
            <a:off x="7192038" y="5162599"/>
            <a:ext cx="3552614" cy="461665"/>
          </a:xfrm>
          <a:prstGeom prst="rect">
            <a:avLst/>
          </a:prstGeom>
          <a:noFill/>
        </p:spPr>
        <p:txBody>
          <a:bodyPr wrap="square" rtlCol="0">
            <a:spAutoFit/>
          </a:bodyPr>
          <a:p>
            <a:r>
              <a:rPr lang="zh-CN" altLang="en-US" sz="2400" b="1" dirty="0">
                <a:solidFill>
                  <a:srgbClr val="0054A6"/>
                </a:solidFill>
              </a:rPr>
              <a:t>工作计划</a:t>
            </a:r>
            <a:endParaRPr lang="zh-CN" altLang="en-US" sz="2400" b="1" dirty="0">
              <a:solidFill>
                <a:srgbClr val="0054A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41"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7"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642"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1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研究背景</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643" name="矩形 8"/>
          <p:cNvSpPr/>
          <p:nvPr>
            <p:custDataLst>
              <p:tags r:id="rId2"/>
            </p:custDataLst>
          </p:nvPr>
        </p:nvSpPr>
        <p:spPr>
          <a:xfrm>
            <a:off x="145084" y="775442"/>
            <a:ext cx="11839487" cy="409074"/>
          </a:xfrm>
          <a:prstGeom prst="rect">
            <a:avLst/>
          </a:prstGeom>
          <a:solidFill>
            <a:schemeClr val="accent1"/>
          </a:solidFill>
          <a:ln w="28575"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400" b="1" dirty="0">
                <a:solidFill>
                  <a:schemeClr val="bg1"/>
                </a:solidFill>
                <a:latin typeface="微软雅黑" panose="020B0503020204020204" charset="-122"/>
                <a:ea typeface="微软雅黑" panose="020B0503020204020204" charset="-122"/>
              </a:rPr>
              <a:t>航空零部件热处理</a:t>
            </a:r>
            <a:endParaRPr lang="zh-CN" altLang="en-US" sz="2400" b="1" dirty="0">
              <a:solidFill>
                <a:schemeClr val="bg1"/>
              </a:solidFill>
              <a:latin typeface="微软雅黑" panose="020B0503020204020204" charset="-122"/>
              <a:ea typeface="微软雅黑" panose="020B0503020204020204" charset="-122"/>
            </a:endParaRPr>
          </a:p>
        </p:txBody>
      </p:sp>
      <p:pic>
        <p:nvPicPr>
          <p:cNvPr id="2097158" name="图形 9" descr="纸飞机"/>
          <p:cNvPicPr>
            <a:picLocks noChangeAspect="1"/>
          </p:cNvPicPr>
          <p:nvPr>
            <p:custDataLst>
              <p:tags r:id="rId3"/>
            </p:custDataLst>
          </p:nvPr>
        </p:nvPicPr>
        <p:blipFill>
          <a:blip r:embed="rId4"/>
          <a:stretch>
            <a:fillRect/>
          </a:stretch>
        </p:blipFill>
        <p:spPr>
          <a:xfrm>
            <a:off x="276661" y="751379"/>
            <a:ext cx="457200" cy="457200"/>
          </a:xfrm>
          <a:prstGeom prst="rect">
            <a:avLst/>
          </a:prstGeom>
        </p:spPr>
      </p:pic>
      <p:sp>
        <p:nvSpPr>
          <p:cNvPr id="1048644" name="矩形 13"/>
          <p:cNvSpPr/>
          <p:nvPr>
            <p:custDataLst>
              <p:tags r:id="rId5"/>
            </p:custDataLst>
          </p:nvPr>
        </p:nvSpPr>
        <p:spPr>
          <a:xfrm>
            <a:off x="6132818" y="1184515"/>
            <a:ext cx="5851753" cy="4998469"/>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5" name="矩形 14"/>
          <p:cNvSpPr/>
          <p:nvPr/>
        </p:nvSpPr>
        <p:spPr>
          <a:xfrm>
            <a:off x="137628" y="6291197"/>
            <a:ext cx="11846943" cy="460375"/>
          </a:xfrm>
          <a:prstGeom prst="rect">
            <a:avLst/>
          </a:prstGeom>
          <a:noFill/>
          <a:ln w="38100">
            <a:solidFill>
              <a:srgbClr val="C00000"/>
            </a:solidFill>
          </a:ln>
          <a:effectLst/>
        </p:spPr>
        <p:txBody>
          <a:bodyPr wrap="square" anchor="ctr">
            <a:spAutoFit/>
          </a:bodyPr>
          <a:p>
            <a:pPr algn="ctr"/>
            <a:r>
              <a:rPr lang="zh-CN" altLang="en-US" sz="2400" b="1" dirty="0">
                <a:solidFill>
                  <a:srgbClr val="000F82"/>
                </a:solidFill>
                <a:latin typeface="微软雅黑" panose="020B0503020204020204" charset="-122"/>
                <a:ea typeface="微软雅黑" panose="020B0503020204020204" charset="-122"/>
              </a:rPr>
              <a:t>加强对</a:t>
            </a:r>
            <a:r>
              <a:rPr lang="zh-CN" altLang="en-US" sz="2400" b="1" dirty="0">
                <a:solidFill>
                  <a:srgbClr val="C00000"/>
                </a:solidFill>
                <a:latin typeface="微软雅黑" panose="020B0503020204020204" charset="-122"/>
                <a:ea typeface="微软雅黑" panose="020B0503020204020204" charset="-122"/>
              </a:rPr>
              <a:t>热处理制造过程调度与维护</a:t>
            </a:r>
            <a:r>
              <a:rPr lang="zh-CN" altLang="en-US" sz="2400" b="1" dirty="0">
                <a:solidFill>
                  <a:srgbClr val="000F82"/>
                </a:solidFill>
                <a:latin typeface="微软雅黑" panose="020B0503020204020204" charset="-122"/>
                <a:ea typeface="微软雅黑" panose="020B0503020204020204" charset="-122"/>
              </a:rPr>
              <a:t>的研究和实践具有极其显著的意义</a:t>
            </a:r>
            <a:endParaRPr lang="en-US" altLang="zh-CN" sz="2000" b="1" dirty="0">
              <a:solidFill>
                <a:srgbClr val="002060"/>
              </a:solidFill>
              <a:latin typeface="微软雅黑" panose="020B0503020204020204" charset="-122"/>
              <a:ea typeface="微软雅黑" panose="020B0503020204020204" charset="-122"/>
            </a:endParaRPr>
          </a:p>
        </p:txBody>
      </p:sp>
      <p:sp>
        <p:nvSpPr>
          <p:cNvPr id="1048646" name="矩形 3"/>
          <p:cNvSpPr/>
          <p:nvPr>
            <p:custDataLst>
              <p:tags r:id="rId6"/>
            </p:custDataLst>
          </p:nvPr>
        </p:nvSpPr>
        <p:spPr>
          <a:xfrm>
            <a:off x="137628" y="1184514"/>
            <a:ext cx="5851753" cy="4998469"/>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7" name="文本框 41"/>
          <p:cNvSpPr txBox="1"/>
          <p:nvPr>
            <p:custDataLst>
              <p:tags r:id="rId7"/>
            </p:custDataLst>
          </p:nvPr>
        </p:nvSpPr>
        <p:spPr>
          <a:xfrm>
            <a:off x="144914" y="1214929"/>
            <a:ext cx="5924222" cy="1844040"/>
          </a:xfrm>
          <a:prstGeom prst="rect">
            <a:avLst/>
          </a:prstGeom>
          <a:noFill/>
        </p:spPr>
        <p:txBody>
          <a:bodyPr wrap="square">
            <a:spAutoFit/>
          </a:bodyPr>
          <a:p>
            <a:pPr marL="285750" indent="-285750">
              <a:lnSpc>
                <a:spcPct val="200000"/>
              </a:lnSpc>
              <a:buFont typeface="Wingdings" panose="05000000000000000000" pitchFamily="2" charset="2"/>
              <a:buChar char="Ø"/>
            </a:pPr>
            <a:r>
              <a:rPr lang="zh-CN" altLang="en-US" sz="1400" b="1" dirty="0">
                <a:solidFill>
                  <a:srgbClr val="000F82"/>
                </a:solidFill>
                <a:latin typeface="微软雅黑" panose="020B0503020204020204" charset="-122"/>
                <a:ea typeface="微软雅黑" panose="020B0503020204020204" charset="-122"/>
              </a:rPr>
              <a:t>中国制造</a:t>
            </a:r>
            <a:r>
              <a:rPr lang="en-US" altLang="zh-CN" sz="1400" b="1" dirty="0">
                <a:solidFill>
                  <a:srgbClr val="000F82"/>
                </a:solidFill>
                <a:latin typeface="微软雅黑" panose="020B0503020204020204" charset="-122"/>
                <a:ea typeface="微软雅黑" panose="020B0503020204020204" charset="-122"/>
              </a:rPr>
              <a:t>2025</a:t>
            </a:r>
            <a:r>
              <a:rPr lang="zh-CN" altLang="en-US" sz="1400" b="1" dirty="0">
                <a:solidFill>
                  <a:srgbClr val="000F82"/>
                </a:solidFill>
                <a:latin typeface="微软雅黑" panose="020B0503020204020204" charset="-122"/>
                <a:ea typeface="微软雅黑" panose="020B0503020204020204" charset="-122"/>
              </a:rPr>
              <a:t>致力于实现中国从制造大国向制造强国的转变</a:t>
            </a:r>
            <a:endParaRPr lang="en-US" altLang="zh-CN" sz="1400" b="1" dirty="0">
              <a:solidFill>
                <a:srgbClr val="000F82"/>
              </a:solidFill>
              <a:latin typeface="微软雅黑" panose="020B0503020204020204" charset="-122"/>
              <a:ea typeface="微软雅黑" panose="020B0503020204020204" charset="-122"/>
            </a:endParaRPr>
          </a:p>
          <a:p>
            <a:pPr marL="285750" indent="-285750">
              <a:lnSpc>
                <a:spcPct val="200000"/>
              </a:lnSpc>
              <a:buFont typeface="Wingdings" panose="05000000000000000000" pitchFamily="2" charset="2"/>
              <a:buChar char="Ø"/>
            </a:pPr>
            <a:r>
              <a:rPr lang="zh-CN" altLang="en-US" sz="1400" b="1" dirty="0">
                <a:solidFill>
                  <a:srgbClr val="000F82"/>
                </a:solidFill>
                <a:latin typeface="微软雅黑" panose="020B0503020204020204" charset="-122"/>
                <a:ea typeface="微软雅黑" panose="020B0503020204020204" charset="-122"/>
              </a:rPr>
              <a:t>航空制造的发展水平可以充分体现一个国家的的综合实力</a:t>
            </a:r>
            <a:endParaRPr lang="en-US" altLang="zh-CN" sz="1400" b="1" dirty="0">
              <a:solidFill>
                <a:srgbClr val="000F82"/>
              </a:solidFill>
              <a:latin typeface="微软雅黑" panose="020B0503020204020204" charset="-122"/>
              <a:ea typeface="微软雅黑" panose="020B0503020204020204" charset="-122"/>
            </a:endParaRPr>
          </a:p>
          <a:p>
            <a:pPr marL="285750" indent="-285750">
              <a:lnSpc>
                <a:spcPct val="200000"/>
              </a:lnSpc>
              <a:buFont typeface="Wingdings" panose="05000000000000000000" pitchFamily="2" charset="2"/>
              <a:buChar char="Ø"/>
            </a:pPr>
            <a:r>
              <a:rPr lang="zh-CN" altLang="en-US" sz="1400" b="1" dirty="0">
                <a:solidFill>
                  <a:srgbClr val="000F82"/>
                </a:solidFill>
                <a:latin typeface="微软雅黑" panose="020B0503020204020204" charset="-122"/>
                <a:ea typeface="微软雅黑" panose="020B0503020204020204" charset="-122"/>
              </a:rPr>
              <a:t>随着航空产业的发展，航空标准零部件行业迎来了新的机遇与挑战。</a:t>
            </a:r>
            <a:endParaRPr lang="zh-CN" altLang="en-US" sz="1400" b="1" dirty="0">
              <a:solidFill>
                <a:srgbClr val="000F82"/>
              </a:solidFill>
              <a:latin typeface="微软雅黑" panose="020B0503020204020204" charset="-122"/>
              <a:ea typeface="微软雅黑" panose="020B0503020204020204" charset="-122"/>
            </a:endParaRPr>
          </a:p>
          <a:p>
            <a:pPr marL="285750" indent="-285750">
              <a:buFont typeface="Wingdings" panose="05000000000000000000" pitchFamily="2" charset="2"/>
              <a:buChar char="Ø"/>
            </a:pPr>
            <a:endParaRPr lang="zh-CN" altLang="en-US" dirty="0"/>
          </a:p>
        </p:txBody>
      </p:sp>
      <p:sp>
        <p:nvSpPr>
          <p:cNvPr id="1048648" name="文本框 42"/>
          <p:cNvSpPr txBox="1"/>
          <p:nvPr>
            <p:custDataLst>
              <p:tags r:id="rId8"/>
            </p:custDataLst>
          </p:nvPr>
        </p:nvSpPr>
        <p:spPr>
          <a:xfrm>
            <a:off x="6132830" y="4312920"/>
            <a:ext cx="5851525" cy="2091690"/>
          </a:xfrm>
          <a:prstGeom prst="rect">
            <a:avLst/>
          </a:prstGeom>
          <a:noFill/>
        </p:spPr>
        <p:txBody>
          <a:bodyPr wrap="square">
            <a:spAutoFit/>
          </a:bodyPr>
          <a:p>
            <a:pPr algn="just">
              <a:lnSpc>
                <a:spcPct val="150000"/>
              </a:lnSpc>
            </a:pPr>
            <a:r>
              <a:rPr lang="zh-CN" altLang="en-US" sz="14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 热处理工序作为航空标准件制造过程中的关键工序，对产品制造周期、热处理无效能耗以及制造成本有着重要影响。</a:t>
            </a:r>
            <a:r>
              <a:rPr lang="zh-CN" altLang="en-US" sz="1600" b="1" dirty="0">
                <a:solidFill>
                  <a:srgbClr val="C00000"/>
                </a:solidFill>
                <a:latin typeface="微软雅黑" panose="020B0503020204020204" charset="-122"/>
                <a:ea typeface="微软雅黑" panose="020B0503020204020204" charset="-122"/>
              </a:rPr>
              <a:t>目前，热处理工序的合理调度与维护已经成为困扰航空标准零部件企业的难题之一。</a:t>
            </a:r>
            <a:endParaRPr lang="zh-CN" altLang="en-US" sz="1600" b="1" dirty="0">
              <a:latin typeface="微软雅黑" panose="020B0503020204020204" charset="-122"/>
              <a:ea typeface="微软雅黑" panose="020B0503020204020204" charset="-122"/>
            </a:endParaRPr>
          </a:p>
          <a:p>
            <a:pPr algn="just">
              <a:lnSpc>
                <a:spcPct val="150000"/>
              </a:lnSpc>
            </a:pPr>
            <a:endParaRPr lang="zh-CN" altLang="en-US" sz="1600" b="1" dirty="0">
              <a:latin typeface="微软雅黑" panose="020B0503020204020204" charset="-122"/>
              <a:ea typeface="微软雅黑" panose="020B0503020204020204" charset="-122"/>
            </a:endParaRPr>
          </a:p>
        </p:txBody>
      </p:sp>
      <p:sp>
        <p:nvSpPr>
          <p:cNvPr id="1048649" name="箭头: 下 43"/>
          <p:cNvSpPr/>
          <p:nvPr>
            <p:custDataLst>
              <p:tags r:id="rId9"/>
            </p:custDataLst>
          </p:nvPr>
        </p:nvSpPr>
        <p:spPr>
          <a:xfrm>
            <a:off x="3041920" y="2619569"/>
            <a:ext cx="245090" cy="419888"/>
          </a:xfrm>
          <a:prstGeom prst="downArrow">
            <a:avLst/>
          </a:prstGeom>
          <a:solidFill>
            <a:schemeClr val="bg2">
              <a:lumMod val="9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50" name="文本框 45"/>
          <p:cNvSpPr txBox="1"/>
          <p:nvPr>
            <p:custDataLst>
              <p:tags r:id="rId10"/>
            </p:custDataLst>
          </p:nvPr>
        </p:nvSpPr>
        <p:spPr>
          <a:xfrm>
            <a:off x="277495" y="3059430"/>
            <a:ext cx="5711825" cy="396240"/>
          </a:xfrm>
          <a:prstGeom prst="rect">
            <a:avLst/>
          </a:prstGeom>
          <a:noFill/>
        </p:spPr>
        <p:txBody>
          <a:bodyPr wrap="square">
            <a:spAutoFit/>
          </a:bodyPr>
          <a:p>
            <a:pPr algn="ctr"/>
            <a:r>
              <a:rPr lang="zh-CN" sz="1800" b="1" kern="100" dirty="0">
                <a:solidFill>
                  <a:srgbClr val="C00000"/>
                </a:solidFill>
                <a:effectLst/>
                <a:latin typeface="微软雅黑" panose="020B0503020204020204" charset="-122"/>
                <a:ea typeface="微软雅黑" panose="020B0503020204020204" charset="-122"/>
                <a:cs typeface="Times New Roman" panose="02020603050405020304" pitchFamily="18" charset="0"/>
              </a:rPr>
              <a:t>加强航空制造零部件加工节能和高效运行的研究</a:t>
            </a:r>
            <a:endParaRPr lang="zh-CN" sz="1800" b="1" kern="100" dirty="0">
              <a:solidFill>
                <a:srgbClr val="C0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51" name="文本框 59"/>
          <p:cNvSpPr txBox="1"/>
          <p:nvPr>
            <p:custDataLst>
              <p:tags r:id="rId11"/>
            </p:custDataLst>
          </p:nvPr>
        </p:nvSpPr>
        <p:spPr>
          <a:xfrm>
            <a:off x="7169785" y="3749675"/>
            <a:ext cx="3623310" cy="522605"/>
          </a:xfrm>
          <a:prstGeom prst="rect">
            <a:avLst/>
          </a:prstGeom>
          <a:noFill/>
        </p:spPr>
        <p:txBody>
          <a:bodyPr wrap="square" anchor="ctr">
            <a:noAutofit/>
          </a:bodyPr>
          <a:p>
            <a:pPr algn="ctr">
              <a:lnSpc>
                <a:spcPct val="200000"/>
              </a:lnSpc>
            </a:pPr>
            <a:r>
              <a:rPr lang="zh-CN" altLang="en-US" b="1" dirty="0">
                <a:solidFill>
                  <a:schemeClr val="tx1"/>
                </a:solidFill>
                <a:latin typeface="微软雅黑" panose="020B0503020204020204" charset="-122"/>
                <a:ea typeface="微软雅黑" panose="020B0503020204020204" charset="-122"/>
              </a:rPr>
              <a:t>航空零部件热处理特点</a:t>
            </a:r>
            <a:endParaRPr lang="zh-CN" altLang="en-US" b="1" dirty="0">
              <a:solidFill>
                <a:schemeClr val="tx1"/>
              </a:solidFill>
              <a:latin typeface="微软雅黑" panose="020B0503020204020204" charset="-122"/>
              <a:ea typeface="微软雅黑" panose="020B0503020204020204" charset="-122"/>
            </a:endParaRPr>
          </a:p>
        </p:txBody>
      </p:sp>
      <p:pic>
        <p:nvPicPr>
          <p:cNvPr id="2097159" name="图片 6"/>
          <p:cNvPicPr>
            <a:picLocks noChangeAspect="1"/>
          </p:cNvPicPr>
          <p:nvPr>
            <p:custDataLst>
              <p:tags r:id="rId12"/>
            </p:custDataLst>
          </p:nvPr>
        </p:nvPicPr>
        <p:blipFill>
          <a:blip r:embed="rId13"/>
          <a:stretch>
            <a:fillRect/>
          </a:stretch>
        </p:blipFill>
        <p:spPr>
          <a:xfrm>
            <a:off x="7265670" y="1419225"/>
            <a:ext cx="3837940" cy="2406650"/>
          </a:xfrm>
          <a:prstGeom prst="rect">
            <a:avLst/>
          </a:prstGeom>
        </p:spPr>
      </p:pic>
      <p:pic>
        <p:nvPicPr>
          <p:cNvPr id="2097160" name="图片 7"/>
          <p:cNvPicPr>
            <a:picLocks noChangeAspect="1"/>
          </p:cNvPicPr>
          <p:nvPr/>
        </p:nvPicPr>
        <p:blipFill>
          <a:blip r:embed="rId14"/>
          <a:stretch>
            <a:fillRect/>
          </a:stretch>
        </p:blipFill>
        <p:spPr>
          <a:xfrm>
            <a:off x="1157605" y="3611880"/>
            <a:ext cx="3844290" cy="23037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1"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4"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602"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1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研究背景</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603" name="矩形 8"/>
          <p:cNvSpPr/>
          <p:nvPr>
            <p:custDataLst>
              <p:tags r:id="rId2"/>
            </p:custDataLst>
          </p:nvPr>
        </p:nvSpPr>
        <p:spPr>
          <a:xfrm>
            <a:off x="145084" y="775442"/>
            <a:ext cx="11839487" cy="409074"/>
          </a:xfrm>
          <a:prstGeom prst="rect">
            <a:avLst/>
          </a:prstGeom>
          <a:solidFill>
            <a:schemeClr val="accent1"/>
          </a:solidFill>
          <a:ln w="28575"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400" b="1" dirty="0">
                <a:solidFill>
                  <a:schemeClr val="bg1"/>
                </a:solidFill>
                <a:latin typeface="微软雅黑" panose="020B0503020204020204" charset="-122"/>
                <a:ea typeface="微软雅黑" panose="020B0503020204020204" charset="-122"/>
              </a:rPr>
              <a:t>退化效应下的并行批调度与维护协同优化</a:t>
            </a:r>
            <a:endParaRPr lang="zh-CN" altLang="en-US" sz="2400" b="1" dirty="0">
              <a:solidFill>
                <a:schemeClr val="bg1"/>
              </a:solidFill>
              <a:latin typeface="微软雅黑" panose="020B0503020204020204" charset="-122"/>
              <a:ea typeface="微软雅黑" panose="020B0503020204020204" charset="-122"/>
            </a:endParaRPr>
          </a:p>
        </p:txBody>
      </p:sp>
      <p:pic>
        <p:nvPicPr>
          <p:cNvPr id="2097155" name="图形 9" descr="纸飞机"/>
          <p:cNvPicPr>
            <a:picLocks noChangeAspect="1"/>
          </p:cNvPicPr>
          <p:nvPr>
            <p:custDataLst>
              <p:tags r:id="rId3"/>
            </p:custDataLst>
          </p:nvPr>
        </p:nvPicPr>
        <p:blipFill>
          <a:blip r:embed="rId4"/>
          <a:stretch>
            <a:fillRect/>
          </a:stretch>
        </p:blipFill>
        <p:spPr>
          <a:xfrm>
            <a:off x="276661" y="751379"/>
            <a:ext cx="457200" cy="457200"/>
          </a:xfrm>
          <a:prstGeom prst="rect">
            <a:avLst/>
          </a:prstGeom>
        </p:spPr>
      </p:pic>
      <p:sp>
        <p:nvSpPr>
          <p:cNvPr id="1048604" name="矩形 82"/>
          <p:cNvSpPr/>
          <p:nvPr/>
        </p:nvSpPr>
        <p:spPr>
          <a:xfrm>
            <a:off x="2433955" y="1605915"/>
            <a:ext cx="4796155" cy="1170940"/>
          </a:xfrm>
          <a:prstGeom prst="rect">
            <a:avLst/>
          </a:prstGeom>
          <a:noFill/>
          <a:ln>
            <a:noFill/>
          </a:ln>
        </p:spPr>
        <p:txBody>
          <a:bodyPr wrap="square" lIns="121917" tIns="60958" rIns="121917" bIns="60958" anchor="ctr" anchorCtr="0">
            <a:noAutofit/>
          </a:bodyPr>
          <a:p>
            <a:pPr indent="0" fontAlgn="auto">
              <a:lnSpc>
                <a:spcPct val="150000"/>
              </a:lnSpc>
              <a:buFont typeface="Wingdings" panose="05000000000000000000" pitchFamily="2" charset="2"/>
              <a:buNone/>
            </a:pP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sym typeface="+mn-ea"/>
              </a:rPr>
              <a:t>由</a:t>
            </a:r>
            <a:r>
              <a:rPr lang="en-US" altLang="zh-CN"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sym typeface="+mn-ea"/>
              </a:rPr>
              <a:t>批处理机进行处理，</a:t>
            </a: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sym typeface="+mn-ea"/>
              </a:rPr>
              <a:t>可</a:t>
            </a:r>
            <a:r>
              <a:rPr lang="en-US" altLang="zh-CN" sz="1600" b="1" dirty="0">
                <a:solidFill>
                  <a:srgbClr val="C00000"/>
                </a:solidFill>
                <a:latin typeface="Times New Roman" panose="02020603050405020304" pitchFamily="18" charset="0"/>
                <a:ea typeface="微软雅黑" panose="020B0503020204020204" charset="-122"/>
                <a:cs typeface="Times New Roman" panose="02020603050405020304" pitchFamily="18" charset="0"/>
                <a:sym typeface="+mn-ea"/>
              </a:rPr>
              <a:t>同时加工同一族多个工件</a:t>
            </a:r>
            <a:endParaRPr lang="en-US" altLang="zh-CN"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endParaRPr>
          </a:p>
          <a:p>
            <a:pPr indent="0" fontAlgn="auto">
              <a:lnSpc>
                <a:spcPct val="150000"/>
              </a:lnSpc>
              <a:buFont typeface="Wingdings" panose="05000000000000000000" pitchFamily="2" charset="2"/>
              <a:buNone/>
            </a:pPr>
            <a:r>
              <a:rPr lang="en-US" altLang="zh-CN"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sym typeface="+mn-ea"/>
              </a:rPr>
              <a:t>航空零部件品种繁多，往往具有多工件族</a:t>
            </a:r>
            <a:r>
              <a:rPr lang="en-US" altLang="zh-CN" sz="1600" b="1" dirty="0">
                <a:solidFill>
                  <a:srgbClr val="C00000"/>
                </a:solidFill>
                <a:latin typeface="Times New Roman" panose="02020603050405020304" pitchFamily="18" charset="0"/>
                <a:ea typeface="微软雅黑" panose="020B0503020204020204" charset="-122"/>
                <a:cs typeface="Times New Roman" panose="02020603050405020304" pitchFamily="18" charset="0"/>
                <a:sym typeface="+mn-ea"/>
              </a:rPr>
              <a:t>不相容性</a:t>
            </a:r>
            <a:endParaRPr lang="en-US" altLang="zh-CN" sz="1600" b="1" dirty="0">
              <a:solidFill>
                <a:srgbClr val="C0000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1048605" name="圆角矩形 85"/>
          <p:cNvSpPr/>
          <p:nvPr/>
        </p:nvSpPr>
        <p:spPr>
          <a:xfrm>
            <a:off x="1560830" y="1604010"/>
            <a:ext cx="832485" cy="1167130"/>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06" name="圆角矩形 86"/>
          <p:cNvSpPr/>
          <p:nvPr/>
        </p:nvSpPr>
        <p:spPr>
          <a:xfrm>
            <a:off x="526415" y="1578610"/>
            <a:ext cx="743585" cy="2725420"/>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r>
              <a:rPr lang="zh-CN" altLang="en-US" b="1" dirty="0">
                <a:latin typeface="Times New Roman" panose="02020603050405020304" pitchFamily="18" charset="0"/>
                <a:ea typeface="微软雅黑" panose="020B0503020204020204" charset="-122"/>
                <a:cs typeface="Times New Roman" panose="02020603050405020304" pitchFamily="18" charset="0"/>
              </a:rPr>
              <a:t>航空零部件热处理</a:t>
            </a: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07" name="左大括号 88"/>
          <p:cNvSpPr/>
          <p:nvPr/>
        </p:nvSpPr>
        <p:spPr>
          <a:xfrm>
            <a:off x="1268095" y="2058670"/>
            <a:ext cx="301625" cy="1838960"/>
          </a:xfrm>
          <a:prstGeom prst="leftBrace">
            <a:avLst>
              <a:gd name="adj1" fmla="val 47767"/>
              <a:gd name="adj2" fmla="val 50000"/>
            </a:avLst>
          </a:prstGeom>
          <a:ln w="19050">
            <a:solidFill>
              <a:srgbClr val="5B9BD5"/>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p>
            <a:pPr algn="ctr"/>
            <a:endParaRPr lang="zh-CN" altLang="en-US">
              <a:latin typeface="Times New Roman" panose="02020603050405020304" pitchFamily="18" charset="0"/>
              <a:cs typeface="Times New Roman" panose="02020603050405020304" pitchFamily="18" charset="0"/>
            </a:endParaRPr>
          </a:p>
        </p:txBody>
      </p:sp>
      <p:sp>
        <p:nvSpPr>
          <p:cNvPr id="1048608" name="圆角矩形 89"/>
          <p:cNvSpPr/>
          <p:nvPr/>
        </p:nvSpPr>
        <p:spPr>
          <a:xfrm>
            <a:off x="2273300" y="1602740"/>
            <a:ext cx="4985385" cy="1174750"/>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09" name="矩形 90"/>
          <p:cNvSpPr/>
          <p:nvPr/>
        </p:nvSpPr>
        <p:spPr>
          <a:xfrm>
            <a:off x="2410460" y="3238500"/>
            <a:ext cx="4778375" cy="914400"/>
          </a:xfrm>
          <a:prstGeom prst="rect">
            <a:avLst/>
          </a:prstGeom>
        </p:spPr>
        <p:txBody>
          <a:bodyPr wrap="square" lIns="121917" tIns="60958" rIns="121917" bIns="60958" anchor="ctr" anchorCtr="0">
            <a:noAutofit/>
          </a:bodyPr>
          <a:p>
            <a:pPr>
              <a:lnSpc>
                <a:spcPct val="125000"/>
              </a:lnSpc>
            </a:pPr>
            <a:r>
              <a:rPr lang="en-US" altLang="zh-CN" sz="1600" b="1" dirty="0">
                <a:solidFill>
                  <a:srgbClr val="000F82"/>
                </a:solidFill>
                <a:latin typeface="微软雅黑" panose="020B0503020204020204" charset="-122"/>
                <a:ea typeface="微软雅黑" panose="020B0503020204020204" charset="-122"/>
                <a:sym typeface="+mn-ea"/>
              </a:rPr>
              <a:t>热处理耗能高、耗时长</a:t>
            </a:r>
            <a:r>
              <a:rPr lang="zh-CN" altLang="en-US" sz="1600" b="1" dirty="0">
                <a:solidFill>
                  <a:srgbClr val="000F82"/>
                </a:solidFill>
                <a:latin typeface="微软雅黑" panose="020B0503020204020204" charset="-122"/>
                <a:ea typeface="微软雅黑" panose="020B0503020204020204" charset="-122"/>
                <a:sym typeface="+mn-ea"/>
              </a:rPr>
              <a:t>，导致</a:t>
            </a:r>
            <a:r>
              <a:rPr lang="zh-CN" altLang="en-US" sz="1600" b="1" dirty="0">
                <a:solidFill>
                  <a:srgbClr val="C00000"/>
                </a:solidFill>
                <a:latin typeface="微软雅黑" panose="020B0503020204020204" charset="-122"/>
                <a:ea typeface="微软雅黑" panose="020B0503020204020204" charset="-122"/>
                <a:sym typeface="+mn-ea"/>
              </a:rPr>
              <a:t>设备退化</a:t>
            </a:r>
            <a:r>
              <a:rPr lang="zh-CN" altLang="en-US" sz="1600" b="1" dirty="0">
                <a:solidFill>
                  <a:srgbClr val="000F82"/>
                </a:solidFill>
                <a:latin typeface="微软雅黑" panose="020B0503020204020204" charset="-122"/>
                <a:ea typeface="微软雅黑" panose="020B0503020204020204" charset="-122"/>
                <a:sym typeface="+mn-ea"/>
              </a:rPr>
              <a:t>加速，设备</a:t>
            </a:r>
            <a:r>
              <a:rPr lang="zh-CN" altLang="en-US" sz="1600" b="1" dirty="0">
                <a:solidFill>
                  <a:srgbClr val="C00000"/>
                </a:solidFill>
                <a:latin typeface="微软雅黑" panose="020B0503020204020204" charset="-122"/>
                <a:ea typeface="微软雅黑" panose="020B0503020204020204" charset="-122"/>
                <a:sym typeface="+mn-ea"/>
              </a:rPr>
              <a:t>维护需求</a:t>
            </a:r>
            <a:r>
              <a:rPr lang="zh-CN" altLang="en-US" sz="1600" b="1" dirty="0">
                <a:solidFill>
                  <a:srgbClr val="000F82"/>
                </a:solidFill>
                <a:latin typeface="微软雅黑" panose="020B0503020204020204" charset="-122"/>
                <a:ea typeface="微软雅黑" panose="020B0503020204020204" charset="-122"/>
                <a:sym typeface="+mn-ea"/>
              </a:rPr>
              <a:t>随之增加</a:t>
            </a:r>
            <a:endParaRPr lang="zh-CN" altLang="en-US" sz="16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610" name="圆角矩形 91"/>
          <p:cNvSpPr/>
          <p:nvPr/>
        </p:nvSpPr>
        <p:spPr>
          <a:xfrm>
            <a:off x="2317115" y="3191510"/>
            <a:ext cx="4942205" cy="953135"/>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11" name="圆角矩形 96"/>
          <p:cNvSpPr/>
          <p:nvPr/>
        </p:nvSpPr>
        <p:spPr>
          <a:xfrm>
            <a:off x="7943850" y="1589405"/>
            <a:ext cx="2889885" cy="1198245"/>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12" name="矩形 97"/>
          <p:cNvSpPr/>
          <p:nvPr/>
        </p:nvSpPr>
        <p:spPr>
          <a:xfrm>
            <a:off x="7945120" y="1748790"/>
            <a:ext cx="2943225" cy="739140"/>
          </a:xfrm>
          <a:prstGeom prst="rect">
            <a:avLst/>
          </a:prstGeom>
        </p:spPr>
        <p:txBody>
          <a:bodyPr wrap="square" lIns="121917" tIns="60958" rIns="121917" bIns="60958">
            <a:noAutofit/>
          </a:bodyPr>
          <a:p>
            <a:pPr>
              <a:lnSpc>
                <a:spcPct val="125000"/>
              </a:lnSpc>
            </a:pPr>
            <a:r>
              <a:rPr lang="zh-CN" sz="15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集中在开发</a:t>
            </a:r>
            <a:r>
              <a:rPr lang="zh-CN" sz="1500"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高效的调度策略</a:t>
            </a:r>
            <a:r>
              <a:rPr lang="zh-CN" sz="15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，以实现工件族的合理排序和设备资源的最大化利用</a:t>
            </a:r>
            <a:endParaRPr lang="zh-CN" sz="15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613" name="圆角矩形 99"/>
          <p:cNvSpPr/>
          <p:nvPr/>
        </p:nvSpPr>
        <p:spPr>
          <a:xfrm>
            <a:off x="384175" y="1456055"/>
            <a:ext cx="7025640" cy="3033395"/>
          </a:xfrm>
          <a:prstGeom prst="roundRect">
            <a:avLst>
              <a:gd name="adj" fmla="val 8503"/>
            </a:avLst>
          </a:prstGeom>
          <a:noFill/>
          <a:ln w="22225">
            <a:solidFill>
              <a:srgbClr val="5B9BD5"/>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a:latin typeface="Times New Roman" panose="02020603050405020304" pitchFamily="18" charset="0"/>
              <a:cs typeface="Times New Roman" panose="02020603050405020304" pitchFamily="18" charset="0"/>
            </a:endParaRPr>
          </a:p>
        </p:txBody>
      </p:sp>
      <p:sp>
        <p:nvSpPr>
          <p:cNvPr id="1048614" name="圆角矩形 143"/>
          <p:cNvSpPr/>
          <p:nvPr/>
        </p:nvSpPr>
        <p:spPr>
          <a:xfrm>
            <a:off x="7766050" y="1438910"/>
            <a:ext cx="4009390" cy="3011170"/>
          </a:xfrm>
          <a:prstGeom prst="roundRect">
            <a:avLst>
              <a:gd name="adj" fmla="val 8503"/>
            </a:avLst>
          </a:prstGeom>
          <a:noFill/>
          <a:ln w="22225">
            <a:solidFill>
              <a:srgbClr val="5B9BD5"/>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a:latin typeface="Times New Roman" panose="02020603050405020304" pitchFamily="18" charset="0"/>
              <a:cs typeface="Times New Roman" panose="02020603050405020304" pitchFamily="18" charset="0"/>
            </a:endParaRPr>
          </a:p>
        </p:txBody>
      </p:sp>
      <p:sp>
        <p:nvSpPr>
          <p:cNvPr id="1048615" name="圆角矩形 144"/>
          <p:cNvSpPr/>
          <p:nvPr/>
        </p:nvSpPr>
        <p:spPr>
          <a:xfrm>
            <a:off x="11118215" y="1604010"/>
            <a:ext cx="575945" cy="2642870"/>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r>
              <a:rPr lang="zh-CN" altLang="en-US" b="1" dirty="0">
                <a:latin typeface="Times New Roman" panose="02020603050405020304" pitchFamily="18" charset="0"/>
                <a:ea typeface="微软雅黑" panose="020B0503020204020204" charset="-122"/>
                <a:cs typeface="Times New Roman" panose="02020603050405020304" pitchFamily="18" charset="0"/>
              </a:rPr>
              <a:t>优化方向</a:t>
            </a: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16" name="矩形 31"/>
          <p:cNvSpPr/>
          <p:nvPr/>
        </p:nvSpPr>
        <p:spPr>
          <a:xfrm>
            <a:off x="1565910" y="1647190"/>
            <a:ext cx="838835" cy="1129665"/>
          </a:xfrm>
          <a:prstGeom prst="rect">
            <a:avLst/>
          </a:prstGeom>
        </p:spPr>
        <p:txBody>
          <a:bodyPr wrap="square" anchor="ctr" anchorCtr="0">
            <a:noAutofit/>
          </a:bodyPr>
          <a:p>
            <a:pPr algn="ctr"/>
            <a:r>
              <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并行批调度</a:t>
            </a:r>
            <a:endPar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617" name="圆角矩形 145"/>
          <p:cNvSpPr/>
          <p:nvPr/>
        </p:nvSpPr>
        <p:spPr>
          <a:xfrm>
            <a:off x="1572260" y="3190875"/>
            <a:ext cx="832485" cy="969010"/>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18" name="矩形 146"/>
          <p:cNvSpPr/>
          <p:nvPr/>
        </p:nvSpPr>
        <p:spPr>
          <a:xfrm>
            <a:off x="1569085" y="3239135"/>
            <a:ext cx="838835" cy="941070"/>
          </a:xfrm>
          <a:prstGeom prst="rect">
            <a:avLst/>
          </a:prstGeom>
        </p:spPr>
        <p:txBody>
          <a:bodyPr wrap="square" anchor="ctr" anchorCtr="0">
            <a:noAutofit/>
          </a:bodyPr>
          <a:p>
            <a:pPr algn="ctr"/>
            <a:r>
              <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退化与</a:t>
            </a:r>
            <a:endPar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endParaRPr>
          </a:p>
          <a:p>
            <a:pPr algn="ctr"/>
            <a:r>
              <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维护</a:t>
            </a:r>
            <a:endPar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619" name="左大括号 147"/>
          <p:cNvSpPr/>
          <p:nvPr/>
        </p:nvSpPr>
        <p:spPr>
          <a:xfrm flipH="1">
            <a:off x="10816590" y="2056765"/>
            <a:ext cx="301625" cy="1814195"/>
          </a:xfrm>
          <a:prstGeom prst="leftBrace">
            <a:avLst>
              <a:gd name="adj1" fmla="val 47767"/>
              <a:gd name="adj2" fmla="val 50000"/>
            </a:avLst>
          </a:prstGeom>
          <a:ln w="19050">
            <a:solidFill>
              <a:srgbClr val="5B9BD5"/>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p>
            <a:pPr algn="ctr"/>
            <a:endParaRPr lang="zh-CN" altLang="en-US">
              <a:latin typeface="Times New Roman" panose="02020603050405020304" pitchFamily="18" charset="0"/>
              <a:cs typeface="Times New Roman" panose="02020603050405020304" pitchFamily="18" charset="0"/>
            </a:endParaRPr>
          </a:p>
        </p:txBody>
      </p:sp>
      <p:sp>
        <p:nvSpPr>
          <p:cNvPr id="1048620" name="圆角矩形 148"/>
          <p:cNvSpPr/>
          <p:nvPr/>
        </p:nvSpPr>
        <p:spPr>
          <a:xfrm>
            <a:off x="7927340" y="3195320"/>
            <a:ext cx="2889885" cy="930910"/>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21" name="矩形 149"/>
          <p:cNvSpPr/>
          <p:nvPr/>
        </p:nvSpPr>
        <p:spPr>
          <a:xfrm>
            <a:off x="7927340" y="3166745"/>
            <a:ext cx="2943225" cy="931545"/>
          </a:xfrm>
          <a:prstGeom prst="rect">
            <a:avLst/>
          </a:prstGeom>
        </p:spPr>
        <p:txBody>
          <a:bodyPr wrap="square" lIns="121917" tIns="60958" rIns="121917" bIns="60958">
            <a:noAutofit/>
          </a:bodyPr>
          <a:p>
            <a:pPr>
              <a:lnSpc>
                <a:spcPct val="125000"/>
              </a:lnSpc>
            </a:pPr>
            <a:r>
              <a:rPr lang="zh-CN" altLang="en-US" sz="15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要建立相应的退化模型以及</a:t>
            </a:r>
            <a:r>
              <a:rPr lang="zh-CN" altLang="en-US" sz="1500"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协同维护机制</a:t>
            </a:r>
            <a:r>
              <a:rPr lang="zh-CN" altLang="en-US" sz="15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，以实现热处理工序的整体优化和效能提升</a:t>
            </a:r>
            <a:endParaRPr lang="zh-CN" altLang="en-US" sz="15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622" name="左右箭头 36"/>
          <p:cNvSpPr/>
          <p:nvPr/>
        </p:nvSpPr>
        <p:spPr>
          <a:xfrm>
            <a:off x="7259096" y="1984941"/>
            <a:ext cx="685432" cy="288032"/>
          </a:xfrm>
          <a:prstGeom prst="leftRightArrow">
            <a:avLst/>
          </a:prstGeom>
          <a:solidFill>
            <a:srgbClr val="5B9BD5"/>
          </a:solid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23" name="左右箭头 151"/>
          <p:cNvSpPr/>
          <p:nvPr/>
        </p:nvSpPr>
        <p:spPr>
          <a:xfrm>
            <a:off x="7254581" y="3582466"/>
            <a:ext cx="662441" cy="288032"/>
          </a:xfrm>
          <a:prstGeom prst="leftRightArrow">
            <a:avLst/>
          </a:prstGeom>
          <a:solidFill>
            <a:srgbClr val="5B9BD5"/>
          </a:solid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24" name="任意多边形: 形状 11"/>
          <p:cNvSpPr/>
          <p:nvPr/>
        </p:nvSpPr>
        <p:spPr>
          <a:xfrm flipV="1">
            <a:off x="5790820" y="4289197"/>
            <a:ext cx="587785" cy="448104"/>
          </a:xfrm>
          <a:custGeom>
            <a:avLst/>
            <a:gdLst>
              <a:gd name="connsiteX0" fmla="*/ 1829836 w 3659671"/>
              <a:gd name="connsiteY0" fmla="*/ 0 h 5221922"/>
              <a:gd name="connsiteX1" fmla="*/ 2744236 w 3659671"/>
              <a:gd name="connsiteY1" fmla="*/ 1025479 h 5221922"/>
              <a:gd name="connsiteX2" fmla="*/ 2186407 w 3659671"/>
              <a:gd name="connsiteY2" fmla="*/ 1025479 h 5221922"/>
              <a:gd name="connsiteX3" fmla="*/ 2185603 w 3659671"/>
              <a:gd name="connsiteY3" fmla="*/ 1093353 h 5221922"/>
              <a:gd name="connsiteX4" fmla="*/ 2727829 w 3659671"/>
              <a:gd name="connsiteY4" fmla="*/ 3563174 h 5221922"/>
              <a:gd name="connsiteX5" fmla="*/ 3563896 w 3659671"/>
              <a:gd name="connsiteY5" fmla="*/ 5096147 h 5221922"/>
              <a:gd name="connsiteX6" fmla="*/ 3659671 w 3659671"/>
              <a:gd name="connsiteY6" fmla="*/ 5221922 h 5221922"/>
              <a:gd name="connsiteX7" fmla="*/ 0 w 3659671"/>
              <a:gd name="connsiteY7" fmla="*/ 5221922 h 5221922"/>
              <a:gd name="connsiteX8" fmla="*/ 95777 w 3659671"/>
              <a:gd name="connsiteY8" fmla="*/ 5096145 h 5221922"/>
              <a:gd name="connsiteX9" fmla="*/ 931844 w 3659671"/>
              <a:gd name="connsiteY9" fmla="*/ 3563172 h 5221922"/>
              <a:gd name="connsiteX10" fmla="*/ 1474070 w 3659671"/>
              <a:gd name="connsiteY10" fmla="*/ 1093351 h 5221922"/>
              <a:gd name="connsiteX11" fmla="*/ 1473265 w 3659671"/>
              <a:gd name="connsiteY11" fmla="*/ 1025479 h 5221922"/>
              <a:gd name="connsiteX12" fmla="*/ 915436 w 3659671"/>
              <a:gd name="connsiteY12" fmla="*/ 1025479 h 522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9671" h="5221922">
                <a:moveTo>
                  <a:pt x="1829836" y="0"/>
                </a:moveTo>
                <a:lnTo>
                  <a:pt x="2744236" y="1025479"/>
                </a:lnTo>
                <a:lnTo>
                  <a:pt x="2186407" y="1025479"/>
                </a:lnTo>
                <a:lnTo>
                  <a:pt x="2185603" y="1093353"/>
                </a:lnTo>
                <a:cubicBezTo>
                  <a:pt x="2203211" y="1854161"/>
                  <a:pt x="2380074" y="2708036"/>
                  <a:pt x="2727829" y="3563174"/>
                </a:cubicBezTo>
                <a:cubicBezTo>
                  <a:pt x="2959665" y="4133266"/>
                  <a:pt x="3245505" y="4649949"/>
                  <a:pt x="3563896" y="5096147"/>
                </a:cubicBezTo>
                <a:lnTo>
                  <a:pt x="3659671" y="5221922"/>
                </a:lnTo>
                <a:lnTo>
                  <a:pt x="0" y="5221922"/>
                </a:lnTo>
                <a:lnTo>
                  <a:pt x="95777" y="5096145"/>
                </a:lnTo>
                <a:cubicBezTo>
                  <a:pt x="414167" y="4649947"/>
                  <a:pt x="700007" y="4133264"/>
                  <a:pt x="931844" y="3563172"/>
                </a:cubicBezTo>
                <a:cubicBezTo>
                  <a:pt x="1279598" y="2708034"/>
                  <a:pt x="1456462" y="1854159"/>
                  <a:pt x="1474070" y="1093351"/>
                </a:cubicBezTo>
                <a:lnTo>
                  <a:pt x="1473265" y="1025479"/>
                </a:lnTo>
                <a:lnTo>
                  <a:pt x="915436" y="1025479"/>
                </a:lnTo>
                <a:close/>
              </a:path>
            </a:pathLst>
          </a:custGeom>
          <a:gradFill>
            <a:gsLst>
              <a:gs pos="0">
                <a:srgbClr val="5B9BD5"/>
              </a:gs>
              <a:gs pos="81000">
                <a:schemeClr val="bg1">
                  <a:alpha val="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Light" panose="020B0502040204020203" pitchFamily="34" charset="-122"/>
              <a:cs typeface="Times New Roman" panose="02020603050405020304" pitchFamily="18" charset="0"/>
            </a:endParaRPr>
          </a:p>
        </p:txBody>
      </p:sp>
      <p:grpSp>
        <p:nvGrpSpPr>
          <p:cNvPr id="43" name="组合 1"/>
          <p:cNvGrpSpPr/>
          <p:nvPr/>
        </p:nvGrpSpPr>
        <p:grpSpPr>
          <a:xfrm>
            <a:off x="2392711" y="4772841"/>
            <a:ext cx="7569835" cy="1800225"/>
            <a:chOff x="2586421" y="4365898"/>
            <a:chExt cx="7569835" cy="1800225"/>
          </a:xfrm>
        </p:grpSpPr>
        <p:sp>
          <p:nvSpPr>
            <p:cNvPr id="1048625" name="矩形: 圆角 447"/>
            <p:cNvSpPr/>
            <p:nvPr>
              <p:custDataLst>
                <p:tags r:id="rId5"/>
              </p:custDataLst>
            </p:nvPr>
          </p:nvSpPr>
          <p:spPr>
            <a:xfrm>
              <a:off x="2586421" y="4583703"/>
              <a:ext cx="7569835" cy="1582420"/>
            </a:xfrm>
            <a:prstGeom prst="roundRect">
              <a:avLst>
                <a:gd name="adj" fmla="val 6534"/>
              </a:avLst>
            </a:prstGeom>
            <a:solidFill>
              <a:schemeClr val="bg1"/>
            </a:solidFill>
            <a:ln w="12700">
              <a:solidFill>
                <a:schemeClr val="accent1"/>
              </a:solidFill>
            </a:ln>
            <a:effectLst>
              <a:outerShdw blurRad="127000" dist="50800" dir="2700000" algn="tl" rotWithShape="0">
                <a:srgbClr val="02377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endParaRPr lang="zh-CN" altLang="en-US" sz="2400" b="1">
                <a:solidFill>
                  <a:schemeClr val="bg1"/>
                </a:solidFill>
                <a:latin typeface="Times New Roman" panose="02020603050405020304" pitchFamily="18" charset="0"/>
                <a:cs typeface="Times New Roman" panose="02020603050405020304" pitchFamily="18" charset="0"/>
                <a:sym typeface="+mn-lt"/>
              </a:endParaRPr>
            </a:p>
          </p:txBody>
        </p:sp>
        <p:sp>
          <p:nvSpPr>
            <p:cNvPr id="1048626" name="文本框 96"/>
            <p:cNvSpPr txBox="1"/>
            <p:nvPr/>
          </p:nvSpPr>
          <p:spPr>
            <a:xfrm>
              <a:off x="2849311" y="4831988"/>
              <a:ext cx="7306310" cy="1329689"/>
            </a:xfrm>
            <a:prstGeom prst="rect">
              <a:avLst/>
            </a:prstGeom>
            <a:noFill/>
          </p:spPr>
          <p:txBody>
            <a:bodyPr wrap="square">
              <a:spAutoFit/>
            </a:bodyPr>
            <a:lstStyle>
              <a:defPPr>
                <a:defRPr lang="zh-CN"/>
              </a:defPPr>
              <a:lvl1pPr algn="ctr">
                <a:lnSpc>
                  <a:spcPts val="2000"/>
                </a:lnSpc>
                <a:defRPr sz="1400" kern="100">
                  <a:effectLst/>
                  <a:latin typeface="微软雅黑" panose="020B0503020204020204" charset="-122"/>
                  <a:ea typeface="微软雅黑" panose="020B0503020204020204" charset="-122"/>
                  <a:cs typeface="Times New Roman" panose="02020603050405020304" pitchFamily="18" charset="0"/>
                </a:defRPr>
              </a:lvl1pPr>
            </a:lstStyle>
            <a:p>
              <a:pPr marL="285750" indent="-285750" algn="l">
                <a:lnSpc>
                  <a:spcPct val="125000"/>
                </a:lnSpc>
                <a:buFont typeface="Wingdings" panose="05000000000000000000" pitchFamily="2" charset="2"/>
                <a:buChar char="Ø"/>
              </a:pPr>
              <a:r>
                <a:rPr lang="zh-CN" altLang="en-US" sz="2000" b="1" dirty="0">
                  <a:latin typeface="+mn-ea"/>
                  <a:ea typeface="+mn-ea"/>
                  <a:cs typeface="+mn-ea"/>
                </a:rPr>
                <a:t>如何合理有效地生成不同约束下条件下的批调度方案</a:t>
              </a:r>
              <a:endParaRPr lang="en-US" altLang="zh-CN" sz="2000" b="1" dirty="0">
                <a:latin typeface="+mn-ea"/>
                <a:ea typeface="+mn-ea"/>
                <a:cs typeface="+mn-ea"/>
              </a:endParaRPr>
            </a:p>
            <a:p>
              <a:pPr marL="285750" indent="-285750" algn="l">
                <a:lnSpc>
                  <a:spcPct val="125000"/>
                </a:lnSpc>
                <a:buFont typeface="Wingdings" panose="05000000000000000000" pitchFamily="2" charset="2"/>
                <a:buChar char="Ø"/>
              </a:pPr>
              <a:r>
                <a:rPr lang="zh-CN" altLang="zh-CN" sz="2000" b="1" dirty="0">
                  <a:latin typeface="+mn-ea"/>
                  <a:ea typeface="+mn-ea"/>
                  <a:cs typeface="+mn-ea"/>
                </a:rPr>
                <a:t>如何解决</a:t>
              </a:r>
              <a:r>
                <a:rPr lang="zh-CN" altLang="en-US" sz="2000" b="1" dirty="0">
                  <a:latin typeface="+mn-ea"/>
                  <a:ea typeface="+mn-ea"/>
                  <a:cs typeface="+mn-ea"/>
                </a:rPr>
                <a:t>退化效应所带来的不确定性因素</a:t>
              </a:r>
              <a:endParaRPr lang="zh-CN" altLang="en-US" sz="2000" b="1" dirty="0">
                <a:latin typeface="+mn-ea"/>
                <a:ea typeface="+mn-ea"/>
                <a:cs typeface="+mn-ea"/>
              </a:endParaRPr>
            </a:p>
            <a:p>
              <a:pPr marL="285750" indent="-285750" algn="l">
                <a:lnSpc>
                  <a:spcPct val="125000"/>
                </a:lnSpc>
                <a:buFont typeface="Wingdings" panose="05000000000000000000" pitchFamily="2" charset="2"/>
                <a:buChar char="Ø"/>
              </a:pPr>
              <a:r>
                <a:rPr lang="zh-CN" altLang="en-US" sz="2000" b="1" dirty="0">
                  <a:latin typeface="+mn-ea"/>
                  <a:ea typeface="+mn-ea"/>
                  <a:cs typeface="+mn-ea"/>
                </a:rPr>
                <a:t>如何完善与维护协同优化的机制</a:t>
              </a:r>
              <a:endParaRPr lang="en-US" altLang="zh-CN" sz="2000" b="1" kern="1200" dirty="0">
                <a:latin typeface="+mn-ea"/>
                <a:ea typeface="+mn-ea"/>
                <a:cs typeface="+mn-ea"/>
              </a:endParaRPr>
            </a:p>
          </p:txBody>
        </p:sp>
        <p:sp>
          <p:nvSpPr>
            <p:cNvPr id="1048627" name="矩形: 圆角 164"/>
            <p:cNvSpPr/>
            <p:nvPr/>
          </p:nvSpPr>
          <p:spPr>
            <a:xfrm>
              <a:off x="4667834" y="4365898"/>
              <a:ext cx="3256888" cy="430421"/>
            </a:xfrm>
            <a:prstGeom prst="roundRect">
              <a:avLst>
                <a:gd name="adj" fmla="val 31641"/>
              </a:avLst>
            </a:prstGeom>
            <a:solidFill>
              <a:srgbClr val="FB6E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cs typeface="Times New Roman" panose="02020603050405020304" pitchFamily="18" charset="0"/>
              </a:endParaRPr>
            </a:p>
          </p:txBody>
        </p:sp>
        <p:sp>
          <p:nvSpPr>
            <p:cNvPr id="1048628" name="文本框 37"/>
            <p:cNvSpPr txBox="1"/>
            <p:nvPr/>
          </p:nvSpPr>
          <p:spPr>
            <a:xfrm>
              <a:off x="4659375" y="4383408"/>
              <a:ext cx="3256887" cy="447039"/>
            </a:xfrm>
            <a:prstGeom prst="rect">
              <a:avLst/>
            </a:prstGeom>
            <a:noFill/>
          </p:spPr>
          <p:txBody>
            <a:bodyPr wrap="square">
              <a:spAutoFit/>
            </a:bodyPr>
            <a:lstStyle>
              <a:defPPr>
                <a:defRPr lang="zh-CN"/>
              </a:defPPr>
              <a:lvl1pPr>
                <a:defRPr sz="2800" b="1">
                  <a:solidFill>
                    <a:srgbClr val="02377E"/>
                  </a:solidFill>
                  <a:latin typeface="微软雅黑" panose="020B0503020204020204" charset="-122"/>
                  <a:ea typeface="微软雅黑" panose="020B0503020204020204" charset="-122"/>
                </a:defRPr>
              </a:lvl1pPr>
            </a:lstStyle>
            <a:p>
              <a:pPr algn="ctr"/>
              <a:r>
                <a:rPr lang="zh-CN" altLang="en-US" sz="2100" dirty="0">
                  <a:solidFill>
                    <a:schemeClr val="bg1"/>
                  </a:solidFill>
                  <a:latin typeface="Times New Roman" panose="02020603050405020304" pitchFamily="18" charset="0"/>
                  <a:cs typeface="Times New Roman" panose="02020603050405020304" pitchFamily="18" charset="0"/>
                </a:rPr>
                <a:t>关键研究问题</a:t>
              </a:r>
              <a:endParaRPr lang="zh-CN" altLang="en-US" sz="2100" dirty="0">
                <a:solidFill>
                  <a:schemeClr val="bg1"/>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2"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587"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588" name="等腰三角形 8"/>
          <p:cNvSpPr/>
          <p:nvPr/>
        </p:nvSpPr>
        <p:spPr>
          <a:xfrm rot="5400000">
            <a:off x="463619" y="89265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3E95"/>
              </a:solidFill>
            </a:endParaRPr>
          </a:p>
        </p:txBody>
      </p:sp>
      <p:sp>
        <p:nvSpPr>
          <p:cNvPr id="1048589" name="矩形 10"/>
          <p:cNvSpPr/>
          <p:nvPr/>
        </p:nvSpPr>
        <p:spPr>
          <a:xfrm>
            <a:off x="657333" y="679178"/>
            <a:ext cx="5365865" cy="614041"/>
          </a:xfrm>
          <a:prstGeom prst="rect">
            <a:avLst/>
          </a:prstGeom>
          <a:noFill/>
          <a:ln>
            <a:noFill/>
          </a:ln>
        </p:spPr>
        <p:txBody>
          <a:bodyPr wrap="square" lIns="121917" tIns="60958" rIns="121917" bIns="60958">
            <a:spAutoFit/>
          </a:bodyPr>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并行批调度问题的分类</a:t>
            </a:r>
            <a:endPar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590" name="矩形 14"/>
          <p:cNvSpPr/>
          <p:nvPr/>
        </p:nvSpPr>
        <p:spPr>
          <a:xfrm>
            <a:off x="1556992" y="6272528"/>
            <a:ext cx="9115993" cy="460375"/>
          </a:xfrm>
          <a:prstGeom prst="rect">
            <a:avLst/>
          </a:prstGeom>
          <a:noFill/>
          <a:ln w="38100">
            <a:solidFill>
              <a:srgbClr val="C00000"/>
            </a:solidFill>
          </a:ln>
          <a:effectLst/>
        </p:spPr>
        <p:txBody>
          <a:bodyPr wrap="square" anchor="ctr">
            <a:spAutoFit/>
          </a:bodyPr>
          <a:p>
            <a:pPr algn="ctr"/>
            <a:r>
              <a:rPr lang="zh-CN" altLang="en-US" sz="2400" b="1" dirty="0">
                <a:solidFill>
                  <a:srgbClr val="000F82"/>
                </a:solidFill>
                <a:latin typeface="微软雅黑" panose="020B0503020204020204" charset="-122"/>
                <a:ea typeface="微软雅黑" panose="020B0503020204020204" charset="-122"/>
              </a:rPr>
              <a:t>并行批调度问题种类繁多、约束复杂</a:t>
            </a:r>
            <a:endParaRPr lang="en-US" altLang="zh-CN" sz="2000" b="1" dirty="0">
              <a:solidFill>
                <a:srgbClr val="C00000"/>
              </a:solidFill>
              <a:latin typeface="微软雅黑" panose="020B0503020204020204" charset="-122"/>
              <a:ea typeface="微软雅黑" panose="020B0503020204020204" charset="-122"/>
            </a:endParaRPr>
          </a:p>
        </p:txBody>
      </p:sp>
      <p:graphicFrame>
        <p:nvGraphicFramePr>
          <p:cNvPr id="4194304" name="表格 3"/>
          <p:cNvGraphicFramePr>
            <a:graphicFrameLocks noGrp="1"/>
          </p:cNvGraphicFramePr>
          <p:nvPr>
            <p:custDataLst>
              <p:tags r:id="rId2"/>
            </p:custDataLst>
          </p:nvPr>
        </p:nvGraphicFramePr>
        <p:xfrm>
          <a:off x="1477010" y="1283970"/>
          <a:ext cx="4702175" cy="4643755"/>
        </p:xfrm>
        <a:graphic>
          <a:graphicData uri="http://schemas.openxmlformats.org/drawingml/2006/table">
            <a:tbl>
              <a:tblPr firstRow="1" bandRow="1">
                <a:tableStyleId>{5C22544A-7EE6-4342-B048-85BDC9FD1C3A}</a:tableStyleId>
              </a:tblPr>
              <a:tblGrid>
                <a:gridCol w="461645"/>
                <a:gridCol w="1877695"/>
                <a:gridCol w="2362835"/>
              </a:tblGrid>
              <a:tr h="517525">
                <a:tc rowSpan="9">
                  <a:txBody>
                    <a:bodyPr/>
                    <a:p>
                      <a:pPr algn="ctr"/>
                      <a:r>
                        <a:rPr lang="zh-CN" sz="1800" b="1" dirty="0">
                          <a:solidFill>
                            <a:srgbClr val="000F82"/>
                          </a:solidFill>
                          <a:latin typeface="微软雅黑" panose="020B0503020204020204" charset="-122"/>
                          <a:ea typeface="微软雅黑" panose="020B0503020204020204" charset="-122"/>
                        </a:rPr>
                        <a:t>并行批调度问题</a:t>
                      </a:r>
                      <a:endParaRPr lang="zh-CN" sz="1800" b="1" dirty="0">
                        <a:solidFill>
                          <a:srgbClr val="000F82"/>
                        </a:solidFill>
                        <a:latin typeface="微软雅黑" panose="020B0503020204020204" charset="-122"/>
                        <a:ea typeface="微软雅黑" panose="020B0503020204020204" charset="-122"/>
                      </a:endParaRPr>
                    </a:p>
                  </a:txBody>
                  <a:tcPr anchor="ctr">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algn="ctr">
                        <a:buNone/>
                      </a:pPr>
                      <a:r>
                        <a:rPr lang="zh-CN" altLang="en-US" sz="1600" b="1" dirty="0">
                          <a:solidFill>
                            <a:schemeClr val="tx1"/>
                          </a:solidFill>
                          <a:latin typeface="微软雅黑" panose="020B0503020204020204" charset="-122"/>
                          <a:ea typeface="微软雅黑" panose="020B0503020204020204" charset="-122"/>
                        </a:rPr>
                        <a:t>分类依据</a:t>
                      </a:r>
                      <a:endParaRPr lang="zh-CN" altLang="en-US" sz="16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algn="ctr"/>
                      <a:r>
                        <a:rPr lang="zh-CN" altLang="en-US" sz="1600" b="1" dirty="0">
                          <a:solidFill>
                            <a:schemeClr val="tx1"/>
                          </a:solidFill>
                          <a:latin typeface="微软雅黑" panose="020B0503020204020204" charset="-122"/>
                          <a:ea typeface="微软雅黑" panose="020B0503020204020204" charset="-122"/>
                        </a:rPr>
                        <a:t>类别</a:t>
                      </a:r>
                      <a:endParaRPr lang="zh-CN" altLang="en-US" sz="16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18160">
                <a:tc vMerge="1">
                  <a:tcPr anchor="ctr">
                    <a:lnL w="12700" cap="flat" cmpd="sng" algn="ctr">
                      <a:solidFill>
                        <a:schemeClr val="accent5">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rowSpan="3">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机器运行环境</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sz="1400" b="1" dirty="0">
                          <a:solidFill>
                            <a:schemeClr val="tx1"/>
                          </a:solidFill>
                          <a:latin typeface="微软雅黑" panose="020B0503020204020204" charset="-122"/>
                          <a:ea typeface="微软雅黑" panose="020B0503020204020204" charset="-122"/>
                        </a:rPr>
                        <a:t>单机</a:t>
                      </a:r>
                      <a:endParaRPr lang="zh-CN"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16890">
                <a:tc vMerge="1">
                  <a:tcPr>
                    <a:lnR w="12700" cap="flat" cmpd="sng" algn="ctr">
                      <a:solidFill>
                        <a:schemeClr val="tx1"/>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sz="1400" b="1" dirty="0">
                          <a:solidFill>
                            <a:schemeClr val="tx1"/>
                          </a:solidFill>
                          <a:latin typeface="微软雅黑" panose="020B0503020204020204" charset="-122"/>
                          <a:ea typeface="微软雅黑" panose="020B0503020204020204" charset="-122"/>
                        </a:rPr>
                        <a:t>等同并行机</a:t>
                      </a:r>
                      <a:endParaRPr lang="zh-CN"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18160">
                <a:tc vMerge="1">
                  <a:tcPr>
                    <a:lnR w="12700" cap="flat" cmpd="sng" algn="ctr">
                      <a:solidFill>
                        <a:schemeClr val="tx1"/>
                      </a:solidFill>
                      <a:prstDash val="solid"/>
                      <a:round/>
                      <a:headEnd type="none" w="med" len="med"/>
                      <a:tailEnd type="none" w="med" len="med"/>
                    </a:lnR>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非等同并行机</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17525">
                <a:tc vMerge="1">
                  <a:tcPr>
                    <a:lnR w="12700" cap="flat" cmpd="sng" algn="ctr">
                      <a:solidFill>
                        <a:schemeClr val="tx1"/>
                      </a:solidFill>
                      <a:prstDash val="solid"/>
                      <a:round/>
                      <a:headEnd type="none" w="med" len="med"/>
                      <a:tailEnd type="none" w="med" len="med"/>
                    </a:lnR>
                  </a:tcPr>
                </a:tc>
                <a:tc rowSpan="5">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工件特征</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sz="1400" b="1" dirty="0">
                          <a:solidFill>
                            <a:schemeClr val="tx1"/>
                          </a:solidFill>
                          <a:latin typeface="微软雅黑" panose="020B0503020204020204" charset="-122"/>
                          <a:ea typeface="微软雅黑" panose="020B0503020204020204" charset="-122"/>
                        </a:rPr>
                        <a:t>工件到达时间</a:t>
                      </a:r>
                      <a:endParaRPr lang="zh-CN"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02920">
                <a:tc vMerge="1">
                  <a:tcPr>
                    <a:lnR w="12700" cap="flat" cmpd="sng" algn="ctr">
                      <a:solidFill>
                        <a:schemeClr val="tx1"/>
                      </a:solidFill>
                      <a:prstDash val="solid"/>
                      <a:round/>
                      <a:headEnd type="none" w="med" len="med"/>
                      <a:tailEnd type="none" w="med" len="med"/>
                    </a:lnR>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sz="1400" b="1" dirty="0">
                          <a:solidFill>
                            <a:schemeClr val="tx1"/>
                          </a:solidFill>
                          <a:latin typeface="微软雅黑" panose="020B0503020204020204" charset="-122"/>
                          <a:ea typeface="微软雅黑" panose="020B0503020204020204" charset="-122"/>
                        </a:rPr>
                        <a:t>机器准备时间</a:t>
                      </a:r>
                      <a:endParaRPr lang="zh-CN"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18160">
                <a:tc vMerge="1">
                  <a:tcPr>
                    <a:lnR w="12700" cap="flat" cmpd="sng" algn="ctr">
                      <a:solidFill>
                        <a:schemeClr val="tx1"/>
                      </a:solidFill>
                      <a:prstDash val="solid"/>
                      <a:round/>
                      <a:headEnd type="none" w="med" len="med"/>
                      <a:tailEnd type="none" w="med" len="med"/>
                    </a:lnR>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优先约束</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16890">
                <a:tc vMerge="1">
                  <a:tcPr>
                    <a:lnR w="12700" cap="flat" cmpd="sng" algn="ctr">
                      <a:solidFill>
                        <a:schemeClr val="tx1"/>
                      </a:solidFill>
                      <a:prstDash val="solid"/>
                      <a:round/>
                      <a:headEnd type="none" w="med" len="med"/>
                      <a:tailEnd type="none" w="med" len="med"/>
                    </a:lnR>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批处理机类型</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17525">
                <a:tc vMerge="1">
                  <a:tcPr>
                    <a:lnR w="12700" cap="flat" cmpd="sng" algn="ctr">
                      <a:solidFill>
                        <a:schemeClr val="tx1"/>
                      </a:solidFill>
                      <a:prstDash val="solid"/>
                      <a:round/>
                      <a:headEnd type="none" w="med" len="med"/>
                      <a:tailEnd type="none" w="med" len="med"/>
                    </a:lnR>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工件尺寸</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bl>
          </a:graphicData>
        </a:graphic>
      </p:graphicFrame>
      <p:graphicFrame>
        <p:nvGraphicFramePr>
          <p:cNvPr id="4194305" name="表格 12"/>
          <p:cNvGraphicFramePr>
            <a:graphicFrameLocks noGrp="1"/>
          </p:cNvGraphicFramePr>
          <p:nvPr>
            <p:custDataLst>
              <p:tags r:id="rId3"/>
            </p:custDataLst>
          </p:nvPr>
        </p:nvGraphicFramePr>
        <p:xfrm>
          <a:off x="6658610" y="1283970"/>
          <a:ext cx="4482465" cy="2419350"/>
        </p:xfrm>
        <a:graphic>
          <a:graphicData uri="http://schemas.openxmlformats.org/drawingml/2006/table">
            <a:tbl>
              <a:tblPr firstRow="1" bandRow="1">
                <a:tableStyleId>{5C22544A-7EE6-4342-B048-85BDC9FD1C3A}</a:tableStyleId>
              </a:tblPr>
              <a:tblGrid>
                <a:gridCol w="2029460"/>
                <a:gridCol w="2453005"/>
              </a:tblGrid>
              <a:tr h="483870">
                <a:tc>
                  <a:txBody>
                    <a:bodyPr/>
                    <a:p>
                      <a:pPr algn="ctr">
                        <a:buNone/>
                      </a:pPr>
                      <a:r>
                        <a:rPr lang="zh-CN" altLang="en-US" sz="1600" b="1" dirty="0">
                          <a:solidFill>
                            <a:schemeClr val="tx1"/>
                          </a:solidFill>
                          <a:latin typeface="微软雅黑" panose="020B0503020204020204" charset="-122"/>
                          <a:ea typeface="微软雅黑" panose="020B0503020204020204" charset="-122"/>
                        </a:rPr>
                        <a:t>分类依据</a:t>
                      </a:r>
                      <a:endParaRPr lang="zh-CN" altLang="en-US" sz="16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algn="ctr"/>
                      <a:r>
                        <a:rPr lang="zh-CN" altLang="en-US" sz="1600" b="1" dirty="0">
                          <a:solidFill>
                            <a:schemeClr val="tx1"/>
                          </a:solidFill>
                          <a:latin typeface="微软雅黑" panose="020B0503020204020204" charset="-122"/>
                          <a:ea typeface="微软雅黑" panose="020B0503020204020204" charset="-122"/>
                        </a:rPr>
                        <a:t>类别</a:t>
                      </a:r>
                      <a:endParaRPr lang="zh-CN" altLang="en-US" sz="16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483870">
                <a:tc rowSpan="4">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优化目标</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最大完工时间</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48387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最大延迟时间</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48387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总完工时间</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48387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总能耗</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bl>
          </a:graphicData>
        </a:graphic>
      </p:graphicFrame>
      <p:graphicFrame>
        <p:nvGraphicFramePr>
          <p:cNvPr id="4194306" name="表格 24"/>
          <p:cNvGraphicFramePr>
            <a:graphicFrameLocks noGrp="1"/>
          </p:cNvGraphicFramePr>
          <p:nvPr>
            <p:custDataLst>
              <p:tags r:id="rId4"/>
            </p:custDataLst>
          </p:nvPr>
        </p:nvGraphicFramePr>
        <p:xfrm>
          <a:off x="6658610" y="3896995"/>
          <a:ext cx="4482465" cy="2032000"/>
        </p:xfrm>
        <a:graphic>
          <a:graphicData uri="http://schemas.openxmlformats.org/drawingml/2006/table">
            <a:tbl>
              <a:tblPr firstRow="1" bandRow="1">
                <a:tableStyleId>{5C22544A-7EE6-4342-B048-85BDC9FD1C3A}</a:tableStyleId>
              </a:tblPr>
              <a:tblGrid>
                <a:gridCol w="1257300"/>
                <a:gridCol w="1569720"/>
                <a:gridCol w="1655445"/>
              </a:tblGrid>
              <a:tr h="508000">
                <a:tc gridSpan="3">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 𝛼|𝛽|𝛾 三参数法</a:t>
                      </a:r>
                      <a:r>
                        <a:rPr lang="en-US" altLang="zh-CN" sz="1400" b="1" dirty="0">
                          <a:solidFill>
                            <a:schemeClr val="tx1"/>
                          </a:solidFill>
                          <a:latin typeface="微软雅黑" panose="020B0503020204020204" charset="-122"/>
                          <a:ea typeface="微软雅黑" panose="020B0503020204020204" charset="-122"/>
                        </a:rPr>
                        <a:t>[</a:t>
                      </a:r>
                      <a:r>
                        <a:rPr lang="en-US" altLang="zh-CN" sz="1400" b="1" dirty="0">
                          <a:solidFill>
                            <a:schemeClr val="tx1"/>
                          </a:solidFill>
                          <a:latin typeface="微软雅黑" panose="020B0503020204020204" charset="-122"/>
                          <a:ea typeface="微软雅黑" panose="020B0503020204020204" charset="-122"/>
                        </a:rPr>
                        <a:t>1</a:t>
                      </a:r>
                      <a:r>
                        <a:rPr lang="en-US" altLang="zh-CN" sz="1400" b="1" dirty="0">
                          <a:solidFill>
                            <a:schemeClr val="tx1"/>
                          </a:solidFill>
                          <a:latin typeface="微软雅黑" panose="020B0503020204020204" charset="-122"/>
                          <a:ea typeface="微软雅黑" panose="020B0503020204020204" charset="-122"/>
                        </a:rPr>
                        <a:t>]</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08000">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sym typeface="+mn-ea"/>
                        </a:rPr>
                        <a:t> 𝛼</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sym typeface="+mn-ea"/>
                        </a:rPr>
                        <a:t>机器运行环境</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描述机器的类型与数量</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08000">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sym typeface="+mn-ea"/>
                        </a:rPr>
                        <a:t>𝛽</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工件特征</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sym typeface="+mn-ea"/>
                        </a:rPr>
                        <a:t>描述工件属性与加工特性</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08000">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sym typeface="+mn-ea"/>
                        </a:rPr>
                        <a:t>𝛾</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目标函数</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sz="1400" b="1" dirty="0">
                          <a:solidFill>
                            <a:schemeClr val="tx1"/>
                          </a:solidFill>
                          <a:latin typeface="微软雅黑" panose="020B0503020204020204" charset="-122"/>
                          <a:ea typeface="微软雅黑" panose="020B0503020204020204" charset="-122"/>
                        </a:rPr>
                        <a:t>描述优化目标</a:t>
                      </a:r>
                      <a:endParaRPr lang="zh-CN" altLang="en-US" sz="1400" b="1" dirty="0">
                        <a:solidFill>
                          <a:schemeClr val="tx1"/>
                        </a:solidFill>
                        <a:latin typeface="微软雅黑" panose="020B0503020204020204" charset="-122"/>
                        <a:ea typeface="微软雅黑" panose="020B050302020402020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594"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3"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595"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相容工件</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596" name="等腰三角形 8"/>
          <p:cNvSpPr/>
          <p:nvPr/>
        </p:nvSpPr>
        <p:spPr>
          <a:xfrm rot="5400000">
            <a:off x="346144" y="77454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3E95"/>
              </a:solidFill>
            </a:endParaRPr>
          </a:p>
        </p:txBody>
      </p:sp>
      <p:sp>
        <p:nvSpPr>
          <p:cNvPr id="1048597" name="矩形 1"/>
          <p:cNvSpPr/>
          <p:nvPr/>
        </p:nvSpPr>
        <p:spPr>
          <a:xfrm>
            <a:off x="539858" y="561068"/>
            <a:ext cx="5365865" cy="614041"/>
          </a:xfrm>
          <a:prstGeom prst="rect">
            <a:avLst/>
          </a:prstGeom>
          <a:noFill/>
          <a:ln>
            <a:noFill/>
          </a:ln>
        </p:spPr>
        <p:txBody>
          <a:bodyPr wrap="square" lIns="121917" tIns="60958" rIns="121917" bIns="60958">
            <a:spAutoFit/>
          </a:bodyPr>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调度方案生成</a:t>
            </a:r>
            <a:endPar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graphicFrame>
        <p:nvGraphicFramePr>
          <p:cNvPr id="4194307" name="表格 2"/>
          <p:cNvGraphicFramePr>
            <a:graphicFrameLocks noGrp="1"/>
          </p:cNvGraphicFramePr>
          <p:nvPr>
            <p:custDataLst>
              <p:tags r:id="rId2"/>
            </p:custDataLst>
          </p:nvPr>
        </p:nvGraphicFramePr>
        <p:xfrm>
          <a:off x="158750" y="1205230"/>
          <a:ext cx="11532870" cy="4096385"/>
        </p:xfrm>
        <a:graphic>
          <a:graphicData uri="http://schemas.openxmlformats.org/drawingml/2006/table">
            <a:tbl>
              <a:tblPr firstRow="1" bandRow="1">
                <a:tableStyleId>{5C22544A-7EE6-4342-B048-85BDC9FD1C3A}</a:tableStyleId>
              </a:tblPr>
              <a:tblGrid>
                <a:gridCol w="771525"/>
                <a:gridCol w="2807335"/>
                <a:gridCol w="2268855"/>
                <a:gridCol w="4416425"/>
                <a:gridCol w="1268730"/>
              </a:tblGrid>
              <a:tr h="902335">
                <a:tc>
                  <a:txBody>
                    <a:bodyPr/>
                    <a:p>
                      <a:pPr algn="ctr"/>
                      <a:r>
                        <a:rPr lang="zh-CN" altLang="en-US" sz="1800" dirty="0">
                          <a:latin typeface="微软雅黑" panose="020B0503020204020204" charset="-122"/>
                          <a:ea typeface="微软雅黑" panose="020B0503020204020204" charset="-122"/>
                        </a:rPr>
                        <a:t>核心问题</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内容</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主要影响因素</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解决方法一</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buNone/>
                      </a:pPr>
                      <a:r>
                        <a:rPr lang="zh-CN" altLang="en-US" sz="1800" dirty="0">
                          <a:latin typeface="微软雅黑" panose="020B0503020204020204" charset="-122"/>
                          <a:ea typeface="微软雅黑" panose="020B0503020204020204" charset="-122"/>
                        </a:rPr>
                        <a:t>解决方法二</a:t>
                      </a:r>
                      <a:endParaRPr lang="zh-CN" altLang="en-US" sz="1800" dirty="0">
                        <a:latin typeface="微软雅黑" panose="020B0503020204020204" charset="-122"/>
                        <a:ea typeface="微软雅黑" panose="020B0503020204020204" charset="-122"/>
                      </a:endParaRPr>
                    </a:p>
                  </a:txBody>
                  <a:tcPr marL="121904" marR="121904" marT="60974" marB="60974" anchor="ctr"/>
                </a:tc>
              </a:tr>
              <a:tr h="1002665">
                <a:tc>
                  <a:txBody>
                    <a:bodyPr/>
                    <a:p>
                      <a:pPr algn="ctr"/>
                      <a:r>
                        <a:rPr lang="zh-CN" altLang="en-US" sz="1600" dirty="0">
                          <a:latin typeface="微软雅黑" panose="020B0503020204020204" charset="-122"/>
                          <a:ea typeface="微软雅黑" panose="020B0503020204020204" charset="-122"/>
                        </a:rPr>
                        <a:t>批次形成</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如何合理形成批次</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indent="0" algn="ctr" defTabSz="685800" rtl="0" eaLnBrk="1" fontAlgn="auto" latinLnBrk="0" hangingPunct="1">
                        <a:lnSpc>
                          <a:spcPct val="100000"/>
                        </a:lnSpc>
                        <a:spcBef>
                          <a:spcPts val="0"/>
                        </a:spcBef>
                        <a:spcAft>
                          <a:spcPts val="0"/>
                        </a:spcAft>
                        <a:buClrTx/>
                        <a:buSzTx/>
                        <a:buFontTx/>
                        <a:buNone/>
                      </a:pPr>
                      <a:r>
                        <a:rPr lang="zh-CN" altLang="en-US" sz="1600" dirty="0">
                          <a:latin typeface="微软雅黑" panose="020B0503020204020204" charset="-122"/>
                          <a:ea typeface="微软雅黑" panose="020B0503020204020204" charset="-122"/>
                        </a:rPr>
                        <a:t>与容量相关的特征</a:t>
                      </a:r>
                      <a:endParaRPr lang="zh-CN" altLang="en-US" sz="1600" dirty="0">
                        <a:latin typeface="微软雅黑" panose="020B0503020204020204" charset="-122"/>
                        <a:ea typeface="微软雅黑" panose="020B0503020204020204" charset="-122"/>
                      </a:endParaRPr>
                    </a:p>
                    <a:p>
                      <a:pPr marL="0" marR="0" indent="0" algn="ctr" defTabSz="685800" rtl="0" eaLnBrk="1" fontAlgn="auto" latinLnBrk="0" hangingPunct="1">
                        <a:lnSpc>
                          <a:spcPct val="100000"/>
                        </a:lnSpc>
                        <a:spcBef>
                          <a:spcPts val="0"/>
                        </a:spcBef>
                        <a:spcAft>
                          <a:spcPts val="0"/>
                        </a:spcAft>
                        <a:buClrTx/>
                        <a:buSzTx/>
                        <a:buFontTx/>
                        <a:buNone/>
                      </a:pPr>
                      <a:r>
                        <a:rPr lang="zh-CN" altLang="en-US" sz="1600" dirty="0">
                          <a:latin typeface="微软雅黑" panose="020B0503020204020204" charset="-122"/>
                          <a:ea typeface="微软雅黑" panose="020B0503020204020204" charset="-122"/>
                        </a:rPr>
                        <a:t>（包括工件大小</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2</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、二维尺寸</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3</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、机器容量</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4</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参考单机批调度问题，往往设计指派规则</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rowSpan="3">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合三为一的直接设计解结构</a:t>
                      </a:r>
                      <a:r>
                        <a:rPr lang="en-US" altLang="zh-CN" sz="1600" kern="1200" dirty="0">
                          <a:solidFill>
                            <a:schemeClr val="dk1"/>
                          </a:solidFill>
                          <a:effectLst/>
                          <a:latin typeface="微软雅黑" panose="020B0503020204020204" charset="-122"/>
                          <a:ea typeface="微软雅黑" panose="020B0503020204020204" charset="-122"/>
                          <a:cs typeface="+mn-cs"/>
                        </a:rPr>
                        <a:t>[</a:t>
                      </a:r>
                      <a:r>
                        <a:rPr lang="en-US" altLang="zh-CN" sz="1600" kern="1200" dirty="0">
                          <a:solidFill>
                            <a:schemeClr val="dk1"/>
                          </a:solidFill>
                          <a:effectLst/>
                          <a:latin typeface="微软雅黑" panose="020B0503020204020204" charset="-122"/>
                          <a:ea typeface="微软雅黑" panose="020B0503020204020204" charset="-122"/>
                          <a:cs typeface="+mn-cs"/>
                        </a:rPr>
                        <a:t>8</a:t>
                      </a:r>
                      <a:r>
                        <a:rPr lang="en-US" altLang="zh-CN" sz="1600" kern="1200" dirty="0">
                          <a:solidFill>
                            <a:schemeClr val="dk1"/>
                          </a:solidFill>
                          <a:effectLst/>
                          <a:latin typeface="微软雅黑" panose="020B0503020204020204" charset="-122"/>
                          <a:ea typeface="微软雅黑" panose="020B0503020204020204" charset="-122"/>
                          <a:cs typeface="+mn-cs"/>
                        </a:rPr>
                        <a:t>]</a:t>
                      </a:r>
                      <a:r>
                        <a:rPr lang="en-US" altLang="zh-CN" sz="1600" kern="1200" dirty="0">
                          <a:solidFill>
                            <a:schemeClr val="dk1"/>
                          </a:solidFill>
                          <a:effectLst/>
                          <a:latin typeface="微软雅黑" panose="020B0503020204020204" charset="-122"/>
                          <a:ea typeface="微软雅黑" panose="020B0503020204020204" charset="-122"/>
                          <a:cs typeface="+mn-cs"/>
                        </a:rPr>
                        <a:t>[</a:t>
                      </a:r>
                      <a:r>
                        <a:rPr lang="en-US" altLang="zh-CN" sz="1600" kern="1200" dirty="0">
                          <a:solidFill>
                            <a:schemeClr val="dk1"/>
                          </a:solidFill>
                          <a:effectLst/>
                          <a:latin typeface="微软雅黑" panose="020B0503020204020204" charset="-122"/>
                          <a:ea typeface="微软雅黑" panose="020B0503020204020204" charset="-122"/>
                          <a:cs typeface="+mn-cs"/>
                        </a:rPr>
                        <a:t>9</a:t>
                      </a:r>
                      <a:r>
                        <a:rPr lang="en-US" altLang="zh-CN" sz="1600" kern="1200" dirty="0">
                          <a:solidFill>
                            <a:schemeClr val="dk1"/>
                          </a:solidFill>
                          <a:effectLst/>
                          <a:latin typeface="微软雅黑" panose="020B0503020204020204" charset="-122"/>
                          <a:ea typeface="微软雅黑" panose="020B0503020204020204" charset="-122"/>
                          <a:cs typeface="+mn-cs"/>
                        </a:rPr>
                        <a:t>]</a:t>
                      </a:r>
                      <a:endParaRPr lang="zh-CN" altLang="en-US" sz="1600" kern="1200" dirty="0">
                        <a:solidFill>
                          <a:schemeClr val="dk1"/>
                        </a:solidFill>
                        <a:effectLst/>
                        <a:latin typeface="微软雅黑" panose="020B0503020204020204" charset="-122"/>
                        <a:ea typeface="微软雅黑" panose="020B050302020402020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pP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r>
              <a:tr h="1094105">
                <a:tc>
                  <a:txBody>
                    <a:bodyPr/>
                    <a:p>
                      <a:pPr algn="ctr"/>
                      <a:r>
                        <a:rPr lang="zh-CN" altLang="en-US" sz="1600" dirty="0">
                          <a:latin typeface="微软雅黑" panose="020B0503020204020204" charset="-122"/>
                          <a:ea typeface="微软雅黑" panose="020B0503020204020204" charset="-122"/>
                        </a:rPr>
                        <a:t>指派</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将工件或批次指派给具体机器</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（取决于和批次形成的先后顺序）</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机器运行环境</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（非等同并行机</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5</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marL="0" marR="0" lvl="0" indent="0" algn="ctr" defTabSz="914400" rtl="0" eaLnBrk="1" fontAlgn="auto" latinLnBrk="0" hangingPunct="1">
                        <a:lnSpc>
                          <a:spcPts val="24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通过启发式算法的编码部分</a:t>
                      </a:r>
                      <a:endParaRPr lang="zh-CN" altLang="en-US" sz="1600" kern="1200" dirty="0">
                        <a:solidFill>
                          <a:schemeClr val="dk1"/>
                        </a:solidFill>
                        <a:effectLst/>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ts val="24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或单独设计指派规则实现</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anchor="ctr">
                    <a:solidFill>
                      <a:srgbClr val="EAEFF7"/>
                    </a:solidFill>
                  </a:tcPr>
                </a:tc>
                <a:tc vMerge="1">
                  <a:tcPr anchor="ctr">
                    <a:solidFill>
                      <a:srgbClr val="EAEFF7"/>
                    </a:solidFill>
                  </a:tcPr>
                </a:tc>
              </a:tr>
              <a:tr h="1097280">
                <a:tc>
                  <a:txBody>
                    <a:bodyPr/>
                    <a:p>
                      <a:pPr algn="ctr"/>
                      <a:r>
                        <a:rPr lang="zh-CN" altLang="en-US" sz="1600" dirty="0">
                          <a:latin typeface="微软雅黑" panose="020B0503020204020204" charset="-122"/>
                          <a:ea typeface="微软雅黑" panose="020B0503020204020204" charset="-122"/>
                        </a:rPr>
                        <a:t>批次排序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对某一台机器批次的合理排序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与时间相关的工件特征</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（包括工件释放时间、到期时间</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6</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7</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lnSpc>
                          <a:spcPct val="125000"/>
                        </a:lnSpc>
                      </a:pPr>
                      <a:r>
                        <a:rPr lang="zh-CN" altLang="en-US" sz="1600" dirty="0">
                          <a:latin typeface="微软雅黑" panose="020B0503020204020204" charset="-122"/>
                          <a:ea typeface="微软雅黑" panose="020B0503020204020204" charset="-122"/>
                        </a:rPr>
                        <a:t>设计指派规则生成初始排序，再局部搜索最优</a:t>
                      </a:r>
                      <a:endParaRPr lang="zh-CN" altLang="en-US" sz="1600" dirty="0">
                        <a:latin typeface="微软雅黑" panose="020B0503020204020204" charset="-122"/>
                        <a:ea typeface="微软雅黑" panose="020B0503020204020204" charset="-122"/>
                      </a:endParaRPr>
                    </a:p>
                  </a:txBody>
                  <a:tcPr marL="121904" marR="121904" marT="60974" marB="60974" anchor="ctr"/>
                </a:tc>
                <a:tc vMerge="1">
                  <a:tcPr marL="121904" marR="121904" marT="60974" marB="60974"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32"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6"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633"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相容工件</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634" name="等腰三角形 8"/>
          <p:cNvSpPr/>
          <p:nvPr/>
        </p:nvSpPr>
        <p:spPr>
          <a:xfrm rot="5400000">
            <a:off x="346144" y="77454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3E95"/>
              </a:solidFill>
            </a:endParaRPr>
          </a:p>
        </p:txBody>
      </p:sp>
      <p:sp>
        <p:nvSpPr>
          <p:cNvPr id="1048635" name="矩形 1"/>
          <p:cNvSpPr/>
          <p:nvPr/>
        </p:nvSpPr>
        <p:spPr>
          <a:xfrm>
            <a:off x="539858" y="561068"/>
            <a:ext cx="5365865" cy="614041"/>
          </a:xfrm>
          <a:prstGeom prst="rect">
            <a:avLst/>
          </a:prstGeom>
          <a:noFill/>
          <a:ln>
            <a:noFill/>
          </a:ln>
        </p:spPr>
        <p:txBody>
          <a:bodyPr wrap="square" lIns="121917" tIns="60958" rIns="121917" bIns="60958">
            <a:spAutoFit/>
          </a:bodyPr>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调度方案生成</a:t>
            </a:r>
            <a:endPar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graphicFrame>
        <p:nvGraphicFramePr>
          <p:cNvPr id="4194308" name="表格 3"/>
          <p:cNvGraphicFramePr>
            <a:graphicFrameLocks noGrp="1"/>
          </p:cNvGraphicFramePr>
          <p:nvPr>
            <p:custDataLst>
              <p:tags r:id="rId2"/>
            </p:custDataLst>
          </p:nvPr>
        </p:nvGraphicFramePr>
        <p:xfrm>
          <a:off x="158750" y="1205230"/>
          <a:ext cx="11532870" cy="3892550"/>
        </p:xfrm>
        <a:graphic>
          <a:graphicData uri="http://schemas.openxmlformats.org/drawingml/2006/table">
            <a:tbl>
              <a:tblPr firstRow="1" bandRow="1">
                <a:tableStyleId>{5C22544A-7EE6-4342-B048-85BDC9FD1C3A}</a:tableStyleId>
              </a:tblPr>
              <a:tblGrid>
                <a:gridCol w="771525"/>
                <a:gridCol w="2807335"/>
                <a:gridCol w="2268855"/>
                <a:gridCol w="4416425"/>
                <a:gridCol w="1268730"/>
              </a:tblGrid>
              <a:tr h="902335">
                <a:tc>
                  <a:txBody>
                    <a:bodyPr/>
                    <a:p>
                      <a:pPr algn="ctr"/>
                      <a:r>
                        <a:rPr lang="zh-CN" altLang="en-US" sz="1800" dirty="0">
                          <a:latin typeface="微软雅黑" panose="020B0503020204020204" charset="-122"/>
                          <a:ea typeface="微软雅黑" panose="020B0503020204020204" charset="-122"/>
                        </a:rPr>
                        <a:t>核心问题</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内容</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主要影响因素</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解决方法一</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buNone/>
                      </a:pPr>
                      <a:r>
                        <a:rPr lang="zh-CN" altLang="en-US" sz="1800" dirty="0">
                          <a:latin typeface="微软雅黑" panose="020B0503020204020204" charset="-122"/>
                          <a:ea typeface="微软雅黑" panose="020B0503020204020204" charset="-122"/>
                        </a:rPr>
                        <a:t>解决方法二</a:t>
                      </a:r>
                      <a:endParaRPr lang="zh-CN" altLang="en-US" sz="1800" dirty="0">
                        <a:latin typeface="微软雅黑" panose="020B0503020204020204" charset="-122"/>
                        <a:ea typeface="微软雅黑" panose="020B0503020204020204" charset="-122"/>
                      </a:endParaRPr>
                    </a:p>
                  </a:txBody>
                  <a:tcPr marL="121904" marR="121904" marT="60974" marB="60974" anchor="ctr"/>
                </a:tc>
              </a:tr>
              <a:tr h="1002665">
                <a:tc>
                  <a:txBody>
                    <a:bodyPr/>
                    <a:p>
                      <a:pPr algn="ctr"/>
                      <a:r>
                        <a:rPr lang="zh-CN" altLang="en-US" sz="1600" dirty="0">
                          <a:latin typeface="微软雅黑" panose="020B0503020204020204" charset="-122"/>
                          <a:ea typeface="微软雅黑" panose="020B0503020204020204" charset="-122"/>
                        </a:rPr>
                        <a:t>批次形成</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如何合理形成批次</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indent="0" algn="ctr" defTabSz="685800" rtl="0" eaLnBrk="1" fontAlgn="auto" latinLnBrk="0" hangingPunct="1">
                        <a:lnSpc>
                          <a:spcPct val="100000"/>
                        </a:lnSpc>
                        <a:spcBef>
                          <a:spcPts val="0"/>
                        </a:spcBef>
                        <a:spcAft>
                          <a:spcPts val="0"/>
                        </a:spcAft>
                        <a:buClrTx/>
                        <a:buSzTx/>
                        <a:buFontTx/>
                        <a:buNone/>
                      </a:pPr>
                      <a:r>
                        <a:rPr lang="zh-CN" altLang="en-US" sz="1600" dirty="0">
                          <a:latin typeface="微软雅黑" panose="020B0503020204020204" charset="-122"/>
                          <a:ea typeface="微软雅黑" panose="020B0503020204020204" charset="-122"/>
                        </a:rPr>
                        <a:t>与容量相关的特征</a:t>
                      </a:r>
                      <a:endParaRPr lang="zh-CN" altLang="en-US" sz="1600" dirty="0">
                        <a:latin typeface="微软雅黑" panose="020B0503020204020204" charset="-122"/>
                        <a:ea typeface="微软雅黑" panose="020B0503020204020204" charset="-122"/>
                      </a:endParaRPr>
                    </a:p>
                    <a:p>
                      <a:pPr marL="0" marR="0" indent="0" algn="ctr" defTabSz="685800" rtl="0" eaLnBrk="1" fontAlgn="auto" latinLnBrk="0" hangingPunct="1">
                        <a:lnSpc>
                          <a:spcPct val="100000"/>
                        </a:lnSpc>
                        <a:spcBef>
                          <a:spcPts val="0"/>
                        </a:spcBef>
                        <a:spcAft>
                          <a:spcPts val="0"/>
                        </a:spcAft>
                        <a:buClrTx/>
                        <a:buSzTx/>
                        <a:buFontTx/>
                        <a:buNone/>
                      </a:pPr>
                      <a:r>
                        <a:rPr lang="zh-CN" altLang="en-US" sz="1600" dirty="0">
                          <a:latin typeface="微软雅黑" panose="020B0503020204020204" charset="-122"/>
                          <a:ea typeface="微软雅黑" panose="020B0503020204020204" charset="-122"/>
                        </a:rPr>
                        <a:t>（包括工件大小、二维尺寸、机器容量）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参考单机批调度问题，往往设计指派规则</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rowSpan="3">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合三为一的直接设计解结构</a:t>
                      </a:r>
                      <a:endParaRPr lang="zh-CN" altLang="en-US" sz="1600" kern="1200" dirty="0">
                        <a:solidFill>
                          <a:schemeClr val="dk1"/>
                        </a:solidFill>
                        <a:effectLst/>
                        <a:latin typeface="微软雅黑" panose="020B0503020204020204" charset="-122"/>
                        <a:ea typeface="微软雅黑" panose="020B050302020402020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pP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r>
              <a:tr h="1094105">
                <a:tc>
                  <a:txBody>
                    <a:bodyPr/>
                    <a:p>
                      <a:pPr algn="ctr"/>
                      <a:r>
                        <a:rPr lang="zh-CN" altLang="en-US" sz="1600" dirty="0">
                          <a:latin typeface="微软雅黑" panose="020B0503020204020204" charset="-122"/>
                          <a:ea typeface="微软雅黑" panose="020B0503020204020204" charset="-122"/>
                        </a:rPr>
                        <a:t>指派</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将工件或批次指派给具体机器</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（取决于和批次形成的先后顺序）</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机器运行环境</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（非等同并行机）</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lstStyle>
                      <a:defPPr>
                        <a:defRPr lang="en-US">
                          <a:solidFill>
                            <a:schemeClr val="dk1"/>
                          </a:solidFill>
                        </a:defRPr>
                      </a:defPPr>
                      <a:lvl1pPr marL="0" algn="l" defTabSz="914400" rtl="0" eaLnBrk="1" latinLnBrk="0" hangingPunct="1">
                        <a:defRPr sz="1865" kern="1200">
                          <a:solidFill>
                            <a:schemeClr val="dk1"/>
                          </a:solidFill>
                          <a:latin typeface="+mn-lt"/>
                          <a:ea typeface="+mn-ea"/>
                          <a:cs typeface="+mn-cs"/>
                        </a:defRPr>
                      </a:lvl1pPr>
                      <a:lvl2pPr marL="457200" algn="l" defTabSz="914400" rtl="0" eaLnBrk="1" latinLnBrk="0" hangingPunct="1">
                        <a:defRPr sz="1865" kern="1200">
                          <a:solidFill>
                            <a:schemeClr val="dk1"/>
                          </a:solidFill>
                          <a:latin typeface="+mn-lt"/>
                          <a:ea typeface="+mn-ea"/>
                          <a:cs typeface="+mn-cs"/>
                        </a:defRPr>
                      </a:lvl2pPr>
                      <a:lvl3pPr marL="914400" algn="l" defTabSz="914400" rtl="0" eaLnBrk="1" latinLnBrk="0" hangingPunct="1">
                        <a:defRPr sz="1865" kern="1200">
                          <a:solidFill>
                            <a:schemeClr val="dk1"/>
                          </a:solidFill>
                          <a:latin typeface="+mn-lt"/>
                          <a:ea typeface="+mn-ea"/>
                          <a:cs typeface="+mn-cs"/>
                        </a:defRPr>
                      </a:lvl3pPr>
                      <a:lvl4pPr marL="1371600" algn="l" defTabSz="914400" rtl="0" eaLnBrk="1" latinLnBrk="0" hangingPunct="1">
                        <a:defRPr sz="1865" kern="1200">
                          <a:solidFill>
                            <a:schemeClr val="dk1"/>
                          </a:solidFill>
                          <a:latin typeface="+mn-lt"/>
                          <a:ea typeface="+mn-ea"/>
                          <a:cs typeface="+mn-cs"/>
                        </a:defRPr>
                      </a:lvl4pPr>
                      <a:lvl5pPr marL="1828800" algn="l" defTabSz="914400" rtl="0" eaLnBrk="1" latinLnBrk="0" hangingPunct="1">
                        <a:defRPr sz="1865" kern="1200">
                          <a:solidFill>
                            <a:schemeClr val="dk1"/>
                          </a:solidFill>
                          <a:latin typeface="+mn-lt"/>
                          <a:ea typeface="+mn-ea"/>
                          <a:cs typeface="+mn-cs"/>
                        </a:defRPr>
                      </a:lvl5pPr>
                      <a:lvl6pPr marL="2286000" algn="l" defTabSz="914400" rtl="0" eaLnBrk="1" latinLnBrk="0" hangingPunct="1">
                        <a:defRPr sz="1865" kern="1200">
                          <a:solidFill>
                            <a:schemeClr val="dk1"/>
                          </a:solidFill>
                          <a:latin typeface="+mn-lt"/>
                          <a:ea typeface="+mn-ea"/>
                          <a:cs typeface="+mn-cs"/>
                        </a:defRPr>
                      </a:lvl6pPr>
                      <a:lvl7pPr marL="2743200" algn="l" defTabSz="914400" rtl="0" eaLnBrk="1" latinLnBrk="0" hangingPunct="1">
                        <a:defRPr sz="1865" kern="1200">
                          <a:solidFill>
                            <a:schemeClr val="dk1"/>
                          </a:solidFill>
                          <a:latin typeface="+mn-lt"/>
                          <a:ea typeface="+mn-ea"/>
                          <a:cs typeface="+mn-cs"/>
                        </a:defRPr>
                      </a:lvl7pPr>
                      <a:lvl8pPr marL="3200400" algn="l" defTabSz="914400" rtl="0" eaLnBrk="1" latinLnBrk="0" hangingPunct="1">
                        <a:defRPr sz="1865" kern="1200">
                          <a:solidFill>
                            <a:schemeClr val="dk1"/>
                          </a:solidFill>
                          <a:latin typeface="+mn-lt"/>
                          <a:ea typeface="+mn-ea"/>
                          <a:cs typeface="+mn-cs"/>
                        </a:defRPr>
                      </a:lvl8pPr>
                      <a:lvl9pPr marL="3657600" algn="l" defTabSz="914400" rtl="0" eaLnBrk="1" latinLnBrk="0" hangingPunct="1">
                        <a:defRPr sz="1865" kern="1200">
                          <a:solidFill>
                            <a:schemeClr val="dk1"/>
                          </a:solidFill>
                          <a:latin typeface="+mn-lt"/>
                          <a:ea typeface="+mn-ea"/>
                          <a:cs typeface="+mn-cs"/>
                        </a:defRPr>
                      </a:lvl9pPr>
                    </a:lstStyle>
                    <a:p>
                      <a:pPr marL="0" marR="0" lvl="0" indent="0" algn="ctr" defTabSz="914400" rtl="0" eaLnBrk="1" fontAlgn="auto" latinLnBrk="0" hangingPunct="1">
                        <a:lnSpc>
                          <a:spcPts val="24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通过启发式算法的编码部分实现</a:t>
                      </a:r>
                      <a:endParaRPr lang="zh-CN" altLang="en-US" sz="1600" kern="1200" dirty="0">
                        <a:solidFill>
                          <a:schemeClr val="dk1"/>
                        </a:solidFill>
                        <a:effectLst/>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ts val="24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或单独设计指派规则</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anchor="ctr">
                    <a:solidFill>
                      <a:srgbClr val="EAEFF7"/>
                    </a:solidFill>
                  </a:tcPr>
                </a:tc>
                <a:tc vMerge="1">
                  <a:tcPr anchor="ctr">
                    <a:solidFill>
                      <a:srgbClr val="EAEFF7"/>
                    </a:solidFill>
                  </a:tcPr>
                </a:tc>
              </a:tr>
              <a:tr h="893445">
                <a:tc>
                  <a:txBody>
                    <a:bodyPr/>
                    <a:p>
                      <a:pPr algn="ctr"/>
                      <a:r>
                        <a:rPr lang="zh-CN" altLang="en-US" sz="1600" dirty="0">
                          <a:latin typeface="微软雅黑" panose="020B0503020204020204" charset="-122"/>
                          <a:ea typeface="微软雅黑" panose="020B0503020204020204" charset="-122"/>
                        </a:rPr>
                        <a:t>批次排序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对某一台机器批次的合理排序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与时间相关的工件特征</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（包括工件释放时间、到期时间）</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lnSpc>
                          <a:spcPct val="125000"/>
                        </a:lnSpc>
                      </a:pPr>
                      <a:r>
                        <a:rPr lang="zh-CN" altLang="en-US" sz="1600" dirty="0">
                          <a:latin typeface="微软雅黑" panose="020B0503020204020204" charset="-122"/>
                          <a:ea typeface="微软雅黑" panose="020B0503020204020204" charset="-122"/>
                        </a:rPr>
                        <a:t>设计指派规则生成初始排序，再局部搜索最优</a:t>
                      </a:r>
                      <a:endParaRPr lang="zh-CN" altLang="en-US" sz="1600" dirty="0">
                        <a:latin typeface="微软雅黑" panose="020B0503020204020204" charset="-122"/>
                        <a:ea typeface="微软雅黑" panose="020B0503020204020204" charset="-122"/>
                      </a:endParaRPr>
                    </a:p>
                  </a:txBody>
                  <a:tcPr marL="121904" marR="121904" marT="60974" marB="60974" anchor="ctr"/>
                </a:tc>
                <a:tc vMerge="1">
                  <a:tcPr marL="121904" marR="121904" marT="60974" marB="60974" anchor="ctr"/>
                </a:tc>
              </a:tr>
            </a:tbl>
          </a:graphicData>
        </a:graphic>
      </p:graphicFrame>
      <p:sp>
        <p:nvSpPr>
          <p:cNvPr id="1048636" name="矩形 6"/>
          <p:cNvSpPr/>
          <p:nvPr/>
        </p:nvSpPr>
        <p:spPr>
          <a:xfrm>
            <a:off x="6029325" y="2120265"/>
            <a:ext cx="4373245" cy="3183890"/>
          </a:xfrm>
          <a:prstGeom prst="rect">
            <a:avLst/>
          </a:prstGeom>
          <a:ln w="28575" cmpd="sng">
            <a:solidFill>
              <a:srgbClr val="FF0000"/>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48637" name="文本框 9"/>
          <p:cNvSpPr txBox="1"/>
          <p:nvPr/>
        </p:nvSpPr>
        <p:spPr>
          <a:xfrm>
            <a:off x="2709545" y="5461000"/>
            <a:ext cx="8038465" cy="871220"/>
          </a:xfrm>
          <a:prstGeom prst="rect">
            <a:avLst/>
          </a:prstGeom>
        </p:spPr>
        <p:txBody>
          <a:bodyPr>
            <a:noAutofit/>
          </a:bodyPr>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一般可以视为两个阶段进行：</a:t>
            </a:r>
            <a:endParaRPr lang="zh-CN" altLang="en-US" sz="1600"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首先，根据工件特性以及相关约束条件，设计指派规则以指导</a:t>
            </a:r>
            <a:r>
              <a:rPr lang="zh-CN" altLang="en-US" sz="1600" b="1">
                <a:solidFill>
                  <a:srgbClr val="FF0000"/>
                </a:solidFill>
                <a:latin typeface="微软雅黑" panose="020B0503020204020204" charset="-122"/>
                <a:ea typeface="微软雅黑" panose="020B0503020204020204" charset="-122"/>
              </a:rPr>
              <a:t>不同子问题</a:t>
            </a:r>
            <a:r>
              <a:rPr lang="zh-CN" altLang="en-US" sz="1600" b="1">
                <a:latin typeface="微软雅黑" panose="020B0503020204020204" charset="-122"/>
                <a:ea typeface="微软雅黑" panose="020B0503020204020204" charset="-122"/>
              </a:rPr>
              <a:t>的调度决策；</a:t>
            </a:r>
            <a:endParaRPr lang="zh-CN" altLang="en-US" sz="1600"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其次，实现</a:t>
            </a:r>
            <a:r>
              <a:rPr lang="zh-CN" altLang="en-US" sz="1600" b="1">
                <a:solidFill>
                  <a:srgbClr val="FF0000"/>
                </a:solidFill>
                <a:latin typeface="微软雅黑" panose="020B0503020204020204" charset="-122"/>
                <a:ea typeface="微软雅黑" panose="020B0503020204020204" charset="-122"/>
              </a:rPr>
              <a:t>子问题间的交互</a:t>
            </a:r>
            <a:r>
              <a:rPr lang="zh-CN" altLang="en-US" sz="1600" b="1">
                <a:latin typeface="微软雅黑" panose="020B0503020204020204" charset="-122"/>
                <a:ea typeface="微软雅黑" panose="020B0503020204020204" charset="-122"/>
              </a:rPr>
              <a:t>，研究者进一步开发算法以寻找可行的调度方案。</a:t>
            </a:r>
            <a:endParaRPr lang="zh-CN" altLang="en-US" sz="1600"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该类算法可以有效地探索解空间，目前使用度较高。但算法执行时间和求解质量之间的平衡仍需进一步优化。</a:t>
            </a:r>
            <a:endParaRPr lang="zh-CN" altLang="en-US" sz="1600" b="1">
              <a:latin typeface="微软雅黑" panose="020B0503020204020204" charset="-122"/>
              <a:ea typeface="微软雅黑" panose="020B0503020204020204" charset="-122"/>
            </a:endParaRPr>
          </a:p>
        </p:txBody>
      </p:sp>
      <p:cxnSp>
        <p:nvCxnSpPr>
          <p:cNvPr id="3145728" name="直接箭头连接符 71"/>
          <p:cNvCxnSpPr/>
          <p:nvPr/>
        </p:nvCxnSpPr>
        <p:spPr>
          <a:xfrm flipH="1">
            <a:off x="6296377" y="5256741"/>
            <a:ext cx="864096" cy="281766"/>
          </a:xfrm>
          <a:prstGeom prst="straightConnector1">
            <a:avLst/>
          </a:prstGeom>
          <a:ln w="38100">
            <a:solidFill>
              <a:srgbClr val="C00000"/>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45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55"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1"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656"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相容工件</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657" name="等腰三角形 8"/>
          <p:cNvSpPr/>
          <p:nvPr/>
        </p:nvSpPr>
        <p:spPr>
          <a:xfrm rot="5400000">
            <a:off x="346144" y="77454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3E95"/>
              </a:solidFill>
            </a:endParaRPr>
          </a:p>
        </p:txBody>
      </p:sp>
      <p:sp>
        <p:nvSpPr>
          <p:cNvPr id="1048658" name="矩形 1"/>
          <p:cNvSpPr/>
          <p:nvPr/>
        </p:nvSpPr>
        <p:spPr>
          <a:xfrm>
            <a:off x="539858" y="561068"/>
            <a:ext cx="5365865" cy="614041"/>
          </a:xfrm>
          <a:prstGeom prst="rect">
            <a:avLst/>
          </a:prstGeom>
          <a:noFill/>
          <a:ln>
            <a:noFill/>
          </a:ln>
        </p:spPr>
        <p:txBody>
          <a:bodyPr wrap="square" lIns="121917" tIns="60958" rIns="121917" bIns="60958">
            <a:spAutoFit/>
          </a:bodyPr>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调度方案生成</a:t>
            </a:r>
            <a:endPar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659" name="文本框 2"/>
          <p:cNvSpPr txBox="1"/>
          <p:nvPr/>
        </p:nvSpPr>
        <p:spPr>
          <a:xfrm>
            <a:off x="2592705" y="5366385"/>
            <a:ext cx="9412605" cy="1424939"/>
          </a:xfrm>
          <a:prstGeom prst="rect">
            <a:avLst/>
          </a:prstGeom>
        </p:spPr>
        <p:txBody>
          <a:bodyPr wrap="square">
            <a:spAutoFit/>
          </a:bodyPr>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这一类解决方案一般是基于邻域结构的算法</a:t>
            </a:r>
            <a:endParaRPr lang="zh-CN" altLang="en-US" sz="1600"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研究重点在设计解的结构和邻域搜索策略</a:t>
            </a:r>
            <a:endParaRPr lang="zh-CN" altLang="en-US" sz="1600"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在设计解的结构时往往</a:t>
            </a:r>
            <a:r>
              <a:rPr lang="zh-CN" altLang="en-US" sz="1600" b="1">
                <a:solidFill>
                  <a:srgbClr val="FF0000"/>
                </a:solidFill>
                <a:latin typeface="微软雅黑" panose="020B0503020204020204" charset="-122"/>
                <a:ea typeface="微软雅黑" panose="020B0503020204020204" charset="-122"/>
              </a:rPr>
              <a:t>基于批次形成和指派</a:t>
            </a:r>
            <a:r>
              <a:rPr lang="zh-CN" altLang="en-US" sz="1600" b="1">
                <a:latin typeface="微软雅黑" panose="020B0503020204020204" charset="-122"/>
                <a:ea typeface="微软雅黑" panose="020B0503020204020204" charset="-122"/>
              </a:rPr>
              <a:t>两个子问题形成合适的列表以体现调度方案</a:t>
            </a:r>
            <a:endParaRPr lang="zh-CN" altLang="en-US" sz="1600"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而在邻域搜索环节则一般考虑改变</a:t>
            </a:r>
            <a:r>
              <a:rPr lang="zh-CN" altLang="en-US" sz="1600" b="1">
                <a:solidFill>
                  <a:srgbClr val="FF0000"/>
                </a:solidFill>
                <a:latin typeface="微软雅黑" panose="020B0503020204020204" charset="-122"/>
                <a:ea typeface="微软雅黑" panose="020B0503020204020204" charset="-122"/>
              </a:rPr>
              <a:t>工件或批次的排列顺序或机器的指派</a:t>
            </a:r>
            <a:r>
              <a:rPr lang="zh-CN" altLang="en-US" sz="1600" b="1">
                <a:latin typeface="微软雅黑" panose="020B0503020204020204" charset="-122"/>
                <a:ea typeface="微软雅黑" panose="020B0503020204020204" charset="-122"/>
              </a:rPr>
              <a:t>方案，来寻找更好的解。</a:t>
            </a:r>
            <a:endParaRPr lang="zh-CN" altLang="en-US" sz="1600" b="1">
              <a:latin typeface="微软雅黑" panose="020B0503020204020204" charset="-122"/>
              <a:ea typeface="微软雅黑" panose="020B0503020204020204" charset="-122"/>
            </a:endParaRPr>
          </a:p>
          <a:p>
            <a:pPr marL="0" indent="0" algn="just" defTabSz="266700">
              <a:spcBef>
                <a:spcPct val="0"/>
              </a:spcBef>
              <a:spcAft>
                <a:spcPct val="0"/>
              </a:spcAft>
            </a:pPr>
            <a:r>
              <a:rPr lang="zh-CN" altLang="en-US" sz="1600" b="1">
                <a:latin typeface="微软雅黑" panose="020B0503020204020204" charset="-122"/>
                <a:ea typeface="微软雅黑" panose="020B0503020204020204" charset="-122"/>
              </a:rPr>
              <a:t>该类算法计算复杂度较低，但搜索效率较低。</a:t>
            </a:r>
            <a:endParaRPr lang="zh-CN" altLang="en-US" sz="1600" b="1">
              <a:latin typeface="微软雅黑" panose="020B0503020204020204" charset="-122"/>
              <a:ea typeface="微软雅黑" panose="020B0503020204020204" charset="-122"/>
            </a:endParaRPr>
          </a:p>
        </p:txBody>
      </p:sp>
      <p:cxnSp>
        <p:nvCxnSpPr>
          <p:cNvPr id="3145729" name="直接箭头连接符 71"/>
          <p:cNvCxnSpPr/>
          <p:nvPr/>
        </p:nvCxnSpPr>
        <p:spPr>
          <a:xfrm flipH="1">
            <a:off x="9717122" y="5256741"/>
            <a:ext cx="864096" cy="281766"/>
          </a:xfrm>
          <a:prstGeom prst="straightConnector1">
            <a:avLst/>
          </a:prstGeom>
          <a:ln w="38100">
            <a:solidFill>
              <a:srgbClr val="C00000"/>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4194309" name="表格 7"/>
          <p:cNvGraphicFramePr>
            <a:graphicFrameLocks noGrp="1"/>
          </p:cNvGraphicFramePr>
          <p:nvPr>
            <p:custDataLst>
              <p:tags r:id="rId2"/>
            </p:custDataLst>
          </p:nvPr>
        </p:nvGraphicFramePr>
        <p:xfrm>
          <a:off x="158750" y="1205230"/>
          <a:ext cx="11532870" cy="3892550"/>
        </p:xfrm>
        <a:graphic>
          <a:graphicData uri="http://schemas.openxmlformats.org/drawingml/2006/table">
            <a:tbl>
              <a:tblPr firstRow="1" bandRow="1">
                <a:tableStyleId>{5C22544A-7EE6-4342-B048-85BDC9FD1C3A}</a:tableStyleId>
              </a:tblPr>
              <a:tblGrid>
                <a:gridCol w="771525"/>
                <a:gridCol w="2807335"/>
                <a:gridCol w="2268855"/>
                <a:gridCol w="4416425"/>
                <a:gridCol w="1268730"/>
              </a:tblGrid>
              <a:tr h="902335">
                <a:tc>
                  <a:txBody>
                    <a:bodyPr/>
                    <a:p>
                      <a:pPr algn="ctr"/>
                      <a:r>
                        <a:rPr lang="zh-CN" altLang="en-US" sz="1800" dirty="0">
                          <a:latin typeface="微软雅黑" panose="020B0503020204020204" charset="-122"/>
                          <a:ea typeface="微软雅黑" panose="020B0503020204020204" charset="-122"/>
                        </a:rPr>
                        <a:t>核心问题</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内容</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主要影响因素</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解决方法一</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buNone/>
                      </a:pPr>
                      <a:r>
                        <a:rPr lang="zh-CN" altLang="en-US" sz="1800" dirty="0">
                          <a:latin typeface="微软雅黑" panose="020B0503020204020204" charset="-122"/>
                          <a:ea typeface="微软雅黑" panose="020B0503020204020204" charset="-122"/>
                        </a:rPr>
                        <a:t>解决方法二</a:t>
                      </a:r>
                      <a:endParaRPr lang="zh-CN" altLang="en-US" sz="1800" dirty="0">
                        <a:latin typeface="微软雅黑" panose="020B0503020204020204" charset="-122"/>
                        <a:ea typeface="微软雅黑" panose="020B0503020204020204" charset="-122"/>
                      </a:endParaRPr>
                    </a:p>
                  </a:txBody>
                  <a:tcPr marL="121904" marR="121904" marT="60974" marB="60974" anchor="ctr"/>
                </a:tc>
              </a:tr>
              <a:tr h="1002665">
                <a:tc>
                  <a:txBody>
                    <a:bodyPr/>
                    <a:p>
                      <a:pPr algn="ctr"/>
                      <a:r>
                        <a:rPr lang="zh-CN" altLang="en-US" sz="1600" dirty="0">
                          <a:latin typeface="微软雅黑" panose="020B0503020204020204" charset="-122"/>
                          <a:ea typeface="微软雅黑" panose="020B0503020204020204" charset="-122"/>
                        </a:rPr>
                        <a:t>批次形成</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如何合理形成批次</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indent="0" algn="ctr" defTabSz="685800" rtl="0" eaLnBrk="1" fontAlgn="auto" latinLnBrk="0" hangingPunct="1">
                        <a:lnSpc>
                          <a:spcPct val="100000"/>
                        </a:lnSpc>
                        <a:spcBef>
                          <a:spcPts val="0"/>
                        </a:spcBef>
                        <a:spcAft>
                          <a:spcPts val="0"/>
                        </a:spcAft>
                        <a:buClrTx/>
                        <a:buSzTx/>
                        <a:buFontTx/>
                        <a:buNone/>
                      </a:pPr>
                      <a:r>
                        <a:rPr lang="zh-CN" altLang="en-US" sz="1600" dirty="0">
                          <a:latin typeface="微软雅黑" panose="020B0503020204020204" charset="-122"/>
                          <a:ea typeface="微软雅黑" panose="020B0503020204020204" charset="-122"/>
                        </a:rPr>
                        <a:t>与容量相关的特征</a:t>
                      </a:r>
                      <a:endParaRPr lang="zh-CN" altLang="en-US" sz="1600" dirty="0">
                        <a:latin typeface="微软雅黑" panose="020B0503020204020204" charset="-122"/>
                        <a:ea typeface="微软雅黑" panose="020B0503020204020204" charset="-122"/>
                      </a:endParaRPr>
                    </a:p>
                    <a:p>
                      <a:pPr marL="0" marR="0" indent="0" algn="ctr" defTabSz="685800" rtl="0" eaLnBrk="1" fontAlgn="auto" latinLnBrk="0" hangingPunct="1">
                        <a:lnSpc>
                          <a:spcPct val="100000"/>
                        </a:lnSpc>
                        <a:spcBef>
                          <a:spcPts val="0"/>
                        </a:spcBef>
                        <a:spcAft>
                          <a:spcPts val="0"/>
                        </a:spcAft>
                        <a:buClrTx/>
                        <a:buSzTx/>
                        <a:buFontTx/>
                        <a:buNone/>
                      </a:pPr>
                      <a:r>
                        <a:rPr lang="zh-CN" altLang="en-US" sz="1600" dirty="0">
                          <a:latin typeface="微软雅黑" panose="020B0503020204020204" charset="-122"/>
                          <a:ea typeface="微软雅黑" panose="020B0503020204020204" charset="-122"/>
                        </a:rPr>
                        <a:t>（包括工件大小、二维尺寸、机器容量）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参考单机批调度问题，往往设计指派规则</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rowSpan="3">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合三为一的直接设计解结构</a:t>
                      </a:r>
                      <a:endParaRPr lang="zh-CN" altLang="en-US" sz="1600" kern="1200" dirty="0">
                        <a:solidFill>
                          <a:schemeClr val="dk1"/>
                        </a:solidFill>
                        <a:effectLst/>
                        <a:latin typeface="微软雅黑" panose="020B0503020204020204" charset="-122"/>
                        <a:ea typeface="微软雅黑" panose="020B050302020402020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pP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r>
              <a:tr h="1094105">
                <a:tc>
                  <a:txBody>
                    <a:bodyPr/>
                    <a:p>
                      <a:pPr algn="ctr"/>
                      <a:r>
                        <a:rPr lang="zh-CN" altLang="en-US" sz="1600" dirty="0">
                          <a:latin typeface="微软雅黑" panose="020B0503020204020204" charset="-122"/>
                          <a:ea typeface="微软雅黑" panose="020B0503020204020204" charset="-122"/>
                        </a:rPr>
                        <a:t>指派</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将工件或批次指派给具体机器</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（取决于和批次形成的先后顺序）</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机器运行环境</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（非等同并行机）</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lstStyle>
                      <a:defPPr>
                        <a:defRPr lang="en-US">
                          <a:solidFill>
                            <a:schemeClr val="dk1"/>
                          </a:solidFill>
                        </a:defRPr>
                      </a:defPPr>
                      <a:lvl1pPr marL="0" algn="l" defTabSz="914400" rtl="0" eaLnBrk="1" latinLnBrk="0" hangingPunct="1">
                        <a:defRPr sz="1865" kern="1200">
                          <a:solidFill>
                            <a:schemeClr val="dk1"/>
                          </a:solidFill>
                          <a:latin typeface="+mn-lt"/>
                          <a:ea typeface="+mn-ea"/>
                          <a:cs typeface="+mn-cs"/>
                        </a:defRPr>
                      </a:lvl1pPr>
                      <a:lvl2pPr marL="457200" algn="l" defTabSz="914400" rtl="0" eaLnBrk="1" latinLnBrk="0" hangingPunct="1">
                        <a:defRPr sz="1865" kern="1200">
                          <a:solidFill>
                            <a:schemeClr val="dk1"/>
                          </a:solidFill>
                          <a:latin typeface="+mn-lt"/>
                          <a:ea typeface="+mn-ea"/>
                          <a:cs typeface="+mn-cs"/>
                        </a:defRPr>
                      </a:lvl2pPr>
                      <a:lvl3pPr marL="914400" algn="l" defTabSz="914400" rtl="0" eaLnBrk="1" latinLnBrk="0" hangingPunct="1">
                        <a:defRPr sz="1865" kern="1200">
                          <a:solidFill>
                            <a:schemeClr val="dk1"/>
                          </a:solidFill>
                          <a:latin typeface="+mn-lt"/>
                          <a:ea typeface="+mn-ea"/>
                          <a:cs typeface="+mn-cs"/>
                        </a:defRPr>
                      </a:lvl3pPr>
                      <a:lvl4pPr marL="1371600" algn="l" defTabSz="914400" rtl="0" eaLnBrk="1" latinLnBrk="0" hangingPunct="1">
                        <a:defRPr sz="1865" kern="1200">
                          <a:solidFill>
                            <a:schemeClr val="dk1"/>
                          </a:solidFill>
                          <a:latin typeface="+mn-lt"/>
                          <a:ea typeface="+mn-ea"/>
                          <a:cs typeface="+mn-cs"/>
                        </a:defRPr>
                      </a:lvl4pPr>
                      <a:lvl5pPr marL="1828800" algn="l" defTabSz="914400" rtl="0" eaLnBrk="1" latinLnBrk="0" hangingPunct="1">
                        <a:defRPr sz="1865" kern="1200">
                          <a:solidFill>
                            <a:schemeClr val="dk1"/>
                          </a:solidFill>
                          <a:latin typeface="+mn-lt"/>
                          <a:ea typeface="+mn-ea"/>
                          <a:cs typeface="+mn-cs"/>
                        </a:defRPr>
                      </a:lvl5pPr>
                      <a:lvl6pPr marL="2286000" algn="l" defTabSz="914400" rtl="0" eaLnBrk="1" latinLnBrk="0" hangingPunct="1">
                        <a:defRPr sz="1865" kern="1200">
                          <a:solidFill>
                            <a:schemeClr val="dk1"/>
                          </a:solidFill>
                          <a:latin typeface="+mn-lt"/>
                          <a:ea typeface="+mn-ea"/>
                          <a:cs typeface="+mn-cs"/>
                        </a:defRPr>
                      </a:lvl6pPr>
                      <a:lvl7pPr marL="2743200" algn="l" defTabSz="914400" rtl="0" eaLnBrk="1" latinLnBrk="0" hangingPunct="1">
                        <a:defRPr sz="1865" kern="1200">
                          <a:solidFill>
                            <a:schemeClr val="dk1"/>
                          </a:solidFill>
                          <a:latin typeface="+mn-lt"/>
                          <a:ea typeface="+mn-ea"/>
                          <a:cs typeface="+mn-cs"/>
                        </a:defRPr>
                      </a:lvl7pPr>
                      <a:lvl8pPr marL="3200400" algn="l" defTabSz="914400" rtl="0" eaLnBrk="1" latinLnBrk="0" hangingPunct="1">
                        <a:defRPr sz="1865" kern="1200">
                          <a:solidFill>
                            <a:schemeClr val="dk1"/>
                          </a:solidFill>
                          <a:latin typeface="+mn-lt"/>
                          <a:ea typeface="+mn-ea"/>
                          <a:cs typeface="+mn-cs"/>
                        </a:defRPr>
                      </a:lvl8pPr>
                      <a:lvl9pPr marL="3657600" algn="l" defTabSz="914400" rtl="0" eaLnBrk="1" latinLnBrk="0" hangingPunct="1">
                        <a:defRPr sz="1865" kern="1200">
                          <a:solidFill>
                            <a:schemeClr val="dk1"/>
                          </a:solidFill>
                          <a:latin typeface="+mn-lt"/>
                          <a:ea typeface="+mn-ea"/>
                          <a:cs typeface="+mn-cs"/>
                        </a:defRPr>
                      </a:lvl9pPr>
                    </a:lstStyle>
                    <a:p>
                      <a:pPr marL="0" marR="0" lvl="0" indent="0" algn="ctr" defTabSz="914400" rtl="0" eaLnBrk="1" fontAlgn="auto" latinLnBrk="0" hangingPunct="1">
                        <a:lnSpc>
                          <a:spcPts val="24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通过启发式算法的编码部分实现</a:t>
                      </a:r>
                      <a:endParaRPr lang="zh-CN" altLang="en-US" sz="1600" kern="1200" dirty="0">
                        <a:solidFill>
                          <a:schemeClr val="dk1"/>
                        </a:solidFill>
                        <a:effectLst/>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ts val="24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或单独设计指派规则</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anchor="ctr">
                    <a:solidFill>
                      <a:srgbClr val="EAEFF7"/>
                    </a:solidFill>
                  </a:tcPr>
                </a:tc>
                <a:tc vMerge="1">
                  <a:tcPr anchor="ctr">
                    <a:solidFill>
                      <a:srgbClr val="EAEFF7"/>
                    </a:solidFill>
                  </a:tcPr>
                </a:tc>
              </a:tr>
              <a:tr h="893445">
                <a:tc>
                  <a:txBody>
                    <a:bodyPr/>
                    <a:p>
                      <a:pPr algn="ctr"/>
                      <a:r>
                        <a:rPr lang="zh-CN" altLang="en-US" sz="1600" dirty="0">
                          <a:latin typeface="微软雅黑" panose="020B0503020204020204" charset="-122"/>
                          <a:ea typeface="微软雅黑" panose="020B0503020204020204" charset="-122"/>
                        </a:rPr>
                        <a:t>批次排序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对某一台机器批次的合理排序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与时间相关的工件特征</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（包括工件释放时间、到期时间）</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lnSpc>
                          <a:spcPct val="125000"/>
                        </a:lnSpc>
                      </a:pPr>
                      <a:r>
                        <a:rPr lang="zh-CN" altLang="en-US" sz="1600" dirty="0">
                          <a:latin typeface="微软雅黑" panose="020B0503020204020204" charset="-122"/>
                          <a:ea typeface="微软雅黑" panose="020B0503020204020204" charset="-122"/>
                        </a:rPr>
                        <a:t>设计指派规则生成初始排序，再局部搜索最优</a:t>
                      </a:r>
                      <a:endParaRPr lang="zh-CN" altLang="en-US" sz="1600" dirty="0">
                        <a:latin typeface="微软雅黑" panose="020B0503020204020204" charset="-122"/>
                        <a:ea typeface="微软雅黑" panose="020B0503020204020204" charset="-122"/>
                      </a:endParaRPr>
                    </a:p>
                  </a:txBody>
                  <a:tcPr marL="121904" marR="121904" marT="60974" marB="60974" anchor="ctr"/>
                </a:tc>
                <a:tc vMerge="1">
                  <a:tcPr marL="121904" marR="121904" marT="60974" marB="60974" anchor="ctr"/>
                </a:tc>
              </a:tr>
            </a:tbl>
          </a:graphicData>
        </a:graphic>
      </p:graphicFrame>
      <p:sp>
        <p:nvSpPr>
          <p:cNvPr id="1048660" name="矩形 6"/>
          <p:cNvSpPr/>
          <p:nvPr/>
        </p:nvSpPr>
        <p:spPr>
          <a:xfrm flipH="1">
            <a:off x="10402570" y="2120265"/>
            <a:ext cx="1289050" cy="3136265"/>
          </a:xfrm>
          <a:prstGeom prst="rect">
            <a:avLst/>
          </a:prstGeom>
          <a:ln w="28575" cmpd="sng">
            <a:solidFill>
              <a:srgbClr val="FF0000"/>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457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701"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4"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02"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非相容工件</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03" name="矩形 3"/>
          <p:cNvSpPr/>
          <p:nvPr>
            <p:custDataLst>
              <p:tags r:id="rId2"/>
            </p:custDataLst>
          </p:nvPr>
        </p:nvSpPr>
        <p:spPr>
          <a:xfrm>
            <a:off x="600818" y="1951718"/>
            <a:ext cx="5365865" cy="614041"/>
          </a:xfrm>
          <a:prstGeom prst="rect">
            <a:avLst/>
          </a:prstGeom>
          <a:noFill/>
          <a:ln>
            <a:noFill/>
          </a:ln>
        </p:spPr>
        <p:txBody>
          <a:bodyPr wrap="square" lIns="121917" tIns="60958" rIns="121917" bIns="60958">
            <a:spAutoFit/>
          </a:bodyPr>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调度方案影响</a:t>
            </a:r>
            <a:endPar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704" name="等腰三角形 7"/>
          <p:cNvSpPr/>
          <p:nvPr>
            <p:custDataLst>
              <p:tags r:id="rId3"/>
            </p:custDataLst>
          </p:nvPr>
        </p:nvSpPr>
        <p:spPr>
          <a:xfrm rot="5400000">
            <a:off x="285184" y="86852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3E95"/>
              </a:solidFill>
            </a:endParaRPr>
          </a:p>
        </p:txBody>
      </p:sp>
      <p:sp>
        <p:nvSpPr>
          <p:cNvPr id="1048705" name="矩形 9"/>
          <p:cNvSpPr/>
          <p:nvPr>
            <p:custDataLst>
              <p:tags r:id="rId4"/>
            </p:custDataLst>
          </p:nvPr>
        </p:nvSpPr>
        <p:spPr>
          <a:xfrm>
            <a:off x="539858" y="666478"/>
            <a:ext cx="5365865" cy="614041"/>
          </a:xfrm>
          <a:prstGeom prst="rect">
            <a:avLst/>
          </a:prstGeom>
          <a:noFill/>
          <a:ln>
            <a:noFill/>
          </a:ln>
        </p:spPr>
        <p:txBody>
          <a:bodyPr wrap="square" lIns="121917" tIns="60958" rIns="121917" bIns="60958">
            <a:spAutoFit/>
          </a:bodyPr>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非相容特点</a:t>
            </a:r>
            <a:endPar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graphicFrame>
        <p:nvGraphicFramePr>
          <p:cNvPr id="4194310" name="表格 2"/>
          <p:cNvGraphicFramePr>
            <a:graphicFrameLocks noGrp="1"/>
          </p:cNvGraphicFramePr>
          <p:nvPr>
            <p:custDataLst>
              <p:tags r:id="rId5"/>
            </p:custDataLst>
          </p:nvPr>
        </p:nvGraphicFramePr>
        <p:xfrm>
          <a:off x="203835" y="2534285"/>
          <a:ext cx="11553190" cy="4084320"/>
        </p:xfrm>
        <a:graphic>
          <a:graphicData uri="http://schemas.openxmlformats.org/drawingml/2006/table">
            <a:tbl>
              <a:tblPr firstRow="1" bandRow="1">
                <a:tableStyleId>{5C22544A-7EE6-4342-B048-85BDC9FD1C3A}</a:tableStyleId>
              </a:tblPr>
              <a:tblGrid>
                <a:gridCol w="772795"/>
                <a:gridCol w="3166110"/>
                <a:gridCol w="3171190"/>
                <a:gridCol w="3322955"/>
                <a:gridCol w="1120140"/>
              </a:tblGrid>
              <a:tr h="412750">
                <a:tc>
                  <a:txBody>
                    <a:bodyPr/>
                    <a:p>
                      <a:pPr algn="ctr"/>
                      <a:r>
                        <a:rPr lang="zh-CN" altLang="en-US" sz="1800" dirty="0">
                          <a:latin typeface="微软雅黑" panose="020B0503020204020204" charset="-122"/>
                          <a:ea typeface="微软雅黑" panose="020B0503020204020204" charset="-122"/>
                        </a:rPr>
                        <a:t>核心问题</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内容</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主要影响因素</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800" dirty="0">
                          <a:latin typeface="微软雅黑" panose="020B0503020204020204" charset="-122"/>
                          <a:ea typeface="微软雅黑" panose="020B0503020204020204" charset="-122"/>
                        </a:rPr>
                        <a:t>解决方法一</a:t>
                      </a:r>
                      <a:endParaRPr lang="zh-CN" altLang="en-US" sz="1800" dirty="0">
                        <a:latin typeface="微软雅黑" panose="020B0503020204020204" charset="-122"/>
                        <a:ea typeface="微软雅黑" panose="020B0503020204020204" charset="-122"/>
                      </a:endParaRPr>
                    </a:p>
                  </a:txBody>
                  <a:tcPr marL="121904" marR="121904" marT="60974" marB="60974" anchor="ctr"/>
                </a:tc>
                <a:tc>
                  <a:txBody>
                    <a:bodyPr/>
                    <a:p>
                      <a:pPr algn="ctr">
                        <a:buNone/>
                      </a:pPr>
                      <a:r>
                        <a:rPr lang="zh-CN" altLang="en-US" sz="1800" dirty="0">
                          <a:latin typeface="微软雅黑" panose="020B0503020204020204" charset="-122"/>
                          <a:ea typeface="微软雅黑" panose="020B0503020204020204" charset="-122"/>
                        </a:rPr>
                        <a:t>解决方法二</a:t>
                      </a:r>
                      <a:endParaRPr lang="zh-CN" altLang="en-US" sz="1800" dirty="0">
                        <a:latin typeface="微软雅黑" panose="020B0503020204020204" charset="-122"/>
                        <a:ea typeface="微软雅黑" panose="020B0503020204020204" charset="-122"/>
                      </a:endParaRPr>
                    </a:p>
                  </a:txBody>
                  <a:tcPr marL="121904" marR="121904" marT="60974" marB="60974" anchor="ctr"/>
                </a:tc>
              </a:tr>
              <a:tr h="853440">
                <a:tc>
                  <a:txBody>
                    <a:bodyPr/>
                    <a:p>
                      <a:pPr algn="ctr"/>
                      <a:r>
                        <a:rPr lang="zh-CN" altLang="en-US" sz="1600" dirty="0">
                          <a:latin typeface="微软雅黑" panose="020B0503020204020204" charset="-122"/>
                          <a:ea typeface="微软雅黑" panose="020B0503020204020204" charset="-122"/>
                        </a:rPr>
                        <a:t>批次形成</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如何合理形成批次</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indent="0" algn="ctr" defTabSz="685800" rtl="0" eaLnBrk="1" fontAlgn="auto" latinLnBrk="0" hangingPunct="1">
                        <a:lnSpc>
                          <a:spcPct val="100000"/>
                        </a:lnSpc>
                        <a:spcBef>
                          <a:spcPts val="0"/>
                        </a:spcBef>
                        <a:spcAft>
                          <a:spcPts val="0"/>
                        </a:spcAft>
                        <a:buClrTx/>
                        <a:buSzTx/>
                        <a:buFontTx/>
                        <a:buNone/>
                      </a:pPr>
                      <a:r>
                        <a:rPr lang="zh-CN" altLang="en-US" sz="1600" dirty="0">
                          <a:latin typeface="微软雅黑" panose="020B0503020204020204" charset="-122"/>
                          <a:ea typeface="微软雅黑" panose="020B0503020204020204" charset="-122"/>
                        </a:rPr>
                        <a:t>不同的族无法放入同一批次加工</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增加预检步骤来分类工件是否相容</a:t>
                      </a:r>
                      <a:endParaRPr lang="zh-CN" altLang="en-US" sz="1600" kern="1200" dirty="0">
                        <a:solidFill>
                          <a:schemeClr val="dk1"/>
                        </a:solidFill>
                        <a:effectLst/>
                        <a:latin typeface="微软雅黑" panose="020B0503020204020204" charset="-122"/>
                        <a:ea typeface="微软雅黑" panose="020B050302020402020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在设计指派规则时需要加强约束</a:t>
                      </a:r>
                      <a:r>
                        <a:rPr lang="en-US" altLang="zh-CN" sz="1600" kern="1200" dirty="0">
                          <a:solidFill>
                            <a:schemeClr val="dk1"/>
                          </a:solidFill>
                          <a:effectLst/>
                          <a:latin typeface="微软雅黑" panose="020B0503020204020204" charset="-122"/>
                          <a:ea typeface="微软雅黑" panose="020B0503020204020204" charset="-122"/>
                          <a:cs typeface="+mn-cs"/>
                        </a:rPr>
                        <a:t>[</a:t>
                      </a:r>
                      <a:r>
                        <a:rPr lang="en-US" altLang="zh-CN" sz="1600" kern="1200" dirty="0">
                          <a:solidFill>
                            <a:schemeClr val="dk1"/>
                          </a:solidFill>
                          <a:effectLst/>
                          <a:latin typeface="微软雅黑" panose="020B0503020204020204" charset="-122"/>
                          <a:ea typeface="微软雅黑" panose="020B0503020204020204" charset="-122"/>
                          <a:cs typeface="+mn-cs"/>
                        </a:rPr>
                        <a:t>1</a:t>
                      </a:r>
                      <a:r>
                        <a:rPr lang="en-US" altLang="zh-CN" sz="1600" kern="1200" dirty="0">
                          <a:solidFill>
                            <a:schemeClr val="dk1"/>
                          </a:solidFill>
                          <a:effectLst/>
                          <a:latin typeface="微软雅黑" panose="020B0503020204020204" charset="-122"/>
                          <a:ea typeface="微软雅黑" panose="020B0503020204020204" charset="-122"/>
                          <a:cs typeface="+mn-cs"/>
                        </a:rPr>
                        <a:t>2</a:t>
                      </a:r>
                      <a:r>
                        <a:rPr lang="en-US" altLang="zh-CN" sz="1600" kern="1200" dirty="0">
                          <a:solidFill>
                            <a:schemeClr val="dk1"/>
                          </a:solidFill>
                          <a:effectLst/>
                          <a:latin typeface="微软雅黑" panose="020B0503020204020204" charset="-122"/>
                          <a:ea typeface="微软雅黑" panose="020B0503020204020204" charset="-122"/>
                          <a:cs typeface="+mn-cs"/>
                        </a:rPr>
                        <a:t>]</a:t>
                      </a:r>
                      <a:r>
                        <a:rPr lang="en-US" altLang="zh-CN" sz="1600" kern="1200" dirty="0">
                          <a:solidFill>
                            <a:schemeClr val="dk1"/>
                          </a:solidFill>
                          <a:effectLst/>
                          <a:latin typeface="微软雅黑" panose="020B0503020204020204" charset="-122"/>
                          <a:ea typeface="微软雅黑" panose="020B0503020204020204" charset="-122"/>
                          <a:cs typeface="+mn-cs"/>
                        </a:rPr>
                        <a:t>[</a:t>
                      </a:r>
                      <a:r>
                        <a:rPr lang="en-US" altLang="zh-CN" sz="1600" kern="1200" dirty="0">
                          <a:solidFill>
                            <a:schemeClr val="dk1"/>
                          </a:solidFill>
                          <a:effectLst/>
                          <a:latin typeface="微软雅黑" panose="020B0503020204020204" charset="-122"/>
                          <a:ea typeface="微软雅黑" panose="020B0503020204020204" charset="-122"/>
                          <a:cs typeface="+mn-cs"/>
                        </a:rPr>
                        <a:t>1</a:t>
                      </a:r>
                      <a:r>
                        <a:rPr lang="en-US" altLang="zh-CN" sz="1600" kern="1200" dirty="0">
                          <a:solidFill>
                            <a:schemeClr val="dk1"/>
                          </a:solidFill>
                          <a:effectLst/>
                          <a:latin typeface="微软雅黑" panose="020B0503020204020204" charset="-122"/>
                          <a:ea typeface="微软雅黑" panose="020B0503020204020204" charset="-122"/>
                          <a:cs typeface="+mn-cs"/>
                        </a:rPr>
                        <a:t>3</a:t>
                      </a:r>
                      <a:r>
                        <a:rPr lang="en-US" altLang="zh-CN" sz="1600" kern="1200" dirty="0">
                          <a:solidFill>
                            <a:schemeClr val="dk1"/>
                          </a:solidFill>
                          <a:effectLst/>
                          <a:latin typeface="微软雅黑" panose="020B0503020204020204" charset="-122"/>
                          <a:ea typeface="微软雅黑" panose="020B0503020204020204" charset="-122"/>
                          <a:cs typeface="+mn-cs"/>
                        </a:rPr>
                        <a:t>]</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rowSpan="4">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在邻域搜索的破坏与重建过程中容易产生大量新的无效解</a:t>
                      </a:r>
                      <a:r>
                        <a:rPr lang="en-US" altLang="zh-CN" sz="1600" kern="1200" dirty="0">
                          <a:solidFill>
                            <a:schemeClr val="dk1"/>
                          </a:solidFill>
                          <a:effectLst/>
                          <a:latin typeface="微软雅黑" panose="020B0503020204020204" charset="-122"/>
                          <a:ea typeface="微软雅黑" panose="020B0503020204020204" charset="-122"/>
                          <a:cs typeface="+mn-cs"/>
                        </a:rPr>
                        <a:t>[</a:t>
                      </a:r>
                      <a:r>
                        <a:rPr lang="en-US" altLang="zh-CN" sz="1600" kern="1200" dirty="0">
                          <a:solidFill>
                            <a:schemeClr val="dk1"/>
                          </a:solidFill>
                          <a:effectLst/>
                          <a:latin typeface="微软雅黑" panose="020B0503020204020204" charset="-122"/>
                          <a:ea typeface="微软雅黑" panose="020B0503020204020204" charset="-122"/>
                          <a:cs typeface="+mn-cs"/>
                        </a:rPr>
                        <a:t>1</a:t>
                      </a:r>
                      <a:r>
                        <a:rPr lang="en-US" altLang="zh-CN" sz="1600" kern="1200" dirty="0">
                          <a:solidFill>
                            <a:schemeClr val="dk1"/>
                          </a:solidFill>
                          <a:effectLst/>
                          <a:latin typeface="微软雅黑" panose="020B0503020204020204" charset="-122"/>
                          <a:ea typeface="微软雅黑" panose="020B0503020204020204" charset="-122"/>
                          <a:cs typeface="+mn-cs"/>
                        </a:rPr>
                        <a:t>4</a:t>
                      </a:r>
                      <a:r>
                        <a:rPr lang="en-US" altLang="zh-CN" sz="1600" kern="1200" dirty="0">
                          <a:solidFill>
                            <a:schemeClr val="dk1"/>
                          </a:solidFill>
                          <a:effectLst/>
                          <a:latin typeface="微软雅黑" panose="020B0503020204020204" charset="-122"/>
                          <a:ea typeface="微软雅黑" panose="020B0503020204020204" charset="-122"/>
                          <a:cs typeface="+mn-cs"/>
                        </a:rPr>
                        <a:t>]</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r>
              <a:tr h="127635">
                <a:tc>
                  <a:txBody>
                    <a:bodyPr/>
                    <a:p>
                      <a:pPr algn="ctr"/>
                      <a:r>
                        <a:rPr lang="zh-CN" altLang="en-US" sz="1600" dirty="0">
                          <a:latin typeface="微软雅黑" panose="020B0503020204020204" charset="-122"/>
                          <a:ea typeface="微软雅黑" panose="020B0503020204020204" charset="-122"/>
                        </a:rPr>
                        <a:t>指派</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将工件或批次指派给具体机器</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（取决于和批次形成的先后顺序）</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algn="ctr"/>
                      <a:r>
                        <a:rPr lang="zh-CN" altLang="en-US" sz="1600" dirty="0">
                          <a:latin typeface="微软雅黑" panose="020B0503020204020204" charset="-122"/>
                          <a:ea typeface="微软雅黑" panose="020B0503020204020204" charset="-122"/>
                        </a:rPr>
                        <a:t>机器的加工能力不同</a:t>
                      </a:r>
                      <a:endParaRPr lang="zh-CN" altLang="en-US" sz="1600" dirty="0">
                        <a:latin typeface="微软雅黑" panose="020B0503020204020204" charset="-122"/>
                        <a:ea typeface="微软雅黑" panose="020B0503020204020204" charset="-122"/>
                      </a:endParaRPr>
                    </a:p>
                  </a:txBody>
                  <a:tcPr marL="121904" marR="121904" marT="60974" marB="60974" anchor="ctr">
                    <a:solidFill>
                      <a:srgbClr val="EAEFF7"/>
                    </a:solidFill>
                  </a:tcPr>
                </a:tc>
                <a:tc>
                  <a:txBody>
                    <a:bodyPr/>
                    <a:p>
                      <a:pPr marL="0" marR="0" lvl="0" indent="0" algn="ctr" defTabSz="914400" rtl="0" eaLnBrk="1" fontAlgn="auto" latinLnBrk="0" hangingPunct="1">
                        <a:lnSpc>
                          <a:spcPts val="2400"/>
                        </a:lnSpc>
                        <a:spcBef>
                          <a:spcPts val="0"/>
                        </a:spcBef>
                        <a:spcAft>
                          <a:spcPts val="0"/>
                        </a:spcAft>
                        <a:buClrTx/>
                        <a:buSzTx/>
                        <a:buFontTx/>
                        <a:buNone/>
                      </a:pPr>
                      <a:r>
                        <a:rPr lang="zh-CN" altLang="en-US" sz="1600" kern="1200" dirty="0">
                          <a:solidFill>
                            <a:schemeClr val="dk1"/>
                          </a:solidFill>
                          <a:effectLst/>
                          <a:latin typeface="微软雅黑" panose="020B0503020204020204" charset="-122"/>
                          <a:ea typeface="微软雅黑" panose="020B0503020204020204" charset="-122"/>
                          <a:cs typeface="+mn-cs"/>
                        </a:rPr>
                        <a:t>增加了编码的复杂度</a:t>
                      </a:r>
                      <a:endParaRPr lang="zh-CN" altLang="en-US" sz="1600" kern="1200" dirty="0">
                        <a:solidFill>
                          <a:schemeClr val="dk1"/>
                        </a:solidFill>
                        <a:effectLst/>
                        <a:latin typeface="微软雅黑" panose="020B0503020204020204" charset="-122"/>
                        <a:ea typeface="微软雅黑" panose="020B0503020204020204" charset="-122"/>
                        <a:cs typeface="+mn-cs"/>
                      </a:endParaRPr>
                    </a:p>
                  </a:txBody>
                  <a:tcPr anchor="ctr">
                    <a:solidFill>
                      <a:srgbClr val="EAEFF7"/>
                    </a:solidFill>
                  </a:tcPr>
                </a:tc>
                <a:tc vMerge="1">
                  <a:tcPr anchor="ctr">
                    <a:solidFill>
                      <a:srgbClr val="EAEFF7"/>
                    </a:solidFill>
                  </a:tcPr>
                </a:tc>
              </a:tr>
              <a:tr h="743585">
                <a:tc rowSpan="2">
                  <a:txBody>
                    <a:bodyPr/>
                    <a:p>
                      <a:pPr algn="ctr"/>
                      <a:r>
                        <a:rPr lang="zh-CN" altLang="en-US" sz="1600" dirty="0">
                          <a:latin typeface="微软雅黑" panose="020B0503020204020204" charset="-122"/>
                          <a:ea typeface="微软雅黑" panose="020B0503020204020204" charset="-122"/>
                        </a:rPr>
                        <a:t>批次排序</a:t>
                      </a:r>
                      <a:endParaRPr lang="zh-CN" altLang="en-US" sz="1600" dirty="0">
                        <a:latin typeface="微软雅黑" panose="020B0503020204020204" charset="-122"/>
                        <a:ea typeface="微软雅黑" panose="020B0503020204020204" charset="-122"/>
                      </a:endParaRPr>
                    </a:p>
                  </a:txBody>
                  <a:tcPr marL="121904" marR="121904" marT="60974" marB="60974" anchor="ctr"/>
                </a:tc>
                <a:tc rowSpan="2">
                  <a:txBody>
                    <a:bodyPr/>
                    <a:p>
                      <a:pPr algn="ctr"/>
                      <a:r>
                        <a:rPr lang="zh-CN" altLang="en-US" sz="1600" dirty="0">
                          <a:latin typeface="微软雅黑" panose="020B0503020204020204" charset="-122"/>
                          <a:ea typeface="微软雅黑" panose="020B0503020204020204" charset="-122"/>
                        </a:rPr>
                        <a:t>对某一台机器批次的合理排序</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不同族存在转换时间</a:t>
                      </a:r>
                      <a:r>
                        <a:rPr lang="en-US" alt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1</a:t>
                      </a:r>
                      <a:r>
                        <a:rPr lang="en-US" altLang="zh-CN" sz="1600" dirty="0">
                          <a:latin typeface="微软雅黑" panose="020B0503020204020204" charset="-122"/>
                          <a:ea typeface="微软雅黑" panose="020B0503020204020204" charset="-122"/>
                        </a:rPr>
                        <a:t>1</a:t>
                      </a:r>
                      <a:r>
                        <a:rPr lang="en-US" altLang="zh-CN"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（指设备从一个工件族加工转换到另一个工件族所需的准备时间</a:t>
                      </a:r>
                      <a:r>
                        <a:rPr lang="en-US" altLang="zh-CN" sz="1600" dirty="0">
                          <a:latin typeface="微软雅黑" panose="020B0503020204020204" charset="-122"/>
                          <a:ea typeface="微软雅黑" panose="020B0503020204020204" charset="-122"/>
                        </a:rPr>
                        <a:t>)</a:t>
                      </a:r>
                      <a:endParaRPr lang="en-US" altLang="zh-CN" sz="1600" dirty="0">
                        <a:latin typeface="微软雅黑" panose="020B0503020204020204" charset="-122"/>
                        <a:ea typeface="微软雅黑" panose="020B0503020204020204" charset="-122"/>
                      </a:endParaRPr>
                    </a:p>
                  </a:txBody>
                  <a:tcPr marL="121904" marR="121904" marT="60974" marB="60974" anchor="ctr"/>
                </a:tc>
                <a:tc>
                  <a:txBody>
                    <a:bodyPr/>
                    <a:p>
                      <a:pPr algn="ctr">
                        <a:lnSpc>
                          <a:spcPct val="125000"/>
                        </a:lnSpc>
                      </a:pPr>
                      <a:r>
                        <a:rPr lang="zh-CN" altLang="en-US" sz="1600" dirty="0">
                          <a:latin typeface="微软雅黑" panose="020B0503020204020204" charset="-122"/>
                          <a:ea typeface="微软雅黑" panose="020B0503020204020204" charset="-122"/>
                        </a:rPr>
                        <a:t>批次排序过程中需要考虑将相同族的批次进行连续加工</a:t>
                      </a:r>
                      <a:endParaRPr lang="zh-CN" altLang="en-US" sz="1600" dirty="0">
                        <a:latin typeface="微软雅黑" panose="020B0503020204020204" charset="-122"/>
                        <a:ea typeface="微软雅黑" panose="020B0503020204020204" charset="-122"/>
                      </a:endParaRPr>
                    </a:p>
                  </a:txBody>
                  <a:tcPr marL="121904" marR="121904" marT="60974" marB="60974" anchor="ctr"/>
                </a:tc>
                <a:tc vMerge="1">
                  <a:tcPr marL="121904" marR="121904" marT="60974" marB="60974" anchor="ctr"/>
                </a:tc>
              </a:tr>
              <a:tr h="1097280">
                <a:tc vMerge="1">
                  <a:tcPr marL="121904" marR="121904" marT="60974" marB="60974" anchor="ctr"/>
                </a:tc>
                <a:tc vMerge="1">
                  <a:tcPr marL="121904" marR="121904" marT="60974" marB="60974" anchor="ctr"/>
                </a:tc>
                <a:tc>
                  <a:txBody>
                    <a:bodyPr/>
                    <a:p>
                      <a:pPr algn="ctr">
                        <a:buNone/>
                      </a:pPr>
                      <a:r>
                        <a:rPr lang="zh-CN" altLang="en-US" sz="1600" dirty="0">
                          <a:latin typeface="微软雅黑" panose="020B0503020204020204" charset="-122"/>
                          <a:ea typeface="微软雅黑" panose="020B0503020204020204" charset="-122"/>
                        </a:rPr>
                        <a:t>不同族存在退化效应不同</a:t>
                      </a:r>
                      <a:endParaRPr lang="zh-CN" altLang="en-US" sz="1600" dirty="0">
                        <a:latin typeface="微软雅黑" panose="020B0503020204020204" charset="-122"/>
                        <a:ea typeface="微软雅黑" panose="020B0503020204020204" charset="-122"/>
                      </a:endParaRPr>
                    </a:p>
                    <a:p>
                      <a:pPr algn="ctr">
                        <a:buNone/>
                      </a:pPr>
                      <a:r>
                        <a:rPr lang="zh-CN" altLang="en-US" sz="1600" dirty="0">
                          <a:latin typeface="微软雅黑" panose="020B0503020204020204" charset="-122"/>
                          <a:ea typeface="微软雅黑" panose="020B0503020204020204" charset="-122"/>
                        </a:rPr>
                        <a:t>（带来动态退化效应与时间不确定性）</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lnSpc>
                          <a:spcPct val="125000"/>
                        </a:lnSpc>
                        <a:buNone/>
                      </a:pPr>
                      <a:r>
                        <a:rPr lang="en-US" altLang="zh-CN" sz="1600" dirty="0">
                          <a:latin typeface="微软雅黑" panose="020B0503020204020204" charset="-122"/>
                          <a:ea typeface="微软雅黑" panose="020B0503020204020204" charset="-122"/>
                        </a:rPr>
                        <a:t>/</a:t>
                      </a:r>
                      <a:endParaRPr lang="en-US" altLang="zh-CN" sz="1600" dirty="0">
                        <a:latin typeface="微软雅黑" panose="020B0503020204020204" charset="-122"/>
                        <a:ea typeface="微软雅黑" panose="020B0503020204020204" charset="-122"/>
                      </a:endParaRPr>
                    </a:p>
                  </a:txBody>
                  <a:tcPr marL="121904" marR="121904" marT="60974" marB="60974" anchor="ctr"/>
                </a:tc>
                <a:tc vMerge="1">
                  <a:tcPr marL="121904" marR="121904" marT="60974" marB="60974" anchor="ctr"/>
                </a:tc>
              </a:tr>
            </a:tbl>
          </a:graphicData>
        </a:graphic>
      </p:graphicFrame>
      <p:sp>
        <p:nvSpPr>
          <p:cNvPr id="1048706" name="等腰三角形 1"/>
          <p:cNvSpPr/>
          <p:nvPr>
            <p:custDataLst>
              <p:tags r:id="rId6"/>
            </p:custDataLst>
          </p:nvPr>
        </p:nvSpPr>
        <p:spPr>
          <a:xfrm rot="5400000">
            <a:off x="285184" y="222742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3E95"/>
              </a:solidFill>
            </a:endParaRPr>
          </a:p>
        </p:txBody>
      </p:sp>
      <p:sp>
        <p:nvSpPr>
          <p:cNvPr id="1048707" name="文本框 5"/>
          <p:cNvSpPr txBox="1"/>
          <p:nvPr/>
        </p:nvSpPr>
        <p:spPr>
          <a:xfrm>
            <a:off x="299720" y="1301115"/>
            <a:ext cx="11457305" cy="701039"/>
          </a:xfrm>
          <a:prstGeom prst="rect">
            <a:avLst/>
          </a:prstGeom>
        </p:spPr>
        <p:txBody>
          <a:bodyPr wrap="square">
            <a:spAutoFit/>
          </a:bodyPr>
          <a:p>
            <a:pPr marL="0" indent="0" algn="just" defTabSz="266700">
              <a:spcBef>
                <a:spcPct val="0"/>
              </a:spcBef>
              <a:spcAft>
                <a:spcPct val="0"/>
              </a:spcAft>
            </a:pPr>
            <a:r>
              <a:rPr lang="zh-CN" altLang="en-US">
                <a:latin typeface="微软雅黑" panose="020B0503020204020204" charset="-122"/>
                <a:ea typeface="微软雅黑" panose="020B0503020204020204" charset="-122"/>
              </a:rPr>
              <a:t>在进行批处理的时候，要求对于相同加工工艺的工件放到同一个批次，而属于</a:t>
            </a:r>
            <a:r>
              <a:rPr lang="zh-CN" altLang="en-US" b="1">
                <a:solidFill>
                  <a:srgbClr val="FF0000"/>
                </a:solidFill>
                <a:latin typeface="微软雅黑" panose="020B0503020204020204" charset="-122"/>
                <a:ea typeface="微软雅黑" panose="020B0503020204020204" charset="-122"/>
              </a:rPr>
              <a:t>不同工件族的工件不能放到同一个批次中</a:t>
            </a:r>
            <a:r>
              <a:rPr lang="zh-CN" altLang="en-US">
                <a:latin typeface="微软雅黑" panose="020B0503020204020204" charset="-122"/>
                <a:ea typeface="微软雅黑" panose="020B0503020204020204" charset="-122"/>
              </a:rPr>
              <a:t>进行加工。</a:t>
            </a:r>
            <a:r>
              <a:rPr lang="en-US" altLang="zh-CN">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1</a:t>
            </a:r>
            <a:r>
              <a:rPr lang="en-US" altLang="zh-CN">
                <a:latin typeface="微软雅黑" panose="020B0503020204020204" charset="-122"/>
                <a:ea typeface="微软雅黑" panose="020B0503020204020204" charset="-122"/>
              </a:rPr>
              <a:t>0</a:t>
            </a:r>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这一类问题称为非相容工件族的批调度问题。</a:t>
            </a:r>
            <a:endParaRPr lang="zh-CN" altLang="en-US">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711"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5"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12"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与维护协同</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graphicFrame>
        <p:nvGraphicFramePr>
          <p:cNvPr id="4194311" name="表格 4"/>
          <p:cNvGraphicFramePr>
            <a:graphicFrameLocks noGrp="1"/>
          </p:cNvGraphicFramePr>
          <p:nvPr>
            <p:custDataLst>
              <p:tags r:id="rId2"/>
            </p:custDataLst>
          </p:nvPr>
        </p:nvGraphicFramePr>
        <p:xfrm>
          <a:off x="600710" y="742950"/>
          <a:ext cx="10807700" cy="5764530"/>
        </p:xfrm>
        <a:graphic>
          <a:graphicData uri="http://schemas.openxmlformats.org/drawingml/2006/table">
            <a:tbl>
              <a:tblPr firstRow="1" bandRow="1">
                <a:tableStyleId>{5C22544A-7EE6-4342-B048-85BDC9FD1C3A}</a:tableStyleId>
              </a:tblPr>
              <a:tblGrid>
                <a:gridCol w="1556385"/>
                <a:gridCol w="1630680"/>
                <a:gridCol w="1424464"/>
                <a:gridCol w="1424464"/>
                <a:gridCol w="2365375"/>
                <a:gridCol w="2406332"/>
              </a:tblGrid>
              <a:tr h="811530">
                <a:tc>
                  <a:txBody>
                    <a:bodyPr/>
                    <a:p>
                      <a:pPr algn="ctr"/>
                      <a:r>
                        <a:rPr lang="zh-CN" altLang="en-US" sz="1600" dirty="0">
                          <a:latin typeface="微软雅黑" panose="020B0503020204020204" charset="-122"/>
                          <a:ea typeface="微软雅黑" panose="020B0503020204020204" charset="-122"/>
                        </a:rPr>
                        <a:t>维护活动类型</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介绍</a:t>
                      </a:r>
                      <a:endParaRPr lang="zh-CN" altLang="en-US" sz="1600" dirty="0">
                        <a:latin typeface="微软雅黑" panose="020B0503020204020204" charset="-122"/>
                        <a:ea typeface="微软雅黑" panose="020B0503020204020204" charset="-122"/>
                      </a:endParaRPr>
                    </a:p>
                  </a:txBody>
                  <a:tcPr marL="121904" marR="121904" marT="60974" marB="60974" anchor="ctr"/>
                </a:tc>
                <a:tc gridSpan="2">
                  <a:txBody>
                    <a:bodyPr/>
                    <a:p>
                      <a:pPr algn="ctr">
                        <a:buNone/>
                      </a:pPr>
                      <a:r>
                        <a:rPr lang="zh-CN" altLang="en-US" sz="1600" dirty="0">
                          <a:latin typeface="微软雅黑" panose="020B0503020204020204" charset="-122"/>
                          <a:ea typeface="微软雅黑" panose="020B0503020204020204" charset="-122"/>
                        </a:rPr>
                        <a:t>特点</a:t>
                      </a:r>
                      <a:endParaRPr lang="zh-CN" altLang="en-US" sz="1600" dirty="0">
                        <a:latin typeface="微软雅黑" panose="020B0503020204020204" charset="-122"/>
                        <a:ea typeface="微软雅黑" panose="020B0503020204020204" charset="-122"/>
                      </a:endParaRPr>
                    </a:p>
                  </a:txBody>
                  <a:tcPr marL="121904" marR="121904" marT="60974" marB="60974" anchor="ctr"/>
                </a:tc>
                <a:tc hMerge="1">
                  <a:tcPr marL="121904" marR="121904" marT="60974" marB="60974" anchor="ctr"/>
                </a:tc>
                <a:tc>
                  <a:txBody>
                    <a:bodyPr/>
                    <a:p>
                      <a:pPr algn="ctr">
                        <a:buNone/>
                      </a:pPr>
                      <a:r>
                        <a:rPr lang="zh-CN" altLang="en-US" sz="1600" dirty="0">
                          <a:latin typeface="微软雅黑" panose="020B0503020204020204" charset="-122"/>
                          <a:ea typeface="微软雅黑" panose="020B0503020204020204" charset="-122"/>
                        </a:rPr>
                        <a:t>解决方法</a:t>
                      </a:r>
                      <a:endParaRPr lang="zh-CN" altLang="en-US" sz="16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en-US" sz="1600" dirty="0">
                          <a:latin typeface="微软雅黑" panose="020B0503020204020204" charset="-122"/>
                          <a:ea typeface="微软雅黑" panose="020B0503020204020204" charset="-122"/>
                        </a:rPr>
                        <a:t>评价</a:t>
                      </a:r>
                      <a:endParaRPr lang="zh-CN" altLang="en-US" sz="1600" dirty="0">
                        <a:latin typeface="微软雅黑" panose="020B0503020204020204" charset="-122"/>
                        <a:ea typeface="微软雅黑" panose="020B0503020204020204" charset="-122"/>
                      </a:endParaRPr>
                    </a:p>
                  </a:txBody>
                  <a:tcPr marL="121904" marR="121904" marT="60974" marB="60974" anchor="ctr"/>
                </a:tc>
              </a:tr>
              <a:tr h="975360">
                <a:tc>
                  <a:txBody>
                    <a:bodyPr/>
                    <a:p>
                      <a:pPr algn="ctr">
                        <a:buNone/>
                      </a:pPr>
                      <a:r>
                        <a:rPr lang="zh-CN" altLang="en-US" sz="1400" dirty="0">
                          <a:latin typeface="微软雅黑" panose="020B0503020204020204" charset="-122"/>
                          <a:ea typeface="微软雅黑" panose="020B0503020204020204" charset="-122"/>
                        </a:rPr>
                        <a:t>等周期维护</a:t>
                      </a:r>
                      <a:endParaRPr lang="zh-CN" altLang="en-US" sz="1400" dirty="0">
                        <a:latin typeface="微软雅黑" panose="020B0503020204020204" charset="-122"/>
                        <a:ea typeface="微软雅黑" panose="020B0503020204020204" charset="-122"/>
                      </a:endParaRPr>
                    </a:p>
                  </a:txBody>
                  <a:tcPr marL="121904" marR="121904" marT="60974" marB="60974" anchor="ctr"/>
                </a:tc>
                <a:tc>
                  <a:txBody>
                    <a:bodyPr/>
                    <a:p>
                      <a:pPr algn="ctr">
                        <a:buNone/>
                      </a:pPr>
                      <a:r>
                        <a:rPr lang="zh-CN" altLang="en-US" sz="1400" dirty="0">
                          <a:latin typeface="+mj-ea"/>
                          <a:ea typeface="+mj-ea"/>
                          <a:cs typeface="Times New Roman" panose="02020603050405020304" pitchFamily="18" charset="0"/>
                          <a:sym typeface="+mn-ea"/>
                        </a:rPr>
                        <a:t>设置固定时间周期进行维护</a:t>
                      </a:r>
                      <a:endParaRPr lang="zh-CN" altLang="en-US" sz="1400" dirty="0">
                        <a:latin typeface="+mj-ea"/>
                        <a:ea typeface="+mj-ea"/>
                        <a:cs typeface="Times New Roman" panose="02020603050405020304" pitchFamily="18" charset="0"/>
                        <a:sym typeface="+mn-ea"/>
                      </a:endParaRPr>
                    </a:p>
                  </a:txBody>
                  <a:tcPr marL="121904" marR="121904" marT="60974" marB="60974" anchor="ctr"/>
                </a:tc>
                <a:tc gridSpan="2">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维护时间为固定时间常数</a:t>
                      </a:r>
                      <a:r>
                        <a:rPr lang="en-US" altLang="zh-CN" sz="1400" kern="1200" dirty="0">
                          <a:solidFill>
                            <a:schemeClr val="dk1"/>
                          </a:solidFill>
                          <a:effectLst/>
                          <a:latin typeface="微软雅黑" panose="020B0503020204020204" charset="-122"/>
                          <a:ea typeface="微软雅黑" panose="020B0503020204020204" charset="-122"/>
                          <a:cs typeface="+mn-cs"/>
                        </a:rPr>
                        <a:t>[</a:t>
                      </a:r>
                      <a:r>
                        <a:rPr lang="en-US" altLang="zh-CN" sz="1400" kern="1200" dirty="0">
                          <a:solidFill>
                            <a:schemeClr val="dk1"/>
                          </a:solidFill>
                          <a:effectLst/>
                          <a:latin typeface="微软雅黑" panose="020B0503020204020204" charset="-122"/>
                          <a:ea typeface="微软雅黑" panose="020B0503020204020204" charset="-122"/>
                          <a:cs typeface="+mn-cs"/>
                        </a:rPr>
                        <a:t>1</a:t>
                      </a:r>
                      <a:r>
                        <a:rPr lang="en-US" altLang="zh-CN" sz="1400" kern="1200" dirty="0">
                          <a:solidFill>
                            <a:schemeClr val="dk1"/>
                          </a:solidFill>
                          <a:effectLst/>
                          <a:latin typeface="微软雅黑" panose="020B0503020204020204" charset="-122"/>
                          <a:ea typeface="微软雅黑" panose="020B0503020204020204" charset="-122"/>
                          <a:cs typeface="+mn-cs"/>
                        </a:rPr>
                        <a:t>5</a:t>
                      </a:r>
                      <a:r>
                        <a:rPr lang="en-US" altLang="zh-CN" sz="1400" kern="1200" dirty="0">
                          <a:solidFill>
                            <a:schemeClr val="dk1"/>
                          </a:solidFill>
                          <a:effectLst/>
                          <a:latin typeface="微软雅黑" panose="020B0503020204020204" charset="-122"/>
                          <a:ea typeface="微软雅黑" panose="020B0503020204020204" charset="-122"/>
                          <a:cs typeface="+mn-cs"/>
                        </a:rPr>
                        <a:t>]</a:t>
                      </a:r>
                      <a:r>
                        <a:rPr lang="en-US" altLang="zh-CN" sz="1400" kern="1200" dirty="0">
                          <a:solidFill>
                            <a:schemeClr val="dk1"/>
                          </a:solidFill>
                          <a:effectLst/>
                          <a:latin typeface="微软雅黑" panose="020B0503020204020204" charset="-122"/>
                          <a:ea typeface="微软雅黑" panose="020B0503020204020204" charset="-122"/>
                          <a:cs typeface="+mn-cs"/>
                        </a:rPr>
                        <a:t>[</a:t>
                      </a:r>
                      <a:r>
                        <a:rPr lang="en-US" altLang="zh-CN" sz="1400" kern="1200" dirty="0">
                          <a:solidFill>
                            <a:schemeClr val="dk1"/>
                          </a:solidFill>
                          <a:effectLst/>
                          <a:latin typeface="微软雅黑" panose="020B0503020204020204" charset="-122"/>
                          <a:ea typeface="微软雅黑" panose="020B0503020204020204" charset="-122"/>
                          <a:cs typeface="+mn-cs"/>
                        </a:rPr>
                        <a:t>1</a:t>
                      </a:r>
                      <a:r>
                        <a:rPr lang="en-US" altLang="zh-CN" sz="1400" kern="1200" dirty="0">
                          <a:solidFill>
                            <a:schemeClr val="dk1"/>
                          </a:solidFill>
                          <a:effectLst/>
                          <a:latin typeface="微软雅黑" panose="020B0503020204020204" charset="-122"/>
                          <a:ea typeface="微软雅黑" panose="020B0503020204020204" charset="-122"/>
                          <a:cs typeface="+mn-cs"/>
                        </a:rPr>
                        <a:t>6</a:t>
                      </a:r>
                      <a:r>
                        <a:rPr lang="en-US" altLang="zh-CN" sz="1400" kern="1200" dirty="0">
                          <a:solidFill>
                            <a:schemeClr val="dk1"/>
                          </a:solidFill>
                          <a:effectLst/>
                          <a:latin typeface="微软雅黑" panose="020B0503020204020204" charset="-122"/>
                          <a:ea typeface="微软雅黑" panose="020B0503020204020204" charset="-122"/>
                          <a:cs typeface="+mn-cs"/>
                        </a:rPr>
                        <a:t>]</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hMerge="1">
                  <a:tcPr marL="121904" marR="121904" marT="60974" marB="60974" anchor="ct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装包问题</a:t>
                      </a:r>
                      <a:r>
                        <a:rPr lang="en-US" altLang="zh-CN" sz="1400" kern="1200" dirty="0">
                          <a:solidFill>
                            <a:schemeClr val="dk1"/>
                          </a:solidFill>
                          <a:effectLst/>
                          <a:latin typeface="微软雅黑" panose="020B0503020204020204" charset="-122"/>
                          <a:ea typeface="微软雅黑" panose="020B0503020204020204" charset="-122"/>
                          <a:cs typeface="+mn-cs"/>
                        </a:rPr>
                        <a:t>[</a:t>
                      </a:r>
                      <a:r>
                        <a:rPr lang="en-US" altLang="zh-CN" sz="1400" kern="1200" dirty="0">
                          <a:solidFill>
                            <a:schemeClr val="dk1"/>
                          </a:solidFill>
                          <a:effectLst/>
                          <a:latin typeface="微软雅黑" panose="020B0503020204020204" charset="-122"/>
                          <a:ea typeface="微软雅黑" panose="020B0503020204020204" charset="-122"/>
                          <a:cs typeface="+mn-cs"/>
                        </a:rPr>
                        <a:t>1</a:t>
                      </a:r>
                      <a:r>
                        <a:rPr lang="en-US" altLang="zh-CN" sz="1400" kern="1200" dirty="0">
                          <a:solidFill>
                            <a:schemeClr val="dk1"/>
                          </a:solidFill>
                          <a:effectLst/>
                          <a:latin typeface="微软雅黑" panose="020B0503020204020204" charset="-122"/>
                          <a:ea typeface="微软雅黑" panose="020B0503020204020204" charset="-122"/>
                          <a:cs typeface="+mn-cs"/>
                        </a:rPr>
                        <a:t>9</a:t>
                      </a:r>
                      <a:r>
                        <a:rPr lang="en-US" altLang="zh-CN" sz="1400" kern="1200" dirty="0">
                          <a:solidFill>
                            <a:schemeClr val="dk1"/>
                          </a:solidFill>
                          <a:effectLst/>
                          <a:latin typeface="微软雅黑" panose="020B0503020204020204" charset="-122"/>
                          <a:ea typeface="微软雅黑" panose="020B0503020204020204" charset="-122"/>
                          <a:cs typeface="+mn-cs"/>
                        </a:rPr>
                        <a:t>]</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a:txBody>
                    <a:bodyPr/>
                    <a:p>
                      <a:pPr marL="0" marR="0" lvl="0" indent="0" algn="l"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实际实施简单易行，</a:t>
                      </a:r>
                      <a:endParaRPr lang="zh-CN" altLang="en-US" sz="1400" kern="1200" dirty="0">
                        <a:solidFill>
                          <a:schemeClr val="dk1"/>
                        </a:solidFill>
                        <a:effectLst/>
                        <a:latin typeface="微软雅黑" panose="020B0503020204020204" charset="-122"/>
                        <a:ea typeface="微软雅黑" panose="020B0503020204020204" charset="-122"/>
                        <a:cs typeface="+mn-cs"/>
                      </a:endParaRPr>
                    </a:p>
                    <a:p>
                      <a:pPr marL="0" marR="0" lvl="0" indent="0" algn="l"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但因为不考虑设备的退化速度变化从而可能导致维护过度或维护不足。</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r>
              <a:tr h="623570">
                <a:tc rowSpan="4">
                  <a:txBody>
                    <a:bodyPr/>
                    <a:p>
                      <a:pPr algn="ctr"/>
                      <a:r>
                        <a:rPr lang="zh-CN" altLang="en-US" sz="1400" dirty="0">
                          <a:latin typeface="微软雅黑" panose="020B0503020204020204" charset="-122"/>
                          <a:ea typeface="微软雅黑" panose="020B0503020204020204" charset="-122"/>
                        </a:rPr>
                        <a:t>速率修改活动</a:t>
                      </a:r>
                      <a:endParaRPr lang="zh-CN" altLang="en-US" sz="1400" dirty="0">
                        <a:latin typeface="微软雅黑" panose="020B0503020204020204" charset="-122"/>
                        <a:ea typeface="微软雅黑" panose="020B0503020204020204" charset="-122"/>
                      </a:endParaRPr>
                    </a:p>
                  </a:txBody>
                  <a:tcPr marL="121904" marR="121904" marT="60974" marB="60974" anchor="ctr"/>
                </a:tc>
                <a:tc rowSpan="4">
                  <a:txBody>
                    <a:bodyPr/>
                    <a:p>
                      <a:pPr algn="ctr"/>
                      <a:r>
                        <a:rPr lang="zh-CN" altLang="en-US" sz="1400" dirty="0">
                          <a:latin typeface="+mj-ea"/>
                          <a:ea typeface="+mj-ea"/>
                        </a:rPr>
                        <a:t>维护活动可能改变机器速度</a:t>
                      </a:r>
                      <a:endParaRPr lang="zh-CN" altLang="en-US" sz="1400" dirty="0">
                        <a:latin typeface="+mj-ea"/>
                        <a:ea typeface="+mj-ea"/>
                      </a:endParaRPr>
                    </a:p>
                  </a:txBody>
                  <a:tcPr marL="121904" marR="121904" marT="60974" marB="60974" anchor="ctr"/>
                </a:tc>
                <a:tc gridSpan="2">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往往同时考虑退化效应，关注点在影响加工时间上</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hMerge="1">
                  <a:tcPr marL="121904" marR="121904" marT="60974" marB="60974" anchor="ctr"/>
                </a:tc>
                <a:tc rowSpan="4">
                  <a:txBody>
                    <a:bodyPr/>
                    <a:p>
                      <a:pPr algn="l">
                        <a:lnSpc>
                          <a:spcPct val="125000"/>
                        </a:lnSpc>
                        <a:buNone/>
                      </a:pPr>
                      <a:r>
                        <a:rPr lang="zh-CN" altLang="en-US" sz="1400" dirty="0">
                          <a:sym typeface="+mn-ea"/>
                        </a:rPr>
                        <a:t>两步法：</a:t>
                      </a:r>
                      <a:r>
                        <a:rPr lang="zh-CN" altLang="en-US" sz="1400" dirty="0">
                          <a:sym typeface="+mn-ea"/>
                        </a:rPr>
                        <a:t>基于批次的加工时间变化确</a:t>
                      </a:r>
                      <a:r>
                        <a:rPr lang="zh-CN" altLang="en-US" sz="1400" dirty="0">
                          <a:sym typeface="+mn-ea"/>
                        </a:rPr>
                        <a:t>定维护活动之间的</a:t>
                      </a:r>
                      <a:r>
                        <a:rPr lang="zh-CN" altLang="en-US" sz="1400" b="1" dirty="0">
                          <a:solidFill>
                            <a:srgbClr val="FF0000"/>
                          </a:solidFill>
                          <a:sym typeface="+mn-ea"/>
                        </a:rPr>
                        <a:t>最佳时间间隔或者批次间隔</a:t>
                      </a:r>
                      <a:r>
                        <a:rPr lang="zh-CN" altLang="en-US" sz="1400" dirty="0">
                          <a:sym typeface="+mn-ea"/>
                        </a:rPr>
                        <a:t>，一旦确定了维护间隔，第二步就是结合维护来安排批次顺序</a:t>
                      </a:r>
                      <a:r>
                        <a:rPr lang="en-US" altLang="zh-CN" sz="1400" dirty="0">
                          <a:sym typeface="+mn-ea"/>
                        </a:rPr>
                        <a:t>[</a:t>
                      </a:r>
                      <a:r>
                        <a:rPr lang="en-US" altLang="zh-CN" sz="1400" dirty="0">
                          <a:sym typeface="+mn-ea"/>
                        </a:rPr>
                        <a:t>2</a:t>
                      </a:r>
                      <a:r>
                        <a:rPr lang="en-US" altLang="zh-CN" sz="1400" dirty="0">
                          <a:sym typeface="+mn-ea"/>
                        </a:rPr>
                        <a:t>0</a:t>
                      </a:r>
                      <a:r>
                        <a:rPr lang="en-US" altLang="zh-CN" sz="1400" dirty="0">
                          <a:sym typeface="+mn-ea"/>
                        </a:rPr>
                        <a:t>]</a:t>
                      </a:r>
                      <a:endParaRPr lang="zh-CN" altLang="en-US" sz="1400" dirty="0">
                        <a:sym typeface="+mn-ea"/>
                      </a:endParaRPr>
                    </a:p>
                    <a:p>
                      <a:pPr algn="l">
                        <a:lnSpc>
                          <a:spcPct val="125000"/>
                        </a:lnSpc>
                        <a:buNone/>
                      </a:pPr>
                      <a:r>
                        <a:rPr lang="zh-CN" altLang="en-US" sz="1400" dirty="0">
                          <a:sym typeface="+mn-ea"/>
                        </a:rPr>
                        <a:t>同步法：基于对退化效应的学习，</a:t>
                      </a:r>
                      <a:r>
                        <a:rPr lang="zh-CN" altLang="en-US" sz="1400" dirty="0">
                          <a:sym typeface="+mn-ea"/>
                        </a:rPr>
                        <a:t>执行维护的决定与生产调度同时进行</a:t>
                      </a:r>
                      <a:r>
                        <a:rPr lang="en-US" altLang="zh-CN" sz="1400" dirty="0">
                          <a:sym typeface="+mn-ea"/>
                        </a:rPr>
                        <a:t>[</a:t>
                      </a:r>
                      <a:r>
                        <a:rPr lang="en-US" altLang="zh-CN" sz="1400" dirty="0">
                          <a:sym typeface="+mn-ea"/>
                        </a:rPr>
                        <a:t>2</a:t>
                      </a:r>
                      <a:r>
                        <a:rPr lang="en-US" altLang="zh-CN" sz="1400" dirty="0">
                          <a:sym typeface="+mn-ea"/>
                        </a:rPr>
                        <a:t>1</a:t>
                      </a:r>
                      <a:r>
                        <a:rPr lang="en-US" altLang="zh-CN" sz="1400" dirty="0">
                          <a:sym typeface="+mn-ea"/>
                        </a:rPr>
                        <a:t>]</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rowSpan="4">
                  <a:txBody>
                    <a:bodyPr/>
                    <a:p>
                      <a:pPr marL="0" marR="0" lvl="0" indent="0" algn="l"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相对简单，主要关注设备运行速率的调整</a:t>
                      </a:r>
                      <a:endParaRPr lang="zh-CN" altLang="en-US" sz="1400" kern="1200" dirty="0">
                        <a:solidFill>
                          <a:schemeClr val="dk1"/>
                        </a:solidFill>
                        <a:effectLst/>
                        <a:latin typeface="微软雅黑" panose="020B0503020204020204" charset="-122"/>
                        <a:ea typeface="微软雅黑" panose="020B0503020204020204" charset="-122"/>
                        <a:cs typeface="+mn-cs"/>
                      </a:endParaRPr>
                    </a:p>
                    <a:p>
                      <a:pPr marL="0" marR="0" lvl="0" indent="0" algn="l" defTabSz="685800" rtl="0" eaLnBrk="1" fontAlgn="auto" latinLnBrk="0" hangingPunct="1">
                        <a:lnSpc>
                          <a:spcPct val="100000"/>
                        </a:lnSpc>
                        <a:spcBef>
                          <a:spcPts val="0"/>
                        </a:spcBef>
                        <a:spcAft>
                          <a:spcPts val="0"/>
                        </a:spcAft>
                        <a:buClrTx/>
                        <a:buSzTx/>
                        <a:buFontTx/>
                        <a:buNone/>
                      </a:pPr>
                      <a:endParaRPr lang="zh-CN" altLang="en-US" sz="1400" kern="1200" dirty="0">
                        <a:solidFill>
                          <a:schemeClr val="dk1"/>
                        </a:solidFill>
                        <a:effectLst/>
                        <a:latin typeface="微软雅黑" panose="020B0503020204020204" charset="-122"/>
                        <a:ea typeface="微软雅黑" panose="020B0503020204020204" charset="-122"/>
                        <a:cs typeface="+mn-cs"/>
                      </a:endParaRPr>
                    </a:p>
                    <a:p>
                      <a:pPr marL="0" marR="0" lvl="0" indent="0" algn="l" defTabSz="685800" rtl="0" eaLnBrk="1" fontAlgn="auto" latinLnBrk="0" hangingPunct="1">
                        <a:lnSpc>
                          <a:spcPct val="100000"/>
                        </a:lnSpc>
                        <a:spcBef>
                          <a:spcPts val="0"/>
                        </a:spcBef>
                        <a:spcAft>
                          <a:spcPts val="0"/>
                        </a:spcAft>
                        <a:buClrTx/>
                        <a:buSzTx/>
                        <a:buFontTx/>
                        <a:buNone/>
                      </a:pPr>
                      <a:r>
                        <a:rPr lang="zh-CN" altLang="en-US" sz="1400" dirty="0">
                          <a:latin typeface="微软雅黑" panose="020B0503020204020204" charset="-122"/>
                          <a:ea typeface="微软雅黑" panose="020B0503020204020204" charset="-122"/>
                          <a:cs typeface="Times New Roman" panose="02020603050405020304" pitchFamily="18" charset="0"/>
                          <a:sym typeface="+mn-ea"/>
                        </a:rPr>
                        <a:t>但是维护可能在设备尚未出现故障时进行，导致资源浪费。</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r>
              <a:tr h="648970">
                <a:tc vMerge="1">
                  <a:tcPr/>
                </a:tc>
                <a:tc vMerge="1">
                  <a:tcPr marL="121904" marR="121904" marT="60974" marB="60974" anchor="ct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时间依赖性</a:t>
                      </a:r>
                      <a:r>
                        <a:rPr lang="en-US" altLang="zh-CN" sz="1400" kern="1200" dirty="0">
                          <a:solidFill>
                            <a:schemeClr val="dk1"/>
                          </a:solidFill>
                          <a:effectLst/>
                          <a:latin typeface="微软雅黑" panose="020B0503020204020204" charset="-122"/>
                          <a:ea typeface="微软雅黑" panose="020B0503020204020204" charset="-122"/>
                          <a:cs typeface="+mn-cs"/>
                        </a:rPr>
                        <a:t>[</a:t>
                      </a:r>
                      <a:r>
                        <a:rPr lang="en-US" altLang="zh-CN" sz="1400" kern="1200" dirty="0">
                          <a:solidFill>
                            <a:schemeClr val="dk1"/>
                          </a:solidFill>
                          <a:effectLst/>
                          <a:latin typeface="微软雅黑" panose="020B0503020204020204" charset="-122"/>
                          <a:ea typeface="微软雅黑" panose="020B0503020204020204" charset="-122"/>
                          <a:cs typeface="+mn-cs"/>
                        </a:rPr>
                        <a:t>1</a:t>
                      </a:r>
                      <a:r>
                        <a:rPr lang="en-US" altLang="zh-CN" sz="1400" kern="1200" dirty="0">
                          <a:solidFill>
                            <a:schemeClr val="dk1"/>
                          </a:solidFill>
                          <a:effectLst/>
                          <a:latin typeface="微软雅黑" panose="020B0503020204020204" charset="-122"/>
                          <a:ea typeface="微软雅黑" panose="020B0503020204020204" charset="-122"/>
                          <a:cs typeface="+mn-cs"/>
                        </a:rPr>
                        <a:t>7</a:t>
                      </a:r>
                      <a:r>
                        <a:rPr lang="en-US" altLang="zh-CN" sz="1400" kern="1200" dirty="0">
                          <a:solidFill>
                            <a:schemeClr val="dk1"/>
                          </a:solidFill>
                          <a:effectLst/>
                          <a:latin typeface="微软雅黑" panose="020B0503020204020204" charset="-122"/>
                          <a:ea typeface="微软雅黑" panose="020B0503020204020204" charset="-122"/>
                          <a:cs typeface="+mn-cs"/>
                        </a:rPr>
                        <a:t>]</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rowSpan="3">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实际生产过程中，</a:t>
                      </a:r>
                      <a:r>
                        <a:rPr lang="zh-CN" altLang="en-US" sz="1400" b="1" kern="1200" dirty="0">
                          <a:solidFill>
                            <a:srgbClr val="FF0000"/>
                          </a:solidFill>
                          <a:effectLst/>
                          <a:latin typeface="微软雅黑" panose="020B0503020204020204" charset="-122"/>
                          <a:ea typeface="微软雅黑" panose="020B0503020204020204" charset="-122"/>
                          <a:cs typeface="+mn-cs"/>
                        </a:rPr>
                        <a:t>退化效应特性的多种变化和组合，带来动态变化</a:t>
                      </a:r>
                      <a:endParaRPr lang="zh-CN" altLang="en-US" sz="1400" b="1" kern="1200" dirty="0">
                        <a:solidFill>
                          <a:srgbClr val="FF0000"/>
                        </a:solidFill>
                        <a:effectLst/>
                        <a:latin typeface="微软雅黑" panose="020B0503020204020204" charset="-122"/>
                        <a:ea typeface="微软雅黑" panose="020B0503020204020204" charset="-122"/>
                        <a:cs typeface="+mn-cs"/>
                      </a:endParaRPr>
                    </a:p>
                  </a:txBody>
                  <a:tcPr marL="121904" marR="121904" marT="60974" marB="60974" anchor="ctr"/>
                </a:tc>
                <a:tc vMerge="1">
                  <a:tcPr marL="121904" marR="121904" marT="60974" marB="60974" anchor="ctr"/>
                </a:tc>
                <a:tc vMerge="1">
                  <a:tcPr marL="121904" marR="121904" marT="60974" marB="60974" anchor="ctr"/>
                </a:tc>
              </a:tr>
              <a:tr h="395605">
                <a:tc vMerge="1">
                  <a:tcPr/>
                </a:tc>
                <a:tc vMerge="1">
                  <a:tcPr marL="121904" marR="121904" marT="60974" marB="60974" anchor="ct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位置依赖性</a:t>
                      </a:r>
                      <a:r>
                        <a:rPr lang="en-US" altLang="zh-CN" sz="1400" kern="1200" dirty="0">
                          <a:solidFill>
                            <a:schemeClr val="dk1"/>
                          </a:solidFill>
                          <a:effectLst/>
                          <a:latin typeface="微软雅黑" panose="020B0503020204020204" charset="-122"/>
                          <a:ea typeface="微软雅黑" panose="020B0503020204020204" charset="-122"/>
                          <a:cs typeface="+mn-cs"/>
                        </a:rPr>
                        <a:t>[</a:t>
                      </a:r>
                      <a:r>
                        <a:rPr lang="en-US" altLang="zh-CN" sz="1400" kern="1200" dirty="0">
                          <a:solidFill>
                            <a:schemeClr val="dk1"/>
                          </a:solidFill>
                          <a:effectLst/>
                          <a:latin typeface="微软雅黑" panose="020B0503020204020204" charset="-122"/>
                          <a:ea typeface="微软雅黑" panose="020B0503020204020204" charset="-122"/>
                          <a:cs typeface="+mn-cs"/>
                        </a:rPr>
                        <a:t>1</a:t>
                      </a:r>
                      <a:r>
                        <a:rPr lang="en-US" altLang="zh-CN" sz="1400" kern="1200" dirty="0">
                          <a:solidFill>
                            <a:schemeClr val="dk1"/>
                          </a:solidFill>
                          <a:effectLst/>
                          <a:latin typeface="微软雅黑" panose="020B0503020204020204" charset="-122"/>
                          <a:ea typeface="微软雅黑" panose="020B0503020204020204" charset="-122"/>
                          <a:cs typeface="+mn-cs"/>
                        </a:rPr>
                        <a:t>8</a:t>
                      </a:r>
                      <a:r>
                        <a:rPr lang="en-US" altLang="zh-CN" sz="1400" kern="1200" dirty="0">
                          <a:solidFill>
                            <a:schemeClr val="dk1"/>
                          </a:solidFill>
                          <a:effectLst/>
                          <a:latin typeface="微软雅黑" panose="020B0503020204020204" charset="-122"/>
                          <a:ea typeface="微软雅黑" panose="020B0503020204020204" charset="-122"/>
                          <a:cs typeface="+mn-cs"/>
                        </a:rPr>
                        <a:t>]</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tc>
                <a:tc vMerge="1">
                  <a:tcPr marL="121904" marR="121904" marT="60974" marB="60974" anchor="ctr"/>
                </a:tc>
                <a:tc vMerge="1">
                  <a:tcPr marL="121904" marR="121904" marT="60974" marB="60974" anchor="ctr"/>
                </a:tc>
                <a:tc vMerge="1">
                  <a:tcPr marL="121904" marR="121904" marT="60974" marB="60974" anchor="ctr"/>
                </a:tc>
              </a:tr>
              <a:tr h="621665">
                <a:tc vMerge="1">
                  <a:tcPr/>
                </a:tc>
                <a:tc vMerge="1">
                  <a:tcPr/>
                </a:tc>
                <a:tc>
                  <a:txBody>
                    <a:bodyPr/>
                    <a:p>
                      <a:pPr marL="0" marR="0" lvl="0" indent="0" algn="ctr" defTabSz="685800" rtl="0" eaLnBrk="1" fontAlgn="auto" latinLnBrk="0" hangingPunct="1">
                        <a:lnSpc>
                          <a:spcPct val="100000"/>
                        </a:lnSpc>
                        <a:spcBef>
                          <a:spcPts val="0"/>
                        </a:spcBef>
                        <a:spcAft>
                          <a:spcPts val="0"/>
                        </a:spcAft>
                        <a:buClrTx/>
                        <a:buSzTx/>
                        <a:buFontTx/>
                        <a:buNone/>
                      </a:pPr>
                      <a:r>
                        <a:rPr lang="zh-CN" altLang="en-US" sz="1400" kern="1200" dirty="0">
                          <a:solidFill>
                            <a:schemeClr val="dk1"/>
                          </a:solidFill>
                          <a:effectLst/>
                          <a:latin typeface="微软雅黑" panose="020B0503020204020204" charset="-122"/>
                          <a:ea typeface="微软雅黑" panose="020B0503020204020204" charset="-122"/>
                          <a:cs typeface="+mn-cs"/>
                        </a:rPr>
                        <a:t>作业依赖性</a:t>
                      </a:r>
                      <a:endParaRPr lang="zh-CN" altLang="en-US" sz="1400" kern="1200" dirty="0">
                        <a:solidFill>
                          <a:schemeClr val="dk1"/>
                        </a:solidFill>
                        <a:effectLst/>
                        <a:latin typeface="微软雅黑" panose="020B0503020204020204" charset="-122"/>
                        <a:ea typeface="微软雅黑" panose="020B0503020204020204" charset="-122"/>
                        <a:cs typeface="+mn-cs"/>
                      </a:endParaRPr>
                    </a:p>
                  </a:txBody>
                  <a:tcPr marL="121904" marR="121904" marT="60974" marB="60974" anchor="ctr">
                    <a:solidFill>
                      <a:srgbClr val="D2DEEF"/>
                    </a:solidFill>
                  </a:tcPr>
                </a:tc>
                <a:tc vMerge="1">
                  <a:tcPr marL="121904" marR="121904" marT="60974" marB="60974" anchor="ctr">
                    <a:solidFill>
                      <a:srgbClr val="D2DEEF"/>
                    </a:solidFill>
                  </a:tcPr>
                </a:tc>
                <a:tc vMerge="1">
                  <a:tcPr marL="121904" marR="121904" marT="60974" marB="60974" anchor="ctr">
                    <a:solidFill>
                      <a:srgbClr val="D2DEEF"/>
                    </a:solidFill>
                  </a:tcPr>
                </a:tc>
                <a:tc vMerge="1">
                  <a:tcPr marL="121904" marR="121904" marT="60974" marB="60974" anchor="ctr">
                    <a:solidFill>
                      <a:srgbClr val="D2DEEF"/>
                    </a:solidFill>
                  </a:tcPr>
                </a:tc>
              </a:tr>
              <a:tr h="1455420">
                <a:tc>
                  <a:txBody>
                    <a:bodyPr/>
                    <a:p>
                      <a:pPr algn="ctr"/>
                      <a:r>
                        <a:rPr lang="zh-CN" altLang="en-US" sz="1400" dirty="0">
                          <a:latin typeface="微软雅黑" panose="020B0503020204020204" charset="-122"/>
                          <a:ea typeface="微软雅黑" panose="020B0503020204020204" charset="-122"/>
                          <a:cs typeface="Times New Roman" panose="02020603050405020304" pitchFamily="18" charset="0"/>
                          <a:sym typeface="+mn-ea"/>
                        </a:rPr>
                        <a:t>基于预防性维护策略</a:t>
                      </a:r>
                      <a:endParaRPr lang="zh-CN" altLang="en-US" sz="1400" dirty="0">
                        <a:latin typeface="微软雅黑" panose="020B0503020204020204" charset="-122"/>
                        <a:ea typeface="微软雅黑" panose="020B0503020204020204" charset="-122"/>
                      </a:endParaRPr>
                    </a:p>
                  </a:txBody>
                  <a:tcPr marL="121904" marR="121904" marT="60974" marB="60974" anchor="ctr"/>
                </a:tc>
                <a:tc>
                  <a:txBody>
                    <a:bodyPr/>
                    <a:p>
                      <a:pPr algn="ctr"/>
                      <a:r>
                        <a:rPr lang="zh-CN" altLang="zh-CN" sz="1400" dirty="0">
                          <a:effectLst/>
                          <a:latin typeface="+mj-ea"/>
                          <a:ea typeface="+mj-ea"/>
                          <a:cs typeface="Times New Roman" panose="02020603050405020304" pitchFamily="18" charset="0"/>
                          <a:sym typeface="+mn-ea"/>
                        </a:rPr>
                        <a:t>预测设备未来的状态不断更新</a:t>
                      </a:r>
                      <a:r>
                        <a:rPr lang="zh-CN" altLang="en-US" sz="1400" dirty="0">
                          <a:latin typeface="+mj-ea"/>
                          <a:ea typeface="+mj-ea"/>
                          <a:sym typeface="+mn-ea"/>
                        </a:rPr>
                        <a:t>维护</a:t>
                      </a:r>
                      <a:r>
                        <a:rPr lang="zh-CN" altLang="zh-CN" sz="1400" dirty="0">
                          <a:effectLst/>
                          <a:latin typeface="+mj-ea"/>
                          <a:ea typeface="+mj-ea"/>
                          <a:cs typeface="Times New Roman" panose="02020603050405020304" pitchFamily="18" charset="0"/>
                          <a:sym typeface="+mn-ea"/>
                        </a:rPr>
                        <a:t>方案</a:t>
                      </a:r>
                      <a:endParaRPr lang="zh-CN" altLang="en-US" sz="1400" dirty="0">
                        <a:latin typeface="+mj-ea"/>
                        <a:ea typeface="+mj-ea"/>
                      </a:endParaRPr>
                    </a:p>
                  </a:txBody>
                  <a:tcPr marL="121904" marR="121904" marT="60974" marB="60974" anchor="ctr"/>
                </a:tc>
                <a:tc gridSpan="2">
                  <a:txBody>
                    <a:bodyPr/>
                    <a:p>
                      <a:pPr algn="ctr">
                        <a:lnSpc>
                          <a:spcPct val="125000"/>
                        </a:lnSpc>
                        <a:buNone/>
                      </a:pPr>
                      <a:r>
                        <a:rPr lang="zh-CN" altLang="zh-CN" sz="1400" dirty="0">
                          <a:effectLst/>
                          <a:latin typeface="+mj-ea"/>
                          <a:ea typeface="+mj-ea"/>
                          <a:cs typeface="Times New Roman" panose="02020603050405020304" pitchFamily="18" charset="0"/>
                          <a:sym typeface="+mn-ea"/>
                        </a:rPr>
                        <a:t>根据</a:t>
                      </a:r>
                      <a:r>
                        <a:rPr lang="zh-CN" altLang="en-US" sz="1400" dirty="0">
                          <a:latin typeface="+mj-ea"/>
                          <a:ea typeface="+mj-ea"/>
                          <a:sym typeface="+mn-ea"/>
                        </a:rPr>
                        <a:t>机器的可靠度制订方案</a:t>
                      </a:r>
                      <a:endParaRPr lang="zh-CN" altLang="en-US" sz="1400" dirty="0">
                        <a:latin typeface="+mj-ea"/>
                        <a:ea typeface="+mj-ea"/>
                        <a:sym typeface="+mn-ea"/>
                      </a:endParaRPr>
                    </a:p>
                    <a:p>
                      <a:pPr algn="ctr">
                        <a:lnSpc>
                          <a:spcPct val="125000"/>
                        </a:lnSpc>
                        <a:buNone/>
                      </a:pPr>
                      <a:r>
                        <a:rPr lang="zh-CN" altLang="en-US" sz="1400" dirty="0">
                          <a:latin typeface="微软雅黑" panose="020B0503020204020204" charset="-122"/>
                          <a:ea typeface="微软雅黑" panose="020B0503020204020204" charset="-122"/>
                        </a:rPr>
                        <a:t>一般最大化机器可用性或者维持最低可靠度</a:t>
                      </a:r>
                      <a:r>
                        <a:rPr lang="en-US" altLang="zh-CN" sz="1400" dirty="0">
                          <a:latin typeface="微软雅黑" panose="020B0503020204020204" charset="-122"/>
                          <a:ea typeface="微软雅黑" panose="020B0503020204020204" charset="-122"/>
                        </a:rPr>
                        <a:t>[22][23]</a:t>
                      </a:r>
                      <a:endParaRPr lang="en-US" altLang="zh-CN" sz="1400" dirty="0">
                        <a:latin typeface="微软雅黑" panose="020B0503020204020204" charset="-122"/>
                        <a:ea typeface="微软雅黑" panose="020B0503020204020204" charset="-122"/>
                      </a:endParaRPr>
                    </a:p>
                  </a:txBody>
                  <a:tcPr marL="121904" marR="121904" marT="60974" marB="60974" anchor="ctr"/>
                </a:tc>
                <a:tc hMerge="1">
                  <a:tcPr marL="121904" marR="121904" marT="60974" marB="60974" anchor="ctr"/>
                </a:tc>
                <a:tc>
                  <a:txBody>
                    <a:bodyPr/>
                    <a:p>
                      <a:pPr algn="ctr">
                        <a:lnSpc>
                          <a:spcPct val="125000"/>
                        </a:lnSpc>
                        <a:buNone/>
                      </a:pPr>
                      <a:r>
                        <a:rPr lang="zh-CN" altLang="en-US" sz="1400" dirty="0">
                          <a:sym typeface="+mn-ea"/>
                        </a:rPr>
                        <a:t>两步法</a:t>
                      </a:r>
                      <a:endParaRPr lang="zh-CN" altLang="en-US" sz="1400" dirty="0">
                        <a:sym typeface="+mn-ea"/>
                      </a:endParaRPr>
                    </a:p>
                    <a:p>
                      <a:pPr algn="ctr">
                        <a:lnSpc>
                          <a:spcPct val="125000"/>
                        </a:lnSpc>
                        <a:buNone/>
                      </a:pPr>
                      <a:r>
                        <a:rPr lang="zh-CN" altLang="en-US" sz="1400" dirty="0">
                          <a:sym typeface="+mn-ea"/>
                        </a:rPr>
                        <a:t>同步法</a:t>
                      </a:r>
                      <a:endParaRPr lang="zh-CN" altLang="en-US" sz="1400" dirty="0">
                        <a:latin typeface="微软雅黑" panose="020B0503020204020204" charset="-122"/>
                        <a:ea typeface="微软雅黑" panose="020B0503020204020204" charset="-122"/>
                      </a:endParaRPr>
                    </a:p>
                  </a:txBody>
                  <a:tcPr marL="121904" marR="121904" marT="60974" marB="60974" anchor="ctr"/>
                </a:tc>
                <a:tc>
                  <a:txBody>
                    <a:bodyPr/>
                    <a:p>
                      <a:pPr algn="l"/>
                      <a:r>
                        <a:rPr lang="zh-CN" altLang="en-US" sz="1400" dirty="0">
                          <a:latin typeface="微软雅黑" panose="020B0503020204020204" charset="-122"/>
                          <a:ea typeface="微软雅黑" panose="020B0503020204020204" charset="-122"/>
                          <a:cs typeface="Times New Roman" panose="02020603050405020304" pitchFamily="18" charset="0"/>
                          <a:sym typeface="+mn-ea"/>
                        </a:rPr>
                        <a:t>根据设备的状态制定即时的维护措施，并根据变化更新维护操作，但对状态信息依赖性高，预测结果的准确性高度影响维护方案的可靠性</a:t>
                      </a:r>
                      <a:endParaRPr lang="zh-CN" altLang="en-US" sz="1400" dirty="0">
                        <a:latin typeface="微软雅黑" panose="020B0503020204020204" charset="-122"/>
                        <a:ea typeface="微软雅黑" panose="020B0503020204020204" charset="-122"/>
                        <a:cs typeface="Times New Roman" panose="02020603050405020304" pitchFamily="18" charset="0"/>
                      </a:endParaRPr>
                    </a:p>
                  </a:txBody>
                  <a:tcPr marL="121904" marR="121904" marT="60974" marB="60974"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716"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6"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17"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18" name="等腰三角形 8"/>
          <p:cNvSpPr/>
          <p:nvPr/>
        </p:nvSpPr>
        <p:spPr>
          <a:xfrm rot="5400000">
            <a:off x="463619" y="124063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3E95"/>
              </a:solidFill>
            </a:endParaRPr>
          </a:p>
        </p:txBody>
      </p:sp>
      <p:sp>
        <p:nvSpPr>
          <p:cNvPr id="1048719" name="矩形 10"/>
          <p:cNvSpPr/>
          <p:nvPr/>
        </p:nvSpPr>
        <p:spPr>
          <a:xfrm>
            <a:off x="657333" y="1027158"/>
            <a:ext cx="5365865" cy="614041"/>
          </a:xfrm>
          <a:prstGeom prst="rect">
            <a:avLst/>
          </a:prstGeom>
          <a:noFill/>
          <a:ln>
            <a:noFill/>
          </a:ln>
        </p:spPr>
        <p:txBody>
          <a:bodyPr wrap="square" lIns="121917" tIns="60958" rIns="121917" bIns="60958">
            <a:spAutoFit/>
          </a:bodyPr>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总结</a:t>
            </a:r>
            <a:endPar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720" name="文本框 2"/>
          <p:cNvSpPr txBox="1"/>
          <p:nvPr/>
        </p:nvSpPr>
        <p:spPr>
          <a:xfrm>
            <a:off x="538363" y="4966596"/>
            <a:ext cx="4767228" cy="1005839"/>
          </a:xfrm>
          <a:prstGeom prst="rect">
            <a:avLst/>
          </a:prstGeom>
          <a:noFill/>
        </p:spPr>
        <p:txBody>
          <a:bodyPr wrap="square" rtlCol="0">
            <a:spAutoFit/>
          </a:bodyPr>
          <a:p>
            <a:pPr marL="285750" indent="-285750" algn="just">
              <a:buFont typeface="Wingdings" panose="05000000000000000000" pitchFamily="2" charset="2"/>
              <a:buChar char="n"/>
            </a:pPr>
            <a:r>
              <a:rPr lang="zh-CN" dirty="0">
                <a:latin typeface="微软雅黑" panose="020B0503020204020204" charset="-122"/>
                <a:ea typeface="微软雅黑" panose="020B0503020204020204" charset="-122"/>
                <a:sym typeface="+mn-ea"/>
              </a:rPr>
              <a:t>大部分研究都假设设备劣化模型已知，且具有相同的劣化函数，缺少</a:t>
            </a:r>
            <a:r>
              <a:rPr lang="zh-CN" b="1" dirty="0">
                <a:solidFill>
                  <a:srgbClr val="FF0000"/>
                </a:solidFill>
                <a:latin typeface="微软雅黑" panose="020B0503020204020204" charset="-122"/>
                <a:ea typeface="微软雅黑" panose="020B0503020204020204" charset="-122"/>
                <a:sym typeface="+mn-ea"/>
              </a:rPr>
              <a:t>对动态退化效应和维护活动协同优化</a:t>
            </a:r>
            <a:r>
              <a:rPr lang="zh-CN" dirty="0">
                <a:latin typeface="微软雅黑" panose="020B0503020204020204" charset="-122"/>
                <a:ea typeface="微软雅黑" panose="020B0503020204020204" charset="-122"/>
                <a:sym typeface="+mn-ea"/>
              </a:rPr>
              <a:t>的进一步研究。</a:t>
            </a:r>
            <a:endParaRPr lang="zh-CN" altLang="zh-CN" b="1" kern="100" dirty="0">
              <a:solidFill>
                <a:srgbClr val="C00000"/>
              </a:solidFill>
              <a:latin typeface="微软雅黑" panose="020B0503020204020204" charset="-122"/>
              <a:ea typeface="微软雅黑" panose="020B0503020204020204" charset="-122"/>
              <a:sym typeface="+mn-ea"/>
            </a:endParaRPr>
          </a:p>
        </p:txBody>
      </p:sp>
      <p:sp>
        <p:nvSpPr>
          <p:cNvPr id="1048721" name="文本框 15"/>
          <p:cNvSpPr txBox="1"/>
          <p:nvPr/>
        </p:nvSpPr>
        <p:spPr>
          <a:xfrm>
            <a:off x="6821641" y="4832611"/>
            <a:ext cx="4339846" cy="1005839"/>
          </a:xfrm>
          <a:prstGeom prst="rect">
            <a:avLst/>
          </a:prstGeom>
          <a:noFill/>
        </p:spPr>
        <p:txBody>
          <a:bodyPr wrap="square" rtlCol="0">
            <a:spAutoFit/>
          </a:bodyPr>
          <a:p>
            <a:pPr marL="285750" indent="-285750" algn="just">
              <a:spcAft>
                <a:spcPts val="600"/>
              </a:spcAft>
              <a:buFont typeface="Wingdings" panose="05000000000000000000" pitchFamily="2" charset="2"/>
              <a:buChar char="n"/>
            </a:pPr>
            <a:r>
              <a:rPr lang="zh-CN" altLang="en-US" kern="100" dirty="0">
                <a:solidFill>
                  <a:srgbClr val="000000"/>
                </a:solidFill>
                <a:latin typeface="微软雅黑" panose="020B0503020204020204" charset="-122"/>
                <a:ea typeface="微软雅黑" panose="020B0503020204020204" charset="-122"/>
                <a:sym typeface="+mn-ea"/>
              </a:rPr>
              <a:t>以动态退化效应下非相容调度与维护协同的为研究对象。研究更适应航空零部件热处理实际生产环境的问题。</a:t>
            </a:r>
            <a:endParaRPr lang="zh-CN" altLang="en-US" kern="100" dirty="0">
              <a:solidFill>
                <a:srgbClr val="000000"/>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048722" name="右箭头 4"/>
          <p:cNvSpPr/>
          <p:nvPr/>
        </p:nvSpPr>
        <p:spPr>
          <a:xfrm>
            <a:off x="5711445" y="5230476"/>
            <a:ext cx="769110" cy="45932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723" name="右箭头 5"/>
          <p:cNvSpPr/>
          <p:nvPr/>
        </p:nvSpPr>
        <p:spPr>
          <a:xfrm>
            <a:off x="5711447" y="2200040"/>
            <a:ext cx="769110" cy="45932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724" name="文本框 19"/>
          <p:cNvSpPr txBox="1"/>
          <p:nvPr/>
        </p:nvSpPr>
        <p:spPr>
          <a:xfrm>
            <a:off x="6821643" y="1933800"/>
            <a:ext cx="4339844" cy="1310640"/>
          </a:xfrm>
          <a:prstGeom prst="rect">
            <a:avLst/>
          </a:prstGeom>
          <a:noFill/>
        </p:spPr>
        <p:txBody>
          <a:bodyPr wrap="square">
            <a:spAutoFit/>
          </a:bodyPr>
          <a:p>
            <a:pPr marL="285750" indent="-285750" algn="just">
              <a:buFont typeface="Wingdings" panose="05000000000000000000" pitchFamily="2" charset="2"/>
              <a:buChar char="n"/>
            </a:pPr>
            <a:r>
              <a:rPr lang="zh-CN" altLang="en-US" kern="100" dirty="0">
                <a:solidFill>
                  <a:srgbClr val="000000"/>
                </a:solidFill>
                <a:latin typeface="微软雅黑" panose="020B0503020204020204" charset="-122"/>
                <a:ea typeface="微软雅黑" panose="020B0503020204020204" charset="-122"/>
                <a:sym typeface="+mn-ea"/>
              </a:rPr>
              <a:t>分别研究先验退化效应下的相容和非相容工件调度与维护的简单协同，以相容工件类型为研究基础，非相容工件类型为研究重点。</a:t>
            </a:r>
            <a:endParaRPr lang="zh-CN" altLang="en-US" kern="100" dirty="0">
              <a:solidFill>
                <a:srgbClr val="000000"/>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048725" name="文本框 21"/>
          <p:cNvSpPr txBox="1"/>
          <p:nvPr/>
        </p:nvSpPr>
        <p:spPr>
          <a:xfrm>
            <a:off x="563130" y="1842360"/>
            <a:ext cx="4767226" cy="2491740"/>
          </a:xfrm>
          <a:prstGeom prst="rect">
            <a:avLst/>
          </a:prstGeom>
          <a:noFill/>
        </p:spPr>
        <p:txBody>
          <a:bodyPr wrap="square">
            <a:spAutoFit/>
          </a:bodyPr>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n"/>
            </a:pPr>
            <a:r>
              <a:rPr lang="zh-CN" sz="1600" dirty="0">
                <a:latin typeface="微软雅黑" panose="020B0503020204020204" charset="-122"/>
                <a:ea typeface="微软雅黑" panose="020B0503020204020204" charset="-122"/>
              </a:rPr>
              <a:t>大多数并行机环境的批调度问题，决策者更多关注于生产效益并据此规划调度方案。</a:t>
            </a:r>
            <a:r>
              <a:rPr lang="zh-CN" sz="1600" dirty="0">
                <a:latin typeface="微软雅黑" panose="020B0503020204020204" charset="-122"/>
                <a:ea typeface="微软雅黑" panose="020B0503020204020204" charset="-122"/>
                <a:sym typeface="+mn-ea"/>
              </a:rPr>
              <a:t>未能充分考虑生产调度与维护活动的相互作用，以及维护活动可能带来的生产效率下降，生产中断等影响。</a:t>
            </a:r>
            <a:r>
              <a:rPr lang="zh-CN" altLang="en-US" sz="1600" dirty="0">
                <a:latin typeface="微软雅黑" panose="020B0503020204020204" charset="-122"/>
                <a:ea typeface="微软雅黑" panose="020B0503020204020204" charset="-122"/>
                <a:sym typeface="+mn-ea"/>
              </a:rPr>
              <a:t>在高复杂度的制造环境中，</a:t>
            </a:r>
            <a:r>
              <a:rPr lang="zh-CN" altLang="en-US" sz="1600" b="1" dirty="0">
                <a:solidFill>
                  <a:srgbClr val="FF0000"/>
                </a:solidFill>
                <a:latin typeface="微软雅黑" panose="020B0503020204020204" charset="-122"/>
                <a:ea typeface="微软雅黑" panose="020B0503020204020204" charset="-122"/>
                <a:sym typeface="+mn-ea"/>
              </a:rPr>
              <a:t>生产调度和设备维护的协同优化十分</a:t>
            </a:r>
            <a:r>
              <a:rPr lang="zh-CN" altLang="en-US" sz="1600" dirty="0">
                <a:latin typeface="微软雅黑" panose="020B0503020204020204" charset="-122"/>
                <a:ea typeface="微软雅黑" panose="020B0503020204020204" charset="-122"/>
                <a:sym typeface="+mn-ea"/>
              </a:rPr>
              <a:t>重要。</a:t>
            </a:r>
            <a:endParaRPr lang="zh-CN" altLang="en-US" sz="1600" noProof="0" dirty="0">
              <a:ln>
                <a:noFill/>
              </a:ln>
              <a:solidFill>
                <a:prstClr val="black"/>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729"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7"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30"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3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研究内容</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31" name="文本框 7"/>
          <p:cNvSpPr txBox="1"/>
          <p:nvPr/>
        </p:nvSpPr>
        <p:spPr>
          <a:xfrm>
            <a:off x="6874328" y="1263179"/>
            <a:ext cx="5180019" cy="4184650"/>
          </a:xfrm>
          <a:prstGeom prst="rect">
            <a:avLst/>
          </a:prstGeom>
          <a:noFill/>
        </p:spPr>
        <p:txBody>
          <a:bodyPr wrap="square" rtlCol="0">
            <a:spAutoFit/>
          </a:bodyPr>
          <a:p>
            <a:pPr lvl="0" indent="457200" algn="just"/>
            <a:r>
              <a:rPr lang="zh-CN" altLang="en-US" b="1" kern="100" dirty="0">
                <a:effectLst/>
                <a:latin typeface="+mn-ea"/>
                <a:cs typeface="+mn-ea"/>
              </a:rPr>
              <a:t>研究内容</a:t>
            </a:r>
            <a:r>
              <a:rPr lang="en-US" altLang="zh-CN" b="1" kern="100" dirty="0">
                <a:latin typeface="+mn-ea"/>
                <a:cs typeface="+mn-ea"/>
              </a:rPr>
              <a:t>1</a:t>
            </a:r>
            <a:r>
              <a:rPr lang="zh-CN" altLang="en-US" kern="100" dirty="0">
                <a:latin typeface="+mn-ea"/>
                <a:cs typeface="+mn-ea"/>
              </a:rPr>
              <a:t>：针对航空零部件热处理过程中设备性能的退化现象，构建了一个并行批处理调度模型。</a:t>
            </a:r>
            <a:endParaRPr lang="zh-CN" altLang="en-US" kern="100" dirty="0">
              <a:latin typeface="+mn-ea"/>
              <a:cs typeface="+mn-ea"/>
            </a:endParaRPr>
          </a:p>
          <a:p>
            <a:pPr marL="0" marR="0" lvl="0" indent="457200" algn="just" defTabSz="914400" rtl="0" eaLnBrk="1" fontAlgn="auto" latinLnBrk="0" hangingPunct="1">
              <a:lnSpc>
                <a:spcPct val="100000"/>
              </a:lnSpc>
              <a:spcBef>
                <a:spcPts val="0"/>
              </a:spcBef>
              <a:spcAft>
                <a:spcPts val="0"/>
              </a:spcAft>
              <a:buClrTx/>
              <a:buSzTx/>
              <a:buFontTx/>
              <a:buNone/>
            </a:pPr>
            <a:endParaRPr lang="en-US" altLang="zh-CN" sz="1600" kern="100" dirty="0">
              <a:effectLst/>
              <a:latin typeface="+mn-ea"/>
              <a:cs typeface="+mn-ea"/>
            </a:endParaRPr>
          </a:p>
          <a:p>
            <a:pPr marL="0" marR="0" lvl="0" indent="457200" algn="just" defTabSz="914400" rtl="0" eaLnBrk="1" fontAlgn="auto" latinLnBrk="0" hangingPunct="1">
              <a:lnSpc>
                <a:spcPct val="100000"/>
              </a:lnSpc>
              <a:spcBef>
                <a:spcPts val="0"/>
              </a:spcBef>
              <a:spcAft>
                <a:spcPts val="0"/>
              </a:spcAft>
              <a:buClrTx/>
              <a:buSzTx/>
              <a:buFontTx/>
              <a:buNone/>
            </a:pPr>
            <a:r>
              <a:rPr lang="zh-CN" altLang="en-US" b="1" kern="100" dirty="0">
                <a:effectLst/>
                <a:latin typeface="+mn-ea"/>
                <a:cs typeface="+mn-ea"/>
              </a:rPr>
              <a:t>研究内容</a:t>
            </a:r>
            <a:r>
              <a:rPr lang="en-US" altLang="zh-CN" b="1" kern="100" dirty="0">
                <a:effectLst/>
                <a:latin typeface="+mn-ea"/>
                <a:cs typeface="+mn-ea"/>
              </a:rPr>
              <a:t>2</a:t>
            </a:r>
            <a:r>
              <a:rPr lang="zh-CN" altLang="en-US" kern="100" dirty="0">
                <a:latin typeface="+mn-ea"/>
                <a:cs typeface="+mn-ea"/>
              </a:rPr>
              <a:t>：基于研究内容</a:t>
            </a:r>
            <a:r>
              <a:rPr lang="en-US" altLang="zh-CN" kern="100" dirty="0">
                <a:latin typeface="+mn-ea"/>
                <a:cs typeface="+mn-ea"/>
              </a:rPr>
              <a:t>1</a:t>
            </a:r>
            <a:r>
              <a:rPr lang="zh-CN" altLang="en-US" kern="100" dirty="0">
                <a:latin typeface="+mn-ea"/>
                <a:cs typeface="+mn-ea"/>
              </a:rPr>
              <a:t>的基础，进一步考虑了工件的非相容性约束条件并引入多种机制改进进化算法。</a:t>
            </a:r>
            <a:endParaRPr lang="zh-CN" altLang="en-US" kern="100" dirty="0">
              <a:latin typeface="+mn-ea"/>
              <a:cs typeface="+mn-ea"/>
            </a:endParaRPr>
          </a:p>
          <a:p>
            <a:pPr marL="0" marR="0" lvl="0" indent="457200" algn="just" defTabSz="914400" rtl="0" eaLnBrk="1" fontAlgn="auto" latinLnBrk="0" hangingPunct="1">
              <a:lnSpc>
                <a:spcPct val="100000"/>
              </a:lnSpc>
              <a:spcBef>
                <a:spcPts val="0"/>
              </a:spcBef>
              <a:spcAft>
                <a:spcPts val="0"/>
              </a:spcAft>
              <a:buClrTx/>
              <a:buSzTx/>
              <a:buFontTx/>
              <a:buNone/>
            </a:pPr>
            <a:endParaRPr lang="en-US" altLang="zh-CN" sz="1600" kern="100" dirty="0">
              <a:latin typeface="+mn-ea"/>
              <a:cs typeface="+mn-ea"/>
            </a:endParaRPr>
          </a:p>
          <a:p>
            <a:pPr marL="0" marR="0" lvl="0" indent="457200" algn="just" defTabSz="914400" rtl="0" eaLnBrk="1" fontAlgn="auto" latinLnBrk="0" hangingPunct="1">
              <a:lnSpc>
                <a:spcPct val="100000"/>
              </a:lnSpc>
              <a:spcBef>
                <a:spcPts val="0"/>
              </a:spcBef>
              <a:spcAft>
                <a:spcPts val="0"/>
              </a:spcAft>
              <a:buClrTx/>
              <a:buSzTx/>
              <a:buFontTx/>
              <a:buNone/>
            </a:pPr>
            <a:r>
              <a:rPr lang="zh-CN" altLang="en-US" b="1" kern="100" dirty="0">
                <a:latin typeface="+mn-ea"/>
                <a:cs typeface="+mn-ea"/>
              </a:rPr>
              <a:t>研究内容</a:t>
            </a:r>
            <a:r>
              <a:rPr lang="en-US" altLang="zh-CN" b="1" kern="100" dirty="0">
                <a:latin typeface="+mn-ea"/>
                <a:cs typeface="+mn-ea"/>
              </a:rPr>
              <a:t>3</a:t>
            </a:r>
            <a:r>
              <a:rPr lang="zh-CN" altLang="en-US" b="1" kern="100" dirty="0">
                <a:latin typeface="+mn-ea"/>
                <a:cs typeface="+mn-ea"/>
              </a:rPr>
              <a:t>：</a:t>
            </a:r>
            <a:r>
              <a:rPr lang="zh-CN" altLang="en-US" kern="100" dirty="0">
                <a:latin typeface="+mn-ea"/>
                <a:cs typeface="+mn-ea"/>
              </a:rPr>
              <a:t>进一步考虑退化效应随工件族变化的动态环境，利用多智能体强化算法实现动态环境下的调度与维护的协同。</a:t>
            </a:r>
            <a:endParaRPr lang="zh-CN" altLang="en-US" kern="100" dirty="0">
              <a:latin typeface="+mn-ea"/>
              <a:cs typeface="+mn-ea"/>
            </a:endParaRPr>
          </a:p>
          <a:p>
            <a:pPr marL="0" marR="0" lvl="0" indent="457200" algn="just" defTabSz="914400" rtl="0" eaLnBrk="1" fontAlgn="auto" latinLnBrk="0" hangingPunct="1">
              <a:lnSpc>
                <a:spcPct val="100000"/>
              </a:lnSpc>
              <a:spcBef>
                <a:spcPts val="0"/>
              </a:spcBef>
              <a:spcAft>
                <a:spcPts val="0"/>
              </a:spcAft>
              <a:buClrTx/>
              <a:buSzTx/>
              <a:buFontTx/>
              <a:buNone/>
            </a:pPr>
            <a:endParaRPr lang="zh-CN" altLang="en-US" b="1" kern="100" dirty="0">
              <a:latin typeface="+mn-ea"/>
              <a:cs typeface="+mn-ea"/>
            </a:endParaRPr>
          </a:p>
          <a:p>
            <a:pPr marL="0" marR="0" lvl="0" indent="457200" algn="just" defTabSz="914400" rtl="0" eaLnBrk="1" fontAlgn="auto" latinLnBrk="0" hangingPunct="1">
              <a:lnSpc>
                <a:spcPct val="100000"/>
              </a:lnSpc>
              <a:spcBef>
                <a:spcPts val="0"/>
              </a:spcBef>
              <a:spcAft>
                <a:spcPts val="0"/>
              </a:spcAft>
              <a:buClrTx/>
              <a:buSzTx/>
              <a:buFontTx/>
              <a:buNone/>
            </a:pPr>
            <a:r>
              <a:rPr lang="zh-CN" altLang="en-US" b="1" kern="100" dirty="0">
                <a:latin typeface="+mn-ea"/>
                <a:cs typeface="+mn-ea"/>
              </a:rPr>
              <a:t>研究内容</a:t>
            </a:r>
            <a:r>
              <a:rPr lang="en-US" altLang="zh-CN" b="1" kern="100" dirty="0">
                <a:latin typeface="+mn-ea"/>
                <a:cs typeface="+mn-ea"/>
              </a:rPr>
              <a:t>4</a:t>
            </a:r>
            <a:r>
              <a:rPr lang="zh-CN" altLang="en-US" b="1" kern="100" dirty="0">
                <a:latin typeface="+mn-ea"/>
                <a:cs typeface="+mn-ea"/>
              </a:rPr>
              <a:t>：</a:t>
            </a:r>
            <a:r>
              <a:rPr lang="zh-CN" altLang="en-US" kern="100" dirty="0">
                <a:latin typeface="+mn-ea"/>
                <a:cs typeface="+mn-ea"/>
              </a:rPr>
              <a:t>在航空零部件制造企业的典型热处理生产环境中，验证和进一步完善上述理论和技术成果。</a:t>
            </a:r>
            <a:endParaRPr lang="zh-CN" altLang="en-US" kern="100" dirty="0">
              <a:latin typeface="+mn-ea"/>
              <a:cs typeface="+mn-ea"/>
            </a:endParaRPr>
          </a:p>
        </p:txBody>
      </p:sp>
      <p:pic>
        <p:nvPicPr>
          <p:cNvPr id="2097168" name="图片 2" descr="研究内容"/>
          <p:cNvPicPr>
            <a:picLocks noChangeAspect="1"/>
          </p:cNvPicPr>
          <p:nvPr/>
        </p:nvPicPr>
        <p:blipFill>
          <a:blip r:embed="rId2"/>
          <a:stretch>
            <a:fillRect/>
          </a:stretch>
        </p:blipFill>
        <p:spPr>
          <a:xfrm>
            <a:off x="-151130" y="593090"/>
            <a:ext cx="6932930" cy="6141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735"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9"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36"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pic>
        <p:nvPicPr>
          <p:cNvPr id="2097170" name="图片 1" descr="遗传算法"/>
          <p:cNvPicPr>
            <a:picLocks noChangeAspect="1"/>
          </p:cNvPicPr>
          <p:nvPr/>
        </p:nvPicPr>
        <p:blipFill>
          <a:blip r:embed="rId2"/>
          <a:stretch>
            <a:fillRect/>
          </a:stretch>
        </p:blipFill>
        <p:spPr>
          <a:xfrm>
            <a:off x="636905" y="1371600"/>
            <a:ext cx="5785485" cy="5083810"/>
          </a:xfrm>
          <a:prstGeom prst="rect">
            <a:avLst/>
          </a:prstGeom>
        </p:spPr>
      </p:pic>
      <p:sp>
        <p:nvSpPr>
          <p:cNvPr id="1048737" name="文本框 2"/>
          <p:cNvSpPr txBox="1"/>
          <p:nvPr/>
        </p:nvSpPr>
        <p:spPr>
          <a:xfrm>
            <a:off x="435520" y="782746"/>
            <a:ext cx="8501380" cy="421640"/>
          </a:xfrm>
          <a:prstGeom prst="rect">
            <a:avLst/>
          </a:prstGeom>
          <a:noFill/>
        </p:spPr>
        <p:txBody>
          <a:bodyPr wrap="none" rtlCol="0">
            <a:spAutoFit/>
          </a:bodyPr>
          <a:p>
            <a:pPr marL="285750" indent="-285750" algn="l">
              <a:buFont typeface="Wingdings" panose="05000000000000000000" pitchFamily="2" charset="2"/>
              <a:buChar char="p"/>
            </a:pPr>
            <a:r>
              <a:rPr lang="en-US" altLang="zh-CN" sz="2000" kern="100" dirty="0">
                <a:effectLst/>
                <a:latin typeface="微软雅黑" panose="020B0503020204020204" charset="-122"/>
                <a:ea typeface="微软雅黑" panose="020B0503020204020204" charset="-122"/>
                <a:cs typeface="Times New Roman" panose="02020603050405020304" pitchFamily="18" charset="0"/>
              </a:rPr>
              <a:t>1</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 </a:t>
            </a:r>
            <a:r>
              <a:rPr lang="zh-CN" sz="2000" kern="100" dirty="0">
                <a:latin typeface="微软雅黑" panose="020B0503020204020204" charset="-122"/>
                <a:ea typeface="微软雅黑" panose="020B0503020204020204" charset="-122"/>
                <a:cs typeface="Times New Roman" panose="02020603050405020304" pitchFamily="18" charset="0"/>
              </a:rPr>
              <a:t>先验退化效应下相容工件的并行批处理调度与维护协同优化</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1</a:t>
            </a:r>
            <a:endParaRPr kumimoji="1" lang="zh-CN" altLang="en-US" sz="1600" dirty="0">
              <a:latin typeface="微软雅黑" panose="020B0503020204020204" charset="-122"/>
              <a:ea typeface="微软雅黑" panose="020B0503020204020204" charset="-122"/>
            </a:endParaRPr>
          </a:p>
        </p:txBody>
      </p:sp>
      <p:sp>
        <p:nvSpPr>
          <p:cNvPr id="1048738" name="文本框 5"/>
          <p:cNvSpPr txBox="1"/>
          <p:nvPr/>
        </p:nvSpPr>
        <p:spPr>
          <a:xfrm>
            <a:off x="6680835" y="1204595"/>
            <a:ext cx="5079365" cy="5492750"/>
          </a:xfrm>
          <a:prstGeom prst="rect">
            <a:avLst/>
          </a:prstGeom>
          <a:noFill/>
        </p:spPr>
        <p:txBody>
          <a:bodyPr wrap="square" rtlCol="0">
            <a:spAutoFit/>
          </a:bodyPr>
          <a:p>
            <a:pPr marL="285750" indent="-285750" algn="just">
              <a:lnSpc>
                <a:spcPct val="150000"/>
              </a:lnSpc>
              <a:buFont typeface="Wingdings" panose="05000000000000000000" pitchFamily="2" charset="2"/>
              <a:buChar char="n"/>
            </a:pPr>
            <a:r>
              <a:rPr lang="zh-CN" altLang="en-US" sz="1800" kern="100" dirty="0">
                <a:solidFill>
                  <a:srgbClr val="4883C0"/>
                </a:solidFill>
                <a:effectLst/>
                <a:latin typeface="+mn-ea"/>
                <a:cs typeface="+mn-ea"/>
              </a:rPr>
              <a:t>退化效应模型</a:t>
            </a:r>
            <a:endParaRPr lang="en-US" altLang="zh-CN" sz="1800" kern="100" dirty="0">
              <a:solidFill>
                <a:srgbClr val="4883C0"/>
              </a:solidFill>
              <a:effectLst/>
              <a:latin typeface="+mn-ea"/>
              <a:cs typeface="+mn-ea"/>
            </a:endParaRPr>
          </a:p>
          <a:p>
            <a:pPr indent="457200" algn="just">
              <a:lnSpc>
                <a:spcPct val="150000"/>
              </a:lnSpc>
            </a:pPr>
            <a:r>
              <a:rPr lang="zh-CN" altLang="zh-CN" kern="100" dirty="0">
                <a:effectLst/>
                <a:latin typeface="+mn-ea"/>
                <a:cs typeface="+mn-ea"/>
              </a:rPr>
              <a:t>基于航空零部件热处理过程的特性，选用适当的模型对退化效应进行描述。</a:t>
            </a:r>
            <a:endParaRPr lang="zh-CN" altLang="zh-CN" kern="100" dirty="0">
              <a:effectLst/>
              <a:latin typeface="+mn-ea"/>
              <a:cs typeface="+mn-ea"/>
            </a:endParaRPr>
          </a:p>
          <a:p>
            <a:pPr indent="457200" algn="just">
              <a:lnSpc>
                <a:spcPct val="150000"/>
              </a:lnSpc>
            </a:pPr>
            <a:r>
              <a:rPr lang="zh-CN" altLang="zh-CN" kern="100" dirty="0">
                <a:effectLst/>
                <a:latin typeface="+mn-ea"/>
                <a:cs typeface="+mn-ea"/>
              </a:rPr>
              <a:t>研究内容</a:t>
            </a:r>
            <a:r>
              <a:rPr lang="en-US" altLang="zh-CN" kern="100" dirty="0">
                <a:effectLst/>
                <a:latin typeface="+mn-ea"/>
                <a:cs typeface="+mn-ea"/>
              </a:rPr>
              <a:t>1</a:t>
            </a:r>
            <a:r>
              <a:rPr lang="zh-CN" altLang="zh-CN" kern="100" dirty="0">
                <a:effectLst/>
                <a:latin typeface="+mn-ea"/>
                <a:cs typeface="+mn-ea"/>
              </a:rPr>
              <a:t>中，针对较为简单的情况进行考虑，</a:t>
            </a:r>
            <a:r>
              <a:rPr lang="zh-CN" dirty="0">
                <a:latin typeface="微软雅黑" panose="020B0503020204020204" charset="-122"/>
                <a:ea typeface="微软雅黑" panose="020B0503020204020204" charset="-122"/>
                <a:sym typeface="+mn-ea"/>
              </a:rPr>
              <a:t>假设设备退化模型已知，且具有相同的退化系数，并选定最佳的维护批次间隔</a:t>
            </a:r>
            <a:endParaRPr lang="zh-CN" altLang="zh-CN" kern="100" dirty="0">
              <a:effectLst/>
              <a:latin typeface="+mn-ea"/>
              <a:cs typeface="+mn-ea"/>
            </a:endParaRPr>
          </a:p>
          <a:p>
            <a:pPr marL="285750" indent="-285750" algn="just">
              <a:lnSpc>
                <a:spcPct val="150000"/>
              </a:lnSpc>
              <a:buFont typeface="Wingdings" panose="05000000000000000000" pitchFamily="2" charset="2"/>
              <a:buChar char="n"/>
            </a:pPr>
            <a:r>
              <a:rPr lang="zh-CN" altLang="en-US" kern="100" dirty="0">
                <a:solidFill>
                  <a:schemeClr val="accent2"/>
                </a:solidFill>
                <a:latin typeface="+mn-ea"/>
                <a:cs typeface="+mn-ea"/>
              </a:rPr>
              <a:t>子问题分解</a:t>
            </a:r>
            <a:r>
              <a:rPr lang="zh-CN" altLang="en-US" kern="100" dirty="0">
                <a:latin typeface="+mn-ea"/>
                <a:cs typeface="+mn-ea"/>
              </a:rPr>
              <a:t>     </a:t>
            </a:r>
            <a:endParaRPr lang="en-US" altLang="zh-CN" kern="100" dirty="0">
              <a:latin typeface="+mn-ea"/>
              <a:cs typeface="+mn-ea"/>
            </a:endParaRPr>
          </a:p>
          <a:p>
            <a:pPr indent="457200" algn="just">
              <a:lnSpc>
                <a:spcPct val="150000"/>
              </a:lnSpc>
            </a:pPr>
            <a:r>
              <a:rPr lang="zh-CN" altLang="zh-CN" kern="100" dirty="0">
                <a:latin typeface="+mn-ea"/>
                <a:cs typeface="+mn-ea"/>
              </a:rPr>
              <a:t>形成环节的启发式规则设计主要基于工件自身如大小、形状、加工要求等特性</a:t>
            </a:r>
            <a:r>
              <a:rPr lang="en-US" altLang="zh-CN" kern="100" dirty="0">
                <a:latin typeface="+mn-ea"/>
                <a:cs typeface="+mn-ea"/>
              </a:rPr>
              <a:t>      </a:t>
            </a:r>
            <a:endParaRPr lang="en-US" altLang="zh-CN" kern="100" dirty="0">
              <a:latin typeface="+mn-ea"/>
              <a:cs typeface="+mn-ea"/>
            </a:endParaRPr>
          </a:p>
          <a:p>
            <a:pPr indent="457200" algn="just">
              <a:lnSpc>
                <a:spcPct val="150000"/>
              </a:lnSpc>
            </a:pPr>
            <a:r>
              <a:rPr lang="zh-CN" altLang="zh-CN" kern="100" dirty="0">
                <a:latin typeface="+mn-ea"/>
                <a:cs typeface="+mn-ea"/>
              </a:rPr>
              <a:t>指派为设计编码完成工件指派</a:t>
            </a:r>
            <a:endParaRPr lang="zh-CN" altLang="zh-CN" kern="100" dirty="0">
              <a:latin typeface="+mn-ea"/>
              <a:cs typeface="+mn-ea"/>
            </a:endParaRPr>
          </a:p>
          <a:p>
            <a:pPr indent="457200" algn="just">
              <a:lnSpc>
                <a:spcPct val="150000"/>
              </a:lnSpc>
            </a:pPr>
            <a:r>
              <a:rPr lang="zh-CN" altLang="zh-CN" kern="100" dirty="0">
                <a:latin typeface="+mn-ea"/>
                <a:cs typeface="+mn-ea"/>
              </a:rPr>
              <a:t>排序则主要与退化效应有关，由于已</a:t>
            </a:r>
            <a:r>
              <a:rPr lang="zh-CN" dirty="0">
                <a:latin typeface="微软雅黑" panose="020B0503020204020204" charset="-122"/>
                <a:ea typeface="微软雅黑" panose="020B0503020204020204" charset="-122"/>
                <a:sym typeface="+mn-ea"/>
              </a:rPr>
              <a:t>选定最佳的维护批次间隔，因此需要针对退化模型计算对每个批次位置的影响，完成最佳批次指派</a:t>
            </a:r>
            <a:endParaRPr lang="zh-CN" altLang="zh-CN" kern="100" dirty="0">
              <a:latin typeface="+mn-ea"/>
              <a:cs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742"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1"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43"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44" name="文本框 2"/>
          <p:cNvSpPr txBox="1"/>
          <p:nvPr/>
        </p:nvSpPr>
        <p:spPr>
          <a:xfrm>
            <a:off x="435520" y="782746"/>
            <a:ext cx="8856980" cy="421640"/>
          </a:xfrm>
          <a:prstGeom prst="rect">
            <a:avLst/>
          </a:prstGeom>
          <a:noFill/>
        </p:spPr>
        <p:txBody>
          <a:bodyPr wrap="none" rtlCol="0">
            <a:spAutoFit/>
          </a:bodyPr>
          <a:p>
            <a:pPr marL="285750" indent="-285750" algn="l">
              <a:buFont typeface="Wingdings" panose="05000000000000000000" pitchFamily="2" charset="2"/>
              <a:buChar char="p"/>
            </a:pPr>
            <a:r>
              <a:rPr lang="en-US" altLang="zh-CN" sz="2000" kern="100" dirty="0">
                <a:effectLst/>
                <a:latin typeface="微软雅黑" panose="020B0503020204020204" charset="-122"/>
                <a:ea typeface="微软雅黑" panose="020B0503020204020204" charset="-122"/>
                <a:cs typeface="Times New Roman" panose="02020603050405020304" pitchFamily="18" charset="0"/>
              </a:rPr>
              <a:t>2</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 </a:t>
            </a:r>
            <a:r>
              <a:rPr lang="zh-CN" sz="2000" kern="100" dirty="0">
                <a:latin typeface="微软雅黑" panose="020B0503020204020204" charset="-122"/>
                <a:ea typeface="微软雅黑" panose="020B0503020204020204" charset="-122"/>
                <a:cs typeface="Times New Roman" panose="02020603050405020304" pitchFamily="18" charset="0"/>
              </a:rPr>
              <a:t>先验退化效应下非相容工件的并行批处理调度与维护协同优化</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2</a:t>
            </a:r>
            <a:endParaRPr kumimoji="1" lang="en-US" altLang="zh-CN" sz="1600" dirty="0">
              <a:latin typeface="微软雅黑" panose="020B0503020204020204" charset="-122"/>
              <a:ea typeface="微软雅黑" panose="020B0503020204020204" charset="-122"/>
            </a:endParaRPr>
          </a:p>
        </p:txBody>
      </p:sp>
      <p:sp>
        <p:nvSpPr>
          <p:cNvPr id="1048745" name="文本框 5"/>
          <p:cNvSpPr txBox="1"/>
          <p:nvPr/>
        </p:nvSpPr>
        <p:spPr>
          <a:xfrm>
            <a:off x="7222489" y="1227476"/>
            <a:ext cx="4458547" cy="5492750"/>
          </a:xfrm>
          <a:prstGeom prst="rect">
            <a:avLst/>
          </a:prstGeom>
          <a:noFill/>
        </p:spPr>
        <p:txBody>
          <a:bodyPr wrap="square" rtlCol="0">
            <a:spAutoFit/>
          </a:bodyPr>
          <a:p>
            <a:pPr marL="285750" indent="-285750" algn="just">
              <a:lnSpc>
                <a:spcPct val="150000"/>
              </a:lnSpc>
              <a:buFont typeface="Wingdings" panose="05000000000000000000" pitchFamily="2" charset="2"/>
              <a:buChar char="n"/>
            </a:pPr>
            <a:r>
              <a:rPr lang="zh-CN" altLang="en-US" sz="1800" kern="100" dirty="0">
                <a:solidFill>
                  <a:srgbClr val="4883C0"/>
                </a:solidFill>
                <a:effectLst/>
                <a:latin typeface="+mn-ea"/>
                <a:cs typeface="+mn-ea"/>
              </a:rPr>
              <a:t>工件族的约束</a:t>
            </a:r>
            <a:endParaRPr lang="en-US" altLang="zh-CN" sz="1800" kern="100" dirty="0">
              <a:solidFill>
                <a:srgbClr val="4883C0"/>
              </a:solidFill>
              <a:effectLst/>
              <a:latin typeface="+mn-ea"/>
              <a:cs typeface="+mn-ea"/>
            </a:endParaRPr>
          </a:p>
          <a:p>
            <a:pPr indent="457200" algn="just">
              <a:lnSpc>
                <a:spcPct val="150000"/>
              </a:lnSpc>
            </a:pPr>
            <a:r>
              <a:rPr lang="zh-CN" altLang="zh-CN" kern="100" dirty="0">
                <a:effectLst/>
                <a:latin typeface="+mn-ea"/>
                <a:cs typeface="+mn-ea"/>
              </a:rPr>
              <a:t>加强了启发式规则，</a:t>
            </a:r>
            <a:r>
              <a:rPr lang="zh-CN" altLang="zh-CN" kern="100" dirty="0">
                <a:effectLst/>
                <a:latin typeface="+mn-ea"/>
                <a:cs typeface="+mn-ea"/>
                <a:sym typeface="+mn-ea"/>
              </a:rPr>
              <a:t>尤其是在批次形成阶段，</a:t>
            </a:r>
            <a:r>
              <a:rPr lang="zh-CN" altLang="zh-CN" kern="100" dirty="0">
                <a:effectLst/>
                <a:latin typeface="+mn-ea"/>
                <a:cs typeface="+mn-ea"/>
              </a:rPr>
              <a:t>以纳入工件非相容性的约束，确保批次形成的高效性和合规性。</a:t>
            </a:r>
            <a:endParaRPr lang="zh-CN" altLang="zh-CN" kern="100" dirty="0">
              <a:effectLst/>
              <a:latin typeface="+mn-ea"/>
              <a:cs typeface="+mn-ea"/>
            </a:endParaRPr>
          </a:p>
          <a:p>
            <a:pPr marL="285750" indent="-285750" algn="just">
              <a:lnSpc>
                <a:spcPct val="150000"/>
              </a:lnSpc>
              <a:buFont typeface="Wingdings" panose="05000000000000000000" charset="0"/>
              <a:buChar char="n"/>
            </a:pPr>
            <a:r>
              <a:rPr lang="zh-CN" altLang="en-US" kern="100" dirty="0">
                <a:solidFill>
                  <a:schemeClr val="accent6">
                    <a:lumMod val="60000"/>
                    <a:lumOff val="40000"/>
                  </a:schemeClr>
                </a:solidFill>
                <a:effectLst/>
                <a:latin typeface="+mn-ea"/>
                <a:cs typeface="+mn-ea"/>
              </a:rPr>
              <a:t>与维护协同</a:t>
            </a:r>
            <a:endParaRPr lang="en-US" altLang="zh-CN" kern="100" dirty="0">
              <a:solidFill>
                <a:schemeClr val="accent6">
                  <a:lumMod val="60000"/>
                  <a:lumOff val="40000"/>
                </a:schemeClr>
              </a:solidFill>
              <a:effectLst/>
              <a:latin typeface="+mn-ea"/>
              <a:cs typeface="+mn-ea"/>
            </a:endParaRPr>
          </a:p>
          <a:p>
            <a:pPr indent="457200" algn="just">
              <a:lnSpc>
                <a:spcPct val="150000"/>
              </a:lnSpc>
            </a:pPr>
            <a:r>
              <a:rPr lang="zh-CN" altLang="en-US" dirty="0">
                <a:sym typeface="+mn-ea"/>
              </a:rPr>
              <a:t>设计两步法的解决方案，基于批次的加工时间变化确定在一定的维护时间窗内的维护活动之间的</a:t>
            </a:r>
            <a:r>
              <a:rPr lang="zh-CN" altLang="en-US" dirty="0">
                <a:sym typeface="+mn-ea"/>
              </a:rPr>
              <a:t>最佳批次间隔，加强与维护的协同优化</a:t>
            </a:r>
            <a:endParaRPr lang="zh-CN" altLang="zh-CN" kern="100" dirty="0">
              <a:effectLst/>
              <a:latin typeface="+mn-ea"/>
              <a:cs typeface="+mn-ea"/>
            </a:endParaRPr>
          </a:p>
          <a:p>
            <a:pPr marL="285750" indent="-285750" algn="just">
              <a:lnSpc>
                <a:spcPct val="150000"/>
              </a:lnSpc>
              <a:buFont typeface="Wingdings" panose="05000000000000000000" pitchFamily="2" charset="2"/>
              <a:buChar char="n"/>
            </a:pPr>
            <a:r>
              <a:rPr lang="zh-CN" altLang="en-US" kern="100" dirty="0">
                <a:solidFill>
                  <a:schemeClr val="accent2"/>
                </a:solidFill>
                <a:latin typeface="+mn-ea"/>
                <a:cs typeface="+mn-ea"/>
              </a:rPr>
              <a:t>改进多目标进化算法</a:t>
            </a:r>
            <a:r>
              <a:rPr lang="zh-CN" altLang="en-US" kern="100" dirty="0">
                <a:latin typeface="+mn-ea"/>
                <a:cs typeface="+mn-ea"/>
              </a:rPr>
              <a:t>    </a:t>
            </a:r>
            <a:endParaRPr lang="en-US" altLang="zh-CN" kern="100" dirty="0">
              <a:latin typeface="+mn-ea"/>
              <a:cs typeface="+mn-ea"/>
            </a:endParaRPr>
          </a:p>
          <a:p>
            <a:pPr indent="457200" algn="just">
              <a:lnSpc>
                <a:spcPct val="150000"/>
              </a:lnSpc>
            </a:pPr>
            <a:r>
              <a:rPr lang="zh-CN" altLang="zh-CN" kern="100" dirty="0">
                <a:latin typeface="+mn-ea"/>
                <a:cs typeface="+mn-ea"/>
              </a:rPr>
              <a:t>使用多目标进化算法，利用策略分析、动态种群调整、多邻域策略等手段，实现有效的权衡和优化。</a:t>
            </a:r>
            <a:endParaRPr lang="zh-CN" altLang="zh-CN" kern="100" dirty="0">
              <a:latin typeface="+mn-ea"/>
              <a:cs typeface="+mn-ea"/>
            </a:endParaRPr>
          </a:p>
        </p:txBody>
      </p:sp>
      <p:pic>
        <p:nvPicPr>
          <p:cNvPr id="2097172" name="图片 1" descr="moea"/>
          <p:cNvPicPr>
            <a:picLocks noChangeAspect="1"/>
          </p:cNvPicPr>
          <p:nvPr/>
        </p:nvPicPr>
        <p:blipFill>
          <a:blip r:embed="rId2"/>
          <a:stretch>
            <a:fillRect/>
          </a:stretch>
        </p:blipFill>
        <p:spPr>
          <a:xfrm>
            <a:off x="313690" y="1371600"/>
            <a:ext cx="6908800" cy="53486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749"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3"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50"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51" name="文本框 2"/>
          <p:cNvSpPr txBox="1"/>
          <p:nvPr/>
        </p:nvSpPr>
        <p:spPr>
          <a:xfrm>
            <a:off x="435520" y="782746"/>
            <a:ext cx="8806180" cy="421640"/>
          </a:xfrm>
          <a:prstGeom prst="rect">
            <a:avLst/>
          </a:prstGeom>
          <a:noFill/>
        </p:spPr>
        <p:txBody>
          <a:bodyPr wrap="none" rtlCol="0">
            <a:spAutoFit/>
          </a:bodyPr>
          <a:p>
            <a:pPr marL="285750" indent="-285750" algn="l">
              <a:buFont typeface="Wingdings" panose="05000000000000000000" pitchFamily="2" charset="2"/>
              <a:buChar char="p"/>
            </a:pPr>
            <a:r>
              <a:rPr lang="en-US" altLang="zh-CN" sz="2000" kern="100" dirty="0">
                <a:effectLst/>
                <a:latin typeface="微软雅黑" panose="020B0503020204020204" charset="-122"/>
                <a:ea typeface="微软雅黑" panose="020B0503020204020204" charset="-122"/>
                <a:cs typeface="Times New Roman" panose="02020603050405020304" pitchFamily="18" charset="0"/>
              </a:rPr>
              <a:t>3</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 </a:t>
            </a:r>
            <a:r>
              <a:rPr lang="zh-CN" sz="2000" kern="100" dirty="0">
                <a:latin typeface="微软雅黑" panose="020B0503020204020204" charset="-122"/>
                <a:ea typeface="微软雅黑" panose="020B0503020204020204" charset="-122"/>
                <a:cs typeface="Times New Roman" panose="02020603050405020304" pitchFamily="18" charset="0"/>
              </a:rPr>
              <a:t>动态退化效应下非相容工件的并行批处理调度与维护协同优化</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3</a:t>
            </a:r>
            <a:endParaRPr kumimoji="1" lang="en-US" altLang="zh-CN" sz="1600" dirty="0">
              <a:latin typeface="微软雅黑" panose="020B0503020204020204" charset="-122"/>
              <a:ea typeface="微软雅黑" panose="020B0503020204020204" charset="-122"/>
            </a:endParaRPr>
          </a:p>
        </p:txBody>
      </p:sp>
      <p:sp>
        <p:nvSpPr>
          <p:cNvPr id="1048752" name="文本框 5"/>
          <p:cNvSpPr txBox="1"/>
          <p:nvPr/>
        </p:nvSpPr>
        <p:spPr>
          <a:xfrm>
            <a:off x="7031989" y="1320821"/>
            <a:ext cx="4458547" cy="5077460"/>
          </a:xfrm>
          <a:prstGeom prst="rect">
            <a:avLst/>
          </a:prstGeom>
          <a:noFill/>
        </p:spPr>
        <p:txBody>
          <a:bodyPr wrap="square" rtlCol="0">
            <a:spAutoFit/>
          </a:bodyPr>
          <a:p>
            <a:pPr marL="285750" indent="-285750" algn="just">
              <a:lnSpc>
                <a:spcPct val="150000"/>
              </a:lnSpc>
              <a:buFont typeface="Wingdings" panose="05000000000000000000" pitchFamily="2" charset="2"/>
              <a:buChar char="n"/>
            </a:pPr>
            <a:r>
              <a:rPr lang="zh-CN" altLang="en-US" sz="1800" kern="100" dirty="0">
                <a:solidFill>
                  <a:srgbClr val="4883C0"/>
                </a:solidFill>
                <a:effectLst/>
                <a:latin typeface="+mn-ea"/>
                <a:cs typeface="+mn-ea"/>
              </a:rPr>
              <a:t>调度智能体</a:t>
            </a:r>
            <a:endParaRPr lang="en-US" altLang="zh-CN" sz="1800" kern="100" dirty="0">
              <a:solidFill>
                <a:srgbClr val="4883C0"/>
              </a:solidFill>
              <a:effectLst/>
              <a:latin typeface="+mn-ea"/>
              <a:cs typeface="+mn-ea"/>
            </a:endParaRPr>
          </a:p>
          <a:p>
            <a:pPr indent="457200" algn="just">
              <a:lnSpc>
                <a:spcPct val="150000"/>
              </a:lnSpc>
            </a:pPr>
            <a:r>
              <a:rPr lang="zh-CN" altLang="zh-CN" kern="100" dirty="0">
                <a:effectLst/>
                <a:latin typeface="+mn-ea"/>
                <a:cs typeface="+mn-ea"/>
              </a:rPr>
              <a:t>制定最优的生产计划，优化关键指标。在调度智能体的动作设计中，融入研究内容1和2中的形成与调度环节所设计的启发式规则。</a:t>
            </a:r>
            <a:endParaRPr lang="zh-CN" altLang="zh-CN" kern="100" dirty="0">
              <a:effectLst/>
              <a:latin typeface="+mn-ea"/>
              <a:cs typeface="+mn-ea"/>
            </a:endParaRPr>
          </a:p>
          <a:p>
            <a:pPr marL="285750" indent="-285750" algn="just">
              <a:lnSpc>
                <a:spcPct val="150000"/>
              </a:lnSpc>
              <a:buFont typeface="Wingdings" panose="05000000000000000000" pitchFamily="2" charset="2"/>
              <a:buChar char="n"/>
            </a:pPr>
            <a:r>
              <a:rPr lang="zh-CN" altLang="en-US" kern="100" dirty="0">
                <a:solidFill>
                  <a:schemeClr val="accent2"/>
                </a:solidFill>
                <a:latin typeface="+mn-ea"/>
                <a:cs typeface="+mn-ea"/>
              </a:rPr>
              <a:t>维护智能体</a:t>
            </a:r>
            <a:r>
              <a:rPr lang="zh-CN" altLang="en-US" kern="100" dirty="0">
                <a:latin typeface="+mn-ea"/>
                <a:cs typeface="+mn-ea"/>
              </a:rPr>
              <a:t>    </a:t>
            </a:r>
            <a:endParaRPr lang="en-US" altLang="zh-CN" kern="100" dirty="0">
              <a:latin typeface="+mn-ea"/>
              <a:cs typeface="+mn-ea"/>
            </a:endParaRPr>
          </a:p>
          <a:p>
            <a:pPr indent="457200" algn="just">
              <a:lnSpc>
                <a:spcPct val="150000"/>
              </a:lnSpc>
            </a:pPr>
            <a:r>
              <a:rPr lang="zh-CN" altLang="en-US" kern="100" dirty="0">
                <a:latin typeface="+mn-ea"/>
                <a:cs typeface="+mn-ea"/>
                <a:sym typeface="+mn-ea"/>
              </a:rPr>
              <a:t>进一步考虑退化效应随工件族变化的动态环境</a:t>
            </a:r>
            <a:r>
              <a:rPr lang="zh-CN" altLang="zh-CN" kern="100" dirty="0">
                <a:latin typeface="+mn-ea"/>
                <a:cs typeface="+mn-ea"/>
              </a:rPr>
              <a:t>，分析设备的状态，决策维护时机和维护类型，保证生产进行</a:t>
            </a:r>
            <a:endParaRPr lang="zh-CN" altLang="zh-CN" kern="100" dirty="0">
              <a:latin typeface="+mn-ea"/>
              <a:cs typeface="+mn-ea"/>
            </a:endParaRPr>
          </a:p>
          <a:p>
            <a:pPr marL="285750" indent="-285750" algn="just">
              <a:lnSpc>
                <a:spcPct val="150000"/>
              </a:lnSpc>
              <a:buFont typeface="Wingdings" panose="05000000000000000000" charset="0"/>
              <a:buChar char="n"/>
            </a:pPr>
            <a:r>
              <a:rPr lang="zh-CN" altLang="en-US" kern="100" dirty="0">
                <a:solidFill>
                  <a:schemeClr val="accent6"/>
                </a:solidFill>
                <a:latin typeface="微软雅黑" panose="020B0503020204020204" charset="-122"/>
                <a:ea typeface="微软雅黑" panose="020B0503020204020204" charset="-122"/>
                <a:sym typeface="+mn-ea"/>
              </a:rPr>
              <a:t>调度与维护协同</a:t>
            </a:r>
            <a:endParaRPr lang="en-US" altLang="zh-CN" kern="100" dirty="0">
              <a:latin typeface="+mn-ea"/>
              <a:cs typeface="+mn-ea"/>
            </a:endParaRPr>
          </a:p>
          <a:p>
            <a:pPr indent="457200" algn="just">
              <a:lnSpc>
                <a:spcPct val="150000"/>
              </a:lnSpc>
            </a:pPr>
            <a:r>
              <a:rPr lang="en-US" altLang="zh-CN" kern="100" dirty="0">
                <a:latin typeface="+mn-ea"/>
                <a:cs typeface="+mn-ea"/>
              </a:rPr>
              <a:t>联合行动者网络交互</a:t>
            </a:r>
            <a:r>
              <a:rPr lang="zh-CN" altLang="en-US" kern="100" dirty="0">
                <a:latin typeface="+mn-ea"/>
                <a:cs typeface="+mn-ea"/>
              </a:rPr>
              <a:t>实现</a:t>
            </a:r>
            <a:r>
              <a:rPr lang="en-US" altLang="zh-CN" kern="100" dirty="0">
                <a:latin typeface="+mn-ea"/>
                <a:cs typeface="+mn-ea"/>
              </a:rPr>
              <a:t>两个智能体的协同决策。</a:t>
            </a:r>
            <a:endParaRPr lang="en-US" altLang="zh-CN" kern="100" dirty="0">
              <a:latin typeface="+mn-ea"/>
              <a:cs typeface="+mn-ea"/>
            </a:endParaRPr>
          </a:p>
        </p:txBody>
      </p:sp>
      <p:pic>
        <p:nvPicPr>
          <p:cNvPr id="2097174" name="图片 4" descr="多智能体"/>
          <p:cNvPicPr>
            <a:picLocks noChangeAspect="1"/>
          </p:cNvPicPr>
          <p:nvPr/>
        </p:nvPicPr>
        <p:blipFill>
          <a:blip r:embed="rId2"/>
          <a:stretch>
            <a:fillRect/>
          </a:stretch>
        </p:blipFill>
        <p:spPr>
          <a:xfrm>
            <a:off x="435610" y="1725930"/>
            <a:ext cx="6293485" cy="42938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756"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5"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57"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58" name="文本框 21"/>
          <p:cNvSpPr txBox="1"/>
          <p:nvPr/>
        </p:nvSpPr>
        <p:spPr>
          <a:xfrm>
            <a:off x="695235" y="1481743"/>
            <a:ext cx="9452122" cy="5577840"/>
          </a:xfrm>
          <a:prstGeom prst="rect">
            <a:avLst/>
          </a:prstGeom>
          <a:noFill/>
        </p:spPr>
        <p:txBody>
          <a:bodyPr wrap="square" rtlCol="0">
            <a:spAutoFit/>
          </a:bodyPr>
          <a:p>
            <a:pPr marL="285750" indent="-285750">
              <a:lnSpc>
                <a:spcPct val="150000"/>
              </a:lnSpc>
              <a:buFont typeface="Wingdings" panose="05000000000000000000" pitchFamily="2" charset="2"/>
              <a:buChar char="n"/>
            </a:pPr>
            <a:r>
              <a:rPr lang="zh-CN" altLang="en-US" kern="100" dirty="0">
                <a:solidFill>
                  <a:srgbClr val="000000"/>
                </a:solidFill>
                <a:latin typeface="+mn-ea"/>
                <a:cs typeface="+mn-ea"/>
              </a:rPr>
              <a:t>实验验证</a:t>
            </a:r>
            <a:endParaRPr lang="en-US" altLang="zh-CN" kern="100" dirty="0">
              <a:solidFill>
                <a:srgbClr val="000000"/>
              </a:solidFill>
              <a:latin typeface="+mn-ea"/>
              <a:cs typeface="+mn-ea"/>
            </a:endParaRPr>
          </a:p>
          <a:p>
            <a:pPr indent="457200">
              <a:lnSpc>
                <a:spcPct val="150000"/>
              </a:lnSpc>
            </a:pPr>
            <a:r>
              <a:rPr lang="zh-CN" altLang="zh-CN" kern="100" dirty="0">
                <a:latin typeface="+mn-ea"/>
                <a:cs typeface="+mn-ea"/>
              </a:rPr>
              <a:t>通过</a:t>
            </a:r>
            <a:r>
              <a:rPr lang="en-US" altLang="zh-CN" kern="100" dirty="0">
                <a:latin typeface="+mn-ea"/>
                <a:cs typeface="+mn-ea"/>
              </a:rPr>
              <a:t>PyCharm</a:t>
            </a:r>
            <a:r>
              <a:rPr lang="zh-CN" altLang="zh-CN" kern="100" dirty="0">
                <a:latin typeface="+mn-ea"/>
                <a:cs typeface="+mn-ea"/>
              </a:rPr>
              <a:t>、</a:t>
            </a:r>
            <a:r>
              <a:rPr lang="en-US" altLang="zh-CN" kern="100" dirty="0">
                <a:latin typeface="+mn-ea"/>
                <a:cs typeface="+mn-ea"/>
              </a:rPr>
              <a:t>MATLAB</a:t>
            </a:r>
            <a:r>
              <a:rPr lang="zh-CN" altLang="zh-CN" kern="100" dirty="0">
                <a:latin typeface="+mn-ea"/>
                <a:cs typeface="+mn-ea"/>
              </a:rPr>
              <a:t>等开发平台</a:t>
            </a:r>
            <a:r>
              <a:rPr lang="zh-CN" altLang="en-US" kern="100" dirty="0">
                <a:latin typeface="+mn-ea"/>
                <a:cs typeface="+mn-ea"/>
              </a:rPr>
              <a:t>进行</a:t>
            </a:r>
            <a:r>
              <a:rPr lang="zh-CN" altLang="zh-CN" kern="100" dirty="0">
                <a:latin typeface="+mn-ea"/>
                <a:cs typeface="+mn-ea"/>
              </a:rPr>
              <a:t>程序编写和实验分析。 </a:t>
            </a:r>
            <a:endParaRPr lang="en-US" altLang="zh-CN" kern="100" dirty="0">
              <a:solidFill>
                <a:srgbClr val="000000"/>
              </a:solidFill>
              <a:latin typeface="+mn-ea"/>
              <a:cs typeface="+mn-ea"/>
            </a:endParaRPr>
          </a:p>
          <a:p>
            <a:pPr marL="285750" indent="-285750">
              <a:lnSpc>
                <a:spcPct val="150000"/>
              </a:lnSpc>
              <a:buFont typeface="Wingdings" panose="05000000000000000000" pitchFamily="2" charset="2"/>
              <a:buChar char="n"/>
            </a:pPr>
            <a:endParaRPr lang="en-US" altLang="zh-CN" kern="100" dirty="0">
              <a:solidFill>
                <a:srgbClr val="000000"/>
              </a:solidFill>
              <a:latin typeface="+mn-ea"/>
              <a:cs typeface="+mn-ea"/>
            </a:endParaRPr>
          </a:p>
          <a:p>
            <a:pPr marL="285750" indent="-285750">
              <a:lnSpc>
                <a:spcPct val="150000"/>
              </a:lnSpc>
              <a:buFont typeface="Wingdings" panose="05000000000000000000" pitchFamily="2" charset="2"/>
              <a:buChar char="n"/>
            </a:pPr>
            <a:r>
              <a:rPr lang="zh-CN" altLang="zh-CN" kern="100" dirty="0">
                <a:solidFill>
                  <a:srgbClr val="000000"/>
                </a:solidFill>
                <a:latin typeface="+mn-ea"/>
                <a:cs typeface="+mn-ea"/>
              </a:rPr>
              <a:t>广泛的研究基础</a:t>
            </a:r>
            <a:endParaRPr lang="en-US" altLang="zh-CN" kern="100" dirty="0">
              <a:solidFill>
                <a:srgbClr val="000000"/>
              </a:solidFill>
              <a:latin typeface="+mn-ea"/>
              <a:cs typeface="+mn-ea"/>
            </a:endParaRPr>
          </a:p>
          <a:p>
            <a:pPr indent="457200">
              <a:lnSpc>
                <a:spcPct val="150000"/>
              </a:lnSpc>
              <a:buFont typeface="Wingdings" panose="05000000000000000000" pitchFamily="2" charset="2"/>
              <a:buNone/>
            </a:pPr>
            <a:r>
              <a:rPr lang="zh-CN" altLang="en-US" sz="1800" kern="100" dirty="0">
                <a:latin typeface="+mn-ea"/>
                <a:cs typeface="+mn-ea"/>
              </a:rPr>
              <a:t>本课题组与某航空研究设计院建立了合作，有实地调研的条件，还有大量合作方提供的工艺数据。</a:t>
            </a:r>
            <a:endParaRPr lang="zh-CN" altLang="en-US" sz="1800" kern="100" dirty="0">
              <a:latin typeface="+mn-ea"/>
              <a:cs typeface="+mn-ea"/>
            </a:endParaRPr>
          </a:p>
          <a:p>
            <a:pPr indent="457200">
              <a:lnSpc>
                <a:spcPct val="150000"/>
              </a:lnSpc>
              <a:buFont typeface="Wingdings" panose="05000000000000000000" pitchFamily="2" charset="2"/>
              <a:buNone/>
            </a:pPr>
            <a:r>
              <a:rPr lang="zh-CN" altLang="en-US" sz="1800" kern="100" dirty="0">
                <a:latin typeface="+mn-ea"/>
                <a:cs typeface="+mn-ea"/>
              </a:rPr>
              <a:t>本课题组有很多了解强化学习相关知识的同门同学，学习氛围良好，可以互相探讨、互相帮助、互相进步。同时实验室计算机配备齐全，可以下载各大期刊的论文文献，还有服务器可供使用。</a:t>
            </a:r>
            <a:endParaRPr lang="zh-CN" altLang="en-US" sz="1800" kern="100" dirty="0">
              <a:latin typeface="+mn-ea"/>
              <a:cs typeface="+mn-ea"/>
            </a:endParaRPr>
          </a:p>
          <a:p>
            <a:pPr indent="457200">
              <a:lnSpc>
                <a:spcPct val="150000"/>
              </a:lnSpc>
              <a:buFont typeface="Wingdings" panose="05000000000000000000" pitchFamily="2" charset="2"/>
              <a:buNone/>
            </a:pPr>
            <a:endParaRPr lang="zh-CN" altLang="en-US" sz="1800" kern="100" dirty="0">
              <a:latin typeface="+mn-ea"/>
              <a:cs typeface="+mn-ea"/>
            </a:endParaRPr>
          </a:p>
          <a:p>
            <a:pPr marL="285750" indent="-285750">
              <a:lnSpc>
                <a:spcPct val="150000"/>
              </a:lnSpc>
              <a:buFont typeface="Wingdings" panose="05000000000000000000" pitchFamily="2" charset="2"/>
              <a:buChar char="n"/>
            </a:pPr>
            <a:r>
              <a:rPr lang="zh-CN" altLang="en-US" sz="1800" kern="100" dirty="0">
                <a:solidFill>
                  <a:srgbClr val="000000"/>
                </a:solidFill>
                <a:effectLst/>
                <a:latin typeface="+mn-ea"/>
                <a:cs typeface="+mn-ea"/>
              </a:rPr>
              <a:t>前期研究</a:t>
            </a:r>
            <a:r>
              <a:rPr lang="zh-CN" altLang="zh-CN" sz="1800" kern="100" dirty="0">
                <a:solidFill>
                  <a:srgbClr val="000000"/>
                </a:solidFill>
                <a:effectLst/>
                <a:latin typeface="+mn-ea"/>
                <a:cs typeface="+mn-ea"/>
              </a:rPr>
              <a:t>基础</a:t>
            </a:r>
            <a:endParaRPr lang="en-US" altLang="zh-CN" kern="100" dirty="0">
              <a:solidFill>
                <a:srgbClr val="000000"/>
              </a:solidFill>
              <a:latin typeface="+mn-ea"/>
              <a:cs typeface="+mn-ea"/>
            </a:endParaRPr>
          </a:p>
          <a:p>
            <a:pPr indent="457200">
              <a:lnSpc>
                <a:spcPct val="150000"/>
              </a:lnSpc>
            </a:pPr>
            <a:r>
              <a:rPr lang="zh-CN" altLang="en-US" kern="100" dirty="0">
                <a:latin typeface="+mn-ea"/>
                <a:cs typeface="+mn-ea"/>
              </a:rPr>
              <a:t>本人已开展研究内容</a:t>
            </a:r>
            <a:r>
              <a:rPr lang="en-US" altLang="zh-CN" kern="100" dirty="0">
                <a:latin typeface="+mn-ea"/>
                <a:cs typeface="+mn-ea"/>
              </a:rPr>
              <a:t>1</a:t>
            </a:r>
            <a:r>
              <a:rPr lang="zh-CN" altLang="en-US" kern="100" dirty="0">
                <a:latin typeface="+mn-ea"/>
                <a:cs typeface="+mn-ea"/>
              </a:rPr>
              <a:t>的相关研究，并以投稿</a:t>
            </a:r>
            <a:endParaRPr lang="en-US" altLang="zh-CN" kern="100" dirty="0">
              <a:latin typeface="+mn-ea"/>
              <a:cs typeface="+mn-ea"/>
            </a:endParaRPr>
          </a:p>
        </p:txBody>
      </p:sp>
      <p:sp>
        <p:nvSpPr>
          <p:cNvPr id="1048759" name="文本框 3"/>
          <p:cNvSpPr txBox="1"/>
          <p:nvPr/>
        </p:nvSpPr>
        <p:spPr>
          <a:xfrm>
            <a:off x="695235" y="954831"/>
            <a:ext cx="4589781" cy="421639"/>
          </a:xfrm>
          <a:prstGeom prst="rect">
            <a:avLst/>
          </a:prstGeom>
          <a:noFill/>
        </p:spPr>
        <p:txBody>
          <a:bodyPr wrap="none" rtlCol="0">
            <a:spAutoFit/>
          </a:bodyPr>
          <a:p>
            <a:pPr marL="285750" indent="-285750">
              <a:buFont typeface="Wingdings" panose="05000000000000000000" pitchFamily="2" charset="2"/>
              <a:buChar char="p"/>
            </a:pPr>
            <a:r>
              <a:rPr lang="en-US" altLang="zh-CN" sz="2000" kern="100" dirty="0">
                <a:latin typeface="微软雅黑" panose="020B0503020204020204" charset="-122"/>
                <a:ea typeface="微软雅黑" panose="020B0503020204020204" charset="-122"/>
                <a:cs typeface="Times New Roman" panose="02020603050405020304" pitchFamily="18" charset="0"/>
              </a:rPr>
              <a:t>4 </a:t>
            </a:r>
            <a:r>
              <a:rPr lang="zh-CN" altLang="en-US" sz="2000" kern="100" dirty="0">
                <a:latin typeface="微软雅黑" panose="020B0503020204020204" charset="-122"/>
                <a:ea typeface="微软雅黑" panose="020B0503020204020204" charset="-122"/>
                <a:cs typeface="Times New Roman" panose="02020603050405020304" pitchFamily="18" charset="0"/>
              </a:rPr>
              <a:t>实验验证及可行性分析</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4</a:t>
            </a:r>
            <a:r>
              <a:rPr lang="zh-CN" altLang="zh-CN" sz="1600" kern="100" dirty="0">
                <a:latin typeface="微软雅黑" panose="020B0503020204020204" charset="-122"/>
                <a:ea typeface="微软雅黑" panose="020B0503020204020204" charset="-122"/>
                <a:cs typeface="Times New Roman" panose="02020603050405020304" pitchFamily="18" charset="0"/>
              </a:rPr>
              <a:t> </a:t>
            </a:r>
            <a:endParaRPr lang="zh-CN" altLang="en-US" sz="1600" kern="100" dirty="0">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763"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6"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64"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65" name="文本框 3"/>
          <p:cNvSpPr txBox="1"/>
          <p:nvPr/>
        </p:nvSpPr>
        <p:spPr>
          <a:xfrm>
            <a:off x="548983" y="1407048"/>
            <a:ext cx="6096000" cy="396240"/>
          </a:xfrm>
          <a:prstGeom prst="rect">
            <a:avLst/>
          </a:prstGeom>
          <a:noFill/>
        </p:spPr>
        <p:txBody>
          <a:bodyPr wrap="square">
            <a:spAutoFit/>
          </a:bodyPr>
          <a:p>
            <a:pPr marL="285750" indent="-285750">
              <a:buFont typeface="Wingdings" panose="05000000000000000000" pitchFamily="2" charset="2"/>
              <a:buChar char="n"/>
            </a:pPr>
            <a:r>
              <a:rPr lang="zh-CN" altLang="en-US" b="1" dirty="0">
                <a:latin typeface="黑体" panose="02010609060101010101" charset="-122"/>
                <a:ea typeface="黑体" panose="02010609060101010101" charset="-122"/>
              </a:rPr>
              <a:t>关键创新点</a:t>
            </a:r>
            <a:endParaRPr lang="zh-CN" altLang="en-US" b="1" dirty="0">
              <a:latin typeface="黑体" panose="02010609060101010101" charset="-122"/>
              <a:ea typeface="黑体" panose="02010609060101010101" charset="-122"/>
            </a:endParaRPr>
          </a:p>
        </p:txBody>
      </p:sp>
      <p:sp>
        <p:nvSpPr>
          <p:cNvPr id="1048766" name="文本框 4"/>
          <p:cNvSpPr txBox="1"/>
          <p:nvPr/>
        </p:nvSpPr>
        <p:spPr>
          <a:xfrm>
            <a:off x="1188027" y="1961612"/>
            <a:ext cx="9511146" cy="2834640"/>
          </a:xfrm>
          <a:prstGeom prst="rect">
            <a:avLst/>
          </a:prstGeom>
          <a:solidFill>
            <a:schemeClr val="bg1">
              <a:lumMod val="95000"/>
            </a:schemeClr>
          </a:solidFill>
          <a:ln w="19050">
            <a:solidFill>
              <a:schemeClr val="tx1"/>
            </a:solidFill>
          </a:ln>
        </p:spPr>
        <p:txBody>
          <a:bodyPr wrap="square">
            <a:spAutoFit/>
          </a:bodyPr>
          <a:p>
            <a:pPr marL="285750" indent="-285750" algn="just">
              <a:lnSpc>
                <a:spcPct val="150000"/>
              </a:lnSpc>
              <a:buFont typeface="Wingdings" panose="05000000000000000000" pitchFamily="2" charset="2"/>
              <a:buChar char="n"/>
            </a:pPr>
            <a:r>
              <a:rPr lang="zh-CN" altLang="en-US" kern="100" dirty="0">
                <a:solidFill>
                  <a:srgbClr val="000000"/>
                </a:solidFill>
                <a:latin typeface="微软雅黑" panose="020B0503020204020204" charset="-122"/>
                <a:ea typeface="微软雅黑" panose="020B0503020204020204" charset="-122"/>
                <a:sym typeface="+mn-ea"/>
              </a:rPr>
              <a:t>深入研究先验退化效应下的的并行批处理调度与协同优化问题，设计合理的子问题求解机制和带有高效的约束处理的进化算法，以实现热处理环节的节能高效运行。</a:t>
            </a:r>
            <a:endParaRPr lang="zh-CN" altLang="en-US" kern="100" dirty="0">
              <a:solidFill>
                <a:srgbClr val="000000"/>
              </a:solidFill>
              <a:latin typeface="微软雅黑" panose="020B0503020204020204" charset="-122"/>
              <a:ea typeface="微软雅黑" panose="020B0503020204020204" charset="-122"/>
              <a:sym typeface="+mn-ea"/>
            </a:endParaRPr>
          </a:p>
          <a:p>
            <a:pPr marL="285750" indent="-285750" algn="just">
              <a:lnSpc>
                <a:spcPct val="150000"/>
              </a:lnSpc>
              <a:buFont typeface="Wingdings" panose="05000000000000000000" pitchFamily="2" charset="2"/>
              <a:buChar char="n"/>
            </a:pPr>
            <a:endParaRPr lang="zh-CN" altLang="en-US" kern="100" dirty="0">
              <a:solidFill>
                <a:srgbClr val="000000"/>
              </a:solidFill>
              <a:latin typeface="微软雅黑" panose="020B0503020204020204" charset="-122"/>
              <a:ea typeface="微软雅黑" panose="020B0503020204020204" charset="-122"/>
              <a:cs typeface="Times New Roman" panose="02020603050405020304" pitchFamily="18" charset="0"/>
              <a:sym typeface="+mn-ea"/>
            </a:endParaRPr>
          </a:p>
          <a:p>
            <a:pPr marL="285750" indent="-285750" algn="just">
              <a:lnSpc>
                <a:spcPct val="150000"/>
              </a:lnSpc>
              <a:buFont typeface="Wingdings" panose="05000000000000000000" pitchFamily="2" charset="2"/>
              <a:buChar char="n"/>
            </a:pPr>
            <a:r>
              <a:rPr lang="en-US" altLang="zh-CN" dirty="0">
                <a:latin typeface="微软雅黑" panose="020B0503020204020204" charset="-122"/>
                <a:ea typeface="微软雅黑" panose="020B0503020204020204" charset="-122"/>
                <a:cs typeface="Times New Roman" panose="02020603050405020304" pitchFamily="18" charset="0"/>
              </a:rPr>
              <a:t>本项目进一步探究动态时变效应下的协同优化机制，</a:t>
            </a:r>
            <a:r>
              <a:rPr lang="zh-CN" altLang="en-US" kern="100" dirty="0">
                <a:solidFill>
                  <a:srgbClr val="000000"/>
                </a:solidFill>
                <a:latin typeface="微软雅黑" panose="020B0503020204020204" charset="-122"/>
                <a:ea typeface="微软雅黑" panose="020B0503020204020204" charset="-122"/>
                <a:sym typeface="+mn-ea"/>
              </a:rPr>
              <a:t>在动态退化调度环境中引入多智能体强化学习算法，</a:t>
            </a:r>
            <a:r>
              <a:rPr lang="zh-CN" altLang="en-US" dirty="0">
                <a:solidFill>
                  <a:prstClr val="black"/>
                </a:solidFill>
                <a:latin typeface="微软雅黑" panose="020B0503020204020204" charset="-122"/>
                <a:ea typeface="微软雅黑" panose="020B0503020204020204" charset="-122"/>
                <a:sym typeface="+mn-ea"/>
              </a:rPr>
              <a:t>同时考虑生产调度和设备维护目标，避免调度与维护之间的冲突</a:t>
            </a:r>
            <a:r>
              <a:rPr lang="zh-CN" altLang="en-US" kern="100" dirty="0">
                <a:solidFill>
                  <a:srgbClr val="000000"/>
                </a:solidFill>
                <a:latin typeface="微软雅黑" panose="020B0503020204020204" charset="-122"/>
                <a:ea typeface="微软雅黑" panose="020B0503020204020204" charset="-122"/>
                <a:sym typeface="+mn-ea"/>
              </a:rPr>
              <a:t>设计合理的动作空间</a:t>
            </a:r>
            <a:r>
              <a:rPr lang="zh-CN" kern="100" dirty="0">
                <a:solidFill>
                  <a:srgbClr val="000000"/>
                </a:solidFill>
                <a:latin typeface="微软雅黑" panose="020B0503020204020204" charset="-122"/>
                <a:ea typeface="微软雅黑" panose="020B0503020204020204" charset="-122"/>
                <a:sym typeface="+mn-ea"/>
              </a:rPr>
              <a:t>，适应动态生产环境，</a:t>
            </a:r>
            <a:r>
              <a:rPr lang="zh-CN" altLang="en-US" dirty="0">
                <a:solidFill>
                  <a:prstClr val="black"/>
                </a:solidFill>
                <a:latin typeface="微软雅黑" panose="020B0503020204020204" charset="-122"/>
                <a:ea typeface="微软雅黑" panose="020B0503020204020204" charset="-122"/>
                <a:sym typeface="+mn-ea"/>
              </a:rPr>
              <a:t>实现整体性能的最优化</a:t>
            </a:r>
            <a:r>
              <a:rPr lang="zh-CN" dirty="0">
                <a:solidFill>
                  <a:prstClr val="black"/>
                </a:solidFill>
                <a:latin typeface="微软雅黑" panose="020B0503020204020204" charset="-122"/>
                <a:ea typeface="微软雅黑" panose="020B0503020204020204" charset="-122"/>
                <a:sym typeface="+mn-ea"/>
              </a:rPr>
              <a:t>。</a:t>
            </a:r>
            <a:endParaRPr lang="zh-CN" dirty="0">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770"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7"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71"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5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工作计划</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72" name="文本占位符 4"/>
          <p:cNvSpPr>
            <a:spLocks noGrp="1"/>
          </p:cNvSpPr>
          <p:nvPr/>
        </p:nvSpPr>
        <p:spPr>
          <a:xfrm>
            <a:off x="762000" y="931116"/>
            <a:ext cx="6304915" cy="460375"/>
          </a:xfrm>
          <a:prstGeom prst="rect">
            <a:avLst/>
          </a:prstGeom>
        </p:spPr>
        <p:txBody>
          <a:bodyPr vert="horz" lIns="91440" tIns="45720" rIns="91440" bIns="4572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latin typeface="+mj-ea"/>
                <a:ea typeface="+mj-ea"/>
              </a:rPr>
              <a:t>各项任务时间规划</a:t>
            </a:r>
            <a:endParaRPr lang="zh-CN" altLang="en-US" sz="2400" b="1" dirty="0">
              <a:latin typeface="+mj-ea"/>
              <a:ea typeface="+mj-ea"/>
            </a:endParaRPr>
          </a:p>
        </p:txBody>
      </p:sp>
      <p:sp>
        <p:nvSpPr>
          <p:cNvPr id="1048773" name="文本框 30"/>
          <p:cNvSpPr txBox="1"/>
          <p:nvPr/>
        </p:nvSpPr>
        <p:spPr>
          <a:xfrm>
            <a:off x="761790" y="1667589"/>
            <a:ext cx="8224176" cy="39624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en-US" dirty="0">
                <a:latin typeface="+mj-ea"/>
                <a:ea typeface="+mj-ea"/>
              </a:rPr>
              <a:t>以两个月为周期，完成本课题的各项相关工作</a:t>
            </a:r>
            <a:endParaRPr lang="zh-CN" altLang="en-US" dirty="0">
              <a:latin typeface="+mj-ea"/>
              <a:ea typeface="+mj-ea"/>
            </a:endParaRPr>
          </a:p>
        </p:txBody>
      </p:sp>
      <p:sp>
        <p:nvSpPr>
          <p:cNvPr id="1048774" name="文本框 32"/>
          <p:cNvSpPr txBox="1"/>
          <p:nvPr/>
        </p:nvSpPr>
        <p:spPr>
          <a:xfrm>
            <a:off x="1003090" y="6115052"/>
            <a:ext cx="8224176" cy="39624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zh-CN" sz="1800" kern="100" dirty="0">
                <a:effectLst/>
                <a:latin typeface="+mj-ea"/>
                <a:ea typeface="+mj-ea"/>
                <a:cs typeface="+mj-ea"/>
              </a:rPr>
              <a:t>发表</a:t>
            </a:r>
            <a:r>
              <a:rPr lang="zh-CN" altLang="en-US" sz="1800" kern="100" dirty="0">
                <a:effectLst/>
                <a:latin typeface="+mj-ea"/>
                <a:ea typeface="+mj-ea"/>
                <a:cs typeface="+mj-ea"/>
              </a:rPr>
              <a:t>学术</a:t>
            </a:r>
            <a:r>
              <a:rPr lang="zh-CN" altLang="zh-CN" sz="1800" kern="100" dirty="0">
                <a:effectLst/>
                <a:latin typeface="+mj-ea"/>
                <a:ea typeface="+mj-ea"/>
                <a:cs typeface="+mj-ea"/>
              </a:rPr>
              <a:t>论文</a:t>
            </a:r>
            <a:r>
              <a:rPr lang="en-US" altLang="zh-CN" sz="1800" kern="100" dirty="0">
                <a:effectLst/>
                <a:latin typeface="+mj-ea"/>
                <a:ea typeface="+mj-ea"/>
                <a:cs typeface="+mj-ea"/>
              </a:rPr>
              <a:t>1-2</a:t>
            </a:r>
            <a:r>
              <a:rPr lang="zh-CN" altLang="zh-CN" sz="1800" kern="100" dirty="0">
                <a:effectLst/>
                <a:latin typeface="+mj-ea"/>
                <a:ea typeface="+mj-ea"/>
                <a:cs typeface="+mj-ea"/>
              </a:rPr>
              <a:t>篇，申请专利</a:t>
            </a:r>
            <a:r>
              <a:rPr lang="zh-CN" altLang="en-US" sz="1800" kern="100" dirty="0">
                <a:effectLst/>
                <a:latin typeface="+mj-ea"/>
                <a:ea typeface="+mj-ea"/>
                <a:cs typeface="+mj-ea"/>
              </a:rPr>
              <a:t>或软著</a:t>
            </a:r>
            <a:r>
              <a:rPr lang="en-US" altLang="zh-CN" sz="1800" kern="100" dirty="0">
                <a:effectLst/>
                <a:latin typeface="+mj-ea"/>
                <a:ea typeface="+mj-ea"/>
                <a:cs typeface="+mj-ea"/>
              </a:rPr>
              <a:t>1</a:t>
            </a:r>
            <a:r>
              <a:rPr lang="zh-CN" altLang="zh-CN" sz="1800" kern="100" dirty="0">
                <a:effectLst/>
                <a:latin typeface="+mj-ea"/>
                <a:ea typeface="+mj-ea"/>
                <a:cs typeface="+mj-ea"/>
              </a:rPr>
              <a:t>项</a:t>
            </a:r>
            <a:endParaRPr lang="zh-CN" altLang="en-US" dirty="0">
              <a:latin typeface="+mj-ea"/>
              <a:ea typeface="+mj-ea"/>
              <a:cs typeface="+mj-ea"/>
            </a:endParaRPr>
          </a:p>
        </p:txBody>
      </p:sp>
      <p:graphicFrame>
        <p:nvGraphicFramePr>
          <p:cNvPr id="4194312" name="表格 31"/>
          <p:cNvGraphicFramePr>
            <a:graphicFrameLocks noGrp="1"/>
          </p:cNvGraphicFramePr>
          <p:nvPr/>
        </p:nvGraphicFramePr>
        <p:xfrm>
          <a:off x="756285" y="2316670"/>
          <a:ext cx="10679571" cy="3517824"/>
        </p:xfrm>
        <a:graphic>
          <a:graphicData uri="http://schemas.openxmlformats.org/drawingml/2006/table">
            <a:tbl>
              <a:tblPr firstRow="1" bandRow="1">
                <a:tableStyleId>{5C22544A-7EE6-4342-B048-85BDC9FD1C3A}</a:tableStyleId>
              </a:tblPr>
              <a:tblGrid>
                <a:gridCol w="2744771"/>
                <a:gridCol w="5373278"/>
                <a:gridCol w="2561522"/>
              </a:tblGrid>
              <a:tr h="439728">
                <a:tc>
                  <a:txBody>
                    <a:bodyPr/>
                    <a:p>
                      <a:pPr algn="ctr"/>
                      <a:r>
                        <a:rPr lang="zh-CN" altLang="en-US" dirty="0">
                          <a:latin typeface="+mj-ea"/>
                          <a:ea typeface="+mj-ea"/>
                        </a:rPr>
                        <a:t>起讫日期</a:t>
                      </a:r>
                      <a:endParaRPr lang="zh-CN" altLang="en-US" dirty="0">
                        <a:latin typeface="+mj-ea"/>
                        <a:ea typeface="+mj-ea"/>
                      </a:endParaRPr>
                    </a:p>
                  </a:txBody>
                  <a:tcPr anchor="ctr"/>
                </a:tc>
                <a:tc>
                  <a:txBody>
                    <a:bodyPr/>
                    <a:p>
                      <a:pPr algn="ctr"/>
                      <a:r>
                        <a:rPr lang="zh-CN" altLang="en-US" dirty="0">
                          <a:latin typeface="+mj-ea"/>
                          <a:ea typeface="+mj-ea"/>
                        </a:rPr>
                        <a:t>主要研究内容</a:t>
                      </a:r>
                      <a:endParaRPr lang="zh-CN" altLang="en-US" dirty="0">
                        <a:latin typeface="+mj-ea"/>
                        <a:ea typeface="+mj-ea"/>
                      </a:endParaRPr>
                    </a:p>
                  </a:txBody>
                  <a:tcPr anchor="ctr"/>
                </a:tc>
                <a:tc>
                  <a:txBody>
                    <a:bodyPr/>
                    <a:p>
                      <a:pPr algn="ctr"/>
                      <a:r>
                        <a:rPr lang="zh-CN" altLang="en-US" dirty="0">
                          <a:latin typeface="+mj-ea"/>
                          <a:ea typeface="+mj-ea"/>
                        </a:rPr>
                        <a:t>预期结果</a:t>
                      </a:r>
                      <a:endParaRPr lang="zh-CN" altLang="en-US" dirty="0">
                        <a:latin typeface="+mj-ea"/>
                        <a:ea typeface="+mj-ea"/>
                      </a:endParaRPr>
                    </a:p>
                  </a:txBody>
                  <a:tcPr anchor="ctr"/>
                </a:tc>
              </a:tr>
              <a:tr h="439728">
                <a:tc>
                  <a:txBody>
                    <a:bodyPr/>
                    <a:p>
                      <a:pPr algn="ctr"/>
                      <a:r>
                        <a:rPr lang="en-US" altLang="zh-CN" b="1" dirty="0">
                          <a:solidFill>
                            <a:schemeClr val="bg1"/>
                          </a:solidFill>
                          <a:latin typeface="+mj-ea"/>
                          <a:ea typeface="+mj-ea"/>
                        </a:rPr>
                        <a:t>2024.9-2024.10</a:t>
                      </a:r>
                      <a:endParaRPr lang="en-US" altLang="zh-CN" b="1" dirty="0">
                        <a:solidFill>
                          <a:schemeClr val="bg1"/>
                        </a:solidFill>
                        <a:latin typeface="+mj-ea"/>
                        <a:ea typeface="+mj-ea"/>
                      </a:endParaRPr>
                    </a:p>
                  </a:txBody>
                  <a:tcPr anchor="ctr">
                    <a:solidFill>
                      <a:srgbClr val="4472C4"/>
                    </a:solidFill>
                  </a:tcPr>
                </a:tc>
                <a:tc>
                  <a:txBody>
                    <a:bodyPr/>
                    <a:p>
                      <a:pPr algn="ctr"/>
                      <a:r>
                        <a:rPr lang="zh-CN" altLang="en-US" dirty="0">
                          <a:latin typeface="+mj-ea"/>
                          <a:ea typeface="+mj-ea"/>
                        </a:rPr>
                        <a:t>国内外文献查阅域资料整理</a:t>
                      </a:r>
                      <a:endParaRPr lang="zh-CN" altLang="en-US" dirty="0">
                        <a:latin typeface="+mj-ea"/>
                        <a:ea typeface="+mj-ea"/>
                      </a:endParaRPr>
                    </a:p>
                  </a:txBody>
                  <a:tcPr anchor="ctr">
                    <a:solidFill>
                      <a:schemeClr val="bg2"/>
                    </a:solidFill>
                  </a:tcPr>
                </a:tc>
                <a:tc>
                  <a:txBody>
                    <a:bodyPr/>
                    <a:p>
                      <a:pPr algn="ctr"/>
                      <a:r>
                        <a:rPr lang="zh-CN" altLang="en-US" dirty="0">
                          <a:latin typeface="+mj-ea"/>
                          <a:ea typeface="+mj-ea"/>
                        </a:rPr>
                        <a:t>调研报告</a:t>
                      </a:r>
                      <a:endParaRPr lang="zh-CN" altLang="en-US" dirty="0">
                        <a:latin typeface="+mj-ea"/>
                        <a:ea typeface="+mj-ea"/>
                      </a:endParaRPr>
                    </a:p>
                  </a:txBody>
                  <a:tcPr anchor="ctr">
                    <a:solidFill>
                      <a:schemeClr val="bg2"/>
                    </a:solidFill>
                  </a:tcPr>
                </a:tc>
              </a:tr>
              <a:tr h="439728">
                <a:tc>
                  <a:txBody>
                    <a:bodyPr/>
                    <a:p>
                      <a:pPr algn="ctr"/>
                      <a:r>
                        <a:rPr lang="en-US" altLang="zh-CN" b="1" dirty="0">
                          <a:solidFill>
                            <a:schemeClr val="bg1"/>
                          </a:solidFill>
                          <a:latin typeface="+mj-ea"/>
                          <a:ea typeface="+mj-ea"/>
                        </a:rPr>
                        <a:t>2024.11-2025.1</a:t>
                      </a:r>
                      <a:endParaRPr lang="en-US" altLang="zh-CN" b="1" dirty="0">
                        <a:solidFill>
                          <a:schemeClr val="bg1"/>
                        </a:solidFill>
                        <a:latin typeface="+mj-ea"/>
                        <a:ea typeface="+mj-ea"/>
                      </a:endParaRPr>
                    </a:p>
                  </a:txBody>
                  <a:tcPr anchor="ctr">
                    <a:solidFill>
                      <a:srgbClr val="4472C4"/>
                    </a:solidFill>
                  </a:tcPr>
                </a:tc>
                <a:tc>
                  <a:txBody>
                    <a:bodyPr/>
                    <a:p>
                      <a:pPr algn="ctr"/>
                      <a:r>
                        <a:rPr lang="zh-CN" altLang="en-US" dirty="0">
                          <a:latin typeface="+mj-ea"/>
                          <a:ea typeface="+mj-ea"/>
                        </a:rPr>
                        <a:t>完成大论文的第一部分</a:t>
                      </a:r>
                      <a:endParaRPr lang="zh-CN" altLang="en-US" dirty="0">
                        <a:latin typeface="+mj-ea"/>
                        <a:ea typeface="+mj-ea"/>
                      </a:endParaRPr>
                    </a:p>
                  </a:txBody>
                  <a:tcPr anchor="ctr">
                    <a:solidFill>
                      <a:schemeClr val="bg1">
                        <a:lumMod val="95000"/>
                      </a:schemeClr>
                    </a:solidFill>
                  </a:tcPr>
                </a:tc>
                <a:tc>
                  <a:txBody>
                    <a:bodyPr/>
                    <a:p>
                      <a:pPr algn="ctr"/>
                      <a:r>
                        <a:rPr lang="zh-CN" altLang="en-US" dirty="0">
                          <a:latin typeface="+mj-ea"/>
                          <a:ea typeface="+mj-ea"/>
                        </a:rPr>
                        <a:t>实验报告，形成小论文</a:t>
                      </a:r>
                      <a:endParaRPr lang="zh-CN" altLang="en-US" dirty="0">
                        <a:latin typeface="+mj-ea"/>
                        <a:ea typeface="+mj-ea"/>
                      </a:endParaRPr>
                    </a:p>
                  </a:txBody>
                  <a:tcPr anchor="ctr">
                    <a:solidFill>
                      <a:schemeClr val="bg1">
                        <a:lumMod val="95000"/>
                      </a:schemeClr>
                    </a:solidFill>
                  </a:tcPr>
                </a:tc>
              </a:tr>
              <a:tr h="439728">
                <a:tc>
                  <a:txBody>
                    <a:bodyPr/>
                    <a:p>
                      <a:pPr algn="ctr"/>
                      <a:r>
                        <a:rPr lang="en-US" altLang="zh-CN" b="1" dirty="0">
                          <a:solidFill>
                            <a:schemeClr val="bg1"/>
                          </a:solidFill>
                          <a:latin typeface="+mj-ea"/>
                          <a:ea typeface="+mj-ea"/>
                        </a:rPr>
                        <a:t>2025.2-2025.4</a:t>
                      </a:r>
                      <a:endParaRPr lang="en-US" altLang="zh-CN" b="1" dirty="0">
                        <a:solidFill>
                          <a:schemeClr val="bg1"/>
                        </a:solidFill>
                        <a:latin typeface="+mj-ea"/>
                        <a:ea typeface="+mj-ea"/>
                      </a:endParaRPr>
                    </a:p>
                  </a:txBody>
                  <a:tcPr anchor="ctr">
                    <a:solidFill>
                      <a:srgbClr val="4472C4"/>
                    </a:solidFill>
                  </a:tcPr>
                </a:tc>
                <a:tc>
                  <a:txBody>
                    <a:bodyPr/>
                    <a:p>
                      <a:pPr algn="ctr"/>
                      <a:r>
                        <a:rPr lang="zh-CN" altLang="en-US" dirty="0">
                          <a:latin typeface="+mj-ea"/>
                          <a:ea typeface="+mj-ea"/>
                        </a:rPr>
                        <a:t>完成大论文的第二部分</a:t>
                      </a:r>
                      <a:endParaRPr lang="zh-CN" altLang="en-US" dirty="0">
                        <a:latin typeface="+mj-ea"/>
                        <a:ea typeface="+mj-ea"/>
                      </a:endParaRPr>
                    </a:p>
                  </a:txBody>
                  <a:tcPr anchor="ctr">
                    <a:solidFill>
                      <a:schemeClr val="bg2"/>
                    </a:solidFill>
                  </a:tcPr>
                </a:tc>
                <a:tc>
                  <a:txBody>
                    <a:bodyPr/>
                    <a:p>
                      <a:pPr algn="ctr"/>
                      <a:r>
                        <a:rPr lang="zh-CN" altLang="en-US" dirty="0">
                          <a:latin typeface="+mj-ea"/>
                          <a:ea typeface="+mj-ea"/>
                        </a:rPr>
                        <a:t>实验报告</a:t>
                      </a:r>
                      <a:endParaRPr lang="zh-CN" altLang="en-US" dirty="0">
                        <a:latin typeface="+mj-ea"/>
                        <a:ea typeface="+mj-ea"/>
                      </a:endParaRPr>
                    </a:p>
                  </a:txBody>
                  <a:tcPr anchor="ctr">
                    <a:solidFill>
                      <a:schemeClr val="bg2"/>
                    </a:solidFill>
                  </a:tcPr>
                </a:tc>
              </a:tr>
              <a:tr h="439728">
                <a:tc>
                  <a:txBody>
                    <a:bodyPr/>
                    <a:p>
                      <a:pPr algn="ctr"/>
                      <a:r>
                        <a:rPr lang="en-US" altLang="zh-CN" b="1" dirty="0">
                          <a:solidFill>
                            <a:schemeClr val="bg1"/>
                          </a:solidFill>
                          <a:latin typeface="+mj-ea"/>
                          <a:ea typeface="+mj-ea"/>
                        </a:rPr>
                        <a:t>2025.5-2025.7</a:t>
                      </a:r>
                      <a:endParaRPr lang="en-US" altLang="zh-CN" b="1" dirty="0">
                        <a:solidFill>
                          <a:schemeClr val="bg1"/>
                        </a:solidFill>
                        <a:latin typeface="+mj-ea"/>
                        <a:ea typeface="+mj-ea"/>
                      </a:endParaRPr>
                    </a:p>
                  </a:txBody>
                  <a:tcPr anchor="ctr">
                    <a:solidFill>
                      <a:srgbClr val="4472C4"/>
                    </a:solidFill>
                  </a:tcPr>
                </a:tc>
                <a:tc>
                  <a:txBody>
                    <a:bodyPr/>
                    <a:p>
                      <a:pPr algn="ctr"/>
                      <a:r>
                        <a:rPr lang="zh-CN" altLang="en-US" dirty="0">
                          <a:latin typeface="+mj-ea"/>
                          <a:ea typeface="+mj-ea"/>
                        </a:rPr>
                        <a:t>完成大论文的第三部分</a:t>
                      </a:r>
                      <a:endParaRPr lang="zh-CN" altLang="en-US" dirty="0">
                        <a:latin typeface="+mj-ea"/>
                        <a:ea typeface="+mj-ea"/>
                      </a:endParaRPr>
                    </a:p>
                  </a:txBody>
                  <a:tcPr anchor="ctr">
                    <a:solidFill>
                      <a:schemeClr val="bg1">
                        <a:lumMod val="95000"/>
                      </a:schemeClr>
                    </a:solidFill>
                  </a:tcPr>
                </a:tc>
                <a:tc>
                  <a:txBody>
                    <a:bodyPr/>
                    <a:p>
                      <a:pPr algn="ctr"/>
                      <a:r>
                        <a:rPr lang="zh-CN" altLang="en-US" dirty="0">
                          <a:latin typeface="+mj-ea"/>
                          <a:ea typeface="+mj-ea"/>
                        </a:rPr>
                        <a:t>实验报告，形成专利</a:t>
                      </a:r>
                      <a:endParaRPr lang="zh-CN" altLang="en-US" dirty="0">
                        <a:latin typeface="+mj-ea"/>
                        <a:ea typeface="+mj-ea"/>
                      </a:endParaRPr>
                    </a:p>
                  </a:txBody>
                  <a:tcPr anchor="ctr">
                    <a:solidFill>
                      <a:schemeClr val="bg1">
                        <a:lumMod val="95000"/>
                      </a:schemeClr>
                    </a:solidFill>
                  </a:tcPr>
                </a:tc>
              </a:tr>
              <a:tr h="439728">
                <a:tc>
                  <a:txBody>
                    <a:bodyPr/>
                    <a:p>
                      <a:pPr algn="ctr"/>
                      <a:r>
                        <a:rPr lang="en-US" altLang="zh-CN" b="1" dirty="0">
                          <a:solidFill>
                            <a:schemeClr val="bg1"/>
                          </a:solidFill>
                          <a:latin typeface="+mj-ea"/>
                          <a:ea typeface="+mj-ea"/>
                        </a:rPr>
                        <a:t>2025.8-2025.10</a:t>
                      </a:r>
                      <a:endParaRPr lang="en-US" altLang="zh-CN" b="1" dirty="0">
                        <a:solidFill>
                          <a:schemeClr val="bg1"/>
                        </a:solidFill>
                        <a:latin typeface="+mj-ea"/>
                        <a:ea typeface="+mj-ea"/>
                      </a:endParaRPr>
                    </a:p>
                  </a:txBody>
                  <a:tcPr anchor="ctr">
                    <a:solidFill>
                      <a:srgbClr val="4472C4"/>
                    </a:solidFill>
                  </a:tcPr>
                </a:tc>
                <a:tc>
                  <a:txBody>
                    <a:bodyPr/>
                    <a:p>
                      <a:pPr algn="ctr"/>
                      <a:r>
                        <a:rPr lang="zh-CN" altLang="en-US" dirty="0">
                          <a:latin typeface="+mj-ea"/>
                          <a:ea typeface="+mj-ea"/>
                        </a:rPr>
                        <a:t>完成大论文的第四部分</a:t>
                      </a:r>
                      <a:endParaRPr lang="zh-CN" altLang="en-US" dirty="0">
                        <a:latin typeface="+mj-ea"/>
                        <a:ea typeface="+mj-ea"/>
                      </a:endParaRPr>
                    </a:p>
                  </a:txBody>
                  <a:tcPr anchor="ctr">
                    <a:solidFill>
                      <a:schemeClr val="bg2"/>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dirty="0">
                          <a:latin typeface="+mj-ea"/>
                          <a:ea typeface="+mj-ea"/>
                        </a:rPr>
                        <a:t>实验报告</a:t>
                      </a:r>
                      <a:endParaRPr lang="zh-CN" altLang="en-US" dirty="0">
                        <a:latin typeface="+mj-ea"/>
                        <a:ea typeface="+mj-ea"/>
                      </a:endParaRPr>
                    </a:p>
                  </a:txBody>
                  <a:tcPr anchor="ctr">
                    <a:solidFill>
                      <a:schemeClr val="bg2"/>
                    </a:solidFill>
                  </a:tcPr>
                </a:tc>
              </a:tr>
              <a:tr h="439728">
                <a:tc>
                  <a:txBody>
                    <a:bodyPr/>
                    <a:p>
                      <a:pPr algn="ctr"/>
                      <a:r>
                        <a:rPr lang="en-US" altLang="zh-CN" b="1" dirty="0">
                          <a:solidFill>
                            <a:schemeClr val="bg1"/>
                          </a:solidFill>
                          <a:latin typeface="+mj-ea"/>
                          <a:ea typeface="+mj-ea"/>
                        </a:rPr>
                        <a:t>2025.11-2026.1</a:t>
                      </a:r>
                      <a:endParaRPr lang="en-US" altLang="zh-CN" b="1" dirty="0">
                        <a:solidFill>
                          <a:schemeClr val="bg1"/>
                        </a:solidFill>
                        <a:latin typeface="+mj-ea"/>
                        <a:ea typeface="+mj-ea"/>
                      </a:endParaRPr>
                    </a:p>
                  </a:txBody>
                  <a:tcPr anchor="ctr">
                    <a:solidFill>
                      <a:srgbClr val="4472C4"/>
                    </a:solidFill>
                  </a:tcPr>
                </a:tc>
                <a:tc>
                  <a:txBody>
                    <a:bodyPr/>
                    <a:p>
                      <a:pPr marL="0" marR="0" lvl="0" indent="0" algn="ctr" defTabSz="914400" rtl="0" eaLnBrk="1" fontAlgn="auto" latinLnBrk="0" hangingPunct="1">
                        <a:lnSpc>
                          <a:spcPct val="100000"/>
                        </a:lnSpc>
                        <a:spcBef>
                          <a:spcPts val="0"/>
                        </a:spcBef>
                        <a:spcAft>
                          <a:spcPts val="0"/>
                        </a:spcAft>
                        <a:buClrTx/>
                        <a:buSzTx/>
                        <a:buFontTx/>
                        <a:buNone/>
                      </a:pPr>
                      <a:r>
                        <a:rPr lang="zh-CN" altLang="en-US" dirty="0">
                          <a:latin typeface="+mj-ea"/>
                          <a:ea typeface="+mj-ea"/>
                        </a:rPr>
                        <a:t>整理报告，撰写大论文</a:t>
                      </a:r>
                      <a:endParaRPr lang="zh-CN" altLang="en-US" dirty="0">
                        <a:latin typeface="+mj-ea"/>
                        <a:ea typeface="+mj-ea"/>
                      </a:endParaRPr>
                    </a:p>
                  </a:txBody>
                  <a:tcPr anchor="ctr">
                    <a:solidFill>
                      <a:schemeClr val="bg1">
                        <a:lumMod val="95000"/>
                      </a:schemeClr>
                    </a:solidFill>
                  </a:tcPr>
                </a:tc>
                <a:tc>
                  <a:txBody>
                    <a:bodyPr/>
                    <a:p>
                      <a:pPr algn="ctr"/>
                      <a:r>
                        <a:rPr lang="zh-CN" altLang="en-US" dirty="0">
                          <a:latin typeface="+mj-ea"/>
                          <a:ea typeface="+mj-ea"/>
                        </a:rPr>
                        <a:t>大论文初稿</a:t>
                      </a:r>
                      <a:endParaRPr lang="zh-CN" altLang="en-US" dirty="0">
                        <a:latin typeface="+mj-ea"/>
                        <a:ea typeface="+mj-ea"/>
                      </a:endParaRPr>
                    </a:p>
                  </a:txBody>
                  <a:tcPr anchor="ctr">
                    <a:solidFill>
                      <a:schemeClr val="bg1">
                        <a:lumMod val="95000"/>
                      </a:schemeClr>
                    </a:solidFill>
                  </a:tcPr>
                </a:tc>
              </a:tr>
              <a:tr h="439728">
                <a:tc>
                  <a:txBody>
                    <a:bodyPr/>
                    <a:p>
                      <a:pPr algn="ctr"/>
                      <a:r>
                        <a:rPr lang="en-US" altLang="zh-CN" b="1" dirty="0">
                          <a:solidFill>
                            <a:schemeClr val="bg1"/>
                          </a:solidFill>
                          <a:latin typeface="+mj-ea"/>
                          <a:ea typeface="+mj-ea"/>
                        </a:rPr>
                        <a:t>2026.1-2026.3</a:t>
                      </a:r>
                      <a:endParaRPr lang="en-US" altLang="zh-CN" b="1" dirty="0">
                        <a:solidFill>
                          <a:schemeClr val="bg1"/>
                        </a:solidFill>
                        <a:latin typeface="+mj-ea"/>
                        <a:ea typeface="+mj-ea"/>
                      </a:endParaRPr>
                    </a:p>
                  </a:txBody>
                  <a:tcPr anchor="ctr">
                    <a:solidFill>
                      <a:srgbClr val="4472C4"/>
                    </a:solidFill>
                  </a:tcPr>
                </a:tc>
                <a:tc>
                  <a:txBody>
                    <a:bodyPr/>
                    <a:p>
                      <a:pPr algn="ctr"/>
                      <a:r>
                        <a:rPr lang="zh-CN" altLang="en-US" dirty="0">
                          <a:latin typeface="+mj-ea"/>
                          <a:ea typeface="+mj-ea"/>
                        </a:rPr>
                        <a:t>完成大论文</a:t>
                      </a:r>
                      <a:endParaRPr lang="zh-CN" altLang="en-US" dirty="0">
                        <a:latin typeface="+mj-ea"/>
                        <a:ea typeface="+mj-ea"/>
                      </a:endParaRPr>
                    </a:p>
                  </a:txBody>
                  <a:tcPr anchor="ctr">
                    <a:solidFill>
                      <a:schemeClr val="bg2"/>
                    </a:solidFill>
                  </a:tcPr>
                </a:tc>
                <a:tc>
                  <a:txBody>
                    <a:bodyPr/>
                    <a:p>
                      <a:pPr algn="ctr"/>
                      <a:r>
                        <a:rPr lang="zh-CN" altLang="en-US" dirty="0">
                          <a:latin typeface="+mj-ea"/>
                          <a:ea typeface="+mj-ea"/>
                        </a:rPr>
                        <a:t>学位论文</a:t>
                      </a:r>
                      <a:endParaRPr lang="zh-CN" altLang="en-US" dirty="0">
                        <a:latin typeface="+mj-ea"/>
                        <a:ea typeface="+mj-ea"/>
                      </a:endParaRPr>
                    </a:p>
                  </a:txBody>
                  <a:tcPr anchor="ctr">
                    <a:solidFill>
                      <a:schemeClr val="bg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778"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8"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79"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参考文献</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80" name="文本框 1"/>
          <p:cNvSpPr txBox="1"/>
          <p:nvPr/>
        </p:nvSpPr>
        <p:spPr>
          <a:xfrm>
            <a:off x="0" y="685165"/>
            <a:ext cx="11817985" cy="6263640"/>
          </a:xfrm>
          <a:prstGeom prst="rect">
            <a:avLst/>
          </a:prstGeom>
        </p:spPr>
        <p:txBody>
          <a:bodyPr wrap="square">
            <a:spAutoFit/>
          </a:bodyPr>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[1]</a:t>
            </a:r>
            <a:r>
              <a:rPr lang="en-US" altLang="zh-CN" sz="1600">
                <a:latin typeface="Times New Roman" panose="02020603050405020304"/>
                <a:ea typeface="宋体" panose="02010600030101010101" pitchFamily="2" charset="-122"/>
              </a:rPr>
              <a:t>Y. Yu, J. Xu, J. Z. Zhang, Y. Wu, and Z. Liao, “Do circular economy practices matter for financial growth? An empirical study in China,” Journal of Cleaner Production, vol.370, p.133255, Aug 2022.</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[2]</a:t>
            </a:r>
            <a:r>
              <a:rPr lang="en-US" altLang="zh-CN" sz="1600">
                <a:latin typeface="Times New Roman" panose="02020603050405020304"/>
                <a:ea typeface="宋体" panose="02010600030101010101" pitchFamily="2" charset="-122"/>
              </a:rPr>
              <a:t>Q. Wang and S. Wang, “Why does China’s carbon intensity decline and India’s carbon intensity rise? a decomposition analysis on the sectors,” Journal of Cleaner Production, vol. 265, p. 121569, Aug 2020.</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[3]</a:t>
            </a:r>
            <a:r>
              <a:rPr lang="en-US" altLang="zh-CN" sz="1600">
                <a:latin typeface="Times New Roman" panose="02020603050405020304"/>
                <a:ea typeface="宋体" panose="02010600030101010101" pitchFamily="2" charset="-122"/>
              </a:rPr>
              <a:t>J. Fang, B. Cheang, and A. Lim, “Problems and Solution Methods of Machine Scheduling in Semiconductor Manufacturing Operations: A Survey,” Sustainability, vol. 15, no. 17, pp. 13012–13012, Aug 2023.</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[4]</a:t>
            </a:r>
            <a:r>
              <a:rPr lang="en-US" altLang="zh-CN" sz="1600">
                <a:latin typeface="Times New Roman" panose="02020603050405020304"/>
                <a:ea typeface="宋体" panose="02010600030101010101" pitchFamily="2" charset="-122"/>
              </a:rPr>
              <a:t>L. Kang, D. Liu, Y. Wu, and G. Ping, “Two-Stage Hybrid Optimization Algorithm for Silicon Single Crystal Batch Scheduling Problem under Fuzzy Processing Time,” Mathematical problems in engineering, vol. 2023, pp. 1–14, Jan 2023.</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[5]</a:t>
            </a:r>
            <a:r>
              <a:rPr lang="en-US" altLang="zh-CN" sz="1600">
                <a:latin typeface="Times New Roman" panose="02020603050405020304"/>
                <a:ea typeface="宋体" panose="02010600030101010101" pitchFamily="2" charset="-122"/>
              </a:rPr>
              <a:t>M. Lee, K. Moon, K. Lee, J. Hong, and M. Pinedo, “A critical review of planning and scheduling in steel-making and continuous casting in the steel industry,” Journal of the Operational Research Society, pp. 1–35, Nov 2023.</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[6]</a:t>
            </a:r>
            <a:r>
              <a:rPr lang="en-US" altLang="zh-CN" sz="1600">
                <a:latin typeface="Times New Roman" panose="02020603050405020304"/>
                <a:ea typeface="宋体" panose="02010600030101010101" pitchFamily="2" charset="-122"/>
              </a:rPr>
              <a:t>P. Wu, N. Li, J. Cheng, and C. Chu, “Energy-efficient single-machine scheduling with release dates under time-of-use electricity tariffs,” Journal of cleaner production, vol. 393, pp. 136228–136228, Mar 2023.</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[7]</a:t>
            </a:r>
            <a:r>
              <a:rPr lang="en-US" altLang="zh-CN" sz="1600">
                <a:latin typeface="Times New Roman" panose="02020603050405020304"/>
                <a:ea typeface="宋体" panose="02010600030101010101" pitchFamily="2" charset="-122"/>
              </a:rPr>
              <a:t>G. Bektur, “A hybrid heuristic solution based on simulated annealing algorithm for energy efficient single machine scheduling problem with sequence dependent setup times,” Journal of the Faculty of Engineering and Architecture of Gazi University, vol. 36, no. 1, 2021.</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[8]</a:t>
            </a:r>
            <a:r>
              <a:rPr lang="en-US" altLang="zh-CN" sz="1600">
                <a:latin typeface="Times New Roman" panose="02020603050405020304"/>
                <a:ea typeface="宋体" panose="02010600030101010101" pitchFamily="2" charset="-122"/>
              </a:rPr>
              <a:t>L. Feng, G. Chen, S. Zhou, X. Zhou, and M. Jin, “An Energy-Efficient Unrelated Parallel Machine Scheduling Problem with Batch Processing and Time-of-Use Electricity Prices,” Mathematics, vol. 12, no. 3, pp. 376–376, Jan 2024.</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[9]</a:t>
            </a:r>
            <a:r>
              <a:rPr lang="en-US" altLang="zh-CN" sz="1600">
                <a:latin typeface="Times New Roman" panose="02020603050405020304"/>
                <a:ea typeface="宋体" panose="02010600030101010101" pitchFamily="2" charset="-122"/>
              </a:rPr>
              <a:t>M. Tan, H.-L. Yang, and Y.-X. Su, “Genetic algorithms with greedy strategy for green batch scheduling on non-identical parallel machines,” Memetic computing, vol. 11, Art. no. 4, 2019.</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[10]</a:t>
            </a:r>
            <a:r>
              <a:rPr lang="en-US" altLang="zh-CN" sz="1600">
                <a:latin typeface="Times New Roman" panose="02020603050405020304"/>
                <a:ea typeface="宋体" panose="02010600030101010101" pitchFamily="2" charset="-122"/>
              </a:rPr>
              <a:t>Y. Wang, Z. Jia, and K. Li, “A multi-objective co-evolutionary algorithm of scheduling on parallel non-identical batch machines,” Expert Systems With Applications, vol. 167,Apr 2021.</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[11]</a:t>
            </a:r>
            <a:r>
              <a:rPr lang="en-US" altLang="zh-CN" sz="1600">
                <a:latin typeface="Times New Roman" panose="02020603050405020304"/>
                <a:ea typeface="宋体" panose="02010600030101010101" pitchFamily="2" charset="-122"/>
              </a:rPr>
              <a:t>J. Hu, J. Shen, and L. Shen, “Periodic preventive maintenance planning for systems working under a Markovian operating condition,” Computers \&amp; Industrial Engineering, vol. 142, p. 106291, Apr 2020.</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[12]</a:t>
            </a:r>
            <a:r>
              <a:rPr lang="en-US" altLang="zh-CN" sz="1600">
                <a:latin typeface="Times New Roman" panose="02020603050405020304"/>
                <a:ea typeface="宋体" panose="02010600030101010101" pitchFamily="2" charset="-122"/>
              </a:rPr>
              <a:t>X. Zhang, H. Jiang, B. Zheng, Z. Li, and H. Gao, “Optimal maintenance period and maintenance sequence planning under imperfect maintenance,” Quality and Reliability Engineering International, vol. 39,no. 5, 2023.</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rPr>
              <a:t>[13]</a:t>
            </a:r>
            <a:r>
              <a:rPr lang="en-US" altLang="zh-CN" sz="1600">
                <a:latin typeface="Times New Roman" panose="02020603050405020304"/>
                <a:ea typeface="宋体" panose="02010600030101010101" pitchFamily="2" charset="-122"/>
              </a:rPr>
              <a:t>H. Gao, X. Zhang, X. Yang, and B. Zheng, “Optimal Selective Maintenance Decision-Making for Consecutive-Mission Systems with Variable Durations and Limited Maintenance Time,” Mathematical problems in engineering, vol. 2021, pp. 1–10, Mar 2021.</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endParaRPr lang="en-US" altLang="zh-CN" sz="1600">
              <a:latin typeface="Times New Roman" panose="02020603050405020304"/>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784"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9" name="图片 17"/>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p:nvSpPr>
          <p:cNvPr id="1048785"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参考文献</a:t>
            </a:r>
            <a:endPar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ndParaRPr>
          </a:p>
        </p:txBody>
      </p:sp>
      <p:sp>
        <p:nvSpPr>
          <p:cNvPr id="1048786" name="文本框 1"/>
          <p:cNvSpPr txBox="1"/>
          <p:nvPr/>
        </p:nvSpPr>
        <p:spPr>
          <a:xfrm>
            <a:off x="54610" y="1137285"/>
            <a:ext cx="11851005" cy="4892041"/>
          </a:xfrm>
          <a:prstGeom prst="rect">
            <a:avLst/>
          </a:prstGeom>
          <a:noFill/>
        </p:spPr>
        <p:txBody>
          <a:bodyPr wrap="square" rtlCol="0" anchor="t">
            <a:spAutoFit/>
          </a:bodyPr>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[14]</a:t>
            </a:r>
            <a:r>
              <a:rPr lang="en-US" altLang="zh-CN" sz="1600">
                <a:latin typeface="Times New Roman" panose="02020603050405020304"/>
                <a:ea typeface="宋体" panose="02010600030101010101" pitchFamily="2" charset="-122"/>
                <a:sym typeface="+mn-ea"/>
              </a:rPr>
              <a:t>X. Zhang and L. Chen, “A general variable neighborhood search algorithm for a parallel-machine scheduling problem considering machine health conditions and preventive maintenance,” Computers &amp; operations research, vol. 143, pp. 105738–105738, Jul 2022.</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[15]</a:t>
            </a:r>
            <a:r>
              <a:rPr lang="en-US" altLang="zh-CN" sz="1600">
                <a:latin typeface="Times New Roman" panose="02020603050405020304"/>
                <a:ea typeface="宋体" panose="02010600030101010101" pitchFamily="2" charset="-122"/>
                <a:sym typeface="+mn-ea"/>
              </a:rPr>
              <a:t>M. Geurtsen, J. Adan, and A. Akcay, “Integrated maintenance and production scheduling for unrelated parallel machines with setup times,” Flexible Services and Manufacturing Journal, 2023</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[16]</a:t>
            </a:r>
            <a:r>
              <a:rPr lang="en-US" altLang="zh-CN" sz="1600">
                <a:latin typeface="Times New Roman" panose="02020603050405020304"/>
                <a:ea typeface="宋体" panose="02010600030101010101" pitchFamily="2" charset="-122"/>
                <a:sym typeface="+mn-ea"/>
              </a:rPr>
              <a:t>A. A. Qamhan, A. Ahmed, I. M. Al-Harkan, A. Badwelan, A. M. Al-Samhan, and L. Hidri, “An Exact Method and Ant Colony Optimization for Single Machine Scheduling Problem With Time Window Periodic Maintenance,” IEEE Access, vol. 8, pp. 44836–44845, 2020.</a:t>
            </a:r>
            <a:endParaRPr lang="en-US" altLang="zh-CN" sz="1600">
              <a:latin typeface="Times New Roman" panose="02020603050405020304"/>
              <a:ea typeface="Times New Roman" panose="02020603050405020304"/>
              <a:sym typeface="+mn-ea"/>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[17]</a:t>
            </a:r>
            <a:r>
              <a:rPr lang="en-US" altLang="zh-CN" sz="1600">
                <a:latin typeface="Times New Roman" panose="02020603050405020304"/>
                <a:ea typeface="宋体" panose="02010600030101010101" pitchFamily="2" charset="-122"/>
                <a:sym typeface="+mn-ea"/>
              </a:rPr>
              <a:t>X. Sun, T. Liu, X.-N. Geng, Y. Hu, and J.-X. Xu, “Optimization of scheduling problems with deterioration effects and an optional maintenance activity,” Journal of Scheduling, Oct 2022.</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[18]</a:t>
            </a:r>
            <a:r>
              <a:rPr lang="en-US" altLang="zh-CN" sz="1600">
                <a:latin typeface="Times New Roman" panose="02020603050405020304"/>
                <a:ea typeface="宋体" panose="02010600030101010101" pitchFamily="2" charset="-122"/>
                <a:sym typeface="+mn-ea"/>
              </a:rPr>
              <a:t>M.Salama and S.Srinivas,“Adaptive neighborhood simulated annealing for sustainability-oriented single machine scheduling with deterioration effect,” Applied Soft Computing, vol. 110, p. 107632, Oct 2021.</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[19]</a:t>
            </a:r>
            <a:r>
              <a:rPr lang="en-US" altLang="zh-CN" sz="1600">
                <a:latin typeface="Times New Roman" panose="02020603050405020304"/>
                <a:ea typeface="宋体" panose="02010600030101010101" pitchFamily="2" charset="-122"/>
                <a:sym typeface="+mn-ea"/>
              </a:rPr>
              <a:t>K. Li, J. Chen, H. Fu, Z. Jia, and J. Wu, “Parallel machine scheduling with position-based deterioration and learning effects in an uncertain manufacturing system,” Computers &amp; Industrial Engineering, vol. 149, pp. 106858–106858, Nov 2020.</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[20]</a:t>
            </a:r>
            <a:r>
              <a:rPr lang="en-US" altLang="zh-CN" sz="1600">
                <a:latin typeface="Times New Roman" panose="02020603050405020304"/>
                <a:ea typeface="宋体" panose="02010600030101010101" pitchFamily="2" charset="-122"/>
                <a:sym typeface="+mn-ea"/>
              </a:rPr>
              <a:t>S. Lu, X. Liu, J. Pei, M. T. Thai, and P. M. Pardalos, “A hybrid ABC-TS algorithm for the unrelated parallel-batching machines scheduling problem with deteriorating jobs and maintenance activity,” Applied Soft Computing, vol. 66, pp. 168–182, May 2018.</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[21]</a:t>
            </a:r>
            <a:r>
              <a:rPr lang="en-US" altLang="zh-CN" sz="1600">
                <a:latin typeface="Times New Roman" panose="02020603050405020304"/>
                <a:ea typeface="宋体" panose="02010600030101010101" pitchFamily="2" charset="-122"/>
                <a:sym typeface="+mn-ea"/>
              </a:rPr>
              <a:t>M. Kong, X. Liu, J. Pei, H. Cheng, and P. M. Pardalos, “A BRKGA-DE algorithm for parallel-batching scheduling with deterioration and learning effects on parallel machines under preventive maintenance consideration,” Annals of Mathematics and Artificial Intelligence, vol. 88, no. 1–3, pp. 237–267, Sep 2018.</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[22]</a:t>
            </a:r>
            <a:r>
              <a:rPr lang="en-US" altLang="zh-CN" sz="1600">
                <a:latin typeface="Times New Roman" panose="02020603050405020304"/>
                <a:ea typeface="宋体" panose="02010600030101010101" pitchFamily="2" charset="-122"/>
                <a:sym typeface="+mn-ea"/>
              </a:rPr>
              <a:t>C. Zhao and H. Tang, “Single machine scheduling with general job-dependent aging effect and maintenance activities to minimize makespan,”Applied Mathematical Modelling, vol. 34, no. 3, pp. 837–841, Mar 2010..</a:t>
            </a:r>
            <a:endParaRPr lang="en-US" altLang="zh-CN" sz="1600">
              <a:latin typeface="Times New Roman" panose="02020603050405020304"/>
              <a:ea typeface="宋体" panose="02010600030101010101" pitchFamily="2" charset="-122"/>
            </a:endParaRPr>
          </a:p>
          <a:p>
            <a:pPr marL="0" indent="0" algn="just" defTabSz="266700">
              <a:lnSpc>
                <a:spcPts val="1800"/>
              </a:lnSpc>
              <a:spcBef>
                <a:spcPct val="0"/>
              </a:spcBef>
              <a:spcAft>
                <a:spcPct val="0"/>
              </a:spcAft>
            </a:pPr>
            <a:r>
              <a:rPr lang="en-US" altLang="zh-CN" sz="1600">
                <a:latin typeface="Times New Roman" panose="02020603050405020304"/>
                <a:ea typeface="Times New Roman" panose="02020603050405020304"/>
                <a:sym typeface="+mn-ea"/>
              </a:rPr>
              <a:t>[23]</a:t>
            </a:r>
            <a:r>
              <a:rPr lang="en-US" altLang="zh-CN" sz="1600">
                <a:latin typeface="Times New Roman" panose="02020603050405020304"/>
                <a:ea typeface="宋体" panose="02010600030101010101" pitchFamily="2" charset="-122"/>
                <a:sym typeface="+mn-ea"/>
              </a:rPr>
              <a:t>C. Zhao and H. Tang, “Single machine scheduling with past-sequence-dependent setup times and deteriorating jobs,”Computers &amp; Industrial Engineering, vol. 59, no. 4, pp. 663–666, Nov 20</a:t>
            </a:r>
            <a:r>
              <a:rPr lang="en-US" altLang="zh-CN" sz="1600">
                <a:latin typeface="Times New Roman" panose="02020603050405020304"/>
                <a:ea typeface="宋体" panose="02010600030101010101" pitchFamily="2" charset="-122"/>
                <a:sym typeface="+mn-ea"/>
              </a:rPr>
              <a:t>2</a:t>
            </a:r>
            <a:r>
              <a:rPr lang="en-US" altLang="zh-CN" sz="1600">
                <a:latin typeface="Times New Roman" panose="02020603050405020304"/>
                <a:ea typeface="宋体" panose="02010600030101010101" pitchFamily="2" charset="-122"/>
                <a:sym typeface="+mn-ea"/>
              </a:rPr>
              <a:t>1</a:t>
            </a:r>
            <a:endParaRPr lang="en-US" altLang="zh-CN" sz="1600">
              <a:latin typeface="Times New Roman" panose="02020603050405020304"/>
              <a:ea typeface="宋体" panose="02010600030101010101" pitchFamily="2"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790" name="矩形 4"/>
          <p:cNvSpPr/>
          <p:nvPr/>
        </p:nvSpPr>
        <p:spPr>
          <a:xfrm>
            <a:off x="2081" y="1990089"/>
            <a:ext cx="12189743" cy="30791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791" name="文本框 9"/>
          <p:cNvSpPr txBox="1"/>
          <p:nvPr/>
        </p:nvSpPr>
        <p:spPr>
          <a:xfrm>
            <a:off x="2081" y="1917271"/>
            <a:ext cx="12189744" cy="3393419"/>
          </a:xfrm>
          <a:prstGeom prst="rect">
            <a:avLst/>
          </a:prstGeom>
          <a:noFill/>
        </p:spPr>
        <p:txBody>
          <a:bodyPr wrap="square" lIns="91421" tIns="45710" rIns="91421" bIns="45710" rtlCol="0">
            <a:spAutoFit/>
          </a:bodyPr>
          <a:p>
            <a:pPr algn="ctr"/>
            <a:r>
              <a:rPr lang="en-US" altLang="zh-CN" sz="19895" b="1" dirty="0">
                <a:solidFill>
                  <a:schemeClr val="bg1">
                    <a:alpha val="5000"/>
                  </a:schemeClr>
                </a:solidFill>
                <a:effectLst>
                  <a:reflection blurRad="6350" stA="55000" endA="300" endPos="45500" dir="5400000" sy="-100000" algn="bl" rotWithShape="0"/>
                </a:effectLst>
                <a:latin typeface="Helvetica" panose="020B0604020202020204" pitchFamily="34" charset="0"/>
                <a:ea typeface="思源黑体 CN Medium" panose="020B0600000000000000" pitchFamily="34" charset="-122"/>
                <a:cs typeface="Helvetica" panose="020B0604020202020204" pitchFamily="34" charset="0"/>
              </a:rPr>
              <a:t>THANKS</a:t>
            </a:r>
            <a:endParaRPr lang="en-US" altLang="zh-CN" sz="19895" b="1" dirty="0">
              <a:solidFill>
                <a:schemeClr val="bg1">
                  <a:alpha val="5000"/>
                </a:schemeClr>
              </a:solidFill>
              <a:effectLst>
                <a:reflection blurRad="6350" stA="55000" endA="300" endPos="45500" dir="5400000" sy="-100000" algn="bl" rotWithShape="0"/>
              </a:effectLst>
              <a:latin typeface="Helvetica" panose="020B0604020202020204" pitchFamily="34" charset="0"/>
              <a:ea typeface="思源黑体 CN Medium" panose="020B0600000000000000" pitchFamily="34" charset="-122"/>
              <a:cs typeface="Helvetica" panose="020B0604020202020204" pitchFamily="34" charset="0"/>
            </a:endParaRPr>
          </a:p>
        </p:txBody>
      </p:sp>
      <p:sp>
        <p:nvSpPr>
          <p:cNvPr id="1048792" name="矩形 3"/>
          <p:cNvSpPr/>
          <p:nvPr/>
        </p:nvSpPr>
        <p:spPr>
          <a:xfrm>
            <a:off x="176802" y="186576"/>
            <a:ext cx="11878198" cy="647424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1048793" name="文本框 7"/>
          <p:cNvSpPr txBox="1"/>
          <p:nvPr/>
        </p:nvSpPr>
        <p:spPr>
          <a:xfrm>
            <a:off x="2082" y="2897906"/>
            <a:ext cx="12189743" cy="1412239"/>
          </a:xfrm>
          <a:prstGeom prst="rect">
            <a:avLst/>
          </a:prstGeom>
          <a:noFill/>
        </p:spPr>
        <p:txBody>
          <a:bodyPr wrap="square" rtlCol="0">
            <a:spAutoFit/>
          </a:bodyPr>
          <a:p>
            <a:pPr algn="ctr"/>
            <a:r>
              <a:rPr lang="zh-CN" altLang="en-US" sz="8000" b="1" kern="100" dirty="0">
                <a:solidFill>
                  <a:prstClr val="white"/>
                </a:solidFill>
                <a:latin typeface="微软雅黑" panose="020B0503020204020204" charset="-122"/>
                <a:ea typeface="微软雅黑" panose="020B0503020204020204" charset="-122"/>
                <a:cs typeface="+mn-ea"/>
                <a:sym typeface="Source Han Sans SC"/>
              </a:rPr>
              <a:t>请老师批评指正！</a:t>
            </a:r>
            <a:endParaRPr lang="zh-CN" altLang="en-US" sz="8000" b="1" kern="100" dirty="0">
              <a:solidFill>
                <a:prstClr val="white"/>
              </a:solidFill>
              <a:latin typeface="微软雅黑" panose="020B0503020204020204" charset="-122"/>
              <a:ea typeface="微软雅黑" panose="020B0503020204020204" charset="-122"/>
              <a:cs typeface="+mn-ea"/>
              <a:sym typeface="Source Han Sans SC"/>
            </a:endParaRPr>
          </a:p>
        </p:txBody>
      </p:sp>
      <p:grpSp>
        <p:nvGrpSpPr>
          <p:cNvPr id="106" name="组合 18"/>
          <p:cNvGrpSpPr/>
          <p:nvPr/>
        </p:nvGrpSpPr>
        <p:grpSpPr>
          <a:xfrm>
            <a:off x="4552253" y="926274"/>
            <a:ext cx="3087810" cy="816709"/>
            <a:chOff x="4632728" y="981012"/>
            <a:chExt cx="3088382" cy="816860"/>
          </a:xfrm>
        </p:grpSpPr>
        <p:pic>
          <p:nvPicPr>
            <p:cNvPr id="2097180" name="Picture 2" descr="C:\Users\Asaskaa\Desktop\1.png"/>
            <p:cNvPicPr>
              <a:picLocks noChangeAspect="1" noChangeArrowheads="1"/>
            </p:cNvPicPr>
            <p:nvPr/>
          </p:nvPicPr>
          <p:blipFill rotWithShape="1">
            <a:blip r:embed="rId1" cstate="print"/>
            <a:srcRect l="13505" r="13805"/>
            <a:stretch>
              <a:fillRect/>
            </a:stretch>
          </p:blipFill>
          <p:spPr bwMode="auto">
            <a:xfrm>
              <a:off x="4632728" y="1053530"/>
              <a:ext cx="865967" cy="744342"/>
            </a:xfrm>
            <a:prstGeom prst="rect">
              <a:avLst/>
            </a:prstGeom>
            <a:noFill/>
          </p:spPr>
        </p:pic>
        <p:pic>
          <p:nvPicPr>
            <p:cNvPr id="2097181" name="Picture 3" descr="C:\Users\Asaskaa\Desktop\3.png"/>
            <p:cNvPicPr>
              <a:picLocks noChangeAspect="1" noChangeArrowheads="1"/>
            </p:cNvPicPr>
            <p:nvPr/>
          </p:nvPicPr>
          <p:blipFill rotWithShape="1">
            <a:blip r:embed="rId2" cstate="print"/>
            <a:srcRect l="31933" t="22857" r="9687" b="25687"/>
            <a:stretch>
              <a:fillRect/>
            </a:stretch>
          </p:blipFill>
          <p:spPr bwMode="auto">
            <a:xfrm>
              <a:off x="5498695" y="981012"/>
              <a:ext cx="2222415" cy="816860"/>
            </a:xfrm>
            <a:prstGeom prst="rect">
              <a:avLst/>
            </a:prstGeom>
            <a:noFill/>
          </p:spPr>
        </p:pic>
      </p:gr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64.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65.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66.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67.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68.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69.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0.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1.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2.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3.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4.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5.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6.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7.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8.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79.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80.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81.xml><?xml version="1.0" encoding="utf-8"?>
<p:tagLst xmlns:p="http://schemas.openxmlformats.org/presentationml/2006/main">
  <p:tag name="KSO_WM_DIAGRAM_VIRTUALLY_FRAME" val="{&quot;height&quot;:313.7010236220473,&quot;left&quot;:414.1340944881889,&quot;top&quot;:129.15448818897636,&quot;width&quot;:431.9014960629922}"/>
</p:tagLst>
</file>

<file path=ppt/tags/tag82.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83.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84.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85.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86.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87.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88.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89.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90.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91.xml><?xml version="1.0" encoding="utf-8"?>
<p:tagLst xmlns:p="http://schemas.openxmlformats.org/presentationml/2006/main">
  <p:tag name="KSO_WM_BEAUTIFY_FLAG" val=""/>
  <p:tag name="KSO_WM_DIAGRAM_VIRTUALLY_FRAME" val="{&quot;height&quot;:485.8425196850393,&quot;left&quot;:10.836141732283433,&quot;top&quot;:59.16370078740157,&quot;width&quot;:956.7477952755905}"/>
</p:tagLst>
</file>

<file path=ppt/tags/tag92.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93.xml><?xml version="1.0" encoding="utf-8"?>
<p:tagLst xmlns:p="http://schemas.openxmlformats.org/presentationml/2006/main">
  <p:tag name="KSO_WM_DIAGRAM_VIRTUALLY_FRAME" val="{&quot;height&quot;:485.8425196850393,&quot;left&quot;:10.836141732283433,&quot;top&quot;:59.16370078740157,&quot;width&quot;:956.7477952755905}"/>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TABLE_ENDDRAG_ORIGIN_RECT" val="370*365"/>
  <p:tag name="TABLE_ENDDRAG_RECT" val="116*101*370*365"/>
</p:tagLst>
</file>

<file path=ppt/tags/tag96.xml><?xml version="1.0" encoding="utf-8"?>
<p:tagLst xmlns:p="http://schemas.openxmlformats.org/presentationml/2006/main">
  <p:tag name="TABLE_ENDDRAG_ORIGIN_RECT" val="352*152"/>
  <p:tag name="TABLE_ENDDRAG_RECT" val="524*101*352*152"/>
</p:tagLst>
</file>

<file path=ppt/tags/tag97.xml><?xml version="1.0" encoding="utf-8"?>
<p:tagLst xmlns:p="http://schemas.openxmlformats.org/presentationml/2006/main">
  <p:tag name="TABLE_ENDDRAG_ORIGIN_RECT" val="352*159"/>
  <p:tag name="TABLE_ENDDRAG_RECT" val="524*306*352*159"/>
</p:tagLst>
</file>

<file path=ppt/tags/tag98.xml><?xml version="1.0" encoding="utf-8"?>
<p:tagLst xmlns:p="http://schemas.openxmlformats.org/presentationml/2006/main">
  <p:tag name="TABLE_ENDDRAG_ORIGIN_RECT" val="908*177"/>
  <p:tag name="TABLE_ENDDRAG_RECT" val="12*94*908*177"/>
</p:tagLst>
</file>

<file path=ppt/tags/tag99.xml><?xml version="1.0" encoding="utf-8"?>
<p:tagLst xmlns:p="http://schemas.openxmlformats.org/presentationml/2006/main">
  <p:tag name="TABLE_ENDDRAG_ORIGIN_RECT" val="908*177"/>
  <p:tag name="TABLE_ENDDRAG_RECT" val="12*94*908*177"/>
</p:tagLst>
</file>

<file path=ppt/tags/tag100.xml><?xml version="1.0" encoding="utf-8"?>
<p:tagLst xmlns:p="http://schemas.openxmlformats.org/presentationml/2006/main">
  <p:tag name="TABLE_ENDDRAG_ORIGIN_RECT" val="908*177"/>
  <p:tag name="TABLE_ENDDRAG_RECT" val="12*94*908*177"/>
</p:tagLst>
</file>

<file path=ppt/tags/tag101.xml><?xml version="1.0" encoding="utf-8"?>
<p:tagLst xmlns:p="http://schemas.openxmlformats.org/presentationml/2006/main">
  <p:tag name="KSO_WM_DIAGRAM_VIRTUALLY_FRAME" val="{&quot;height&quot;:253.75,&quot;left&quot;:23.587992125984254,&quot;top&quot;:52.478582677165356,&quot;width&quot;:446.22956692913385}"/>
</p:tagLst>
</file>

<file path=ppt/tags/tag102.xml><?xml version="1.0" encoding="utf-8"?>
<p:tagLst xmlns:p="http://schemas.openxmlformats.org/presentationml/2006/main">
  <p:tag name="KSO_WM_DIAGRAM_VIRTUALLY_FRAME" val="{&quot;height&quot;:253.75,&quot;left&quot;:23.587992125984254,&quot;top&quot;:52.478582677165356,&quot;width&quot;:446.22956692913385}"/>
</p:tagLst>
</file>

<file path=ppt/tags/tag103.xml><?xml version="1.0" encoding="utf-8"?>
<p:tagLst xmlns:p="http://schemas.openxmlformats.org/presentationml/2006/main">
  <p:tag name="KSO_WM_DIAGRAM_VIRTUALLY_FRAME" val="{&quot;height&quot;:253.75,&quot;left&quot;:23.587992125984254,&quot;top&quot;:52.478582677165356,&quot;width&quot;:446.22956692913385}"/>
</p:tagLst>
</file>

<file path=ppt/tags/tag104.xml><?xml version="1.0" encoding="utf-8"?>
<p:tagLst xmlns:p="http://schemas.openxmlformats.org/presentationml/2006/main">
  <p:tag name="TABLE_ENDDRAG_ORIGIN_RECT" val="909*256"/>
  <p:tag name="TABLE_ENDDRAG_RECT" val="10*161*909*256"/>
</p:tagLst>
</file>

<file path=ppt/tags/tag105.xml><?xml version="1.0" encoding="utf-8"?>
<p:tagLst xmlns:p="http://schemas.openxmlformats.org/presentationml/2006/main">
  <p:tag name="KSO_WM_DIAGRAM_VIRTUALLY_FRAME" val="{&quot;height&quot;:253.75,&quot;left&quot;:23.587992125984254,&quot;top&quot;:52.478582677165356,&quot;width&quot;:446.22956692913385}"/>
</p:tagLst>
</file>

<file path=ppt/tags/tag106.xml><?xml version="1.0" encoding="utf-8"?>
<p:tagLst xmlns:p="http://schemas.openxmlformats.org/presentationml/2006/main">
  <p:tag name="TABLE_ENDDRAG_ORIGIN_RECT" val="851*375"/>
  <p:tag name="TABLE_ENDDRAG_RECT" val="47*106*851*375"/>
</p:tagLst>
</file>

<file path=ppt/tags/tag107.xml><?xml version="1.0" encoding="utf-8"?>
<p:tagLst xmlns:p="http://schemas.openxmlformats.org/presentationml/2006/main">
  <p:tag name="commondata" val="eyJoZGlkIjoiZDAzM2YzODFiMTlhZWJlYThjOWJkOGM0NWI3MGI2MWE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10552</Words>
  <Application>WPS 演示</Application>
  <PresentationFormat/>
  <Paragraphs>682</Paragraphs>
  <Slides>21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21</vt:i4>
      </vt:variant>
    </vt:vector>
  </HeadingPairs>
  <TitlesOfParts>
    <vt:vector size="38" baseType="lpstr">
      <vt:lpstr>Arial</vt:lpstr>
      <vt:lpstr>宋体</vt:lpstr>
      <vt:lpstr>Wingdings</vt:lpstr>
      <vt:lpstr>Wingdings</vt:lpstr>
      <vt:lpstr>微软雅黑</vt:lpstr>
      <vt:lpstr>Helvetica</vt:lpstr>
      <vt:lpstr>思源黑体 CN Medium</vt:lpstr>
      <vt:lpstr>Source Han Sans SC</vt:lpstr>
      <vt:lpstr>Times New Roman</vt:lpstr>
      <vt:lpstr>微软雅黑 Light</vt:lpstr>
      <vt:lpstr>Arial Unicode MS</vt:lpstr>
      <vt:lpstr>Calibri</vt:lpstr>
      <vt:lpstr>黑体</vt:lpstr>
      <vt:lpstr>Times New Roman</vt:lpstr>
      <vt:lpstr>BatangChe</vt:lpstr>
      <vt:lpstr>Segoe Print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PHK110</dc:creator>
  <cp:lastModifiedBy>贰叁叁</cp:lastModifiedBy>
  <cp:revision>3</cp:revision>
  <dcterms:created xsi:type="dcterms:W3CDTF">2024-09-24T05:25:00Z</dcterms:created>
  <dcterms:modified xsi:type="dcterms:W3CDTF">2024-09-24T08:15:35Z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AFE4524B58384301847600E2615170E7_11</vt:lpwstr>
  </property>
</Properties>
</file>