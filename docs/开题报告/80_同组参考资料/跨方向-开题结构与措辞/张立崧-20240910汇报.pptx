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77" r:id="rId2"/>
    <p:sldId id="378" r:id="rId3"/>
    <p:sldId id="402" r:id="rId4"/>
    <p:sldId id="413" r:id="rId5"/>
    <p:sldId id="404" r:id="rId6"/>
    <p:sldId id="419" r:id="rId7"/>
    <p:sldId id="421" r:id="rId8"/>
    <p:sldId id="422" r:id="rId9"/>
    <p:sldId id="410" r:id="rId10"/>
    <p:sldId id="407" r:id="rId11"/>
    <p:sldId id="423" r:id="rId12"/>
    <p:sldId id="424" r:id="rId13"/>
    <p:sldId id="425" r:id="rId14"/>
    <p:sldId id="382" r:id="rId15"/>
    <p:sldId id="426" r:id="rId16"/>
    <p:sldId id="427" r:id="rId17"/>
    <p:sldId id="395"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73C7"/>
    <a:srgbClr val="4472C4"/>
    <a:srgbClr val="A1B8E1"/>
    <a:srgbClr val="8FAADC"/>
    <a:srgbClr val="537DC9"/>
    <a:srgbClr val="0057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103" autoAdjust="0"/>
  </p:normalViewPr>
  <p:slideViewPr>
    <p:cSldViewPr snapToGrid="0">
      <p:cViewPr>
        <p:scale>
          <a:sx n="100" d="100"/>
          <a:sy n="100" d="100"/>
        </p:scale>
        <p:origin x="248" y="1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BC15B5-40F8-4A7F-98CB-2D51263481B8}" type="datetimeFigureOut">
              <a:rPr lang="zh-CN" altLang="en-US" smtClean="0"/>
              <a:t>2024/9/9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4A5EAE-A164-4E2B-8D9F-58E5C93705BE}" type="slidenum">
              <a:rPr lang="zh-CN" altLang="en-US" smtClean="0"/>
              <a:t>‹#›</a:t>
            </a:fld>
            <a:endParaRPr lang="zh-CN" altLang="en-US"/>
          </a:p>
        </p:txBody>
      </p:sp>
    </p:spTree>
    <p:extLst>
      <p:ext uri="{BB962C8B-B14F-4D97-AF65-F5344CB8AC3E}">
        <p14:creationId xmlns:p14="http://schemas.microsoft.com/office/powerpoint/2010/main" val="893312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幻灯片图像占位符 1"/>
          <p:cNvSpPr>
            <a:spLocks noGrp="1" noRot="1" noChangeAspect="1"/>
          </p:cNvSpPr>
          <p:nvPr>
            <p:ph type="sldImg"/>
          </p:nvPr>
        </p:nvSpPr>
        <p:spPr/>
      </p:sp>
      <p:sp>
        <p:nvSpPr>
          <p:cNvPr id="104859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104859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5682C6-BE15-415E-9985-CDCE9943C8C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幻灯片图像占位符 1"/>
          <p:cNvSpPr>
            <a:spLocks noGrp="1" noRot="1" noChangeAspect="1"/>
          </p:cNvSpPr>
          <p:nvPr>
            <p:ph type="sldImg"/>
          </p:nvPr>
        </p:nvSpPr>
        <p:spPr/>
      </p:sp>
      <p:sp>
        <p:nvSpPr>
          <p:cNvPr id="1048616" name="备注占位符 2"/>
          <p:cNvSpPr>
            <a:spLocks noGrp="1"/>
          </p:cNvSpPr>
          <p:nvPr>
            <p:ph type="body" idx="1"/>
          </p:nvPr>
        </p:nvSpPr>
        <p:spPr/>
        <p:txBody>
          <a:bodyPr/>
          <a:lstStyle/>
          <a:p>
            <a:r>
              <a:rPr lang="zh-CN" altLang="en-US" dirty="0"/>
              <a:t>主要从以下五个方面展开介绍。</a:t>
            </a:r>
          </a:p>
        </p:txBody>
      </p:sp>
      <p:sp>
        <p:nvSpPr>
          <p:cNvPr id="1048617"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5682C6-BE15-415E-9985-CDCE9943C8CC}"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7260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b="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53848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78711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dirty="0">
              <a:solidFill>
                <a:srgbClr val="000000"/>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55331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dirty="0">
              <a:solidFill>
                <a:srgbClr val="000000"/>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11082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dirty="0">
              <a:solidFill>
                <a:srgbClr val="000000"/>
              </a:solidFill>
              <a:effectLst/>
              <a:latin typeface="+mn-ea"/>
              <a:cs typeface="Times New Roman" panose="02020603050405020304" pitchFamily="18" charset="0"/>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424720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73291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a:t>但是宽度学习一般是浅层模型，他的特征提取能力较差，因此</a:t>
                </a:r>
                <a:endParaRPr lang="en-US" altLang="zh-CN"/>
              </a:p>
              <a:p>
                <a:r>
                  <a:rPr lang="zh-CN" altLang="en-US"/>
                  <a:t>通过特征提取得到的特征通过映射节将输入数据映射到高维空间，提取输入数据的基础特征。映射节点帮助模型学习输入数据的全局特征，类似于神经网络中的隐藏层。</a:t>
                </a:r>
                <a:endParaRPr lang="en-US" altLang="zh-CN"/>
              </a:p>
              <a:p>
                <a:r>
                  <a:rPr lang="zh-CN" altLang="en-US"/>
                  <a:t>增强节点通过非线性变换进一步处理映射节点的输出，增强模型的非线性表达能力。</a:t>
                </a:r>
                <a:endParaRPr lang="en-US" altLang="zh-CN"/>
              </a:p>
              <a:p>
                <a:r>
                  <a:rPr lang="zh-CN" altLang="en-US"/>
                  <a:t>求解模型权重通过伪逆矩阵实现，能有效降低计算开销。</a:t>
                </a:r>
                <a:endParaRPr lang="en-US" altLang="zh-CN"/>
              </a:p>
              <a:p>
                <a:endParaRPr lang="en-US" altLang="zh-CN"/>
              </a:p>
              <a:p>
                <a:r>
                  <a:rPr lang="zh-CN" altLang="en-US"/>
                  <a:t>当新的数据或任务到达时，模型不会被重新训练，而是通过</a:t>
                </a:r>
                <a:r>
                  <a:rPr lang="zh-CN" altLang="en-US" b="1"/>
                  <a:t>增加新的映射节点和增强节点</a:t>
                </a:r>
                <a:r>
                  <a:rPr lang="zh-CN" altLang="en-US"/>
                  <a:t>来扩展现有的模型。</a:t>
                </a:r>
                <a:endParaRPr lang="en-US" altLang="zh-CN"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课题将离散空间的组合优化问题映射到连续空间继而进行求解</a:t>
                </a:r>
                <a:r>
                  <a:rPr lang="zh-CN" altLang="en-US" sz="1200" kern="1200" dirty="0">
                    <a:solidFill>
                      <a:schemeClr val="tx1"/>
                    </a:solidFill>
                    <a:effectLst/>
                    <a:latin typeface="+mn-lt"/>
                    <a:ea typeface="+mn-ea"/>
                    <a:cs typeface="+mn-cs"/>
                  </a:rPr>
                  <a:t>。首先是设计图表示学习算法。</a:t>
                </a:r>
                <a:r>
                  <a:rPr lang="zh-CN" altLang="zh-CN" sz="1200" kern="1200" dirty="0">
                    <a:solidFill>
                      <a:schemeClr val="tx1"/>
                    </a:solidFill>
                    <a:effectLst/>
                    <a:latin typeface="+mn-lt"/>
                    <a:ea typeface="+mn-ea"/>
                    <a:cs typeface="+mn-cs"/>
                  </a:rPr>
                  <a:t>考虑到图分割作为无监督任务的特殊性，课题计划设计轻量化的嵌入层，具体上包括以下两大组成部分：消息传递模块和节点分配模块。消息传递模块通过聚合邻居信息来更新自身节点的状态；节点分配模块将节点分配到不同的子图中。课题还应用</a:t>
                </a:r>
                <a:r>
                  <a:rPr lang="en-US" altLang="zh-CN" sz="1200" kern="1200" dirty="0">
                    <a:solidFill>
                      <a:schemeClr val="tx1"/>
                    </a:solidFill>
                    <a:effectLst/>
                    <a:latin typeface="+mn-lt"/>
                    <a:ea typeface="+mn-ea"/>
                    <a:cs typeface="+mn-cs"/>
                  </a:rPr>
                  <a:t>skip-connection</a:t>
                </a:r>
                <a:r>
                  <a:rPr lang="zh-CN" altLang="zh-CN" sz="1200" kern="1200" dirty="0">
                    <a:solidFill>
                      <a:schemeClr val="tx1"/>
                    </a:solidFill>
                    <a:effectLst/>
                    <a:latin typeface="+mn-lt"/>
                    <a:ea typeface="+mn-ea"/>
                    <a:cs typeface="+mn-cs"/>
                  </a:rPr>
                  <a:t>来增加层之间的通信以减小过量参数层的冗余，将结点映射为向量表示，并且尽可能多地保留图的拓扑信息。</a:t>
                </a:r>
              </a:p>
              <a:p>
                <a:r>
                  <a:rPr lang="zh-CN" altLang="zh-CN" sz="1200" kern="1200" dirty="0">
                    <a:solidFill>
                      <a:schemeClr val="tx1"/>
                    </a:solidFill>
                    <a:effectLst/>
                    <a:latin typeface="+mn-lt"/>
                    <a:ea typeface="+mn-ea"/>
                    <a:cs typeface="+mn-cs"/>
                  </a:rPr>
                  <a:t>课题将离散约束转为优化目标，并设计合适的无监督损失函数来指导模型的优化。课题需要针对图分割和逆图分割分别设计不同的凸性割损失</a:t>
                </a:r>
                <a:r>
                  <a:rPr lang="zh-CN" altLang="en-US" sz="1200" kern="1200" dirty="0">
                    <a:solidFill>
                      <a:schemeClr val="tx1"/>
                    </a:solidFill>
                    <a:effectLst/>
                    <a:latin typeface="+mn-lt"/>
                    <a:ea typeface="+mn-ea"/>
                    <a:cs typeface="+mn-cs"/>
                  </a:rPr>
                  <a:t>。同时</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由于</a:t>
                </a:r>
                <a:r>
                  <a:rPr lang="zh-CN" altLang="zh-CN" sz="1200" kern="1200" dirty="0">
                    <a:solidFill>
                      <a:schemeClr val="tx1"/>
                    </a:solidFill>
                    <a:effectLst/>
                    <a:latin typeface="+mn-lt"/>
                    <a:ea typeface="+mn-ea"/>
                    <a:cs typeface="+mn-cs"/>
                  </a:rPr>
                  <a:t>课题求解的为非平衡图分割问题，需着重设计合适的子图分配方式来对每一个子图施加不同约束。具体地，课题利用罚函数将非平衡的子图约束设计为正则损失，鼓励模型产生符合不平衡约束的结果。尤其注意地是，该正则损失需要在优化目标收敛前收敛，以确保分割产生的分配方案在满足内边最大</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最小化之前就已满足提前设定的非平衡约束。这要求其复杂度最好小于</a:t>
                </a:r>
                <a:r>
                  <a:rPr lang="en-US" altLang="zh-CN" sz="1200" i="0" kern="1200">
                    <a:solidFill>
                      <a:schemeClr val="tx1"/>
                    </a:solidFill>
                    <a:effectLst/>
                    <a:latin typeface="Cambria Math" panose="02040503050406030204" pitchFamily="18" charset="0"/>
                    <a:ea typeface="+mn-ea"/>
                    <a:cs typeface="+mn-cs"/>
                  </a:rPr>
                  <a:t>𝑂</a:t>
                </a:r>
                <a:r>
                  <a:rPr lang="zh-CN" altLang="zh-CN" sz="1200" i="0" kern="1200">
                    <a:solidFill>
                      <a:schemeClr val="tx1"/>
                    </a:solidFill>
                    <a:effectLst/>
                    <a:latin typeface="Cambria Math" panose="02040503050406030204" pitchFamily="18" charset="0"/>
                    <a:ea typeface="+mn-ea"/>
                    <a:cs typeface="+mn-cs"/>
                  </a:rPr>
                  <a:t>(</a:t>
                </a:r>
                <a:r>
                  <a:rPr lang="en-US" altLang="zh-CN" sz="1200" i="0" kern="1200">
                    <a:solidFill>
                      <a:schemeClr val="tx1"/>
                    </a:solidFill>
                    <a:effectLst/>
                    <a:latin typeface="Cambria Math" panose="02040503050406030204" pitchFamily="18" charset="0"/>
                    <a:ea typeface="+mn-ea"/>
                    <a:cs typeface="+mn-cs"/>
                  </a:rPr>
                  <a:t>𝐾(𝑀+𝑁))</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50737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a:t>域生成对抗网络在面对小样本场景时，算法效果受到局限，因此通过改进</a:t>
                </a:r>
                <a:r>
                  <a:rPr lang="en-US" altLang="zh-CN"/>
                  <a:t>DANN</a:t>
                </a:r>
                <a:r>
                  <a:rPr lang="zh-CN" altLang="en-US"/>
                  <a:t>，</a:t>
                </a:r>
                <a:endParaRPr lang="en-US" altLang="zh-CN"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课题将离散空间的组合优化问题映射到连续空间继而进行求解</a:t>
                </a:r>
                <a:r>
                  <a:rPr lang="zh-CN" altLang="en-US" sz="1200" kern="1200" dirty="0">
                    <a:solidFill>
                      <a:schemeClr val="tx1"/>
                    </a:solidFill>
                    <a:effectLst/>
                    <a:latin typeface="+mn-lt"/>
                    <a:ea typeface="+mn-ea"/>
                    <a:cs typeface="+mn-cs"/>
                  </a:rPr>
                  <a:t>。首先是设计图表示学习算法。</a:t>
                </a:r>
                <a:r>
                  <a:rPr lang="zh-CN" altLang="zh-CN" sz="1200" kern="1200" dirty="0">
                    <a:solidFill>
                      <a:schemeClr val="tx1"/>
                    </a:solidFill>
                    <a:effectLst/>
                    <a:latin typeface="+mn-lt"/>
                    <a:ea typeface="+mn-ea"/>
                    <a:cs typeface="+mn-cs"/>
                  </a:rPr>
                  <a:t>考虑到图分割作为无监督任务的特殊性，课题计划设计轻量化的嵌入层，具体上包括以下两大组成部分：消息传递模块和节点分配模块。消息传递模块通过聚合邻居信息来更新自身节点的状态；节点分配模块将节点分配到不同的子图中。课题还应用</a:t>
                </a:r>
                <a:r>
                  <a:rPr lang="en-US" altLang="zh-CN" sz="1200" kern="1200" dirty="0">
                    <a:solidFill>
                      <a:schemeClr val="tx1"/>
                    </a:solidFill>
                    <a:effectLst/>
                    <a:latin typeface="+mn-lt"/>
                    <a:ea typeface="+mn-ea"/>
                    <a:cs typeface="+mn-cs"/>
                  </a:rPr>
                  <a:t>skip-connection</a:t>
                </a:r>
                <a:r>
                  <a:rPr lang="zh-CN" altLang="zh-CN" sz="1200" kern="1200" dirty="0">
                    <a:solidFill>
                      <a:schemeClr val="tx1"/>
                    </a:solidFill>
                    <a:effectLst/>
                    <a:latin typeface="+mn-lt"/>
                    <a:ea typeface="+mn-ea"/>
                    <a:cs typeface="+mn-cs"/>
                  </a:rPr>
                  <a:t>来增加层之间的通信以减小过量参数层的冗余，将结点映射为向量表示，并且尽可能多地保留图的拓扑信息。</a:t>
                </a:r>
              </a:p>
              <a:p>
                <a:r>
                  <a:rPr lang="zh-CN" altLang="zh-CN" sz="1200" kern="1200" dirty="0">
                    <a:solidFill>
                      <a:schemeClr val="tx1"/>
                    </a:solidFill>
                    <a:effectLst/>
                    <a:latin typeface="+mn-lt"/>
                    <a:ea typeface="+mn-ea"/>
                    <a:cs typeface="+mn-cs"/>
                  </a:rPr>
                  <a:t>课题将离散约束转为优化目标，并设计合适的无监督损失函数来指导模型的优化。课题需要针对图分割和逆图分割分别设计不同的凸性割损失</a:t>
                </a:r>
                <a:r>
                  <a:rPr lang="zh-CN" altLang="en-US" sz="1200" kern="1200" dirty="0">
                    <a:solidFill>
                      <a:schemeClr val="tx1"/>
                    </a:solidFill>
                    <a:effectLst/>
                    <a:latin typeface="+mn-lt"/>
                    <a:ea typeface="+mn-ea"/>
                    <a:cs typeface="+mn-cs"/>
                  </a:rPr>
                  <a:t>。同时</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由于</a:t>
                </a:r>
                <a:r>
                  <a:rPr lang="zh-CN" altLang="zh-CN" sz="1200" kern="1200" dirty="0">
                    <a:solidFill>
                      <a:schemeClr val="tx1"/>
                    </a:solidFill>
                    <a:effectLst/>
                    <a:latin typeface="+mn-lt"/>
                    <a:ea typeface="+mn-ea"/>
                    <a:cs typeface="+mn-cs"/>
                  </a:rPr>
                  <a:t>课题求解的为非平衡图分割问题，需着重设计合适的子图分配方式来对每一个子图施加不同约束。具体地，课题利用罚函数将非平衡的子图约束设计为正则损失，鼓励模型产生符合不平衡约束的结果。尤其注意地是，该正则损失需要在优化目标收敛前收敛，以确保分割产生的分配方案在满足内边最大</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最小化之前就已满足提前设定的非平衡约束。这要求其复杂度最好小于</a:t>
                </a:r>
                <a:r>
                  <a:rPr lang="en-US" altLang="zh-CN" sz="1200" i="0" kern="1200">
                    <a:solidFill>
                      <a:schemeClr val="tx1"/>
                    </a:solidFill>
                    <a:effectLst/>
                    <a:latin typeface="Cambria Math" panose="02040503050406030204" pitchFamily="18" charset="0"/>
                    <a:ea typeface="+mn-ea"/>
                    <a:cs typeface="+mn-cs"/>
                  </a:rPr>
                  <a:t>𝑂</a:t>
                </a:r>
                <a:r>
                  <a:rPr lang="zh-CN" altLang="zh-CN" sz="1200" i="0" kern="1200">
                    <a:solidFill>
                      <a:schemeClr val="tx1"/>
                    </a:solidFill>
                    <a:effectLst/>
                    <a:latin typeface="Cambria Math" panose="02040503050406030204" pitchFamily="18" charset="0"/>
                    <a:ea typeface="+mn-ea"/>
                    <a:cs typeface="+mn-cs"/>
                  </a:rPr>
                  <a:t>(</a:t>
                </a:r>
                <a:r>
                  <a:rPr lang="en-US" altLang="zh-CN" sz="1200" i="0" kern="1200">
                    <a:solidFill>
                      <a:schemeClr val="tx1"/>
                    </a:solidFill>
                    <a:effectLst/>
                    <a:latin typeface="Cambria Math" panose="02040503050406030204" pitchFamily="18" charset="0"/>
                    <a:ea typeface="+mn-ea"/>
                    <a:cs typeface="+mn-cs"/>
                  </a:rPr>
                  <a:t>𝐾(𝑀+𝑁))</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60531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a:t>研究内容三的方法是基于原型网络展开的，</a:t>
                </a:r>
                <a:endParaRPr lang="en-US" altLang="zh-CN"/>
              </a:p>
              <a:p>
                <a:endParaRPr lang="en-US" altLang="zh-CN"/>
              </a:p>
              <a:p>
                <a:r>
                  <a:rPr lang="zh-CN" altLang="en-US"/>
                  <a:t>此外在增量阶段还考虑使用前面的数据增强和扩展节点的方法，进一步提升在小样本增量场景下的故障诊断准确率</a:t>
                </a:r>
                <a:endParaRPr lang="en-US" altLang="zh-CN"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课题将离散空间的组合优化问题映射到连续空间继而进行求解</a:t>
                </a:r>
                <a:r>
                  <a:rPr lang="zh-CN" altLang="en-US" sz="1200" kern="1200" dirty="0">
                    <a:solidFill>
                      <a:schemeClr val="tx1"/>
                    </a:solidFill>
                    <a:effectLst/>
                    <a:latin typeface="+mn-lt"/>
                    <a:ea typeface="+mn-ea"/>
                    <a:cs typeface="+mn-cs"/>
                  </a:rPr>
                  <a:t>。首先是设计图表示学习算法。</a:t>
                </a:r>
                <a:r>
                  <a:rPr lang="zh-CN" altLang="zh-CN" sz="1200" kern="1200" dirty="0">
                    <a:solidFill>
                      <a:schemeClr val="tx1"/>
                    </a:solidFill>
                    <a:effectLst/>
                    <a:latin typeface="+mn-lt"/>
                    <a:ea typeface="+mn-ea"/>
                    <a:cs typeface="+mn-cs"/>
                  </a:rPr>
                  <a:t>考虑到图分割作为无监督任务的特殊性，课题计划设计轻量化的嵌入层，具体上包括以下两大组成部分：消息传递模块和节点分配模块。消息传递模块通过聚合邻居信息来更新自身节点的状态；节点分配模块将节点分配到不同的子图中。课题还应用</a:t>
                </a:r>
                <a:r>
                  <a:rPr lang="en-US" altLang="zh-CN" sz="1200" kern="1200" dirty="0">
                    <a:solidFill>
                      <a:schemeClr val="tx1"/>
                    </a:solidFill>
                    <a:effectLst/>
                    <a:latin typeface="+mn-lt"/>
                    <a:ea typeface="+mn-ea"/>
                    <a:cs typeface="+mn-cs"/>
                  </a:rPr>
                  <a:t>skip-connection</a:t>
                </a:r>
                <a:r>
                  <a:rPr lang="zh-CN" altLang="zh-CN" sz="1200" kern="1200" dirty="0">
                    <a:solidFill>
                      <a:schemeClr val="tx1"/>
                    </a:solidFill>
                    <a:effectLst/>
                    <a:latin typeface="+mn-lt"/>
                    <a:ea typeface="+mn-ea"/>
                    <a:cs typeface="+mn-cs"/>
                  </a:rPr>
                  <a:t>来增加层之间的通信以减小过量参数层的冗余，将结点映射为向量表示，并且尽可能多地保留图的拓扑信息。</a:t>
                </a:r>
              </a:p>
              <a:p>
                <a:r>
                  <a:rPr lang="zh-CN" altLang="zh-CN" sz="1200" kern="1200" dirty="0">
                    <a:solidFill>
                      <a:schemeClr val="tx1"/>
                    </a:solidFill>
                    <a:effectLst/>
                    <a:latin typeface="+mn-lt"/>
                    <a:ea typeface="+mn-ea"/>
                    <a:cs typeface="+mn-cs"/>
                  </a:rPr>
                  <a:t>课题将离散约束转为优化目标，并设计合适的无监督损失函数来指导模型的优化。课题需要针对图分割和逆图分割分别设计不同的凸性割损失</a:t>
                </a:r>
                <a:r>
                  <a:rPr lang="zh-CN" altLang="en-US" sz="1200" kern="1200" dirty="0">
                    <a:solidFill>
                      <a:schemeClr val="tx1"/>
                    </a:solidFill>
                    <a:effectLst/>
                    <a:latin typeface="+mn-lt"/>
                    <a:ea typeface="+mn-ea"/>
                    <a:cs typeface="+mn-cs"/>
                  </a:rPr>
                  <a:t>。同时</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由于</a:t>
                </a:r>
                <a:r>
                  <a:rPr lang="zh-CN" altLang="zh-CN" sz="1200" kern="1200" dirty="0">
                    <a:solidFill>
                      <a:schemeClr val="tx1"/>
                    </a:solidFill>
                    <a:effectLst/>
                    <a:latin typeface="+mn-lt"/>
                    <a:ea typeface="+mn-ea"/>
                    <a:cs typeface="+mn-cs"/>
                  </a:rPr>
                  <a:t>课题求解的为非平衡图分割问题，需着重设计合适的子图分配方式来对每一个子图施加不同约束。具体地，课题利用罚函数将非平衡的子图约束设计为正则损失，鼓励模型产生符合不平衡约束的结果。尤其注意地是，该正则损失需要在优化目标收敛前收敛，以确保分割产生的分配方案在满足内边最大</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最小化之前就已满足提前设定的非平衡约束。这要求其复杂度最好小于</a:t>
                </a:r>
                <a:r>
                  <a:rPr lang="en-US" altLang="zh-CN" sz="1200" i="0" kern="1200">
                    <a:solidFill>
                      <a:schemeClr val="tx1"/>
                    </a:solidFill>
                    <a:effectLst/>
                    <a:latin typeface="Cambria Math" panose="02040503050406030204" pitchFamily="18" charset="0"/>
                    <a:ea typeface="+mn-ea"/>
                    <a:cs typeface="+mn-cs"/>
                  </a:rPr>
                  <a:t>𝑂</a:t>
                </a:r>
                <a:r>
                  <a:rPr lang="zh-CN" altLang="zh-CN" sz="1200" i="0" kern="1200">
                    <a:solidFill>
                      <a:schemeClr val="tx1"/>
                    </a:solidFill>
                    <a:effectLst/>
                    <a:latin typeface="Cambria Math" panose="02040503050406030204" pitchFamily="18" charset="0"/>
                    <a:ea typeface="+mn-ea"/>
                    <a:cs typeface="+mn-cs"/>
                  </a:rPr>
                  <a:t>(</a:t>
                </a:r>
                <a:r>
                  <a:rPr lang="en-US" altLang="zh-CN" sz="1200" i="0" kern="1200">
                    <a:solidFill>
                      <a:schemeClr val="tx1"/>
                    </a:solidFill>
                    <a:effectLst/>
                    <a:latin typeface="Cambria Math" panose="02040503050406030204" pitchFamily="18" charset="0"/>
                    <a:ea typeface="+mn-ea"/>
                    <a:cs typeface="+mn-cs"/>
                  </a:rPr>
                  <a:t>𝐾(𝑀+𝑁))</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4886259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en-US" altLang="zh-CN" dirty="0"/>
              </a:p>
            </p:txBody>
          </p:sp>
        </mc:Choice>
        <mc:Fallback xmlns="">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课题将离散空间的组合优化问题映射到连续空间继而进行求解</a:t>
                </a:r>
                <a:r>
                  <a:rPr lang="zh-CN" altLang="en-US" sz="1200" kern="1200" dirty="0">
                    <a:solidFill>
                      <a:schemeClr val="tx1"/>
                    </a:solidFill>
                    <a:effectLst/>
                    <a:latin typeface="+mn-lt"/>
                    <a:ea typeface="+mn-ea"/>
                    <a:cs typeface="+mn-cs"/>
                  </a:rPr>
                  <a:t>。首先是设计图表示学习算法。</a:t>
                </a:r>
                <a:r>
                  <a:rPr lang="zh-CN" altLang="zh-CN" sz="1200" kern="1200" dirty="0">
                    <a:solidFill>
                      <a:schemeClr val="tx1"/>
                    </a:solidFill>
                    <a:effectLst/>
                    <a:latin typeface="+mn-lt"/>
                    <a:ea typeface="+mn-ea"/>
                    <a:cs typeface="+mn-cs"/>
                  </a:rPr>
                  <a:t>考虑到图分割作为无监督任务的特殊性，课题计划设计轻量化的嵌入层，具体上包括以下两大组成部分：消息传递模块和节点分配模块。消息传递模块通过聚合邻居信息来更新自身节点的状态；节点分配模块将节点分配到不同的子图中。课题还应用</a:t>
                </a:r>
                <a:r>
                  <a:rPr lang="en-US" altLang="zh-CN" sz="1200" kern="1200" dirty="0">
                    <a:solidFill>
                      <a:schemeClr val="tx1"/>
                    </a:solidFill>
                    <a:effectLst/>
                    <a:latin typeface="+mn-lt"/>
                    <a:ea typeface="+mn-ea"/>
                    <a:cs typeface="+mn-cs"/>
                  </a:rPr>
                  <a:t>skip-connection</a:t>
                </a:r>
                <a:r>
                  <a:rPr lang="zh-CN" altLang="zh-CN" sz="1200" kern="1200" dirty="0">
                    <a:solidFill>
                      <a:schemeClr val="tx1"/>
                    </a:solidFill>
                    <a:effectLst/>
                    <a:latin typeface="+mn-lt"/>
                    <a:ea typeface="+mn-ea"/>
                    <a:cs typeface="+mn-cs"/>
                  </a:rPr>
                  <a:t>来增加层之间的通信以减小过量参数层的冗余，将结点映射为向量表示，并且尽可能多地保留图的拓扑信息。</a:t>
                </a:r>
              </a:p>
              <a:p>
                <a:r>
                  <a:rPr lang="zh-CN" altLang="zh-CN" sz="1200" kern="1200" dirty="0">
                    <a:solidFill>
                      <a:schemeClr val="tx1"/>
                    </a:solidFill>
                    <a:effectLst/>
                    <a:latin typeface="+mn-lt"/>
                    <a:ea typeface="+mn-ea"/>
                    <a:cs typeface="+mn-cs"/>
                  </a:rPr>
                  <a:t>课题将离散约束转为优化目标，并设计合适的无监督损失函数来指导模型的优化。课题需要针对图分割和逆图分割分别设计不同的凸性割损失</a:t>
                </a:r>
                <a:r>
                  <a:rPr lang="zh-CN" altLang="en-US" sz="1200" kern="1200" dirty="0">
                    <a:solidFill>
                      <a:schemeClr val="tx1"/>
                    </a:solidFill>
                    <a:effectLst/>
                    <a:latin typeface="+mn-lt"/>
                    <a:ea typeface="+mn-ea"/>
                    <a:cs typeface="+mn-cs"/>
                  </a:rPr>
                  <a:t>。同时</a:t>
                </a:r>
                <a:r>
                  <a:rPr lang="zh-CN"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由于</a:t>
                </a:r>
                <a:r>
                  <a:rPr lang="zh-CN" altLang="zh-CN" sz="1200" kern="1200" dirty="0">
                    <a:solidFill>
                      <a:schemeClr val="tx1"/>
                    </a:solidFill>
                    <a:effectLst/>
                    <a:latin typeface="+mn-lt"/>
                    <a:ea typeface="+mn-ea"/>
                    <a:cs typeface="+mn-cs"/>
                  </a:rPr>
                  <a:t>课题求解的为非平衡图分割问题，需着重设计合适的子图分配方式来对每一个子图施加不同约束。具体地，课题利用罚函数将非平衡的子图约束设计为正则损失，鼓励模型产生符合不平衡约束的结果。尤其注意地是，该正则损失需要在优化目标收敛前收敛，以确保分割产生的分配方案在满足内边最大</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最小化之前就已满足提前设定的非平衡约束。这要求其复杂度最好小于</a:t>
                </a:r>
                <a:r>
                  <a:rPr lang="en-US" altLang="zh-CN" sz="1200" i="0" kern="1200">
                    <a:solidFill>
                      <a:schemeClr val="tx1"/>
                    </a:solidFill>
                    <a:effectLst/>
                    <a:latin typeface="Cambria Math" panose="02040503050406030204" pitchFamily="18" charset="0"/>
                    <a:ea typeface="+mn-ea"/>
                    <a:cs typeface="+mn-cs"/>
                  </a:rPr>
                  <a:t>𝑂</a:t>
                </a:r>
                <a:r>
                  <a:rPr lang="zh-CN" altLang="zh-CN" sz="1200" i="0" kern="1200">
                    <a:solidFill>
                      <a:schemeClr val="tx1"/>
                    </a:solidFill>
                    <a:effectLst/>
                    <a:latin typeface="Cambria Math" panose="02040503050406030204" pitchFamily="18" charset="0"/>
                    <a:ea typeface="+mn-ea"/>
                    <a:cs typeface="+mn-cs"/>
                  </a:rPr>
                  <a:t>(</a:t>
                </a:r>
                <a:r>
                  <a:rPr lang="en-US" altLang="zh-CN" sz="1200" i="0" kern="1200">
                    <a:solidFill>
                      <a:schemeClr val="tx1"/>
                    </a:solidFill>
                    <a:effectLst/>
                    <a:latin typeface="Cambria Math" panose="02040503050406030204" pitchFamily="18" charset="0"/>
                    <a:ea typeface="+mn-ea"/>
                    <a:cs typeface="+mn-cs"/>
                  </a:rPr>
                  <a:t>𝐾(𝑀+𝑁))</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696632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最后是工作计划，以两个月为周期，完成本课题的各项相关工作。</a:t>
            </a:r>
            <a:endParaRPr lang="en-US" altLang="zh-CN" dirty="0"/>
          </a:p>
          <a:p>
            <a:r>
              <a:rPr lang="zh-CN" altLang="en-US" dirty="0"/>
              <a:t>并发表学术论文</a:t>
            </a:r>
            <a:r>
              <a:rPr lang="en-US" altLang="zh-CN" dirty="0"/>
              <a:t>1</a:t>
            </a:r>
            <a:r>
              <a:rPr lang="zh-CN" altLang="en-US" dirty="0"/>
              <a:t>篇，申请专利或软著</a:t>
            </a:r>
            <a:r>
              <a:rPr lang="en-US" altLang="zh-CN" dirty="0"/>
              <a:t>1</a:t>
            </a:r>
            <a:r>
              <a:rPr lang="zh-CN" altLang="en-US" dirty="0"/>
              <a:t>项。</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最后是工作计划，以两个月为周期，完成本课题的各项相关工作。</a:t>
            </a:r>
            <a:endParaRPr lang="en-US" altLang="zh-CN" dirty="0"/>
          </a:p>
          <a:p>
            <a:r>
              <a:rPr lang="zh-CN" altLang="en-US" dirty="0"/>
              <a:t>并发表学术论文</a:t>
            </a:r>
            <a:r>
              <a:rPr lang="en-US" altLang="zh-CN" dirty="0"/>
              <a:t>1</a:t>
            </a:r>
            <a:r>
              <a:rPr lang="zh-CN" altLang="en-US" dirty="0"/>
              <a:t>篇，申请专利或软著</a:t>
            </a:r>
            <a:r>
              <a:rPr lang="en-US" altLang="zh-CN" dirty="0"/>
              <a:t>1</a:t>
            </a:r>
            <a:r>
              <a:rPr lang="zh-CN" altLang="en-US" dirty="0"/>
              <a:t>项。</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89384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最后是工作计划，以两个月为周期，完成本课题的各项相关工作。</a:t>
            </a:r>
            <a:endParaRPr lang="en-US" altLang="zh-CN" dirty="0"/>
          </a:p>
          <a:p>
            <a:r>
              <a:rPr lang="zh-CN" altLang="en-US" dirty="0"/>
              <a:t>并发表学术论文</a:t>
            </a:r>
            <a:r>
              <a:rPr lang="en-US" altLang="zh-CN" dirty="0"/>
              <a:t>1</a:t>
            </a:r>
            <a:r>
              <a:rPr lang="zh-CN" altLang="en-US" dirty="0"/>
              <a:t>篇，申请专利或软著</a:t>
            </a:r>
            <a:r>
              <a:rPr lang="en-US" altLang="zh-CN" dirty="0"/>
              <a:t>1</a:t>
            </a:r>
            <a:r>
              <a:rPr lang="zh-CN" altLang="en-US" dirty="0"/>
              <a:t>项。</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28483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以上是我的汇报，请各位老师批评指正。</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07986D-F706-410A-B33E-BA3BFED2BC85}"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91188E-9DC0-48F8-E54E-081C87B0392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C1EFA7A-C324-467A-52F6-181DE8F33E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A577FED-017B-81D1-A2BC-4CE65E3EF50D}"/>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29D96A02-B859-26CF-6F49-4868C844FA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D4B552A-D39D-14E4-DB12-7BE463EC9F44}"/>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3483608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3A8600-EB7F-0929-9A2A-75502C1A30A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DBB479D-CEDD-D747-C969-289A557C08B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39B4152-B6C4-28FD-E0C8-17CF7827FDCA}"/>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C944B6C2-600E-3375-EDB3-909C278E989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672636A-169A-B8A7-D912-0B95B2656E31}"/>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1699503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11CFF1-1F38-74F0-B129-AAE0F2A6E13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AF76FD7-1590-E3DC-A81D-D441CDEFB1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00EAF54-DB4C-29A5-0F8D-7FA9AFF7BE55}"/>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14AC9BBE-B2B4-4B42-AEE6-39A3F986F30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E656D49-33B1-BFA3-5E9D-C8B7A36B6935}"/>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3034723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43ED8E-F9C2-9CEF-155C-6AC01F7A8EB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77F8BB6-655C-70B7-F2E1-24A4CB7E811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13C07A4-5AE1-1133-5422-D6C2651D590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EC8708A-475B-37CE-4627-CF702998B764}"/>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6" name="页脚占位符 5">
            <a:extLst>
              <a:ext uri="{FF2B5EF4-FFF2-40B4-BE49-F238E27FC236}">
                <a16:creationId xmlns:a16="http://schemas.microsoft.com/office/drawing/2014/main" id="{8526EFD6-87ED-B80C-50E5-D74FE89B61A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ED73049-04E1-364C-4B29-5D00A9FD9BA1}"/>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2854875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0AB1AF-FF0F-7E30-712E-009EC62CBB4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425F04F3-7D48-0953-DD73-0B6959CC56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E2EDEA8-5D4D-826C-DE2B-54DA0D5F258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A84DDA9-0EF5-10A7-22E4-4E526911FA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19A3094-1AA4-D3FC-6155-A7AFAD25C3B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85F1031-0412-6607-F248-0BD38FA3C7D1}"/>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8" name="页脚占位符 7">
            <a:extLst>
              <a:ext uri="{FF2B5EF4-FFF2-40B4-BE49-F238E27FC236}">
                <a16:creationId xmlns:a16="http://schemas.microsoft.com/office/drawing/2014/main" id="{64BA3C0D-2028-EEF2-6234-5CD3E9CE43E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AE316B3-6DF7-2923-49ED-DADFE1E01F47}"/>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3430264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15150A-D913-2F03-724C-533F2979388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6B8FF94F-DD44-8561-ECDE-F59BC7F9C756}"/>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4" name="页脚占位符 3">
            <a:extLst>
              <a:ext uri="{FF2B5EF4-FFF2-40B4-BE49-F238E27FC236}">
                <a16:creationId xmlns:a16="http://schemas.microsoft.com/office/drawing/2014/main" id="{644082FB-2D37-458A-AF3F-2C821EBE457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3C2F782-233D-4B37-1E63-E4BE9AEBBB87}"/>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122214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1444461-9A8D-4B04-37A5-8108702BEF57}"/>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3" name="页脚占位符 2">
            <a:extLst>
              <a:ext uri="{FF2B5EF4-FFF2-40B4-BE49-F238E27FC236}">
                <a16:creationId xmlns:a16="http://schemas.microsoft.com/office/drawing/2014/main" id="{2056E0EE-2C0D-4A4F-E84B-FB62958DDE8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FB838C7-E545-EAF5-2173-6D354DA99C1D}"/>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2589725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3FB356-C6E9-5882-F9E9-1690D8DBA51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E2CFA0C-42C2-9FA0-336D-D2C5E6BB48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CB14224-B5DC-526F-6C49-F9BA0A1C27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B2C46C4-E68D-9783-B54B-BCFF977B1E5C}"/>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6" name="页脚占位符 5">
            <a:extLst>
              <a:ext uri="{FF2B5EF4-FFF2-40B4-BE49-F238E27FC236}">
                <a16:creationId xmlns:a16="http://schemas.microsoft.com/office/drawing/2014/main" id="{536B4D2B-80F3-F59E-E57D-FD4F336EA06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01F6F85-635B-DD9D-6E15-68E548A1DF78}"/>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3462177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0B9496-D1E9-B4E5-2E26-59F2C6C6634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AF4C96E-F357-4B5D-D351-E311892BE5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A441B87-35B8-43E9-6078-776CAD31C7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B0247F3-63E8-EA41-7857-74BC8858B737}"/>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6" name="页脚占位符 5">
            <a:extLst>
              <a:ext uri="{FF2B5EF4-FFF2-40B4-BE49-F238E27FC236}">
                <a16:creationId xmlns:a16="http://schemas.microsoft.com/office/drawing/2014/main" id="{24E39782-8FDA-EE76-C310-1C5B6E32FE2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EB2EBA-6262-101D-6341-1448BA5A3454}"/>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63242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A8C926-DF1E-CA54-9217-88C34863555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BC2BA47-788C-246D-A531-8C6DB6CC0CE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0832CD6-C122-49DA-2E9A-B5B8F01A5182}"/>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1CFEA7E5-1E61-20A4-E4D9-72B34DE984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5F747DC-A58F-1B15-8BDC-78E92E0B8FE2}"/>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530369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466C6C-573C-9D5F-5652-CACFA33F14D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340B56D-51A2-61F4-452D-2EBB81F8EFC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498CF99-802B-3A55-7CCA-F5FB763F42CF}"/>
              </a:ext>
            </a:extLst>
          </p:cNvPr>
          <p:cNvSpPr>
            <a:spLocks noGrp="1"/>
          </p:cNvSpPr>
          <p:nvPr>
            <p:ph type="dt" sz="half" idx="10"/>
          </p:nvPr>
        </p:nvSpPr>
        <p:spPr/>
        <p:txBody>
          <a:bodyPr/>
          <a:lstStyle/>
          <a:p>
            <a:fld id="{0AC407D6-4783-48AC-9896-4C9C5E31F18E}"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60FB22DD-A2D5-04B4-666D-295585E605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D54F31-CCBC-F875-50FF-27D172818A8A}"/>
              </a:ext>
            </a:extLst>
          </p:cNvPr>
          <p:cNvSpPr>
            <a:spLocks noGrp="1"/>
          </p:cNvSpPr>
          <p:nvPr>
            <p:ph type="sldNum" sz="quarter" idx="12"/>
          </p:nvPr>
        </p:nvSpPr>
        <p:spPr/>
        <p:txBody>
          <a:body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943010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EB075C2-9CC4-BB23-8F5F-CB7F34F0C8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F13CFB8-9B00-8B1A-A99C-C0120CA1EB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6CA52F9-7220-BE31-111C-CFEB8EB80A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C407D6-4783-48AC-9896-4C9C5E31F18E}"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0775ECC2-F175-039E-F6BA-9EE2C77BA3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B4B3886-E2EB-5A9B-6171-3E42C3FC69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27CF21-8945-434D-BE9D-8A4DFB730D18}" type="slidenum">
              <a:rPr lang="zh-CN" altLang="en-US" smtClean="0"/>
              <a:t>‹#›</a:t>
            </a:fld>
            <a:endParaRPr lang="zh-CN" altLang="en-US"/>
          </a:p>
        </p:txBody>
      </p:sp>
    </p:spTree>
    <p:extLst>
      <p:ext uri="{BB962C8B-B14F-4D97-AF65-F5344CB8AC3E}">
        <p14:creationId xmlns:p14="http://schemas.microsoft.com/office/powerpoint/2010/main" val="682661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矩形 11"/>
          <p:cNvSpPr/>
          <p:nvPr/>
        </p:nvSpPr>
        <p:spPr>
          <a:xfrm>
            <a:off x="0" y="4161182"/>
            <a:ext cx="12192000" cy="1815548"/>
          </a:xfrm>
          <a:prstGeom prst="rect">
            <a:avLst/>
          </a:prstGeom>
          <a:solidFill>
            <a:srgbClr val="005B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48587" name="文本框 12"/>
          <p:cNvSpPr txBox="1"/>
          <p:nvPr/>
        </p:nvSpPr>
        <p:spPr>
          <a:xfrm>
            <a:off x="2085684" y="1897343"/>
            <a:ext cx="8020631"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a:ln>
                  <a:noFill/>
                </a:ln>
                <a:solidFill>
                  <a:srgbClr val="0054A6"/>
                </a:solidFill>
                <a:effectLst/>
                <a:uLnTx/>
                <a:uFillTx/>
                <a:latin typeface="幼圆" panose="02010509060101010101" pitchFamily="49" charset="-122"/>
                <a:ea typeface="幼圆" panose="02010509060101010101" pitchFamily="49" charset="-122"/>
                <a:cs typeface="+mn-cs"/>
              </a:rPr>
              <a:t>基于增量学习和小样本迁移学习的故障诊断方法研究</a:t>
            </a:r>
            <a:endParaRPr kumimoji="0" lang="zh-CN" altLang="en-US" sz="4400" b="1" i="0" u="none" strike="noStrike" kern="1200" cap="none" spc="0" normalizeH="0" baseline="0" noProof="0" dirty="0">
              <a:ln>
                <a:noFill/>
              </a:ln>
              <a:solidFill>
                <a:srgbClr val="0054A6"/>
              </a:solidFill>
              <a:effectLst/>
              <a:uLnTx/>
              <a:uFillTx/>
              <a:latin typeface="幼圆" panose="02010509060101010101" pitchFamily="49" charset="-122"/>
              <a:ea typeface="幼圆" panose="02010509060101010101" pitchFamily="49" charset="-122"/>
              <a:cs typeface="+mn-cs"/>
            </a:endParaRPr>
          </a:p>
        </p:txBody>
      </p:sp>
      <p:grpSp>
        <p:nvGrpSpPr>
          <p:cNvPr id="27" name="组合 21"/>
          <p:cNvGrpSpPr/>
          <p:nvPr/>
        </p:nvGrpSpPr>
        <p:grpSpPr>
          <a:xfrm>
            <a:off x="3123295" y="4861002"/>
            <a:ext cx="6504040" cy="408009"/>
            <a:chOff x="3123295" y="4861002"/>
            <a:chExt cx="6504040" cy="408009"/>
          </a:xfrm>
        </p:grpSpPr>
        <p:sp>
          <p:nvSpPr>
            <p:cNvPr id="1048588" name="文本框 13"/>
            <p:cNvSpPr txBox="1"/>
            <p:nvPr/>
          </p:nvSpPr>
          <p:spPr>
            <a:xfrm>
              <a:off x="3123295" y="4868901"/>
              <a:ext cx="2888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汇报</a:t>
              </a:r>
              <a:r>
                <a:rPr kumimoji="0" lang="zh-CN" altLang="en-US" sz="2000" b="1"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rPr>
                <a:t>人：</a:t>
              </a:r>
              <a:r>
                <a:rPr lang="zh-CN" altLang="en-US" sz="2000" b="1">
                  <a:solidFill>
                    <a:prstClr val="white"/>
                  </a:solidFill>
                  <a:latin typeface="等线" panose="020F0502020204030204"/>
                  <a:ea typeface="等线" panose="02010600030101010101" pitchFamily="2" charset="-122"/>
                </a:rPr>
                <a:t>张立崧</a:t>
              </a:r>
              <a:endParaRPr kumimoji="0" lang="zh-CN" altLang="en-US" sz="2000" b="1"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48590" name="文本框 15"/>
            <p:cNvSpPr txBox="1"/>
            <p:nvPr/>
          </p:nvSpPr>
          <p:spPr>
            <a:xfrm>
              <a:off x="6738361" y="4861002"/>
              <a:ext cx="28889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指导老师：马玉敏</a:t>
              </a:r>
            </a:p>
          </p:txBody>
        </p:sp>
      </p:grpSp>
      <p:pic>
        <p:nvPicPr>
          <p:cNvPr id="2097152"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113201" y="107415"/>
            <a:ext cx="2248094" cy="2255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13"/>
          <p:cNvGrpSpPr/>
          <p:nvPr/>
        </p:nvGrpSpPr>
        <p:grpSpPr>
          <a:xfrm>
            <a:off x="0" y="0"/>
            <a:ext cx="4651513" cy="6858000"/>
            <a:chOff x="0" y="0"/>
            <a:chExt cx="4651513" cy="6858000"/>
          </a:xfrm>
          <a:solidFill>
            <a:srgbClr val="005BAE"/>
          </a:solidFill>
        </p:grpSpPr>
        <p:grpSp>
          <p:nvGrpSpPr>
            <p:cNvPr id="47" name="组合 12"/>
            <p:cNvGrpSpPr/>
            <p:nvPr/>
          </p:nvGrpSpPr>
          <p:grpSpPr>
            <a:xfrm>
              <a:off x="0" y="0"/>
              <a:ext cx="4651513" cy="6858000"/>
              <a:chOff x="0" y="0"/>
              <a:chExt cx="4651513" cy="6858000"/>
            </a:xfrm>
            <a:grpFill/>
          </p:grpSpPr>
          <p:sp>
            <p:nvSpPr>
              <p:cNvPr id="1048600" name="矩形 4"/>
              <p:cNvSpPr/>
              <p:nvPr/>
            </p:nvSpPr>
            <p:spPr>
              <a:xfrm>
                <a:off x="0" y="0"/>
                <a:ext cx="4651513"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
            <p:nvSpPr>
              <p:cNvPr id="1048601" name="文本框 8"/>
              <p:cNvSpPr txBox="1"/>
              <p:nvPr/>
            </p:nvSpPr>
            <p:spPr>
              <a:xfrm>
                <a:off x="3595662" y="4081670"/>
                <a:ext cx="923330" cy="2544418"/>
              </a:xfrm>
              <a:prstGeom prst="rect">
                <a:avLst/>
              </a:prstGeom>
              <a:grpFill/>
            </p:spPr>
            <p:txBody>
              <a:bodyPr vert="ea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Content</a:t>
                </a:r>
                <a:endParaRPr kumimoji="0" lang="zh-CN" altLang="en-US" sz="4800" b="1"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grpSp>
        <p:sp>
          <p:nvSpPr>
            <p:cNvPr id="1048602" name="矩形 6"/>
            <p:cNvSpPr/>
            <p:nvPr/>
          </p:nvSpPr>
          <p:spPr>
            <a:xfrm>
              <a:off x="808382" y="1782419"/>
              <a:ext cx="3045613" cy="1646581"/>
            </a:xfrm>
            <a:prstGeom prst="rect">
              <a:avLst/>
            </a:prstGeom>
            <a:grp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rPr>
                <a:t>目录</a:t>
              </a:r>
            </a:p>
          </p:txBody>
        </p:sp>
      </p:grpSp>
      <p:grpSp>
        <p:nvGrpSpPr>
          <p:cNvPr id="48" name="组合 31"/>
          <p:cNvGrpSpPr/>
          <p:nvPr/>
        </p:nvGrpSpPr>
        <p:grpSpPr>
          <a:xfrm>
            <a:off x="5271511" y="1640262"/>
            <a:ext cx="3438937" cy="461665"/>
            <a:chOff x="5247396" y="2156695"/>
            <a:chExt cx="3438937" cy="461665"/>
          </a:xfrm>
        </p:grpSpPr>
        <p:sp>
          <p:nvSpPr>
            <p:cNvPr id="1048603" name="椭圆 18"/>
            <p:cNvSpPr/>
            <p:nvPr/>
          </p:nvSpPr>
          <p:spPr>
            <a:xfrm>
              <a:off x="6408565" y="2292623"/>
              <a:ext cx="145774" cy="145774"/>
            </a:xfrm>
            <a:prstGeom prst="ellipse">
              <a:avLst/>
            </a:prstGeom>
            <a:solidFill>
              <a:srgbClr val="0054A6"/>
            </a:solidFill>
            <a:ln>
              <a:solidFill>
                <a:srgbClr val="0054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48604" name="文本框 23"/>
            <p:cNvSpPr txBox="1"/>
            <p:nvPr/>
          </p:nvSpPr>
          <p:spPr>
            <a:xfrm>
              <a:off x="5247396" y="2156695"/>
              <a:ext cx="89338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rPr>
                <a:t>01</a:t>
              </a:r>
              <a:endParaRPr kumimoji="0" lang="zh-CN" altLang="en-US"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endParaRPr>
            </a:p>
          </p:txBody>
        </p:sp>
        <p:sp>
          <p:nvSpPr>
            <p:cNvPr id="1048605" name="文本框 27"/>
            <p:cNvSpPr txBox="1"/>
            <p:nvPr/>
          </p:nvSpPr>
          <p:spPr>
            <a:xfrm>
              <a:off x="7168391" y="2156695"/>
              <a:ext cx="151794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rPr>
                <a:t>研究背景</a:t>
              </a:r>
            </a:p>
          </p:txBody>
        </p:sp>
      </p:grpSp>
      <p:grpSp>
        <p:nvGrpSpPr>
          <p:cNvPr id="49" name="组合 32"/>
          <p:cNvGrpSpPr/>
          <p:nvPr/>
        </p:nvGrpSpPr>
        <p:grpSpPr>
          <a:xfrm>
            <a:off x="5271045" y="2523073"/>
            <a:ext cx="5473607" cy="461666"/>
            <a:chOff x="5247397" y="3051218"/>
            <a:chExt cx="5473607" cy="461666"/>
          </a:xfrm>
        </p:grpSpPr>
        <p:sp>
          <p:nvSpPr>
            <p:cNvPr id="1048606" name="椭圆 19"/>
            <p:cNvSpPr/>
            <p:nvPr/>
          </p:nvSpPr>
          <p:spPr>
            <a:xfrm>
              <a:off x="6408565" y="3209165"/>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48607" name="文本框 24"/>
            <p:cNvSpPr txBox="1"/>
            <p:nvPr/>
          </p:nvSpPr>
          <p:spPr>
            <a:xfrm>
              <a:off x="5247397" y="3051219"/>
              <a:ext cx="89338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rPr>
                <a:t>02</a:t>
              </a:r>
              <a:endParaRPr kumimoji="0" lang="zh-CN" altLang="en-US"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endParaRPr>
            </a:p>
          </p:txBody>
        </p:sp>
        <p:sp>
          <p:nvSpPr>
            <p:cNvPr id="1048608" name="文本框 28"/>
            <p:cNvSpPr txBox="1"/>
            <p:nvPr/>
          </p:nvSpPr>
          <p:spPr>
            <a:xfrm>
              <a:off x="7168390" y="3051218"/>
              <a:ext cx="355261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rPr>
                <a:t>文献综述</a:t>
              </a:r>
            </a:p>
          </p:txBody>
        </p:sp>
      </p:grpSp>
      <p:grpSp>
        <p:nvGrpSpPr>
          <p:cNvPr id="50" name="组合 33"/>
          <p:cNvGrpSpPr/>
          <p:nvPr/>
        </p:nvGrpSpPr>
        <p:grpSpPr>
          <a:xfrm>
            <a:off x="5259503" y="3417598"/>
            <a:ext cx="5485149" cy="461665"/>
            <a:chOff x="5235855" y="3945743"/>
            <a:chExt cx="5485149" cy="461665"/>
          </a:xfrm>
        </p:grpSpPr>
        <p:sp>
          <p:nvSpPr>
            <p:cNvPr id="1048609" name="椭圆 20"/>
            <p:cNvSpPr/>
            <p:nvPr/>
          </p:nvSpPr>
          <p:spPr>
            <a:xfrm>
              <a:off x="6408565" y="4103689"/>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48610" name="文本框 25"/>
            <p:cNvSpPr txBox="1"/>
            <p:nvPr/>
          </p:nvSpPr>
          <p:spPr>
            <a:xfrm>
              <a:off x="5235855" y="3945743"/>
              <a:ext cx="89338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rPr>
                <a:t>03</a:t>
              </a:r>
              <a:endParaRPr kumimoji="0" lang="zh-CN" altLang="en-US"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endParaRPr>
            </a:p>
          </p:txBody>
        </p:sp>
        <p:sp>
          <p:nvSpPr>
            <p:cNvPr id="1048611" name="文本框 29"/>
            <p:cNvSpPr txBox="1"/>
            <p:nvPr/>
          </p:nvSpPr>
          <p:spPr>
            <a:xfrm>
              <a:off x="7168390" y="3945743"/>
              <a:ext cx="355261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rPr>
                <a:t>研究内容</a:t>
              </a:r>
            </a:p>
          </p:txBody>
        </p:sp>
      </p:grpSp>
      <p:grpSp>
        <p:nvGrpSpPr>
          <p:cNvPr id="51" name="组合 34"/>
          <p:cNvGrpSpPr/>
          <p:nvPr/>
        </p:nvGrpSpPr>
        <p:grpSpPr>
          <a:xfrm>
            <a:off x="5271044" y="4312122"/>
            <a:ext cx="5473608" cy="461665"/>
            <a:chOff x="5247396" y="4840267"/>
            <a:chExt cx="5473608" cy="461665"/>
          </a:xfrm>
        </p:grpSpPr>
        <p:sp>
          <p:nvSpPr>
            <p:cNvPr id="1048612" name="椭圆 21"/>
            <p:cNvSpPr/>
            <p:nvPr/>
          </p:nvSpPr>
          <p:spPr>
            <a:xfrm>
              <a:off x="6408565" y="4976190"/>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048613" name="文本框 26"/>
            <p:cNvSpPr txBox="1"/>
            <p:nvPr/>
          </p:nvSpPr>
          <p:spPr>
            <a:xfrm>
              <a:off x="5247396" y="4840267"/>
              <a:ext cx="89338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rPr>
                <a:t>04</a:t>
              </a:r>
              <a:endParaRPr kumimoji="0" lang="zh-CN" altLang="en-US"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endParaRPr>
            </a:p>
          </p:txBody>
        </p:sp>
        <p:sp>
          <p:nvSpPr>
            <p:cNvPr id="1048614" name="文本框 30"/>
            <p:cNvSpPr txBox="1"/>
            <p:nvPr/>
          </p:nvSpPr>
          <p:spPr>
            <a:xfrm>
              <a:off x="7168390" y="4840267"/>
              <a:ext cx="355261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rPr>
                <a:t>技术路线</a:t>
              </a:r>
            </a:p>
          </p:txBody>
        </p:sp>
      </p:grpSp>
      <p:sp>
        <p:nvSpPr>
          <p:cNvPr id="4" name="椭圆 21"/>
          <p:cNvSpPr/>
          <p:nvPr/>
        </p:nvSpPr>
        <p:spPr>
          <a:xfrm>
            <a:off x="6432213" y="5320546"/>
            <a:ext cx="145774" cy="145774"/>
          </a:xfrm>
          <a:prstGeom prst="ellipse">
            <a:avLst/>
          </a:prstGeom>
          <a:solidFill>
            <a:srgbClr val="0054A6"/>
          </a:solidFill>
          <a:ln>
            <a:solidFill>
              <a:srgbClr val="005BA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文本框 26"/>
          <p:cNvSpPr txBox="1"/>
          <p:nvPr/>
        </p:nvSpPr>
        <p:spPr>
          <a:xfrm>
            <a:off x="5271044" y="5162600"/>
            <a:ext cx="89338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rPr>
              <a:t>05</a:t>
            </a:r>
            <a:endParaRPr kumimoji="0" lang="zh-CN" altLang="en-US"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endParaRPr>
          </a:p>
        </p:txBody>
      </p:sp>
      <p:sp>
        <p:nvSpPr>
          <p:cNvPr id="8" name="文本框 29"/>
          <p:cNvSpPr txBox="1"/>
          <p:nvPr/>
        </p:nvSpPr>
        <p:spPr>
          <a:xfrm>
            <a:off x="7192038" y="5162599"/>
            <a:ext cx="3552614"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54A6"/>
                </a:solidFill>
                <a:effectLst/>
                <a:uLnTx/>
                <a:uFillTx/>
                <a:latin typeface="等线" panose="020F0502020204030204"/>
                <a:ea typeface="等线" panose="02010600030101010101" pitchFamily="2" charset="-122"/>
                <a:cs typeface="+mn-cs"/>
              </a:rPr>
              <a:t>工作计划</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1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研究背景</a:t>
            </a:r>
          </a:p>
        </p:txBody>
      </p:sp>
      <p:sp>
        <p:nvSpPr>
          <p:cNvPr id="1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文献综述</a:t>
            </a:r>
          </a:p>
        </p:txBody>
      </p:sp>
      <p:sp>
        <p:nvSpPr>
          <p:cNvPr id="1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1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技术路线</a:t>
            </a:r>
          </a:p>
        </p:txBody>
      </p:sp>
      <p:sp>
        <p:nvSpPr>
          <p:cNvPr id="2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22" name="直接连接符 2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6" name="等腰三角形 25"/>
          <p:cNvSpPr/>
          <p:nvPr/>
        </p:nvSpPr>
        <p:spPr>
          <a:xfrm rot="10800000">
            <a:off x="1273716"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2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2" name="矩形 1">
            <a:extLst>
              <a:ext uri="{FF2B5EF4-FFF2-40B4-BE49-F238E27FC236}">
                <a16:creationId xmlns:a16="http://schemas.microsoft.com/office/drawing/2014/main" id="{5B59C103-E180-1291-D3AC-A8D987225C56}"/>
              </a:ext>
            </a:extLst>
          </p:cNvPr>
          <p:cNvSpPr/>
          <p:nvPr/>
        </p:nvSpPr>
        <p:spPr>
          <a:xfrm>
            <a:off x="657270" y="1028696"/>
            <a:ext cx="10572659" cy="2784848"/>
          </a:xfrm>
          <a:prstGeom prst="rect">
            <a:avLst/>
          </a:prstGeom>
          <a:solidFill>
            <a:schemeClr val="bg1"/>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标题 1">
            <a:extLst>
              <a:ext uri="{FF2B5EF4-FFF2-40B4-BE49-F238E27FC236}">
                <a16:creationId xmlns:a16="http://schemas.microsoft.com/office/drawing/2014/main" id="{53FE7195-4226-BDF6-7D93-98F9159D36A3}"/>
              </a:ext>
            </a:extLst>
          </p:cNvPr>
          <p:cNvSpPr txBox="1">
            <a:spLocks noChangeArrowheads="1"/>
          </p:cNvSpPr>
          <p:nvPr/>
        </p:nvSpPr>
        <p:spPr bwMode="auto">
          <a:xfrm>
            <a:off x="657270" y="1029361"/>
            <a:ext cx="2105831" cy="369332"/>
          </a:xfrm>
          <a:prstGeom prst="rect">
            <a:avLst/>
          </a:prstGeom>
          <a:solidFill>
            <a:srgbClr val="406EA6"/>
          </a:solidFill>
          <a:ln>
            <a:solidFill>
              <a:srgbClr val="406EA6"/>
            </a:solidFill>
          </a:ln>
        </p:spPr>
        <p:txBody>
          <a:bodyPr wrap="square">
            <a:spAutoFit/>
          </a:bodyPr>
          <a:lstStyle>
            <a:defPPr>
              <a:defRPr lang="zh-CN"/>
            </a:defPPr>
            <a:lvl1pPr indent="0" algn="ctr">
              <a:lnSpc>
                <a:spcPct val="100000"/>
              </a:lnSpc>
              <a:spcBef>
                <a:spcPts val="0"/>
              </a:spcBef>
              <a:buClr>
                <a:srgbClr val="C00000"/>
              </a:buClr>
              <a:buSzPct val="70000"/>
              <a:defRPr sz="1800">
                <a:solidFill>
                  <a:schemeClr val="bg1"/>
                </a:solidFill>
                <a:latin typeface="微软雅黑" panose="020B0503020204020204" pitchFamily="34" charset="-122"/>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tx1"/>
                </a:solidFill>
                <a:ea typeface="宋体" panose="02010600030101010101" pitchFamily="2" charset="-122"/>
              </a:defRPr>
            </a:lvl2pPr>
            <a:lvl3pPr marL="1143000" indent="-228600">
              <a:spcBef>
                <a:spcPct val="20000"/>
              </a:spcBef>
              <a:buChar char="•"/>
              <a:defRPr sz="2400">
                <a:solidFill>
                  <a:schemeClr val="tx1"/>
                </a:solidFill>
                <a:ea typeface="宋体" panose="02010600030101010101" pitchFamily="2" charset="-122"/>
              </a:defRPr>
            </a:lvl3pPr>
            <a:lvl4pPr marL="1600200" indent="-228600">
              <a:spcBef>
                <a:spcPct val="20000"/>
              </a:spcBef>
              <a:buChar char="–"/>
              <a:defRPr sz="2000">
                <a:solidFill>
                  <a:schemeClr val="tx1"/>
                </a:solidFill>
                <a:ea typeface="宋体" panose="02010600030101010101" pitchFamily="2" charset="-122"/>
              </a:defRPr>
            </a:lvl4pPr>
            <a:lvl5pPr marL="2057400" indent="-228600">
              <a:spcBef>
                <a:spcPct val="20000"/>
              </a:spcBef>
              <a:buChar char="»"/>
              <a:defRPr sz="2000">
                <a:solidFill>
                  <a:schemeClr val="tx1"/>
                </a:solidFill>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ea typeface="宋体" panose="02010600030101010101" pitchFamily="2" charset="-122"/>
              </a:defRPr>
            </a:lvl9pPr>
          </a:lstStyle>
          <a:p>
            <a:pPr marL="0" marR="0" lvl="0" indent="0" algn="l" defTabSz="914400" eaLnBrk="0" fontAlgn="base" latinLnBrk="0" hangingPunct="0">
              <a:lnSpc>
                <a:spcPct val="100000"/>
              </a:lnSpc>
              <a:spcBef>
                <a:spcPts val="0"/>
              </a:spcBef>
              <a:spcAft>
                <a:spcPct val="0"/>
              </a:spcAft>
              <a:buClr>
                <a:srgbClr val="C00000"/>
              </a:buClr>
              <a:buSzPct val="70000"/>
              <a:buFontTx/>
              <a:buNone/>
              <a:defRPr/>
            </a:pPr>
            <a:r>
              <a:rPr lang="zh-CN" altLang="en-US" b="1" kern="0">
                <a:solidFill>
                  <a:srgbClr val="FFFFFF"/>
                </a:solidFill>
              </a:rPr>
              <a:t>滚动轴承故障诊断</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5CB99894-7045-BDF3-EC55-95CEDE2EFFFA}"/>
              </a:ext>
            </a:extLst>
          </p:cNvPr>
          <p:cNvSpPr txBox="1"/>
          <p:nvPr/>
        </p:nvSpPr>
        <p:spPr>
          <a:xfrm>
            <a:off x="657270" y="1505177"/>
            <a:ext cx="10479526" cy="226485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b="0" i="0">
                <a:solidFill>
                  <a:srgbClr val="000000"/>
                </a:solidFill>
                <a:effectLst/>
                <a:highlight>
                  <a:srgbClr val="FFFFFF"/>
                </a:highlight>
                <a:latin typeface="微软雅黑" panose="020B0503020204020204" pitchFamily="34" charset="-122"/>
                <a:ea typeface="微软雅黑" panose="020B0503020204020204" pitchFamily="34" charset="-122"/>
              </a:rPr>
              <a:t>电机广泛应用于各种工业应用和电气化运输系统。当电机在不利的条件下运行时，例如高环境温度，高湿度和过载，可能引发电机故障，从而导致高维护成本，严重的经济损失和安全隐患。在高负荷、高冲击等困难工况下，滚动轴承容易发生各种故障，导致整机失效。轴承是旋转机械中最关键的机械元件之一，据统计，</a:t>
            </a:r>
            <a:r>
              <a:rPr lang="zh-CN" altLang="en-US" sz="1600" b="0" i="0">
                <a:solidFill>
                  <a:srgbClr val="FF0000"/>
                </a:solidFill>
                <a:effectLst/>
                <a:highlight>
                  <a:srgbClr val="FFFFFF"/>
                </a:highlight>
                <a:latin typeface="微软雅黑" panose="020B0503020204020204" pitchFamily="34" charset="-122"/>
                <a:ea typeface="微软雅黑" panose="020B0503020204020204" pitchFamily="34" charset="-122"/>
              </a:rPr>
              <a:t>轴承故障占电机故障的</a:t>
            </a:r>
            <a:r>
              <a:rPr lang="en-US" altLang="zh-CN" sz="1600" b="0" i="0">
                <a:solidFill>
                  <a:srgbClr val="FF0000"/>
                </a:solidFill>
                <a:effectLst/>
                <a:highlight>
                  <a:srgbClr val="FFFFFF"/>
                </a:highlight>
                <a:latin typeface="微软雅黑" panose="020B0503020204020204" pitchFamily="34" charset="-122"/>
                <a:ea typeface="微软雅黑" panose="020B0503020204020204" pitchFamily="34" charset="-122"/>
              </a:rPr>
              <a:t>51%</a:t>
            </a:r>
            <a:r>
              <a:rPr lang="en-US" altLang="zh-CN" sz="1600">
                <a:highlight>
                  <a:srgbClr val="FFFFFF"/>
                </a:highlight>
                <a:latin typeface="微软雅黑" panose="020B0503020204020204" pitchFamily="34" charset="-122"/>
                <a:ea typeface="微软雅黑" panose="020B0503020204020204" pitchFamily="34" charset="-122"/>
              </a:rPr>
              <a:t>[1]</a:t>
            </a:r>
            <a:r>
              <a:rPr lang="zh-CN" altLang="en-US" sz="1600" b="0" i="0">
                <a:solidFill>
                  <a:srgbClr val="000000"/>
                </a:solidFill>
                <a:effectLst/>
                <a:highlight>
                  <a:srgbClr val="FFFFFF"/>
                </a:highlight>
                <a:latin typeface="微软雅黑" panose="020B0503020204020204" pitchFamily="34" charset="-122"/>
                <a:ea typeface="微软雅黑" panose="020B0503020204020204" pitchFamily="34" charset="-122"/>
              </a:rPr>
              <a:t>。因此，对滚动轴承进行准确、可靠、快速的轴承故障预测和诊断至关重要。</a:t>
            </a:r>
            <a:endParaRPr lang="en-US" altLang="zh-CN" sz="1600" b="0" i="0">
              <a:solidFill>
                <a:srgbClr val="000000"/>
              </a:solidFill>
              <a:effectLst/>
              <a:highlight>
                <a:srgbClr val="FFFFFF"/>
              </a:highlight>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滚动轴承的失效形式多种多样，常见的失效形式包括</a:t>
            </a:r>
            <a:r>
              <a:rPr lang="zh-CN" altLang="en-US" sz="1600">
                <a:solidFill>
                  <a:srgbClr val="C00000"/>
                </a:solidFill>
                <a:highlight>
                  <a:srgbClr val="FFFFFF"/>
                </a:highlight>
                <a:latin typeface="微软雅黑" panose="020B0503020204020204" pitchFamily="34" charset="-122"/>
                <a:ea typeface="微软雅黑" panose="020B0503020204020204" pitchFamily="34" charset="-122"/>
              </a:rPr>
              <a:t>疲劳、胶合、磨损、压痕、破损</a:t>
            </a:r>
            <a:r>
              <a:rPr lang="en-US" altLang="zh-CN" sz="1600">
                <a:highlight>
                  <a:srgbClr val="FFFFFF"/>
                </a:highlight>
                <a:latin typeface="微软雅黑" panose="020B0503020204020204" pitchFamily="34" charset="-122"/>
                <a:ea typeface="微软雅黑" panose="020B0503020204020204" pitchFamily="34" charset="-122"/>
              </a:rPr>
              <a:t>[2]</a:t>
            </a: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等。</a:t>
            </a:r>
            <a:endParaRPr lang="en-US" altLang="zh-CN" sz="1600">
              <a:solidFill>
                <a:srgbClr val="000000"/>
              </a:solidFill>
              <a:highlight>
                <a:srgbClr val="FFFFFF"/>
              </a:highlight>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这些失效可以出现在滚动轴承的各个部位，包括</a:t>
            </a:r>
            <a:r>
              <a:rPr lang="zh-CN" altLang="en-US" sz="1600">
                <a:solidFill>
                  <a:srgbClr val="C00000"/>
                </a:solidFill>
                <a:highlight>
                  <a:srgbClr val="FFFFFF"/>
                </a:highlight>
                <a:latin typeface="微软雅黑" panose="020B0503020204020204" pitchFamily="34" charset="-122"/>
                <a:ea typeface="微软雅黑" panose="020B0503020204020204" pitchFamily="34" charset="-122"/>
              </a:rPr>
              <a:t>内圈、外圈、保持架和滚动体</a:t>
            </a:r>
            <a:r>
              <a:rPr lang="en-US" altLang="zh-CN" sz="1600">
                <a:highlight>
                  <a:srgbClr val="FFFFFF"/>
                </a:highlight>
                <a:latin typeface="微软雅黑" panose="020B0503020204020204" pitchFamily="34" charset="-122"/>
                <a:ea typeface="微软雅黑" panose="020B0503020204020204" pitchFamily="34" charset="-122"/>
              </a:rPr>
              <a:t>[2]</a:t>
            </a: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a:t>
            </a:r>
            <a:endParaRPr lang="en-US" altLang="zh-CN" sz="1600">
              <a:solidFill>
                <a:srgbClr val="000000"/>
              </a:solidFill>
              <a:highlight>
                <a:srgbClr val="FFFFFF"/>
              </a:highlight>
              <a:latin typeface="微软雅黑" panose="020B0503020204020204" pitchFamily="34" charset="-122"/>
              <a:ea typeface="微软雅黑" panose="020B0503020204020204" pitchFamily="34" charset="-122"/>
            </a:endParaRPr>
          </a:p>
        </p:txBody>
      </p:sp>
      <p:pic>
        <p:nvPicPr>
          <p:cNvPr id="21" name="图片 20">
            <a:extLst>
              <a:ext uri="{FF2B5EF4-FFF2-40B4-BE49-F238E27FC236}">
                <a16:creationId xmlns:a16="http://schemas.microsoft.com/office/drawing/2014/main" id="{254C147F-A6DC-7471-AA91-421D176411B1}"/>
              </a:ext>
            </a:extLst>
          </p:cNvPr>
          <p:cNvPicPr>
            <a:picLocks noChangeAspect="1"/>
          </p:cNvPicPr>
          <p:nvPr/>
        </p:nvPicPr>
        <p:blipFill>
          <a:blip r:embed="rId4"/>
          <a:stretch>
            <a:fillRect/>
          </a:stretch>
        </p:blipFill>
        <p:spPr>
          <a:xfrm>
            <a:off x="6413423" y="3965942"/>
            <a:ext cx="4185245" cy="2363974"/>
          </a:xfrm>
          <a:prstGeom prst="rect">
            <a:avLst/>
          </a:prstGeom>
        </p:spPr>
      </p:pic>
      <p:pic>
        <p:nvPicPr>
          <p:cNvPr id="28" name="图片 27">
            <a:extLst>
              <a:ext uri="{FF2B5EF4-FFF2-40B4-BE49-F238E27FC236}">
                <a16:creationId xmlns:a16="http://schemas.microsoft.com/office/drawing/2014/main" id="{BC91AA25-6082-0487-70B6-4C6AB724C7FD}"/>
              </a:ext>
            </a:extLst>
          </p:cNvPr>
          <p:cNvPicPr>
            <a:picLocks noChangeAspect="1"/>
          </p:cNvPicPr>
          <p:nvPr/>
        </p:nvPicPr>
        <p:blipFill>
          <a:blip r:embed="rId5"/>
          <a:stretch>
            <a:fillRect/>
          </a:stretch>
        </p:blipFill>
        <p:spPr>
          <a:xfrm>
            <a:off x="1838886" y="3965942"/>
            <a:ext cx="3146381" cy="2181542"/>
          </a:xfrm>
          <a:prstGeom prst="rect">
            <a:avLst/>
          </a:prstGeom>
        </p:spPr>
      </p:pic>
      <p:sp>
        <p:nvSpPr>
          <p:cNvPr id="31" name="文本框 30">
            <a:extLst>
              <a:ext uri="{FF2B5EF4-FFF2-40B4-BE49-F238E27FC236}">
                <a16:creationId xmlns:a16="http://schemas.microsoft.com/office/drawing/2014/main" id="{46E44E06-E637-CFFC-09F6-790F3CC72B65}"/>
              </a:ext>
            </a:extLst>
          </p:cNvPr>
          <p:cNvSpPr txBox="1"/>
          <p:nvPr/>
        </p:nvSpPr>
        <p:spPr>
          <a:xfrm>
            <a:off x="2763101" y="6299882"/>
            <a:ext cx="1351699" cy="307777"/>
          </a:xfrm>
          <a:prstGeom prst="rect">
            <a:avLst/>
          </a:prstGeom>
          <a:noFill/>
        </p:spPr>
        <p:txBody>
          <a:bodyPr wrap="square">
            <a:spAutoFit/>
          </a:bodyPr>
          <a:lstStyle/>
          <a:p>
            <a:r>
              <a:rPr lang="zh-CN" altLang="en-US" sz="1400" b="1">
                <a:ea typeface="微软雅黑" panose="020B0503020204020204" pitchFamily="34" charset="-122"/>
                <a:cs typeface="+mn-ea"/>
              </a:rPr>
              <a:t>电机常见故障</a:t>
            </a:r>
          </a:p>
        </p:txBody>
      </p:sp>
      <p:sp>
        <p:nvSpPr>
          <p:cNvPr id="33" name="文本框 32">
            <a:extLst>
              <a:ext uri="{FF2B5EF4-FFF2-40B4-BE49-F238E27FC236}">
                <a16:creationId xmlns:a16="http://schemas.microsoft.com/office/drawing/2014/main" id="{306E3F28-17B0-5EAB-2A10-BB1C9A46A3A5}"/>
              </a:ext>
            </a:extLst>
          </p:cNvPr>
          <p:cNvSpPr txBox="1"/>
          <p:nvPr/>
        </p:nvSpPr>
        <p:spPr>
          <a:xfrm>
            <a:off x="8205051" y="6299881"/>
            <a:ext cx="1351699" cy="307777"/>
          </a:xfrm>
          <a:prstGeom prst="rect">
            <a:avLst/>
          </a:prstGeom>
          <a:noFill/>
        </p:spPr>
        <p:txBody>
          <a:bodyPr wrap="square">
            <a:spAutoFit/>
          </a:bodyPr>
          <a:lstStyle/>
          <a:p>
            <a:r>
              <a:rPr lang="zh-CN" altLang="en-US" sz="1400" b="1">
                <a:ea typeface="微软雅黑" panose="020B0503020204020204" pitchFamily="34" charset="-122"/>
                <a:cs typeface="+mn-ea"/>
              </a:rPr>
              <a:t>滚动轴承结构</a:t>
            </a:r>
          </a:p>
        </p:txBody>
      </p:sp>
    </p:spTree>
    <p:extLst>
      <p:ext uri="{BB962C8B-B14F-4D97-AF65-F5344CB8AC3E}">
        <p14:creationId xmlns:p14="http://schemas.microsoft.com/office/powerpoint/2010/main" val="4152995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1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研究背景</a:t>
            </a:r>
          </a:p>
        </p:txBody>
      </p:sp>
      <p:sp>
        <p:nvSpPr>
          <p:cNvPr id="1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文献综述</a:t>
            </a:r>
          </a:p>
        </p:txBody>
      </p:sp>
      <p:sp>
        <p:nvSpPr>
          <p:cNvPr id="1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1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技术路线</a:t>
            </a:r>
          </a:p>
        </p:txBody>
      </p:sp>
      <p:sp>
        <p:nvSpPr>
          <p:cNvPr id="2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22" name="直接连接符 2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6" name="等腰三角形 25"/>
          <p:cNvSpPr/>
          <p:nvPr/>
        </p:nvSpPr>
        <p:spPr>
          <a:xfrm rot="10800000">
            <a:off x="1273716"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2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2" name="矩形 1">
            <a:extLst>
              <a:ext uri="{FF2B5EF4-FFF2-40B4-BE49-F238E27FC236}">
                <a16:creationId xmlns:a16="http://schemas.microsoft.com/office/drawing/2014/main" id="{5B59C103-E180-1291-D3AC-A8D987225C56}"/>
              </a:ext>
            </a:extLst>
          </p:cNvPr>
          <p:cNvSpPr/>
          <p:nvPr/>
        </p:nvSpPr>
        <p:spPr>
          <a:xfrm>
            <a:off x="657270" y="1028697"/>
            <a:ext cx="10551225" cy="3625853"/>
          </a:xfrm>
          <a:prstGeom prst="rect">
            <a:avLst/>
          </a:prstGeom>
          <a:solidFill>
            <a:schemeClr val="bg1"/>
          </a:solidFill>
          <a:ln>
            <a:solidFill>
              <a:srgbClr val="005A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105号-简雅黑" panose="00000500000000000000" pitchFamily="2" charset="-122"/>
              <a:ea typeface="字魂105号-简雅黑" panose="00000500000000000000" pitchFamily="2" charset="-122"/>
              <a:sym typeface="字魂105号-简雅黑" panose="00000500000000000000" pitchFamily="2" charset="-122"/>
            </a:endParaRPr>
          </a:p>
        </p:txBody>
      </p:sp>
      <p:sp>
        <p:nvSpPr>
          <p:cNvPr id="3" name="标题 1">
            <a:extLst>
              <a:ext uri="{FF2B5EF4-FFF2-40B4-BE49-F238E27FC236}">
                <a16:creationId xmlns:a16="http://schemas.microsoft.com/office/drawing/2014/main" id="{53FE7195-4226-BDF6-7D93-98F9159D36A3}"/>
              </a:ext>
            </a:extLst>
          </p:cNvPr>
          <p:cNvSpPr txBox="1">
            <a:spLocks noChangeArrowheads="1"/>
          </p:cNvSpPr>
          <p:nvPr/>
        </p:nvSpPr>
        <p:spPr bwMode="auto">
          <a:xfrm>
            <a:off x="657269" y="1029361"/>
            <a:ext cx="3006681" cy="369332"/>
          </a:xfrm>
          <a:prstGeom prst="rect">
            <a:avLst/>
          </a:prstGeom>
          <a:solidFill>
            <a:srgbClr val="406EA6"/>
          </a:solidFill>
          <a:ln>
            <a:solidFill>
              <a:srgbClr val="406EA6"/>
            </a:solidFill>
          </a:ln>
        </p:spPr>
        <p:txBody>
          <a:bodyPr wrap="square">
            <a:spAutoFit/>
          </a:bodyPr>
          <a:lstStyle>
            <a:defPPr>
              <a:defRPr lang="zh-CN"/>
            </a:defPPr>
            <a:lvl1pPr indent="0" algn="ctr">
              <a:lnSpc>
                <a:spcPct val="100000"/>
              </a:lnSpc>
              <a:spcBef>
                <a:spcPts val="0"/>
              </a:spcBef>
              <a:buClr>
                <a:srgbClr val="C00000"/>
              </a:buClr>
              <a:buSzPct val="70000"/>
              <a:defRPr sz="1800">
                <a:solidFill>
                  <a:schemeClr val="bg1"/>
                </a:solidFill>
                <a:latin typeface="微软雅黑" panose="020B0503020204020204" pitchFamily="34" charset="-122"/>
                <a:ea typeface="微软雅黑" panose="020B0503020204020204" pitchFamily="34" charset="-122"/>
                <a:cs typeface="Times New Roman" panose="02020603050405020304" pitchFamily="18" charset="0"/>
              </a:defRPr>
            </a:lvl1pPr>
            <a:lvl2pPr marL="742950" indent="-285750">
              <a:spcBef>
                <a:spcPct val="20000"/>
              </a:spcBef>
              <a:buChar char="–"/>
              <a:defRPr sz="2800">
                <a:solidFill>
                  <a:schemeClr val="tx1"/>
                </a:solidFill>
                <a:ea typeface="宋体" panose="02010600030101010101" pitchFamily="2" charset="-122"/>
              </a:defRPr>
            </a:lvl2pPr>
            <a:lvl3pPr marL="1143000" indent="-228600">
              <a:spcBef>
                <a:spcPct val="20000"/>
              </a:spcBef>
              <a:buChar char="•"/>
              <a:defRPr sz="2400">
                <a:solidFill>
                  <a:schemeClr val="tx1"/>
                </a:solidFill>
                <a:ea typeface="宋体" panose="02010600030101010101" pitchFamily="2" charset="-122"/>
              </a:defRPr>
            </a:lvl3pPr>
            <a:lvl4pPr marL="1600200" indent="-228600">
              <a:spcBef>
                <a:spcPct val="20000"/>
              </a:spcBef>
              <a:buChar char="–"/>
              <a:defRPr sz="2000">
                <a:solidFill>
                  <a:schemeClr val="tx1"/>
                </a:solidFill>
                <a:ea typeface="宋体" panose="02010600030101010101" pitchFamily="2" charset="-122"/>
              </a:defRPr>
            </a:lvl4pPr>
            <a:lvl5pPr marL="2057400" indent="-228600">
              <a:spcBef>
                <a:spcPct val="20000"/>
              </a:spcBef>
              <a:buChar char="»"/>
              <a:defRPr sz="2000">
                <a:solidFill>
                  <a:schemeClr val="tx1"/>
                </a:solidFill>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ea typeface="宋体" panose="02010600030101010101" pitchFamily="2" charset="-122"/>
              </a:defRPr>
            </a:lvl9pPr>
          </a:lstStyle>
          <a:p>
            <a:pPr marL="0" marR="0" lvl="0" indent="0" algn="l" defTabSz="914400" eaLnBrk="0" fontAlgn="base" latinLnBrk="0" hangingPunct="0">
              <a:lnSpc>
                <a:spcPct val="100000"/>
              </a:lnSpc>
              <a:spcBef>
                <a:spcPts val="0"/>
              </a:spcBef>
              <a:spcAft>
                <a:spcPct val="0"/>
              </a:spcAft>
              <a:buClr>
                <a:srgbClr val="C00000"/>
              </a:buClr>
              <a:buSzPct val="70000"/>
              <a:buFontTx/>
              <a:buNone/>
              <a:defRPr/>
            </a:pPr>
            <a:r>
              <a:rPr kumimoji="0" lang="zh-CN" altLang="en-US" sz="1800" b="1" i="0" u="none" strike="noStrike" kern="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实际工业环境下的故障诊断</a:t>
            </a:r>
            <a:endParaRPr kumimoji="0" lang="zh-CN" altLang="en-US" sz="18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5CB99894-7045-BDF3-EC55-95CEDE2EFFFA}"/>
              </a:ext>
            </a:extLst>
          </p:cNvPr>
          <p:cNvSpPr txBox="1"/>
          <p:nvPr/>
        </p:nvSpPr>
        <p:spPr>
          <a:xfrm>
            <a:off x="657270" y="1505177"/>
            <a:ext cx="10479526" cy="300351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b="0" i="0">
                <a:solidFill>
                  <a:srgbClr val="000000"/>
                </a:solidFill>
                <a:effectLst/>
                <a:highlight>
                  <a:srgbClr val="FFFFFF"/>
                </a:highlight>
                <a:latin typeface="微软雅黑" panose="020B0503020204020204" pitchFamily="34" charset="-122"/>
                <a:ea typeface="微软雅黑" panose="020B0503020204020204" pitchFamily="34" charset="-122"/>
              </a:rPr>
              <a:t>传统的基于深度学习的轴承故障诊断方法假设训练数据和测试数据遵循相同的分布。然而，对于在实际场景中收集的轴承数据，这种假设并不总是正确的。</a:t>
            </a:r>
            <a:endParaRPr lang="en-US" altLang="zh-CN" sz="1600" b="0" i="0">
              <a:solidFill>
                <a:srgbClr val="000000"/>
              </a:solidFill>
              <a:effectLst/>
              <a:highlight>
                <a:srgbClr val="FFFFFF"/>
              </a:highlight>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在实际场景中，</a:t>
            </a:r>
            <a:r>
              <a:rPr lang="zh-CN" altLang="en-US" sz="1600" b="1">
                <a:highlight>
                  <a:srgbClr val="FFFFFF"/>
                </a:highlight>
                <a:latin typeface="微软雅黑" panose="020B0503020204020204" pitchFamily="34" charset="-122"/>
                <a:ea typeface="微软雅黑" panose="020B0503020204020204" pitchFamily="34" charset="-122"/>
              </a:rPr>
              <a:t>设备的传感器会持续不断地产生数据</a:t>
            </a:r>
            <a:r>
              <a:rPr lang="en-US" altLang="zh-CN" sz="1600" b="1">
                <a:highlight>
                  <a:srgbClr val="FFFFFF"/>
                </a:highlight>
                <a:latin typeface="微软雅黑" panose="020B0503020204020204" pitchFamily="34" charset="-122"/>
                <a:ea typeface="微软雅黑" panose="020B0503020204020204" pitchFamily="34" charset="-122"/>
              </a:rPr>
              <a:t>[3]</a:t>
            </a: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，这种源源不断的数据流不仅包含设备正常运行时的数据，也可能包含新的故障信息。随着设备长期运行，使得</a:t>
            </a:r>
            <a:r>
              <a:rPr lang="zh-CN" altLang="en-US" sz="1600">
                <a:solidFill>
                  <a:srgbClr val="C00000"/>
                </a:solidFill>
                <a:highlight>
                  <a:srgbClr val="FFFFFF"/>
                </a:highlight>
                <a:latin typeface="微软雅黑" panose="020B0503020204020204" pitchFamily="34" charset="-122"/>
                <a:ea typeface="微软雅黑" panose="020B0503020204020204" pitchFamily="34" charset="-122"/>
              </a:rPr>
              <a:t>模型需要不断更新</a:t>
            </a: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以适应新的情况。</a:t>
            </a:r>
            <a:endParaRPr lang="en-US" altLang="zh-CN" sz="1600">
              <a:solidFill>
                <a:srgbClr val="000000"/>
              </a:solidFill>
              <a:highlight>
                <a:srgbClr val="FFFFFF"/>
              </a:highlight>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其次，在实际工业应用中，来自</a:t>
            </a:r>
            <a:r>
              <a:rPr lang="zh-CN" altLang="en-US" sz="1600" b="1">
                <a:solidFill>
                  <a:srgbClr val="000000"/>
                </a:solidFill>
                <a:highlight>
                  <a:srgbClr val="FFFFFF"/>
                </a:highlight>
                <a:latin typeface="微软雅黑" panose="020B0503020204020204" pitchFamily="34" charset="-122"/>
                <a:ea typeface="微软雅黑" panose="020B0503020204020204" pitchFamily="34" charset="-122"/>
              </a:rPr>
              <a:t>不同设备</a:t>
            </a:r>
            <a:r>
              <a:rPr lang="zh-CN" altLang="en-US" sz="1600" b="1">
                <a:highlight>
                  <a:srgbClr val="FFFFFF"/>
                </a:highlight>
                <a:latin typeface="微软雅黑" panose="020B0503020204020204" pitchFamily="34" charset="-122"/>
                <a:ea typeface="微软雅黑" panose="020B0503020204020204" pitchFamily="34" charset="-122"/>
              </a:rPr>
              <a:t>训练数据分布不同</a:t>
            </a:r>
            <a:r>
              <a:rPr lang="en-US" altLang="zh-CN" sz="1600" b="1">
                <a:highlight>
                  <a:srgbClr val="FFFFFF"/>
                </a:highlight>
                <a:latin typeface="微软雅黑" panose="020B0503020204020204" pitchFamily="34" charset="-122"/>
                <a:ea typeface="微软雅黑" panose="020B0503020204020204" pitchFamily="34" charset="-122"/>
              </a:rPr>
              <a:t>[2]</a:t>
            </a: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，故障数据即使类型相同，也会影响模型的诊断准确性。因此，模型需要具备</a:t>
            </a:r>
            <a:r>
              <a:rPr lang="zh-CN" altLang="en-US" sz="1600">
                <a:solidFill>
                  <a:srgbClr val="C00000"/>
                </a:solidFill>
                <a:highlight>
                  <a:srgbClr val="FFFFFF"/>
                </a:highlight>
                <a:latin typeface="微软雅黑" panose="020B0503020204020204" pitchFamily="34" charset="-122"/>
                <a:ea typeface="微软雅黑" panose="020B0503020204020204" pitchFamily="34" charset="-122"/>
              </a:rPr>
              <a:t>跨设备的迁移能力</a:t>
            </a: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a:t>
            </a:r>
            <a:endParaRPr lang="en-US" altLang="zh-CN" sz="1600">
              <a:solidFill>
                <a:srgbClr val="000000"/>
              </a:solidFill>
              <a:highlight>
                <a:srgbClr val="FFFFFF"/>
              </a:highlight>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再者，由于</a:t>
            </a:r>
            <a:r>
              <a:rPr lang="zh-CN" altLang="en-US" sz="1600" b="1">
                <a:solidFill>
                  <a:srgbClr val="000000"/>
                </a:solidFill>
                <a:highlight>
                  <a:srgbClr val="FFFFFF"/>
                </a:highlight>
                <a:latin typeface="微软雅黑" panose="020B0503020204020204" pitchFamily="34" charset="-122"/>
                <a:ea typeface="微软雅黑" panose="020B0503020204020204" pitchFamily="34" charset="-122"/>
              </a:rPr>
              <a:t>获取和</a:t>
            </a:r>
            <a:r>
              <a:rPr lang="zh-CN" altLang="en-US" sz="1600" b="1">
                <a:highlight>
                  <a:srgbClr val="FFFFFF"/>
                </a:highlight>
                <a:latin typeface="微软雅黑" panose="020B0503020204020204" pitchFamily="34" charset="-122"/>
                <a:ea typeface="微软雅黑" panose="020B0503020204020204" pitchFamily="34" charset="-122"/>
              </a:rPr>
              <a:t>标注大量故障数据耗时费力</a:t>
            </a:r>
            <a:r>
              <a:rPr lang="en-US" altLang="zh-CN" sz="1600" b="1">
                <a:highlight>
                  <a:srgbClr val="FFFFFF"/>
                </a:highlight>
                <a:latin typeface="微软雅黑" panose="020B0503020204020204" pitchFamily="34" charset="-122"/>
                <a:ea typeface="微软雅黑" panose="020B0503020204020204" pitchFamily="34" charset="-122"/>
              </a:rPr>
              <a:t>[4]</a:t>
            </a: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，并且让设备在故障状态下运行存在安全和寿命风险，因此，提高模型在</a:t>
            </a:r>
            <a:r>
              <a:rPr lang="zh-CN" altLang="en-US" sz="1600">
                <a:solidFill>
                  <a:srgbClr val="C00000"/>
                </a:solidFill>
                <a:highlight>
                  <a:srgbClr val="FFFFFF"/>
                </a:highlight>
                <a:latin typeface="微软雅黑" panose="020B0503020204020204" pitchFamily="34" charset="-122"/>
                <a:ea typeface="微软雅黑" panose="020B0503020204020204" pitchFamily="34" charset="-122"/>
              </a:rPr>
              <a:t>数据稀缺场景下</a:t>
            </a:r>
            <a:r>
              <a:rPr lang="zh-CN" altLang="en-US" sz="1600">
                <a:solidFill>
                  <a:srgbClr val="000000"/>
                </a:solidFill>
                <a:highlight>
                  <a:srgbClr val="FFFFFF"/>
                </a:highlight>
                <a:latin typeface="微软雅黑" panose="020B0503020204020204" pitchFamily="34" charset="-122"/>
                <a:ea typeface="微软雅黑" panose="020B0503020204020204" pitchFamily="34" charset="-122"/>
              </a:rPr>
              <a:t>的表现成为必要，解决这些问题是故障诊断中的关键挑战。</a:t>
            </a:r>
          </a:p>
        </p:txBody>
      </p:sp>
      <p:pic>
        <p:nvPicPr>
          <p:cNvPr id="5" name="图片 4">
            <a:extLst>
              <a:ext uri="{FF2B5EF4-FFF2-40B4-BE49-F238E27FC236}">
                <a16:creationId xmlns:a16="http://schemas.microsoft.com/office/drawing/2014/main" id="{16207CA8-CA25-88C6-D3BC-DE1433426EE0}"/>
              </a:ext>
            </a:extLst>
          </p:cNvPr>
          <p:cNvPicPr>
            <a:picLocks noChangeAspect="1"/>
          </p:cNvPicPr>
          <p:nvPr/>
        </p:nvPicPr>
        <p:blipFill>
          <a:blip r:embed="rId4"/>
          <a:stretch>
            <a:fillRect/>
          </a:stretch>
        </p:blipFill>
        <p:spPr>
          <a:xfrm>
            <a:off x="1446594" y="4808839"/>
            <a:ext cx="2362549" cy="1606003"/>
          </a:xfrm>
          <a:prstGeom prst="rect">
            <a:avLst/>
          </a:prstGeom>
        </p:spPr>
      </p:pic>
      <p:sp>
        <p:nvSpPr>
          <p:cNvPr id="8" name="AutoShape 6" descr="An industrial setting showcasing changing working conditions. The image depicts a factory with different operating conditions, including varying machine speeds and loads, fluctuating temperatures, and different machinery types. Sensors on equipment monitor real-time operational data. On one side, a set of machines operates under normal conditions, while on the other, machines are seen under stress with heat indicators and diagnostic signals. The environment includes a control room with screens displaying operational data and changing conditions in real-time.">
            <a:extLst>
              <a:ext uri="{FF2B5EF4-FFF2-40B4-BE49-F238E27FC236}">
                <a16:creationId xmlns:a16="http://schemas.microsoft.com/office/drawing/2014/main" id="{D5EFBBF2-AFE9-7E1E-7F99-3833B885D5A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文本框 10">
            <a:extLst>
              <a:ext uri="{FF2B5EF4-FFF2-40B4-BE49-F238E27FC236}">
                <a16:creationId xmlns:a16="http://schemas.microsoft.com/office/drawing/2014/main" id="{2B42DBDC-1078-A26C-03C1-53D467F39359}"/>
              </a:ext>
            </a:extLst>
          </p:cNvPr>
          <p:cNvSpPr txBox="1"/>
          <p:nvPr/>
        </p:nvSpPr>
        <p:spPr>
          <a:xfrm>
            <a:off x="1614155" y="6436754"/>
            <a:ext cx="2810754" cy="307777"/>
          </a:xfrm>
          <a:prstGeom prst="rect">
            <a:avLst/>
          </a:prstGeom>
          <a:noFill/>
        </p:spPr>
        <p:txBody>
          <a:bodyPr wrap="square">
            <a:spAutoFit/>
          </a:bodyPr>
          <a:lstStyle/>
          <a:p>
            <a:r>
              <a:rPr lang="zh-CN" altLang="en-US" sz="1400" b="1">
                <a:ea typeface="微软雅黑" panose="020B0503020204020204" pitchFamily="34" charset="-122"/>
                <a:cs typeface="+mn-ea"/>
              </a:rPr>
              <a:t>数据以数据流的形式出现</a:t>
            </a:r>
          </a:p>
        </p:txBody>
      </p:sp>
      <p:sp>
        <p:nvSpPr>
          <p:cNvPr id="12" name="文本框 11">
            <a:extLst>
              <a:ext uri="{FF2B5EF4-FFF2-40B4-BE49-F238E27FC236}">
                <a16:creationId xmlns:a16="http://schemas.microsoft.com/office/drawing/2014/main" id="{12253A5C-FC0C-499A-1B04-759507D892B6}"/>
              </a:ext>
            </a:extLst>
          </p:cNvPr>
          <p:cNvSpPr txBox="1"/>
          <p:nvPr/>
        </p:nvSpPr>
        <p:spPr>
          <a:xfrm>
            <a:off x="4685013" y="6458666"/>
            <a:ext cx="2424039" cy="307777"/>
          </a:xfrm>
          <a:prstGeom prst="rect">
            <a:avLst/>
          </a:prstGeom>
          <a:noFill/>
        </p:spPr>
        <p:txBody>
          <a:bodyPr wrap="square">
            <a:spAutoFit/>
          </a:bodyPr>
          <a:lstStyle/>
          <a:p>
            <a:r>
              <a:rPr lang="zh-CN" altLang="en-US" sz="1400" b="1">
                <a:solidFill>
                  <a:srgbClr val="000000"/>
                </a:solidFill>
                <a:highlight>
                  <a:srgbClr val="FFFFFF"/>
                </a:highlight>
                <a:latin typeface="微软雅黑" panose="020B0503020204020204" pitchFamily="34" charset="-122"/>
                <a:ea typeface="微软雅黑" panose="020B0503020204020204" pitchFamily="34" charset="-122"/>
              </a:rPr>
              <a:t>不同设备</a:t>
            </a:r>
            <a:r>
              <a:rPr lang="zh-CN" altLang="en-US" sz="1400" b="1">
                <a:highlight>
                  <a:srgbClr val="FFFFFF"/>
                </a:highlight>
                <a:latin typeface="微软雅黑" panose="020B0503020204020204" pitchFamily="34" charset="-122"/>
                <a:ea typeface="微软雅黑" panose="020B0503020204020204" pitchFamily="34" charset="-122"/>
              </a:rPr>
              <a:t>训练数据分布不同</a:t>
            </a:r>
            <a:endParaRPr lang="zh-CN" altLang="en-US" sz="1400" b="1">
              <a:ea typeface="微软雅黑" panose="020B0503020204020204" pitchFamily="34" charset="-122"/>
              <a:cs typeface="+mn-ea"/>
            </a:endParaRPr>
          </a:p>
        </p:txBody>
      </p:sp>
      <p:sp>
        <p:nvSpPr>
          <p:cNvPr id="7" name="文本框 6">
            <a:extLst>
              <a:ext uri="{FF2B5EF4-FFF2-40B4-BE49-F238E27FC236}">
                <a16:creationId xmlns:a16="http://schemas.microsoft.com/office/drawing/2014/main" id="{98DBB2C1-B681-059D-7F23-9D82CEB8BD47}"/>
              </a:ext>
            </a:extLst>
          </p:cNvPr>
          <p:cNvSpPr txBox="1"/>
          <p:nvPr/>
        </p:nvSpPr>
        <p:spPr>
          <a:xfrm>
            <a:off x="8678871" y="6414842"/>
            <a:ext cx="1799414" cy="307777"/>
          </a:xfrm>
          <a:prstGeom prst="rect">
            <a:avLst/>
          </a:prstGeom>
          <a:noFill/>
        </p:spPr>
        <p:txBody>
          <a:bodyPr wrap="square">
            <a:spAutoFit/>
          </a:bodyPr>
          <a:lstStyle/>
          <a:p>
            <a:r>
              <a:rPr lang="zh-CN" altLang="en-US" sz="1400" b="1">
                <a:ea typeface="微软雅黑" panose="020B0503020204020204" pitchFamily="34" charset="-122"/>
                <a:cs typeface="+mn-ea"/>
              </a:rPr>
              <a:t>数据稀缺</a:t>
            </a:r>
          </a:p>
        </p:txBody>
      </p:sp>
      <p:pic>
        <p:nvPicPr>
          <p:cNvPr id="10" name="图片 9">
            <a:extLst>
              <a:ext uri="{FF2B5EF4-FFF2-40B4-BE49-F238E27FC236}">
                <a16:creationId xmlns:a16="http://schemas.microsoft.com/office/drawing/2014/main" id="{C896542B-F004-014A-1FDD-158585193473}"/>
              </a:ext>
            </a:extLst>
          </p:cNvPr>
          <p:cNvPicPr>
            <a:picLocks noChangeAspect="1"/>
          </p:cNvPicPr>
          <p:nvPr/>
        </p:nvPicPr>
        <p:blipFill>
          <a:blip r:embed="rId5"/>
          <a:stretch>
            <a:fillRect/>
          </a:stretch>
        </p:blipFill>
        <p:spPr>
          <a:xfrm>
            <a:off x="5371266" y="4806949"/>
            <a:ext cx="991605" cy="1579049"/>
          </a:xfrm>
          <a:prstGeom prst="rect">
            <a:avLst/>
          </a:prstGeom>
        </p:spPr>
      </p:pic>
      <p:pic>
        <p:nvPicPr>
          <p:cNvPr id="13" name="图片 12">
            <a:extLst>
              <a:ext uri="{FF2B5EF4-FFF2-40B4-BE49-F238E27FC236}">
                <a16:creationId xmlns:a16="http://schemas.microsoft.com/office/drawing/2014/main" id="{48E0C73D-64C9-D026-95D1-6C3508D26743}"/>
              </a:ext>
            </a:extLst>
          </p:cNvPr>
          <p:cNvPicPr>
            <a:picLocks noChangeAspect="1"/>
          </p:cNvPicPr>
          <p:nvPr/>
        </p:nvPicPr>
        <p:blipFill>
          <a:blip r:embed="rId6"/>
          <a:stretch>
            <a:fillRect/>
          </a:stretch>
        </p:blipFill>
        <p:spPr>
          <a:xfrm>
            <a:off x="7838911" y="5020032"/>
            <a:ext cx="2334574" cy="1073151"/>
          </a:xfrm>
          <a:prstGeom prst="rect">
            <a:avLst/>
          </a:prstGeom>
        </p:spPr>
      </p:pic>
    </p:spTree>
    <p:extLst>
      <p:ext uri="{BB962C8B-B14F-4D97-AF65-F5344CB8AC3E}">
        <p14:creationId xmlns:p14="http://schemas.microsoft.com/office/powerpoint/2010/main" val="2562073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B40E09F-51D9-393C-B968-712EDD638A3D}"/>
              </a:ext>
            </a:extLst>
          </p:cNvPr>
          <p:cNvSpPr/>
          <p:nvPr/>
        </p:nvSpPr>
        <p:spPr>
          <a:xfrm>
            <a:off x="1398507" y="1873986"/>
            <a:ext cx="3384888" cy="10259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tLang="zh-CN" sz="1600">
              <a:solidFill>
                <a:schemeClr val="tx1"/>
              </a:solidFill>
              <a:latin typeface="宋体" panose="02010600030101010101" pitchFamily="2" charset="-122"/>
              <a:ea typeface="宋体" panose="02010600030101010101" pitchFamily="2" charset="-122"/>
            </a:endParaRPr>
          </a:p>
          <a:p>
            <a:pPr algn="just"/>
            <a:r>
              <a:rPr lang="zh-CN" altLang="en-US" sz="1600">
                <a:solidFill>
                  <a:schemeClr val="tx1"/>
                </a:solidFill>
                <a:latin typeface="宋体" panose="02010600030101010101" pitchFamily="2" charset="-122"/>
                <a:ea typeface="宋体" panose="02010600030101010101" pitchFamily="2" charset="-122"/>
              </a:rPr>
              <a:t>在</a:t>
            </a:r>
            <a:r>
              <a:rPr lang="zh-CN" altLang="en-US" sz="1600" dirty="0">
                <a:solidFill>
                  <a:schemeClr val="tx1"/>
                </a:solidFill>
                <a:latin typeface="宋体" panose="02010600030101010101" pitchFamily="2" charset="-122"/>
                <a:ea typeface="宋体" panose="02010600030101010101" pitchFamily="2" charset="-122"/>
              </a:rPr>
              <a:t>真实</a:t>
            </a:r>
            <a:r>
              <a:rPr lang="zh-CN" altLang="en-US" sz="1600">
                <a:solidFill>
                  <a:schemeClr val="tx1"/>
                </a:solidFill>
                <a:latin typeface="宋体" panose="02010600030101010101" pitchFamily="2" charset="-122"/>
                <a:ea typeface="宋体" panose="02010600030101010101" pitchFamily="2" charset="-122"/>
              </a:rPr>
              <a:t>工业场景数据以数据流的形式出现，模型无法及时更新，不能满足实时性需求。</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6" name="矩形 5">
            <a:extLst>
              <a:ext uri="{FF2B5EF4-FFF2-40B4-BE49-F238E27FC236}">
                <a16:creationId xmlns:a16="http://schemas.microsoft.com/office/drawing/2014/main" id="{F0A63213-8E84-C0F7-D378-834C33E087C6}"/>
              </a:ext>
            </a:extLst>
          </p:cNvPr>
          <p:cNvSpPr/>
          <p:nvPr/>
        </p:nvSpPr>
        <p:spPr>
          <a:xfrm>
            <a:off x="1164425" y="1381097"/>
            <a:ext cx="3733800" cy="5019703"/>
          </a:xfrm>
          <a:prstGeom prst="rect">
            <a:avLst/>
          </a:prstGeom>
          <a:noFill/>
          <a:ln w="190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1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研究背景</a:t>
            </a:r>
          </a:p>
        </p:txBody>
      </p:sp>
      <p:sp>
        <p:nvSpPr>
          <p:cNvPr id="1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文献综述</a:t>
            </a:r>
          </a:p>
        </p:txBody>
      </p:sp>
      <p:sp>
        <p:nvSpPr>
          <p:cNvPr id="1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1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技术路线</a:t>
            </a:r>
          </a:p>
        </p:txBody>
      </p:sp>
      <p:sp>
        <p:nvSpPr>
          <p:cNvPr id="2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22" name="直接连接符 2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任意多边形 3">
            <a:extLst>
              <a:ext uri="{FF2B5EF4-FFF2-40B4-BE49-F238E27FC236}">
                <a16:creationId xmlns:a16="http://schemas.microsoft.com/office/drawing/2014/main" id="{ECFF078E-C784-A37E-929D-BA6901F6A61D}"/>
              </a:ext>
            </a:extLst>
          </p:cNvPr>
          <p:cNvSpPr/>
          <p:nvPr/>
        </p:nvSpPr>
        <p:spPr>
          <a:xfrm>
            <a:off x="1216909" y="1715477"/>
            <a:ext cx="1163978" cy="414029"/>
          </a:xfrm>
          <a:custGeom>
            <a:avLst/>
            <a:gdLst>
              <a:gd name="connsiteX0" fmla="*/ 0 w 1693420"/>
              <a:gd name="connsiteY0" fmla="*/ 67342 h 673417"/>
              <a:gd name="connsiteX1" fmla="*/ 67342 w 1693420"/>
              <a:gd name="connsiteY1" fmla="*/ 0 h 673417"/>
              <a:gd name="connsiteX2" fmla="*/ 1626078 w 1693420"/>
              <a:gd name="connsiteY2" fmla="*/ 0 h 673417"/>
              <a:gd name="connsiteX3" fmla="*/ 1693420 w 1693420"/>
              <a:gd name="connsiteY3" fmla="*/ 67342 h 673417"/>
              <a:gd name="connsiteX4" fmla="*/ 1693420 w 1693420"/>
              <a:gd name="connsiteY4" fmla="*/ 606075 h 673417"/>
              <a:gd name="connsiteX5" fmla="*/ 1626078 w 1693420"/>
              <a:gd name="connsiteY5" fmla="*/ 673417 h 673417"/>
              <a:gd name="connsiteX6" fmla="*/ 67342 w 1693420"/>
              <a:gd name="connsiteY6" fmla="*/ 673417 h 673417"/>
              <a:gd name="connsiteX7" fmla="*/ 0 w 1693420"/>
              <a:gd name="connsiteY7" fmla="*/ 606075 h 673417"/>
              <a:gd name="connsiteX8" fmla="*/ 0 w 1693420"/>
              <a:gd name="connsiteY8" fmla="*/ 67342 h 673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3420" h="673417">
                <a:moveTo>
                  <a:pt x="0" y="67342"/>
                </a:moveTo>
                <a:cubicBezTo>
                  <a:pt x="0" y="30150"/>
                  <a:pt x="30150" y="0"/>
                  <a:pt x="67342" y="0"/>
                </a:cubicBezTo>
                <a:lnTo>
                  <a:pt x="1626078" y="0"/>
                </a:lnTo>
                <a:cubicBezTo>
                  <a:pt x="1663270" y="0"/>
                  <a:pt x="1693420" y="30150"/>
                  <a:pt x="1693420" y="67342"/>
                </a:cubicBezTo>
                <a:lnTo>
                  <a:pt x="1693420" y="606075"/>
                </a:lnTo>
                <a:cubicBezTo>
                  <a:pt x="1693420" y="643267"/>
                  <a:pt x="1663270" y="673417"/>
                  <a:pt x="1626078" y="673417"/>
                </a:cubicBezTo>
                <a:lnTo>
                  <a:pt x="67342" y="673417"/>
                </a:lnTo>
                <a:cubicBezTo>
                  <a:pt x="30150" y="673417"/>
                  <a:pt x="0" y="643267"/>
                  <a:pt x="0" y="606075"/>
                </a:cubicBezTo>
                <a:lnTo>
                  <a:pt x="0" y="67342"/>
                </a:lnTo>
                <a:close/>
              </a:path>
            </a:pathLst>
          </a:custGeom>
          <a:solidFill>
            <a:srgbClr val="2F5597"/>
          </a:solidFill>
          <a:ln w="25400">
            <a:solidFill>
              <a:schemeClr val="bg1"/>
            </a:solidFill>
          </a:ln>
          <a:effectLst>
            <a:outerShdw blurRad="63500" dist="508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6228" tIns="49083" rIns="66228" bIns="49083" spcCol="127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00150" rtl="0" eaLnBrk="1" fontAlgn="auto" latinLnBrk="0" hangingPunct="1">
              <a:lnSpc>
                <a:spcPct val="90000"/>
              </a:lnSpc>
              <a:spcBef>
                <a:spcPct val="0"/>
              </a:spcBef>
              <a:spcAft>
                <a:spcPct val="35000"/>
              </a:spcAft>
              <a:buClrTx/>
              <a:buSzTx/>
              <a:buFontTx/>
              <a:buNone/>
              <a:defRPr/>
            </a:pPr>
            <a:r>
              <a:rPr lang="zh-CN" altLang="en-US" sz="2000" b="1">
                <a:solidFill>
                  <a:schemeClr val="bg1"/>
                </a:solidFill>
                <a:latin typeface="等线" panose="02010600030101010101" charset="-122"/>
                <a:ea typeface="等线" panose="02010600030101010101" charset="-122"/>
                <a:sym typeface="微软雅黑 Light" panose="020B0502040204020203" pitchFamily="34" charset="-122"/>
              </a:rPr>
              <a:t>时间</a:t>
            </a:r>
            <a:endParaRPr lang="zh-CN" altLang="en-US" sz="2000" b="1" dirty="0">
              <a:solidFill>
                <a:schemeClr val="bg1"/>
              </a:solidFill>
              <a:latin typeface="等线" panose="02010600030101010101" charset="-122"/>
              <a:ea typeface="等线" panose="02010600030101010101" charset="-122"/>
              <a:sym typeface="微软雅黑 Light" panose="020B0502040204020203" pitchFamily="34" charset="-122"/>
            </a:endParaRPr>
          </a:p>
        </p:txBody>
      </p:sp>
      <p:cxnSp>
        <p:nvCxnSpPr>
          <p:cNvPr id="23" name="直接连接符 2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6" name="等腰三角形 25"/>
          <p:cNvSpPr/>
          <p:nvPr/>
        </p:nvSpPr>
        <p:spPr>
          <a:xfrm rot="10800000">
            <a:off x="1273716"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2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5" name="矩形 4">
            <a:extLst>
              <a:ext uri="{FF2B5EF4-FFF2-40B4-BE49-F238E27FC236}">
                <a16:creationId xmlns:a16="http://schemas.microsoft.com/office/drawing/2014/main" id="{13930D96-360A-2FC9-7CF1-53B75F01E0CB}"/>
              </a:ext>
            </a:extLst>
          </p:cNvPr>
          <p:cNvSpPr/>
          <p:nvPr/>
        </p:nvSpPr>
        <p:spPr>
          <a:xfrm>
            <a:off x="1372537" y="3364807"/>
            <a:ext cx="3384888" cy="131425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tLang="zh-CN" sz="1600">
              <a:solidFill>
                <a:schemeClr val="tx1"/>
              </a:solidFill>
              <a:latin typeface="宋体" panose="02010600030101010101" pitchFamily="2" charset="-122"/>
              <a:ea typeface="宋体" panose="02010600030101010101" pitchFamily="2" charset="-122"/>
            </a:endParaRPr>
          </a:p>
          <a:p>
            <a:pPr algn="just"/>
            <a:r>
              <a:rPr lang="zh-CN" altLang="en-US" sz="1600">
                <a:solidFill>
                  <a:schemeClr val="tx1"/>
                </a:solidFill>
                <a:latin typeface="宋体" panose="02010600030101010101" pitchFamily="2" charset="-122"/>
                <a:ea typeface="宋体" panose="02010600030101010101" pitchFamily="2" charset="-122"/>
              </a:rPr>
              <a:t>在真实工业场景会出现新设备并且新设备数据稀缺的情况，一般模型无法满足跨设备迁移需求和处理数据稀缺的能力</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9" name="矩形 8">
            <a:extLst>
              <a:ext uri="{FF2B5EF4-FFF2-40B4-BE49-F238E27FC236}">
                <a16:creationId xmlns:a16="http://schemas.microsoft.com/office/drawing/2014/main" id="{98839EAA-CF94-0182-3295-78D38F50E4B4}"/>
              </a:ext>
            </a:extLst>
          </p:cNvPr>
          <p:cNvSpPr/>
          <p:nvPr/>
        </p:nvSpPr>
        <p:spPr>
          <a:xfrm>
            <a:off x="5814132" y="1873986"/>
            <a:ext cx="4896106" cy="92392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zh-CN" altLang="en-US" sz="1600">
                <a:solidFill>
                  <a:schemeClr val="tx1"/>
                </a:solidFill>
                <a:latin typeface="宋体" panose="02010600030101010101" pitchFamily="2" charset="-122"/>
                <a:ea typeface="宋体" panose="02010600030101010101" pitchFamily="2" charset="-122"/>
              </a:rPr>
              <a:t>针对真实工业场景的模型的实时性需求，</a:t>
            </a:r>
            <a:r>
              <a:rPr lang="zh-CN" altLang="en-US" sz="1600" b="1">
                <a:solidFill>
                  <a:srgbClr val="C00000"/>
                </a:solidFill>
                <a:latin typeface="宋体" panose="02010600030101010101" pitchFamily="2" charset="-122"/>
                <a:ea typeface="宋体" panose="02010600030101010101" pitchFamily="2" charset="-122"/>
              </a:rPr>
              <a:t>设计改进宽度学习的增量式故障诊断方法</a:t>
            </a:r>
            <a:r>
              <a:rPr lang="zh-CN" altLang="en-US" sz="1600">
                <a:solidFill>
                  <a:schemeClr val="tx1"/>
                </a:solidFill>
                <a:latin typeface="宋体" panose="02010600030101010101" pitchFamily="2" charset="-122"/>
                <a:ea typeface="宋体" panose="02010600030101010101" pitchFamily="2" charset="-122"/>
              </a:rPr>
              <a:t>。</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0" name="矩形 9">
            <a:extLst>
              <a:ext uri="{FF2B5EF4-FFF2-40B4-BE49-F238E27FC236}">
                <a16:creationId xmlns:a16="http://schemas.microsoft.com/office/drawing/2014/main" id="{1359F652-4D7E-CB3B-177B-A67DAA434555}"/>
              </a:ext>
            </a:extLst>
          </p:cNvPr>
          <p:cNvSpPr/>
          <p:nvPr/>
        </p:nvSpPr>
        <p:spPr>
          <a:xfrm>
            <a:off x="5810119" y="3367272"/>
            <a:ext cx="4896105" cy="110608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zh-CN" altLang="en-US" sz="1600">
                <a:solidFill>
                  <a:schemeClr val="tx1"/>
                </a:solidFill>
                <a:latin typeface="宋体" panose="02010600030101010101" pitchFamily="2" charset="-122"/>
                <a:ea typeface="宋体" panose="02010600030101010101" pitchFamily="2" charset="-122"/>
              </a:rPr>
              <a:t>针对真实工业场景的模型的迁移需求和数据稀缺情况，</a:t>
            </a:r>
            <a:r>
              <a:rPr lang="zh-CN" altLang="en-US" sz="1600" b="1">
                <a:solidFill>
                  <a:srgbClr val="C00000"/>
                </a:solidFill>
                <a:latin typeface="宋体" panose="02010600030101010101" pitchFamily="2" charset="-122"/>
                <a:ea typeface="宋体" panose="02010600030101010101" pitchFamily="2" charset="-122"/>
              </a:rPr>
              <a:t>设计改进域生成对抗网络的小样本故障诊断方法</a:t>
            </a:r>
            <a:r>
              <a:rPr lang="zh-CN" altLang="en-US" sz="1600">
                <a:solidFill>
                  <a:schemeClr val="tx1"/>
                </a:solidFill>
                <a:latin typeface="宋体" panose="02010600030101010101" pitchFamily="2" charset="-122"/>
                <a:ea typeface="宋体" panose="02010600030101010101" pitchFamily="2" charset="-122"/>
              </a:rPr>
              <a:t>。</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11" name="矩形 10">
            <a:extLst>
              <a:ext uri="{FF2B5EF4-FFF2-40B4-BE49-F238E27FC236}">
                <a16:creationId xmlns:a16="http://schemas.microsoft.com/office/drawing/2014/main" id="{1F299D64-9A94-E696-78AE-DDB6F6686293}"/>
              </a:ext>
            </a:extLst>
          </p:cNvPr>
          <p:cNvSpPr/>
          <p:nvPr/>
        </p:nvSpPr>
        <p:spPr>
          <a:xfrm>
            <a:off x="5624511" y="1357283"/>
            <a:ext cx="5267325" cy="5043517"/>
          </a:xfrm>
          <a:prstGeom prst="rect">
            <a:avLst/>
          </a:prstGeom>
          <a:noFill/>
          <a:ln w="190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19E5697B-625E-8E57-C99C-A1E456FAA03A}"/>
              </a:ext>
            </a:extLst>
          </p:cNvPr>
          <p:cNvSpPr txBox="1"/>
          <p:nvPr/>
        </p:nvSpPr>
        <p:spPr>
          <a:xfrm>
            <a:off x="1782377" y="1415504"/>
            <a:ext cx="2497895" cy="400110"/>
          </a:xfrm>
          <a:prstGeom prst="rect">
            <a:avLst/>
          </a:prstGeom>
          <a:noFill/>
        </p:spPr>
        <p:txBody>
          <a:bodyPr wrap="square" rtlCol="0">
            <a:spAutoFit/>
          </a:bodyPr>
          <a:lstStyle/>
          <a:p>
            <a:pPr algn="ctr"/>
            <a:r>
              <a:rPr lang="zh-CN" altLang="en-US" sz="2000" dirty="0">
                <a:solidFill>
                  <a:schemeClr val="accent1">
                    <a:lumMod val="50000"/>
                  </a:schemeClr>
                </a:solidFill>
                <a:latin typeface="宋体" panose="02010600030101010101" pitchFamily="2" charset="-122"/>
                <a:ea typeface="宋体" panose="02010600030101010101" pitchFamily="2" charset="-122"/>
              </a:rPr>
              <a:t>现存问题</a:t>
            </a:r>
          </a:p>
        </p:txBody>
      </p:sp>
      <p:sp>
        <p:nvSpPr>
          <p:cNvPr id="13" name="文本框 12">
            <a:extLst>
              <a:ext uri="{FF2B5EF4-FFF2-40B4-BE49-F238E27FC236}">
                <a16:creationId xmlns:a16="http://schemas.microsoft.com/office/drawing/2014/main" id="{0E8C4374-4649-76FA-DEA1-404E03BEE2C4}"/>
              </a:ext>
            </a:extLst>
          </p:cNvPr>
          <p:cNvSpPr txBox="1"/>
          <p:nvPr/>
        </p:nvSpPr>
        <p:spPr>
          <a:xfrm>
            <a:off x="7009225" y="1357283"/>
            <a:ext cx="2497895" cy="400110"/>
          </a:xfrm>
          <a:prstGeom prst="rect">
            <a:avLst/>
          </a:prstGeom>
          <a:noFill/>
        </p:spPr>
        <p:txBody>
          <a:bodyPr wrap="square" rtlCol="0">
            <a:spAutoFit/>
          </a:bodyPr>
          <a:lstStyle/>
          <a:p>
            <a:pPr algn="ctr"/>
            <a:r>
              <a:rPr lang="zh-CN" altLang="en-US" sz="2000" dirty="0">
                <a:solidFill>
                  <a:schemeClr val="accent1">
                    <a:lumMod val="50000"/>
                  </a:schemeClr>
                </a:solidFill>
                <a:latin typeface="宋体" panose="02010600030101010101" pitchFamily="2" charset="-122"/>
                <a:ea typeface="宋体" panose="02010600030101010101" pitchFamily="2" charset="-122"/>
              </a:rPr>
              <a:t>研究目标</a:t>
            </a:r>
          </a:p>
        </p:txBody>
      </p:sp>
      <p:sp>
        <p:nvSpPr>
          <p:cNvPr id="7" name="箭头: 右 6">
            <a:extLst>
              <a:ext uri="{FF2B5EF4-FFF2-40B4-BE49-F238E27FC236}">
                <a16:creationId xmlns:a16="http://schemas.microsoft.com/office/drawing/2014/main" id="{5AE6907B-F36A-8034-6E11-ABB9C84E323A}"/>
              </a:ext>
            </a:extLst>
          </p:cNvPr>
          <p:cNvSpPr/>
          <p:nvPr/>
        </p:nvSpPr>
        <p:spPr>
          <a:xfrm>
            <a:off x="4787855" y="2071654"/>
            <a:ext cx="1009524" cy="5238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右 7">
            <a:extLst>
              <a:ext uri="{FF2B5EF4-FFF2-40B4-BE49-F238E27FC236}">
                <a16:creationId xmlns:a16="http://schemas.microsoft.com/office/drawing/2014/main" id="{29375E8D-14B8-40BD-7542-407DAD57474E}"/>
              </a:ext>
            </a:extLst>
          </p:cNvPr>
          <p:cNvSpPr/>
          <p:nvPr/>
        </p:nvSpPr>
        <p:spPr>
          <a:xfrm>
            <a:off x="4787855" y="3703739"/>
            <a:ext cx="1009524" cy="5238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任意多边形 3">
            <a:extLst>
              <a:ext uri="{FF2B5EF4-FFF2-40B4-BE49-F238E27FC236}">
                <a16:creationId xmlns:a16="http://schemas.microsoft.com/office/drawing/2014/main" id="{DD745B91-34DC-97F7-7EA3-6FCA1D8227C8}"/>
              </a:ext>
            </a:extLst>
          </p:cNvPr>
          <p:cNvSpPr/>
          <p:nvPr/>
        </p:nvSpPr>
        <p:spPr>
          <a:xfrm>
            <a:off x="1194856" y="3160258"/>
            <a:ext cx="1163978" cy="414029"/>
          </a:xfrm>
          <a:custGeom>
            <a:avLst/>
            <a:gdLst>
              <a:gd name="connsiteX0" fmla="*/ 0 w 1693420"/>
              <a:gd name="connsiteY0" fmla="*/ 67342 h 673417"/>
              <a:gd name="connsiteX1" fmla="*/ 67342 w 1693420"/>
              <a:gd name="connsiteY1" fmla="*/ 0 h 673417"/>
              <a:gd name="connsiteX2" fmla="*/ 1626078 w 1693420"/>
              <a:gd name="connsiteY2" fmla="*/ 0 h 673417"/>
              <a:gd name="connsiteX3" fmla="*/ 1693420 w 1693420"/>
              <a:gd name="connsiteY3" fmla="*/ 67342 h 673417"/>
              <a:gd name="connsiteX4" fmla="*/ 1693420 w 1693420"/>
              <a:gd name="connsiteY4" fmla="*/ 606075 h 673417"/>
              <a:gd name="connsiteX5" fmla="*/ 1626078 w 1693420"/>
              <a:gd name="connsiteY5" fmla="*/ 673417 h 673417"/>
              <a:gd name="connsiteX6" fmla="*/ 67342 w 1693420"/>
              <a:gd name="connsiteY6" fmla="*/ 673417 h 673417"/>
              <a:gd name="connsiteX7" fmla="*/ 0 w 1693420"/>
              <a:gd name="connsiteY7" fmla="*/ 606075 h 673417"/>
              <a:gd name="connsiteX8" fmla="*/ 0 w 1693420"/>
              <a:gd name="connsiteY8" fmla="*/ 67342 h 673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3420" h="673417">
                <a:moveTo>
                  <a:pt x="0" y="67342"/>
                </a:moveTo>
                <a:cubicBezTo>
                  <a:pt x="0" y="30150"/>
                  <a:pt x="30150" y="0"/>
                  <a:pt x="67342" y="0"/>
                </a:cubicBezTo>
                <a:lnTo>
                  <a:pt x="1626078" y="0"/>
                </a:lnTo>
                <a:cubicBezTo>
                  <a:pt x="1663270" y="0"/>
                  <a:pt x="1693420" y="30150"/>
                  <a:pt x="1693420" y="67342"/>
                </a:cubicBezTo>
                <a:lnTo>
                  <a:pt x="1693420" y="606075"/>
                </a:lnTo>
                <a:cubicBezTo>
                  <a:pt x="1693420" y="643267"/>
                  <a:pt x="1663270" y="673417"/>
                  <a:pt x="1626078" y="673417"/>
                </a:cubicBezTo>
                <a:lnTo>
                  <a:pt x="67342" y="673417"/>
                </a:lnTo>
                <a:cubicBezTo>
                  <a:pt x="30150" y="673417"/>
                  <a:pt x="0" y="643267"/>
                  <a:pt x="0" y="606075"/>
                </a:cubicBezTo>
                <a:lnTo>
                  <a:pt x="0" y="67342"/>
                </a:lnTo>
                <a:close/>
              </a:path>
            </a:pathLst>
          </a:custGeom>
          <a:solidFill>
            <a:srgbClr val="2F5597"/>
          </a:solidFill>
          <a:ln w="25400">
            <a:solidFill>
              <a:schemeClr val="bg1"/>
            </a:solidFill>
          </a:ln>
          <a:effectLst>
            <a:outerShdw blurRad="63500" dist="508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6228" tIns="49083" rIns="66228" bIns="49083" spcCol="127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00150" rtl="0" eaLnBrk="1" fontAlgn="auto" latinLnBrk="0" hangingPunct="1">
              <a:lnSpc>
                <a:spcPct val="90000"/>
              </a:lnSpc>
              <a:spcBef>
                <a:spcPct val="0"/>
              </a:spcBef>
              <a:spcAft>
                <a:spcPct val="35000"/>
              </a:spcAft>
              <a:buClrTx/>
              <a:buSzTx/>
              <a:buFontTx/>
              <a:buNone/>
              <a:defRPr/>
            </a:pPr>
            <a:r>
              <a:rPr lang="zh-CN" altLang="en-US" sz="2000" b="1">
                <a:solidFill>
                  <a:schemeClr val="bg1"/>
                </a:solidFill>
                <a:latin typeface="等线" panose="02010600030101010101" charset="-122"/>
                <a:ea typeface="等线" panose="02010600030101010101" charset="-122"/>
                <a:sym typeface="微软雅黑 Light" panose="020B0502040204020203" pitchFamily="34" charset="-122"/>
              </a:rPr>
              <a:t>空间</a:t>
            </a:r>
            <a:endParaRPr lang="zh-CN" altLang="en-US" sz="2000" b="1" dirty="0">
              <a:solidFill>
                <a:schemeClr val="bg1"/>
              </a:solidFill>
              <a:latin typeface="等线" panose="02010600030101010101" charset="-122"/>
              <a:ea typeface="等线" panose="02010600030101010101" charset="-122"/>
              <a:sym typeface="微软雅黑 Light" panose="020B0502040204020203" pitchFamily="34" charset="-122"/>
            </a:endParaRPr>
          </a:p>
        </p:txBody>
      </p:sp>
      <p:sp>
        <p:nvSpPr>
          <p:cNvPr id="33" name="箭头: 左弧形 32">
            <a:extLst>
              <a:ext uri="{FF2B5EF4-FFF2-40B4-BE49-F238E27FC236}">
                <a16:creationId xmlns:a16="http://schemas.microsoft.com/office/drawing/2014/main" id="{344FAAA4-2EEF-E1C3-5EF0-50FAB3C20929}"/>
              </a:ext>
            </a:extLst>
          </p:cNvPr>
          <p:cNvSpPr/>
          <p:nvPr/>
        </p:nvSpPr>
        <p:spPr>
          <a:xfrm>
            <a:off x="712546" y="3070417"/>
            <a:ext cx="390463" cy="2604447"/>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4" name="箭头: 左弧形 33">
            <a:extLst>
              <a:ext uri="{FF2B5EF4-FFF2-40B4-BE49-F238E27FC236}">
                <a16:creationId xmlns:a16="http://schemas.microsoft.com/office/drawing/2014/main" id="{8469D849-8260-CE23-C9DE-645F27642CF6}"/>
              </a:ext>
            </a:extLst>
          </p:cNvPr>
          <p:cNvSpPr/>
          <p:nvPr/>
        </p:nvSpPr>
        <p:spPr>
          <a:xfrm>
            <a:off x="634581" y="1911062"/>
            <a:ext cx="463581" cy="3763802"/>
          </a:xfrm>
          <a:prstGeom prst="curvedRightArrow">
            <a:avLst>
              <a:gd name="adj1" fmla="val 25000"/>
              <a:gd name="adj2" fmla="val 50000"/>
              <a:gd name="adj3" fmla="val 1747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矩形 36">
            <a:extLst>
              <a:ext uri="{FF2B5EF4-FFF2-40B4-BE49-F238E27FC236}">
                <a16:creationId xmlns:a16="http://schemas.microsoft.com/office/drawing/2014/main" id="{699D1B5E-2708-D218-21F3-FBEF80A1E709}"/>
              </a:ext>
            </a:extLst>
          </p:cNvPr>
          <p:cNvSpPr/>
          <p:nvPr/>
        </p:nvSpPr>
        <p:spPr>
          <a:xfrm>
            <a:off x="1346643" y="5011377"/>
            <a:ext cx="3384888" cy="110367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altLang="zh-CN" sz="1600">
              <a:solidFill>
                <a:schemeClr val="tx1"/>
              </a:solidFill>
              <a:latin typeface="宋体" panose="02010600030101010101" pitchFamily="2" charset="-122"/>
              <a:ea typeface="宋体" panose="02010600030101010101" pitchFamily="2" charset="-122"/>
            </a:endParaRPr>
          </a:p>
          <a:p>
            <a:pPr algn="just"/>
            <a:r>
              <a:rPr lang="zh-CN" altLang="en-US" sz="1600">
                <a:solidFill>
                  <a:schemeClr val="tx1"/>
                </a:solidFill>
                <a:latin typeface="宋体" panose="02010600030101010101" pitchFamily="2" charset="-122"/>
                <a:ea typeface="宋体" panose="02010600030101010101" pitchFamily="2" charset="-122"/>
              </a:rPr>
              <a:t>一般模型无法从数据流形式的数据、跨设备和数据稀缺的场景进行故障诊断。</a:t>
            </a: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38" name="任意多边形 3">
            <a:extLst>
              <a:ext uri="{FF2B5EF4-FFF2-40B4-BE49-F238E27FC236}">
                <a16:creationId xmlns:a16="http://schemas.microsoft.com/office/drawing/2014/main" id="{1F25A0D7-5B9C-4C7C-1667-DD5BD6773B28}"/>
              </a:ext>
            </a:extLst>
          </p:cNvPr>
          <p:cNvSpPr/>
          <p:nvPr/>
        </p:nvSpPr>
        <p:spPr>
          <a:xfrm>
            <a:off x="1168962" y="4806828"/>
            <a:ext cx="1422800" cy="414029"/>
          </a:xfrm>
          <a:custGeom>
            <a:avLst/>
            <a:gdLst>
              <a:gd name="connsiteX0" fmla="*/ 0 w 1693420"/>
              <a:gd name="connsiteY0" fmla="*/ 67342 h 673417"/>
              <a:gd name="connsiteX1" fmla="*/ 67342 w 1693420"/>
              <a:gd name="connsiteY1" fmla="*/ 0 h 673417"/>
              <a:gd name="connsiteX2" fmla="*/ 1626078 w 1693420"/>
              <a:gd name="connsiteY2" fmla="*/ 0 h 673417"/>
              <a:gd name="connsiteX3" fmla="*/ 1693420 w 1693420"/>
              <a:gd name="connsiteY3" fmla="*/ 67342 h 673417"/>
              <a:gd name="connsiteX4" fmla="*/ 1693420 w 1693420"/>
              <a:gd name="connsiteY4" fmla="*/ 606075 h 673417"/>
              <a:gd name="connsiteX5" fmla="*/ 1626078 w 1693420"/>
              <a:gd name="connsiteY5" fmla="*/ 673417 h 673417"/>
              <a:gd name="connsiteX6" fmla="*/ 67342 w 1693420"/>
              <a:gd name="connsiteY6" fmla="*/ 673417 h 673417"/>
              <a:gd name="connsiteX7" fmla="*/ 0 w 1693420"/>
              <a:gd name="connsiteY7" fmla="*/ 606075 h 673417"/>
              <a:gd name="connsiteX8" fmla="*/ 0 w 1693420"/>
              <a:gd name="connsiteY8" fmla="*/ 67342 h 673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3420" h="673417">
                <a:moveTo>
                  <a:pt x="0" y="67342"/>
                </a:moveTo>
                <a:cubicBezTo>
                  <a:pt x="0" y="30150"/>
                  <a:pt x="30150" y="0"/>
                  <a:pt x="67342" y="0"/>
                </a:cubicBezTo>
                <a:lnTo>
                  <a:pt x="1626078" y="0"/>
                </a:lnTo>
                <a:cubicBezTo>
                  <a:pt x="1663270" y="0"/>
                  <a:pt x="1693420" y="30150"/>
                  <a:pt x="1693420" y="67342"/>
                </a:cubicBezTo>
                <a:lnTo>
                  <a:pt x="1693420" y="606075"/>
                </a:lnTo>
                <a:cubicBezTo>
                  <a:pt x="1693420" y="643267"/>
                  <a:pt x="1663270" y="673417"/>
                  <a:pt x="1626078" y="673417"/>
                </a:cubicBezTo>
                <a:lnTo>
                  <a:pt x="67342" y="673417"/>
                </a:lnTo>
                <a:cubicBezTo>
                  <a:pt x="30150" y="673417"/>
                  <a:pt x="0" y="643267"/>
                  <a:pt x="0" y="606075"/>
                </a:cubicBezTo>
                <a:lnTo>
                  <a:pt x="0" y="67342"/>
                </a:lnTo>
                <a:close/>
              </a:path>
            </a:pathLst>
          </a:custGeom>
          <a:solidFill>
            <a:srgbClr val="2F5597"/>
          </a:solidFill>
          <a:ln w="25400">
            <a:solidFill>
              <a:schemeClr val="bg1"/>
            </a:solidFill>
          </a:ln>
          <a:effectLst>
            <a:outerShdw blurRad="63500" dist="508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6228" tIns="49083" rIns="66228" bIns="49083" spcCol="127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00150" rtl="0" eaLnBrk="1" fontAlgn="auto" latinLnBrk="0" hangingPunct="1">
              <a:lnSpc>
                <a:spcPct val="90000"/>
              </a:lnSpc>
              <a:spcBef>
                <a:spcPct val="0"/>
              </a:spcBef>
              <a:spcAft>
                <a:spcPct val="35000"/>
              </a:spcAft>
              <a:buClrTx/>
              <a:buSzTx/>
              <a:buFontTx/>
              <a:buNone/>
              <a:defRPr/>
            </a:pPr>
            <a:r>
              <a:rPr lang="zh-CN" altLang="en-US" sz="2000" b="1">
                <a:solidFill>
                  <a:schemeClr val="bg1"/>
                </a:solidFill>
                <a:latin typeface="等线" panose="02010600030101010101" charset="-122"/>
                <a:ea typeface="等线" panose="02010600030101010101" charset="-122"/>
                <a:sym typeface="微软雅黑 Light" panose="020B0502040204020203" pitchFamily="34" charset="-122"/>
              </a:rPr>
              <a:t>时间</a:t>
            </a:r>
            <a:r>
              <a:rPr lang="en-US" altLang="zh-CN" sz="2000" b="1">
                <a:solidFill>
                  <a:schemeClr val="bg1"/>
                </a:solidFill>
                <a:latin typeface="等线" panose="02010600030101010101" charset="-122"/>
                <a:ea typeface="等线" panose="02010600030101010101" charset="-122"/>
                <a:sym typeface="微软雅黑 Light" panose="020B0502040204020203" pitchFamily="34" charset="-122"/>
              </a:rPr>
              <a:t>+</a:t>
            </a:r>
            <a:r>
              <a:rPr lang="zh-CN" altLang="en-US" sz="2000" b="1">
                <a:solidFill>
                  <a:schemeClr val="bg1"/>
                </a:solidFill>
                <a:latin typeface="等线" panose="02010600030101010101" charset="-122"/>
                <a:ea typeface="等线" panose="02010600030101010101" charset="-122"/>
                <a:sym typeface="微软雅黑 Light" panose="020B0502040204020203" pitchFamily="34" charset="-122"/>
              </a:rPr>
              <a:t>空间</a:t>
            </a:r>
            <a:endParaRPr lang="zh-CN" altLang="en-US" sz="2000" b="1" dirty="0">
              <a:solidFill>
                <a:schemeClr val="bg1"/>
              </a:solidFill>
              <a:latin typeface="等线" panose="02010600030101010101" charset="-122"/>
              <a:ea typeface="等线" panose="02010600030101010101" charset="-122"/>
              <a:sym typeface="微软雅黑 Light" panose="020B0502040204020203" pitchFamily="34" charset="-122"/>
            </a:endParaRPr>
          </a:p>
        </p:txBody>
      </p:sp>
      <p:sp>
        <p:nvSpPr>
          <p:cNvPr id="39" name="箭头: 右 38">
            <a:extLst>
              <a:ext uri="{FF2B5EF4-FFF2-40B4-BE49-F238E27FC236}">
                <a16:creationId xmlns:a16="http://schemas.microsoft.com/office/drawing/2014/main" id="{DAA146FB-0E61-BDD4-B9A1-B002566B252E}"/>
              </a:ext>
            </a:extLst>
          </p:cNvPr>
          <p:cNvSpPr/>
          <p:nvPr/>
        </p:nvSpPr>
        <p:spPr>
          <a:xfrm>
            <a:off x="4731531" y="5218495"/>
            <a:ext cx="1009524" cy="5238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7B5D4BC0-41F8-04A9-456E-6527893692A0}"/>
              </a:ext>
            </a:extLst>
          </p:cNvPr>
          <p:cNvSpPr/>
          <p:nvPr/>
        </p:nvSpPr>
        <p:spPr>
          <a:xfrm>
            <a:off x="5741055" y="5029658"/>
            <a:ext cx="4965169" cy="108539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zh-CN" altLang="en-US" sz="1600">
                <a:solidFill>
                  <a:schemeClr val="tx1"/>
                </a:solidFill>
                <a:latin typeface="宋体" panose="02010600030101010101" pitchFamily="2" charset="-122"/>
                <a:ea typeface="宋体" panose="02010600030101010101" pitchFamily="2" charset="-122"/>
              </a:rPr>
              <a:t>综合考虑真实工业场景下数据流流形式的数据、迁移需求和数据稀缺情况，</a:t>
            </a:r>
            <a:r>
              <a:rPr lang="zh-CN" altLang="en-US" sz="1600" b="1">
                <a:solidFill>
                  <a:srgbClr val="C00000"/>
                </a:solidFill>
                <a:latin typeface="宋体" panose="02010600030101010101" pitchFamily="2" charset="-122"/>
                <a:ea typeface="宋体" panose="02010600030101010101" pitchFamily="2" charset="-122"/>
              </a:rPr>
              <a:t>设计基于自适应原型的小样本增量故障诊断方法</a:t>
            </a:r>
            <a:r>
              <a:rPr lang="zh-CN" altLang="en-US" sz="1600">
                <a:solidFill>
                  <a:schemeClr val="tx1"/>
                </a:solidFill>
                <a:latin typeface="宋体" panose="02010600030101010101" pitchFamily="2" charset="-122"/>
                <a:ea typeface="宋体" panose="02010600030101010101" pitchFamily="2" charset="-122"/>
              </a:rPr>
              <a:t>。</a:t>
            </a:r>
            <a:endParaRPr lang="zh-CN" altLang="en-US" sz="1600" dirty="0">
              <a:solidFill>
                <a:schemeClr val="tx1"/>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335548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研究背景</a:t>
            </a:r>
          </a:p>
        </p:txBody>
      </p:sp>
      <p:sp>
        <p:nvSpPr>
          <p:cNvPr id="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文献综述</a:t>
            </a:r>
          </a:p>
        </p:txBody>
      </p:sp>
      <p:sp>
        <p:nvSpPr>
          <p:cNvPr id="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技术路线</a:t>
            </a:r>
          </a:p>
        </p:txBody>
      </p:sp>
      <p:sp>
        <p:nvSpPr>
          <p:cNvPr id="1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2" name="直接连接符 1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等腰三角形 15"/>
          <p:cNvSpPr/>
          <p:nvPr/>
        </p:nvSpPr>
        <p:spPr>
          <a:xfrm rot="10800000">
            <a:off x="2590223"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1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19"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21" name="TextBox 23"/>
          <p:cNvSpPr txBox="1"/>
          <p:nvPr/>
        </p:nvSpPr>
        <p:spPr>
          <a:xfrm>
            <a:off x="48410" y="944656"/>
            <a:ext cx="4070318" cy="422405"/>
          </a:xfrm>
          <a:prstGeom prst="rect">
            <a:avLst/>
          </a:prstGeom>
          <a:solidFill>
            <a:srgbClr val="0057AA"/>
          </a:solidFill>
          <a:ln w="19050">
            <a:noFill/>
          </a:ln>
        </p:spPr>
        <p:txBody>
          <a:bodyPr wrap="square" lIns="72000" tIns="72000" rIns="72000" bIns="72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一</a:t>
            </a:r>
            <a:r>
              <a:rPr kumimoji="0" lang="en-US" altLang="zh-CN"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a:t>
            </a:r>
            <a:r>
              <a:rPr kumimoji="0" lang="zh-CN" altLang="en-US"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深度学习框架下增量学习研究现状</a:t>
            </a:r>
            <a:endParaRPr kumimoji="0" lang="en-US" altLang="zh-CN" sz="2000" b="0" i="0" u="none" strike="noStrike" kern="1200" cap="none" spc="0" normalizeH="0" baseline="0" noProof="0" dirty="0">
              <a:ln>
                <a:noFill/>
              </a:ln>
              <a:solidFill>
                <a:prstClr val="white"/>
              </a:solidFill>
              <a:effectLst/>
              <a:uLnTx/>
              <a:uFillTx/>
              <a:latin typeface="黑体" panose="02010609060101010101" pitchFamily="49" charset="-122"/>
              <a:ea typeface="黑体" panose="02010609060101010101" pitchFamily="49" charset="-122"/>
              <a:cs typeface="+mn-ea"/>
              <a:sym typeface="+mn-lt"/>
            </a:endParaRPr>
          </a:p>
        </p:txBody>
      </p:sp>
      <p:sp>
        <p:nvSpPr>
          <p:cNvPr id="86" name="文本框 85">
            <a:extLst>
              <a:ext uri="{FF2B5EF4-FFF2-40B4-BE49-F238E27FC236}">
                <a16:creationId xmlns:a16="http://schemas.microsoft.com/office/drawing/2014/main" id="{F155AD41-8969-4F20-8389-54B9965DBC8B}"/>
              </a:ext>
            </a:extLst>
          </p:cNvPr>
          <p:cNvSpPr txBox="1"/>
          <p:nvPr/>
        </p:nvSpPr>
        <p:spPr>
          <a:xfrm>
            <a:off x="345672" y="5310806"/>
            <a:ext cx="11394287" cy="1314957"/>
          </a:xfrm>
          <a:prstGeom prst="rect">
            <a:avLst/>
          </a:prstGeom>
          <a:solidFill>
            <a:schemeClr val="bg1">
              <a:lumMod val="95000"/>
            </a:schemeClr>
          </a:solidFill>
          <a:ln w="19050">
            <a:noFill/>
          </a:ln>
        </p:spPr>
        <p:txBody>
          <a:bodyPr wrap="square" lIns="72000" tIns="72000" rIns="72000" bIns="72000" rtlCol="0">
            <a:spAutoFit/>
          </a:bodyPr>
          <a:lstStyle>
            <a:defPPr>
              <a:defRPr lang="en-US"/>
            </a:defPPr>
            <a:lvl1pPr>
              <a:defRPr sz="1400" b="1" kern="0">
                <a:solidFill>
                  <a:srgbClr val="000000"/>
                </a:solidFill>
                <a:latin typeface="黑体" panose="02010609060101010101" pitchFamily="49" charset="-122"/>
                <a:ea typeface="黑体" panose="02010609060101010101" pitchFamily="49" charset="-122"/>
                <a:cs typeface="+mn-ea"/>
              </a:defRPr>
              <a:extLst>
                <a:ext uri="{35155182-B16C-46BC-9424-99874614C6A1}">
                  <wpsdc:indentchars xmlns="" xmlns:wpsdc="http://www.wps.cn/officeDocument/2017/drawingmlCustomData" val="200" checksum="3837665281"/>
                </a:ext>
              </a:extLst>
            </a:lvl1pPr>
          </a:lstStyle>
          <a:p>
            <a:pPr marL="0" marR="0" lvl="0" indent="0" algn="l" defTabSz="914400" rtl="0" eaLnBrk="1" fontAlgn="auto"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3837665281"/>
                </a:ext>
              </a:extLst>
            </a:pPr>
            <a:r>
              <a:rPr kumimoji="0" lang="zh-CN" altLang="en-US" sz="16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研究难点</a:t>
            </a:r>
            <a:r>
              <a:rPr kumimoji="0" lang="en-US" altLang="zh-CN" sz="16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1</a:t>
            </a:r>
            <a:r>
              <a:rPr kumimoji="0" lang="zh-CN" altLang="en-US" sz="16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a:t>
            </a:r>
            <a:endParaRPr kumimoji="0" lang="en-US" altLang="zh-CN" sz="1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a:p>
            <a:pPr marL="342900" indent="-342900">
              <a:buFont typeface="+mj-lt"/>
              <a:buAutoNum type="arabicPeriod"/>
              <a:defRPr/>
              <a:extLst>
                <a:ext uri="{35155182-B16C-46BC-9424-99874614C6A1}">
                  <wpsdc:indentchars xmlns="" xmlns:wpsdc="http://www.wps.cn/officeDocument/2017/drawingmlCustomData" val="200" checksum="3837665281"/>
                </a:ext>
              </a:extLst>
            </a:pPr>
            <a:r>
              <a:rPr lang="zh-CN" altLang="en-US" sz="1500" b="0">
                <a:latin typeface="宋体" panose="02010600030101010101" pitchFamily="2" charset="-122"/>
                <a:ea typeface="宋体" panose="02010600030101010101" pitchFamily="2" charset="-122"/>
              </a:rPr>
              <a:t>模型在学习新任务时往往需要调整其权重和结构，以适应新知识。然而，这样的调整可能会</a:t>
            </a:r>
            <a:r>
              <a:rPr lang="zh-CN" altLang="en-US" sz="1500">
                <a:solidFill>
                  <a:srgbClr val="C00000"/>
                </a:solidFill>
                <a:latin typeface="宋体" panose="02010600030101010101" pitchFamily="2" charset="-122"/>
                <a:ea typeface="宋体" panose="02010600030101010101" pitchFamily="2" charset="-122"/>
              </a:rPr>
              <a:t>牺牲模型的可塑性</a:t>
            </a:r>
            <a:r>
              <a:rPr lang="zh-CN" altLang="en-US" sz="1500" b="0">
                <a:latin typeface="宋体" panose="02010600030101010101" pitchFamily="2" charset="-122"/>
                <a:ea typeface="宋体" panose="02010600030101010101" pitchFamily="2" charset="-122"/>
              </a:rPr>
              <a:t>，即难以保留对旧任务的知识。</a:t>
            </a:r>
            <a:endParaRPr lang="en-US" altLang="zh-CN" sz="1500" b="0">
              <a:latin typeface="宋体" panose="02010600030101010101" pitchFamily="2" charset="-122"/>
              <a:ea typeface="宋体" panose="02010600030101010101" pitchFamily="2" charset="-122"/>
            </a:endParaRPr>
          </a:p>
          <a:p>
            <a:pPr marL="342900" indent="-342900">
              <a:buFont typeface="+mj-lt"/>
              <a:buAutoNum type="arabicPeriod"/>
              <a:defRPr/>
              <a:extLst>
                <a:ext uri="{35155182-B16C-46BC-9424-99874614C6A1}">
                  <wpsdc:indentchars xmlns="" xmlns:wpsdc="http://www.wps.cn/officeDocument/2017/drawingmlCustomData" val="200" checksum="3837665281"/>
                </a:ext>
              </a:extLst>
            </a:pPr>
            <a:r>
              <a:rPr lang="zh-CN" altLang="en-US" sz="1500" b="0">
                <a:latin typeface="宋体" panose="02010600030101010101" pitchFamily="2" charset="-122"/>
                <a:ea typeface="宋体" panose="02010600030101010101" pitchFamily="2" charset="-122"/>
              </a:rPr>
              <a:t>故障诊断往往要求模型能够在设备运行过程中进行实时监测和诊断，这对增量学习模型的计算效率提出了较高要求。如何在</a:t>
            </a:r>
            <a:r>
              <a:rPr lang="zh-CN" altLang="en-US" sz="1500">
                <a:solidFill>
                  <a:srgbClr val="C00000"/>
                </a:solidFill>
                <a:latin typeface="宋体" panose="02010600030101010101" pitchFamily="2" charset="-122"/>
                <a:ea typeface="宋体" panose="02010600030101010101" pitchFamily="2" charset="-122"/>
              </a:rPr>
              <a:t>有限的计算资源下高效更新模型</a:t>
            </a:r>
            <a:r>
              <a:rPr lang="zh-CN" altLang="en-US" sz="1500" b="0">
                <a:solidFill>
                  <a:srgbClr val="C00000"/>
                </a:solidFill>
                <a:latin typeface="宋体" panose="02010600030101010101" pitchFamily="2" charset="-122"/>
                <a:ea typeface="宋体" panose="02010600030101010101" pitchFamily="2" charset="-122"/>
              </a:rPr>
              <a:t>，</a:t>
            </a:r>
            <a:r>
              <a:rPr lang="zh-CN" altLang="en-US" sz="1500" b="0">
                <a:latin typeface="宋体" panose="02010600030101010101" pitchFamily="2" charset="-122"/>
                <a:ea typeface="宋体" panose="02010600030101010101" pitchFamily="2" charset="-122"/>
              </a:rPr>
              <a:t>并在引入新数据时快速适应，仍是当前研究中的重要挑战。</a:t>
            </a:r>
            <a:endParaRPr lang="zh-CN" altLang="en-US" sz="1500" b="0" dirty="0">
              <a:latin typeface="宋体" panose="02010600030101010101" pitchFamily="2" charset="-122"/>
              <a:ea typeface="宋体" panose="02010600030101010101" pitchFamily="2" charset="-122"/>
            </a:endParaRPr>
          </a:p>
        </p:txBody>
      </p:sp>
      <p:sp>
        <p:nvSpPr>
          <p:cNvPr id="2" name="矩形 1">
            <a:extLst>
              <a:ext uri="{FF2B5EF4-FFF2-40B4-BE49-F238E27FC236}">
                <a16:creationId xmlns:a16="http://schemas.microsoft.com/office/drawing/2014/main" id="{4A001AC2-65D1-31F2-ECC3-F207B483639E}"/>
              </a:ext>
            </a:extLst>
          </p:cNvPr>
          <p:cNvSpPr/>
          <p:nvPr/>
        </p:nvSpPr>
        <p:spPr>
          <a:xfrm>
            <a:off x="66578" y="3221999"/>
            <a:ext cx="1265878" cy="47613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宋体" panose="02010600030101010101" pitchFamily="2" charset="-122"/>
                <a:ea typeface="宋体" panose="02010600030101010101" pitchFamily="2" charset="-122"/>
              </a:rPr>
              <a:t>增量学习方法</a:t>
            </a:r>
          </a:p>
        </p:txBody>
      </p:sp>
      <p:sp>
        <p:nvSpPr>
          <p:cNvPr id="11" name="左大括号 10">
            <a:extLst>
              <a:ext uri="{FF2B5EF4-FFF2-40B4-BE49-F238E27FC236}">
                <a16:creationId xmlns:a16="http://schemas.microsoft.com/office/drawing/2014/main" id="{977A9A39-5F1D-DF04-7047-7C63272D1295}"/>
              </a:ext>
            </a:extLst>
          </p:cNvPr>
          <p:cNvSpPr/>
          <p:nvPr/>
        </p:nvSpPr>
        <p:spPr>
          <a:xfrm>
            <a:off x="1404403" y="1781127"/>
            <a:ext cx="325966" cy="3357880"/>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2" name="直接连接符 31">
            <a:extLst>
              <a:ext uri="{FF2B5EF4-FFF2-40B4-BE49-F238E27FC236}">
                <a16:creationId xmlns:a16="http://schemas.microsoft.com/office/drawing/2014/main" id="{6D05BA71-B334-F51C-B6D4-AAB23FCC161C}"/>
              </a:ext>
            </a:extLst>
          </p:cNvPr>
          <p:cNvCxnSpPr>
            <a:cxnSpLocks/>
          </p:cNvCxnSpPr>
          <p:nvPr/>
        </p:nvCxnSpPr>
        <p:spPr>
          <a:xfrm flipV="1">
            <a:off x="1510236" y="3460067"/>
            <a:ext cx="220133" cy="18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95B68BB2-8A04-261A-0967-4BE1DC0E5F16}"/>
              </a:ext>
            </a:extLst>
          </p:cNvPr>
          <p:cNvSpPr txBox="1"/>
          <p:nvPr/>
        </p:nvSpPr>
        <p:spPr>
          <a:xfrm>
            <a:off x="1730369" y="1649878"/>
            <a:ext cx="1261884" cy="307777"/>
          </a:xfrm>
          <a:prstGeom prst="rect">
            <a:avLst/>
          </a:prstGeom>
          <a:noFill/>
        </p:spPr>
        <p:txBody>
          <a:bodyPr wrap="square" rtlCol="0">
            <a:spAutoFit/>
          </a:bodyPr>
          <a:lstStyle/>
          <a:p>
            <a:pPr algn="ctr"/>
            <a:r>
              <a:rPr lang="zh-CN" altLang="en-US" sz="1400">
                <a:latin typeface="宋体" panose="02010600030101010101" pitchFamily="2" charset="-122"/>
                <a:ea typeface="宋体" panose="02010600030101010101" pitchFamily="2" charset="-122"/>
              </a:rPr>
              <a:t>基于实例回放</a:t>
            </a:r>
          </a:p>
        </p:txBody>
      </p:sp>
      <p:sp>
        <p:nvSpPr>
          <p:cNvPr id="39" name="文本框 38">
            <a:extLst>
              <a:ext uri="{FF2B5EF4-FFF2-40B4-BE49-F238E27FC236}">
                <a16:creationId xmlns:a16="http://schemas.microsoft.com/office/drawing/2014/main" id="{8A70F3AC-50F7-B8F2-FDC0-71387C589E59}"/>
              </a:ext>
            </a:extLst>
          </p:cNvPr>
          <p:cNvSpPr txBox="1"/>
          <p:nvPr/>
        </p:nvSpPr>
        <p:spPr>
          <a:xfrm>
            <a:off x="1730369" y="3277132"/>
            <a:ext cx="1261884" cy="307777"/>
          </a:xfrm>
          <a:prstGeom prst="rect">
            <a:avLst/>
          </a:prstGeom>
          <a:noFill/>
        </p:spPr>
        <p:txBody>
          <a:bodyPr wrap="none" rtlCol="0">
            <a:spAutoFit/>
          </a:bodyPr>
          <a:lstStyle/>
          <a:p>
            <a:pPr algn="ctr"/>
            <a:r>
              <a:rPr lang="zh-CN" altLang="en-US" sz="1400">
                <a:latin typeface="宋体" panose="02010600030101010101" pitchFamily="2" charset="-122"/>
                <a:ea typeface="宋体" panose="02010600030101010101" pitchFamily="2" charset="-122"/>
              </a:rPr>
              <a:t>基于参数隔离</a:t>
            </a:r>
          </a:p>
        </p:txBody>
      </p:sp>
      <p:sp>
        <p:nvSpPr>
          <p:cNvPr id="40" name="文本框 39">
            <a:extLst>
              <a:ext uri="{FF2B5EF4-FFF2-40B4-BE49-F238E27FC236}">
                <a16:creationId xmlns:a16="http://schemas.microsoft.com/office/drawing/2014/main" id="{E312196C-D55F-57F8-43DE-2F713A4CD458}"/>
              </a:ext>
            </a:extLst>
          </p:cNvPr>
          <p:cNvSpPr txBox="1"/>
          <p:nvPr/>
        </p:nvSpPr>
        <p:spPr>
          <a:xfrm>
            <a:off x="1759312" y="4952014"/>
            <a:ext cx="1082348" cy="307777"/>
          </a:xfrm>
          <a:prstGeom prst="rect">
            <a:avLst/>
          </a:prstGeom>
          <a:noFill/>
        </p:spPr>
        <p:txBody>
          <a:bodyPr wrap="none" rtlCol="0">
            <a:spAutoFit/>
          </a:bodyPr>
          <a:lstStyle/>
          <a:p>
            <a:pPr algn="ctr"/>
            <a:r>
              <a:rPr lang="zh-CN" altLang="en-US" sz="1400">
                <a:latin typeface="宋体" panose="02010600030101010101" pitchFamily="2" charset="-122"/>
                <a:ea typeface="宋体" panose="02010600030101010101" pitchFamily="2" charset="-122"/>
              </a:rPr>
              <a:t>基于正则化</a:t>
            </a:r>
          </a:p>
        </p:txBody>
      </p:sp>
      <p:cxnSp>
        <p:nvCxnSpPr>
          <p:cNvPr id="44" name="直接连接符 43">
            <a:extLst>
              <a:ext uri="{FF2B5EF4-FFF2-40B4-BE49-F238E27FC236}">
                <a16:creationId xmlns:a16="http://schemas.microsoft.com/office/drawing/2014/main" id="{5625FE85-D166-7D40-6FEC-543006CAEE88}"/>
              </a:ext>
            </a:extLst>
          </p:cNvPr>
          <p:cNvCxnSpPr>
            <a:cxnSpLocks/>
          </p:cNvCxnSpPr>
          <p:nvPr/>
        </p:nvCxnSpPr>
        <p:spPr>
          <a:xfrm flipV="1">
            <a:off x="2953938" y="1803766"/>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8FDB100-F183-F84B-B446-94EEA2D22140}"/>
              </a:ext>
            </a:extLst>
          </p:cNvPr>
          <p:cNvCxnSpPr>
            <a:cxnSpLocks/>
          </p:cNvCxnSpPr>
          <p:nvPr/>
        </p:nvCxnSpPr>
        <p:spPr>
          <a:xfrm flipV="1">
            <a:off x="2953938" y="3451679"/>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FE34B07-65E2-C82D-F06E-737D1346EE8E}"/>
              </a:ext>
            </a:extLst>
          </p:cNvPr>
          <p:cNvCxnSpPr>
            <a:cxnSpLocks/>
          </p:cNvCxnSpPr>
          <p:nvPr/>
        </p:nvCxnSpPr>
        <p:spPr>
          <a:xfrm flipV="1">
            <a:off x="2953938" y="513810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CF3D19E1-524B-1732-19F3-3CEDE1B05981}"/>
              </a:ext>
            </a:extLst>
          </p:cNvPr>
          <p:cNvSpPr txBox="1"/>
          <p:nvPr/>
        </p:nvSpPr>
        <p:spPr>
          <a:xfrm>
            <a:off x="3374303" y="1649878"/>
            <a:ext cx="2111475" cy="523220"/>
          </a:xfrm>
          <a:prstGeom prst="rect">
            <a:avLst/>
          </a:prstGeom>
          <a:noFill/>
        </p:spPr>
        <p:txBody>
          <a:bodyPr wrap="none" rtlCol="0">
            <a:spAutoFit/>
          </a:bodyPr>
          <a:lstStyle/>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iCARL</a:t>
            </a:r>
            <a:r>
              <a:rPr lang="zh-CN" altLang="en-US" sz="1400">
                <a:latin typeface="宋体" panose="02010600030101010101" pitchFamily="2" charset="-122"/>
                <a:ea typeface="宋体" panose="02010600030101010101" pitchFamily="2" charset="-122"/>
              </a:rPr>
              <a:t>、</a:t>
            </a:r>
            <a:r>
              <a:rPr lang="en-US" altLang="zh-CN" sz="1400">
                <a:latin typeface="Times New Roman" panose="02020603050405020304" pitchFamily="18" charset="0"/>
                <a:ea typeface="宋体" panose="02010600030101010101" pitchFamily="2" charset="-122"/>
                <a:cs typeface="Times New Roman" panose="02020603050405020304" pitchFamily="18" charset="0"/>
              </a:rPr>
              <a:t>GANs</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a:latin typeface="Times New Roman" panose="02020603050405020304" pitchFamily="18" charset="0"/>
                <a:ea typeface="宋体" panose="02010600030101010101" pitchFamily="2" charset="-122"/>
                <a:cs typeface="Times New Roman" panose="02020603050405020304" pitchFamily="18" charset="0"/>
              </a:rPr>
              <a:t>GEM</a:t>
            </a:r>
            <a:r>
              <a:rPr lang="zh-CN" altLang="en-US" sz="140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140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[5-7]</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文本框 52">
            <a:extLst>
              <a:ext uri="{FF2B5EF4-FFF2-40B4-BE49-F238E27FC236}">
                <a16:creationId xmlns:a16="http://schemas.microsoft.com/office/drawing/2014/main" id="{4F9BF257-984F-E09B-5400-90899180189E}"/>
              </a:ext>
            </a:extLst>
          </p:cNvPr>
          <p:cNvSpPr txBox="1"/>
          <p:nvPr/>
        </p:nvSpPr>
        <p:spPr>
          <a:xfrm>
            <a:off x="3416532" y="3288511"/>
            <a:ext cx="2040302" cy="523220"/>
          </a:xfrm>
          <a:prstGeom prst="rect">
            <a:avLst/>
          </a:prstGeom>
          <a:noFill/>
        </p:spPr>
        <p:txBody>
          <a:bodyPr wrap="none" rtlCol="0">
            <a:spAutoFit/>
          </a:bodyPr>
          <a:lstStyle/>
          <a:p>
            <a:pPr algn="ctr"/>
            <a:r>
              <a:rPr lang="zh-CN" altLang="en-US" sz="1400">
                <a:latin typeface="Times New Roman" panose="02020603050405020304" pitchFamily="18" charset="0"/>
                <a:ea typeface="宋体" panose="02010600030101010101" pitchFamily="2" charset="-122"/>
                <a:cs typeface="Times New Roman" panose="02020603050405020304" pitchFamily="18" charset="0"/>
              </a:rPr>
              <a:t>微调、</a:t>
            </a:r>
            <a:r>
              <a:rPr lang="en-US" altLang="zh-CN" sz="1400">
                <a:latin typeface="Times New Roman" panose="02020603050405020304" pitchFamily="18" charset="0"/>
                <a:ea typeface="宋体" panose="02010600030101010101" pitchFamily="2" charset="-122"/>
                <a:cs typeface="Times New Roman" panose="02020603050405020304" pitchFamily="18" charset="0"/>
              </a:rPr>
              <a:t>PackNet</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a:latin typeface="Times New Roman" panose="02020603050405020304" pitchFamily="18" charset="0"/>
                <a:ea typeface="宋体" panose="02010600030101010101" pitchFamily="2" charset="-122"/>
                <a:cs typeface="Times New Roman" panose="02020603050405020304" pitchFamily="18" charset="0"/>
              </a:rPr>
              <a:t>HAT</a:t>
            </a:r>
            <a:r>
              <a:rPr lang="zh-CN" altLang="en-US" sz="140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140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[8-10]</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 name="文本框 53">
            <a:extLst>
              <a:ext uri="{FF2B5EF4-FFF2-40B4-BE49-F238E27FC236}">
                <a16:creationId xmlns:a16="http://schemas.microsoft.com/office/drawing/2014/main" id="{8452C75A-C0AB-249B-2763-D881DDEF299D}"/>
              </a:ext>
            </a:extLst>
          </p:cNvPr>
          <p:cNvSpPr txBox="1"/>
          <p:nvPr/>
        </p:nvSpPr>
        <p:spPr>
          <a:xfrm>
            <a:off x="3380800" y="4963297"/>
            <a:ext cx="2205540" cy="523220"/>
          </a:xfrm>
          <a:prstGeom prst="rect">
            <a:avLst/>
          </a:prstGeom>
          <a:noFill/>
        </p:spPr>
        <p:txBody>
          <a:bodyPr wrap="none" rtlCol="0">
            <a:spAutoFit/>
          </a:bodyPr>
          <a:lstStyle/>
          <a:p>
            <a:pPr algn="ctr"/>
            <a:r>
              <a:rPr lang="zh-CN" altLang="en-US" sz="1400">
                <a:latin typeface="Times New Roman" panose="02020603050405020304" pitchFamily="18" charset="0"/>
                <a:ea typeface="宋体" panose="02010600030101010101" pitchFamily="2" charset="-122"/>
                <a:cs typeface="Times New Roman" panose="02020603050405020304" pitchFamily="18" charset="0"/>
              </a:rPr>
              <a:t>知识蒸馏</a:t>
            </a:r>
            <a:r>
              <a:rPr lang="zh-CN" altLang="en-US" sz="1400">
                <a:latin typeface="宋体" panose="02010600030101010101" pitchFamily="2" charset="-122"/>
                <a:ea typeface="宋体" panose="02010600030101010101" pitchFamily="2" charset="-122"/>
              </a:rPr>
              <a:t>、</a:t>
            </a:r>
            <a:r>
              <a:rPr lang="en-US" altLang="zh-CN" sz="1400">
                <a:latin typeface="Times New Roman" panose="02020603050405020304" pitchFamily="18" charset="0"/>
                <a:ea typeface="宋体" panose="02010600030101010101" pitchFamily="2" charset="-122"/>
                <a:cs typeface="Times New Roman" panose="02020603050405020304" pitchFamily="18" charset="0"/>
              </a:rPr>
              <a:t>EWC</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a:latin typeface="Times New Roman" panose="02020603050405020304" pitchFamily="18" charset="0"/>
                <a:ea typeface="宋体" panose="02010600030101010101" pitchFamily="2" charset="-122"/>
                <a:cs typeface="Times New Roman" panose="02020603050405020304" pitchFamily="18" charset="0"/>
              </a:rPr>
              <a:t>LWF</a:t>
            </a:r>
            <a:r>
              <a:rPr lang="zh-CN" altLang="en-US" sz="140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140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[11-13]</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7" name="直接连接符 56">
            <a:extLst>
              <a:ext uri="{FF2B5EF4-FFF2-40B4-BE49-F238E27FC236}">
                <a16:creationId xmlns:a16="http://schemas.microsoft.com/office/drawing/2014/main" id="{26CB1A25-9733-3A93-AACD-20062DDFEA08}"/>
              </a:ext>
            </a:extLst>
          </p:cNvPr>
          <p:cNvCxnSpPr/>
          <p:nvPr/>
        </p:nvCxnSpPr>
        <p:spPr>
          <a:xfrm>
            <a:off x="1574800"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8DB38BCE-4A07-8381-878E-0C746E7E3F40}"/>
              </a:ext>
            </a:extLst>
          </p:cNvPr>
          <p:cNvCxnSpPr/>
          <p:nvPr/>
        </p:nvCxnSpPr>
        <p:spPr>
          <a:xfrm>
            <a:off x="3185160"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CA77AC15-1CDD-AC10-4F99-0101B82D0F99}"/>
              </a:ext>
            </a:extLst>
          </p:cNvPr>
          <p:cNvCxnSpPr>
            <a:cxnSpLocks/>
          </p:cNvCxnSpPr>
          <p:nvPr/>
        </p:nvCxnSpPr>
        <p:spPr>
          <a:xfrm flipV="1">
            <a:off x="5485778" y="1809196"/>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215B89A2-72A9-80D7-B722-389C15CAD94D}"/>
              </a:ext>
            </a:extLst>
          </p:cNvPr>
          <p:cNvCxnSpPr>
            <a:cxnSpLocks/>
          </p:cNvCxnSpPr>
          <p:nvPr/>
        </p:nvCxnSpPr>
        <p:spPr>
          <a:xfrm flipV="1">
            <a:off x="5485778" y="3457109"/>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D96CC4DD-18B6-134C-5701-A3DE7DCD318C}"/>
              </a:ext>
            </a:extLst>
          </p:cNvPr>
          <p:cNvCxnSpPr>
            <a:cxnSpLocks/>
          </p:cNvCxnSpPr>
          <p:nvPr/>
        </p:nvCxnSpPr>
        <p:spPr>
          <a:xfrm flipV="1">
            <a:off x="5485778" y="514353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8D263042-A11B-E3E4-2DFE-E80A7E7E493A}"/>
              </a:ext>
            </a:extLst>
          </p:cNvPr>
          <p:cNvCxnSpPr/>
          <p:nvPr/>
        </p:nvCxnSpPr>
        <p:spPr>
          <a:xfrm>
            <a:off x="5715846"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26A7ACAA-85B7-F84A-9E2A-DB15A4300032}"/>
              </a:ext>
            </a:extLst>
          </p:cNvPr>
          <p:cNvSpPr txBox="1"/>
          <p:nvPr/>
        </p:nvSpPr>
        <p:spPr>
          <a:xfrm>
            <a:off x="1802409" y="1351370"/>
            <a:ext cx="1227183" cy="369332"/>
          </a:xfrm>
          <a:prstGeom prst="rect">
            <a:avLst/>
          </a:prstGeom>
          <a:noFill/>
        </p:spPr>
        <p:txBody>
          <a:bodyPr wrap="square">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方法分类</a:t>
            </a:r>
            <a:endParaRPr lang="zh-CN" altLang="en-US"/>
          </a:p>
        </p:txBody>
      </p:sp>
      <p:sp>
        <p:nvSpPr>
          <p:cNvPr id="71" name="文本框 70">
            <a:extLst>
              <a:ext uri="{FF2B5EF4-FFF2-40B4-BE49-F238E27FC236}">
                <a16:creationId xmlns:a16="http://schemas.microsoft.com/office/drawing/2014/main" id="{5316A64D-F302-CA10-E366-2034E6AD896E}"/>
              </a:ext>
            </a:extLst>
          </p:cNvPr>
          <p:cNvSpPr txBox="1"/>
          <p:nvPr/>
        </p:nvSpPr>
        <p:spPr>
          <a:xfrm>
            <a:off x="3903845" y="1331050"/>
            <a:ext cx="1107996" cy="369332"/>
          </a:xfrm>
          <a:prstGeom prst="rect">
            <a:avLst/>
          </a:prstGeom>
          <a:noFill/>
        </p:spPr>
        <p:txBody>
          <a:bodyPr wrap="none" rtlCol="0">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具体算法</a:t>
            </a:r>
            <a:endParaRPr kumimoji="1" lang="zh-CN" altLang="en-US" dirty="0">
              <a:solidFill>
                <a:srgbClr val="4883C0"/>
              </a:solidFill>
              <a:latin typeface="Microsoft YaHei" panose="020B0503020204020204" pitchFamily="34" charset="-122"/>
              <a:ea typeface="Microsoft YaHei" panose="020B0503020204020204" pitchFamily="34" charset="-122"/>
            </a:endParaRPr>
          </a:p>
        </p:txBody>
      </p:sp>
      <p:sp>
        <p:nvSpPr>
          <p:cNvPr id="72" name="文本框 71">
            <a:extLst>
              <a:ext uri="{FF2B5EF4-FFF2-40B4-BE49-F238E27FC236}">
                <a16:creationId xmlns:a16="http://schemas.microsoft.com/office/drawing/2014/main" id="{F75C2263-FA17-E826-3533-ECA2F0ADB816}"/>
              </a:ext>
            </a:extLst>
          </p:cNvPr>
          <p:cNvSpPr txBox="1"/>
          <p:nvPr/>
        </p:nvSpPr>
        <p:spPr>
          <a:xfrm>
            <a:off x="6649413" y="1327954"/>
            <a:ext cx="1107996" cy="369332"/>
          </a:xfrm>
          <a:prstGeom prst="rect">
            <a:avLst/>
          </a:prstGeom>
          <a:noFill/>
        </p:spPr>
        <p:txBody>
          <a:bodyPr wrap="none" rtlCol="0">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应用场景</a:t>
            </a:r>
            <a:endParaRPr kumimoji="1" lang="zh-CN" altLang="en-US" dirty="0">
              <a:solidFill>
                <a:srgbClr val="4883C0"/>
              </a:solidFill>
              <a:latin typeface="Microsoft YaHei" panose="020B0503020204020204" pitchFamily="34" charset="-122"/>
              <a:ea typeface="Microsoft YaHei" panose="020B0503020204020204" pitchFamily="34" charset="-122"/>
            </a:endParaRPr>
          </a:p>
        </p:txBody>
      </p:sp>
      <p:sp>
        <p:nvSpPr>
          <p:cNvPr id="73" name="文本框 72">
            <a:extLst>
              <a:ext uri="{FF2B5EF4-FFF2-40B4-BE49-F238E27FC236}">
                <a16:creationId xmlns:a16="http://schemas.microsoft.com/office/drawing/2014/main" id="{D976D1E2-E05B-F184-4EFC-1009B6E7AD9C}"/>
              </a:ext>
            </a:extLst>
          </p:cNvPr>
          <p:cNvSpPr txBox="1"/>
          <p:nvPr/>
        </p:nvSpPr>
        <p:spPr>
          <a:xfrm>
            <a:off x="5960432" y="1649878"/>
            <a:ext cx="3189918" cy="738664"/>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该方法通过保存历史数据或生成伪数据来更新模型，适合</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场景数据变化频繁</a:t>
            </a:r>
            <a:r>
              <a:rPr lang="zh-CN" altLang="en-US" sz="1400">
                <a:latin typeface="Times New Roman" panose="02020603050405020304" pitchFamily="18" charset="0"/>
                <a:ea typeface="宋体" panose="02010600030101010101" pitchFamily="2" charset="-122"/>
                <a:cs typeface="Times New Roman" panose="02020603050405020304" pitchFamily="18" charset="0"/>
              </a:rPr>
              <a:t>但有</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足够存储空间</a:t>
            </a:r>
            <a:r>
              <a:rPr lang="zh-CN" altLang="en-US" sz="1400">
                <a:latin typeface="Times New Roman" panose="02020603050405020304" pitchFamily="18" charset="0"/>
                <a:ea typeface="宋体" panose="02010600030101010101" pitchFamily="2" charset="-122"/>
                <a:cs typeface="Times New Roman" panose="02020603050405020304" pitchFamily="18" charset="0"/>
              </a:rPr>
              <a:t>的情况。</a:t>
            </a:r>
          </a:p>
        </p:txBody>
      </p:sp>
      <p:sp>
        <p:nvSpPr>
          <p:cNvPr id="74" name="文本框 73">
            <a:extLst>
              <a:ext uri="{FF2B5EF4-FFF2-40B4-BE49-F238E27FC236}">
                <a16:creationId xmlns:a16="http://schemas.microsoft.com/office/drawing/2014/main" id="{863C95B3-CAB3-08EC-64BB-A327B9FC70C5}"/>
              </a:ext>
            </a:extLst>
          </p:cNvPr>
          <p:cNvSpPr txBox="1"/>
          <p:nvPr/>
        </p:nvSpPr>
        <p:spPr>
          <a:xfrm>
            <a:off x="5932790" y="3198457"/>
            <a:ext cx="3189918" cy="523220"/>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为每个任务分配独立的参数，适用于</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多任务学习</a:t>
            </a:r>
            <a:r>
              <a:rPr lang="zh-CN" altLang="en-US" sz="1400">
                <a:latin typeface="Times New Roman" panose="02020603050405020304" pitchFamily="18" charset="0"/>
                <a:ea typeface="宋体" panose="02010600030101010101" pitchFamily="2" charset="-122"/>
                <a:cs typeface="Times New Roman" panose="02020603050405020304" pitchFamily="18" charset="0"/>
              </a:rPr>
              <a:t>的场景。</a:t>
            </a:r>
          </a:p>
        </p:txBody>
      </p:sp>
      <p:sp>
        <p:nvSpPr>
          <p:cNvPr id="76" name="文本框 75">
            <a:extLst>
              <a:ext uri="{FF2B5EF4-FFF2-40B4-BE49-F238E27FC236}">
                <a16:creationId xmlns:a16="http://schemas.microsoft.com/office/drawing/2014/main" id="{9E8B98C4-B266-1BB2-B178-4464E049C71A}"/>
              </a:ext>
            </a:extLst>
          </p:cNvPr>
          <p:cNvSpPr txBox="1"/>
          <p:nvPr/>
        </p:nvSpPr>
        <p:spPr>
          <a:xfrm>
            <a:off x="5932790" y="4360999"/>
            <a:ext cx="3189918" cy="954107"/>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通过限制模型参数的更新，使模型能够适应新任务，同时保持对旧任务的记忆，适用于对</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资源较为敏感</a:t>
            </a:r>
            <a:r>
              <a:rPr lang="zh-CN" altLang="en-US" sz="1400">
                <a:latin typeface="Times New Roman" panose="02020603050405020304" pitchFamily="18" charset="0"/>
                <a:ea typeface="宋体" panose="02010600030101010101" pitchFamily="2" charset="-122"/>
                <a:cs typeface="Times New Roman" panose="02020603050405020304" pitchFamily="18" charset="0"/>
              </a:rPr>
              <a:t>的场景和</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在线增量学习</a:t>
            </a:r>
            <a:r>
              <a:rPr lang="zh-CN" altLang="en-US" sz="1400">
                <a:latin typeface="Times New Roman" panose="02020603050405020304" pitchFamily="18" charset="0"/>
                <a:ea typeface="宋体" panose="02010600030101010101" pitchFamily="2" charset="-122"/>
                <a:cs typeface="Times New Roman" panose="02020603050405020304" pitchFamily="18" charset="0"/>
              </a:rPr>
              <a:t>的场景。</a:t>
            </a:r>
          </a:p>
        </p:txBody>
      </p:sp>
      <p:cxnSp>
        <p:nvCxnSpPr>
          <p:cNvPr id="77" name="直接连接符 76">
            <a:extLst>
              <a:ext uri="{FF2B5EF4-FFF2-40B4-BE49-F238E27FC236}">
                <a16:creationId xmlns:a16="http://schemas.microsoft.com/office/drawing/2014/main" id="{7E4381D5-5BFC-39EC-912A-79A912DA927E}"/>
              </a:ext>
            </a:extLst>
          </p:cNvPr>
          <p:cNvCxnSpPr>
            <a:cxnSpLocks/>
          </p:cNvCxnSpPr>
          <p:nvPr/>
        </p:nvCxnSpPr>
        <p:spPr>
          <a:xfrm flipV="1">
            <a:off x="9137225" y="1809196"/>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B213C075-A220-ABAB-A579-934CF553CC77}"/>
              </a:ext>
            </a:extLst>
          </p:cNvPr>
          <p:cNvCxnSpPr>
            <a:cxnSpLocks/>
          </p:cNvCxnSpPr>
          <p:nvPr/>
        </p:nvCxnSpPr>
        <p:spPr>
          <a:xfrm flipV="1">
            <a:off x="9137225" y="3457109"/>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A821F062-15A9-4415-4660-8DBF0DE98B44}"/>
              </a:ext>
            </a:extLst>
          </p:cNvPr>
          <p:cNvCxnSpPr>
            <a:cxnSpLocks/>
          </p:cNvCxnSpPr>
          <p:nvPr/>
        </p:nvCxnSpPr>
        <p:spPr>
          <a:xfrm flipV="1">
            <a:off x="9137225" y="514353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F41BEF74-E99E-CC33-A332-92F39934BA84}"/>
              </a:ext>
            </a:extLst>
          </p:cNvPr>
          <p:cNvCxnSpPr/>
          <p:nvPr/>
        </p:nvCxnSpPr>
        <p:spPr>
          <a:xfrm>
            <a:off x="9367293"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F8B8A67B-DE7A-4635-B5A3-2EB7869EF4CE}"/>
              </a:ext>
            </a:extLst>
          </p:cNvPr>
          <p:cNvSpPr txBox="1"/>
          <p:nvPr/>
        </p:nvSpPr>
        <p:spPr>
          <a:xfrm>
            <a:off x="10083916" y="1351370"/>
            <a:ext cx="646331" cy="369332"/>
          </a:xfrm>
          <a:prstGeom prst="rect">
            <a:avLst/>
          </a:prstGeom>
          <a:noFill/>
        </p:spPr>
        <p:txBody>
          <a:bodyPr wrap="none" rtlCol="0">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评价</a:t>
            </a:r>
            <a:endParaRPr kumimoji="1" lang="zh-CN" altLang="en-US" dirty="0">
              <a:solidFill>
                <a:srgbClr val="4883C0"/>
              </a:solidFill>
              <a:latin typeface="Microsoft YaHei" panose="020B0503020204020204" pitchFamily="34" charset="-122"/>
              <a:ea typeface="Microsoft YaHei" panose="020B0503020204020204" pitchFamily="34" charset="-122"/>
            </a:endParaRPr>
          </a:p>
        </p:txBody>
      </p:sp>
      <p:sp>
        <p:nvSpPr>
          <p:cNvPr id="85" name="文本框 84">
            <a:extLst>
              <a:ext uri="{FF2B5EF4-FFF2-40B4-BE49-F238E27FC236}">
                <a16:creationId xmlns:a16="http://schemas.microsoft.com/office/drawing/2014/main" id="{088D3007-6BAE-06EE-D555-C756AA180A4B}"/>
              </a:ext>
            </a:extLst>
          </p:cNvPr>
          <p:cNvSpPr txBox="1"/>
          <p:nvPr/>
        </p:nvSpPr>
        <p:spPr>
          <a:xfrm>
            <a:off x="9584237" y="1649878"/>
            <a:ext cx="2212221" cy="307777"/>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需要</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较大的存储空间</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87" name="文本框 86">
            <a:extLst>
              <a:ext uri="{FF2B5EF4-FFF2-40B4-BE49-F238E27FC236}">
                <a16:creationId xmlns:a16="http://schemas.microsoft.com/office/drawing/2014/main" id="{97127234-5BE6-471C-63B5-E01BEB151C52}"/>
              </a:ext>
            </a:extLst>
          </p:cNvPr>
          <p:cNvSpPr txBox="1"/>
          <p:nvPr/>
        </p:nvSpPr>
        <p:spPr>
          <a:xfrm>
            <a:off x="9576619" y="3073067"/>
            <a:ext cx="2421956" cy="738664"/>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随着任务的增多，</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计算开销</a:t>
            </a:r>
            <a:r>
              <a:rPr lang="zh-CN" altLang="en-US" sz="1400">
                <a:latin typeface="Times New Roman" panose="02020603050405020304" pitchFamily="18" charset="0"/>
                <a:ea typeface="宋体" panose="02010600030101010101" pitchFamily="2" charset="-122"/>
                <a:cs typeface="Times New Roman" panose="02020603050405020304" pitchFamily="18" charset="0"/>
              </a:rPr>
              <a:t>大幅增加；任务之间</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无法共享信息</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88" name="文本框 87">
            <a:extLst>
              <a:ext uri="{FF2B5EF4-FFF2-40B4-BE49-F238E27FC236}">
                <a16:creationId xmlns:a16="http://schemas.microsoft.com/office/drawing/2014/main" id="{C06CE3E4-6665-308E-81BE-064260E27AF6}"/>
              </a:ext>
            </a:extLst>
          </p:cNvPr>
          <p:cNvSpPr txBox="1"/>
          <p:nvPr/>
        </p:nvSpPr>
        <p:spPr>
          <a:xfrm>
            <a:off x="9576022" y="4787586"/>
            <a:ext cx="2333849" cy="523220"/>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容易在学习新任务时</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牺牲模型的可塑性</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p>
        </p:txBody>
      </p:sp>
    </p:spTree>
    <p:extLst>
      <p:ext uri="{BB962C8B-B14F-4D97-AF65-F5344CB8AC3E}">
        <p14:creationId xmlns:p14="http://schemas.microsoft.com/office/powerpoint/2010/main" val="185515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研究背景</a:t>
            </a:r>
          </a:p>
        </p:txBody>
      </p:sp>
      <p:sp>
        <p:nvSpPr>
          <p:cNvPr id="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文献综述</a:t>
            </a:r>
          </a:p>
        </p:txBody>
      </p:sp>
      <p:sp>
        <p:nvSpPr>
          <p:cNvPr id="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技术路线</a:t>
            </a:r>
          </a:p>
        </p:txBody>
      </p:sp>
      <p:sp>
        <p:nvSpPr>
          <p:cNvPr id="1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2" name="直接连接符 1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等腰三角形 15"/>
          <p:cNvSpPr/>
          <p:nvPr/>
        </p:nvSpPr>
        <p:spPr>
          <a:xfrm rot="10800000">
            <a:off x="2590223"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1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19"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21" name="TextBox 23"/>
          <p:cNvSpPr txBox="1"/>
          <p:nvPr/>
        </p:nvSpPr>
        <p:spPr>
          <a:xfrm>
            <a:off x="48410" y="944656"/>
            <a:ext cx="3053221" cy="422405"/>
          </a:xfrm>
          <a:prstGeom prst="rect">
            <a:avLst/>
          </a:prstGeom>
          <a:solidFill>
            <a:srgbClr val="0057AA"/>
          </a:solidFill>
          <a:ln w="19050">
            <a:noFill/>
          </a:ln>
        </p:spPr>
        <p:txBody>
          <a:bodyPr wrap="square" lIns="72000" tIns="72000" rIns="72000" bIns="72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二</a:t>
            </a:r>
            <a:r>
              <a:rPr kumimoji="0" lang="en-US" altLang="zh-CN"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a:t>
            </a:r>
            <a:r>
              <a:rPr kumimoji="0" lang="zh-CN" altLang="en-US"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深度迁移</a:t>
            </a:r>
            <a:r>
              <a:rPr lang="zh-CN" altLang="en-US">
                <a:solidFill>
                  <a:prstClr val="white"/>
                </a:solidFill>
                <a:latin typeface="黑体" panose="02010609060101010101" pitchFamily="49" charset="-122"/>
                <a:ea typeface="黑体" panose="02010609060101010101" pitchFamily="49" charset="-122"/>
              </a:rPr>
              <a:t>学习</a:t>
            </a:r>
            <a:r>
              <a:rPr kumimoji="0" lang="zh-CN" altLang="en-US"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研究现状</a:t>
            </a:r>
            <a:endParaRPr kumimoji="0" lang="en-US" altLang="zh-CN" sz="2000" b="0" i="0" u="none" strike="noStrike" kern="1200" cap="none" spc="0" normalizeH="0" baseline="0" noProof="0" dirty="0">
              <a:ln>
                <a:noFill/>
              </a:ln>
              <a:solidFill>
                <a:prstClr val="white"/>
              </a:solidFill>
              <a:effectLst/>
              <a:uLnTx/>
              <a:uFillTx/>
              <a:latin typeface="黑体" panose="02010609060101010101" pitchFamily="49" charset="-122"/>
              <a:ea typeface="黑体" panose="02010609060101010101" pitchFamily="49" charset="-122"/>
              <a:cs typeface="+mn-ea"/>
              <a:sym typeface="+mn-lt"/>
            </a:endParaRPr>
          </a:p>
        </p:txBody>
      </p:sp>
      <p:sp>
        <p:nvSpPr>
          <p:cNvPr id="86" name="文本框 85">
            <a:extLst>
              <a:ext uri="{FF2B5EF4-FFF2-40B4-BE49-F238E27FC236}">
                <a16:creationId xmlns:a16="http://schemas.microsoft.com/office/drawing/2014/main" id="{F155AD41-8969-4F20-8389-54B9965DBC8B}"/>
              </a:ext>
            </a:extLst>
          </p:cNvPr>
          <p:cNvSpPr txBox="1"/>
          <p:nvPr/>
        </p:nvSpPr>
        <p:spPr>
          <a:xfrm>
            <a:off x="345672" y="5489526"/>
            <a:ext cx="11394287" cy="1314957"/>
          </a:xfrm>
          <a:prstGeom prst="rect">
            <a:avLst/>
          </a:prstGeom>
          <a:solidFill>
            <a:schemeClr val="bg1">
              <a:lumMod val="95000"/>
            </a:schemeClr>
          </a:solidFill>
          <a:ln w="19050">
            <a:noFill/>
          </a:ln>
        </p:spPr>
        <p:txBody>
          <a:bodyPr wrap="square" lIns="72000" tIns="72000" rIns="72000" bIns="72000" rtlCol="0">
            <a:spAutoFit/>
          </a:bodyPr>
          <a:lstStyle>
            <a:defPPr>
              <a:defRPr lang="en-US"/>
            </a:defPPr>
            <a:lvl1pPr>
              <a:defRPr sz="1400" b="1" kern="0">
                <a:solidFill>
                  <a:srgbClr val="000000"/>
                </a:solidFill>
                <a:latin typeface="黑体" panose="02010609060101010101" pitchFamily="49" charset="-122"/>
                <a:ea typeface="黑体" panose="02010609060101010101" pitchFamily="49" charset="-122"/>
                <a:cs typeface="+mn-ea"/>
              </a:defRPr>
              <a:extLst>
                <a:ext uri="{35155182-B16C-46BC-9424-99874614C6A1}">
                  <wpsdc:indentchars xmlns="" xmlns:wpsdc="http://www.wps.cn/officeDocument/2017/drawingmlCustomData" val="200" checksum="3837665281"/>
                </a:ext>
              </a:extLst>
            </a:lvl1pPr>
          </a:lstStyle>
          <a:p>
            <a:pPr marL="0" marR="0" lvl="0" indent="0" algn="l" defTabSz="914400" rtl="0" eaLnBrk="1" fontAlgn="auto"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3837665281"/>
                </a:ext>
              </a:extLst>
            </a:pPr>
            <a:r>
              <a:rPr kumimoji="0" lang="zh-CN" altLang="en-US" sz="16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研究难点</a:t>
            </a:r>
            <a:r>
              <a:rPr kumimoji="0" lang="en-US" altLang="zh-CN" sz="16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2</a:t>
            </a:r>
            <a:r>
              <a:rPr kumimoji="0" lang="zh-CN" altLang="en-US" sz="16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a:t>
            </a:r>
            <a:endParaRPr kumimoji="0" lang="en-US" altLang="zh-CN" sz="1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extLst>
                <a:ext uri="{35155182-B16C-46BC-9424-99874614C6A1}">
                  <wpsdc:indentchars xmlns:lc="http://schemas.openxmlformats.org/drawingml/2006/lockedCanvas" xmlns:wpsdc="http://www.wps.cn/officeDocument/2017/drawingmlCustomData" xmlns="" val="200" checksum="3837665281"/>
                </a:ext>
              </a:extLst>
            </a:pPr>
            <a:r>
              <a:rPr lang="zh-CN" altLang="en-US" sz="1500" b="0">
                <a:latin typeface="宋体" panose="02010600030101010101" pitchFamily="2" charset="-122"/>
                <a:ea typeface="宋体" panose="02010600030101010101" pitchFamily="2" charset="-122"/>
              </a:rPr>
              <a:t>不同设备之间的物理结构、运行环境和工作条件可能存在显著差异，导致</a:t>
            </a:r>
            <a:r>
              <a:rPr lang="zh-CN" altLang="en-US" sz="1500">
                <a:solidFill>
                  <a:srgbClr val="C00000"/>
                </a:solidFill>
                <a:latin typeface="宋体" panose="02010600030101010101" pitchFamily="2" charset="-122"/>
                <a:ea typeface="宋体" panose="02010600030101010101" pitchFamily="2" charset="-122"/>
              </a:rPr>
              <a:t>源设备和目标设备数据的分布存在较大不同</a:t>
            </a:r>
            <a:r>
              <a:rPr lang="zh-CN" altLang="en-US" sz="1500" b="0">
                <a:solidFill>
                  <a:srgbClr val="C00000"/>
                </a:solidFill>
                <a:latin typeface="宋体" panose="02010600030101010101" pitchFamily="2" charset="-122"/>
                <a:ea typeface="宋体" panose="02010600030101010101" pitchFamily="2" charset="-122"/>
              </a:rPr>
              <a:t>。</a:t>
            </a:r>
            <a:r>
              <a:rPr lang="zh-CN" altLang="en-US" sz="1500" b="0">
                <a:latin typeface="宋体" panose="02010600030101010101" pitchFamily="2" charset="-122"/>
                <a:ea typeface="宋体" panose="02010600030101010101" pitchFamily="2" charset="-122"/>
              </a:rPr>
              <a:t>因此，如何设计更有效的迁移学习方法，以处理设备之间的特征差异，提高模型的泛化能力，是跨设备迁移学习中的核心难点。</a:t>
            </a:r>
            <a:endParaRPr lang="en-US" altLang="zh-CN" sz="1500" b="0">
              <a:latin typeface="宋体" panose="02010600030101010101" pitchFamily="2" charset="-122"/>
              <a:ea typeface="宋体" panose="02010600030101010101" pitchFamily="2" charset="-122"/>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extLst>
                <a:ext uri="{35155182-B16C-46BC-9424-99874614C6A1}">
                  <wpsdc:indentchars xmlns:lc="http://schemas.openxmlformats.org/drawingml/2006/lockedCanvas" xmlns:wpsdc="http://www.wps.cn/officeDocument/2017/drawingmlCustomData" xmlns="" val="200" checksum="3837665281"/>
                </a:ext>
              </a:extLst>
            </a:pPr>
            <a:r>
              <a:rPr lang="zh-CN" altLang="en-US" sz="1500" b="0">
                <a:latin typeface="宋体" panose="02010600030101010101" pitchFamily="2" charset="-122"/>
                <a:ea typeface="宋体" panose="02010600030101010101" pitchFamily="2" charset="-122"/>
              </a:rPr>
              <a:t>在许多工业场景中，目标设备的</a:t>
            </a:r>
            <a:r>
              <a:rPr lang="zh-CN" altLang="en-US" sz="1500">
                <a:solidFill>
                  <a:srgbClr val="C00000"/>
                </a:solidFill>
                <a:latin typeface="宋体" panose="02010600030101010101" pitchFamily="2" charset="-122"/>
                <a:ea typeface="宋体" panose="02010600030101010101" pitchFamily="2" charset="-122"/>
              </a:rPr>
              <a:t>标注数据稀缺</a:t>
            </a:r>
            <a:r>
              <a:rPr lang="zh-CN" altLang="en-US" sz="1500" b="0">
                <a:latin typeface="宋体" panose="02010600030101010101" pitchFamily="2" charset="-122"/>
                <a:ea typeface="宋体" panose="02010600030101010101" pitchFamily="2" charset="-122"/>
              </a:rPr>
              <a:t>，尤其是在新设备或新工况刚投入使用时，往往难以收集到足够的标注数据来支持传统迁移学习方法的训练。在这种情况下，迁移学习模型的效果严重依赖源域数据的丰富性和目标域数据的质量。</a:t>
            </a:r>
            <a:endParaRPr lang="en-US" altLang="zh-CN" sz="1500" b="0" dirty="0">
              <a:latin typeface="宋体" panose="02010600030101010101" pitchFamily="2" charset="-122"/>
              <a:ea typeface="宋体" panose="02010600030101010101" pitchFamily="2" charset="-122"/>
            </a:endParaRPr>
          </a:p>
        </p:txBody>
      </p:sp>
      <p:sp>
        <p:nvSpPr>
          <p:cNvPr id="2" name="矩形 1">
            <a:extLst>
              <a:ext uri="{FF2B5EF4-FFF2-40B4-BE49-F238E27FC236}">
                <a16:creationId xmlns:a16="http://schemas.microsoft.com/office/drawing/2014/main" id="{4A001AC2-65D1-31F2-ECC3-F207B483639E}"/>
              </a:ext>
            </a:extLst>
          </p:cNvPr>
          <p:cNvSpPr/>
          <p:nvPr/>
        </p:nvSpPr>
        <p:spPr>
          <a:xfrm>
            <a:off x="66578" y="3219853"/>
            <a:ext cx="1265878" cy="4782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宋体" panose="02010600030101010101" pitchFamily="2" charset="-122"/>
                <a:ea typeface="宋体" panose="02010600030101010101" pitchFamily="2" charset="-122"/>
              </a:rPr>
              <a:t>深度迁移学习方法</a:t>
            </a:r>
          </a:p>
        </p:txBody>
      </p:sp>
      <p:sp>
        <p:nvSpPr>
          <p:cNvPr id="11" name="左大括号 10">
            <a:extLst>
              <a:ext uri="{FF2B5EF4-FFF2-40B4-BE49-F238E27FC236}">
                <a16:creationId xmlns:a16="http://schemas.microsoft.com/office/drawing/2014/main" id="{977A9A39-5F1D-DF04-7047-7C63272D1295}"/>
              </a:ext>
            </a:extLst>
          </p:cNvPr>
          <p:cNvSpPr/>
          <p:nvPr/>
        </p:nvSpPr>
        <p:spPr>
          <a:xfrm>
            <a:off x="1404403" y="1781127"/>
            <a:ext cx="325966" cy="3357880"/>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2" name="直接连接符 31">
            <a:extLst>
              <a:ext uri="{FF2B5EF4-FFF2-40B4-BE49-F238E27FC236}">
                <a16:creationId xmlns:a16="http://schemas.microsoft.com/office/drawing/2014/main" id="{6D05BA71-B334-F51C-B6D4-AAB23FCC161C}"/>
              </a:ext>
            </a:extLst>
          </p:cNvPr>
          <p:cNvCxnSpPr>
            <a:cxnSpLocks/>
          </p:cNvCxnSpPr>
          <p:nvPr/>
        </p:nvCxnSpPr>
        <p:spPr>
          <a:xfrm flipV="1">
            <a:off x="1510236" y="3460067"/>
            <a:ext cx="220133" cy="18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95B68BB2-8A04-261A-0967-4BE1DC0E5F16}"/>
              </a:ext>
            </a:extLst>
          </p:cNvPr>
          <p:cNvSpPr txBox="1"/>
          <p:nvPr/>
        </p:nvSpPr>
        <p:spPr>
          <a:xfrm>
            <a:off x="1766787" y="1643738"/>
            <a:ext cx="1148477" cy="523220"/>
          </a:xfrm>
          <a:prstGeom prst="rect">
            <a:avLst/>
          </a:prstGeom>
          <a:noFill/>
        </p:spPr>
        <p:txBody>
          <a:bodyPr wrap="square" rtlCol="0">
            <a:spAutoFit/>
          </a:bodyPr>
          <a:lstStyle/>
          <a:p>
            <a:pPr algn="ctr"/>
            <a:r>
              <a:rPr lang="zh-CN" altLang="en-US" sz="1400">
                <a:latin typeface="宋体" panose="02010600030101010101" pitchFamily="2" charset="-122"/>
                <a:ea typeface="宋体" panose="02010600030101010101" pitchFamily="2" charset="-122"/>
              </a:rPr>
              <a:t>基于微调的方法</a:t>
            </a:r>
          </a:p>
        </p:txBody>
      </p:sp>
      <p:sp>
        <p:nvSpPr>
          <p:cNvPr id="39" name="文本框 38">
            <a:extLst>
              <a:ext uri="{FF2B5EF4-FFF2-40B4-BE49-F238E27FC236}">
                <a16:creationId xmlns:a16="http://schemas.microsoft.com/office/drawing/2014/main" id="{8A70F3AC-50F7-B8F2-FDC0-71387C589E59}"/>
              </a:ext>
            </a:extLst>
          </p:cNvPr>
          <p:cNvSpPr txBox="1"/>
          <p:nvPr/>
        </p:nvSpPr>
        <p:spPr>
          <a:xfrm>
            <a:off x="1727115" y="3213277"/>
            <a:ext cx="1224412" cy="523220"/>
          </a:xfrm>
          <a:prstGeom prst="rect">
            <a:avLst/>
          </a:prstGeom>
          <a:noFill/>
        </p:spPr>
        <p:txBody>
          <a:bodyPr wrap="square" rtlCol="0">
            <a:spAutoFit/>
          </a:bodyPr>
          <a:lstStyle/>
          <a:p>
            <a:pPr algn="ctr"/>
            <a:r>
              <a:rPr lang="zh-CN" altLang="en-US" sz="1400">
                <a:latin typeface="宋体" panose="02010600030101010101" pitchFamily="2" charset="-122"/>
                <a:ea typeface="宋体" panose="02010600030101010101" pitchFamily="2" charset="-122"/>
              </a:rPr>
              <a:t>基于对抗的方法</a:t>
            </a:r>
          </a:p>
        </p:txBody>
      </p:sp>
      <p:sp>
        <p:nvSpPr>
          <p:cNvPr id="40" name="文本框 39">
            <a:extLst>
              <a:ext uri="{FF2B5EF4-FFF2-40B4-BE49-F238E27FC236}">
                <a16:creationId xmlns:a16="http://schemas.microsoft.com/office/drawing/2014/main" id="{E312196C-D55F-57F8-43DE-2F713A4CD458}"/>
              </a:ext>
            </a:extLst>
          </p:cNvPr>
          <p:cNvSpPr txBox="1"/>
          <p:nvPr/>
        </p:nvSpPr>
        <p:spPr>
          <a:xfrm>
            <a:off x="1815629" y="4956940"/>
            <a:ext cx="1100216" cy="307777"/>
          </a:xfrm>
          <a:prstGeom prst="rect">
            <a:avLst/>
          </a:prstGeom>
          <a:noFill/>
        </p:spPr>
        <p:txBody>
          <a:bodyPr wrap="square" rtlCol="0">
            <a:spAutoFit/>
          </a:bodyPr>
          <a:lstStyle/>
          <a:p>
            <a:pPr algn="ctr"/>
            <a:r>
              <a:rPr lang="zh-CN" altLang="en-US" sz="1400">
                <a:latin typeface="宋体" panose="02010600030101010101" pitchFamily="2" charset="-122"/>
                <a:ea typeface="宋体" panose="02010600030101010101" pitchFamily="2" charset="-122"/>
              </a:rPr>
              <a:t>混合方法</a:t>
            </a:r>
          </a:p>
        </p:txBody>
      </p:sp>
      <p:cxnSp>
        <p:nvCxnSpPr>
          <p:cNvPr id="44" name="直接连接符 43">
            <a:extLst>
              <a:ext uri="{FF2B5EF4-FFF2-40B4-BE49-F238E27FC236}">
                <a16:creationId xmlns:a16="http://schemas.microsoft.com/office/drawing/2014/main" id="{5625FE85-D166-7D40-6FEC-543006CAEE88}"/>
              </a:ext>
            </a:extLst>
          </p:cNvPr>
          <p:cNvCxnSpPr>
            <a:cxnSpLocks/>
          </p:cNvCxnSpPr>
          <p:nvPr/>
        </p:nvCxnSpPr>
        <p:spPr>
          <a:xfrm flipV="1">
            <a:off x="2953938" y="1803766"/>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8FDB100-F183-F84B-B446-94EEA2D22140}"/>
              </a:ext>
            </a:extLst>
          </p:cNvPr>
          <p:cNvCxnSpPr>
            <a:cxnSpLocks/>
          </p:cNvCxnSpPr>
          <p:nvPr/>
        </p:nvCxnSpPr>
        <p:spPr>
          <a:xfrm flipV="1">
            <a:off x="2953938" y="3451679"/>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FE34B07-65E2-C82D-F06E-737D1346EE8E}"/>
              </a:ext>
            </a:extLst>
          </p:cNvPr>
          <p:cNvCxnSpPr>
            <a:cxnSpLocks/>
          </p:cNvCxnSpPr>
          <p:nvPr/>
        </p:nvCxnSpPr>
        <p:spPr>
          <a:xfrm flipV="1">
            <a:off x="2953938" y="513810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CF3D19E1-524B-1732-19F3-3CEDE1B05981}"/>
              </a:ext>
            </a:extLst>
          </p:cNvPr>
          <p:cNvSpPr txBox="1"/>
          <p:nvPr/>
        </p:nvSpPr>
        <p:spPr>
          <a:xfrm>
            <a:off x="3440026" y="1649878"/>
            <a:ext cx="1980030" cy="307777"/>
          </a:xfrm>
          <a:prstGeom prst="rect">
            <a:avLst/>
          </a:prstGeom>
          <a:noFill/>
        </p:spPr>
        <p:txBody>
          <a:bodyPr wrap="none" rtlCol="0">
            <a:spAutoFit/>
          </a:bodyPr>
          <a:lstStyle/>
          <a:p>
            <a:pPr algn="ctr"/>
            <a:r>
              <a:rPr lang="zh-CN" altLang="en-US" sz="1400">
                <a:latin typeface="Times New Roman" panose="02020603050405020304" pitchFamily="18" charset="0"/>
                <a:ea typeface="宋体" panose="02010600030101010101" pitchFamily="2" charset="-122"/>
                <a:cs typeface="Times New Roman" panose="02020603050405020304" pitchFamily="18" charset="0"/>
              </a:rPr>
              <a:t>基于预训练模型的微调</a:t>
            </a:r>
          </a:p>
        </p:txBody>
      </p:sp>
      <p:sp>
        <p:nvSpPr>
          <p:cNvPr id="53" name="文本框 52">
            <a:extLst>
              <a:ext uri="{FF2B5EF4-FFF2-40B4-BE49-F238E27FC236}">
                <a16:creationId xmlns:a16="http://schemas.microsoft.com/office/drawing/2014/main" id="{4F9BF257-984F-E09B-5400-90899180189E}"/>
              </a:ext>
            </a:extLst>
          </p:cNvPr>
          <p:cNvSpPr txBox="1"/>
          <p:nvPr/>
        </p:nvSpPr>
        <p:spPr>
          <a:xfrm>
            <a:off x="3513179" y="3213277"/>
            <a:ext cx="1715534" cy="523220"/>
          </a:xfrm>
          <a:prstGeom prst="rect">
            <a:avLst/>
          </a:prstGeom>
          <a:noFill/>
        </p:spPr>
        <p:txBody>
          <a:bodyPr wrap="square" rtlCol="0">
            <a:spAutoFit/>
          </a:bodyPr>
          <a:lstStyle/>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DANN</a:t>
            </a:r>
            <a:r>
              <a:rPr lang="zh-CN" altLang="en-US" sz="1400">
                <a:latin typeface="Times New Roman" panose="02020603050405020304" pitchFamily="18" charset="0"/>
                <a:ea typeface="宋体" panose="02010600030101010101" pitchFamily="2" charset="-122"/>
                <a:cs typeface="Times New Roman" panose="02020603050405020304" pitchFamily="18" charset="0"/>
              </a:rPr>
              <a:t>、多重分类器对抗网络等</a:t>
            </a:r>
            <a:r>
              <a:rPr lang="en-US" altLang="zh-CN" sz="1400">
                <a:latin typeface="Times New Roman" panose="02020603050405020304" pitchFamily="18" charset="0"/>
                <a:ea typeface="宋体" panose="02010600030101010101" pitchFamily="2" charset="-122"/>
                <a:cs typeface="Times New Roman" panose="02020603050405020304" pitchFamily="18" charset="0"/>
              </a:rPr>
              <a:t>[16]</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 name="文本框 53">
            <a:extLst>
              <a:ext uri="{FF2B5EF4-FFF2-40B4-BE49-F238E27FC236}">
                <a16:creationId xmlns:a16="http://schemas.microsoft.com/office/drawing/2014/main" id="{8452C75A-C0AB-249B-2763-D881DDEF299D}"/>
              </a:ext>
            </a:extLst>
          </p:cNvPr>
          <p:cNvSpPr txBox="1"/>
          <p:nvPr/>
        </p:nvSpPr>
        <p:spPr>
          <a:xfrm>
            <a:off x="3430877" y="4788694"/>
            <a:ext cx="1880138" cy="738664"/>
          </a:xfrm>
          <a:prstGeom prst="rect">
            <a:avLst/>
          </a:prstGeom>
          <a:noFill/>
        </p:spPr>
        <p:txBody>
          <a:bodyPr wrap="square" rtlCol="0">
            <a:spAutoFit/>
          </a:bodyPr>
          <a:lstStyle/>
          <a:p>
            <a:pPr algn="ctr"/>
            <a:r>
              <a:rPr lang="zh-CN" altLang="en-US" sz="1400">
                <a:latin typeface="Times New Roman" panose="02020603050405020304" pitchFamily="18" charset="0"/>
                <a:ea typeface="宋体" panose="02010600030101010101" pitchFamily="2" charset="-122"/>
                <a:cs typeface="Times New Roman" panose="02020603050405020304" pitchFamily="18" charset="0"/>
              </a:rPr>
              <a:t>结合</a:t>
            </a:r>
            <a:r>
              <a:rPr lang="en-US" altLang="zh-CN" sz="1400">
                <a:latin typeface="Times New Roman" panose="02020603050405020304" pitchFamily="18" charset="0"/>
                <a:ea typeface="宋体" panose="02010600030101010101" pitchFamily="2" charset="-122"/>
                <a:cs typeface="Times New Roman" panose="02020603050405020304" pitchFamily="18" charset="0"/>
              </a:rPr>
              <a:t>MMD</a:t>
            </a:r>
            <a:r>
              <a:rPr lang="zh-CN" altLang="en-US" sz="1400">
                <a:latin typeface="Times New Roman" panose="02020603050405020304" pitchFamily="18" charset="0"/>
                <a:ea typeface="宋体" panose="02010600030101010101" pitchFamily="2" charset="-122"/>
                <a:cs typeface="Times New Roman" panose="02020603050405020304" pitchFamily="18" charset="0"/>
              </a:rPr>
              <a:t>和对抗自适应策略、融合多种统计和对抗方法</a:t>
            </a:r>
            <a:r>
              <a:rPr lang="en-US" altLang="zh-CN" sz="1400">
                <a:latin typeface="Times New Roman" panose="02020603050405020304" pitchFamily="18" charset="0"/>
                <a:ea typeface="宋体" panose="02010600030101010101" pitchFamily="2" charset="-122"/>
                <a:cs typeface="Times New Roman" panose="02020603050405020304" pitchFamily="18" charset="0"/>
              </a:rPr>
              <a:t>[18]</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7" name="直接连接符 56">
            <a:extLst>
              <a:ext uri="{FF2B5EF4-FFF2-40B4-BE49-F238E27FC236}">
                <a16:creationId xmlns:a16="http://schemas.microsoft.com/office/drawing/2014/main" id="{26CB1A25-9733-3A93-AACD-20062DDFEA08}"/>
              </a:ext>
            </a:extLst>
          </p:cNvPr>
          <p:cNvCxnSpPr/>
          <p:nvPr/>
        </p:nvCxnSpPr>
        <p:spPr>
          <a:xfrm>
            <a:off x="1574800"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8DB38BCE-4A07-8381-878E-0C746E7E3F40}"/>
              </a:ext>
            </a:extLst>
          </p:cNvPr>
          <p:cNvCxnSpPr/>
          <p:nvPr/>
        </p:nvCxnSpPr>
        <p:spPr>
          <a:xfrm>
            <a:off x="3157518"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CA77AC15-1CDD-AC10-4F99-0101B82D0F99}"/>
              </a:ext>
            </a:extLst>
          </p:cNvPr>
          <p:cNvCxnSpPr>
            <a:cxnSpLocks/>
          </p:cNvCxnSpPr>
          <p:nvPr/>
        </p:nvCxnSpPr>
        <p:spPr>
          <a:xfrm flipV="1">
            <a:off x="5385561" y="1809196"/>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215B89A2-72A9-80D7-B722-389C15CAD94D}"/>
              </a:ext>
            </a:extLst>
          </p:cNvPr>
          <p:cNvCxnSpPr>
            <a:cxnSpLocks/>
          </p:cNvCxnSpPr>
          <p:nvPr/>
        </p:nvCxnSpPr>
        <p:spPr>
          <a:xfrm flipV="1">
            <a:off x="5385561" y="3457109"/>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D96CC4DD-18B6-134C-5701-A3DE7DCD318C}"/>
              </a:ext>
            </a:extLst>
          </p:cNvPr>
          <p:cNvCxnSpPr>
            <a:cxnSpLocks/>
          </p:cNvCxnSpPr>
          <p:nvPr/>
        </p:nvCxnSpPr>
        <p:spPr>
          <a:xfrm flipV="1">
            <a:off x="5385561" y="514353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8D263042-A11B-E3E4-2DFE-E80A7E7E493A}"/>
              </a:ext>
            </a:extLst>
          </p:cNvPr>
          <p:cNvCxnSpPr/>
          <p:nvPr/>
        </p:nvCxnSpPr>
        <p:spPr>
          <a:xfrm>
            <a:off x="5615629"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26A7ACAA-85B7-F84A-9E2A-DB15A4300032}"/>
              </a:ext>
            </a:extLst>
          </p:cNvPr>
          <p:cNvSpPr txBox="1"/>
          <p:nvPr/>
        </p:nvSpPr>
        <p:spPr>
          <a:xfrm>
            <a:off x="1802409" y="1351370"/>
            <a:ext cx="1227183" cy="369332"/>
          </a:xfrm>
          <a:prstGeom prst="rect">
            <a:avLst/>
          </a:prstGeom>
          <a:noFill/>
        </p:spPr>
        <p:txBody>
          <a:bodyPr wrap="square">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方法分类</a:t>
            </a:r>
            <a:endParaRPr lang="zh-CN" altLang="en-US"/>
          </a:p>
        </p:txBody>
      </p:sp>
      <p:sp>
        <p:nvSpPr>
          <p:cNvPr id="71" name="文本框 70">
            <a:extLst>
              <a:ext uri="{FF2B5EF4-FFF2-40B4-BE49-F238E27FC236}">
                <a16:creationId xmlns:a16="http://schemas.microsoft.com/office/drawing/2014/main" id="{5316A64D-F302-CA10-E366-2034E6AD896E}"/>
              </a:ext>
            </a:extLst>
          </p:cNvPr>
          <p:cNvSpPr txBox="1"/>
          <p:nvPr/>
        </p:nvSpPr>
        <p:spPr>
          <a:xfrm>
            <a:off x="3903845" y="1331050"/>
            <a:ext cx="1107996" cy="369332"/>
          </a:xfrm>
          <a:prstGeom prst="rect">
            <a:avLst/>
          </a:prstGeom>
          <a:noFill/>
        </p:spPr>
        <p:txBody>
          <a:bodyPr wrap="none" rtlCol="0">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具体算法</a:t>
            </a:r>
            <a:endParaRPr kumimoji="1" lang="zh-CN" altLang="en-US" dirty="0">
              <a:solidFill>
                <a:srgbClr val="4883C0"/>
              </a:solidFill>
              <a:latin typeface="Microsoft YaHei" panose="020B0503020204020204" pitchFamily="34" charset="-122"/>
              <a:ea typeface="Microsoft YaHei" panose="020B0503020204020204" pitchFamily="34" charset="-122"/>
            </a:endParaRPr>
          </a:p>
        </p:txBody>
      </p:sp>
      <p:sp>
        <p:nvSpPr>
          <p:cNvPr id="72" name="文本框 71">
            <a:extLst>
              <a:ext uri="{FF2B5EF4-FFF2-40B4-BE49-F238E27FC236}">
                <a16:creationId xmlns:a16="http://schemas.microsoft.com/office/drawing/2014/main" id="{F75C2263-FA17-E826-3533-ECA2F0ADB816}"/>
              </a:ext>
            </a:extLst>
          </p:cNvPr>
          <p:cNvSpPr txBox="1"/>
          <p:nvPr/>
        </p:nvSpPr>
        <p:spPr>
          <a:xfrm>
            <a:off x="7121598" y="1335108"/>
            <a:ext cx="1107996" cy="369332"/>
          </a:xfrm>
          <a:prstGeom prst="rect">
            <a:avLst/>
          </a:prstGeom>
          <a:noFill/>
        </p:spPr>
        <p:txBody>
          <a:bodyPr wrap="none" rtlCol="0">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应用场景</a:t>
            </a:r>
            <a:endParaRPr kumimoji="1" lang="zh-CN" altLang="en-US" dirty="0">
              <a:solidFill>
                <a:srgbClr val="4883C0"/>
              </a:solidFill>
              <a:latin typeface="Microsoft YaHei" panose="020B0503020204020204" pitchFamily="34" charset="-122"/>
              <a:ea typeface="Microsoft YaHei" panose="020B0503020204020204" pitchFamily="34" charset="-122"/>
            </a:endParaRPr>
          </a:p>
        </p:txBody>
      </p:sp>
      <p:sp>
        <p:nvSpPr>
          <p:cNvPr id="73" name="文本框 72">
            <a:extLst>
              <a:ext uri="{FF2B5EF4-FFF2-40B4-BE49-F238E27FC236}">
                <a16:creationId xmlns:a16="http://schemas.microsoft.com/office/drawing/2014/main" id="{D976D1E2-E05B-F184-4EFC-1009B6E7AD9C}"/>
              </a:ext>
            </a:extLst>
          </p:cNvPr>
          <p:cNvSpPr txBox="1"/>
          <p:nvPr/>
        </p:nvSpPr>
        <p:spPr>
          <a:xfrm>
            <a:off x="5960432" y="1649878"/>
            <a:ext cx="3189918" cy="523220"/>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源域数据与目标域数据具有</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相似特征的场景</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4" name="文本框 73">
            <a:extLst>
              <a:ext uri="{FF2B5EF4-FFF2-40B4-BE49-F238E27FC236}">
                <a16:creationId xmlns:a16="http://schemas.microsoft.com/office/drawing/2014/main" id="{863C95B3-CAB3-08EC-64BB-A327B9FC70C5}"/>
              </a:ext>
            </a:extLst>
          </p:cNvPr>
          <p:cNvSpPr txBox="1"/>
          <p:nvPr/>
        </p:nvSpPr>
        <p:spPr>
          <a:xfrm>
            <a:off x="5920244" y="3147997"/>
            <a:ext cx="3189918" cy="523220"/>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适合处理源域与目标域之间的</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特征分布差异大的场景</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6" name="文本框 75">
            <a:extLst>
              <a:ext uri="{FF2B5EF4-FFF2-40B4-BE49-F238E27FC236}">
                <a16:creationId xmlns:a16="http://schemas.microsoft.com/office/drawing/2014/main" id="{9E8B98C4-B266-1BB2-B178-4464E049C71A}"/>
              </a:ext>
            </a:extLst>
          </p:cNvPr>
          <p:cNvSpPr txBox="1"/>
          <p:nvPr/>
        </p:nvSpPr>
        <p:spPr>
          <a:xfrm>
            <a:off x="5932790" y="4828522"/>
            <a:ext cx="3189918" cy="523220"/>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适用于更为</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复杂的跨域场景</a:t>
            </a:r>
            <a:r>
              <a:rPr lang="zh-CN" altLang="en-US" sz="1400"/>
              <a:t>。</a:t>
            </a:r>
            <a:r>
              <a:rPr lang="zh-CN" altLang="en-US" sz="1400">
                <a:latin typeface="Times New Roman" panose="02020603050405020304" pitchFamily="18" charset="0"/>
                <a:ea typeface="宋体" panose="02010600030101010101" pitchFamily="2" charset="-122"/>
                <a:cs typeface="Times New Roman" panose="02020603050405020304" pitchFamily="18" charset="0"/>
              </a:rPr>
              <a:t>可以处理多个源域和目标域数据。</a:t>
            </a:r>
          </a:p>
        </p:txBody>
      </p:sp>
      <p:cxnSp>
        <p:nvCxnSpPr>
          <p:cNvPr id="77" name="直接连接符 76">
            <a:extLst>
              <a:ext uri="{FF2B5EF4-FFF2-40B4-BE49-F238E27FC236}">
                <a16:creationId xmlns:a16="http://schemas.microsoft.com/office/drawing/2014/main" id="{7E4381D5-5BFC-39EC-912A-79A912DA927E}"/>
              </a:ext>
            </a:extLst>
          </p:cNvPr>
          <p:cNvCxnSpPr>
            <a:cxnSpLocks/>
          </p:cNvCxnSpPr>
          <p:nvPr/>
        </p:nvCxnSpPr>
        <p:spPr>
          <a:xfrm flipV="1">
            <a:off x="9137225" y="1809196"/>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B213C075-A220-ABAB-A579-934CF553CC77}"/>
              </a:ext>
            </a:extLst>
          </p:cNvPr>
          <p:cNvCxnSpPr>
            <a:cxnSpLocks/>
          </p:cNvCxnSpPr>
          <p:nvPr/>
        </p:nvCxnSpPr>
        <p:spPr>
          <a:xfrm flipV="1">
            <a:off x="9137225" y="3457109"/>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A821F062-15A9-4415-4660-8DBF0DE98B44}"/>
              </a:ext>
            </a:extLst>
          </p:cNvPr>
          <p:cNvCxnSpPr>
            <a:cxnSpLocks/>
          </p:cNvCxnSpPr>
          <p:nvPr/>
        </p:nvCxnSpPr>
        <p:spPr>
          <a:xfrm flipV="1">
            <a:off x="9137225" y="514353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F41BEF74-E99E-CC33-A332-92F39934BA84}"/>
              </a:ext>
            </a:extLst>
          </p:cNvPr>
          <p:cNvCxnSpPr/>
          <p:nvPr/>
        </p:nvCxnSpPr>
        <p:spPr>
          <a:xfrm>
            <a:off x="9367293"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F8B8A67B-DE7A-4635-B5A3-2EB7869EF4CE}"/>
              </a:ext>
            </a:extLst>
          </p:cNvPr>
          <p:cNvSpPr txBox="1"/>
          <p:nvPr/>
        </p:nvSpPr>
        <p:spPr>
          <a:xfrm>
            <a:off x="10389591" y="1359531"/>
            <a:ext cx="646331" cy="369332"/>
          </a:xfrm>
          <a:prstGeom prst="rect">
            <a:avLst/>
          </a:prstGeom>
          <a:noFill/>
        </p:spPr>
        <p:txBody>
          <a:bodyPr wrap="none" rtlCol="0">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评价</a:t>
            </a:r>
            <a:endParaRPr kumimoji="1" lang="zh-CN" altLang="en-US" dirty="0">
              <a:solidFill>
                <a:srgbClr val="4883C0"/>
              </a:solidFill>
              <a:latin typeface="Microsoft YaHei" panose="020B0503020204020204" pitchFamily="34" charset="-122"/>
              <a:ea typeface="Microsoft YaHei" panose="020B0503020204020204" pitchFamily="34" charset="-122"/>
            </a:endParaRPr>
          </a:p>
        </p:txBody>
      </p:sp>
      <p:sp>
        <p:nvSpPr>
          <p:cNvPr id="85" name="文本框 84">
            <a:extLst>
              <a:ext uri="{FF2B5EF4-FFF2-40B4-BE49-F238E27FC236}">
                <a16:creationId xmlns:a16="http://schemas.microsoft.com/office/drawing/2014/main" id="{088D3007-6BAE-06EE-D555-C756AA180A4B}"/>
              </a:ext>
            </a:extLst>
          </p:cNvPr>
          <p:cNvSpPr txBox="1"/>
          <p:nvPr/>
        </p:nvSpPr>
        <p:spPr>
          <a:xfrm>
            <a:off x="9584237" y="1649878"/>
            <a:ext cx="2325632" cy="523220"/>
          </a:xfrm>
          <a:prstGeom prst="rect">
            <a:avLst/>
          </a:prstGeom>
          <a:noFill/>
        </p:spPr>
        <p:txBody>
          <a:bodyPr wrap="square" rtlCol="0">
            <a:spAutoFit/>
          </a:bodyPr>
          <a:lstStyle/>
          <a:p>
            <a:pPr algn="just"/>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需要大量的标注数据</a:t>
            </a:r>
            <a:r>
              <a:rPr lang="zh-CN" altLang="en-US" sz="1400">
                <a:latin typeface="Times New Roman" panose="02020603050405020304" pitchFamily="18" charset="0"/>
                <a:ea typeface="宋体" panose="02010600030101010101" pitchFamily="2" charset="-122"/>
                <a:cs typeface="Times New Roman" panose="02020603050405020304" pitchFamily="18" charset="0"/>
              </a:rPr>
              <a:t>，在目标域数据有限时，性能下降。</a:t>
            </a:r>
          </a:p>
        </p:txBody>
      </p:sp>
      <p:sp>
        <p:nvSpPr>
          <p:cNvPr id="87" name="文本框 86">
            <a:extLst>
              <a:ext uri="{FF2B5EF4-FFF2-40B4-BE49-F238E27FC236}">
                <a16:creationId xmlns:a16="http://schemas.microsoft.com/office/drawing/2014/main" id="{97127234-5BE6-471C-63B5-E01BEB151C52}"/>
              </a:ext>
            </a:extLst>
          </p:cNvPr>
          <p:cNvSpPr txBox="1"/>
          <p:nvPr/>
        </p:nvSpPr>
        <p:spPr>
          <a:xfrm>
            <a:off x="9547920" y="3166684"/>
            <a:ext cx="2421956" cy="523220"/>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对</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计算资源要求较高</a:t>
            </a:r>
            <a:r>
              <a:rPr lang="zh-CN" altLang="en-US" sz="1400">
                <a:latin typeface="Times New Roman" panose="02020603050405020304" pitchFamily="18" charset="0"/>
                <a:ea typeface="宋体" panose="02010600030101010101" pitchFamily="2" charset="-122"/>
                <a:cs typeface="Times New Roman" panose="02020603050405020304" pitchFamily="18" charset="0"/>
              </a:rPr>
              <a:t>，且训练过程不稳定</a:t>
            </a:r>
            <a:r>
              <a:rPr lang="zh-CN" altLang="en-US" sz="1400"/>
              <a:t>。</a:t>
            </a:r>
            <a:endParaRPr lang="zh-CN" altLang="en-US" sz="1400">
              <a:latin typeface="宋体" panose="02010600030101010101" pitchFamily="2" charset="-122"/>
              <a:ea typeface="宋体" panose="02010600030101010101" pitchFamily="2" charset="-122"/>
            </a:endParaRPr>
          </a:p>
        </p:txBody>
      </p:sp>
      <p:sp>
        <p:nvSpPr>
          <p:cNvPr id="88" name="文本框 87">
            <a:extLst>
              <a:ext uri="{FF2B5EF4-FFF2-40B4-BE49-F238E27FC236}">
                <a16:creationId xmlns:a16="http://schemas.microsoft.com/office/drawing/2014/main" id="{C06CE3E4-6665-308E-81BE-064260E27AF6}"/>
              </a:ext>
            </a:extLst>
          </p:cNvPr>
          <p:cNvSpPr txBox="1"/>
          <p:nvPr/>
        </p:nvSpPr>
        <p:spPr>
          <a:xfrm>
            <a:off x="9545831" y="4876932"/>
            <a:ext cx="2333849" cy="523220"/>
          </a:xfrm>
          <a:prstGeom prst="rect">
            <a:avLst/>
          </a:prstGeom>
          <a:noFill/>
        </p:spPr>
        <p:txBody>
          <a:bodyPr wrap="square" rtlCol="0">
            <a:spAutoFit/>
          </a:bodyPr>
          <a:lstStyle/>
          <a:p>
            <a:pPr algn="just"/>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算法复杂性较高</a:t>
            </a:r>
            <a:r>
              <a:rPr lang="zh-CN" altLang="en-US" sz="1400">
                <a:latin typeface="Times New Roman" panose="02020603050405020304" pitchFamily="18" charset="0"/>
                <a:ea typeface="宋体" panose="02010600030101010101" pitchFamily="2" charset="-122"/>
                <a:cs typeface="Times New Roman" panose="02020603050405020304" pitchFamily="18" charset="0"/>
              </a:rPr>
              <a:t>，且对计算资源要求较大。</a:t>
            </a:r>
          </a:p>
        </p:txBody>
      </p:sp>
      <p:cxnSp>
        <p:nvCxnSpPr>
          <p:cNvPr id="3" name="直接连接符 2">
            <a:extLst>
              <a:ext uri="{FF2B5EF4-FFF2-40B4-BE49-F238E27FC236}">
                <a16:creationId xmlns:a16="http://schemas.microsoft.com/office/drawing/2014/main" id="{1C0A7748-C938-3E02-4157-E00927D4B3C4}"/>
              </a:ext>
            </a:extLst>
          </p:cNvPr>
          <p:cNvCxnSpPr>
            <a:cxnSpLocks/>
          </p:cNvCxnSpPr>
          <p:nvPr/>
        </p:nvCxnSpPr>
        <p:spPr>
          <a:xfrm>
            <a:off x="1557867" y="2674369"/>
            <a:ext cx="17250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1ED574E5-71AE-12D1-9999-F61BC6AC8608}"/>
              </a:ext>
            </a:extLst>
          </p:cNvPr>
          <p:cNvSpPr txBox="1"/>
          <p:nvPr/>
        </p:nvSpPr>
        <p:spPr>
          <a:xfrm>
            <a:off x="1812118" y="2399818"/>
            <a:ext cx="1089113" cy="523220"/>
          </a:xfrm>
          <a:prstGeom prst="rect">
            <a:avLst/>
          </a:prstGeom>
          <a:noFill/>
        </p:spPr>
        <p:txBody>
          <a:bodyPr wrap="square" rtlCol="0">
            <a:spAutoFit/>
          </a:bodyPr>
          <a:lstStyle/>
          <a:p>
            <a:pPr algn="ctr"/>
            <a:r>
              <a:rPr lang="zh-CN" altLang="en-US" sz="1400">
                <a:latin typeface="宋体" panose="02010600030101010101" pitchFamily="2" charset="-122"/>
                <a:ea typeface="宋体" panose="02010600030101010101" pitchFamily="2" charset="-122"/>
              </a:rPr>
              <a:t>基于统计的方法</a:t>
            </a:r>
          </a:p>
        </p:txBody>
      </p:sp>
      <p:cxnSp>
        <p:nvCxnSpPr>
          <p:cNvPr id="5" name="直接连接符 4">
            <a:extLst>
              <a:ext uri="{FF2B5EF4-FFF2-40B4-BE49-F238E27FC236}">
                <a16:creationId xmlns:a16="http://schemas.microsoft.com/office/drawing/2014/main" id="{9B9C1262-231C-E515-DA27-EF7BFA0C6EC3}"/>
              </a:ext>
            </a:extLst>
          </p:cNvPr>
          <p:cNvCxnSpPr>
            <a:cxnSpLocks/>
          </p:cNvCxnSpPr>
          <p:nvPr/>
        </p:nvCxnSpPr>
        <p:spPr>
          <a:xfrm flipV="1">
            <a:off x="2953938" y="266598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C34411BE-C0BF-79B5-4241-BDE5C9524AEF}"/>
              </a:ext>
            </a:extLst>
          </p:cNvPr>
          <p:cNvSpPr txBox="1"/>
          <p:nvPr/>
        </p:nvSpPr>
        <p:spPr>
          <a:xfrm>
            <a:off x="3499760" y="2398082"/>
            <a:ext cx="1728701" cy="523220"/>
          </a:xfrm>
          <a:prstGeom prst="rect">
            <a:avLst/>
          </a:prstGeom>
          <a:noFill/>
        </p:spPr>
        <p:txBody>
          <a:bodyPr wrap="square" rtlCol="0">
            <a:spAutoFit/>
          </a:bodyPr>
          <a:lstStyle/>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MMD</a:t>
            </a:r>
            <a:r>
              <a:rPr lang="zh-CN" altLang="en-US" sz="1400">
                <a:latin typeface="Times New Roman" panose="02020603050405020304" pitchFamily="18" charset="0"/>
                <a:ea typeface="宋体" panose="02010600030101010101" pitchFamily="2" charset="-122"/>
                <a:cs typeface="Times New Roman" panose="02020603050405020304" pitchFamily="18" charset="0"/>
              </a:rPr>
              <a:t>、联合自适应分布</a:t>
            </a:r>
            <a:r>
              <a:rPr lang="en-US" altLang="zh-CN" sz="1400">
                <a:latin typeface="Times New Roman" panose="02020603050405020304" pitchFamily="18" charset="0"/>
                <a:ea typeface="宋体" panose="02010600030101010101" pitchFamily="2" charset="-122"/>
                <a:cs typeface="Times New Roman" panose="02020603050405020304" pitchFamily="18" charset="0"/>
              </a:rPr>
              <a:t>(JDA)</a:t>
            </a:r>
            <a:r>
              <a:rPr lang="zh-CN" altLang="en-US" sz="1400">
                <a:latin typeface="Times New Roman" panose="02020603050405020304" pitchFamily="18" charset="0"/>
                <a:ea typeface="宋体" panose="02010600030101010101" pitchFamily="2" charset="-122"/>
                <a:cs typeface="Times New Roman" panose="02020603050405020304" pitchFamily="18" charset="0"/>
              </a:rPr>
              <a:t>等</a:t>
            </a:r>
            <a:r>
              <a:rPr lang="en-US" altLang="zh-CN" sz="1400">
                <a:latin typeface="Times New Roman" panose="02020603050405020304" pitchFamily="18" charset="0"/>
                <a:ea typeface="宋体" panose="02010600030101010101" pitchFamily="2" charset="-122"/>
                <a:cs typeface="Times New Roman" panose="02020603050405020304" pitchFamily="18" charset="0"/>
              </a:rPr>
              <a:t>[14-15]</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0" name="直接连接符 19">
            <a:extLst>
              <a:ext uri="{FF2B5EF4-FFF2-40B4-BE49-F238E27FC236}">
                <a16:creationId xmlns:a16="http://schemas.microsoft.com/office/drawing/2014/main" id="{BB8D4E72-0260-8AE7-E487-0155365AF5BD}"/>
              </a:ext>
            </a:extLst>
          </p:cNvPr>
          <p:cNvCxnSpPr>
            <a:cxnSpLocks/>
          </p:cNvCxnSpPr>
          <p:nvPr/>
        </p:nvCxnSpPr>
        <p:spPr>
          <a:xfrm flipV="1">
            <a:off x="5385561" y="267141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C9EC0FE-7EC4-0415-67FD-2AB2B6393C92}"/>
              </a:ext>
            </a:extLst>
          </p:cNvPr>
          <p:cNvSpPr txBox="1"/>
          <p:nvPr/>
        </p:nvSpPr>
        <p:spPr>
          <a:xfrm>
            <a:off x="5947307" y="2489233"/>
            <a:ext cx="3189918" cy="307777"/>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多用于</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相同或相似故障类型的场景</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p>
        </p:txBody>
      </p:sp>
      <p:cxnSp>
        <p:nvCxnSpPr>
          <p:cNvPr id="23" name="直接连接符 22">
            <a:extLst>
              <a:ext uri="{FF2B5EF4-FFF2-40B4-BE49-F238E27FC236}">
                <a16:creationId xmlns:a16="http://schemas.microsoft.com/office/drawing/2014/main" id="{589DD8EB-5BC4-0D99-4D0A-478E49056E47}"/>
              </a:ext>
            </a:extLst>
          </p:cNvPr>
          <p:cNvCxnSpPr>
            <a:cxnSpLocks/>
          </p:cNvCxnSpPr>
          <p:nvPr/>
        </p:nvCxnSpPr>
        <p:spPr>
          <a:xfrm flipV="1">
            <a:off x="9137225" y="267141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481539B2-C253-FFF6-25C2-A6EBC6F2A07E}"/>
              </a:ext>
            </a:extLst>
          </p:cNvPr>
          <p:cNvSpPr txBox="1"/>
          <p:nvPr/>
        </p:nvSpPr>
        <p:spPr>
          <a:xfrm>
            <a:off x="9547920" y="2392009"/>
            <a:ext cx="2421956" cy="523220"/>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需要</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大量无标签的目标域数据</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p>
        </p:txBody>
      </p:sp>
      <p:cxnSp>
        <p:nvCxnSpPr>
          <p:cNvPr id="26" name="直接连接符 25">
            <a:extLst>
              <a:ext uri="{FF2B5EF4-FFF2-40B4-BE49-F238E27FC236}">
                <a16:creationId xmlns:a16="http://schemas.microsoft.com/office/drawing/2014/main" id="{5F40646D-A5CD-DAE7-92D4-6155BAE1863D}"/>
              </a:ext>
            </a:extLst>
          </p:cNvPr>
          <p:cNvCxnSpPr>
            <a:cxnSpLocks/>
          </p:cNvCxnSpPr>
          <p:nvPr/>
        </p:nvCxnSpPr>
        <p:spPr>
          <a:xfrm>
            <a:off x="1574800" y="4399719"/>
            <a:ext cx="15556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91563032-2883-0335-09BA-186185B57E61}"/>
              </a:ext>
            </a:extLst>
          </p:cNvPr>
          <p:cNvSpPr txBox="1"/>
          <p:nvPr/>
        </p:nvSpPr>
        <p:spPr>
          <a:xfrm>
            <a:off x="1777677" y="4138109"/>
            <a:ext cx="1100216" cy="523220"/>
          </a:xfrm>
          <a:prstGeom prst="rect">
            <a:avLst/>
          </a:prstGeom>
          <a:noFill/>
        </p:spPr>
        <p:txBody>
          <a:bodyPr wrap="square" rtlCol="0">
            <a:spAutoFit/>
          </a:bodyPr>
          <a:lstStyle/>
          <a:p>
            <a:pPr algn="ctr"/>
            <a:r>
              <a:rPr lang="zh-CN" altLang="en-US" sz="1400">
                <a:latin typeface="宋体" panose="02010600030101010101" pitchFamily="2" charset="-122"/>
                <a:ea typeface="宋体" panose="02010600030101010101" pitchFamily="2" charset="-122"/>
              </a:rPr>
              <a:t>基于少样本的方法</a:t>
            </a:r>
          </a:p>
        </p:txBody>
      </p:sp>
      <p:cxnSp>
        <p:nvCxnSpPr>
          <p:cNvPr id="28" name="直接连接符 27">
            <a:extLst>
              <a:ext uri="{FF2B5EF4-FFF2-40B4-BE49-F238E27FC236}">
                <a16:creationId xmlns:a16="http://schemas.microsoft.com/office/drawing/2014/main" id="{4FC50E60-31B0-1C1D-A9ED-E341E6DB6A94}"/>
              </a:ext>
            </a:extLst>
          </p:cNvPr>
          <p:cNvCxnSpPr>
            <a:cxnSpLocks/>
          </p:cNvCxnSpPr>
          <p:nvPr/>
        </p:nvCxnSpPr>
        <p:spPr>
          <a:xfrm flipV="1">
            <a:off x="2953938" y="439133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9D6DFF03-991B-9F89-FEEE-32EB2CE12D06}"/>
              </a:ext>
            </a:extLst>
          </p:cNvPr>
          <p:cNvSpPr txBox="1"/>
          <p:nvPr/>
        </p:nvSpPr>
        <p:spPr>
          <a:xfrm>
            <a:off x="3416214" y="4228163"/>
            <a:ext cx="2040943" cy="307777"/>
          </a:xfrm>
          <a:prstGeom prst="rect">
            <a:avLst/>
          </a:prstGeom>
          <a:noFill/>
        </p:spPr>
        <p:txBody>
          <a:bodyPr wrap="none" rtlCol="0">
            <a:spAutoFit/>
          </a:bodyPr>
          <a:lstStyle/>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Siamese</a:t>
            </a:r>
            <a:r>
              <a:rPr lang="zh-CN" altLang="en-US" sz="1400">
                <a:latin typeface="宋体" panose="02010600030101010101" pitchFamily="2" charset="-122"/>
                <a:ea typeface="宋体" panose="02010600030101010101" pitchFamily="2" charset="-122"/>
              </a:rPr>
              <a:t>神经网络等</a:t>
            </a:r>
            <a:r>
              <a:rPr lang="en-US" altLang="zh-CN" sz="1400">
                <a:latin typeface="Times New Roman" panose="02020603050405020304" pitchFamily="18" charset="0"/>
                <a:ea typeface="宋体" panose="02010600030101010101" pitchFamily="2" charset="-122"/>
                <a:cs typeface="Times New Roman" panose="02020603050405020304" pitchFamily="18" charset="0"/>
              </a:rPr>
              <a:t>[17]</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0" name="直接连接符 29">
            <a:extLst>
              <a:ext uri="{FF2B5EF4-FFF2-40B4-BE49-F238E27FC236}">
                <a16:creationId xmlns:a16="http://schemas.microsoft.com/office/drawing/2014/main" id="{40A755CC-32B1-81E9-A3DF-651A421B8D14}"/>
              </a:ext>
            </a:extLst>
          </p:cNvPr>
          <p:cNvCxnSpPr>
            <a:cxnSpLocks/>
          </p:cNvCxnSpPr>
          <p:nvPr/>
        </p:nvCxnSpPr>
        <p:spPr>
          <a:xfrm flipV="1">
            <a:off x="5385561" y="439676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ADC4EE24-EF0E-0AAF-E6D9-E76F94E82D9C}"/>
              </a:ext>
            </a:extLst>
          </p:cNvPr>
          <p:cNvSpPr txBox="1"/>
          <p:nvPr/>
        </p:nvSpPr>
        <p:spPr>
          <a:xfrm>
            <a:off x="5960432" y="4227984"/>
            <a:ext cx="3189918" cy="307777"/>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适用于</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少样本场景</a:t>
            </a:r>
            <a:r>
              <a:rPr lang="zh-CN" altLang="en-US" sz="1400">
                <a:solidFill>
                  <a:prstClr val="black"/>
                </a:solidFill>
                <a:latin typeface="宋体" panose="02010600030101010101" pitchFamily="2" charset="-122"/>
                <a:ea typeface="宋体" panose="02010600030101010101" pitchFamily="2" charset="-122"/>
              </a:rPr>
              <a:t>。</a:t>
            </a:r>
          </a:p>
        </p:txBody>
      </p:sp>
      <p:cxnSp>
        <p:nvCxnSpPr>
          <p:cNvPr id="33" name="直接连接符 32">
            <a:extLst>
              <a:ext uri="{FF2B5EF4-FFF2-40B4-BE49-F238E27FC236}">
                <a16:creationId xmlns:a16="http://schemas.microsoft.com/office/drawing/2014/main" id="{B2D4BF1A-F8C1-8C06-D864-9A0680160608}"/>
              </a:ext>
            </a:extLst>
          </p:cNvPr>
          <p:cNvCxnSpPr>
            <a:cxnSpLocks/>
          </p:cNvCxnSpPr>
          <p:nvPr/>
        </p:nvCxnSpPr>
        <p:spPr>
          <a:xfrm flipV="1">
            <a:off x="9137225" y="439676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FB078A05-2389-40D6-9239-2C3CE88A39B8}"/>
              </a:ext>
            </a:extLst>
          </p:cNvPr>
          <p:cNvSpPr txBox="1"/>
          <p:nvPr/>
        </p:nvSpPr>
        <p:spPr>
          <a:xfrm>
            <a:off x="9536075" y="4127773"/>
            <a:ext cx="242195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a:latin typeface="Times New Roman" panose="02020603050405020304" pitchFamily="18" charset="0"/>
                <a:ea typeface="宋体" panose="02010600030101010101" pitchFamily="2" charset="-122"/>
                <a:cs typeface="Times New Roman" panose="02020603050405020304" pitchFamily="18" charset="0"/>
              </a:rPr>
              <a:t>训练任务不足时，模型的</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泛化能力较差​</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400" dirty="0">
              <a:solidFill>
                <a:prstClr val="black"/>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384959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研究背景</a:t>
            </a:r>
          </a:p>
        </p:txBody>
      </p:sp>
      <p:sp>
        <p:nvSpPr>
          <p:cNvPr id="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文献综述</a:t>
            </a:r>
          </a:p>
        </p:txBody>
      </p:sp>
      <p:sp>
        <p:nvSpPr>
          <p:cNvPr id="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技术路线</a:t>
            </a:r>
          </a:p>
        </p:txBody>
      </p:sp>
      <p:sp>
        <p:nvSpPr>
          <p:cNvPr id="1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2" name="直接连接符 1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等腰三角形 15"/>
          <p:cNvSpPr/>
          <p:nvPr/>
        </p:nvSpPr>
        <p:spPr>
          <a:xfrm rot="10800000">
            <a:off x="2590223"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1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19"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21" name="TextBox 23"/>
          <p:cNvSpPr txBox="1"/>
          <p:nvPr/>
        </p:nvSpPr>
        <p:spPr>
          <a:xfrm>
            <a:off x="48410" y="944656"/>
            <a:ext cx="3053221" cy="422405"/>
          </a:xfrm>
          <a:prstGeom prst="rect">
            <a:avLst/>
          </a:prstGeom>
          <a:solidFill>
            <a:srgbClr val="0057AA"/>
          </a:solidFill>
          <a:ln w="19050">
            <a:noFill/>
          </a:ln>
        </p:spPr>
        <p:txBody>
          <a:bodyPr wrap="square" lIns="72000" tIns="72000" rIns="72000" bIns="72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三</a:t>
            </a:r>
            <a:r>
              <a:rPr kumimoji="0" lang="en-US" altLang="zh-CN"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a:t>
            </a:r>
            <a:r>
              <a:rPr lang="zh-CN" altLang="en-US">
                <a:solidFill>
                  <a:prstClr val="white"/>
                </a:solidFill>
                <a:latin typeface="黑体" panose="02010609060101010101" pitchFamily="49" charset="-122"/>
                <a:ea typeface="黑体" panose="02010609060101010101" pitchFamily="49" charset="-122"/>
              </a:rPr>
              <a:t>小样本增量学习</a:t>
            </a:r>
            <a:r>
              <a:rPr kumimoji="0" lang="zh-CN" altLang="en-US"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研究现状</a:t>
            </a:r>
            <a:endParaRPr kumimoji="0" lang="en-US" altLang="zh-CN" sz="2000" b="0" i="0" u="none" strike="noStrike" kern="1200" cap="none" spc="0" normalizeH="0" baseline="0" noProof="0" dirty="0">
              <a:ln>
                <a:noFill/>
              </a:ln>
              <a:solidFill>
                <a:prstClr val="white"/>
              </a:solidFill>
              <a:effectLst/>
              <a:uLnTx/>
              <a:uFillTx/>
              <a:latin typeface="黑体" panose="02010609060101010101" pitchFamily="49" charset="-122"/>
              <a:ea typeface="黑体" panose="02010609060101010101" pitchFamily="49" charset="-122"/>
              <a:cs typeface="+mn-ea"/>
              <a:sym typeface="+mn-lt"/>
            </a:endParaRPr>
          </a:p>
        </p:txBody>
      </p:sp>
      <p:sp>
        <p:nvSpPr>
          <p:cNvPr id="86" name="文本框 85">
            <a:extLst>
              <a:ext uri="{FF2B5EF4-FFF2-40B4-BE49-F238E27FC236}">
                <a16:creationId xmlns:a16="http://schemas.microsoft.com/office/drawing/2014/main" id="{F155AD41-8969-4F20-8389-54B9965DBC8B}"/>
              </a:ext>
            </a:extLst>
          </p:cNvPr>
          <p:cNvSpPr txBox="1"/>
          <p:nvPr/>
        </p:nvSpPr>
        <p:spPr>
          <a:xfrm>
            <a:off x="345672" y="5489526"/>
            <a:ext cx="11716032" cy="1314957"/>
          </a:xfrm>
          <a:prstGeom prst="rect">
            <a:avLst/>
          </a:prstGeom>
          <a:solidFill>
            <a:schemeClr val="bg1">
              <a:lumMod val="95000"/>
            </a:schemeClr>
          </a:solidFill>
          <a:ln w="19050">
            <a:noFill/>
          </a:ln>
        </p:spPr>
        <p:txBody>
          <a:bodyPr wrap="square" lIns="72000" tIns="72000" rIns="72000" bIns="72000" rtlCol="0">
            <a:spAutoFit/>
          </a:bodyPr>
          <a:lstStyle>
            <a:defPPr>
              <a:defRPr lang="en-US"/>
            </a:defPPr>
            <a:lvl1pPr>
              <a:defRPr sz="1400" b="1" kern="0">
                <a:solidFill>
                  <a:srgbClr val="000000"/>
                </a:solidFill>
                <a:latin typeface="黑体" panose="02010609060101010101" pitchFamily="49" charset="-122"/>
                <a:ea typeface="黑体" panose="02010609060101010101" pitchFamily="49" charset="-122"/>
                <a:cs typeface="+mn-ea"/>
              </a:defRPr>
              <a:extLst>
                <a:ext uri="{35155182-B16C-46BC-9424-99874614C6A1}">
                  <wpsdc:indentchars xmlns="" xmlns:wpsdc="http://www.wps.cn/officeDocument/2017/drawingmlCustomData" val="200" checksum="3837665281"/>
                </a:ext>
              </a:extLst>
            </a:lvl1pPr>
          </a:lstStyle>
          <a:p>
            <a:pPr marL="0" marR="0" lvl="0" indent="0" algn="l" defTabSz="914400" rtl="0" eaLnBrk="1" fontAlgn="auto"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3837665281"/>
                </a:ext>
              </a:extLst>
            </a:pPr>
            <a:r>
              <a:rPr kumimoji="0" lang="zh-CN" altLang="en-US" sz="16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研究难点</a:t>
            </a:r>
            <a:r>
              <a:rPr kumimoji="0" lang="en-US" altLang="zh-CN" sz="16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3</a:t>
            </a:r>
            <a:r>
              <a:rPr kumimoji="0" lang="zh-CN" altLang="en-US" sz="1600" b="1" i="0" u="none" strike="noStrike" kern="0" cap="none" spc="0" normalizeH="0" baseline="0" noProof="0">
                <a:ln>
                  <a:noFill/>
                </a:ln>
                <a:solidFill>
                  <a:srgbClr val="000000"/>
                </a:solidFill>
                <a:effectLst/>
                <a:uLnTx/>
                <a:uFillTx/>
                <a:latin typeface="黑体" panose="02010609060101010101" pitchFamily="49" charset="-122"/>
                <a:ea typeface="黑体" panose="02010609060101010101" pitchFamily="49" charset="-122"/>
              </a:rPr>
              <a:t>：</a:t>
            </a:r>
            <a:endParaRPr kumimoji="0" lang="en-US" altLang="zh-CN" sz="1600" b="1" i="0" u="none" strike="noStrike" kern="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extLst>
                <a:ext uri="{35155182-B16C-46BC-9424-99874614C6A1}">
                  <wpsdc:indentchars xmlns:lc="http://schemas.openxmlformats.org/drawingml/2006/lockedCanvas" xmlns:wpsdc="http://www.wps.cn/officeDocument/2017/drawingmlCustomData" xmlns="" val="200" checksum="3837665281"/>
                </a:ext>
              </a:extLst>
            </a:pPr>
            <a:r>
              <a:rPr kumimoji="0" lang="zh-CN" altLang="en-US" sz="1500" b="0"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rPr>
              <a:t>小样本增量学习</a:t>
            </a:r>
            <a:r>
              <a:rPr lang="zh-CN" altLang="en-US" sz="1500" b="0">
                <a:latin typeface="宋体" panose="02010600030101010101" pitchFamily="2" charset="-122"/>
                <a:ea typeface="宋体" panose="02010600030101010101" pitchFamily="2" charset="-122"/>
              </a:rPr>
              <a:t>在图像分类等领域取得了较好的效果，但在</a:t>
            </a:r>
            <a:r>
              <a:rPr lang="zh-CN" altLang="en-US" sz="1500">
                <a:solidFill>
                  <a:srgbClr val="FF0000"/>
                </a:solidFill>
                <a:latin typeface="宋体" panose="02010600030101010101" pitchFamily="2" charset="-122"/>
                <a:ea typeface="宋体" panose="02010600030101010101" pitchFamily="2" charset="-122"/>
              </a:rPr>
              <a:t>故障诊断中的应用仍然较少</a:t>
            </a:r>
            <a:r>
              <a:rPr lang="zh-CN" altLang="en-US" sz="1500" b="0">
                <a:latin typeface="宋体" panose="02010600030101010101" pitchFamily="2" charset="-122"/>
                <a:ea typeface="宋体" panose="02010600030101010101" pitchFamily="2" charset="-122"/>
              </a:rPr>
              <a:t>，且面临诸多技术挑战，尚待深入研究和应用。</a:t>
            </a:r>
            <a:endParaRPr lang="en-US" altLang="zh-CN" sz="1500" b="0">
              <a:latin typeface="宋体" panose="02010600030101010101" pitchFamily="2" charset="-122"/>
              <a:ea typeface="宋体" panose="02010600030101010101" pitchFamily="2" charset="-122"/>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extLst>
                <a:ext uri="{35155182-B16C-46BC-9424-99874614C6A1}">
                  <wpsdc:indentchars xmlns:lc="http://schemas.openxmlformats.org/drawingml/2006/lockedCanvas" xmlns:wpsdc="http://www.wps.cn/officeDocument/2017/drawingmlCustomData" xmlns="" val="200" checksum="3837665281"/>
                </a:ext>
              </a:extLst>
            </a:pPr>
            <a:r>
              <a:rPr lang="zh-CN" altLang="en-US" sz="1500" b="0">
                <a:latin typeface="宋体" panose="02010600030101010101" pitchFamily="2" charset="-122"/>
                <a:ea typeface="宋体" panose="02010600030101010101" pitchFamily="2" charset="-122"/>
              </a:rPr>
              <a:t>小样本增量学习需要面临</a:t>
            </a:r>
            <a:r>
              <a:rPr lang="zh-CN" altLang="en-US" sz="1500">
                <a:solidFill>
                  <a:srgbClr val="C00000"/>
                </a:solidFill>
                <a:latin typeface="宋体" panose="02010600030101010101" pitchFamily="2" charset="-122"/>
                <a:ea typeface="宋体" panose="02010600030101010101" pitchFamily="2" charset="-122"/>
              </a:rPr>
              <a:t>稳定性</a:t>
            </a:r>
            <a:r>
              <a:rPr lang="en-US" altLang="zh-CN" sz="1500">
                <a:solidFill>
                  <a:srgbClr val="C00000"/>
                </a:solidFill>
                <a:latin typeface="宋体" panose="02010600030101010101" pitchFamily="2" charset="-122"/>
                <a:ea typeface="宋体" panose="02010600030101010101" pitchFamily="2" charset="-122"/>
              </a:rPr>
              <a:t>-</a:t>
            </a:r>
            <a:r>
              <a:rPr lang="zh-CN" altLang="en-US" sz="1500">
                <a:solidFill>
                  <a:srgbClr val="C00000"/>
                </a:solidFill>
                <a:latin typeface="宋体" panose="02010600030101010101" pitchFamily="2" charset="-122"/>
                <a:ea typeface="宋体" panose="02010600030101010101" pitchFamily="2" charset="-122"/>
              </a:rPr>
              <a:t>可塑性</a:t>
            </a:r>
            <a:r>
              <a:rPr lang="zh-CN" altLang="en-US" sz="1500" b="0">
                <a:latin typeface="宋体" panose="02010600030101010101" pitchFamily="2" charset="-122"/>
                <a:ea typeface="宋体" panose="02010600030101010101" pitchFamily="2" charset="-122"/>
              </a:rPr>
              <a:t>的困境，新任务中的样本数量非常少，容易引发模型的过拟合，而过度优化模型对新任务的学习又可能导致模型对旧任务的灾难性遗忘随着增量任务的增加，模型的参数空间逐渐饱和，如何在有限的参数调整下，确保旧任务的知识保持稳定，且能</a:t>
            </a:r>
            <a:r>
              <a:rPr lang="zh-CN" altLang="en-US" sz="1500">
                <a:solidFill>
                  <a:srgbClr val="C00000"/>
                </a:solidFill>
                <a:latin typeface="宋体" panose="02010600030101010101" pitchFamily="2" charset="-122"/>
                <a:ea typeface="宋体" panose="02010600030101010101" pitchFamily="2" charset="-122"/>
              </a:rPr>
              <a:t>快速灵活扩展</a:t>
            </a:r>
            <a:r>
              <a:rPr lang="zh-CN" altLang="en-US" sz="1500" b="0">
                <a:latin typeface="宋体" panose="02010600030101010101" pitchFamily="2" charset="-122"/>
                <a:ea typeface="宋体" panose="02010600030101010101" pitchFamily="2" charset="-122"/>
              </a:rPr>
              <a:t>新任务，是</a:t>
            </a:r>
            <a:r>
              <a:rPr kumimoji="0" lang="zh-CN" altLang="en-US" sz="1500" b="0" i="0" u="none" strike="noStrike" kern="0" cap="none" spc="0" normalizeH="0" baseline="0" noProof="0">
                <a:ln>
                  <a:noFill/>
                </a:ln>
                <a:solidFill>
                  <a:srgbClr val="000000"/>
                </a:solidFill>
                <a:effectLst/>
                <a:uLnTx/>
                <a:uFillTx/>
                <a:latin typeface="宋体" panose="02010600030101010101" pitchFamily="2" charset="-122"/>
                <a:ea typeface="宋体" panose="02010600030101010101" pitchFamily="2" charset="-122"/>
              </a:rPr>
              <a:t>小样本增量学习</a:t>
            </a:r>
            <a:r>
              <a:rPr lang="zh-CN" altLang="en-US" sz="1500" b="0">
                <a:latin typeface="宋体" panose="02010600030101010101" pitchFamily="2" charset="-122"/>
                <a:ea typeface="宋体" panose="02010600030101010101" pitchFamily="2" charset="-122"/>
              </a:rPr>
              <a:t>研究中的重要难点。</a:t>
            </a:r>
            <a:endParaRPr lang="en-US" altLang="zh-CN" sz="1500" b="0" dirty="0">
              <a:latin typeface="宋体" panose="02010600030101010101" pitchFamily="2" charset="-122"/>
              <a:ea typeface="宋体" panose="02010600030101010101" pitchFamily="2" charset="-122"/>
            </a:endParaRPr>
          </a:p>
        </p:txBody>
      </p:sp>
      <p:sp>
        <p:nvSpPr>
          <p:cNvPr id="2" name="矩形 1">
            <a:extLst>
              <a:ext uri="{FF2B5EF4-FFF2-40B4-BE49-F238E27FC236}">
                <a16:creationId xmlns:a16="http://schemas.microsoft.com/office/drawing/2014/main" id="{4A001AC2-65D1-31F2-ECC3-F207B483639E}"/>
              </a:ext>
            </a:extLst>
          </p:cNvPr>
          <p:cNvSpPr/>
          <p:nvPr/>
        </p:nvSpPr>
        <p:spPr>
          <a:xfrm>
            <a:off x="66578" y="3219853"/>
            <a:ext cx="1265878" cy="47828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宋体" panose="02010600030101010101" pitchFamily="2" charset="-122"/>
                <a:ea typeface="宋体" panose="02010600030101010101" pitchFamily="2" charset="-122"/>
              </a:rPr>
              <a:t>小样本增量学习方法</a:t>
            </a:r>
          </a:p>
        </p:txBody>
      </p:sp>
      <p:sp>
        <p:nvSpPr>
          <p:cNvPr id="11" name="左大括号 10">
            <a:extLst>
              <a:ext uri="{FF2B5EF4-FFF2-40B4-BE49-F238E27FC236}">
                <a16:creationId xmlns:a16="http://schemas.microsoft.com/office/drawing/2014/main" id="{977A9A39-5F1D-DF04-7047-7C63272D1295}"/>
              </a:ext>
            </a:extLst>
          </p:cNvPr>
          <p:cNvSpPr/>
          <p:nvPr/>
        </p:nvSpPr>
        <p:spPr>
          <a:xfrm>
            <a:off x="1404403" y="1781127"/>
            <a:ext cx="325966" cy="3357880"/>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32" name="直接连接符 31">
            <a:extLst>
              <a:ext uri="{FF2B5EF4-FFF2-40B4-BE49-F238E27FC236}">
                <a16:creationId xmlns:a16="http://schemas.microsoft.com/office/drawing/2014/main" id="{6D05BA71-B334-F51C-B6D4-AAB23FCC161C}"/>
              </a:ext>
            </a:extLst>
          </p:cNvPr>
          <p:cNvCxnSpPr>
            <a:cxnSpLocks/>
          </p:cNvCxnSpPr>
          <p:nvPr/>
        </p:nvCxnSpPr>
        <p:spPr>
          <a:xfrm flipV="1">
            <a:off x="1510236" y="3460067"/>
            <a:ext cx="220133" cy="18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95B68BB2-8A04-261A-0967-4BE1DC0E5F16}"/>
              </a:ext>
            </a:extLst>
          </p:cNvPr>
          <p:cNvSpPr txBox="1"/>
          <p:nvPr/>
        </p:nvSpPr>
        <p:spPr>
          <a:xfrm>
            <a:off x="1909905" y="1649878"/>
            <a:ext cx="902811" cy="307777"/>
          </a:xfrm>
          <a:prstGeom prst="rect">
            <a:avLst/>
          </a:prstGeom>
          <a:noFill/>
        </p:spPr>
        <p:txBody>
          <a:bodyPr wrap="none" rtlCol="0">
            <a:spAutoFit/>
          </a:bodyPr>
          <a:lstStyle/>
          <a:p>
            <a:pPr algn="ctr"/>
            <a:r>
              <a:rPr lang="zh-CN" altLang="en-US" sz="1400">
                <a:latin typeface="宋体" panose="02010600030101010101" pitchFamily="2" charset="-122"/>
                <a:ea typeface="宋体" panose="02010600030101010101" pitchFamily="2" charset="-122"/>
              </a:rPr>
              <a:t>基于微调</a:t>
            </a:r>
          </a:p>
        </p:txBody>
      </p:sp>
      <p:sp>
        <p:nvSpPr>
          <p:cNvPr id="39" name="文本框 38">
            <a:extLst>
              <a:ext uri="{FF2B5EF4-FFF2-40B4-BE49-F238E27FC236}">
                <a16:creationId xmlns:a16="http://schemas.microsoft.com/office/drawing/2014/main" id="{8A70F3AC-50F7-B8F2-FDC0-71387C589E59}"/>
              </a:ext>
            </a:extLst>
          </p:cNvPr>
          <p:cNvSpPr txBox="1"/>
          <p:nvPr/>
        </p:nvSpPr>
        <p:spPr>
          <a:xfrm>
            <a:off x="1727115" y="3213277"/>
            <a:ext cx="1224412" cy="523220"/>
          </a:xfrm>
          <a:prstGeom prst="rect">
            <a:avLst/>
          </a:prstGeom>
          <a:noFill/>
        </p:spPr>
        <p:txBody>
          <a:bodyPr wrap="square" rtlCol="0">
            <a:spAutoFit/>
          </a:bodyPr>
          <a:lstStyle/>
          <a:p>
            <a:pPr algn="ctr"/>
            <a:r>
              <a:rPr lang="zh-CN" altLang="en-US" sz="1400">
                <a:latin typeface="宋体" panose="02010600030101010101" pitchFamily="2" charset="-122"/>
                <a:ea typeface="宋体" panose="02010600030101010101" pitchFamily="2" charset="-122"/>
              </a:rPr>
              <a:t>基于特征和特征空间</a:t>
            </a:r>
          </a:p>
        </p:txBody>
      </p:sp>
      <p:sp>
        <p:nvSpPr>
          <p:cNvPr id="40" name="文本框 39">
            <a:extLst>
              <a:ext uri="{FF2B5EF4-FFF2-40B4-BE49-F238E27FC236}">
                <a16:creationId xmlns:a16="http://schemas.microsoft.com/office/drawing/2014/main" id="{E312196C-D55F-57F8-43DE-2F713A4CD458}"/>
              </a:ext>
            </a:extLst>
          </p:cNvPr>
          <p:cNvSpPr txBox="1"/>
          <p:nvPr/>
        </p:nvSpPr>
        <p:spPr>
          <a:xfrm>
            <a:off x="1790918" y="4905091"/>
            <a:ext cx="1100216" cy="523220"/>
          </a:xfrm>
          <a:prstGeom prst="rect">
            <a:avLst/>
          </a:prstGeom>
          <a:noFill/>
        </p:spPr>
        <p:txBody>
          <a:bodyPr wrap="square" rtlCol="0">
            <a:spAutoFit/>
          </a:bodyPr>
          <a:lstStyle/>
          <a:p>
            <a:pPr algn="ctr"/>
            <a:r>
              <a:rPr lang="zh-CN" altLang="en-US" sz="1400">
                <a:latin typeface="宋体" panose="02010600030101010101" pitchFamily="2" charset="-122"/>
                <a:ea typeface="宋体" panose="02010600030101010101" pitchFamily="2" charset="-122"/>
              </a:rPr>
              <a:t>基于动态网络结构</a:t>
            </a:r>
          </a:p>
        </p:txBody>
      </p:sp>
      <p:cxnSp>
        <p:nvCxnSpPr>
          <p:cNvPr id="44" name="直接连接符 43">
            <a:extLst>
              <a:ext uri="{FF2B5EF4-FFF2-40B4-BE49-F238E27FC236}">
                <a16:creationId xmlns:a16="http://schemas.microsoft.com/office/drawing/2014/main" id="{5625FE85-D166-7D40-6FEC-543006CAEE88}"/>
              </a:ext>
            </a:extLst>
          </p:cNvPr>
          <p:cNvCxnSpPr>
            <a:cxnSpLocks/>
          </p:cNvCxnSpPr>
          <p:nvPr/>
        </p:nvCxnSpPr>
        <p:spPr>
          <a:xfrm flipV="1">
            <a:off x="2953938" y="1803766"/>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28FDB100-F183-F84B-B446-94EEA2D22140}"/>
              </a:ext>
            </a:extLst>
          </p:cNvPr>
          <p:cNvCxnSpPr>
            <a:cxnSpLocks/>
          </p:cNvCxnSpPr>
          <p:nvPr/>
        </p:nvCxnSpPr>
        <p:spPr>
          <a:xfrm flipV="1">
            <a:off x="2953938" y="3451679"/>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AFE34B07-65E2-C82D-F06E-737D1346EE8E}"/>
              </a:ext>
            </a:extLst>
          </p:cNvPr>
          <p:cNvCxnSpPr>
            <a:cxnSpLocks/>
          </p:cNvCxnSpPr>
          <p:nvPr/>
        </p:nvCxnSpPr>
        <p:spPr>
          <a:xfrm flipV="1">
            <a:off x="2953938" y="513810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CF3D19E1-524B-1732-19F3-3CEDE1B05981}"/>
              </a:ext>
            </a:extLst>
          </p:cNvPr>
          <p:cNvSpPr txBox="1"/>
          <p:nvPr/>
        </p:nvSpPr>
        <p:spPr>
          <a:xfrm>
            <a:off x="4102868" y="1649878"/>
            <a:ext cx="654346" cy="307777"/>
          </a:xfrm>
          <a:prstGeom prst="rect">
            <a:avLst/>
          </a:prstGeom>
          <a:noFill/>
        </p:spPr>
        <p:txBody>
          <a:bodyPr wrap="none" rtlCol="0">
            <a:spAutoFit/>
          </a:bodyPr>
          <a:lstStyle/>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BNBF</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文本框 52">
            <a:extLst>
              <a:ext uri="{FF2B5EF4-FFF2-40B4-BE49-F238E27FC236}">
                <a16:creationId xmlns:a16="http://schemas.microsoft.com/office/drawing/2014/main" id="{4F9BF257-984F-E09B-5400-90899180189E}"/>
              </a:ext>
            </a:extLst>
          </p:cNvPr>
          <p:cNvSpPr txBox="1"/>
          <p:nvPr/>
        </p:nvSpPr>
        <p:spPr>
          <a:xfrm>
            <a:off x="3678561" y="3288511"/>
            <a:ext cx="1516249" cy="523220"/>
          </a:xfrm>
          <a:prstGeom prst="rect">
            <a:avLst/>
          </a:prstGeom>
          <a:noFill/>
        </p:spPr>
        <p:txBody>
          <a:bodyPr wrap="none" rtlCol="0">
            <a:spAutoFit/>
          </a:bodyPr>
          <a:lstStyle/>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FACT</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a:latin typeface="Times New Roman" panose="02020603050405020304" pitchFamily="18" charset="0"/>
                <a:ea typeface="宋体" panose="02010600030101010101" pitchFamily="2" charset="-122"/>
                <a:cs typeface="Times New Roman" panose="02020603050405020304" pitchFamily="18" charset="0"/>
              </a:rPr>
              <a:t>ALICE</a:t>
            </a:r>
            <a:r>
              <a:rPr lang="zh-CN" altLang="en-US" sz="140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140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[21-22]</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 name="文本框 53">
            <a:extLst>
              <a:ext uri="{FF2B5EF4-FFF2-40B4-BE49-F238E27FC236}">
                <a16:creationId xmlns:a16="http://schemas.microsoft.com/office/drawing/2014/main" id="{8452C75A-C0AB-249B-2763-D881DDEF299D}"/>
              </a:ext>
            </a:extLst>
          </p:cNvPr>
          <p:cNvSpPr txBox="1"/>
          <p:nvPr/>
        </p:nvSpPr>
        <p:spPr>
          <a:xfrm>
            <a:off x="3484694" y="4941854"/>
            <a:ext cx="1946302" cy="523220"/>
          </a:xfrm>
          <a:prstGeom prst="rect">
            <a:avLst/>
          </a:prstGeom>
          <a:noFill/>
        </p:spPr>
        <p:txBody>
          <a:bodyPr wrap="none" rtlCol="0">
            <a:spAutoFit/>
          </a:bodyPr>
          <a:lstStyle/>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TOPIC</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a:latin typeface="Times New Roman" panose="02020603050405020304" pitchFamily="18" charset="0"/>
                <a:ea typeface="宋体" panose="02010600030101010101" pitchFamily="2" charset="-122"/>
                <a:cs typeface="Times New Roman" panose="02020603050405020304" pitchFamily="18" charset="0"/>
              </a:rPr>
              <a:t>CEC</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r>
              <a:rPr lang="en-US" altLang="zh-CN" sz="1400">
                <a:latin typeface="Times New Roman" panose="02020603050405020304" pitchFamily="18" charset="0"/>
                <a:ea typeface="宋体" panose="02010600030101010101" pitchFamily="2" charset="-122"/>
                <a:cs typeface="Times New Roman" panose="02020603050405020304" pitchFamily="18" charset="0"/>
              </a:rPr>
              <a:t>DSN</a:t>
            </a:r>
            <a:r>
              <a:rPr lang="zh-CN" altLang="en-US" sz="140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140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[25-27]</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57" name="直接连接符 56">
            <a:extLst>
              <a:ext uri="{FF2B5EF4-FFF2-40B4-BE49-F238E27FC236}">
                <a16:creationId xmlns:a16="http://schemas.microsoft.com/office/drawing/2014/main" id="{26CB1A25-9733-3A93-AACD-20062DDFEA08}"/>
              </a:ext>
            </a:extLst>
          </p:cNvPr>
          <p:cNvCxnSpPr/>
          <p:nvPr/>
        </p:nvCxnSpPr>
        <p:spPr>
          <a:xfrm>
            <a:off x="1574800"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8DB38BCE-4A07-8381-878E-0C746E7E3F40}"/>
              </a:ext>
            </a:extLst>
          </p:cNvPr>
          <p:cNvCxnSpPr/>
          <p:nvPr/>
        </p:nvCxnSpPr>
        <p:spPr>
          <a:xfrm>
            <a:off x="3157518"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CA77AC15-1CDD-AC10-4F99-0101B82D0F99}"/>
              </a:ext>
            </a:extLst>
          </p:cNvPr>
          <p:cNvCxnSpPr>
            <a:cxnSpLocks/>
          </p:cNvCxnSpPr>
          <p:nvPr/>
        </p:nvCxnSpPr>
        <p:spPr>
          <a:xfrm flipV="1">
            <a:off x="5385561" y="1809196"/>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215B89A2-72A9-80D7-B722-389C15CAD94D}"/>
              </a:ext>
            </a:extLst>
          </p:cNvPr>
          <p:cNvCxnSpPr>
            <a:cxnSpLocks/>
          </p:cNvCxnSpPr>
          <p:nvPr/>
        </p:nvCxnSpPr>
        <p:spPr>
          <a:xfrm flipV="1">
            <a:off x="5385561" y="3457109"/>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D96CC4DD-18B6-134C-5701-A3DE7DCD318C}"/>
              </a:ext>
            </a:extLst>
          </p:cNvPr>
          <p:cNvCxnSpPr>
            <a:cxnSpLocks/>
          </p:cNvCxnSpPr>
          <p:nvPr/>
        </p:nvCxnSpPr>
        <p:spPr>
          <a:xfrm flipV="1">
            <a:off x="5385561" y="514353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8D263042-A11B-E3E4-2DFE-E80A7E7E493A}"/>
              </a:ext>
            </a:extLst>
          </p:cNvPr>
          <p:cNvCxnSpPr/>
          <p:nvPr/>
        </p:nvCxnSpPr>
        <p:spPr>
          <a:xfrm>
            <a:off x="5615629"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70" name="文本框 69">
            <a:extLst>
              <a:ext uri="{FF2B5EF4-FFF2-40B4-BE49-F238E27FC236}">
                <a16:creationId xmlns:a16="http://schemas.microsoft.com/office/drawing/2014/main" id="{26A7ACAA-85B7-F84A-9E2A-DB15A4300032}"/>
              </a:ext>
            </a:extLst>
          </p:cNvPr>
          <p:cNvSpPr txBox="1"/>
          <p:nvPr/>
        </p:nvSpPr>
        <p:spPr>
          <a:xfrm>
            <a:off x="1802409" y="1351370"/>
            <a:ext cx="1227183" cy="369332"/>
          </a:xfrm>
          <a:prstGeom prst="rect">
            <a:avLst/>
          </a:prstGeom>
          <a:noFill/>
        </p:spPr>
        <p:txBody>
          <a:bodyPr wrap="square">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方法分类</a:t>
            </a:r>
            <a:endParaRPr lang="zh-CN" altLang="en-US"/>
          </a:p>
        </p:txBody>
      </p:sp>
      <p:sp>
        <p:nvSpPr>
          <p:cNvPr id="71" name="文本框 70">
            <a:extLst>
              <a:ext uri="{FF2B5EF4-FFF2-40B4-BE49-F238E27FC236}">
                <a16:creationId xmlns:a16="http://schemas.microsoft.com/office/drawing/2014/main" id="{5316A64D-F302-CA10-E366-2034E6AD896E}"/>
              </a:ext>
            </a:extLst>
          </p:cNvPr>
          <p:cNvSpPr txBox="1"/>
          <p:nvPr/>
        </p:nvSpPr>
        <p:spPr>
          <a:xfrm>
            <a:off x="3903845" y="1331050"/>
            <a:ext cx="1107996" cy="369332"/>
          </a:xfrm>
          <a:prstGeom prst="rect">
            <a:avLst/>
          </a:prstGeom>
          <a:noFill/>
        </p:spPr>
        <p:txBody>
          <a:bodyPr wrap="none" rtlCol="0">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具体算法</a:t>
            </a:r>
            <a:endParaRPr kumimoji="1" lang="zh-CN" altLang="en-US" dirty="0">
              <a:solidFill>
                <a:srgbClr val="4883C0"/>
              </a:solidFill>
              <a:latin typeface="Microsoft YaHei" panose="020B0503020204020204" pitchFamily="34" charset="-122"/>
              <a:ea typeface="Microsoft YaHei" panose="020B0503020204020204" pitchFamily="34" charset="-122"/>
            </a:endParaRPr>
          </a:p>
        </p:txBody>
      </p:sp>
      <p:sp>
        <p:nvSpPr>
          <p:cNvPr id="72" name="文本框 71">
            <a:extLst>
              <a:ext uri="{FF2B5EF4-FFF2-40B4-BE49-F238E27FC236}">
                <a16:creationId xmlns:a16="http://schemas.microsoft.com/office/drawing/2014/main" id="{F75C2263-FA17-E826-3533-ECA2F0ADB816}"/>
              </a:ext>
            </a:extLst>
          </p:cNvPr>
          <p:cNvSpPr txBox="1"/>
          <p:nvPr/>
        </p:nvSpPr>
        <p:spPr>
          <a:xfrm>
            <a:off x="7121598" y="1335108"/>
            <a:ext cx="1107996" cy="369332"/>
          </a:xfrm>
          <a:prstGeom prst="rect">
            <a:avLst/>
          </a:prstGeom>
          <a:noFill/>
        </p:spPr>
        <p:txBody>
          <a:bodyPr wrap="none" rtlCol="0">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应用场景</a:t>
            </a:r>
            <a:endParaRPr kumimoji="1" lang="zh-CN" altLang="en-US" dirty="0">
              <a:solidFill>
                <a:srgbClr val="4883C0"/>
              </a:solidFill>
              <a:latin typeface="Microsoft YaHei" panose="020B0503020204020204" pitchFamily="34" charset="-122"/>
              <a:ea typeface="Microsoft YaHei" panose="020B0503020204020204" pitchFamily="34" charset="-122"/>
            </a:endParaRPr>
          </a:p>
        </p:txBody>
      </p:sp>
      <p:sp>
        <p:nvSpPr>
          <p:cNvPr id="73" name="文本框 72">
            <a:extLst>
              <a:ext uri="{FF2B5EF4-FFF2-40B4-BE49-F238E27FC236}">
                <a16:creationId xmlns:a16="http://schemas.microsoft.com/office/drawing/2014/main" id="{D976D1E2-E05B-F184-4EFC-1009B6E7AD9C}"/>
              </a:ext>
            </a:extLst>
          </p:cNvPr>
          <p:cNvSpPr txBox="1"/>
          <p:nvPr/>
        </p:nvSpPr>
        <p:spPr>
          <a:xfrm>
            <a:off x="5960432" y="1649878"/>
            <a:ext cx="3189918" cy="307777"/>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在有</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较多样本的基础类</a:t>
            </a:r>
            <a:r>
              <a:rPr lang="zh-CN" altLang="en-US" sz="1400">
                <a:latin typeface="Times New Roman" panose="02020603050405020304" pitchFamily="18" charset="0"/>
                <a:ea typeface="宋体" panose="02010600030101010101" pitchFamily="2" charset="-122"/>
                <a:cs typeface="Times New Roman" panose="02020603050405020304" pitchFamily="18" charset="0"/>
              </a:rPr>
              <a:t>上进行训练。</a:t>
            </a:r>
          </a:p>
        </p:txBody>
      </p:sp>
      <p:sp>
        <p:nvSpPr>
          <p:cNvPr id="74" name="文本框 73">
            <a:extLst>
              <a:ext uri="{FF2B5EF4-FFF2-40B4-BE49-F238E27FC236}">
                <a16:creationId xmlns:a16="http://schemas.microsoft.com/office/drawing/2014/main" id="{863C95B3-CAB3-08EC-64BB-A327B9FC70C5}"/>
              </a:ext>
            </a:extLst>
          </p:cNvPr>
          <p:cNvSpPr txBox="1"/>
          <p:nvPr/>
        </p:nvSpPr>
        <p:spPr>
          <a:xfrm>
            <a:off x="5948870" y="3213277"/>
            <a:ext cx="3189918" cy="738664"/>
          </a:xfrm>
          <a:prstGeom prst="rect">
            <a:avLst/>
          </a:prstGeom>
          <a:noFill/>
        </p:spPr>
        <p:txBody>
          <a:bodyPr wrap="square" rtlCol="0">
            <a:spAutoFit/>
          </a:bodyPr>
          <a:lstStyle/>
          <a:p>
            <a:pPr algn="just"/>
            <a:r>
              <a:rPr lang="zh-CN" altLang="en-US" sz="1400">
                <a:latin typeface="宋体" panose="02010600030101010101" pitchFamily="2" charset="-122"/>
                <a:ea typeface="宋体" panose="02010600030101010101" pitchFamily="2" charset="-122"/>
              </a:rPr>
              <a:t>适合需要强特征表征能力的场景，如</a:t>
            </a:r>
            <a:r>
              <a:rPr lang="zh-CN" altLang="en-US" sz="1400">
                <a:solidFill>
                  <a:srgbClr val="C00000"/>
                </a:solidFill>
                <a:latin typeface="宋体" panose="02010600030101010101" pitchFamily="2" charset="-122"/>
                <a:ea typeface="宋体" panose="02010600030101010101" pitchFamily="2" charset="-122"/>
              </a:rPr>
              <a:t>细粒度分类</a:t>
            </a:r>
            <a:r>
              <a:rPr lang="zh-CN" altLang="en-US" sz="1400">
                <a:latin typeface="宋体" panose="02010600030101010101" pitchFamily="2" charset="-122"/>
                <a:ea typeface="宋体" panose="02010600030101010101" pitchFamily="2" charset="-122"/>
              </a:rPr>
              <a:t>任务，能够区分不同类型的故障。</a:t>
            </a:r>
          </a:p>
        </p:txBody>
      </p:sp>
      <p:sp>
        <p:nvSpPr>
          <p:cNvPr id="76" name="文本框 75">
            <a:extLst>
              <a:ext uri="{FF2B5EF4-FFF2-40B4-BE49-F238E27FC236}">
                <a16:creationId xmlns:a16="http://schemas.microsoft.com/office/drawing/2014/main" id="{9E8B98C4-B266-1BB2-B178-4464E049C71A}"/>
              </a:ext>
            </a:extLst>
          </p:cNvPr>
          <p:cNvSpPr txBox="1"/>
          <p:nvPr/>
        </p:nvSpPr>
        <p:spPr>
          <a:xfrm>
            <a:off x="5996749" y="4952014"/>
            <a:ext cx="3189918" cy="523220"/>
          </a:xfrm>
          <a:prstGeom prst="rect">
            <a:avLst/>
          </a:prstGeom>
          <a:noFill/>
        </p:spPr>
        <p:txBody>
          <a:bodyPr wrap="square" rtlCol="0">
            <a:spAutoFit/>
          </a:bodyPr>
          <a:lstStyle/>
          <a:p>
            <a:pPr algn="just"/>
            <a:r>
              <a:rPr lang="zh-CN" altLang="en-US" sz="1400"/>
              <a:t>在轴承的</a:t>
            </a:r>
            <a:r>
              <a:rPr lang="zh-CN" altLang="en-US" sz="1400">
                <a:solidFill>
                  <a:srgbClr val="C00000"/>
                </a:solidFill>
                <a:latin typeface="宋体" panose="02010600030101010101" pitchFamily="2" charset="-122"/>
                <a:ea typeface="宋体" panose="02010600030101010101" pitchFamily="2" charset="-122"/>
              </a:rPr>
              <a:t>长期监测</a:t>
            </a:r>
            <a:r>
              <a:rPr lang="zh-CN" altLang="en-US" sz="1400"/>
              <a:t>和</a:t>
            </a:r>
            <a:r>
              <a:rPr lang="zh-CN" altLang="en-US" sz="1400">
                <a:solidFill>
                  <a:srgbClr val="C00000"/>
                </a:solidFill>
                <a:latin typeface="宋体" panose="02010600030101010101" pitchFamily="2" charset="-122"/>
                <a:ea typeface="宋体" panose="02010600030101010101" pitchFamily="2" charset="-122"/>
              </a:rPr>
              <a:t>连续学习</a:t>
            </a:r>
            <a:r>
              <a:rPr lang="zh-CN" altLang="en-US" sz="1400">
                <a:solidFill>
                  <a:prstClr val="black"/>
                </a:solidFill>
                <a:latin typeface="宋体" panose="02010600030101010101" pitchFamily="2" charset="-122"/>
                <a:ea typeface="宋体" panose="02010600030101010101" pitchFamily="2" charset="-122"/>
              </a:rPr>
              <a:t>场景中使用较多</a:t>
            </a:r>
            <a:r>
              <a:rPr lang="zh-CN" altLang="en-US" sz="1400"/>
              <a:t>。</a:t>
            </a:r>
          </a:p>
        </p:txBody>
      </p:sp>
      <p:cxnSp>
        <p:nvCxnSpPr>
          <p:cNvPr id="77" name="直接连接符 76">
            <a:extLst>
              <a:ext uri="{FF2B5EF4-FFF2-40B4-BE49-F238E27FC236}">
                <a16:creationId xmlns:a16="http://schemas.microsoft.com/office/drawing/2014/main" id="{7E4381D5-5BFC-39EC-912A-79A912DA927E}"/>
              </a:ext>
            </a:extLst>
          </p:cNvPr>
          <p:cNvCxnSpPr>
            <a:cxnSpLocks/>
          </p:cNvCxnSpPr>
          <p:nvPr/>
        </p:nvCxnSpPr>
        <p:spPr>
          <a:xfrm flipV="1">
            <a:off x="9137225" y="1809196"/>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B213C075-A220-ABAB-A579-934CF553CC77}"/>
              </a:ext>
            </a:extLst>
          </p:cNvPr>
          <p:cNvCxnSpPr>
            <a:cxnSpLocks/>
          </p:cNvCxnSpPr>
          <p:nvPr/>
        </p:nvCxnSpPr>
        <p:spPr>
          <a:xfrm flipV="1">
            <a:off x="9137225" y="3457109"/>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A821F062-15A9-4415-4660-8DBF0DE98B44}"/>
              </a:ext>
            </a:extLst>
          </p:cNvPr>
          <p:cNvCxnSpPr>
            <a:cxnSpLocks/>
          </p:cNvCxnSpPr>
          <p:nvPr/>
        </p:nvCxnSpPr>
        <p:spPr>
          <a:xfrm flipV="1">
            <a:off x="9137225" y="5143532"/>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F41BEF74-E99E-CC33-A332-92F39934BA84}"/>
              </a:ext>
            </a:extLst>
          </p:cNvPr>
          <p:cNvCxnSpPr/>
          <p:nvPr/>
        </p:nvCxnSpPr>
        <p:spPr>
          <a:xfrm>
            <a:off x="9367293" y="1473200"/>
            <a:ext cx="0" cy="3911600"/>
          </a:xfrm>
          <a:prstGeom prst="line">
            <a:avLst/>
          </a:prstGeom>
          <a:ln w="1270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81" name="文本框 80">
            <a:extLst>
              <a:ext uri="{FF2B5EF4-FFF2-40B4-BE49-F238E27FC236}">
                <a16:creationId xmlns:a16="http://schemas.microsoft.com/office/drawing/2014/main" id="{F8B8A67B-DE7A-4635-B5A3-2EB7869EF4CE}"/>
              </a:ext>
            </a:extLst>
          </p:cNvPr>
          <p:cNvSpPr txBox="1"/>
          <p:nvPr/>
        </p:nvSpPr>
        <p:spPr>
          <a:xfrm>
            <a:off x="10389591" y="1359531"/>
            <a:ext cx="646331" cy="369332"/>
          </a:xfrm>
          <a:prstGeom prst="rect">
            <a:avLst/>
          </a:prstGeom>
          <a:noFill/>
        </p:spPr>
        <p:txBody>
          <a:bodyPr wrap="none" rtlCol="0">
            <a:spAutoFit/>
          </a:bodyPr>
          <a:lstStyle/>
          <a:p>
            <a:r>
              <a:rPr kumimoji="1" lang="zh-CN" altLang="en-US">
                <a:solidFill>
                  <a:srgbClr val="4883C0"/>
                </a:solidFill>
                <a:latin typeface="Microsoft YaHei" panose="020B0503020204020204" pitchFamily="34" charset="-122"/>
                <a:ea typeface="Microsoft YaHei" panose="020B0503020204020204" pitchFamily="34" charset="-122"/>
              </a:rPr>
              <a:t>评价</a:t>
            </a:r>
            <a:endParaRPr kumimoji="1" lang="zh-CN" altLang="en-US" dirty="0">
              <a:solidFill>
                <a:srgbClr val="4883C0"/>
              </a:solidFill>
              <a:latin typeface="Microsoft YaHei" panose="020B0503020204020204" pitchFamily="34" charset="-122"/>
              <a:ea typeface="Microsoft YaHei" panose="020B0503020204020204" pitchFamily="34" charset="-122"/>
            </a:endParaRPr>
          </a:p>
        </p:txBody>
      </p:sp>
      <p:sp>
        <p:nvSpPr>
          <p:cNvPr id="85" name="文本框 84">
            <a:extLst>
              <a:ext uri="{FF2B5EF4-FFF2-40B4-BE49-F238E27FC236}">
                <a16:creationId xmlns:a16="http://schemas.microsoft.com/office/drawing/2014/main" id="{088D3007-6BAE-06EE-D555-C756AA180A4B}"/>
              </a:ext>
            </a:extLst>
          </p:cNvPr>
          <p:cNvSpPr txBox="1"/>
          <p:nvPr/>
        </p:nvSpPr>
        <p:spPr>
          <a:xfrm>
            <a:off x="9584237" y="1649878"/>
            <a:ext cx="2325632" cy="523220"/>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当新类样本较少时，模型容易</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过拟合</a:t>
            </a:r>
            <a:r>
              <a:rPr lang="zh-CN" altLang="en-US" sz="1400"/>
              <a:t>。</a:t>
            </a:r>
          </a:p>
        </p:txBody>
      </p:sp>
      <p:sp>
        <p:nvSpPr>
          <p:cNvPr id="87" name="文本框 86">
            <a:extLst>
              <a:ext uri="{FF2B5EF4-FFF2-40B4-BE49-F238E27FC236}">
                <a16:creationId xmlns:a16="http://schemas.microsoft.com/office/drawing/2014/main" id="{97127234-5BE6-471C-63B5-E01BEB151C52}"/>
              </a:ext>
            </a:extLst>
          </p:cNvPr>
          <p:cNvSpPr txBox="1"/>
          <p:nvPr/>
        </p:nvSpPr>
        <p:spPr>
          <a:xfrm>
            <a:off x="9576619" y="3073067"/>
            <a:ext cx="2421956" cy="738664"/>
          </a:xfrm>
          <a:prstGeom prst="rect">
            <a:avLst/>
          </a:prstGeom>
          <a:noFill/>
        </p:spPr>
        <p:txBody>
          <a:bodyPr wrap="square" rtlCol="0">
            <a:spAutoFit/>
          </a:bodyPr>
          <a:lstStyle/>
          <a:p>
            <a:pPr algn="just"/>
            <a:r>
              <a:rPr lang="zh-CN" altLang="en-US" sz="1400">
                <a:latin typeface="宋体" panose="02010600030101010101" pitchFamily="2" charset="-122"/>
                <a:ea typeface="宋体" panose="02010600030101010101" pitchFamily="2" charset="-122"/>
              </a:rPr>
              <a:t>当新类与旧类的</a:t>
            </a:r>
            <a:r>
              <a:rPr lang="zh-CN" altLang="en-US" sz="1400">
                <a:solidFill>
                  <a:srgbClr val="C00000"/>
                </a:solidFill>
                <a:latin typeface="宋体" panose="02010600030101010101" pitchFamily="2" charset="-122"/>
                <a:ea typeface="宋体" panose="02010600030101010101" pitchFamily="2" charset="-122"/>
              </a:rPr>
              <a:t>特征空间差异较大时</a:t>
            </a:r>
            <a:r>
              <a:rPr lang="zh-CN" altLang="en-US" sz="1400">
                <a:latin typeface="宋体" panose="02010600030101010101" pitchFamily="2" charset="-122"/>
                <a:ea typeface="宋体" panose="02010600030101010101" pitchFamily="2" charset="-122"/>
              </a:rPr>
              <a:t>，特征空间的表示效果可能不佳。</a:t>
            </a:r>
          </a:p>
        </p:txBody>
      </p:sp>
      <p:sp>
        <p:nvSpPr>
          <p:cNvPr id="88" name="文本框 87">
            <a:extLst>
              <a:ext uri="{FF2B5EF4-FFF2-40B4-BE49-F238E27FC236}">
                <a16:creationId xmlns:a16="http://schemas.microsoft.com/office/drawing/2014/main" id="{C06CE3E4-6665-308E-81BE-064260E27AF6}"/>
              </a:ext>
            </a:extLst>
          </p:cNvPr>
          <p:cNvSpPr txBox="1"/>
          <p:nvPr/>
        </p:nvSpPr>
        <p:spPr>
          <a:xfrm>
            <a:off x="9629626" y="5004138"/>
            <a:ext cx="2333849" cy="307777"/>
          </a:xfrm>
          <a:prstGeom prst="rect">
            <a:avLst/>
          </a:prstGeom>
          <a:noFill/>
        </p:spPr>
        <p:txBody>
          <a:bodyPr wrap="square" rtlCol="0">
            <a:spAutoFit/>
          </a:bodyPr>
          <a:lstStyle/>
          <a:p>
            <a:pPr algn="just"/>
            <a:r>
              <a:rPr lang="zh-CN" altLang="en-US" sz="1400">
                <a:solidFill>
                  <a:srgbClr val="C00000"/>
                </a:solidFill>
                <a:latin typeface="宋体" panose="02010600030101010101" pitchFamily="2" charset="-122"/>
                <a:ea typeface="宋体" panose="02010600030101010101" pitchFamily="2" charset="-122"/>
              </a:rPr>
              <a:t>较高的计算复杂度</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p>
        </p:txBody>
      </p:sp>
      <p:cxnSp>
        <p:nvCxnSpPr>
          <p:cNvPr id="3" name="直接连接符 2">
            <a:extLst>
              <a:ext uri="{FF2B5EF4-FFF2-40B4-BE49-F238E27FC236}">
                <a16:creationId xmlns:a16="http://schemas.microsoft.com/office/drawing/2014/main" id="{1C0A7748-C938-3E02-4157-E00927D4B3C4}"/>
              </a:ext>
            </a:extLst>
          </p:cNvPr>
          <p:cNvCxnSpPr>
            <a:cxnSpLocks/>
          </p:cNvCxnSpPr>
          <p:nvPr/>
        </p:nvCxnSpPr>
        <p:spPr>
          <a:xfrm>
            <a:off x="1557867" y="2674369"/>
            <a:ext cx="17250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1ED574E5-71AE-12D1-9999-F61BC6AC8608}"/>
              </a:ext>
            </a:extLst>
          </p:cNvPr>
          <p:cNvSpPr txBox="1"/>
          <p:nvPr/>
        </p:nvSpPr>
        <p:spPr>
          <a:xfrm>
            <a:off x="1820138" y="2491434"/>
            <a:ext cx="1082348" cy="307777"/>
          </a:xfrm>
          <a:prstGeom prst="rect">
            <a:avLst/>
          </a:prstGeom>
          <a:noFill/>
        </p:spPr>
        <p:txBody>
          <a:bodyPr wrap="none" rtlCol="0">
            <a:spAutoFit/>
          </a:bodyPr>
          <a:lstStyle/>
          <a:p>
            <a:pPr algn="ctr"/>
            <a:r>
              <a:rPr lang="zh-CN" altLang="en-US" sz="1400">
                <a:latin typeface="宋体" panose="02010600030101010101" pitchFamily="2" charset="-122"/>
                <a:ea typeface="宋体" panose="02010600030101010101" pitchFamily="2" charset="-122"/>
              </a:rPr>
              <a:t>基于元学习</a:t>
            </a:r>
          </a:p>
        </p:txBody>
      </p:sp>
      <p:cxnSp>
        <p:nvCxnSpPr>
          <p:cNvPr id="5" name="直接连接符 4">
            <a:extLst>
              <a:ext uri="{FF2B5EF4-FFF2-40B4-BE49-F238E27FC236}">
                <a16:creationId xmlns:a16="http://schemas.microsoft.com/office/drawing/2014/main" id="{9B9C1262-231C-E515-DA27-EF7BFA0C6EC3}"/>
              </a:ext>
            </a:extLst>
          </p:cNvPr>
          <p:cNvCxnSpPr>
            <a:cxnSpLocks/>
          </p:cNvCxnSpPr>
          <p:nvPr/>
        </p:nvCxnSpPr>
        <p:spPr>
          <a:xfrm flipV="1">
            <a:off x="2953938" y="266598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C34411BE-C0BF-79B5-4241-BDE5C9524AEF}"/>
              </a:ext>
            </a:extLst>
          </p:cNvPr>
          <p:cNvSpPr txBox="1"/>
          <p:nvPr/>
        </p:nvSpPr>
        <p:spPr>
          <a:xfrm>
            <a:off x="3352800" y="2509066"/>
            <a:ext cx="2119491" cy="523220"/>
          </a:xfrm>
          <a:prstGeom prst="rect">
            <a:avLst/>
          </a:prstGeom>
          <a:noFill/>
        </p:spPr>
        <p:txBody>
          <a:bodyPr wrap="none" rtlCol="0">
            <a:spAutoFit/>
          </a:bodyPr>
          <a:lstStyle/>
          <a:p>
            <a:pPr algn="ctr"/>
            <a:r>
              <a:rPr lang="zh-CN" altLang="en-US" sz="1400">
                <a:latin typeface="Times New Roman" panose="02020603050405020304" pitchFamily="18" charset="0"/>
                <a:ea typeface="宋体" panose="02010600030101010101" pitchFamily="2" charset="-122"/>
                <a:cs typeface="Times New Roman" panose="02020603050405020304" pitchFamily="18" charset="0"/>
              </a:rPr>
              <a:t>原型学习、</a:t>
            </a:r>
            <a:r>
              <a:rPr lang="en-US" altLang="zh-CN" sz="1400">
                <a:latin typeface="Times New Roman" panose="02020603050405020304" pitchFamily="18" charset="0"/>
                <a:ea typeface="宋体" panose="02010600030101010101" pitchFamily="2" charset="-122"/>
                <a:cs typeface="Times New Roman" panose="02020603050405020304" pitchFamily="18" charset="0"/>
              </a:rPr>
              <a:t>MetaFSCIL</a:t>
            </a:r>
            <a:r>
              <a:rPr lang="zh-CN" altLang="en-US" sz="140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140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[19-20]</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20" name="直接连接符 19">
            <a:extLst>
              <a:ext uri="{FF2B5EF4-FFF2-40B4-BE49-F238E27FC236}">
                <a16:creationId xmlns:a16="http://schemas.microsoft.com/office/drawing/2014/main" id="{BB8D4E72-0260-8AE7-E487-0155365AF5BD}"/>
              </a:ext>
            </a:extLst>
          </p:cNvPr>
          <p:cNvCxnSpPr>
            <a:cxnSpLocks/>
          </p:cNvCxnSpPr>
          <p:nvPr/>
        </p:nvCxnSpPr>
        <p:spPr>
          <a:xfrm flipV="1">
            <a:off x="5385561" y="267141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C9EC0FE-7EC4-0415-67FD-2AB2B6393C92}"/>
              </a:ext>
            </a:extLst>
          </p:cNvPr>
          <p:cNvSpPr txBox="1"/>
          <p:nvPr/>
        </p:nvSpPr>
        <p:spPr>
          <a:xfrm>
            <a:off x="5932790" y="2412759"/>
            <a:ext cx="3189918" cy="523220"/>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在极少数故障样本下</a:t>
            </a:r>
            <a:r>
              <a:rPr lang="zh-CN" altLang="en-US" sz="1400">
                <a:solidFill>
                  <a:srgbClr val="C00000"/>
                </a:solidFill>
                <a:latin typeface="宋体" panose="02010600030101010101" pitchFamily="2" charset="-122"/>
                <a:ea typeface="宋体" panose="02010600030101010101" pitchFamily="2" charset="-122"/>
              </a:rPr>
              <a:t>快速适应</a:t>
            </a:r>
            <a:r>
              <a:rPr lang="zh-CN" altLang="en-US" sz="1400">
                <a:latin typeface="Times New Roman" panose="02020603050405020304" pitchFamily="18" charset="0"/>
                <a:ea typeface="宋体" panose="02010600030101010101" pitchFamily="2" charset="-122"/>
                <a:cs typeface="Times New Roman" panose="02020603050405020304" pitchFamily="18" charset="0"/>
              </a:rPr>
              <a:t>新故障模式。</a:t>
            </a:r>
          </a:p>
        </p:txBody>
      </p:sp>
      <p:cxnSp>
        <p:nvCxnSpPr>
          <p:cNvPr id="23" name="直接连接符 22">
            <a:extLst>
              <a:ext uri="{FF2B5EF4-FFF2-40B4-BE49-F238E27FC236}">
                <a16:creationId xmlns:a16="http://schemas.microsoft.com/office/drawing/2014/main" id="{589DD8EB-5BC4-0D99-4D0A-478E49056E47}"/>
              </a:ext>
            </a:extLst>
          </p:cNvPr>
          <p:cNvCxnSpPr>
            <a:cxnSpLocks/>
          </p:cNvCxnSpPr>
          <p:nvPr/>
        </p:nvCxnSpPr>
        <p:spPr>
          <a:xfrm flipV="1">
            <a:off x="9137225" y="267141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481539B2-C253-FFF6-25C2-A6EBC6F2A07E}"/>
              </a:ext>
            </a:extLst>
          </p:cNvPr>
          <p:cNvSpPr txBox="1"/>
          <p:nvPr/>
        </p:nvSpPr>
        <p:spPr>
          <a:xfrm>
            <a:off x="9576619" y="2287369"/>
            <a:ext cx="2421956" cy="738664"/>
          </a:xfrm>
          <a:prstGeom prst="rect">
            <a:avLst/>
          </a:prstGeom>
          <a:noFill/>
        </p:spPr>
        <p:txBody>
          <a:bodyPr wrap="square" rtlCol="0">
            <a:spAutoFit/>
          </a:bodyPr>
          <a:lstStyle/>
          <a:p>
            <a:pPr algn="just"/>
            <a:r>
              <a:rPr lang="zh-CN" altLang="en-US" sz="1400">
                <a:latin typeface="Times New Roman" panose="02020603050405020304" pitchFamily="18" charset="0"/>
                <a:ea typeface="宋体" panose="02010600030101010101" pitchFamily="2" charset="-122"/>
                <a:cs typeface="Times New Roman" panose="02020603050405020304" pitchFamily="18" charset="0"/>
              </a:rPr>
              <a:t>新增的故障模式与现有的</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差异较大时</a:t>
            </a:r>
            <a:r>
              <a:rPr lang="zh-CN" altLang="en-US" sz="1400">
                <a:latin typeface="Times New Roman" panose="02020603050405020304" pitchFamily="18" charset="0"/>
                <a:ea typeface="宋体" panose="02010600030101010101" pitchFamily="2" charset="-122"/>
                <a:cs typeface="Times New Roman" panose="02020603050405020304" pitchFamily="18" charset="0"/>
              </a:rPr>
              <a:t>，元学习方法可能</a:t>
            </a:r>
            <a:r>
              <a:rPr lang="zh-CN" altLang="en-US" sz="14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无法准确泛化</a:t>
            </a:r>
            <a:r>
              <a:rPr lang="zh-CN" altLang="en-US" sz="1400">
                <a:latin typeface="Times New Roman" panose="02020603050405020304" pitchFamily="18" charset="0"/>
                <a:ea typeface="宋体" panose="02010600030101010101" pitchFamily="2" charset="-122"/>
                <a:cs typeface="Times New Roman" panose="02020603050405020304" pitchFamily="18" charset="0"/>
              </a:rPr>
              <a:t>。</a:t>
            </a:r>
          </a:p>
        </p:txBody>
      </p:sp>
      <p:cxnSp>
        <p:nvCxnSpPr>
          <p:cNvPr id="26" name="直接连接符 25">
            <a:extLst>
              <a:ext uri="{FF2B5EF4-FFF2-40B4-BE49-F238E27FC236}">
                <a16:creationId xmlns:a16="http://schemas.microsoft.com/office/drawing/2014/main" id="{5F40646D-A5CD-DAE7-92D4-6155BAE1863D}"/>
              </a:ext>
            </a:extLst>
          </p:cNvPr>
          <p:cNvCxnSpPr>
            <a:cxnSpLocks/>
          </p:cNvCxnSpPr>
          <p:nvPr/>
        </p:nvCxnSpPr>
        <p:spPr>
          <a:xfrm>
            <a:off x="1574800" y="4399719"/>
            <a:ext cx="15556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91563032-2883-0335-09BA-186185B57E61}"/>
              </a:ext>
            </a:extLst>
          </p:cNvPr>
          <p:cNvSpPr txBox="1"/>
          <p:nvPr/>
        </p:nvSpPr>
        <p:spPr>
          <a:xfrm>
            <a:off x="1909906" y="4216784"/>
            <a:ext cx="902811" cy="307777"/>
          </a:xfrm>
          <a:prstGeom prst="rect">
            <a:avLst/>
          </a:prstGeom>
          <a:noFill/>
        </p:spPr>
        <p:txBody>
          <a:bodyPr wrap="none" rtlCol="0">
            <a:spAutoFit/>
          </a:bodyPr>
          <a:lstStyle/>
          <a:p>
            <a:pPr algn="ctr"/>
            <a:r>
              <a:rPr lang="zh-CN" altLang="en-US" sz="1400">
                <a:latin typeface="宋体" panose="02010600030101010101" pitchFamily="2" charset="-122"/>
                <a:ea typeface="宋体" panose="02010600030101010101" pitchFamily="2" charset="-122"/>
              </a:rPr>
              <a:t>基于重放</a:t>
            </a:r>
          </a:p>
        </p:txBody>
      </p:sp>
      <p:cxnSp>
        <p:nvCxnSpPr>
          <p:cNvPr id="28" name="直接连接符 27">
            <a:extLst>
              <a:ext uri="{FF2B5EF4-FFF2-40B4-BE49-F238E27FC236}">
                <a16:creationId xmlns:a16="http://schemas.microsoft.com/office/drawing/2014/main" id="{4FC50E60-31B0-1C1D-A9ED-E341E6DB6A94}"/>
              </a:ext>
            </a:extLst>
          </p:cNvPr>
          <p:cNvCxnSpPr>
            <a:cxnSpLocks/>
          </p:cNvCxnSpPr>
          <p:nvPr/>
        </p:nvCxnSpPr>
        <p:spPr>
          <a:xfrm flipV="1">
            <a:off x="2953938" y="439133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9D6DFF03-991B-9F89-FEEE-32EB2CE12D06}"/>
              </a:ext>
            </a:extLst>
          </p:cNvPr>
          <p:cNvSpPr txBox="1"/>
          <p:nvPr/>
        </p:nvSpPr>
        <p:spPr>
          <a:xfrm>
            <a:off x="3433044" y="4228163"/>
            <a:ext cx="2007280" cy="523220"/>
          </a:xfrm>
          <a:prstGeom prst="rect">
            <a:avLst/>
          </a:prstGeom>
          <a:noFill/>
        </p:spPr>
        <p:txBody>
          <a:bodyPr wrap="none" rtlCol="0">
            <a:spAutoFit/>
          </a:bodyPr>
          <a:lstStyle/>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Direct Replay</a:t>
            </a:r>
            <a:r>
              <a:rPr lang="zh-CN" altLang="en-US" sz="1400"/>
              <a:t>、</a:t>
            </a:r>
            <a:r>
              <a:rPr lang="en-US" altLang="zh-CN" sz="1400">
                <a:latin typeface="Times New Roman" panose="02020603050405020304" pitchFamily="18" charset="0"/>
                <a:ea typeface="宋体" panose="02010600030101010101" pitchFamily="2" charset="-122"/>
                <a:cs typeface="Times New Roman" panose="02020603050405020304" pitchFamily="18" charset="0"/>
              </a:rPr>
              <a:t>GANs</a:t>
            </a:r>
            <a:r>
              <a:rPr lang="zh-CN" altLang="en-US" sz="140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1400">
              <a:latin typeface="Times New Roman" panose="02020603050405020304" pitchFamily="18" charset="0"/>
              <a:ea typeface="宋体" panose="02010600030101010101" pitchFamily="2" charset="-122"/>
              <a:cs typeface="Times New Roman" panose="02020603050405020304" pitchFamily="18" charset="0"/>
            </a:endParaRPr>
          </a:p>
          <a:p>
            <a:pPr algn="ctr"/>
            <a:r>
              <a:rPr lang="en-US" altLang="zh-CN" sz="1400">
                <a:latin typeface="Times New Roman" panose="02020603050405020304" pitchFamily="18" charset="0"/>
                <a:ea typeface="宋体" panose="02010600030101010101" pitchFamily="2" charset="-122"/>
                <a:cs typeface="Times New Roman" panose="02020603050405020304" pitchFamily="18" charset="0"/>
              </a:rPr>
              <a:t>[23-24]</a:t>
            </a:r>
            <a:endParaRPr lang="zh-CN" altLang="en-US" sz="1400">
              <a:latin typeface="Times New Roman" panose="02020603050405020304" pitchFamily="18" charset="0"/>
              <a:ea typeface="宋体" panose="02010600030101010101" pitchFamily="2" charset="-122"/>
              <a:cs typeface="Times New Roman" panose="02020603050405020304" pitchFamily="18" charset="0"/>
            </a:endParaRPr>
          </a:p>
        </p:txBody>
      </p:sp>
      <p:cxnSp>
        <p:nvCxnSpPr>
          <p:cNvPr id="30" name="直接连接符 29">
            <a:extLst>
              <a:ext uri="{FF2B5EF4-FFF2-40B4-BE49-F238E27FC236}">
                <a16:creationId xmlns:a16="http://schemas.microsoft.com/office/drawing/2014/main" id="{40A755CC-32B1-81E9-A3DF-651A421B8D14}"/>
              </a:ext>
            </a:extLst>
          </p:cNvPr>
          <p:cNvCxnSpPr>
            <a:cxnSpLocks/>
          </p:cNvCxnSpPr>
          <p:nvPr/>
        </p:nvCxnSpPr>
        <p:spPr>
          <a:xfrm flipV="1">
            <a:off x="5385561" y="439676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ADC4EE24-EF0E-0AAF-E6D9-E76F94E82D9C}"/>
              </a:ext>
            </a:extLst>
          </p:cNvPr>
          <p:cNvSpPr txBox="1"/>
          <p:nvPr/>
        </p:nvSpPr>
        <p:spPr>
          <a:xfrm>
            <a:off x="5932790" y="4138109"/>
            <a:ext cx="3189918" cy="523220"/>
          </a:xfrm>
          <a:prstGeom prst="rect">
            <a:avLst/>
          </a:prstGeom>
          <a:noFill/>
        </p:spPr>
        <p:txBody>
          <a:bodyPr wrap="square" rtlCol="0">
            <a:spAutoFit/>
          </a:bodyPr>
          <a:lstStyle/>
          <a:p>
            <a:pPr algn="just"/>
            <a:r>
              <a:rPr lang="zh-CN" altLang="en-US" sz="1400">
                <a:solidFill>
                  <a:prstClr val="black"/>
                </a:solidFill>
                <a:latin typeface="宋体" panose="02010600030101010101" pitchFamily="2" charset="-122"/>
                <a:ea typeface="宋体" panose="02010600030101010101" pitchFamily="2" charset="-122"/>
              </a:rPr>
              <a:t>应对轴承故障诊断中</a:t>
            </a:r>
            <a:r>
              <a:rPr lang="zh-CN" altLang="en-US" sz="1400">
                <a:solidFill>
                  <a:srgbClr val="C00000"/>
                </a:solidFill>
                <a:latin typeface="宋体" panose="02010600030101010101" pitchFamily="2" charset="-122"/>
                <a:ea typeface="宋体" panose="02010600030101010101" pitchFamily="2" charset="-122"/>
              </a:rPr>
              <a:t>数据分布持续变化</a:t>
            </a:r>
            <a:r>
              <a:rPr lang="zh-CN" altLang="en-US" sz="1400">
                <a:solidFill>
                  <a:prstClr val="black"/>
                </a:solidFill>
                <a:latin typeface="宋体" panose="02010600030101010101" pitchFamily="2" charset="-122"/>
                <a:ea typeface="宋体" panose="02010600030101010101" pitchFamily="2" charset="-122"/>
              </a:rPr>
              <a:t>的场景。</a:t>
            </a:r>
          </a:p>
        </p:txBody>
      </p:sp>
      <p:cxnSp>
        <p:nvCxnSpPr>
          <p:cNvPr id="33" name="直接连接符 32">
            <a:extLst>
              <a:ext uri="{FF2B5EF4-FFF2-40B4-BE49-F238E27FC236}">
                <a16:creationId xmlns:a16="http://schemas.microsoft.com/office/drawing/2014/main" id="{B2D4BF1A-F8C1-8C06-D864-9A0680160608}"/>
              </a:ext>
            </a:extLst>
          </p:cNvPr>
          <p:cNvCxnSpPr>
            <a:cxnSpLocks/>
          </p:cNvCxnSpPr>
          <p:nvPr/>
        </p:nvCxnSpPr>
        <p:spPr>
          <a:xfrm flipV="1">
            <a:off x="9137225" y="4396761"/>
            <a:ext cx="448167" cy="9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FB078A05-2389-40D6-9239-2C3CE88A39B8}"/>
              </a:ext>
            </a:extLst>
          </p:cNvPr>
          <p:cNvSpPr txBox="1"/>
          <p:nvPr/>
        </p:nvSpPr>
        <p:spPr>
          <a:xfrm>
            <a:off x="9547920" y="4127408"/>
            <a:ext cx="2421956"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a:solidFill>
                  <a:prstClr val="black"/>
                </a:solidFill>
                <a:latin typeface="宋体" panose="02010600030101010101" pitchFamily="2" charset="-122"/>
                <a:ea typeface="宋体" panose="02010600030101010101" pitchFamily="2" charset="-122"/>
              </a:rPr>
              <a:t>新增样本较少，模型可能</a:t>
            </a:r>
            <a:r>
              <a:rPr lang="zh-CN" altLang="en-US" sz="1400">
                <a:solidFill>
                  <a:srgbClr val="C00000"/>
                </a:solidFill>
                <a:latin typeface="宋体" panose="02010600030101010101" pitchFamily="2" charset="-122"/>
                <a:ea typeface="宋体" panose="02010600030101010101" pitchFamily="2" charset="-122"/>
              </a:rPr>
              <a:t>过度依赖旧类样本</a:t>
            </a:r>
            <a:r>
              <a:rPr lang="zh-CN" altLang="en-US" sz="1400">
                <a:solidFill>
                  <a:prstClr val="black"/>
                </a:solidFill>
                <a:latin typeface="宋体" panose="02010600030101010101" pitchFamily="2" charset="-122"/>
                <a:ea typeface="宋体" panose="02010600030101010101" pitchFamily="2" charset="-122"/>
              </a:rPr>
              <a:t>，影响对新类的学习能力。</a:t>
            </a:r>
            <a:endParaRPr lang="zh-CN" altLang="en-US" sz="1400" dirty="0">
              <a:solidFill>
                <a:prstClr val="black"/>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7970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研究背景</a:t>
            </a:r>
          </a:p>
        </p:txBody>
      </p:sp>
      <p:sp>
        <p:nvSpPr>
          <p:cNvPr id="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文献综述</a:t>
            </a:r>
          </a:p>
        </p:txBody>
      </p:sp>
      <p:sp>
        <p:nvSpPr>
          <p:cNvPr id="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研究内容</a:t>
            </a:r>
          </a:p>
        </p:txBody>
      </p:sp>
      <p:sp>
        <p:nvSpPr>
          <p:cNvPr id="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技术路线</a:t>
            </a:r>
          </a:p>
        </p:txBody>
      </p:sp>
      <p:sp>
        <p:nvSpPr>
          <p:cNvPr id="1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2" name="直接连接符 1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等腰三角形 15"/>
          <p:cNvSpPr/>
          <p:nvPr/>
        </p:nvSpPr>
        <p:spPr>
          <a:xfrm rot="10800000">
            <a:off x="3905516"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1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19"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20" name="圆角矩形 81">
            <a:extLst>
              <a:ext uri="{FF2B5EF4-FFF2-40B4-BE49-F238E27FC236}">
                <a16:creationId xmlns:a16="http://schemas.microsoft.com/office/drawing/2014/main" id="{A0B4AF3D-0468-6DBC-B677-B4841969D83F}"/>
              </a:ext>
            </a:extLst>
          </p:cNvPr>
          <p:cNvSpPr/>
          <p:nvPr/>
        </p:nvSpPr>
        <p:spPr bwMode="auto">
          <a:xfrm>
            <a:off x="2819983" y="978136"/>
            <a:ext cx="6781218" cy="563366"/>
          </a:xfrm>
          <a:prstGeom prst="roundRect">
            <a:avLst>
              <a:gd name="adj" fmla="val 6343"/>
            </a:avLst>
          </a:prstGeom>
          <a:solidFill>
            <a:srgbClr val="406EA6"/>
          </a:solidFill>
          <a:ln>
            <a:noFill/>
          </a:ln>
        </p:spPr>
        <p:txBody>
          <a:bodyPr tIns="108000">
            <a:noAutofit/>
          </a:bodyPr>
          <a:lstStyle/>
          <a:p>
            <a:pPr algn="ctr" eaLnBrk="1" hangingPunct="1">
              <a:lnSpc>
                <a:spcPct val="120000"/>
              </a:lnSpc>
              <a:spcBef>
                <a:spcPts val="1200"/>
              </a:spcBef>
              <a:buFont typeface="Wingdings" panose="05000000000000000000" pitchFamily="2" charset="2"/>
              <a:buNone/>
            </a:pPr>
            <a:r>
              <a:rPr lang="zh-CN" altLang="en-US" sz="18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基于增量学习和小样本迁移学习的</a:t>
            </a:r>
            <a:r>
              <a:rPr lang="zh-CN" altLang="en-US"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故障诊断方法</a:t>
            </a:r>
            <a:r>
              <a:rPr lang="zh-CN" altLang="en-US" sz="18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研究</a:t>
            </a:r>
            <a:endParaRPr lang="en-US" altLang="zh-CN" sz="1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矩形 24">
            <a:extLst>
              <a:ext uri="{FF2B5EF4-FFF2-40B4-BE49-F238E27FC236}">
                <a16:creationId xmlns:a16="http://schemas.microsoft.com/office/drawing/2014/main" id="{A28D0A86-01CB-2EDD-5B57-8FE5276C9CF8}"/>
              </a:ext>
            </a:extLst>
          </p:cNvPr>
          <p:cNvSpPr/>
          <p:nvPr/>
        </p:nvSpPr>
        <p:spPr>
          <a:xfrm>
            <a:off x="2457855" y="1864913"/>
            <a:ext cx="3542989" cy="1794160"/>
          </a:xfrm>
          <a:prstGeom prst="rect">
            <a:avLst/>
          </a:prstGeom>
          <a:noFill/>
          <a:ln w="19050">
            <a:solidFill>
              <a:schemeClr val="accent1"/>
            </a:solidFill>
            <a:prstDash val="dash"/>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CN" sz="1600" b="1">
                <a:solidFill>
                  <a:schemeClr val="tx1"/>
                </a:solidFill>
              </a:rPr>
              <a:t>1.</a:t>
            </a:r>
            <a:r>
              <a:rPr lang="zh-CN" altLang="en-US" sz="1600" b="1">
                <a:solidFill>
                  <a:schemeClr val="tx1"/>
                </a:solidFill>
              </a:rPr>
              <a:t> 改进宽度学习的增量式故障诊断方法</a:t>
            </a:r>
            <a:endParaRPr lang="en-US" altLang="zh-CN" sz="1600" b="1">
              <a:solidFill>
                <a:schemeClr val="tx1"/>
              </a:solidFill>
            </a:endParaRPr>
          </a:p>
          <a:p>
            <a:pPr algn="ctr"/>
            <a:endParaRPr lang="en-US" altLang="zh-CN" sz="1600" b="1">
              <a:solidFill>
                <a:schemeClr val="tx1"/>
              </a:solidFill>
            </a:endParaRPr>
          </a:p>
          <a:p>
            <a:pPr algn="ctr"/>
            <a:endParaRPr lang="en-US" altLang="zh-CN" sz="1600" b="1">
              <a:solidFill>
                <a:schemeClr val="tx1"/>
              </a:solidFill>
            </a:endParaRPr>
          </a:p>
          <a:p>
            <a:pPr algn="ctr"/>
            <a:endParaRPr lang="en-US" altLang="zh-CN" sz="1200" b="1">
              <a:solidFill>
                <a:schemeClr val="tx1"/>
              </a:solidFill>
            </a:endParaRPr>
          </a:p>
          <a:p>
            <a:pPr algn="ctr"/>
            <a:endParaRPr lang="en-US" altLang="zh-CN" sz="1200" b="1">
              <a:solidFill>
                <a:schemeClr val="tx1"/>
              </a:solidFill>
            </a:endParaRPr>
          </a:p>
          <a:p>
            <a:pPr algn="ctr"/>
            <a:endParaRPr lang="en-US" altLang="zh-CN" sz="1200" b="1">
              <a:solidFill>
                <a:schemeClr val="tx1"/>
              </a:solidFill>
            </a:endParaRPr>
          </a:p>
          <a:p>
            <a:pPr algn="ctr"/>
            <a:endParaRPr lang="zh-CN" altLang="en-US" sz="1200" b="1">
              <a:solidFill>
                <a:schemeClr val="tx1"/>
              </a:solidFill>
            </a:endParaRPr>
          </a:p>
        </p:txBody>
      </p:sp>
      <p:sp>
        <p:nvSpPr>
          <p:cNvPr id="26" name="矩形 25">
            <a:extLst>
              <a:ext uri="{FF2B5EF4-FFF2-40B4-BE49-F238E27FC236}">
                <a16:creationId xmlns:a16="http://schemas.microsoft.com/office/drawing/2014/main" id="{4D0795EA-2EAC-EB2D-51A9-9741B4DEB46D}"/>
              </a:ext>
            </a:extLst>
          </p:cNvPr>
          <p:cNvSpPr/>
          <p:nvPr/>
        </p:nvSpPr>
        <p:spPr>
          <a:xfrm>
            <a:off x="6268085" y="1866694"/>
            <a:ext cx="3530617" cy="1785956"/>
          </a:xfrm>
          <a:prstGeom prst="rect">
            <a:avLst/>
          </a:prstGeom>
          <a:noFill/>
          <a:ln w="19050">
            <a:solidFill>
              <a:schemeClr val="accent1"/>
            </a:solidFill>
            <a:prstDash val="dash"/>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CN" sz="1600" b="1">
                <a:solidFill>
                  <a:schemeClr val="tx1"/>
                </a:solidFill>
              </a:rPr>
              <a:t>2.</a:t>
            </a:r>
            <a:r>
              <a:rPr lang="zh-CN" altLang="en-US" sz="1600" b="1">
                <a:solidFill>
                  <a:schemeClr val="tx1"/>
                </a:solidFill>
              </a:rPr>
              <a:t>改进域生成对抗网络的小样本故障诊断方法</a:t>
            </a:r>
            <a:endParaRPr lang="en-US" altLang="zh-CN" sz="1600" b="1">
              <a:solidFill>
                <a:schemeClr val="tx1"/>
              </a:solidFill>
            </a:endParaRPr>
          </a:p>
          <a:p>
            <a:pPr algn="ctr"/>
            <a:endParaRPr lang="en-US" altLang="zh-CN" sz="1600" b="1">
              <a:solidFill>
                <a:schemeClr val="tx1"/>
              </a:solidFill>
            </a:endParaRPr>
          </a:p>
          <a:p>
            <a:pPr algn="ctr"/>
            <a:endParaRPr lang="en-US" altLang="zh-CN" sz="1600" b="1">
              <a:solidFill>
                <a:schemeClr val="tx1"/>
              </a:solidFill>
            </a:endParaRPr>
          </a:p>
          <a:p>
            <a:pPr algn="ctr"/>
            <a:endParaRPr lang="en-US" altLang="zh-CN" sz="1600" b="1">
              <a:solidFill>
                <a:schemeClr val="tx1"/>
              </a:solidFill>
            </a:endParaRPr>
          </a:p>
          <a:p>
            <a:pPr algn="ctr"/>
            <a:endParaRPr lang="en-US" altLang="zh-CN" sz="1600" b="1">
              <a:solidFill>
                <a:schemeClr val="tx1"/>
              </a:solidFill>
            </a:endParaRPr>
          </a:p>
          <a:p>
            <a:pPr algn="ctr"/>
            <a:endParaRPr lang="en-US" altLang="zh-CN" sz="1600" b="1">
              <a:solidFill>
                <a:schemeClr val="tx1"/>
              </a:solidFill>
            </a:endParaRPr>
          </a:p>
        </p:txBody>
      </p:sp>
      <p:sp>
        <p:nvSpPr>
          <p:cNvPr id="27" name="矩形 26">
            <a:extLst>
              <a:ext uri="{FF2B5EF4-FFF2-40B4-BE49-F238E27FC236}">
                <a16:creationId xmlns:a16="http://schemas.microsoft.com/office/drawing/2014/main" id="{D304B7B0-EBCD-EC37-103D-4DC99F35E4C1}"/>
              </a:ext>
            </a:extLst>
          </p:cNvPr>
          <p:cNvSpPr/>
          <p:nvPr/>
        </p:nvSpPr>
        <p:spPr>
          <a:xfrm>
            <a:off x="2457855" y="3919068"/>
            <a:ext cx="7311220" cy="1142030"/>
          </a:xfrm>
          <a:prstGeom prst="rect">
            <a:avLst/>
          </a:prstGeom>
          <a:noFill/>
          <a:ln w="19050">
            <a:solidFill>
              <a:schemeClr val="accent1"/>
            </a:solidFill>
            <a:prstDash val="dash"/>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zh-CN" sz="1600" b="1">
                <a:solidFill>
                  <a:schemeClr val="tx1"/>
                </a:solidFill>
              </a:rPr>
              <a:t>3.</a:t>
            </a:r>
            <a:r>
              <a:rPr lang="zh-CN" altLang="en-US" sz="1600" b="1">
                <a:solidFill>
                  <a:schemeClr val="tx1"/>
                </a:solidFill>
              </a:rPr>
              <a:t>基于自适应原型的小样本增量故障诊断方法</a:t>
            </a:r>
            <a:endParaRPr lang="en-US" altLang="zh-CN" sz="1600" b="1">
              <a:solidFill>
                <a:schemeClr val="tx1"/>
              </a:solidFill>
            </a:endParaRPr>
          </a:p>
          <a:p>
            <a:pPr algn="ctr"/>
            <a:endParaRPr lang="en-US" altLang="zh-CN" sz="1600" b="1">
              <a:solidFill>
                <a:schemeClr val="tx1"/>
              </a:solidFill>
            </a:endParaRPr>
          </a:p>
          <a:p>
            <a:pPr algn="ctr"/>
            <a:endParaRPr lang="en-US" altLang="zh-CN" sz="1600" b="1">
              <a:solidFill>
                <a:schemeClr val="tx1"/>
              </a:solidFill>
            </a:endParaRPr>
          </a:p>
          <a:p>
            <a:pPr algn="ctr"/>
            <a:endParaRPr lang="en-US" altLang="zh-CN" sz="1600" b="1">
              <a:solidFill>
                <a:schemeClr val="tx1"/>
              </a:solidFill>
            </a:endParaRPr>
          </a:p>
        </p:txBody>
      </p:sp>
      <p:sp>
        <p:nvSpPr>
          <p:cNvPr id="28" name="矩形 27">
            <a:extLst>
              <a:ext uri="{FF2B5EF4-FFF2-40B4-BE49-F238E27FC236}">
                <a16:creationId xmlns:a16="http://schemas.microsoft.com/office/drawing/2014/main" id="{2708C117-01B3-BFFC-4FEB-7FF70C0571E4}"/>
              </a:ext>
            </a:extLst>
          </p:cNvPr>
          <p:cNvSpPr/>
          <p:nvPr/>
        </p:nvSpPr>
        <p:spPr>
          <a:xfrm>
            <a:off x="2477691" y="5392663"/>
            <a:ext cx="7311220" cy="1085490"/>
          </a:xfrm>
          <a:prstGeom prst="rect">
            <a:avLst/>
          </a:prstGeom>
          <a:noFill/>
          <a:ln w="19050">
            <a:solidFill>
              <a:schemeClr val="accent1"/>
            </a:solidFill>
            <a:prstDash val="dash"/>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ltLang="zh-CN" sz="1600" b="1">
              <a:solidFill>
                <a:schemeClr val="tx1"/>
              </a:solidFill>
            </a:endParaRPr>
          </a:p>
          <a:p>
            <a:pPr algn="ctr"/>
            <a:endParaRPr lang="zh-CN" altLang="en-US" sz="1600" b="1">
              <a:solidFill>
                <a:schemeClr val="tx1"/>
              </a:solidFill>
            </a:endParaRPr>
          </a:p>
        </p:txBody>
      </p:sp>
      <p:sp>
        <p:nvSpPr>
          <p:cNvPr id="29" name="右箭头 24">
            <a:extLst>
              <a:ext uri="{FF2B5EF4-FFF2-40B4-BE49-F238E27FC236}">
                <a16:creationId xmlns:a16="http://schemas.microsoft.com/office/drawing/2014/main" id="{D1F45A13-CF63-0736-79AA-A9F3FB87B2DF}"/>
              </a:ext>
            </a:extLst>
          </p:cNvPr>
          <p:cNvSpPr/>
          <p:nvPr/>
        </p:nvSpPr>
        <p:spPr>
          <a:xfrm>
            <a:off x="2067866" y="2051852"/>
            <a:ext cx="360362" cy="584200"/>
          </a:xfrm>
          <a:prstGeom prst="rightArrow">
            <a:avLst/>
          </a:prstGeom>
          <a:solidFill>
            <a:schemeClr val="accent1">
              <a:lumMod val="50000"/>
            </a:schemeClr>
          </a:solidFill>
          <a:ln w="12700" cap="flat" cmpd="sng" algn="ctr">
            <a:solidFill>
              <a:srgbClr val="ED7D31">
                <a:lumMod val="20000"/>
                <a:lumOff val="80000"/>
              </a:srgbClr>
            </a:solidFill>
            <a:prstDash val="solid"/>
            <a:miter lim="800000"/>
          </a:ln>
          <a:effectLst>
            <a:outerShdw blurRad="50800" dist="38100" dir="2700000" algn="tl" rotWithShape="0">
              <a:prstClr val="black">
                <a:alpha val="40000"/>
              </a:prst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1">
              <a:ln>
                <a:noFill/>
              </a:ln>
              <a:solidFill>
                <a:prstClr val="black"/>
              </a:solidFill>
              <a:effectLst/>
              <a:uLnTx/>
              <a:uFillTx/>
              <a:latin typeface="微软雅黑" panose="020B0503020204020204" pitchFamily="34" charset="-122"/>
              <a:ea typeface="等线" panose="02010600030101010101" charset="-122"/>
              <a:cs typeface="+mn-cs"/>
            </a:endParaRPr>
          </a:p>
        </p:txBody>
      </p:sp>
      <p:sp>
        <p:nvSpPr>
          <p:cNvPr id="30" name="右箭头 24">
            <a:extLst>
              <a:ext uri="{FF2B5EF4-FFF2-40B4-BE49-F238E27FC236}">
                <a16:creationId xmlns:a16="http://schemas.microsoft.com/office/drawing/2014/main" id="{CA2AFF27-FFAD-E994-8087-57A55A4C3B5D}"/>
              </a:ext>
            </a:extLst>
          </p:cNvPr>
          <p:cNvSpPr/>
          <p:nvPr/>
        </p:nvSpPr>
        <p:spPr>
          <a:xfrm rot="10800000">
            <a:off x="9798702" y="3027504"/>
            <a:ext cx="360362" cy="584200"/>
          </a:xfrm>
          <a:prstGeom prst="rightArrow">
            <a:avLst/>
          </a:prstGeom>
          <a:solidFill>
            <a:schemeClr val="accent1">
              <a:lumMod val="50000"/>
            </a:schemeClr>
          </a:solidFill>
          <a:ln w="12700" cap="flat" cmpd="sng" algn="ctr">
            <a:solidFill>
              <a:srgbClr val="ED7D31">
                <a:lumMod val="20000"/>
                <a:lumOff val="80000"/>
              </a:srgbClr>
            </a:solidFill>
            <a:prstDash val="solid"/>
            <a:miter lim="800000"/>
          </a:ln>
          <a:effectLst>
            <a:outerShdw blurRad="50800" dist="38100" dir="2700000" algn="tl" rotWithShape="0">
              <a:prstClr val="black">
                <a:alpha val="40000"/>
              </a:prst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1">
              <a:ln>
                <a:noFill/>
              </a:ln>
              <a:solidFill>
                <a:prstClr val="black"/>
              </a:solidFill>
              <a:effectLst/>
              <a:uLnTx/>
              <a:uFillTx/>
              <a:latin typeface="微软雅黑" panose="020B0503020204020204" pitchFamily="34" charset="-122"/>
              <a:ea typeface="等线" panose="02010600030101010101" charset="-122"/>
              <a:cs typeface="+mn-cs"/>
            </a:endParaRPr>
          </a:p>
        </p:txBody>
      </p:sp>
      <p:sp>
        <p:nvSpPr>
          <p:cNvPr id="32" name="右箭头 24">
            <a:extLst>
              <a:ext uri="{FF2B5EF4-FFF2-40B4-BE49-F238E27FC236}">
                <a16:creationId xmlns:a16="http://schemas.microsoft.com/office/drawing/2014/main" id="{F9492674-44FF-4F07-F177-E1F034253564}"/>
              </a:ext>
            </a:extLst>
          </p:cNvPr>
          <p:cNvSpPr/>
          <p:nvPr/>
        </p:nvSpPr>
        <p:spPr>
          <a:xfrm>
            <a:off x="2055906" y="4197983"/>
            <a:ext cx="360362" cy="584200"/>
          </a:xfrm>
          <a:prstGeom prst="rightArrow">
            <a:avLst/>
          </a:prstGeom>
          <a:solidFill>
            <a:schemeClr val="accent1">
              <a:lumMod val="50000"/>
            </a:schemeClr>
          </a:solidFill>
          <a:ln w="12700" cap="flat" cmpd="sng" algn="ctr">
            <a:solidFill>
              <a:srgbClr val="ED7D31">
                <a:lumMod val="20000"/>
                <a:lumOff val="80000"/>
              </a:srgbClr>
            </a:solidFill>
            <a:prstDash val="solid"/>
            <a:miter lim="800000"/>
          </a:ln>
          <a:effectLst>
            <a:outerShdw blurRad="50800" dist="38100" dir="2700000" algn="tl" rotWithShape="0">
              <a:prstClr val="black">
                <a:alpha val="40000"/>
              </a:prst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1">
              <a:ln>
                <a:noFill/>
              </a:ln>
              <a:solidFill>
                <a:prstClr val="black"/>
              </a:solidFill>
              <a:effectLst/>
              <a:uLnTx/>
              <a:uFillTx/>
              <a:latin typeface="微软雅黑" panose="020B0503020204020204" pitchFamily="34" charset="-122"/>
              <a:ea typeface="等线" panose="02010600030101010101" charset="-122"/>
              <a:cs typeface="+mn-cs"/>
            </a:endParaRPr>
          </a:p>
        </p:txBody>
      </p:sp>
      <p:sp>
        <p:nvSpPr>
          <p:cNvPr id="37" name="文本框 36">
            <a:extLst>
              <a:ext uri="{FF2B5EF4-FFF2-40B4-BE49-F238E27FC236}">
                <a16:creationId xmlns:a16="http://schemas.microsoft.com/office/drawing/2014/main" id="{0E18F1E6-7493-5995-3570-8E52CC83649A}"/>
              </a:ext>
            </a:extLst>
          </p:cNvPr>
          <p:cNvSpPr txBox="1"/>
          <p:nvPr/>
        </p:nvSpPr>
        <p:spPr>
          <a:xfrm>
            <a:off x="2895427" y="5763724"/>
            <a:ext cx="1362874" cy="338554"/>
          </a:xfrm>
          <a:prstGeom prst="rect">
            <a:avLst/>
          </a:prstGeom>
          <a:noFill/>
        </p:spPr>
        <p:txBody>
          <a:bodyPr wrap="square" rtlCol="0">
            <a:spAutoFit/>
          </a:bodyPr>
          <a:lstStyle/>
          <a:p>
            <a:pPr algn="ctr"/>
            <a:r>
              <a:rPr lang="en-US" altLang="zh-CN" sz="1600" b="1"/>
              <a:t>4.</a:t>
            </a:r>
            <a:r>
              <a:rPr lang="zh-CN" altLang="en-US" sz="1600" b="1"/>
              <a:t>案例与验证</a:t>
            </a:r>
          </a:p>
        </p:txBody>
      </p:sp>
      <p:sp>
        <p:nvSpPr>
          <p:cNvPr id="38" name="矩形 37">
            <a:extLst>
              <a:ext uri="{FF2B5EF4-FFF2-40B4-BE49-F238E27FC236}">
                <a16:creationId xmlns:a16="http://schemas.microsoft.com/office/drawing/2014/main" id="{3E449069-84F4-72F8-11E4-38551A955E4A}"/>
              </a:ext>
            </a:extLst>
          </p:cNvPr>
          <p:cNvSpPr/>
          <p:nvPr/>
        </p:nvSpPr>
        <p:spPr>
          <a:xfrm>
            <a:off x="4876799" y="5643243"/>
            <a:ext cx="1730957" cy="531755"/>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搭建实验平台</a:t>
            </a:r>
          </a:p>
        </p:txBody>
      </p:sp>
      <p:cxnSp>
        <p:nvCxnSpPr>
          <p:cNvPr id="40" name="直接箭头连接符 39">
            <a:extLst>
              <a:ext uri="{FF2B5EF4-FFF2-40B4-BE49-F238E27FC236}">
                <a16:creationId xmlns:a16="http://schemas.microsoft.com/office/drawing/2014/main" id="{AA1FA9D5-EA86-3701-65F5-918A0EF1B68C}"/>
              </a:ext>
            </a:extLst>
          </p:cNvPr>
          <p:cNvCxnSpPr>
            <a:cxnSpLocks/>
            <a:stCxn id="38" idx="3"/>
            <a:endCxn id="43" idx="1"/>
          </p:cNvCxnSpPr>
          <p:nvPr/>
        </p:nvCxnSpPr>
        <p:spPr>
          <a:xfrm>
            <a:off x="6607756" y="5909121"/>
            <a:ext cx="828578" cy="0"/>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43" name="矩形 42">
            <a:extLst>
              <a:ext uri="{FF2B5EF4-FFF2-40B4-BE49-F238E27FC236}">
                <a16:creationId xmlns:a16="http://schemas.microsoft.com/office/drawing/2014/main" id="{719A717C-836A-5F94-6889-A150AC53F758}"/>
              </a:ext>
            </a:extLst>
          </p:cNvPr>
          <p:cNvSpPr/>
          <p:nvPr/>
        </p:nvSpPr>
        <p:spPr>
          <a:xfrm>
            <a:off x="7436334" y="5643243"/>
            <a:ext cx="1670050" cy="531755"/>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模拟工业环境验证</a:t>
            </a:r>
          </a:p>
        </p:txBody>
      </p:sp>
      <p:sp>
        <p:nvSpPr>
          <p:cNvPr id="45" name="矩形 44">
            <a:extLst>
              <a:ext uri="{FF2B5EF4-FFF2-40B4-BE49-F238E27FC236}">
                <a16:creationId xmlns:a16="http://schemas.microsoft.com/office/drawing/2014/main" id="{867445E8-D12C-588A-66E0-AC5A5A18BE9E}"/>
              </a:ext>
            </a:extLst>
          </p:cNvPr>
          <p:cNvSpPr/>
          <p:nvPr/>
        </p:nvSpPr>
        <p:spPr>
          <a:xfrm>
            <a:off x="2537788" y="2433887"/>
            <a:ext cx="982217" cy="342909"/>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数据预处理</a:t>
            </a:r>
          </a:p>
        </p:txBody>
      </p:sp>
      <p:cxnSp>
        <p:nvCxnSpPr>
          <p:cNvPr id="47" name="直接箭头连接符 46">
            <a:extLst>
              <a:ext uri="{FF2B5EF4-FFF2-40B4-BE49-F238E27FC236}">
                <a16:creationId xmlns:a16="http://schemas.microsoft.com/office/drawing/2014/main" id="{758E35BE-0AEE-EE32-AA1B-C775DAF24F4F}"/>
              </a:ext>
            </a:extLst>
          </p:cNvPr>
          <p:cNvCxnSpPr>
            <a:cxnSpLocks/>
            <a:stCxn id="45" idx="3"/>
            <a:endCxn id="50" idx="1"/>
          </p:cNvCxnSpPr>
          <p:nvPr/>
        </p:nvCxnSpPr>
        <p:spPr>
          <a:xfrm>
            <a:off x="3520005" y="2605342"/>
            <a:ext cx="217108" cy="1346"/>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50" name="矩形 49">
            <a:extLst>
              <a:ext uri="{FF2B5EF4-FFF2-40B4-BE49-F238E27FC236}">
                <a16:creationId xmlns:a16="http://schemas.microsoft.com/office/drawing/2014/main" id="{F252F6A7-AD37-2E6D-D634-519D001CC9C2}"/>
              </a:ext>
            </a:extLst>
          </p:cNvPr>
          <p:cNvSpPr/>
          <p:nvPr/>
        </p:nvSpPr>
        <p:spPr>
          <a:xfrm>
            <a:off x="3737113" y="2435233"/>
            <a:ext cx="982217" cy="342909"/>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映射节点生成</a:t>
            </a:r>
          </a:p>
        </p:txBody>
      </p:sp>
      <p:cxnSp>
        <p:nvCxnSpPr>
          <p:cNvPr id="53" name="直接箭头连接符 52">
            <a:extLst>
              <a:ext uri="{FF2B5EF4-FFF2-40B4-BE49-F238E27FC236}">
                <a16:creationId xmlns:a16="http://schemas.microsoft.com/office/drawing/2014/main" id="{F311ACD8-6261-8B9E-953D-EBD7A206E050}"/>
              </a:ext>
            </a:extLst>
          </p:cNvPr>
          <p:cNvCxnSpPr>
            <a:cxnSpLocks/>
            <a:stCxn id="50" idx="3"/>
            <a:endCxn id="54" idx="1"/>
          </p:cNvCxnSpPr>
          <p:nvPr/>
        </p:nvCxnSpPr>
        <p:spPr>
          <a:xfrm flipV="1">
            <a:off x="4719330" y="2605342"/>
            <a:ext cx="217108" cy="1346"/>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54" name="矩形 53">
            <a:extLst>
              <a:ext uri="{FF2B5EF4-FFF2-40B4-BE49-F238E27FC236}">
                <a16:creationId xmlns:a16="http://schemas.microsoft.com/office/drawing/2014/main" id="{423DBB23-D65D-6118-C224-63618D0A3570}"/>
              </a:ext>
            </a:extLst>
          </p:cNvPr>
          <p:cNvSpPr/>
          <p:nvPr/>
        </p:nvSpPr>
        <p:spPr>
          <a:xfrm>
            <a:off x="4936438" y="2433887"/>
            <a:ext cx="982217" cy="342909"/>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生成节点生成</a:t>
            </a:r>
          </a:p>
        </p:txBody>
      </p:sp>
      <p:sp>
        <p:nvSpPr>
          <p:cNvPr id="59" name="矩形 58">
            <a:extLst>
              <a:ext uri="{FF2B5EF4-FFF2-40B4-BE49-F238E27FC236}">
                <a16:creationId xmlns:a16="http://schemas.microsoft.com/office/drawing/2014/main" id="{9610DEA3-C67D-37C8-EA4D-E7177236C005}"/>
              </a:ext>
            </a:extLst>
          </p:cNvPr>
          <p:cNvSpPr/>
          <p:nvPr/>
        </p:nvSpPr>
        <p:spPr>
          <a:xfrm>
            <a:off x="3737113" y="2970416"/>
            <a:ext cx="982217" cy="342909"/>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模型验证</a:t>
            </a:r>
          </a:p>
        </p:txBody>
      </p:sp>
      <p:sp>
        <p:nvSpPr>
          <p:cNvPr id="61" name="矩形 60">
            <a:extLst>
              <a:ext uri="{FF2B5EF4-FFF2-40B4-BE49-F238E27FC236}">
                <a16:creationId xmlns:a16="http://schemas.microsoft.com/office/drawing/2014/main" id="{7DBF6264-A9A6-98E3-6D60-0B641A855EFF}"/>
              </a:ext>
            </a:extLst>
          </p:cNvPr>
          <p:cNvSpPr/>
          <p:nvPr/>
        </p:nvSpPr>
        <p:spPr>
          <a:xfrm>
            <a:off x="4936438" y="2969070"/>
            <a:ext cx="982217" cy="342909"/>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求解模型权重</a:t>
            </a:r>
          </a:p>
        </p:txBody>
      </p:sp>
      <p:cxnSp>
        <p:nvCxnSpPr>
          <p:cNvPr id="62" name="直接箭头连接符 61">
            <a:extLst>
              <a:ext uri="{FF2B5EF4-FFF2-40B4-BE49-F238E27FC236}">
                <a16:creationId xmlns:a16="http://schemas.microsoft.com/office/drawing/2014/main" id="{75AA97CE-5866-1202-EA6C-15BA10102B6C}"/>
              </a:ext>
            </a:extLst>
          </p:cNvPr>
          <p:cNvCxnSpPr>
            <a:cxnSpLocks/>
          </p:cNvCxnSpPr>
          <p:nvPr/>
        </p:nvCxnSpPr>
        <p:spPr>
          <a:xfrm rot="10800000" flipV="1">
            <a:off x="4719330" y="3140525"/>
            <a:ext cx="217108" cy="1346"/>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cxnSp>
        <p:nvCxnSpPr>
          <p:cNvPr id="63" name="直接箭头连接符 62">
            <a:extLst>
              <a:ext uri="{FF2B5EF4-FFF2-40B4-BE49-F238E27FC236}">
                <a16:creationId xmlns:a16="http://schemas.microsoft.com/office/drawing/2014/main" id="{4CF2D6A8-49DF-D8C4-1BC2-34D0BE7D66A9}"/>
              </a:ext>
            </a:extLst>
          </p:cNvPr>
          <p:cNvCxnSpPr>
            <a:cxnSpLocks/>
            <a:stCxn id="54" idx="2"/>
            <a:endCxn id="61" idx="0"/>
          </p:cNvCxnSpPr>
          <p:nvPr/>
        </p:nvCxnSpPr>
        <p:spPr>
          <a:xfrm>
            <a:off x="5427547" y="2776796"/>
            <a:ext cx="0" cy="192274"/>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67" name="矩形 66">
            <a:extLst>
              <a:ext uri="{FF2B5EF4-FFF2-40B4-BE49-F238E27FC236}">
                <a16:creationId xmlns:a16="http://schemas.microsoft.com/office/drawing/2014/main" id="{0C60953C-2489-2554-13B0-44774E8B180C}"/>
              </a:ext>
            </a:extLst>
          </p:cNvPr>
          <p:cNvSpPr/>
          <p:nvPr/>
        </p:nvSpPr>
        <p:spPr>
          <a:xfrm>
            <a:off x="2978365" y="4368046"/>
            <a:ext cx="982217" cy="36148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数据预处理</a:t>
            </a:r>
          </a:p>
        </p:txBody>
      </p:sp>
      <p:sp>
        <p:nvSpPr>
          <p:cNvPr id="68" name="矩形 67">
            <a:extLst>
              <a:ext uri="{FF2B5EF4-FFF2-40B4-BE49-F238E27FC236}">
                <a16:creationId xmlns:a16="http://schemas.microsoft.com/office/drawing/2014/main" id="{FCE396D2-3CF9-720D-CF41-180E70E51758}"/>
              </a:ext>
            </a:extLst>
          </p:cNvPr>
          <p:cNvSpPr/>
          <p:nvPr/>
        </p:nvSpPr>
        <p:spPr>
          <a:xfrm>
            <a:off x="6345571" y="2434441"/>
            <a:ext cx="982217" cy="36148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数据预处理</a:t>
            </a:r>
          </a:p>
        </p:txBody>
      </p:sp>
      <p:cxnSp>
        <p:nvCxnSpPr>
          <p:cNvPr id="69" name="直接箭头连接符 68">
            <a:extLst>
              <a:ext uri="{FF2B5EF4-FFF2-40B4-BE49-F238E27FC236}">
                <a16:creationId xmlns:a16="http://schemas.microsoft.com/office/drawing/2014/main" id="{F0ED57F5-7D1D-7A13-6870-AB7A6ABFA44E}"/>
              </a:ext>
            </a:extLst>
          </p:cNvPr>
          <p:cNvCxnSpPr>
            <a:cxnSpLocks/>
            <a:stCxn id="68" idx="3"/>
            <a:endCxn id="72" idx="1"/>
          </p:cNvCxnSpPr>
          <p:nvPr/>
        </p:nvCxnSpPr>
        <p:spPr>
          <a:xfrm>
            <a:off x="7327788" y="2615185"/>
            <a:ext cx="260719" cy="0"/>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72" name="矩形 71">
            <a:extLst>
              <a:ext uri="{FF2B5EF4-FFF2-40B4-BE49-F238E27FC236}">
                <a16:creationId xmlns:a16="http://schemas.microsoft.com/office/drawing/2014/main" id="{37B7B1F2-81C2-150B-4459-8ED70F766932}"/>
              </a:ext>
            </a:extLst>
          </p:cNvPr>
          <p:cNvSpPr/>
          <p:nvPr/>
        </p:nvSpPr>
        <p:spPr>
          <a:xfrm>
            <a:off x="7588507" y="2434441"/>
            <a:ext cx="982217" cy="36148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数据生成</a:t>
            </a:r>
          </a:p>
        </p:txBody>
      </p:sp>
      <p:cxnSp>
        <p:nvCxnSpPr>
          <p:cNvPr id="73" name="直接箭头连接符 72">
            <a:extLst>
              <a:ext uri="{FF2B5EF4-FFF2-40B4-BE49-F238E27FC236}">
                <a16:creationId xmlns:a16="http://schemas.microsoft.com/office/drawing/2014/main" id="{7DF26AD2-1E01-A81B-B16B-A860F839DB24}"/>
              </a:ext>
            </a:extLst>
          </p:cNvPr>
          <p:cNvCxnSpPr>
            <a:cxnSpLocks/>
            <a:stCxn id="72" idx="3"/>
          </p:cNvCxnSpPr>
          <p:nvPr/>
        </p:nvCxnSpPr>
        <p:spPr>
          <a:xfrm flipV="1">
            <a:off x="8570724" y="2615184"/>
            <a:ext cx="216134" cy="1"/>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cxnSp>
        <p:nvCxnSpPr>
          <p:cNvPr id="79" name="直接箭头连接符 78">
            <a:extLst>
              <a:ext uri="{FF2B5EF4-FFF2-40B4-BE49-F238E27FC236}">
                <a16:creationId xmlns:a16="http://schemas.microsoft.com/office/drawing/2014/main" id="{DB2AB78D-94F7-51DF-C50C-D1758834DEA5}"/>
              </a:ext>
            </a:extLst>
          </p:cNvPr>
          <p:cNvCxnSpPr>
            <a:cxnSpLocks/>
            <a:endCxn id="90" idx="0"/>
          </p:cNvCxnSpPr>
          <p:nvPr/>
        </p:nvCxnSpPr>
        <p:spPr>
          <a:xfrm>
            <a:off x="9277967" y="2795928"/>
            <a:ext cx="0" cy="302157"/>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86" name="矩形 85">
            <a:extLst>
              <a:ext uri="{FF2B5EF4-FFF2-40B4-BE49-F238E27FC236}">
                <a16:creationId xmlns:a16="http://schemas.microsoft.com/office/drawing/2014/main" id="{2F06CF7A-8DF5-0161-DAB9-03D6F9B6B3DA}"/>
              </a:ext>
            </a:extLst>
          </p:cNvPr>
          <p:cNvSpPr/>
          <p:nvPr/>
        </p:nvSpPr>
        <p:spPr>
          <a:xfrm>
            <a:off x="8786858" y="2434441"/>
            <a:ext cx="982217" cy="36148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数据选择</a:t>
            </a:r>
          </a:p>
        </p:txBody>
      </p:sp>
      <p:sp>
        <p:nvSpPr>
          <p:cNvPr id="90" name="矩形 89">
            <a:extLst>
              <a:ext uri="{FF2B5EF4-FFF2-40B4-BE49-F238E27FC236}">
                <a16:creationId xmlns:a16="http://schemas.microsoft.com/office/drawing/2014/main" id="{C348D64C-2E92-4495-4BF3-7BD6087EB15E}"/>
              </a:ext>
            </a:extLst>
          </p:cNvPr>
          <p:cNvSpPr/>
          <p:nvPr/>
        </p:nvSpPr>
        <p:spPr>
          <a:xfrm>
            <a:off x="8786858" y="3098085"/>
            <a:ext cx="982217" cy="36148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模型训练</a:t>
            </a:r>
          </a:p>
        </p:txBody>
      </p:sp>
      <p:cxnSp>
        <p:nvCxnSpPr>
          <p:cNvPr id="94" name="直接箭头连接符 93">
            <a:extLst>
              <a:ext uri="{FF2B5EF4-FFF2-40B4-BE49-F238E27FC236}">
                <a16:creationId xmlns:a16="http://schemas.microsoft.com/office/drawing/2014/main" id="{2595657E-3658-139F-5E24-C9E7AF51BB7C}"/>
              </a:ext>
            </a:extLst>
          </p:cNvPr>
          <p:cNvCxnSpPr>
            <a:cxnSpLocks/>
            <a:stCxn id="90" idx="1"/>
            <a:endCxn id="99" idx="3"/>
          </p:cNvCxnSpPr>
          <p:nvPr/>
        </p:nvCxnSpPr>
        <p:spPr>
          <a:xfrm flipH="1" flipV="1">
            <a:off x="8581322" y="3278828"/>
            <a:ext cx="205536" cy="1"/>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99" name="矩形 98">
            <a:extLst>
              <a:ext uri="{FF2B5EF4-FFF2-40B4-BE49-F238E27FC236}">
                <a16:creationId xmlns:a16="http://schemas.microsoft.com/office/drawing/2014/main" id="{716CD01E-47DE-E5A7-C9B3-95E8347D5C1E}"/>
              </a:ext>
            </a:extLst>
          </p:cNvPr>
          <p:cNvSpPr/>
          <p:nvPr/>
        </p:nvSpPr>
        <p:spPr>
          <a:xfrm>
            <a:off x="7599105" y="3098084"/>
            <a:ext cx="982217" cy="36148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模型验证</a:t>
            </a:r>
          </a:p>
        </p:txBody>
      </p:sp>
      <p:cxnSp>
        <p:nvCxnSpPr>
          <p:cNvPr id="103" name="直接箭头连接符 102">
            <a:extLst>
              <a:ext uri="{FF2B5EF4-FFF2-40B4-BE49-F238E27FC236}">
                <a16:creationId xmlns:a16="http://schemas.microsoft.com/office/drawing/2014/main" id="{D5D5E4AD-572D-0CBC-2C9E-9354EDFC7A41}"/>
              </a:ext>
            </a:extLst>
          </p:cNvPr>
          <p:cNvCxnSpPr>
            <a:cxnSpLocks/>
            <a:stCxn id="67" idx="3"/>
            <a:endCxn id="105" idx="1"/>
          </p:cNvCxnSpPr>
          <p:nvPr/>
        </p:nvCxnSpPr>
        <p:spPr>
          <a:xfrm>
            <a:off x="3960582" y="4548790"/>
            <a:ext cx="297719" cy="2015"/>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105" name="矩形 104">
            <a:extLst>
              <a:ext uri="{FF2B5EF4-FFF2-40B4-BE49-F238E27FC236}">
                <a16:creationId xmlns:a16="http://schemas.microsoft.com/office/drawing/2014/main" id="{068A3939-05C5-8303-6718-36157032450E}"/>
              </a:ext>
            </a:extLst>
          </p:cNvPr>
          <p:cNvSpPr/>
          <p:nvPr/>
        </p:nvSpPr>
        <p:spPr>
          <a:xfrm>
            <a:off x="4258301" y="4370061"/>
            <a:ext cx="982217" cy="36148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特征提取</a:t>
            </a:r>
          </a:p>
        </p:txBody>
      </p:sp>
      <p:cxnSp>
        <p:nvCxnSpPr>
          <p:cNvPr id="109" name="直接箭头连接符 108">
            <a:extLst>
              <a:ext uri="{FF2B5EF4-FFF2-40B4-BE49-F238E27FC236}">
                <a16:creationId xmlns:a16="http://schemas.microsoft.com/office/drawing/2014/main" id="{2A80ECCC-4585-6EED-3132-B349F26D4593}"/>
              </a:ext>
            </a:extLst>
          </p:cNvPr>
          <p:cNvCxnSpPr>
            <a:cxnSpLocks/>
            <a:stCxn id="105" idx="3"/>
            <a:endCxn id="110" idx="1"/>
          </p:cNvCxnSpPr>
          <p:nvPr/>
        </p:nvCxnSpPr>
        <p:spPr>
          <a:xfrm flipV="1">
            <a:off x="5240518" y="4548790"/>
            <a:ext cx="332941" cy="2015"/>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110" name="矩形 109">
            <a:extLst>
              <a:ext uri="{FF2B5EF4-FFF2-40B4-BE49-F238E27FC236}">
                <a16:creationId xmlns:a16="http://schemas.microsoft.com/office/drawing/2014/main" id="{0C6E28E7-9890-6C1B-71DE-C074E0B42BC2}"/>
              </a:ext>
            </a:extLst>
          </p:cNvPr>
          <p:cNvSpPr/>
          <p:nvPr/>
        </p:nvSpPr>
        <p:spPr>
          <a:xfrm>
            <a:off x="5573459" y="4368046"/>
            <a:ext cx="982217" cy="36148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原型表示</a:t>
            </a:r>
          </a:p>
        </p:txBody>
      </p:sp>
      <p:cxnSp>
        <p:nvCxnSpPr>
          <p:cNvPr id="113" name="直接箭头连接符 112">
            <a:extLst>
              <a:ext uri="{FF2B5EF4-FFF2-40B4-BE49-F238E27FC236}">
                <a16:creationId xmlns:a16="http://schemas.microsoft.com/office/drawing/2014/main" id="{FD5338C4-F98D-3DF0-394D-5F1DBC4BD793}"/>
              </a:ext>
            </a:extLst>
          </p:cNvPr>
          <p:cNvCxnSpPr>
            <a:cxnSpLocks/>
            <a:stCxn id="110" idx="3"/>
            <a:endCxn id="114" idx="1"/>
          </p:cNvCxnSpPr>
          <p:nvPr/>
        </p:nvCxnSpPr>
        <p:spPr>
          <a:xfrm flipV="1">
            <a:off x="6555676" y="4548789"/>
            <a:ext cx="348113" cy="1"/>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114" name="矩形 113">
            <a:extLst>
              <a:ext uri="{FF2B5EF4-FFF2-40B4-BE49-F238E27FC236}">
                <a16:creationId xmlns:a16="http://schemas.microsoft.com/office/drawing/2014/main" id="{DED47138-62D9-62A4-7A16-C9E931582C94}"/>
              </a:ext>
            </a:extLst>
          </p:cNvPr>
          <p:cNvSpPr/>
          <p:nvPr/>
        </p:nvSpPr>
        <p:spPr>
          <a:xfrm>
            <a:off x="6903789" y="4368045"/>
            <a:ext cx="982217" cy="36148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原型更新</a:t>
            </a:r>
          </a:p>
        </p:txBody>
      </p:sp>
      <p:cxnSp>
        <p:nvCxnSpPr>
          <p:cNvPr id="117" name="直接箭头连接符 116">
            <a:extLst>
              <a:ext uri="{FF2B5EF4-FFF2-40B4-BE49-F238E27FC236}">
                <a16:creationId xmlns:a16="http://schemas.microsoft.com/office/drawing/2014/main" id="{55FFBEBF-7BFD-2AEF-0274-FE97EFDDF947}"/>
              </a:ext>
            </a:extLst>
          </p:cNvPr>
          <p:cNvCxnSpPr>
            <a:cxnSpLocks/>
            <a:endCxn id="118" idx="1"/>
          </p:cNvCxnSpPr>
          <p:nvPr/>
        </p:nvCxnSpPr>
        <p:spPr>
          <a:xfrm>
            <a:off x="7886006" y="4550924"/>
            <a:ext cx="348113" cy="0"/>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118" name="矩形 117">
            <a:extLst>
              <a:ext uri="{FF2B5EF4-FFF2-40B4-BE49-F238E27FC236}">
                <a16:creationId xmlns:a16="http://schemas.microsoft.com/office/drawing/2014/main" id="{4F97B118-A25C-C81E-D672-1C73A303508C}"/>
              </a:ext>
            </a:extLst>
          </p:cNvPr>
          <p:cNvSpPr/>
          <p:nvPr/>
        </p:nvSpPr>
        <p:spPr>
          <a:xfrm>
            <a:off x="8234119" y="4370180"/>
            <a:ext cx="982217" cy="36148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200" b="1">
                <a:solidFill>
                  <a:schemeClr val="tx1"/>
                </a:solidFill>
              </a:rPr>
              <a:t>模型验证</a:t>
            </a:r>
          </a:p>
        </p:txBody>
      </p:sp>
      <p:sp>
        <p:nvSpPr>
          <p:cNvPr id="2" name="箭头: 下 1">
            <a:extLst>
              <a:ext uri="{FF2B5EF4-FFF2-40B4-BE49-F238E27FC236}">
                <a16:creationId xmlns:a16="http://schemas.microsoft.com/office/drawing/2014/main" id="{4DDEF7EF-DC63-6CF2-FF8C-659EAF753406}"/>
              </a:ext>
            </a:extLst>
          </p:cNvPr>
          <p:cNvSpPr/>
          <p:nvPr/>
        </p:nvSpPr>
        <p:spPr>
          <a:xfrm>
            <a:off x="4159812" y="1537732"/>
            <a:ext cx="272488" cy="323779"/>
          </a:xfrm>
          <a:prstGeom prst="downArrow">
            <a:avLst/>
          </a:prstGeom>
          <a:solidFill>
            <a:schemeClr val="accent5">
              <a:lumMod val="75000"/>
            </a:schemeClr>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ECF690F1-DD80-3440-0EC8-67A7B0F938D7}"/>
              </a:ext>
            </a:extLst>
          </p:cNvPr>
          <p:cNvSpPr txBox="1"/>
          <p:nvPr/>
        </p:nvSpPr>
        <p:spPr>
          <a:xfrm>
            <a:off x="4414587" y="1538935"/>
            <a:ext cx="825931" cy="276999"/>
          </a:xfrm>
          <a:prstGeom prst="rect">
            <a:avLst/>
          </a:prstGeom>
          <a:noFill/>
        </p:spPr>
        <p:txBody>
          <a:bodyPr wrap="square" rtlCol="0">
            <a:spAutoFit/>
          </a:bodyPr>
          <a:lstStyle/>
          <a:p>
            <a:r>
              <a:rPr lang="zh-CN" altLang="en-US" sz="1200">
                <a:latin typeface="宋体" panose="02010600030101010101" pitchFamily="2" charset="-122"/>
                <a:ea typeface="宋体" panose="02010600030101010101" pitchFamily="2" charset="-122"/>
              </a:rPr>
              <a:t>时间维度</a:t>
            </a:r>
          </a:p>
        </p:txBody>
      </p:sp>
      <p:sp>
        <p:nvSpPr>
          <p:cNvPr id="5" name="箭头: 下 4">
            <a:extLst>
              <a:ext uri="{FF2B5EF4-FFF2-40B4-BE49-F238E27FC236}">
                <a16:creationId xmlns:a16="http://schemas.microsoft.com/office/drawing/2014/main" id="{8FB1D049-EFA7-B5A7-D844-CEAF6887820E}"/>
              </a:ext>
            </a:extLst>
          </p:cNvPr>
          <p:cNvSpPr/>
          <p:nvPr/>
        </p:nvSpPr>
        <p:spPr>
          <a:xfrm>
            <a:off x="7710239" y="1529350"/>
            <a:ext cx="272488" cy="323779"/>
          </a:xfrm>
          <a:prstGeom prst="downArrow">
            <a:avLst/>
          </a:prstGeom>
          <a:solidFill>
            <a:schemeClr val="accent5">
              <a:lumMod val="75000"/>
            </a:schemeClr>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801C5220-E940-665E-EAE3-91D652ECC44C}"/>
              </a:ext>
            </a:extLst>
          </p:cNvPr>
          <p:cNvSpPr txBox="1"/>
          <p:nvPr/>
        </p:nvSpPr>
        <p:spPr>
          <a:xfrm>
            <a:off x="7965014" y="1530553"/>
            <a:ext cx="821844" cy="276999"/>
          </a:xfrm>
          <a:prstGeom prst="rect">
            <a:avLst/>
          </a:prstGeom>
          <a:noFill/>
        </p:spPr>
        <p:txBody>
          <a:bodyPr wrap="square" rtlCol="0">
            <a:spAutoFit/>
          </a:bodyPr>
          <a:lstStyle/>
          <a:p>
            <a:r>
              <a:rPr lang="zh-CN" altLang="en-US" sz="1200">
                <a:latin typeface="宋体" panose="02010600030101010101" pitchFamily="2" charset="-122"/>
                <a:ea typeface="宋体" panose="02010600030101010101" pitchFamily="2" charset="-122"/>
              </a:rPr>
              <a:t>空间维度</a:t>
            </a:r>
          </a:p>
        </p:txBody>
      </p:sp>
      <p:sp>
        <p:nvSpPr>
          <p:cNvPr id="22" name="矩形 21">
            <a:extLst>
              <a:ext uri="{FF2B5EF4-FFF2-40B4-BE49-F238E27FC236}">
                <a16:creationId xmlns:a16="http://schemas.microsoft.com/office/drawing/2014/main" id="{05BAFDEE-7AC1-901A-5163-0358071E6C5A}"/>
              </a:ext>
            </a:extLst>
          </p:cNvPr>
          <p:cNvSpPr/>
          <p:nvPr/>
        </p:nvSpPr>
        <p:spPr>
          <a:xfrm>
            <a:off x="59929" y="1936847"/>
            <a:ext cx="1957026" cy="138275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zh-CN" altLang="en-US" sz="1600" b="1">
                <a:solidFill>
                  <a:srgbClr val="C00000"/>
                </a:solidFill>
                <a:latin typeface="宋体" panose="02010600030101010101" pitchFamily="2" charset="-122"/>
                <a:ea typeface="宋体" panose="02010600030101010101" pitchFamily="2" charset="-122"/>
              </a:rPr>
              <a:t>模型的可塑性较差</a:t>
            </a:r>
            <a:endParaRPr lang="en-US" altLang="zh-CN" sz="1600" b="1">
              <a:solidFill>
                <a:srgbClr val="C00000"/>
              </a:solidFill>
              <a:latin typeface="宋体" panose="02010600030101010101" pitchFamily="2" charset="-122"/>
              <a:ea typeface="宋体" panose="02010600030101010101" pitchFamily="2" charset="-122"/>
            </a:endParaRPr>
          </a:p>
          <a:p>
            <a:pPr marL="285750" indent="-285750" algn="just">
              <a:buFont typeface="Arial" panose="020B0604020202020204" pitchFamily="34" charset="0"/>
              <a:buChar char="•"/>
            </a:pPr>
            <a:endParaRPr lang="en-US" altLang="zh-CN" sz="1600" b="1">
              <a:solidFill>
                <a:srgbClr val="C00000"/>
              </a:solidFill>
              <a:latin typeface="宋体" panose="02010600030101010101" pitchFamily="2" charset="-122"/>
              <a:ea typeface="宋体" panose="02010600030101010101" pitchFamily="2" charset="-122"/>
            </a:endParaRPr>
          </a:p>
          <a:p>
            <a:pPr marL="285750" indent="-285750" algn="just">
              <a:buFont typeface="Arial" panose="020B0604020202020204" pitchFamily="34" charset="0"/>
              <a:buChar char="•"/>
            </a:pPr>
            <a:r>
              <a:rPr lang="zh-CN" altLang="en-US" sz="1600" b="1">
                <a:solidFill>
                  <a:srgbClr val="C00000"/>
                </a:solidFill>
                <a:latin typeface="宋体" panose="02010600030101010101" pitchFamily="2" charset="-122"/>
                <a:ea typeface="宋体" panose="02010600030101010101" pitchFamily="2" charset="-122"/>
              </a:rPr>
              <a:t>有限的计算资源下高效更新模型</a:t>
            </a:r>
            <a:endParaRPr lang="zh-CN" altLang="en-US" sz="1600" b="1" dirty="0">
              <a:solidFill>
                <a:schemeClr val="tx1"/>
              </a:solidFill>
              <a:latin typeface="宋体" panose="02010600030101010101" pitchFamily="2" charset="-122"/>
              <a:ea typeface="宋体" panose="02010600030101010101" pitchFamily="2" charset="-122"/>
            </a:endParaRPr>
          </a:p>
        </p:txBody>
      </p:sp>
      <p:sp>
        <p:nvSpPr>
          <p:cNvPr id="31" name="矩形 30">
            <a:extLst>
              <a:ext uri="{FF2B5EF4-FFF2-40B4-BE49-F238E27FC236}">
                <a16:creationId xmlns:a16="http://schemas.microsoft.com/office/drawing/2014/main" id="{8DDD2BC9-FE1D-91C6-1BD0-DFA81EBF072F}"/>
              </a:ext>
            </a:extLst>
          </p:cNvPr>
          <p:cNvSpPr/>
          <p:nvPr/>
        </p:nvSpPr>
        <p:spPr>
          <a:xfrm>
            <a:off x="10205059" y="2746970"/>
            <a:ext cx="1960898" cy="145101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endParaRPr lang="zh-CN" altLang="en-US" sz="1600" dirty="0">
              <a:solidFill>
                <a:schemeClr val="tx1"/>
              </a:solidFill>
              <a:latin typeface="宋体" panose="02010600030101010101" pitchFamily="2" charset="-122"/>
              <a:ea typeface="宋体" panose="02010600030101010101" pitchFamily="2" charset="-122"/>
            </a:endParaRPr>
          </a:p>
        </p:txBody>
      </p:sp>
      <p:sp>
        <p:nvSpPr>
          <p:cNvPr id="34" name="矩形 33">
            <a:extLst>
              <a:ext uri="{FF2B5EF4-FFF2-40B4-BE49-F238E27FC236}">
                <a16:creationId xmlns:a16="http://schemas.microsoft.com/office/drawing/2014/main" id="{2DFF136C-EDFB-6F2E-E8D6-34C609FA7D16}"/>
              </a:ext>
            </a:extLst>
          </p:cNvPr>
          <p:cNvSpPr/>
          <p:nvPr/>
        </p:nvSpPr>
        <p:spPr>
          <a:xfrm>
            <a:off x="39069" y="3898698"/>
            <a:ext cx="2027855" cy="220357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600" b="1">
                <a:solidFill>
                  <a:srgbClr val="C00000"/>
                </a:solidFill>
                <a:latin typeface="宋体" panose="02010600030101010101" pitchFamily="2" charset="-122"/>
                <a:ea typeface="宋体" panose="02010600030101010101" pitchFamily="2" charset="-122"/>
              </a:rPr>
              <a:t>故障诊断中的应用仍然较少</a:t>
            </a:r>
            <a:endParaRPr lang="en-US" altLang="zh-CN" sz="1600" b="1">
              <a:solidFill>
                <a:srgbClr val="C00000"/>
              </a:solidFill>
              <a:latin typeface="宋体" panose="02010600030101010101" pitchFamily="2" charset="-122"/>
              <a:ea typeface="宋体" panose="02010600030101010101" pitchFamily="2" charset="-122"/>
            </a:endParaRPr>
          </a:p>
          <a:p>
            <a:pPr marL="285750" indent="-285750" algn="just">
              <a:buFont typeface="Arial" panose="020B0604020202020204" pitchFamily="34" charset="0"/>
              <a:buChar char="•"/>
            </a:pPr>
            <a:endParaRPr lang="en-US" altLang="zh-CN" sz="1600">
              <a:solidFill>
                <a:srgbClr val="FF0000"/>
              </a:solidFill>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1600" b="1">
                <a:solidFill>
                  <a:srgbClr val="C00000"/>
                </a:solidFill>
                <a:latin typeface="宋体" panose="02010600030101010101" pitchFamily="2" charset="-122"/>
                <a:ea typeface="宋体" panose="02010600030101010101" pitchFamily="2" charset="-122"/>
              </a:rPr>
              <a:t>稳定性</a:t>
            </a:r>
            <a:r>
              <a:rPr lang="en-US" altLang="zh-CN" sz="1600" b="1">
                <a:solidFill>
                  <a:srgbClr val="C00000"/>
                </a:solidFill>
                <a:latin typeface="宋体" panose="02010600030101010101" pitchFamily="2" charset="-122"/>
                <a:ea typeface="宋体" panose="02010600030101010101" pitchFamily="2" charset="-122"/>
              </a:rPr>
              <a:t>-</a:t>
            </a:r>
            <a:r>
              <a:rPr lang="zh-CN" altLang="en-US" sz="1600" b="1">
                <a:solidFill>
                  <a:srgbClr val="C00000"/>
                </a:solidFill>
                <a:latin typeface="宋体" panose="02010600030101010101" pitchFamily="2" charset="-122"/>
                <a:ea typeface="宋体" panose="02010600030101010101" pitchFamily="2" charset="-122"/>
              </a:rPr>
              <a:t>可塑性困境的困境</a:t>
            </a:r>
            <a:endParaRPr lang="en-US" altLang="zh-CN" sz="1600" b="1">
              <a:solidFill>
                <a:srgbClr val="C00000"/>
              </a:solidFill>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endParaRPr lang="en-US" altLang="zh-CN" sz="1600" b="1">
              <a:solidFill>
                <a:srgbClr val="C00000"/>
              </a:solidFill>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1600" b="1">
                <a:solidFill>
                  <a:srgbClr val="C00000"/>
                </a:solidFill>
                <a:latin typeface="宋体" panose="02010600030101010101" pitchFamily="2" charset="-122"/>
                <a:ea typeface="宋体" panose="02010600030101010101" pitchFamily="2" charset="-122"/>
              </a:rPr>
              <a:t>需快速灵活扩展</a:t>
            </a:r>
            <a:endParaRPr lang="zh-CN" altLang="en-US" sz="1600" b="1" dirty="0">
              <a:solidFill>
                <a:srgbClr val="C00000"/>
              </a:solidFill>
              <a:latin typeface="宋体" panose="02010600030101010101" pitchFamily="2" charset="-122"/>
              <a:ea typeface="宋体" panose="02010600030101010101" pitchFamily="2" charset="-122"/>
            </a:endParaRPr>
          </a:p>
        </p:txBody>
      </p:sp>
      <p:sp>
        <p:nvSpPr>
          <p:cNvPr id="39" name="箭头: 下 38">
            <a:extLst>
              <a:ext uri="{FF2B5EF4-FFF2-40B4-BE49-F238E27FC236}">
                <a16:creationId xmlns:a16="http://schemas.microsoft.com/office/drawing/2014/main" id="{D9BB2232-2B42-C2B9-78D6-C901A3EE2BE9}"/>
              </a:ext>
            </a:extLst>
          </p:cNvPr>
          <p:cNvSpPr/>
          <p:nvPr/>
        </p:nvSpPr>
        <p:spPr>
          <a:xfrm>
            <a:off x="5977221" y="5061098"/>
            <a:ext cx="272488" cy="323779"/>
          </a:xfrm>
          <a:prstGeom prst="downArrow">
            <a:avLst/>
          </a:prstGeom>
          <a:solidFill>
            <a:schemeClr val="accent5">
              <a:lumMod val="75000"/>
            </a:schemeClr>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386FD8EC-DA44-27DD-6287-0D20E8DEF8EC}"/>
              </a:ext>
            </a:extLst>
          </p:cNvPr>
          <p:cNvSpPr txBox="1"/>
          <p:nvPr/>
        </p:nvSpPr>
        <p:spPr>
          <a:xfrm>
            <a:off x="6211125" y="5084488"/>
            <a:ext cx="577025" cy="276999"/>
          </a:xfrm>
          <a:prstGeom prst="rect">
            <a:avLst/>
          </a:prstGeom>
          <a:noFill/>
        </p:spPr>
        <p:txBody>
          <a:bodyPr wrap="square" rtlCol="0">
            <a:spAutoFit/>
          </a:bodyPr>
          <a:lstStyle/>
          <a:p>
            <a:r>
              <a:rPr lang="zh-CN" altLang="en-US" sz="1200">
                <a:latin typeface="宋体" panose="02010600030101010101" pitchFamily="2" charset="-122"/>
                <a:ea typeface="宋体" panose="02010600030101010101" pitchFamily="2" charset="-122"/>
              </a:rPr>
              <a:t>应用</a:t>
            </a:r>
          </a:p>
        </p:txBody>
      </p:sp>
      <p:sp>
        <p:nvSpPr>
          <p:cNvPr id="51" name="箭头: 下 50">
            <a:extLst>
              <a:ext uri="{FF2B5EF4-FFF2-40B4-BE49-F238E27FC236}">
                <a16:creationId xmlns:a16="http://schemas.microsoft.com/office/drawing/2014/main" id="{C40CAA94-6CB9-4A6E-2796-9A2478721B8F}"/>
              </a:ext>
            </a:extLst>
          </p:cNvPr>
          <p:cNvSpPr/>
          <p:nvPr/>
        </p:nvSpPr>
        <p:spPr>
          <a:xfrm>
            <a:off x="5060248" y="3652129"/>
            <a:ext cx="272488" cy="267460"/>
          </a:xfrm>
          <a:prstGeom prst="downArrow">
            <a:avLst/>
          </a:prstGeom>
          <a:solidFill>
            <a:schemeClr val="accent5">
              <a:lumMod val="75000"/>
            </a:schemeClr>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箭头: 下 51">
            <a:extLst>
              <a:ext uri="{FF2B5EF4-FFF2-40B4-BE49-F238E27FC236}">
                <a16:creationId xmlns:a16="http://schemas.microsoft.com/office/drawing/2014/main" id="{C1AE6981-872B-4DC2-71EE-23768EC893AB}"/>
              </a:ext>
            </a:extLst>
          </p:cNvPr>
          <p:cNvSpPr/>
          <p:nvPr/>
        </p:nvSpPr>
        <p:spPr>
          <a:xfrm>
            <a:off x="6775475" y="3647715"/>
            <a:ext cx="272488" cy="267460"/>
          </a:xfrm>
          <a:prstGeom prst="downArrow">
            <a:avLst/>
          </a:prstGeom>
          <a:solidFill>
            <a:schemeClr val="accent5">
              <a:lumMod val="75000"/>
            </a:schemeClr>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62DE289A-C25C-BC2A-A582-DBCD553AE597}"/>
              </a:ext>
            </a:extLst>
          </p:cNvPr>
          <p:cNvSpPr txBox="1"/>
          <p:nvPr/>
        </p:nvSpPr>
        <p:spPr>
          <a:xfrm>
            <a:off x="5340666" y="3627678"/>
            <a:ext cx="1563123" cy="276999"/>
          </a:xfrm>
          <a:prstGeom prst="rect">
            <a:avLst/>
          </a:prstGeom>
          <a:noFill/>
        </p:spPr>
        <p:txBody>
          <a:bodyPr wrap="square" rtlCol="0">
            <a:spAutoFit/>
          </a:bodyPr>
          <a:lstStyle/>
          <a:p>
            <a:r>
              <a:rPr lang="zh-CN" altLang="en-US" sz="1200">
                <a:latin typeface="宋体" panose="02010600030101010101" pitchFamily="2" charset="-122"/>
                <a:ea typeface="宋体" panose="02010600030101010101" pitchFamily="2" charset="-122"/>
              </a:rPr>
              <a:t>时间维度</a:t>
            </a:r>
            <a:r>
              <a:rPr lang="en-US" altLang="zh-CN" sz="1200">
                <a:latin typeface="宋体" panose="02010600030101010101" pitchFamily="2" charset="-122"/>
                <a:ea typeface="宋体" panose="02010600030101010101" pitchFamily="2" charset="-122"/>
              </a:rPr>
              <a:t>+</a:t>
            </a:r>
            <a:r>
              <a:rPr lang="zh-CN" altLang="en-US" sz="1200">
                <a:latin typeface="宋体" panose="02010600030101010101" pitchFamily="2" charset="-122"/>
                <a:ea typeface="宋体" panose="02010600030101010101" pitchFamily="2" charset="-122"/>
              </a:rPr>
              <a:t>空间维度</a:t>
            </a:r>
          </a:p>
        </p:txBody>
      </p:sp>
      <p:sp>
        <p:nvSpPr>
          <p:cNvPr id="57" name="文本框 56">
            <a:extLst>
              <a:ext uri="{FF2B5EF4-FFF2-40B4-BE49-F238E27FC236}">
                <a16:creationId xmlns:a16="http://schemas.microsoft.com/office/drawing/2014/main" id="{FA04E103-68B7-1E71-6D5C-C78A33AB1752}"/>
              </a:ext>
            </a:extLst>
          </p:cNvPr>
          <p:cNvSpPr txBox="1"/>
          <p:nvPr/>
        </p:nvSpPr>
        <p:spPr>
          <a:xfrm>
            <a:off x="10205059" y="2778724"/>
            <a:ext cx="1927012" cy="1323439"/>
          </a:xfrm>
          <a:prstGeom prst="rect">
            <a:avLst/>
          </a:prstGeom>
          <a:noFill/>
        </p:spPr>
        <p:txBody>
          <a:bodyPr wrap="square" rtlCol="0">
            <a:spAutoFit/>
          </a:bodyPr>
          <a:lstStyle/>
          <a:p>
            <a:pPr marL="285750" indent="-285750">
              <a:buFont typeface="Arial" panose="020B0604020202020204" pitchFamily="34" charset="0"/>
              <a:buChar char="•"/>
            </a:pPr>
            <a:r>
              <a:rPr lang="zh-CN" altLang="en-US" sz="1600" b="1">
                <a:solidFill>
                  <a:srgbClr val="C00000"/>
                </a:solidFill>
                <a:latin typeface="宋体" panose="02010600030101010101" pitchFamily="2" charset="-122"/>
                <a:ea typeface="宋体" panose="02010600030101010101" pitchFamily="2" charset="-122"/>
              </a:rPr>
              <a:t>源设备和目标设备数据的分布存在较大不同</a:t>
            </a:r>
            <a:endParaRPr lang="en-US" altLang="zh-CN" sz="1600" b="1">
              <a:solidFill>
                <a:srgbClr val="C00000"/>
              </a:solidFill>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endParaRPr lang="en-US" altLang="zh-CN" sz="1600" b="1">
              <a:solidFill>
                <a:srgbClr val="C00000"/>
              </a:solidFill>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1600" b="1">
                <a:solidFill>
                  <a:srgbClr val="C00000"/>
                </a:solidFill>
                <a:latin typeface="宋体" panose="02010600030101010101" pitchFamily="2" charset="-122"/>
                <a:ea typeface="宋体" panose="02010600030101010101" pitchFamily="2" charset="-122"/>
              </a:rPr>
              <a:t>标注数据稀缺</a:t>
            </a:r>
          </a:p>
        </p:txBody>
      </p:sp>
    </p:spTree>
    <p:extLst>
      <p:ext uri="{BB962C8B-B14F-4D97-AF65-F5344CB8AC3E}">
        <p14:creationId xmlns:p14="http://schemas.microsoft.com/office/powerpoint/2010/main" val="3205982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研究背景</a:t>
            </a:r>
          </a:p>
        </p:txBody>
      </p:sp>
      <p:sp>
        <p:nvSpPr>
          <p:cNvPr id="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文献综述</a:t>
            </a:r>
          </a:p>
        </p:txBody>
      </p:sp>
      <p:sp>
        <p:nvSpPr>
          <p:cNvPr id="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技术路线</a:t>
            </a:r>
          </a:p>
        </p:txBody>
      </p:sp>
      <p:sp>
        <p:nvSpPr>
          <p:cNvPr id="1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2" name="直接连接符 1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等腰三角形 15"/>
          <p:cNvSpPr/>
          <p:nvPr/>
        </p:nvSpPr>
        <p:spPr>
          <a:xfrm rot="10800000">
            <a:off x="5202484"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1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19"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66" name="TextBox 23">
            <a:extLst>
              <a:ext uri="{FF2B5EF4-FFF2-40B4-BE49-F238E27FC236}">
                <a16:creationId xmlns:a16="http://schemas.microsoft.com/office/drawing/2014/main" id="{9A1D5ADB-122A-480D-94F5-CD664A94042C}"/>
              </a:ext>
            </a:extLst>
          </p:cNvPr>
          <p:cNvSpPr txBox="1"/>
          <p:nvPr/>
        </p:nvSpPr>
        <p:spPr>
          <a:xfrm>
            <a:off x="48411" y="944656"/>
            <a:ext cx="4237840" cy="422405"/>
          </a:xfrm>
          <a:prstGeom prst="rect">
            <a:avLst/>
          </a:prstGeom>
          <a:solidFill>
            <a:srgbClr val="0057AA"/>
          </a:solidFill>
          <a:ln w="19050">
            <a:noFill/>
          </a:ln>
        </p:spPr>
        <p:txBody>
          <a:bodyPr wrap="square" lIns="72000" tIns="72000" rIns="72000" bIns="72000" rtlCol="0">
            <a:spAutoFit/>
          </a:bodyPr>
          <a:lstStyle/>
          <a:p>
            <a:pPr>
              <a:defRPr/>
            </a:pPr>
            <a:r>
              <a:rPr lang="zh-CN" altLang="en-US">
                <a:solidFill>
                  <a:prstClr val="white"/>
                </a:solidFill>
                <a:latin typeface="黑体" panose="02010609060101010101" pitchFamily="49" charset="-122"/>
                <a:ea typeface="黑体" panose="02010609060101010101" pitchFamily="49" charset="-122"/>
              </a:rPr>
              <a:t>一</a:t>
            </a:r>
            <a:r>
              <a:rPr kumimoji="0" lang="en-US" altLang="zh-CN"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a:t>
            </a:r>
            <a:r>
              <a:rPr lang="zh-CN" altLang="en-US">
                <a:solidFill>
                  <a:prstClr val="white"/>
                </a:solidFill>
                <a:latin typeface="黑体" panose="02010609060101010101" pitchFamily="49" charset="-122"/>
                <a:ea typeface="黑体" panose="02010609060101010101" pitchFamily="49" charset="-122"/>
              </a:rPr>
              <a:t>改进宽度学习的增量式故障诊断方法</a:t>
            </a:r>
          </a:p>
        </p:txBody>
      </p:sp>
      <p:sp>
        <p:nvSpPr>
          <p:cNvPr id="30" name="矩形 29">
            <a:extLst>
              <a:ext uri="{FF2B5EF4-FFF2-40B4-BE49-F238E27FC236}">
                <a16:creationId xmlns:a16="http://schemas.microsoft.com/office/drawing/2014/main" id="{098781D8-AC6F-AB2B-C8F5-229A733D6201}"/>
              </a:ext>
            </a:extLst>
          </p:cNvPr>
          <p:cNvSpPr/>
          <p:nvPr/>
        </p:nvSpPr>
        <p:spPr>
          <a:xfrm>
            <a:off x="6838949" y="1506954"/>
            <a:ext cx="2266951" cy="4830346"/>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zh-CN" altLang="en-US"/>
          </a:p>
        </p:txBody>
      </p:sp>
      <p:sp>
        <p:nvSpPr>
          <p:cNvPr id="31" name="矩形 30">
            <a:extLst>
              <a:ext uri="{FF2B5EF4-FFF2-40B4-BE49-F238E27FC236}">
                <a16:creationId xmlns:a16="http://schemas.microsoft.com/office/drawing/2014/main" id="{E69A3518-D9CE-A86E-2087-90B6997A664A}"/>
              </a:ext>
            </a:extLst>
          </p:cNvPr>
          <p:cNvSpPr/>
          <p:nvPr/>
        </p:nvSpPr>
        <p:spPr>
          <a:xfrm>
            <a:off x="7118349" y="1665330"/>
            <a:ext cx="1708150" cy="528107"/>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数据预处理</a:t>
            </a:r>
          </a:p>
        </p:txBody>
      </p:sp>
      <p:sp>
        <p:nvSpPr>
          <p:cNvPr id="33" name="矩形 32">
            <a:extLst>
              <a:ext uri="{FF2B5EF4-FFF2-40B4-BE49-F238E27FC236}">
                <a16:creationId xmlns:a16="http://schemas.microsoft.com/office/drawing/2014/main" id="{CF0665AF-6E6C-211A-2D63-B0E32434CE5F}"/>
              </a:ext>
            </a:extLst>
          </p:cNvPr>
          <p:cNvSpPr/>
          <p:nvPr/>
        </p:nvSpPr>
        <p:spPr>
          <a:xfrm>
            <a:off x="7118349" y="3246738"/>
            <a:ext cx="1708149" cy="537584"/>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映射节点生成</a:t>
            </a:r>
          </a:p>
        </p:txBody>
      </p:sp>
      <p:sp>
        <p:nvSpPr>
          <p:cNvPr id="35" name="矩形 34">
            <a:extLst>
              <a:ext uri="{FF2B5EF4-FFF2-40B4-BE49-F238E27FC236}">
                <a16:creationId xmlns:a16="http://schemas.microsoft.com/office/drawing/2014/main" id="{1BFE3CA9-6E42-D7D5-0E03-A6DDCE841AFB}"/>
              </a:ext>
            </a:extLst>
          </p:cNvPr>
          <p:cNvSpPr/>
          <p:nvPr/>
        </p:nvSpPr>
        <p:spPr>
          <a:xfrm>
            <a:off x="7124700" y="4025706"/>
            <a:ext cx="1708149" cy="528106"/>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增强节点生成</a:t>
            </a:r>
          </a:p>
        </p:txBody>
      </p:sp>
      <p:sp>
        <p:nvSpPr>
          <p:cNvPr id="36" name="矩形 35">
            <a:extLst>
              <a:ext uri="{FF2B5EF4-FFF2-40B4-BE49-F238E27FC236}">
                <a16:creationId xmlns:a16="http://schemas.microsoft.com/office/drawing/2014/main" id="{DD1F03DD-6645-1DD6-095E-72EECDD04B35}"/>
              </a:ext>
            </a:extLst>
          </p:cNvPr>
          <p:cNvSpPr/>
          <p:nvPr/>
        </p:nvSpPr>
        <p:spPr>
          <a:xfrm>
            <a:off x="7124701" y="5683001"/>
            <a:ext cx="1708148" cy="543522"/>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模型验证</a:t>
            </a:r>
          </a:p>
        </p:txBody>
      </p:sp>
      <p:sp>
        <p:nvSpPr>
          <p:cNvPr id="37" name="矩形 36">
            <a:extLst>
              <a:ext uri="{FF2B5EF4-FFF2-40B4-BE49-F238E27FC236}">
                <a16:creationId xmlns:a16="http://schemas.microsoft.com/office/drawing/2014/main" id="{805EBAE7-413E-36C4-7256-7F84C5143629}"/>
              </a:ext>
            </a:extLst>
          </p:cNvPr>
          <p:cNvSpPr/>
          <p:nvPr/>
        </p:nvSpPr>
        <p:spPr>
          <a:xfrm>
            <a:off x="7124700" y="4822631"/>
            <a:ext cx="1708149" cy="592146"/>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求解模型权重</a:t>
            </a:r>
          </a:p>
        </p:txBody>
      </p:sp>
      <p:cxnSp>
        <p:nvCxnSpPr>
          <p:cNvPr id="38" name="直接箭头连接符 37">
            <a:extLst>
              <a:ext uri="{FF2B5EF4-FFF2-40B4-BE49-F238E27FC236}">
                <a16:creationId xmlns:a16="http://schemas.microsoft.com/office/drawing/2014/main" id="{8E999C04-CE49-5809-C824-0C559F33AC93}"/>
              </a:ext>
            </a:extLst>
          </p:cNvPr>
          <p:cNvCxnSpPr>
            <a:cxnSpLocks/>
            <a:stCxn id="37" idx="2"/>
            <a:endCxn id="36" idx="0"/>
          </p:cNvCxnSpPr>
          <p:nvPr/>
        </p:nvCxnSpPr>
        <p:spPr>
          <a:xfrm>
            <a:off x="7978775" y="5414777"/>
            <a:ext cx="0" cy="268224"/>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cxnSp>
        <p:nvCxnSpPr>
          <p:cNvPr id="39" name="直接箭头连接符 38">
            <a:extLst>
              <a:ext uri="{FF2B5EF4-FFF2-40B4-BE49-F238E27FC236}">
                <a16:creationId xmlns:a16="http://schemas.microsoft.com/office/drawing/2014/main" id="{E3B8C7D9-7EF7-0526-782D-A142FD704069}"/>
              </a:ext>
            </a:extLst>
          </p:cNvPr>
          <p:cNvCxnSpPr>
            <a:cxnSpLocks/>
            <a:stCxn id="35" idx="2"/>
            <a:endCxn id="37" idx="0"/>
          </p:cNvCxnSpPr>
          <p:nvPr/>
        </p:nvCxnSpPr>
        <p:spPr>
          <a:xfrm>
            <a:off x="7978775" y="4553812"/>
            <a:ext cx="0" cy="268819"/>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cxnSp>
        <p:nvCxnSpPr>
          <p:cNvPr id="58" name="直接箭头连接符 57">
            <a:extLst>
              <a:ext uri="{FF2B5EF4-FFF2-40B4-BE49-F238E27FC236}">
                <a16:creationId xmlns:a16="http://schemas.microsoft.com/office/drawing/2014/main" id="{DB5C65BF-251C-EE1D-177F-E37A21192233}"/>
              </a:ext>
            </a:extLst>
          </p:cNvPr>
          <p:cNvCxnSpPr>
            <a:cxnSpLocks/>
            <a:stCxn id="33" idx="2"/>
            <a:endCxn id="35" idx="0"/>
          </p:cNvCxnSpPr>
          <p:nvPr/>
        </p:nvCxnSpPr>
        <p:spPr>
          <a:xfrm>
            <a:off x="7972424" y="3784322"/>
            <a:ext cx="6351" cy="241384"/>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96" name="文本框 95">
            <a:extLst>
              <a:ext uri="{FF2B5EF4-FFF2-40B4-BE49-F238E27FC236}">
                <a16:creationId xmlns:a16="http://schemas.microsoft.com/office/drawing/2014/main" id="{7B863F8F-7FFD-529C-4BF4-142379DD3AB7}"/>
              </a:ext>
            </a:extLst>
          </p:cNvPr>
          <p:cNvSpPr txBox="1"/>
          <p:nvPr/>
        </p:nvSpPr>
        <p:spPr>
          <a:xfrm>
            <a:off x="6729414" y="1168400"/>
            <a:ext cx="1176337" cy="338554"/>
          </a:xfrm>
          <a:prstGeom prst="rect">
            <a:avLst/>
          </a:prstGeom>
          <a:noFill/>
        </p:spPr>
        <p:txBody>
          <a:bodyPr wrap="square">
            <a:spAutoFit/>
          </a:bodyPr>
          <a:lstStyle/>
          <a:p>
            <a:r>
              <a:rPr lang="zh-CN" altLang="en-US" sz="1600">
                <a:latin typeface="宋体" panose="02010600030101010101" pitchFamily="2" charset="-122"/>
                <a:ea typeface="宋体" panose="02010600030101010101" pitchFamily="2" charset="-122"/>
              </a:rPr>
              <a:t>宽度学习</a:t>
            </a:r>
          </a:p>
        </p:txBody>
      </p:sp>
      <p:sp>
        <p:nvSpPr>
          <p:cNvPr id="97" name="文本框 96">
            <a:extLst>
              <a:ext uri="{FF2B5EF4-FFF2-40B4-BE49-F238E27FC236}">
                <a16:creationId xmlns:a16="http://schemas.microsoft.com/office/drawing/2014/main" id="{F06F78EE-2639-0A6A-5149-7F02BD13161B}"/>
              </a:ext>
            </a:extLst>
          </p:cNvPr>
          <p:cNvSpPr txBox="1"/>
          <p:nvPr/>
        </p:nvSpPr>
        <p:spPr>
          <a:xfrm>
            <a:off x="323658" y="1909312"/>
            <a:ext cx="6271242" cy="3293209"/>
          </a:xfrm>
          <a:prstGeom prst="rect">
            <a:avLst/>
          </a:prstGeom>
          <a:noFill/>
        </p:spPr>
        <p:txBody>
          <a:bodyPr wrap="square" rtlCol="0">
            <a:spAutoFit/>
          </a:bodyPr>
          <a:lstStyle/>
          <a:p>
            <a:pPr marL="285750" indent="-285750">
              <a:buFont typeface="Arial" panose="020B0604020202020204" pitchFamily="34" charset="0"/>
              <a:buChar char="•"/>
            </a:pPr>
            <a:r>
              <a:rPr lang="zh-CN" altLang="en-US" sz="1600">
                <a:latin typeface="宋体" panose="02010600030101010101" pitchFamily="2" charset="-122"/>
                <a:ea typeface="宋体" panose="02010600030101010101" pitchFamily="2" charset="-122"/>
              </a:rPr>
              <a:t>宽度学习过横向扩展（增加节点）来适应新数据，这些新节点可以从新数据中提取特征，并将它们与现有模型结合，具有较好的</a:t>
            </a:r>
            <a:r>
              <a:rPr lang="zh-CN" altLang="en-US" sz="1600">
                <a:solidFill>
                  <a:srgbClr val="C00000"/>
                </a:solidFill>
                <a:latin typeface="宋体" panose="02010600030101010101" pitchFamily="2" charset="-122"/>
                <a:ea typeface="宋体" panose="02010600030101010101" pitchFamily="2" charset="-122"/>
              </a:rPr>
              <a:t>可塑性</a:t>
            </a:r>
            <a:r>
              <a:rPr lang="zh-CN" altLang="en-US" sz="1600">
                <a:latin typeface="宋体" panose="02010600030101010101" pitchFamily="2" charset="-122"/>
                <a:ea typeface="宋体" panose="02010600030101010101" pitchFamily="2" charset="-122"/>
              </a:rPr>
              <a:t>。该方法无需重新训练整个网络，不需复杂的反向传播和多次迭代训练。</a:t>
            </a:r>
            <a:r>
              <a:rPr lang="zh-CN" altLang="en-US" sz="1600">
                <a:solidFill>
                  <a:srgbClr val="C00000"/>
                </a:solidFill>
                <a:latin typeface="宋体" panose="02010600030101010101" pitchFamily="2" charset="-122"/>
                <a:ea typeface="宋体" panose="02010600030101010101" pitchFamily="2" charset="-122"/>
              </a:rPr>
              <a:t>计算效率大大提高</a:t>
            </a:r>
            <a:r>
              <a:rPr lang="zh-CN" altLang="en-US" sz="1600">
                <a:latin typeface="宋体" panose="02010600030101010101" pitchFamily="2" charset="-122"/>
                <a:ea typeface="宋体" panose="02010600030101010101" pitchFamily="2" charset="-122"/>
              </a:rPr>
              <a:t>。</a:t>
            </a:r>
            <a:endParaRPr lang="en-US" altLang="zh-CN" sz="160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endParaRPr lang="en-US" altLang="zh-CN" sz="160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endParaRPr lang="en-US" altLang="zh-CN" sz="1600">
              <a:latin typeface="宋体" panose="02010600030101010101" pitchFamily="2" charset="-122"/>
              <a:ea typeface="宋体" panose="02010600030101010101" pitchFamily="2" charset="-122"/>
            </a:endParaRPr>
          </a:p>
          <a:p>
            <a:endParaRPr lang="en-US" altLang="zh-CN" sz="1600">
              <a:latin typeface="宋体" panose="02010600030101010101" pitchFamily="2" charset="-122"/>
              <a:ea typeface="宋体" panose="02010600030101010101" pitchFamily="2" charset="-122"/>
            </a:endParaRPr>
          </a:p>
          <a:p>
            <a:pPr marL="285750" indent="-285750">
              <a:buFont typeface="Arial" panose="020B0604020202020204" pitchFamily="34" charset="0"/>
              <a:buChar char="•"/>
            </a:pPr>
            <a:r>
              <a:rPr lang="zh-CN" altLang="en-US" sz="1600">
                <a:solidFill>
                  <a:srgbClr val="C00000"/>
                </a:solidFill>
                <a:latin typeface="宋体" panose="02010600030101010101" pitchFamily="2" charset="-122"/>
                <a:ea typeface="宋体" panose="02010600030101010101" pitchFamily="2" charset="-122"/>
              </a:rPr>
              <a:t>特征提取：</a:t>
            </a:r>
            <a:r>
              <a:rPr lang="zh-CN" altLang="en-US" sz="1600">
                <a:latin typeface="宋体" panose="02010600030101010101" pitchFamily="2" charset="-122"/>
                <a:ea typeface="宋体" panose="02010600030101010101" pitchFamily="2" charset="-122"/>
              </a:rPr>
              <a:t>在节点生成前，额外添加一步特征提取，提取</a:t>
            </a:r>
            <a:r>
              <a:rPr lang="zh-CN" altLang="en-US" sz="1600">
                <a:solidFill>
                  <a:srgbClr val="C00000"/>
                </a:solidFill>
                <a:latin typeface="宋体" panose="02010600030101010101" pitchFamily="2" charset="-122"/>
                <a:ea typeface="宋体" panose="02010600030101010101" pitchFamily="2" charset="-122"/>
              </a:rPr>
              <a:t>时间域和频率域特征</a:t>
            </a:r>
            <a:r>
              <a:rPr lang="zh-CN" altLang="en-US" sz="1600">
                <a:latin typeface="宋体" panose="02010600030101010101" pitchFamily="2" charset="-122"/>
                <a:ea typeface="宋体" panose="02010600030101010101" pitchFamily="2" charset="-122"/>
              </a:rPr>
              <a:t>，使用</a:t>
            </a:r>
            <a:r>
              <a:rPr lang="zh-CN" altLang="en-US" sz="1600">
                <a:solidFill>
                  <a:srgbClr val="C00000"/>
                </a:solidFill>
                <a:latin typeface="宋体" panose="02010600030101010101" pitchFamily="2" charset="-122"/>
                <a:ea typeface="宋体" panose="02010600030101010101" pitchFamily="2" charset="-122"/>
              </a:rPr>
              <a:t>稀疏卷积提取多尺度的局部特征</a:t>
            </a:r>
            <a:r>
              <a:rPr lang="zh-CN" altLang="en-US" sz="1600">
                <a:latin typeface="宋体" panose="02010600030101010101" pitchFamily="2" charset="-122"/>
                <a:ea typeface="宋体" panose="02010600030101010101" pitchFamily="2" charset="-122"/>
              </a:rPr>
              <a:t>，捕捉设备在短时间内的局部变化。这些局部特征可以敏感地反映出机械设备的早期故障表现。</a:t>
            </a:r>
          </a:p>
          <a:p>
            <a:pPr marL="285750" indent="-285750">
              <a:buFont typeface="Arial" panose="020B0604020202020204" pitchFamily="34" charset="0"/>
              <a:buChar char="•"/>
            </a:pPr>
            <a:endParaRPr lang="en-US" altLang="zh-CN" sz="1600">
              <a:latin typeface="宋体" panose="02010600030101010101" pitchFamily="2" charset="-122"/>
              <a:ea typeface="宋体" panose="02010600030101010101" pitchFamily="2" charset="-122"/>
            </a:endParaRPr>
          </a:p>
          <a:p>
            <a:endParaRPr lang="en-US" altLang="zh-CN" sz="1600">
              <a:latin typeface="宋体" panose="02010600030101010101" pitchFamily="2" charset="-122"/>
              <a:ea typeface="宋体" panose="02010600030101010101" pitchFamily="2" charset="-122"/>
            </a:endParaRPr>
          </a:p>
        </p:txBody>
      </p:sp>
      <p:sp>
        <p:nvSpPr>
          <p:cNvPr id="98" name="右箭头 24">
            <a:extLst>
              <a:ext uri="{FF2B5EF4-FFF2-40B4-BE49-F238E27FC236}">
                <a16:creationId xmlns:a16="http://schemas.microsoft.com/office/drawing/2014/main" id="{5F712573-A684-9951-D28C-505892C1C262}"/>
              </a:ext>
            </a:extLst>
          </p:cNvPr>
          <p:cNvSpPr/>
          <p:nvPr/>
        </p:nvSpPr>
        <p:spPr>
          <a:xfrm>
            <a:off x="8826499" y="2632651"/>
            <a:ext cx="973138" cy="219893"/>
          </a:xfrm>
          <a:prstGeom prst="rightArrow">
            <a:avLst/>
          </a:prstGeom>
          <a:solidFill>
            <a:schemeClr val="accent1">
              <a:lumMod val="50000"/>
            </a:schemeClr>
          </a:solidFill>
          <a:ln w="12700" cap="flat" cmpd="sng" algn="ctr">
            <a:solidFill>
              <a:srgbClr val="ED7D31">
                <a:lumMod val="20000"/>
                <a:lumOff val="80000"/>
              </a:srgbClr>
            </a:solidFill>
            <a:prstDash val="solid"/>
            <a:miter lim="800000"/>
          </a:ln>
          <a:effectLst>
            <a:outerShdw blurRad="50800" dist="38100" dir="2700000" algn="tl" rotWithShape="0">
              <a:prstClr val="black">
                <a:alpha val="40000"/>
              </a:prst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1">
              <a:ln>
                <a:noFill/>
              </a:ln>
              <a:solidFill>
                <a:prstClr val="black"/>
              </a:solidFill>
              <a:effectLst/>
              <a:uLnTx/>
              <a:uFillTx/>
              <a:latin typeface="微软雅黑" panose="020B0503020204020204" pitchFamily="34" charset="-122"/>
              <a:ea typeface="等线" panose="02010600030101010101" charset="-122"/>
              <a:cs typeface="+mn-cs"/>
            </a:endParaRPr>
          </a:p>
        </p:txBody>
      </p:sp>
      <p:sp>
        <p:nvSpPr>
          <p:cNvPr id="99" name="矩形 98">
            <a:extLst>
              <a:ext uri="{FF2B5EF4-FFF2-40B4-BE49-F238E27FC236}">
                <a16:creationId xmlns:a16="http://schemas.microsoft.com/office/drawing/2014/main" id="{5E618E84-B77A-5BA4-B6DC-2FCA4111058D}"/>
              </a:ext>
            </a:extLst>
          </p:cNvPr>
          <p:cNvSpPr/>
          <p:nvPr/>
        </p:nvSpPr>
        <p:spPr>
          <a:xfrm>
            <a:off x="9805987" y="1909312"/>
            <a:ext cx="2266951" cy="3033528"/>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zh-CN" altLang="en-US"/>
          </a:p>
        </p:txBody>
      </p:sp>
      <p:pic>
        <p:nvPicPr>
          <p:cNvPr id="102" name="图片 101">
            <a:extLst>
              <a:ext uri="{FF2B5EF4-FFF2-40B4-BE49-F238E27FC236}">
                <a16:creationId xmlns:a16="http://schemas.microsoft.com/office/drawing/2014/main" id="{7F9CE494-9DA3-5687-D60C-0512AAEC3D4F}"/>
              </a:ext>
            </a:extLst>
          </p:cNvPr>
          <p:cNvPicPr>
            <a:picLocks noChangeAspect="1"/>
          </p:cNvPicPr>
          <p:nvPr/>
        </p:nvPicPr>
        <p:blipFill>
          <a:blip r:embed="rId4"/>
          <a:stretch>
            <a:fillRect/>
          </a:stretch>
        </p:blipFill>
        <p:spPr>
          <a:xfrm>
            <a:off x="10058400" y="3649790"/>
            <a:ext cx="1809942" cy="1172841"/>
          </a:xfrm>
          <a:prstGeom prst="rect">
            <a:avLst/>
          </a:prstGeom>
        </p:spPr>
      </p:pic>
      <p:cxnSp>
        <p:nvCxnSpPr>
          <p:cNvPr id="111" name="直接箭头连接符 110">
            <a:extLst>
              <a:ext uri="{FF2B5EF4-FFF2-40B4-BE49-F238E27FC236}">
                <a16:creationId xmlns:a16="http://schemas.microsoft.com/office/drawing/2014/main" id="{76B7DA3E-D570-167D-701C-BDF2597B6568}"/>
              </a:ext>
            </a:extLst>
          </p:cNvPr>
          <p:cNvCxnSpPr>
            <a:cxnSpLocks/>
            <a:endCxn id="114" idx="0"/>
          </p:cNvCxnSpPr>
          <p:nvPr/>
        </p:nvCxnSpPr>
        <p:spPr>
          <a:xfrm flipH="1">
            <a:off x="7972423" y="2193437"/>
            <a:ext cx="1" cy="291658"/>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sp>
        <p:nvSpPr>
          <p:cNvPr id="114" name="矩形 113">
            <a:extLst>
              <a:ext uri="{FF2B5EF4-FFF2-40B4-BE49-F238E27FC236}">
                <a16:creationId xmlns:a16="http://schemas.microsoft.com/office/drawing/2014/main" id="{151C5B4C-15AE-A56D-BEAE-F7AABD0CA551}"/>
              </a:ext>
            </a:extLst>
          </p:cNvPr>
          <p:cNvSpPr/>
          <p:nvPr/>
        </p:nvSpPr>
        <p:spPr>
          <a:xfrm>
            <a:off x="7118348" y="2485095"/>
            <a:ext cx="1708149" cy="537584"/>
          </a:xfrm>
          <a:prstGeom prst="rect">
            <a:avLst/>
          </a:prstGeom>
          <a:noFill/>
          <a:ln>
            <a:solidFill>
              <a:schemeClr val="tx1"/>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zh-CN" altLang="en-US" sz="1600">
                <a:solidFill>
                  <a:srgbClr val="C00000"/>
                </a:solidFill>
                <a:latin typeface="宋体" panose="02010600030101010101" pitchFamily="2" charset="-122"/>
                <a:ea typeface="宋体" panose="02010600030101010101" pitchFamily="2" charset="-122"/>
              </a:rPr>
              <a:t>特征提取 </a:t>
            </a:r>
          </a:p>
        </p:txBody>
      </p:sp>
      <p:cxnSp>
        <p:nvCxnSpPr>
          <p:cNvPr id="122" name="直接箭头连接符 121">
            <a:extLst>
              <a:ext uri="{FF2B5EF4-FFF2-40B4-BE49-F238E27FC236}">
                <a16:creationId xmlns:a16="http://schemas.microsoft.com/office/drawing/2014/main" id="{0EF6FE62-69A2-FC61-2C1F-36B97F31BC69}"/>
              </a:ext>
            </a:extLst>
          </p:cNvPr>
          <p:cNvCxnSpPr>
            <a:cxnSpLocks/>
            <a:stCxn id="114" idx="2"/>
            <a:endCxn id="33" idx="0"/>
          </p:cNvCxnSpPr>
          <p:nvPr/>
        </p:nvCxnSpPr>
        <p:spPr>
          <a:xfrm>
            <a:off x="7972423" y="3022679"/>
            <a:ext cx="1" cy="224059"/>
          </a:xfrm>
          <a:prstGeom prst="straightConnector1">
            <a:avLst/>
          </a:prstGeom>
          <a:ln w="38100">
            <a:solidFill>
              <a:schemeClr val="tx1"/>
            </a:solidFill>
            <a:tailEnd type="triangle"/>
          </a:ln>
        </p:spPr>
        <p:style>
          <a:lnRef idx="1">
            <a:schemeClr val="accent6"/>
          </a:lnRef>
          <a:fillRef idx="0">
            <a:schemeClr val="accent6"/>
          </a:fillRef>
          <a:effectRef idx="0">
            <a:schemeClr val="accent6"/>
          </a:effectRef>
          <a:fontRef idx="minor">
            <a:schemeClr val="tx1"/>
          </a:fontRef>
        </p:style>
      </p:cxnSp>
      <p:pic>
        <p:nvPicPr>
          <p:cNvPr id="127" name="图片 126">
            <a:extLst>
              <a:ext uri="{FF2B5EF4-FFF2-40B4-BE49-F238E27FC236}">
                <a16:creationId xmlns:a16="http://schemas.microsoft.com/office/drawing/2014/main" id="{DC96D872-BBF8-B26B-0664-0F449BF1B6BE}"/>
              </a:ext>
            </a:extLst>
          </p:cNvPr>
          <p:cNvPicPr>
            <a:picLocks noChangeAspect="1"/>
          </p:cNvPicPr>
          <p:nvPr/>
        </p:nvPicPr>
        <p:blipFill>
          <a:blip r:embed="rId5"/>
          <a:stretch>
            <a:fillRect/>
          </a:stretch>
        </p:blipFill>
        <p:spPr>
          <a:xfrm>
            <a:off x="10065907" y="2116235"/>
            <a:ext cx="1802435" cy="1130503"/>
          </a:xfrm>
          <a:prstGeom prst="rect">
            <a:avLst/>
          </a:prstGeom>
        </p:spPr>
      </p:pic>
    </p:spTree>
    <p:extLst>
      <p:ext uri="{BB962C8B-B14F-4D97-AF65-F5344CB8AC3E}">
        <p14:creationId xmlns:p14="http://schemas.microsoft.com/office/powerpoint/2010/main" val="1860102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研究背景</a:t>
            </a:r>
          </a:p>
        </p:txBody>
      </p:sp>
      <p:sp>
        <p:nvSpPr>
          <p:cNvPr id="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文献综述</a:t>
            </a:r>
          </a:p>
        </p:txBody>
      </p:sp>
      <p:sp>
        <p:nvSpPr>
          <p:cNvPr id="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技术路线</a:t>
            </a:r>
          </a:p>
        </p:txBody>
      </p:sp>
      <p:sp>
        <p:nvSpPr>
          <p:cNvPr id="1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2" name="直接连接符 1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等腰三角形 15"/>
          <p:cNvSpPr/>
          <p:nvPr/>
        </p:nvSpPr>
        <p:spPr>
          <a:xfrm rot="10800000">
            <a:off x="5202484"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1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19"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66" name="TextBox 23">
            <a:extLst>
              <a:ext uri="{FF2B5EF4-FFF2-40B4-BE49-F238E27FC236}">
                <a16:creationId xmlns:a16="http://schemas.microsoft.com/office/drawing/2014/main" id="{9A1D5ADB-122A-480D-94F5-CD664A94042C}"/>
              </a:ext>
            </a:extLst>
          </p:cNvPr>
          <p:cNvSpPr txBox="1"/>
          <p:nvPr/>
        </p:nvSpPr>
        <p:spPr>
          <a:xfrm>
            <a:off x="48410" y="944656"/>
            <a:ext cx="4935419" cy="422405"/>
          </a:xfrm>
          <a:prstGeom prst="rect">
            <a:avLst/>
          </a:prstGeom>
          <a:solidFill>
            <a:srgbClr val="0057AA"/>
          </a:solidFill>
          <a:ln w="19050">
            <a:noFill/>
          </a:ln>
        </p:spPr>
        <p:txBody>
          <a:bodyPr wrap="square" lIns="72000" tIns="72000" rIns="72000" bIns="72000" rtlCol="0">
            <a:spAutoFit/>
          </a:bodyPr>
          <a:lstStyle/>
          <a:p>
            <a:pPr>
              <a:defRPr/>
            </a:pPr>
            <a:r>
              <a:rPr lang="zh-CN" altLang="en-US">
                <a:solidFill>
                  <a:prstClr val="white"/>
                </a:solidFill>
                <a:latin typeface="黑体" panose="02010609060101010101" pitchFamily="49" charset="-122"/>
                <a:ea typeface="黑体" panose="02010609060101010101" pitchFamily="49" charset="-122"/>
              </a:rPr>
              <a:t>二</a:t>
            </a:r>
            <a:r>
              <a:rPr kumimoji="0" lang="en-US" altLang="zh-CN"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a:t>
            </a:r>
            <a:r>
              <a:rPr lang="zh-CN" altLang="en-US">
                <a:solidFill>
                  <a:prstClr val="white"/>
                </a:solidFill>
                <a:latin typeface="黑体" panose="02010609060101010101" pitchFamily="49" charset="-122"/>
                <a:ea typeface="黑体" panose="02010609060101010101" pitchFamily="49" charset="-122"/>
              </a:rPr>
              <a:t>改进域生成对抗网络的小样本故障诊断方法</a:t>
            </a:r>
            <a:endParaRPr lang="en-US" altLang="zh-CN">
              <a:solidFill>
                <a:prstClr val="white"/>
              </a:solidFill>
              <a:latin typeface="黑体" panose="02010609060101010101" pitchFamily="49" charset="-122"/>
              <a:ea typeface="黑体" panose="02010609060101010101" pitchFamily="49" charset="-122"/>
            </a:endParaRPr>
          </a:p>
        </p:txBody>
      </p:sp>
      <p:sp>
        <p:nvSpPr>
          <p:cNvPr id="70" name="文本框 69">
            <a:extLst>
              <a:ext uri="{FF2B5EF4-FFF2-40B4-BE49-F238E27FC236}">
                <a16:creationId xmlns:a16="http://schemas.microsoft.com/office/drawing/2014/main" id="{9E69D51F-3FAB-41A2-A4FF-F35E508EA0F2}"/>
              </a:ext>
            </a:extLst>
          </p:cNvPr>
          <p:cNvSpPr txBox="1"/>
          <p:nvPr/>
        </p:nvSpPr>
        <p:spPr>
          <a:xfrm>
            <a:off x="243289" y="1912004"/>
            <a:ext cx="5347813" cy="3598677"/>
          </a:xfrm>
          <a:prstGeom prst="rect">
            <a:avLst/>
          </a:prstGeom>
          <a:noFill/>
        </p:spPr>
        <p:txBody>
          <a:bodyPr wrap="square" rtlCol="0">
            <a:spAutoFit/>
          </a:bodyPr>
          <a:lstStyle/>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600" kern="0">
                <a:solidFill>
                  <a:prstClr val="black"/>
                </a:solidFill>
                <a:latin typeface="宋体" panose="02010600030101010101" pitchFamily="2" charset="-122"/>
                <a:ea typeface="宋体" panose="02010600030101010101" pitchFamily="2" charset="-122"/>
                <a:cs typeface="Times New Roman" panose="02020603050405020304" pitchFamily="18" charset="0"/>
              </a:rPr>
              <a:t>域生成对抗网</a:t>
            </a:r>
            <a:r>
              <a:rPr lang="zh-CN" altLang="en-US" sz="1600" kern="0">
                <a:solidFill>
                  <a:prstClr val="black"/>
                </a:solidFill>
                <a:latin typeface="Times New Roman" panose="02020603050405020304" pitchFamily="18" charset="0"/>
                <a:ea typeface="宋体" panose="02010600030101010101" pitchFamily="2" charset="-122"/>
                <a:cs typeface="Times New Roman" panose="02020603050405020304" pitchFamily="18" charset="0"/>
              </a:rPr>
              <a:t>络</a:t>
            </a:r>
            <a:r>
              <a:rPr lang="en-US" altLang="zh-CN" sz="1600" kern="0">
                <a:solidFill>
                  <a:prstClr val="black"/>
                </a:solidFill>
                <a:latin typeface="Times New Roman" panose="02020603050405020304" pitchFamily="18" charset="0"/>
                <a:ea typeface="宋体" panose="02010600030101010101" pitchFamily="2" charset="-122"/>
                <a:cs typeface="Times New Roman" panose="02020603050405020304" pitchFamily="18" charset="0"/>
              </a:rPr>
              <a:t>(DANN</a:t>
            </a:r>
            <a:r>
              <a:rPr lang="en-US" altLang="zh-CN" sz="1600" kern="0">
                <a:solidFill>
                  <a:prstClr val="black"/>
                </a:solidFill>
                <a:latin typeface="宋体" panose="02010600030101010101" pitchFamily="2" charset="-122"/>
                <a:ea typeface="宋体" panose="02010600030101010101" pitchFamily="2" charset="-122"/>
                <a:cs typeface="Times New Roman" panose="02020603050405020304" pitchFamily="18" charset="0"/>
              </a:rPr>
              <a:t>)</a:t>
            </a:r>
            <a:r>
              <a:rPr lang="zh-CN" altLang="en-US" sz="1600" kern="0">
                <a:solidFill>
                  <a:prstClr val="black"/>
                </a:solidFill>
                <a:latin typeface="宋体" panose="02010600030101010101" pitchFamily="2" charset="-122"/>
                <a:ea typeface="宋体" panose="02010600030101010101" pitchFamily="2" charset="-122"/>
                <a:cs typeface="Times New Roman" panose="02020603050405020304" pitchFamily="18" charset="0"/>
              </a:rPr>
              <a:t>通过对抗性训练，帮助模型学习到源域和目标域之间的共享特征，从而实现特征分布对齐，提高模型在目标域任务上的性能。</a:t>
            </a:r>
            <a:endParaRPr lang="en-US" altLang="zh-CN" sz="1600" kern="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lang="en-US" altLang="zh-CN" sz="1600" kern="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en-US" altLang="zh-CN" sz="1600" b="0" i="0" u="none" strike="noStrike" kern="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marL="285750" indent="-285750" algn="just">
              <a:lnSpc>
                <a:spcPct val="120000"/>
              </a:lnSpc>
              <a:buFont typeface="Arial" panose="020B0604020202020204" pitchFamily="34" charset="0"/>
              <a:buChar char="•"/>
              <a:defRPr/>
            </a:pPr>
            <a:r>
              <a:rPr lang="zh-CN" altLang="en-US" sz="1600">
                <a:solidFill>
                  <a:srgbClr val="C00000"/>
                </a:solidFill>
                <a:latin typeface="宋体" panose="02010600030101010101" pitchFamily="2" charset="-122"/>
                <a:ea typeface="宋体" panose="02010600030101010101" pitchFamily="2" charset="-122"/>
              </a:rPr>
              <a:t>改进</a:t>
            </a:r>
            <a:r>
              <a:rPr lang="en-US" altLang="zh-CN" sz="16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DANN</a:t>
            </a:r>
            <a:r>
              <a:rPr lang="zh-CN" altLang="en-US" sz="1600">
                <a:solidFill>
                  <a:srgbClr val="C00000"/>
                </a:solidFill>
                <a:latin typeface="宋体" panose="02010600030101010101" pitchFamily="2" charset="-122"/>
                <a:ea typeface="宋体" panose="02010600030101010101" pitchFamily="2" charset="-122"/>
              </a:rPr>
              <a:t>：</a:t>
            </a:r>
            <a:r>
              <a:rPr kumimoji="0" lang="zh-CN" altLang="en-US" sz="1600" b="0" i="0" u="none" strike="noStrike" kern="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将域生成对抗网络中分类器改进为目标域生成器，生成辅助目标域数据，缓解跨设备场景</a:t>
            </a:r>
            <a:r>
              <a:rPr kumimoji="0" lang="zh-CN" altLang="en-US" sz="1600" b="0" i="0" u="none" strike="noStrike" kern="0" cap="none" spc="0" normalizeH="0" baseline="0" noProof="0">
                <a:ln>
                  <a:noFill/>
                </a:ln>
                <a:solidFill>
                  <a:srgbClr val="C00000"/>
                </a:solidFill>
                <a:effectLst/>
                <a:uLnTx/>
                <a:uFillTx/>
                <a:latin typeface="宋体" panose="02010600030101010101" pitchFamily="2" charset="-122"/>
                <a:ea typeface="宋体" panose="02010600030101010101" pitchFamily="2" charset="-122"/>
                <a:cs typeface="Times New Roman" panose="02020603050405020304" pitchFamily="18" charset="0"/>
              </a:rPr>
              <a:t>数据稀缺</a:t>
            </a:r>
            <a:r>
              <a:rPr kumimoji="0" lang="zh-CN" altLang="en-US" sz="1600" b="0" i="0" u="none" strike="noStrike" kern="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rPr>
              <a:t>带来的影响。</a:t>
            </a:r>
            <a:endParaRPr kumimoji="0" lang="en-US" altLang="zh-CN" sz="1600" b="0" i="0" u="none" strike="noStrike" kern="0" cap="none" spc="0" normalizeH="0" baseline="0" noProof="0">
              <a:ln>
                <a:noFill/>
              </a:ln>
              <a:solidFill>
                <a:prstClr val="black"/>
              </a:solidFill>
              <a:effectLst/>
              <a:uLnTx/>
              <a:uFillTx/>
              <a:latin typeface="宋体" panose="02010600030101010101" pitchFamily="2" charset="-122"/>
              <a:ea typeface="宋体" panose="02010600030101010101" pitchFamily="2" charset="-122"/>
              <a:cs typeface="Times New Roman" panose="02020603050405020304" pitchFamily="18" charset="0"/>
            </a:endParaRPr>
          </a:p>
          <a:p>
            <a:pPr marL="285750" indent="-285750" algn="just">
              <a:lnSpc>
                <a:spcPct val="120000"/>
              </a:lnSpc>
              <a:buFont typeface="Arial" panose="020B0604020202020204" pitchFamily="34" charset="0"/>
              <a:buChar char="•"/>
              <a:defRPr/>
            </a:pPr>
            <a:endParaRPr lang="en-US" altLang="zh-CN" sz="1600" kern="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85750" indent="-285750" algn="just">
              <a:lnSpc>
                <a:spcPct val="120000"/>
              </a:lnSpc>
              <a:buFont typeface="Arial" panose="020B0604020202020204" pitchFamily="34" charset="0"/>
              <a:buChar char="•"/>
              <a:defRPr/>
            </a:pPr>
            <a:r>
              <a:rPr lang="zh-CN" altLang="en-US" sz="1600">
                <a:solidFill>
                  <a:srgbClr val="C00000"/>
                </a:solidFill>
                <a:latin typeface="宋体" panose="02010600030101010101" pitchFamily="2" charset="-122"/>
                <a:ea typeface="宋体" panose="02010600030101010101" pitchFamily="2" charset="-122"/>
              </a:rPr>
              <a:t>数据选择函数</a:t>
            </a:r>
            <a:r>
              <a:rPr lang="zh-CN" altLang="en-US" sz="1600" kern="0">
                <a:solidFill>
                  <a:prstClr val="black"/>
                </a:solidFill>
                <a:latin typeface="宋体" panose="02010600030101010101" pitchFamily="2" charset="-122"/>
                <a:ea typeface="宋体" panose="02010600030101010101" pitchFamily="2" charset="-122"/>
                <a:cs typeface="Times New Roman" panose="02020603050405020304" pitchFamily="18" charset="0"/>
              </a:rPr>
              <a:t>：通过数据选择函数进一步筛选辅助目标域数据中，不符合目标域的数据。</a:t>
            </a:r>
            <a:endParaRPr lang="zh-CN" altLang="en-US" sz="1600">
              <a:solidFill>
                <a:srgbClr val="C00000"/>
              </a:solidFill>
              <a:latin typeface="宋体" panose="02010600030101010101" pitchFamily="2" charset="-122"/>
              <a:ea typeface="宋体" panose="02010600030101010101" pitchFamily="2" charset="-122"/>
            </a:endParaRPr>
          </a:p>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zh-CN" altLang="en-US" sz="16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083656CB-898C-194C-DD1A-EEF5280F16F4}"/>
              </a:ext>
            </a:extLst>
          </p:cNvPr>
          <p:cNvSpPr/>
          <p:nvPr/>
        </p:nvSpPr>
        <p:spPr>
          <a:xfrm>
            <a:off x="6391068" y="1694148"/>
            <a:ext cx="2816432" cy="2833801"/>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D60B764-E8BF-588B-F89F-62DC44D6C8D6}"/>
              </a:ext>
            </a:extLst>
          </p:cNvPr>
          <p:cNvSpPr/>
          <p:nvPr/>
        </p:nvSpPr>
        <p:spPr>
          <a:xfrm>
            <a:off x="6514061" y="1841554"/>
            <a:ext cx="1161371" cy="3746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源域数据</a:t>
            </a:r>
          </a:p>
        </p:txBody>
      </p:sp>
      <p:sp>
        <p:nvSpPr>
          <p:cNvPr id="5" name="矩形 4">
            <a:extLst>
              <a:ext uri="{FF2B5EF4-FFF2-40B4-BE49-F238E27FC236}">
                <a16:creationId xmlns:a16="http://schemas.microsoft.com/office/drawing/2014/main" id="{311A83C7-0548-DF9A-F0AE-6CD8F9356868}"/>
              </a:ext>
            </a:extLst>
          </p:cNvPr>
          <p:cNvSpPr/>
          <p:nvPr/>
        </p:nvSpPr>
        <p:spPr>
          <a:xfrm>
            <a:off x="7836432" y="1841553"/>
            <a:ext cx="1214424" cy="3746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目标域数据</a:t>
            </a:r>
          </a:p>
        </p:txBody>
      </p:sp>
      <p:sp>
        <p:nvSpPr>
          <p:cNvPr id="21" name="矩形 20">
            <a:extLst>
              <a:ext uri="{FF2B5EF4-FFF2-40B4-BE49-F238E27FC236}">
                <a16:creationId xmlns:a16="http://schemas.microsoft.com/office/drawing/2014/main" id="{9BA27B38-5840-1379-D1FE-66CE7F99F298}"/>
              </a:ext>
            </a:extLst>
          </p:cNvPr>
          <p:cNvSpPr/>
          <p:nvPr/>
        </p:nvSpPr>
        <p:spPr>
          <a:xfrm>
            <a:off x="7017429" y="2558658"/>
            <a:ext cx="1435100"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rgbClr val="C00000"/>
                </a:solidFill>
                <a:latin typeface="宋体" panose="02010600030101010101" pitchFamily="2" charset="-122"/>
                <a:ea typeface="宋体" panose="02010600030101010101" pitchFamily="2" charset="-122"/>
              </a:rPr>
              <a:t>改进</a:t>
            </a:r>
            <a:r>
              <a:rPr lang="en-US" altLang="zh-CN" sz="1600">
                <a:solidFill>
                  <a:srgbClr val="C00000"/>
                </a:solidFill>
                <a:latin typeface="Times New Roman" panose="02020603050405020304" pitchFamily="18" charset="0"/>
                <a:ea typeface="宋体" panose="02010600030101010101" pitchFamily="2" charset="-122"/>
                <a:cs typeface="Times New Roman" panose="02020603050405020304" pitchFamily="18" charset="0"/>
              </a:rPr>
              <a:t>DANN</a:t>
            </a:r>
            <a:endParaRPr lang="zh-CN" altLang="en-US" sz="160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矩形 25">
            <a:extLst>
              <a:ext uri="{FF2B5EF4-FFF2-40B4-BE49-F238E27FC236}">
                <a16:creationId xmlns:a16="http://schemas.microsoft.com/office/drawing/2014/main" id="{871D8E1B-12D0-53CA-1D3F-8B5B2C7FF6A0}"/>
              </a:ext>
            </a:extLst>
          </p:cNvPr>
          <p:cNvSpPr/>
          <p:nvPr/>
        </p:nvSpPr>
        <p:spPr>
          <a:xfrm>
            <a:off x="6868472" y="3260093"/>
            <a:ext cx="1724097"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辅助目标域数据</a:t>
            </a:r>
          </a:p>
        </p:txBody>
      </p:sp>
      <p:cxnSp>
        <p:nvCxnSpPr>
          <p:cNvPr id="27" name="直接箭头连接符 26">
            <a:extLst>
              <a:ext uri="{FF2B5EF4-FFF2-40B4-BE49-F238E27FC236}">
                <a16:creationId xmlns:a16="http://schemas.microsoft.com/office/drawing/2014/main" id="{76B8A39D-277E-0D9D-78B2-35A378E9A80C}"/>
              </a:ext>
            </a:extLst>
          </p:cNvPr>
          <p:cNvCxnSpPr>
            <a:cxnSpLocks/>
            <a:stCxn id="21" idx="2"/>
            <a:endCxn id="26" idx="0"/>
          </p:cNvCxnSpPr>
          <p:nvPr/>
        </p:nvCxnSpPr>
        <p:spPr>
          <a:xfrm flipH="1">
            <a:off x="7730521" y="2962006"/>
            <a:ext cx="4458" cy="2980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52C92972-AE7F-60D2-5AB1-AC21BC4A810E}"/>
              </a:ext>
            </a:extLst>
          </p:cNvPr>
          <p:cNvSpPr/>
          <p:nvPr/>
        </p:nvSpPr>
        <p:spPr>
          <a:xfrm>
            <a:off x="6695869" y="4952662"/>
            <a:ext cx="2173812" cy="1786633"/>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9F892BC7-3096-586D-599E-4410E169EC39}"/>
              </a:ext>
            </a:extLst>
          </p:cNvPr>
          <p:cNvSpPr/>
          <p:nvPr/>
        </p:nvSpPr>
        <p:spPr>
          <a:xfrm>
            <a:off x="7008544" y="4049823"/>
            <a:ext cx="1435100"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rgbClr val="C00000"/>
                </a:solidFill>
                <a:latin typeface="宋体" panose="02010600030101010101" pitchFamily="2" charset="-122"/>
                <a:ea typeface="宋体" panose="02010600030101010101" pitchFamily="2" charset="-122"/>
              </a:rPr>
              <a:t>数据选择函数</a:t>
            </a:r>
          </a:p>
        </p:txBody>
      </p:sp>
      <p:sp>
        <p:nvSpPr>
          <p:cNvPr id="46" name="矩形 45">
            <a:extLst>
              <a:ext uri="{FF2B5EF4-FFF2-40B4-BE49-F238E27FC236}">
                <a16:creationId xmlns:a16="http://schemas.microsoft.com/office/drawing/2014/main" id="{90A9AAA0-DCDC-84AE-4FE1-0B5D69F7B1AB}"/>
              </a:ext>
            </a:extLst>
          </p:cNvPr>
          <p:cNvSpPr/>
          <p:nvPr/>
        </p:nvSpPr>
        <p:spPr>
          <a:xfrm>
            <a:off x="6804713" y="5086225"/>
            <a:ext cx="1842761"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最优目标域数据集</a:t>
            </a:r>
          </a:p>
        </p:txBody>
      </p:sp>
      <p:sp>
        <p:nvSpPr>
          <p:cNvPr id="47" name="矩形 46">
            <a:extLst>
              <a:ext uri="{FF2B5EF4-FFF2-40B4-BE49-F238E27FC236}">
                <a16:creationId xmlns:a16="http://schemas.microsoft.com/office/drawing/2014/main" id="{87CED564-068D-3E99-3DBE-F3AAC1A5ECAA}"/>
              </a:ext>
            </a:extLst>
          </p:cNvPr>
          <p:cNvSpPr/>
          <p:nvPr/>
        </p:nvSpPr>
        <p:spPr>
          <a:xfrm>
            <a:off x="6912330" y="5715161"/>
            <a:ext cx="1640840" cy="3424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目标域模型训练</a:t>
            </a:r>
          </a:p>
        </p:txBody>
      </p:sp>
      <p:cxnSp>
        <p:nvCxnSpPr>
          <p:cNvPr id="51" name="直接箭头连接符 50">
            <a:extLst>
              <a:ext uri="{FF2B5EF4-FFF2-40B4-BE49-F238E27FC236}">
                <a16:creationId xmlns:a16="http://schemas.microsoft.com/office/drawing/2014/main" id="{FA80D8C8-3C25-0376-F79C-FD73D499CEB7}"/>
              </a:ext>
            </a:extLst>
          </p:cNvPr>
          <p:cNvCxnSpPr>
            <a:cxnSpLocks/>
            <a:stCxn id="40" idx="2"/>
            <a:endCxn id="46" idx="0"/>
          </p:cNvCxnSpPr>
          <p:nvPr/>
        </p:nvCxnSpPr>
        <p:spPr>
          <a:xfrm>
            <a:off x="7726094" y="4453171"/>
            <a:ext cx="0" cy="63305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CAC07CCC-1756-96F0-B970-AF24442AF702}"/>
              </a:ext>
            </a:extLst>
          </p:cNvPr>
          <p:cNvCxnSpPr>
            <a:cxnSpLocks/>
            <a:stCxn id="46" idx="2"/>
            <a:endCxn id="47" idx="0"/>
          </p:cNvCxnSpPr>
          <p:nvPr/>
        </p:nvCxnSpPr>
        <p:spPr>
          <a:xfrm>
            <a:off x="7726094" y="5489573"/>
            <a:ext cx="6656" cy="22558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86943F56-1309-A6E5-F0A5-25C3D23043C2}"/>
              </a:ext>
            </a:extLst>
          </p:cNvPr>
          <p:cNvSpPr/>
          <p:nvPr/>
        </p:nvSpPr>
        <p:spPr>
          <a:xfrm>
            <a:off x="6912331" y="6269524"/>
            <a:ext cx="1640839" cy="34245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latin typeface="宋体" panose="02010600030101010101" pitchFamily="2" charset="-122"/>
                <a:ea typeface="宋体" panose="02010600030101010101" pitchFamily="2" charset="-122"/>
              </a:rPr>
              <a:t>目标域模型评估</a:t>
            </a:r>
          </a:p>
        </p:txBody>
      </p:sp>
      <p:cxnSp>
        <p:nvCxnSpPr>
          <p:cNvPr id="91" name="直接箭头连接符 90">
            <a:extLst>
              <a:ext uri="{FF2B5EF4-FFF2-40B4-BE49-F238E27FC236}">
                <a16:creationId xmlns:a16="http://schemas.microsoft.com/office/drawing/2014/main" id="{FC8857D1-0550-D7EA-6F5D-8B2F56FF84BA}"/>
              </a:ext>
            </a:extLst>
          </p:cNvPr>
          <p:cNvCxnSpPr>
            <a:cxnSpLocks/>
            <a:stCxn id="47" idx="2"/>
            <a:endCxn id="84" idx="0"/>
          </p:cNvCxnSpPr>
          <p:nvPr/>
        </p:nvCxnSpPr>
        <p:spPr>
          <a:xfrm>
            <a:off x="7732750" y="6057615"/>
            <a:ext cx="1" cy="21190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4784302B-8277-503A-F132-7291885C8AEE}"/>
              </a:ext>
            </a:extLst>
          </p:cNvPr>
          <p:cNvSpPr txBox="1"/>
          <p:nvPr/>
        </p:nvSpPr>
        <p:spPr>
          <a:xfrm>
            <a:off x="6317984" y="1299283"/>
            <a:ext cx="1005403" cy="338554"/>
          </a:xfrm>
          <a:prstGeom prst="rect">
            <a:avLst/>
          </a:prstGeom>
          <a:noFill/>
        </p:spPr>
        <p:txBody>
          <a:bodyPr wrap="none" rtlCol="0">
            <a:spAutoFit/>
          </a:bodyPr>
          <a:lstStyle/>
          <a:p>
            <a:r>
              <a:rPr lang="zh-CN" altLang="en-US" sz="1600">
                <a:latin typeface="宋体" panose="02010600030101010101" pitchFamily="2" charset="-122"/>
                <a:ea typeface="宋体" panose="02010600030101010101" pitchFamily="2" charset="-122"/>
              </a:rPr>
              <a:t>数据增强</a:t>
            </a:r>
          </a:p>
        </p:txBody>
      </p:sp>
      <p:sp>
        <p:nvSpPr>
          <p:cNvPr id="100" name="文本框 99">
            <a:extLst>
              <a:ext uri="{FF2B5EF4-FFF2-40B4-BE49-F238E27FC236}">
                <a16:creationId xmlns:a16="http://schemas.microsoft.com/office/drawing/2014/main" id="{257FAED2-4384-3A50-746F-64CD279BBF3A}"/>
              </a:ext>
            </a:extLst>
          </p:cNvPr>
          <p:cNvSpPr txBox="1"/>
          <p:nvPr/>
        </p:nvSpPr>
        <p:spPr>
          <a:xfrm>
            <a:off x="6661839" y="4549087"/>
            <a:ext cx="1064255" cy="338554"/>
          </a:xfrm>
          <a:prstGeom prst="rect">
            <a:avLst/>
          </a:prstGeom>
          <a:noFill/>
        </p:spPr>
        <p:txBody>
          <a:bodyPr wrap="square">
            <a:spAutoFit/>
          </a:bodyPr>
          <a:lstStyle/>
          <a:p>
            <a:r>
              <a:rPr lang="zh-CN" altLang="en-US" sz="1600">
                <a:latin typeface="宋体" panose="02010600030101010101" pitchFamily="2" charset="-122"/>
                <a:ea typeface="宋体" panose="02010600030101010101" pitchFamily="2" charset="-122"/>
              </a:rPr>
              <a:t>模型训练</a:t>
            </a:r>
          </a:p>
        </p:txBody>
      </p:sp>
      <p:cxnSp>
        <p:nvCxnSpPr>
          <p:cNvPr id="110" name="直接箭头连接符 109">
            <a:extLst>
              <a:ext uri="{FF2B5EF4-FFF2-40B4-BE49-F238E27FC236}">
                <a16:creationId xmlns:a16="http://schemas.microsoft.com/office/drawing/2014/main" id="{5F60AB35-EDB9-A47C-5217-1622D9D6B745}"/>
              </a:ext>
            </a:extLst>
          </p:cNvPr>
          <p:cNvCxnSpPr>
            <a:cxnSpLocks/>
            <a:stCxn id="26" idx="2"/>
            <a:endCxn id="40" idx="0"/>
          </p:cNvCxnSpPr>
          <p:nvPr/>
        </p:nvCxnSpPr>
        <p:spPr>
          <a:xfrm flipH="1">
            <a:off x="7726094" y="3663441"/>
            <a:ext cx="4427" cy="3863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连接符: 肘形 124">
            <a:extLst>
              <a:ext uri="{FF2B5EF4-FFF2-40B4-BE49-F238E27FC236}">
                <a16:creationId xmlns:a16="http://schemas.microsoft.com/office/drawing/2014/main" id="{F18EBD2E-937C-EBCF-B647-182DE6A85FFC}"/>
              </a:ext>
            </a:extLst>
          </p:cNvPr>
          <p:cNvCxnSpPr>
            <a:stCxn id="3" idx="2"/>
            <a:endCxn id="21" idx="0"/>
          </p:cNvCxnSpPr>
          <p:nvPr/>
        </p:nvCxnSpPr>
        <p:spPr>
          <a:xfrm rot="16200000" flipH="1">
            <a:off x="7243636" y="2067315"/>
            <a:ext cx="342454" cy="640232"/>
          </a:xfrm>
          <a:prstGeom prst="bent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连接符: 肘形 133">
            <a:extLst>
              <a:ext uri="{FF2B5EF4-FFF2-40B4-BE49-F238E27FC236}">
                <a16:creationId xmlns:a16="http://schemas.microsoft.com/office/drawing/2014/main" id="{386C2905-EAFB-A8DD-3AE4-A12880EBCA25}"/>
              </a:ext>
            </a:extLst>
          </p:cNvPr>
          <p:cNvCxnSpPr>
            <a:cxnSpLocks/>
            <a:stCxn id="5" idx="2"/>
            <a:endCxn id="21" idx="0"/>
          </p:cNvCxnSpPr>
          <p:nvPr/>
        </p:nvCxnSpPr>
        <p:spPr>
          <a:xfrm rot="5400000">
            <a:off x="7918085" y="2033098"/>
            <a:ext cx="342455" cy="70866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7" name="右箭头 24">
            <a:extLst>
              <a:ext uri="{FF2B5EF4-FFF2-40B4-BE49-F238E27FC236}">
                <a16:creationId xmlns:a16="http://schemas.microsoft.com/office/drawing/2014/main" id="{28FE8735-657F-F509-20DA-698844245D54}"/>
              </a:ext>
            </a:extLst>
          </p:cNvPr>
          <p:cNvSpPr/>
          <p:nvPr/>
        </p:nvSpPr>
        <p:spPr>
          <a:xfrm>
            <a:off x="8452529" y="2653818"/>
            <a:ext cx="973138" cy="219893"/>
          </a:xfrm>
          <a:prstGeom prst="rightArrow">
            <a:avLst/>
          </a:prstGeom>
          <a:solidFill>
            <a:schemeClr val="accent1">
              <a:lumMod val="50000"/>
            </a:schemeClr>
          </a:solidFill>
          <a:ln w="12700" cap="flat" cmpd="sng" algn="ctr">
            <a:solidFill>
              <a:srgbClr val="ED7D31">
                <a:lumMod val="20000"/>
                <a:lumOff val="80000"/>
              </a:srgbClr>
            </a:solidFill>
            <a:prstDash val="solid"/>
            <a:miter lim="800000"/>
          </a:ln>
          <a:effectLst>
            <a:outerShdw blurRad="50800" dist="38100" dir="2700000" algn="tl" rotWithShape="0">
              <a:prstClr val="black">
                <a:alpha val="40000"/>
              </a:prst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1">
              <a:ln>
                <a:noFill/>
              </a:ln>
              <a:solidFill>
                <a:prstClr val="black"/>
              </a:solidFill>
              <a:effectLst/>
              <a:uLnTx/>
              <a:uFillTx/>
              <a:latin typeface="微软雅黑" panose="020B0503020204020204" pitchFamily="34" charset="-122"/>
              <a:ea typeface="等线" panose="02010600030101010101" charset="-122"/>
              <a:cs typeface="+mn-cs"/>
            </a:endParaRPr>
          </a:p>
        </p:txBody>
      </p:sp>
      <p:sp>
        <p:nvSpPr>
          <p:cNvPr id="138" name="右箭头 24">
            <a:extLst>
              <a:ext uri="{FF2B5EF4-FFF2-40B4-BE49-F238E27FC236}">
                <a16:creationId xmlns:a16="http://schemas.microsoft.com/office/drawing/2014/main" id="{835362DF-18D6-1126-CE45-EFE243E71E7B}"/>
              </a:ext>
            </a:extLst>
          </p:cNvPr>
          <p:cNvSpPr/>
          <p:nvPr/>
        </p:nvSpPr>
        <p:spPr>
          <a:xfrm>
            <a:off x="8452529" y="4161035"/>
            <a:ext cx="973138" cy="219893"/>
          </a:xfrm>
          <a:prstGeom prst="rightArrow">
            <a:avLst/>
          </a:prstGeom>
          <a:solidFill>
            <a:schemeClr val="accent1">
              <a:lumMod val="50000"/>
            </a:schemeClr>
          </a:solidFill>
          <a:ln w="12700" cap="flat" cmpd="sng" algn="ctr">
            <a:solidFill>
              <a:srgbClr val="ED7D31">
                <a:lumMod val="20000"/>
                <a:lumOff val="80000"/>
              </a:srgbClr>
            </a:solidFill>
            <a:prstDash val="solid"/>
            <a:miter lim="800000"/>
          </a:ln>
          <a:effectLst>
            <a:outerShdw blurRad="50800" dist="38100" dir="2700000" algn="tl" rotWithShape="0">
              <a:prstClr val="black">
                <a:alpha val="40000"/>
              </a:prst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1">
              <a:ln>
                <a:noFill/>
              </a:ln>
              <a:solidFill>
                <a:prstClr val="black"/>
              </a:solidFill>
              <a:effectLst/>
              <a:uLnTx/>
              <a:uFillTx/>
              <a:latin typeface="微软雅黑" panose="020B0503020204020204" pitchFamily="34" charset="-122"/>
              <a:ea typeface="等线" panose="02010600030101010101" charset="-122"/>
              <a:cs typeface="+mn-cs"/>
            </a:endParaRPr>
          </a:p>
        </p:txBody>
      </p:sp>
      <p:pic>
        <p:nvPicPr>
          <p:cNvPr id="139" name="图片 138">
            <a:extLst>
              <a:ext uri="{FF2B5EF4-FFF2-40B4-BE49-F238E27FC236}">
                <a16:creationId xmlns:a16="http://schemas.microsoft.com/office/drawing/2014/main" id="{68997716-8E6D-B8C7-9300-AD0BE1961DF1}"/>
              </a:ext>
            </a:extLst>
          </p:cNvPr>
          <p:cNvPicPr>
            <a:picLocks noChangeAspect="1"/>
          </p:cNvPicPr>
          <p:nvPr/>
        </p:nvPicPr>
        <p:blipFill>
          <a:blip r:embed="rId4"/>
          <a:stretch>
            <a:fillRect/>
          </a:stretch>
        </p:blipFill>
        <p:spPr>
          <a:xfrm>
            <a:off x="9502568" y="1912004"/>
            <a:ext cx="2521258" cy="1657786"/>
          </a:xfrm>
          <a:prstGeom prst="rect">
            <a:avLst/>
          </a:prstGeom>
        </p:spPr>
      </p:pic>
      <p:sp>
        <p:nvSpPr>
          <p:cNvPr id="140" name="矩形 139">
            <a:extLst>
              <a:ext uri="{FF2B5EF4-FFF2-40B4-BE49-F238E27FC236}">
                <a16:creationId xmlns:a16="http://schemas.microsoft.com/office/drawing/2014/main" id="{7B6EC6B4-A7FF-8026-5EAF-84C19355C177}"/>
              </a:ext>
            </a:extLst>
          </p:cNvPr>
          <p:cNvSpPr/>
          <p:nvPr/>
        </p:nvSpPr>
        <p:spPr>
          <a:xfrm>
            <a:off x="9450191" y="1912004"/>
            <a:ext cx="2660373" cy="1751437"/>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矩形 140">
            <a:extLst>
              <a:ext uri="{FF2B5EF4-FFF2-40B4-BE49-F238E27FC236}">
                <a16:creationId xmlns:a16="http://schemas.microsoft.com/office/drawing/2014/main" id="{3997496F-7365-9D99-4D78-319BBE3534E5}"/>
              </a:ext>
            </a:extLst>
          </p:cNvPr>
          <p:cNvSpPr/>
          <p:nvPr/>
        </p:nvSpPr>
        <p:spPr>
          <a:xfrm>
            <a:off x="9450190" y="3893980"/>
            <a:ext cx="2660373" cy="712922"/>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2" name="图片 141">
            <a:extLst>
              <a:ext uri="{FF2B5EF4-FFF2-40B4-BE49-F238E27FC236}">
                <a16:creationId xmlns:a16="http://schemas.microsoft.com/office/drawing/2014/main" id="{ED4ADC1D-C5BB-41C6-0313-6D3290E24A69}"/>
              </a:ext>
            </a:extLst>
          </p:cNvPr>
          <p:cNvPicPr>
            <a:picLocks noChangeAspect="1"/>
          </p:cNvPicPr>
          <p:nvPr/>
        </p:nvPicPr>
        <p:blipFill>
          <a:blip r:embed="rId5"/>
          <a:stretch>
            <a:fillRect/>
          </a:stretch>
        </p:blipFill>
        <p:spPr>
          <a:xfrm>
            <a:off x="9450190" y="4086174"/>
            <a:ext cx="2647445" cy="265844"/>
          </a:xfrm>
          <a:prstGeom prst="rect">
            <a:avLst/>
          </a:prstGeom>
        </p:spPr>
      </p:pic>
    </p:spTree>
    <p:extLst>
      <p:ext uri="{BB962C8B-B14F-4D97-AF65-F5344CB8AC3E}">
        <p14:creationId xmlns:p14="http://schemas.microsoft.com/office/powerpoint/2010/main" val="849034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研究背景</a:t>
            </a:r>
          </a:p>
        </p:txBody>
      </p:sp>
      <p:sp>
        <p:nvSpPr>
          <p:cNvPr id="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文献综述</a:t>
            </a:r>
          </a:p>
        </p:txBody>
      </p:sp>
      <p:sp>
        <p:nvSpPr>
          <p:cNvPr id="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技术路线</a:t>
            </a:r>
          </a:p>
        </p:txBody>
      </p:sp>
      <p:sp>
        <p:nvSpPr>
          <p:cNvPr id="1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2" name="直接连接符 1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等腰三角形 15"/>
          <p:cNvSpPr/>
          <p:nvPr/>
        </p:nvSpPr>
        <p:spPr>
          <a:xfrm rot="10800000">
            <a:off x="5202484"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1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19"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66" name="TextBox 23">
            <a:extLst>
              <a:ext uri="{FF2B5EF4-FFF2-40B4-BE49-F238E27FC236}">
                <a16:creationId xmlns:a16="http://schemas.microsoft.com/office/drawing/2014/main" id="{9A1D5ADB-122A-480D-94F5-CD664A94042C}"/>
              </a:ext>
            </a:extLst>
          </p:cNvPr>
          <p:cNvSpPr txBox="1"/>
          <p:nvPr/>
        </p:nvSpPr>
        <p:spPr>
          <a:xfrm>
            <a:off x="48410" y="944656"/>
            <a:ext cx="4935419" cy="422405"/>
          </a:xfrm>
          <a:prstGeom prst="rect">
            <a:avLst/>
          </a:prstGeom>
          <a:solidFill>
            <a:srgbClr val="0057AA"/>
          </a:solidFill>
          <a:ln w="19050">
            <a:noFill/>
          </a:ln>
        </p:spPr>
        <p:txBody>
          <a:bodyPr wrap="square" lIns="72000" tIns="72000" rIns="72000" bIns="72000" rtlCol="0">
            <a:spAutoFit/>
          </a:bodyPr>
          <a:lstStyle/>
          <a:p>
            <a:pPr>
              <a:defRPr/>
            </a:pPr>
            <a:r>
              <a:rPr lang="zh-CN" altLang="en-US">
                <a:solidFill>
                  <a:prstClr val="white"/>
                </a:solidFill>
                <a:latin typeface="黑体" panose="02010609060101010101" pitchFamily="49" charset="-122"/>
                <a:ea typeface="黑体" panose="02010609060101010101" pitchFamily="49" charset="-122"/>
              </a:rPr>
              <a:t>三</a:t>
            </a:r>
            <a:r>
              <a:rPr kumimoji="0" lang="en-US" altLang="zh-CN"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a:t>
            </a:r>
            <a:r>
              <a:rPr kumimoji="0" lang="zh-CN" altLang="en-US"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基于自适应原型的</a:t>
            </a:r>
            <a:r>
              <a:rPr lang="zh-CN" altLang="en-US">
                <a:solidFill>
                  <a:prstClr val="white"/>
                </a:solidFill>
                <a:latin typeface="黑体" panose="02010609060101010101" pitchFamily="49" charset="-122"/>
                <a:ea typeface="黑体" panose="02010609060101010101" pitchFamily="49" charset="-122"/>
              </a:rPr>
              <a:t>小样本增量故障诊断方法</a:t>
            </a:r>
            <a:endParaRPr lang="en-US" altLang="zh-CN">
              <a:solidFill>
                <a:prstClr val="white"/>
              </a:solidFill>
              <a:latin typeface="黑体" panose="02010609060101010101" pitchFamily="49" charset="-122"/>
              <a:ea typeface="黑体" panose="02010609060101010101" pitchFamily="49" charset="-122"/>
            </a:endParaRPr>
          </a:p>
        </p:txBody>
      </p:sp>
      <p:sp>
        <p:nvSpPr>
          <p:cNvPr id="70" name="文本框 69">
            <a:extLst>
              <a:ext uri="{FF2B5EF4-FFF2-40B4-BE49-F238E27FC236}">
                <a16:creationId xmlns:a16="http://schemas.microsoft.com/office/drawing/2014/main" id="{9E69D51F-3FAB-41A2-A4FF-F35E508EA0F2}"/>
              </a:ext>
            </a:extLst>
          </p:cNvPr>
          <p:cNvSpPr txBox="1"/>
          <p:nvPr/>
        </p:nvSpPr>
        <p:spPr>
          <a:xfrm>
            <a:off x="243289" y="1912004"/>
            <a:ext cx="4557311" cy="3303212"/>
          </a:xfrm>
          <a:prstGeom prst="rect">
            <a:avLst/>
          </a:prstGeom>
          <a:noFill/>
        </p:spPr>
        <p:txBody>
          <a:bodyPr wrap="square" rtlCol="0">
            <a:spAutoFit/>
          </a:bodyPr>
          <a:lstStyle/>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zh-CN" altLang="en-US" sz="1600" kern="0">
                <a:solidFill>
                  <a:prstClr val="black"/>
                </a:solidFill>
                <a:latin typeface="宋体" panose="02010600030101010101" pitchFamily="2" charset="-122"/>
                <a:ea typeface="宋体" panose="02010600030101010101" pitchFamily="2" charset="-122"/>
                <a:cs typeface="Times New Roman" panose="02020603050405020304" pitchFamily="18" charset="0"/>
              </a:rPr>
              <a:t>原型网络（</a:t>
            </a:r>
            <a:r>
              <a:rPr lang="en-US" altLang="zh-CN" sz="1600" kern="0">
                <a:solidFill>
                  <a:prstClr val="black"/>
                </a:solidFill>
                <a:latin typeface="宋体" panose="02010600030101010101" pitchFamily="2" charset="-122"/>
                <a:ea typeface="宋体" panose="02010600030101010101" pitchFamily="2" charset="-122"/>
                <a:cs typeface="Times New Roman" panose="02020603050405020304" pitchFamily="18" charset="0"/>
              </a:rPr>
              <a:t>Prototypical Networks</a:t>
            </a:r>
            <a:r>
              <a:rPr lang="zh-CN" altLang="en-US" sz="1600" kern="0">
                <a:solidFill>
                  <a:prstClr val="black"/>
                </a:solidFill>
                <a:latin typeface="宋体" panose="02010600030101010101" pitchFamily="2" charset="-122"/>
                <a:ea typeface="宋体" panose="02010600030101010101" pitchFamily="2" charset="-122"/>
                <a:cs typeface="Times New Roman" panose="02020603050405020304" pitchFamily="18" charset="0"/>
              </a:rPr>
              <a:t>）是一种经典的小样本学习方法，主要用于在少量样本的情况下，通过学习不同类别的“原型”来进行分类任务。原型网络通过计算样本与各类原型之间的距离，来确定该样本属于哪一类。</a:t>
            </a:r>
            <a:endParaRPr lang="en-US" altLang="zh-CN" sz="1600" kern="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lang="en-US" altLang="zh-CN" sz="1600" kern="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lang="en-US" altLang="zh-CN" sz="1600" kern="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85750" indent="-285750" algn="just">
              <a:lnSpc>
                <a:spcPct val="120000"/>
              </a:lnSpc>
              <a:buFont typeface="Arial" panose="020B0604020202020204" pitchFamily="34" charset="0"/>
              <a:buChar char="•"/>
              <a:defRPr/>
            </a:pPr>
            <a:r>
              <a:rPr lang="zh-CN" altLang="en-US" sz="1600" kern="0">
                <a:solidFill>
                  <a:srgbClr val="C00000"/>
                </a:solidFill>
                <a:latin typeface="宋体" panose="02010600030101010101" pitchFamily="2" charset="-122"/>
                <a:ea typeface="宋体" panose="02010600030101010101" pitchFamily="2" charset="-122"/>
                <a:cs typeface="Times New Roman" panose="02020603050405020304" pitchFamily="18" charset="0"/>
              </a:rPr>
              <a:t>使用自注意力机制更新原型</a:t>
            </a:r>
            <a:r>
              <a:rPr lang="zh-CN" altLang="en-US" sz="1600" kern="0">
                <a:solidFill>
                  <a:prstClr val="black"/>
                </a:solidFill>
                <a:latin typeface="宋体" panose="02010600030101010101" pitchFamily="2" charset="-122"/>
                <a:ea typeface="宋体" panose="02010600030101010101" pitchFamily="2" charset="-122"/>
                <a:cs typeface="Times New Roman" panose="02020603050405020304" pitchFamily="18" charset="0"/>
              </a:rPr>
              <a:t>：在增量阶段使用自注意力机制自适应更新原型，能在小样本增量场景下，有效模型</a:t>
            </a:r>
            <a:r>
              <a:rPr lang="zh-CN" altLang="en-US" sz="1600" kern="0">
                <a:solidFill>
                  <a:srgbClr val="C00000"/>
                </a:solidFill>
                <a:latin typeface="宋体" panose="02010600030101010101" pitchFamily="2" charset="-122"/>
                <a:ea typeface="宋体" panose="02010600030101010101" pitchFamily="2" charset="-122"/>
                <a:cs typeface="Times New Roman" panose="02020603050405020304" pitchFamily="18" charset="0"/>
              </a:rPr>
              <a:t>对新故障类型的识别能力</a:t>
            </a:r>
            <a:r>
              <a:rPr lang="zh-CN" altLang="en-US" sz="1600" kern="0">
                <a:solidFill>
                  <a:prstClr val="black"/>
                </a:solidFill>
                <a:latin typeface="宋体" panose="02010600030101010101" pitchFamily="2" charset="-122"/>
                <a:ea typeface="宋体" panose="02010600030101010101" pitchFamily="2" charset="-122"/>
                <a:cs typeface="Times New Roman" panose="02020603050405020304" pitchFamily="18" charset="0"/>
              </a:rPr>
              <a:t>。</a:t>
            </a:r>
            <a:endParaRPr lang="en-US" altLang="zh-CN" sz="1600" kern="0">
              <a:solidFill>
                <a:prstClr val="black"/>
              </a:solidFill>
              <a:latin typeface="宋体" panose="02010600030101010101" pitchFamily="2" charset="-122"/>
              <a:ea typeface="宋体" panose="02010600030101010101" pitchFamily="2" charset="-122"/>
              <a:cs typeface="Times New Roman" panose="02020603050405020304" pitchFamily="18" charset="0"/>
            </a:endParaRPr>
          </a:p>
          <a:p>
            <a:pPr marL="285750" marR="0" lvl="0" indent="-28575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zh-CN" altLang="en-US" sz="16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
        <p:nvSpPr>
          <p:cNvPr id="3" name="矩形 2">
            <a:extLst>
              <a:ext uri="{FF2B5EF4-FFF2-40B4-BE49-F238E27FC236}">
                <a16:creationId xmlns:a16="http://schemas.microsoft.com/office/drawing/2014/main" id="{C8F17BA7-BD19-854B-3EF0-D70E0A014842}"/>
              </a:ext>
            </a:extLst>
          </p:cNvPr>
          <p:cNvSpPr/>
          <p:nvPr/>
        </p:nvSpPr>
        <p:spPr>
          <a:xfrm>
            <a:off x="5278849" y="1539560"/>
            <a:ext cx="2098882" cy="4503698"/>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04ED96C5-FDCC-4C5B-1374-2CC27892FCDF}"/>
              </a:ext>
            </a:extLst>
          </p:cNvPr>
          <p:cNvSpPr/>
          <p:nvPr/>
        </p:nvSpPr>
        <p:spPr>
          <a:xfrm>
            <a:off x="5600410" y="2023195"/>
            <a:ext cx="1435100" cy="3746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宋体" panose="02010600030101010101" pitchFamily="2" charset="-122"/>
                <a:ea typeface="宋体" panose="02010600030101010101" pitchFamily="2" charset="-122"/>
              </a:rPr>
              <a:t>基础阶段数据集</a:t>
            </a:r>
          </a:p>
        </p:txBody>
      </p:sp>
      <p:cxnSp>
        <p:nvCxnSpPr>
          <p:cNvPr id="11" name="直接箭头连接符 10">
            <a:extLst>
              <a:ext uri="{FF2B5EF4-FFF2-40B4-BE49-F238E27FC236}">
                <a16:creationId xmlns:a16="http://schemas.microsoft.com/office/drawing/2014/main" id="{E63CEC31-7435-06CC-97E8-BFB53836EC76}"/>
              </a:ext>
            </a:extLst>
          </p:cNvPr>
          <p:cNvCxnSpPr>
            <a:cxnSpLocks/>
            <a:stCxn id="4" idx="2"/>
            <a:endCxn id="18" idx="0"/>
          </p:cNvCxnSpPr>
          <p:nvPr/>
        </p:nvCxnSpPr>
        <p:spPr>
          <a:xfrm>
            <a:off x="6317960" y="2397845"/>
            <a:ext cx="0" cy="36842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17">
            <a:extLst>
              <a:ext uri="{FF2B5EF4-FFF2-40B4-BE49-F238E27FC236}">
                <a16:creationId xmlns:a16="http://schemas.microsoft.com/office/drawing/2014/main" id="{B7E2C512-1C6C-4E7B-A8D4-3B3AA719295C}"/>
              </a:ext>
            </a:extLst>
          </p:cNvPr>
          <p:cNvSpPr/>
          <p:nvPr/>
        </p:nvSpPr>
        <p:spPr>
          <a:xfrm>
            <a:off x="5600410" y="2766266"/>
            <a:ext cx="1435100"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宋体" panose="02010600030101010101" pitchFamily="2" charset="-122"/>
                <a:ea typeface="宋体" panose="02010600030101010101" pitchFamily="2" charset="-122"/>
              </a:rPr>
              <a:t>数据预处理</a:t>
            </a:r>
          </a:p>
        </p:txBody>
      </p:sp>
      <p:sp>
        <p:nvSpPr>
          <p:cNvPr id="20" name="矩形 19">
            <a:extLst>
              <a:ext uri="{FF2B5EF4-FFF2-40B4-BE49-F238E27FC236}">
                <a16:creationId xmlns:a16="http://schemas.microsoft.com/office/drawing/2014/main" id="{C5A997E4-48B1-1D60-8002-95F8331CB3FB}"/>
              </a:ext>
            </a:extLst>
          </p:cNvPr>
          <p:cNvSpPr/>
          <p:nvPr/>
        </p:nvSpPr>
        <p:spPr>
          <a:xfrm>
            <a:off x="5600410" y="3700255"/>
            <a:ext cx="1435100"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宋体" panose="02010600030101010101" pitchFamily="2" charset="-122"/>
                <a:ea typeface="宋体" panose="02010600030101010101" pitchFamily="2" charset="-122"/>
              </a:rPr>
              <a:t>特征提取</a:t>
            </a:r>
          </a:p>
        </p:txBody>
      </p:sp>
      <p:cxnSp>
        <p:nvCxnSpPr>
          <p:cNvPr id="21" name="直接箭头连接符 20">
            <a:extLst>
              <a:ext uri="{FF2B5EF4-FFF2-40B4-BE49-F238E27FC236}">
                <a16:creationId xmlns:a16="http://schemas.microsoft.com/office/drawing/2014/main" id="{7BA65E0B-1FDF-5E96-293D-4D5357D0693A}"/>
              </a:ext>
            </a:extLst>
          </p:cNvPr>
          <p:cNvCxnSpPr>
            <a:cxnSpLocks/>
            <a:stCxn id="18" idx="2"/>
            <a:endCxn id="20" idx="0"/>
          </p:cNvCxnSpPr>
          <p:nvPr/>
        </p:nvCxnSpPr>
        <p:spPr>
          <a:xfrm>
            <a:off x="6317960" y="3169614"/>
            <a:ext cx="0" cy="5306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65E15993-919D-7690-C18F-36CA994A43D4}"/>
              </a:ext>
            </a:extLst>
          </p:cNvPr>
          <p:cNvSpPr/>
          <p:nvPr/>
        </p:nvSpPr>
        <p:spPr>
          <a:xfrm>
            <a:off x="5600410" y="4872429"/>
            <a:ext cx="1435100"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宋体" panose="02010600030101010101" pitchFamily="2" charset="-122"/>
                <a:ea typeface="宋体" panose="02010600030101010101" pitchFamily="2" charset="-122"/>
              </a:rPr>
              <a:t>获得原型表示</a:t>
            </a:r>
          </a:p>
        </p:txBody>
      </p:sp>
      <p:cxnSp>
        <p:nvCxnSpPr>
          <p:cNvPr id="39" name="直接箭头连接符 38">
            <a:extLst>
              <a:ext uri="{FF2B5EF4-FFF2-40B4-BE49-F238E27FC236}">
                <a16:creationId xmlns:a16="http://schemas.microsoft.com/office/drawing/2014/main" id="{69B9B7AE-85B2-9329-71C8-C7913F2C70D7}"/>
              </a:ext>
            </a:extLst>
          </p:cNvPr>
          <p:cNvCxnSpPr>
            <a:cxnSpLocks/>
            <a:stCxn id="20" idx="2"/>
            <a:endCxn id="23" idx="0"/>
          </p:cNvCxnSpPr>
          <p:nvPr/>
        </p:nvCxnSpPr>
        <p:spPr>
          <a:xfrm>
            <a:off x="6317960" y="4103603"/>
            <a:ext cx="0" cy="76882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矩形 42">
            <a:extLst>
              <a:ext uri="{FF2B5EF4-FFF2-40B4-BE49-F238E27FC236}">
                <a16:creationId xmlns:a16="http://schemas.microsoft.com/office/drawing/2014/main" id="{307B771A-BF7E-5901-70CB-168FFB332E30}"/>
              </a:ext>
            </a:extLst>
          </p:cNvPr>
          <p:cNvSpPr/>
          <p:nvPr/>
        </p:nvSpPr>
        <p:spPr>
          <a:xfrm>
            <a:off x="7506664" y="1539560"/>
            <a:ext cx="2098882" cy="4503698"/>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a:extLst>
              <a:ext uri="{FF2B5EF4-FFF2-40B4-BE49-F238E27FC236}">
                <a16:creationId xmlns:a16="http://schemas.microsoft.com/office/drawing/2014/main" id="{82386848-60CD-2062-1763-1B0E00226697}"/>
              </a:ext>
            </a:extLst>
          </p:cNvPr>
          <p:cNvSpPr/>
          <p:nvPr/>
        </p:nvSpPr>
        <p:spPr>
          <a:xfrm>
            <a:off x="7838554" y="2015044"/>
            <a:ext cx="1435100" cy="3746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宋体" panose="02010600030101010101" pitchFamily="2" charset="-122"/>
                <a:ea typeface="宋体" panose="02010600030101010101" pitchFamily="2" charset="-122"/>
              </a:rPr>
              <a:t>增量阶段数据集</a:t>
            </a:r>
          </a:p>
        </p:txBody>
      </p:sp>
      <p:cxnSp>
        <p:nvCxnSpPr>
          <p:cNvPr id="45" name="直接箭头连接符 44">
            <a:extLst>
              <a:ext uri="{FF2B5EF4-FFF2-40B4-BE49-F238E27FC236}">
                <a16:creationId xmlns:a16="http://schemas.microsoft.com/office/drawing/2014/main" id="{F025FE26-FB7F-FF73-B801-89089327635C}"/>
              </a:ext>
            </a:extLst>
          </p:cNvPr>
          <p:cNvCxnSpPr>
            <a:cxnSpLocks/>
            <a:stCxn id="44" idx="2"/>
            <a:endCxn id="46" idx="0"/>
          </p:cNvCxnSpPr>
          <p:nvPr/>
        </p:nvCxnSpPr>
        <p:spPr>
          <a:xfrm>
            <a:off x="8556104" y="2389694"/>
            <a:ext cx="0" cy="22494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2B5841BB-9F00-E186-A8C1-CDAB25D4F039}"/>
              </a:ext>
            </a:extLst>
          </p:cNvPr>
          <p:cNvSpPr/>
          <p:nvPr/>
        </p:nvSpPr>
        <p:spPr>
          <a:xfrm>
            <a:off x="7838554" y="2614639"/>
            <a:ext cx="1435100"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宋体" panose="02010600030101010101" pitchFamily="2" charset="-122"/>
                <a:ea typeface="宋体" panose="02010600030101010101" pitchFamily="2" charset="-122"/>
              </a:rPr>
              <a:t>数据预处理</a:t>
            </a:r>
          </a:p>
        </p:txBody>
      </p:sp>
      <p:sp>
        <p:nvSpPr>
          <p:cNvPr id="47" name="矩形 46">
            <a:extLst>
              <a:ext uri="{FF2B5EF4-FFF2-40B4-BE49-F238E27FC236}">
                <a16:creationId xmlns:a16="http://schemas.microsoft.com/office/drawing/2014/main" id="{96841842-6A51-9A58-0880-C86D2F5AE4AF}"/>
              </a:ext>
            </a:extLst>
          </p:cNvPr>
          <p:cNvSpPr/>
          <p:nvPr/>
        </p:nvSpPr>
        <p:spPr>
          <a:xfrm>
            <a:off x="7848885" y="4350123"/>
            <a:ext cx="1414440"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latin typeface="宋体" panose="02010600030101010101" pitchFamily="2" charset="-122"/>
                <a:ea typeface="宋体" panose="02010600030101010101" pitchFamily="2" charset="-122"/>
              </a:rPr>
              <a:t>特征提取</a:t>
            </a:r>
          </a:p>
        </p:txBody>
      </p:sp>
      <p:cxnSp>
        <p:nvCxnSpPr>
          <p:cNvPr id="48" name="直接箭头连接符 47">
            <a:extLst>
              <a:ext uri="{FF2B5EF4-FFF2-40B4-BE49-F238E27FC236}">
                <a16:creationId xmlns:a16="http://schemas.microsoft.com/office/drawing/2014/main" id="{A3E058B5-83E7-65DF-432D-C3089BF1A87D}"/>
              </a:ext>
            </a:extLst>
          </p:cNvPr>
          <p:cNvCxnSpPr>
            <a:cxnSpLocks/>
            <a:stCxn id="46" idx="2"/>
            <a:endCxn id="87" idx="0"/>
          </p:cNvCxnSpPr>
          <p:nvPr/>
        </p:nvCxnSpPr>
        <p:spPr>
          <a:xfrm>
            <a:off x="8556104" y="3017987"/>
            <a:ext cx="0" cy="15353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F494B68D-FBCC-F77A-B8DA-25D87EB0D335}"/>
              </a:ext>
            </a:extLst>
          </p:cNvPr>
          <p:cNvSpPr/>
          <p:nvPr/>
        </p:nvSpPr>
        <p:spPr>
          <a:xfrm>
            <a:off x="7838554" y="5480267"/>
            <a:ext cx="1435100" cy="4357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C00000"/>
                </a:solidFill>
                <a:latin typeface="宋体" panose="02010600030101010101" pitchFamily="2" charset="-122"/>
                <a:ea typeface="宋体" panose="02010600030101010101" pitchFamily="2" charset="-122"/>
              </a:rPr>
              <a:t>使用自注意力机制更新原型</a:t>
            </a:r>
          </a:p>
        </p:txBody>
      </p:sp>
      <p:cxnSp>
        <p:nvCxnSpPr>
          <p:cNvPr id="50" name="直接箭头连接符 49">
            <a:extLst>
              <a:ext uri="{FF2B5EF4-FFF2-40B4-BE49-F238E27FC236}">
                <a16:creationId xmlns:a16="http://schemas.microsoft.com/office/drawing/2014/main" id="{ACE24100-218D-7025-DDC3-6A4007919F6D}"/>
              </a:ext>
            </a:extLst>
          </p:cNvPr>
          <p:cNvCxnSpPr>
            <a:cxnSpLocks/>
            <a:stCxn id="47" idx="2"/>
            <a:endCxn id="55" idx="0"/>
          </p:cNvCxnSpPr>
          <p:nvPr/>
        </p:nvCxnSpPr>
        <p:spPr>
          <a:xfrm>
            <a:off x="8556105" y="4753471"/>
            <a:ext cx="0" cy="23395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流程图: 或者 54">
            <a:extLst>
              <a:ext uri="{FF2B5EF4-FFF2-40B4-BE49-F238E27FC236}">
                <a16:creationId xmlns:a16="http://schemas.microsoft.com/office/drawing/2014/main" id="{6EE02DA4-B56B-3ABC-EB3D-BCBC747A672C}"/>
              </a:ext>
            </a:extLst>
          </p:cNvPr>
          <p:cNvSpPr/>
          <p:nvPr/>
        </p:nvSpPr>
        <p:spPr>
          <a:xfrm>
            <a:off x="8471439" y="4987430"/>
            <a:ext cx="169331" cy="156633"/>
          </a:xfrm>
          <a:prstGeom prst="flowChar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noFill/>
            </a:endParaRPr>
          </a:p>
        </p:txBody>
      </p:sp>
      <p:cxnSp>
        <p:nvCxnSpPr>
          <p:cNvPr id="58" name="直接箭头连接符 57">
            <a:extLst>
              <a:ext uri="{FF2B5EF4-FFF2-40B4-BE49-F238E27FC236}">
                <a16:creationId xmlns:a16="http://schemas.microsoft.com/office/drawing/2014/main" id="{A46C061F-1656-1265-7BAF-5A28AE9E0FDB}"/>
              </a:ext>
            </a:extLst>
          </p:cNvPr>
          <p:cNvCxnSpPr>
            <a:cxnSpLocks/>
            <a:stCxn id="23" idx="3"/>
            <a:endCxn id="55" idx="2"/>
          </p:cNvCxnSpPr>
          <p:nvPr/>
        </p:nvCxnSpPr>
        <p:spPr>
          <a:xfrm flipV="1">
            <a:off x="7035510" y="5065747"/>
            <a:ext cx="1435929" cy="835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F814E166-2038-786B-15D3-04A301FD3BB8}"/>
              </a:ext>
            </a:extLst>
          </p:cNvPr>
          <p:cNvCxnSpPr>
            <a:cxnSpLocks/>
            <a:stCxn id="55" idx="4"/>
            <a:endCxn id="49" idx="0"/>
          </p:cNvCxnSpPr>
          <p:nvPr/>
        </p:nvCxnSpPr>
        <p:spPr>
          <a:xfrm flipH="1">
            <a:off x="8556104" y="5144063"/>
            <a:ext cx="1" cy="33620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矩形 86">
            <a:extLst>
              <a:ext uri="{FF2B5EF4-FFF2-40B4-BE49-F238E27FC236}">
                <a16:creationId xmlns:a16="http://schemas.microsoft.com/office/drawing/2014/main" id="{378B2A08-13A4-56F9-B998-9FCAA4FC8D6D}"/>
              </a:ext>
            </a:extLst>
          </p:cNvPr>
          <p:cNvSpPr/>
          <p:nvPr/>
        </p:nvSpPr>
        <p:spPr>
          <a:xfrm>
            <a:off x="7848884" y="3171524"/>
            <a:ext cx="1414440"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C00000"/>
                </a:solidFill>
                <a:latin typeface="宋体" panose="02010600030101010101" pitchFamily="2" charset="-122"/>
                <a:ea typeface="宋体" panose="02010600030101010101" pitchFamily="2" charset="-122"/>
              </a:rPr>
              <a:t>数据增强</a:t>
            </a:r>
          </a:p>
        </p:txBody>
      </p:sp>
      <p:sp>
        <p:nvSpPr>
          <p:cNvPr id="98" name="右箭头 24">
            <a:extLst>
              <a:ext uri="{FF2B5EF4-FFF2-40B4-BE49-F238E27FC236}">
                <a16:creationId xmlns:a16="http://schemas.microsoft.com/office/drawing/2014/main" id="{5974FEA0-0D88-04C3-1020-61E9600EC97F}"/>
              </a:ext>
            </a:extLst>
          </p:cNvPr>
          <p:cNvSpPr/>
          <p:nvPr/>
        </p:nvSpPr>
        <p:spPr>
          <a:xfrm>
            <a:off x="9273654" y="5588198"/>
            <a:ext cx="663782" cy="212310"/>
          </a:xfrm>
          <a:prstGeom prst="rightArrow">
            <a:avLst/>
          </a:prstGeom>
          <a:solidFill>
            <a:schemeClr val="accent1">
              <a:lumMod val="50000"/>
            </a:schemeClr>
          </a:solidFill>
          <a:ln w="12700" cap="flat" cmpd="sng" algn="ctr">
            <a:solidFill>
              <a:srgbClr val="ED7D31">
                <a:lumMod val="20000"/>
                <a:lumOff val="80000"/>
              </a:srgbClr>
            </a:solidFill>
            <a:prstDash val="solid"/>
            <a:miter lim="800000"/>
          </a:ln>
          <a:effectLst>
            <a:outerShdw blurRad="50800" dist="38100" dir="2700000" algn="tl" rotWithShape="0">
              <a:prstClr val="black">
                <a:alpha val="40000"/>
              </a:prstClr>
            </a:outerShdw>
          </a:effectLst>
        </p:spPr>
        <p:txBody>
          <a:bodyPr anchor="ctr"/>
          <a:lstStyle/>
          <a:p>
            <a:pPr marL="0" marR="0" lvl="0" indent="0" algn="ctr" defTabSz="4572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1">
              <a:ln>
                <a:noFill/>
              </a:ln>
              <a:solidFill>
                <a:prstClr val="black"/>
              </a:solidFill>
              <a:effectLst/>
              <a:uLnTx/>
              <a:uFillTx/>
              <a:latin typeface="微软雅黑" panose="020B0503020204020204" pitchFamily="34" charset="-122"/>
              <a:ea typeface="等线" panose="02010600030101010101" charset="-122"/>
              <a:cs typeface="+mn-cs"/>
            </a:endParaRPr>
          </a:p>
        </p:txBody>
      </p:sp>
      <p:sp>
        <p:nvSpPr>
          <p:cNvPr id="99" name="矩形 98">
            <a:extLst>
              <a:ext uri="{FF2B5EF4-FFF2-40B4-BE49-F238E27FC236}">
                <a16:creationId xmlns:a16="http://schemas.microsoft.com/office/drawing/2014/main" id="{4999F67D-88F9-1746-3171-E17C43FF78D5}"/>
              </a:ext>
            </a:extLst>
          </p:cNvPr>
          <p:cNvSpPr/>
          <p:nvPr/>
        </p:nvSpPr>
        <p:spPr>
          <a:xfrm>
            <a:off x="9970544" y="4058777"/>
            <a:ext cx="2158381" cy="1984749"/>
          </a:xfrm>
          <a:prstGeom prst="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0" name="图片 99">
            <a:extLst>
              <a:ext uri="{FF2B5EF4-FFF2-40B4-BE49-F238E27FC236}">
                <a16:creationId xmlns:a16="http://schemas.microsoft.com/office/drawing/2014/main" id="{DCE9E97F-3400-0D2F-1373-C55E43621AE6}"/>
              </a:ext>
            </a:extLst>
          </p:cNvPr>
          <p:cNvPicPr>
            <a:picLocks noChangeAspect="1"/>
          </p:cNvPicPr>
          <p:nvPr/>
        </p:nvPicPr>
        <p:blipFill>
          <a:blip r:embed="rId4"/>
          <a:stretch>
            <a:fillRect/>
          </a:stretch>
        </p:blipFill>
        <p:spPr>
          <a:xfrm>
            <a:off x="10122787" y="4142395"/>
            <a:ext cx="1903590" cy="1900863"/>
          </a:xfrm>
          <a:prstGeom prst="rect">
            <a:avLst/>
          </a:prstGeom>
        </p:spPr>
      </p:pic>
      <p:sp>
        <p:nvSpPr>
          <p:cNvPr id="104" name="文本框 103">
            <a:extLst>
              <a:ext uri="{FF2B5EF4-FFF2-40B4-BE49-F238E27FC236}">
                <a16:creationId xmlns:a16="http://schemas.microsoft.com/office/drawing/2014/main" id="{8B0B385C-5AB8-0B4A-A37E-0AA71B357653}"/>
              </a:ext>
            </a:extLst>
          </p:cNvPr>
          <p:cNvSpPr txBox="1"/>
          <p:nvPr/>
        </p:nvSpPr>
        <p:spPr>
          <a:xfrm>
            <a:off x="5241583" y="1537676"/>
            <a:ext cx="1064868" cy="307777"/>
          </a:xfrm>
          <a:prstGeom prst="rect">
            <a:avLst/>
          </a:prstGeom>
          <a:noFill/>
        </p:spPr>
        <p:txBody>
          <a:bodyPr wrap="square">
            <a:spAutoFit/>
          </a:bodyPr>
          <a:lstStyle/>
          <a:p>
            <a:r>
              <a:rPr lang="zh-CN" altLang="en-US" sz="1400">
                <a:latin typeface="宋体" panose="02010600030101010101" pitchFamily="2" charset="-122"/>
                <a:ea typeface="宋体" panose="02010600030101010101" pitchFamily="2" charset="-122"/>
              </a:rPr>
              <a:t>基础阶段</a:t>
            </a:r>
          </a:p>
        </p:txBody>
      </p:sp>
      <p:sp>
        <p:nvSpPr>
          <p:cNvPr id="106" name="文本框 105">
            <a:extLst>
              <a:ext uri="{FF2B5EF4-FFF2-40B4-BE49-F238E27FC236}">
                <a16:creationId xmlns:a16="http://schemas.microsoft.com/office/drawing/2014/main" id="{444E2CF0-7B53-6AA8-1186-1DD6C8110B3B}"/>
              </a:ext>
            </a:extLst>
          </p:cNvPr>
          <p:cNvSpPr txBox="1"/>
          <p:nvPr/>
        </p:nvSpPr>
        <p:spPr>
          <a:xfrm>
            <a:off x="7506664" y="1560322"/>
            <a:ext cx="994671" cy="307777"/>
          </a:xfrm>
          <a:prstGeom prst="rect">
            <a:avLst/>
          </a:prstGeom>
          <a:noFill/>
        </p:spPr>
        <p:txBody>
          <a:bodyPr wrap="square">
            <a:spAutoFit/>
          </a:bodyPr>
          <a:lstStyle/>
          <a:p>
            <a:r>
              <a:rPr lang="zh-CN" altLang="en-US" sz="1400">
                <a:latin typeface="宋体" panose="02010600030101010101" pitchFamily="2" charset="-122"/>
                <a:ea typeface="宋体" panose="02010600030101010101" pitchFamily="2" charset="-122"/>
              </a:rPr>
              <a:t>增量阶段</a:t>
            </a:r>
          </a:p>
        </p:txBody>
      </p:sp>
      <p:sp>
        <p:nvSpPr>
          <p:cNvPr id="128" name="矩形 127">
            <a:extLst>
              <a:ext uri="{FF2B5EF4-FFF2-40B4-BE49-F238E27FC236}">
                <a16:creationId xmlns:a16="http://schemas.microsoft.com/office/drawing/2014/main" id="{62CA7D14-5D66-A21A-577C-2D4EC95C5BFE}"/>
              </a:ext>
            </a:extLst>
          </p:cNvPr>
          <p:cNvSpPr/>
          <p:nvPr/>
        </p:nvSpPr>
        <p:spPr>
          <a:xfrm>
            <a:off x="7848884" y="3793238"/>
            <a:ext cx="1414440" cy="4033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C00000"/>
                </a:solidFill>
                <a:latin typeface="宋体" panose="02010600030101010101" pitchFamily="2" charset="-122"/>
                <a:ea typeface="宋体" panose="02010600030101010101" pitchFamily="2" charset="-122"/>
              </a:rPr>
              <a:t>扩展节点</a:t>
            </a:r>
          </a:p>
        </p:txBody>
      </p:sp>
      <p:cxnSp>
        <p:nvCxnSpPr>
          <p:cNvPr id="130" name="直接箭头连接符 129">
            <a:extLst>
              <a:ext uri="{FF2B5EF4-FFF2-40B4-BE49-F238E27FC236}">
                <a16:creationId xmlns:a16="http://schemas.microsoft.com/office/drawing/2014/main" id="{C74BDCB9-EAD2-3888-22C0-D98FBBD21895}"/>
              </a:ext>
            </a:extLst>
          </p:cNvPr>
          <p:cNvCxnSpPr>
            <a:cxnSpLocks/>
            <a:stCxn id="128" idx="2"/>
            <a:endCxn id="47" idx="0"/>
          </p:cNvCxnSpPr>
          <p:nvPr/>
        </p:nvCxnSpPr>
        <p:spPr>
          <a:xfrm>
            <a:off x="8556104" y="4196586"/>
            <a:ext cx="1" cy="15353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a:extLst>
              <a:ext uri="{FF2B5EF4-FFF2-40B4-BE49-F238E27FC236}">
                <a16:creationId xmlns:a16="http://schemas.microsoft.com/office/drawing/2014/main" id="{3861F6C4-C0A9-F131-F51D-498C65EA2E2A}"/>
              </a:ext>
            </a:extLst>
          </p:cNvPr>
          <p:cNvCxnSpPr>
            <a:cxnSpLocks/>
            <a:stCxn id="87" idx="2"/>
            <a:endCxn id="128" idx="0"/>
          </p:cNvCxnSpPr>
          <p:nvPr/>
        </p:nvCxnSpPr>
        <p:spPr>
          <a:xfrm>
            <a:off x="8556104" y="3574872"/>
            <a:ext cx="0" cy="21836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2446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研究背景</a:t>
            </a:r>
          </a:p>
        </p:txBody>
      </p:sp>
      <p:sp>
        <p:nvSpPr>
          <p:cNvPr id="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文献综述</a:t>
            </a:r>
          </a:p>
        </p:txBody>
      </p:sp>
      <p:sp>
        <p:nvSpPr>
          <p:cNvPr id="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技术路线</a:t>
            </a:r>
          </a:p>
        </p:txBody>
      </p:sp>
      <p:sp>
        <p:nvSpPr>
          <p:cNvPr id="1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工作计划</a:t>
            </a:r>
          </a:p>
        </p:txBody>
      </p:sp>
      <p:cxnSp>
        <p:nvCxnSpPr>
          <p:cNvPr id="12" name="直接连接符 1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等腰三角形 15"/>
          <p:cNvSpPr/>
          <p:nvPr/>
        </p:nvSpPr>
        <p:spPr>
          <a:xfrm rot="10800000">
            <a:off x="5202484"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1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19"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66" name="TextBox 23">
            <a:extLst>
              <a:ext uri="{FF2B5EF4-FFF2-40B4-BE49-F238E27FC236}">
                <a16:creationId xmlns:a16="http://schemas.microsoft.com/office/drawing/2014/main" id="{9A1D5ADB-122A-480D-94F5-CD664A94042C}"/>
              </a:ext>
            </a:extLst>
          </p:cNvPr>
          <p:cNvSpPr txBox="1"/>
          <p:nvPr/>
        </p:nvSpPr>
        <p:spPr>
          <a:xfrm>
            <a:off x="48411" y="944656"/>
            <a:ext cx="1735940" cy="422405"/>
          </a:xfrm>
          <a:prstGeom prst="rect">
            <a:avLst/>
          </a:prstGeom>
          <a:solidFill>
            <a:srgbClr val="0057AA"/>
          </a:solidFill>
          <a:ln w="19050">
            <a:noFill/>
          </a:ln>
        </p:spPr>
        <p:txBody>
          <a:bodyPr wrap="square" lIns="72000" tIns="72000" rIns="72000" bIns="72000" rtlCol="0">
            <a:spAutoFit/>
          </a:bodyPr>
          <a:lstStyle/>
          <a:p>
            <a:pPr>
              <a:defRPr/>
            </a:pPr>
            <a:r>
              <a:rPr lang="zh-CN" altLang="en-US">
                <a:solidFill>
                  <a:prstClr val="white"/>
                </a:solidFill>
                <a:latin typeface="黑体" panose="02010609060101010101" pitchFamily="49" charset="-122"/>
                <a:ea typeface="黑体" panose="02010609060101010101" pitchFamily="49" charset="-122"/>
              </a:rPr>
              <a:t>四</a:t>
            </a:r>
            <a:r>
              <a:rPr kumimoji="0" lang="en-US" altLang="zh-CN"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a:t>
            </a:r>
            <a:r>
              <a:rPr kumimoji="0" lang="zh-CN" altLang="en-US" sz="1800" b="0" i="0" u="none" strike="noStrike" kern="1200" cap="none" spc="0" normalizeH="0" baseline="0" noProof="0">
                <a:ln>
                  <a:noFill/>
                </a:ln>
                <a:solidFill>
                  <a:prstClr val="white"/>
                </a:solidFill>
                <a:effectLst/>
                <a:uLnTx/>
                <a:uFillTx/>
                <a:latin typeface="黑体" panose="02010609060101010101" pitchFamily="49" charset="-122"/>
                <a:ea typeface="黑体" panose="02010609060101010101" pitchFamily="49" charset="-122"/>
                <a:cs typeface="+mn-cs"/>
              </a:rPr>
              <a:t>案例与验证</a:t>
            </a:r>
            <a:endParaRPr lang="en-US" altLang="zh-CN">
              <a:solidFill>
                <a:prstClr val="white"/>
              </a:solidFill>
              <a:latin typeface="黑体" panose="02010609060101010101" pitchFamily="49" charset="-122"/>
              <a:ea typeface="黑体" panose="02010609060101010101" pitchFamily="49" charset="-122"/>
            </a:endParaRPr>
          </a:p>
        </p:txBody>
      </p:sp>
      <p:sp>
        <p:nvSpPr>
          <p:cNvPr id="70" name="文本框 69">
            <a:extLst>
              <a:ext uri="{FF2B5EF4-FFF2-40B4-BE49-F238E27FC236}">
                <a16:creationId xmlns:a16="http://schemas.microsoft.com/office/drawing/2014/main" id="{9E69D51F-3FAB-41A2-A4FF-F35E508EA0F2}"/>
              </a:ext>
            </a:extLst>
          </p:cNvPr>
          <p:cNvSpPr txBox="1"/>
          <p:nvPr/>
        </p:nvSpPr>
        <p:spPr>
          <a:xfrm>
            <a:off x="48411" y="1596007"/>
            <a:ext cx="11690445" cy="1727396"/>
          </a:xfrm>
          <a:prstGeom prst="rect">
            <a:avLst/>
          </a:prstGeom>
          <a:noFill/>
        </p:spPr>
        <p:txBody>
          <a:bodyPr wrap="square" rtlCol="0">
            <a:spAutoFit/>
          </a:bodyPr>
          <a:lstStyle/>
          <a:p>
            <a:pPr marL="285750" indent="-285750">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cs typeface="Times New Roman" panose="02020603050405020304" pitchFamily="18" charset="0"/>
              </a:rPr>
              <a:t>案例：利用真实的风机数据集，针对风机运行过程中出现的故障，验证模型在应对新增数据、数据稀缺和跨设备下故障诊断能力。</a:t>
            </a:r>
            <a:endParaRPr lang="en-US" altLang="zh-CN" sz="1600">
              <a:solidFill>
                <a:srgbClr val="000000"/>
              </a:solidFill>
              <a:latin typeface="宋体" panose="02010600030101010101" pitchFamily="2" charset="-122"/>
              <a:ea typeface="宋体" panose="02010600030101010101" pitchFamily="2" charset="-122"/>
              <a:cs typeface="Times New Roman" panose="02020603050405020304" pitchFamily="18" charset="0"/>
            </a:endParaRPr>
          </a:p>
          <a:p>
            <a:pPr marL="285750" indent="-285750">
              <a:lnSpc>
                <a:spcPct val="120000"/>
              </a:lnSpc>
              <a:buFont typeface="Arial" panose="020B0604020202020204" pitchFamily="34" charset="0"/>
              <a:buChar char="•"/>
            </a:pPr>
            <a:r>
              <a:rPr lang="zh-CN" altLang="en-US" sz="1600">
                <a:solidFill>
                  <a:srgbClr val="000000"/>
                </a:solidFill>
                <a:latin typeface="宋体" panose="02010600030101010101" pitchFamily="2" charset="-122"/>
                <a:ea typeface="宋体" panose="02010600030101010101" pitchFamily="2" charset="-122"/>
                <a:cs typeface="Times New Roman" panose="02020603050405020304" pitchFamily="18" charset="0"/>
              </a:rPr>
              <a:t>开发平台：为进一步验证所提出方法的实际应用效果，开发一个用于故障诊断的模拟验证平台。该平台集成风机运行数据的实时采集、数据预处理、增量学习及小样本学习模型训练与部署功能，支持多种故障类型的在线增量学习和迁移学习过程模拟。平台通过可视化的界面展示故障检测的过程及结果，便于用户实时监控风机状态并进行故障预测和诊断验证，从而为实际应用提供有效的技术支持。</a:t>
            </a:r>
          </a:p>
        </p:txBody>
      </p:sp>
      <p:pic>
        <p:nvPicPr>
          <p:cNvPr id="2" name="图片 1">
            <a:extLst>
              <a:ext uri="{FF2B5EF4-FFF2-40B4-BE49-F238E27FC236}">
                <a16:creationId xmlns:a16="http://schemas.microsoft.com/office/drawing/2014/main" id="{1FE88564-57E5-B039-00F4-3138DAE9E83D}"/>
              </a:ext>
            </a:extLst>
          </p:cNvPr>
          <p:cNvPicPr>
            <a:picLocks noChangeAspect="1"/>
          </p:cNvPicPr>
          <p:nvPr/>
        </p:nvPicPr>
        <p:blipFill>
          <a:blip r:embed="rId4"/>
          <a:stretch>
            <a:fillRect/>
          </a:stretch>
        </p:blipFill>
        <p:spPr>
          <a:xfrm>
            <a:off x="2591281" y="3720231"/>
            <a:ext cx="6704638" cy="2590916"/>
          </a:xfrm>
          <a:prstGeom prst="rect">
            <a:avLst/>
          </a:prstGeom>
        </p:spPr>
      </p:pic>
    </p:spTree>
    <p:extLst>
      <p:ext uri="{BB962C8B-B14F-4D97-AF65-F5344CB8AC3E}">
        <p14:creationId xmlns:p14="http://schemas.microsoft.com/office/powerpoint/2010/main" val="3574102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25"/>
          <p:cNvSpPr txBox="1"/>
          <p:nvPr/>
        </p:nvSpPr>
        <p:spPr>
          <a:xfrm>
            <a:off x="762000" y="190440"/>
            <a:ext cx="125650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研究背景</a:t>
            </a:r>
          </a:p>
        </p:txBody>
      </p:sp>
      <p:sp>
        <p:nvSpPr>
          <p:cNvPr id="7" name="文本框 26"/>
          <p:cNvSpPr txBox="1"/>
          <p:nvPr/>
        </p:nvSpPr>
        <p:spPr>
          <a:xfrm>
            <a:off x="2066924" y="190440"/>
            <a:ext cx="1392355"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文献综述</a:t>
            </a:r>
          </a:p>
        </p:txBody>
      </p:sp>
      <p:sp>
        <p:nvSpPr>
          <p:cNvPr id="8" name="文本框 27"/>
          <p:cNvSpPr txBox="1"/>
          <p:nvPr/>
        </p:nvSpPr>
        <p:spPr>
          <a:xfrm>
            <a:off x="3402105" y="190440"/>
            <a:ext cx="1256499"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研究内容</a:t>
            </a:r>
          </a:p>
        </p:txBody>
      </p:sp>
      <p:sp>
        <p:nvSpPr>
          <p:cNvPr id="9" name="文本框 28"/>
          <p:cNvSpPr txBox="1"/>
          <p:nvPr/>
        </p:nvSpPr>
        <p:spPr>
          <a:xfrm>
            <a:off x="4707908"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white">
                    <a:lumMod val="50000"/>
                  </a:prstClr>
                </a:solidFill>
                <a:effectLst/>
                <a:uLnTx/>
                <a:uFillTx/>
                <a:latin typeface="微软雅黑 Light" panose="020B0502040204020203" pitchFamily="34" charset="-122"/>
                <a:ea typeface="微软雅黑 Light" panose="020B0502040204020203" pitchFamily="34" charset="-122"/>
                <a:cs typeface="+mn-cs"/>
              </a:rPr>
              <a:t>技术路线</a:t>
            </a:r>
          </a:p>
        </p:txBody>
      </p:sp>
      <p:sp>
        <p:nvSpPr>
          <p:cNvPr id="10" name="文本框 28"/>
          <p:cNvSpPr txBox="1"/>
          <p:nvPr/>
        </p:nvSpPr>
        <p:spPr>
          <a:xfrm>
            <a:off x="6042816" y="190440"/>
            <a:ext cx="155574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57AA"/>
                </a:solidFill>
                <a:effectLst/>
                <a:uLnTx/>
                <a:uFillTx/>
                <a:latin typeface="微软雅黑" panose="020B0503020204020204" pitchFamily="34" charset="-122"/>
                <a:ea typeface="微软雅黑" panose="020B0503020204020204" pitchFamily="34" charset="-122"/>
                <a:cs typeface="+mn-cs"/>
              </a:rPr>
              <a:t>工作计划</a:t>
            </a:r>
          </a:p>
        </p:txBody>
      </p:sp>
      <p:cxnSp>
        <p:nvCxnSpPr>
          <p:cNvPr id="12" name="直接连接符 11"/>
          <p:cNvCxnSpPr/>
          <p:nvPr/>
        </p:nvCxnSpPr>
        <p:spPr>
          <a:xfrm>
            <a:off x="2016955" y="285750"/>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3528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658604"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943600" y="310379"/>
            <a:ext cx="0" cy="20005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 name="等腰三角形 15"/>
          <p:cNvSpPr/>
          <p:nvPr/>
        </p:nvSpPr>
        <p:spPr>
          <a:xfrm rot="10800000">
            <a:off x="6564181" y="92038"/>
            <a:ext cx="172878" cy="143094"/>
          </a:xfrm>
          <a:prstGeom prst="triangle">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srgbClr val="70AD47">
                  <a:lumMod val="75000"/>
                  <a:lumOff val="25000"/>
                </a:srgbClr>
              </a:solidFill>
              <a:effectLst/>
              <a:uLnTx/>
              <a:uFillTx/>
              <a:latin typeface="等线" panose="02010600030101010101" charset="-122"/>
              <a:ea typeface="等线" panose="02010600030101010101" charset="-122"/>
              <a:cs typeface="+mn-cs"/>
            </a:endParaRPr>
          </a:p>
        </p:txBody>
      </p:sp>
      <p:pic>
        <p:nvPicPr>
          <p:cNvPr id="17" name="图形 2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53406" y="42751"/>
            <a:ext cx="683942" cy="686055"/>
          </a:xfrm>
          <a:prstGeom prst="rect">
            <a:avLst/>
          </a:prstGeom>
        </p:spPr>
      </p:pic>
      <p:sp>
        <p:nvSpPr>
          <p:cNvPr id="20" name="Rectangle 11"/>
          <p:cNvSpPr/>
          <p:nvPr/>
        </p:nvSpPr>
        <p:spPr>
          <a:xfrm>
            <a:off x="0" y="742948"/>
            <a:ext cx="7193967" cy="133350"/>
          </a:xfrm>
          <a:prstGeom prst="rect">
            <a:avLst/>
          </a:prstGeom>
          <a:solidFill>
            <a:srgbClr val="0057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字魂58号-创中黑" panose="00000500000000000000" pitchFamily="2" charset="-122"/>
              <a:ea typeface="字魂58号-创中黑" panose="00000500000000000000" pitchFamily="2" charset="-122"/>
              <a:cs typeface="+mn-cs"/>
              <a:sym typeface="字魂58号-创中黑" panose="00000500000000000000" pitchFamily="2" charset="-122"/>
            </a:endParaRPr>
          </a:p>
        </p:txBody>
      </p:sp>
      <p:sp>
        <p:nvSpPr>
          <p:cNvPr id="3" name="文本框 30">
            <a:extLst>
              <a:ext uri="{FF2B5EF4-FFF2-40B4-BE49-F238E27FC236}">
                <a16:creationId xmlns:a16="http://schemas.microsoft.com/office/drawing/2014/main" id="{E3C58B9A-A6C9-3158-A10B-D0D96462B364}"/>
              </a:ext>
            </a:extLst>
          </p:cNvPr>
          <p:cNvSpPr txBox="1"/>
          <p:nvPr/>
        </p:nvSpPr>
        <p:spPr>
          <a:xfrm>
            <a:off x="1003090" y="1829514"/>
            <a:ext cx="8224176" cy="36830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rPr>
              <a:t>以两个月为周期，完成本课题的各项相关工作</a:t>
            </a:r>
          </a:p>
        </p:txBody>
      </p:sp>
      <p:sp>
        <p:nvSpPr>
          <p:cNvPr id="4" name="文本框 32">
            <a:extLst>
              <a:ext uri="{FF2B5EF4-FFF2-40B4-BE49-F238E27FC236}">
                <a16:creationId xmlns:a16="http://schemas.microsoft.com/office/drawing/2014/main" id="{80D561CC-5FCC-682B-5B6F-6773D332FEBE}"/>
              </a:ext>
            </a:extLst>
          </p:cNvPr>
          <p:cNvSpPr txBox="1"/>
          <p:nvPr/>
        </p:nvSpPr>
        <p:spPr>
          <a:xfrm>
            <a:off x="1003090" y="6115052"/>
            <a:ext cx="8224176" cy="36830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zh-CN" sz="1800" b="0" i="0" u="none" strike="noStrike" kern="100" cap="none" spc="0" normalizeH="0" baseline="0" noProof="0" dirty="0">
                <a:ln>
                  <a:noFill/>
                </a:ln>
                <a:solidFill>
                  <a:prstClr val="black"/>
                </a:solidFill>
                <a:effectLst/>
                <a:uLnTx/>
                <a:uFillTx/>
                <a:latin typeface="等线"/>
                <a:ea typeface="等线" panose="02010600030101010101" pitchFamily="2" charset="-122"/>
                <a:cs typeface="Times New Roman" panose="02020603050405020304" pitchFamily="18" charset="0"/>
              </a:rPr>
              <a:t>发表</a:t>
            </a:r>
            <a:r>
              <a:rPr kumimoji="0" lang="zh-CN" altLang="en-US" sz="1800" b="0" i="0" u="none" strike="noStrike" kern="100" cap="none" spc="0" normalizeH="0" baseline="0" noProof="0" dirty="0">
                <a:ln>
                  <a:noFill/>
                </a:ln>
                <a:solidFill>
                  <a:prstClr val="black"/>
                </a:solidFill>
                <a:effectLst/>
                <a:uLnTx/>
                <a:uFillTx/>
                <a:latin typeface="等线"/>
                <a:ea typeface="等线" panose="02010600030101010101" pitchFamily="2" charset="-122"/>
                <a:cs typeface="Times New Roman" panose="02020603050405020304" pitchFamily="18" charset="0"/>
              </a:rPr>
              <a:t>学术</a:t>
            </a:r>
            <a:r>
              <a:rPr kumimoji="0" lang="zh-CN" altLang="zh-CN" sz="1800" b="0" i="0" u="none" strike="noStrike" kern="100" cap="none" spc="0" normalizeH="0" baseline="0" noProof="0" dirty="0">
                <a:ln>
                  <a:noFill/>
                </a:ln>
                <a:solidFill>
                  <a:prstClr val="black"/>
                </a:solidFill>
                <a:effectLst/>
                <a:uLnTx/>
                <a:uFillTx/>
                <a:latin typeface="等线"/>
                <a:ea typeface="等线" panose="02010600030101010101" pitchFamily="2" charset="-122"/>
                <a:cs typeface="Times New Roman" panose="02020603050405020304" pitchFamily="18" charset="0"/>
              </a:rPr>
              <a:t>论文</a:t>
            </a:r>
            <a:r>
              <a:rPr kumimoji="0" lang="en-US" altLang="zh-CN" sz="1800" b="0" i="0" u="none" strike="noStrike" kern="100" cap="none" spc="0" normalizeH="0" baseline="0" noProof="0" dirty="0">
                <a:ln>
                  <a:noFill/>
                </a:ln>
                <a:solidFill>
                  <a:prstClr val="black"/>
                </a:solidFill>
                <a:effectLst/>
                <a:uLnTx/>
                <a:uFillTx/>
                <a:latin typeface="等线"/>
                <a:ea typeface="等线" panose="02010600030101010101" pitchFamily="2" charset="-122"/>
                <a:cs typeface="Times New Roman" panose="02020603050405020304" pitchFamily="18" charset="0"/>
              </a:rPr>
              <a:t>1</a:t>
            </a:r>
            <a:r>
              <a:rPr kumimoji="0" lang="zh-CN" altLang="zh-CN" sz="1800" b="0" i="0" u="none" strike="noStrike" kern="100" cap="none" spc="0" normalizeH="0" baseline="0" noProof="0" dirty="0">
                <a:ln>
                  <a:noFill/>
                </a:ln>
                <a:solidFill>
                  <a:prstClr val="black"/>
                </a:solidFill>
                <a:effectLst/>
                <a:uLnTx/>
                <a:uFillTx/>
                <a:latin typeface="等线"/>
                <a:ea typeface="等线" panose="02010600030101010101" pitchFamily="2" charset="-122"/>
                <a:cs typeface="Times New Roman" panose="02020603050405020304" pitchFamily="18" charset="0"/>
              </a:rPr>
              <a:t>篇，申请专利</a:t>
            </a:r>
            <a:r>
              <a:rPr kumimoji="0" lang="zh-CN" altLang="en-US" sz="1800" b="0" i="0" u="none" strike="noStrike" kern="100" cap="none" spc="0" normalizeH="0" baseline="0" noProof="0" dirty="0">
                <a:ln>
                  <a:noFill/>
                </a:ln>
                <a:solidFill>
                  <a:prstClr val="black"/>
                </a:solidFill>
                <a:effectLst/>
                <a:uLnTx/>
                <a:uFillTx/>
                <a:latin typeface="等线"/>
                <a:ea typeface="等线" panose="02010600030101010101" pitchFamily="2" charset="-122"/>
                <a:cs typeface="Times New Roman" panose="02020603050405020304" pitchFamily="18" charset="0"/>
              </a:rPr>
              <a:t>或软著</a:t>
            </a:r>
            <a:r>
              <a:rPr kumimoji="0" lang="en-US" altLang="zh-CN" sz="1800" b="0" i="0" u="none" strike="noStrike" kern="100" cap="none" spc="0" normalizeH="0" baseline="0" noProof="0" dirty="0">
                <a:ln>
                  <a:noFill/>
                </a:ln>
                <a:solidFill>
                  <a:prstClr val="black"/>
                </a:solidFill>
                <a:effectLst/>
                <a:uLnTx/>
                <a:uFillTx/>
                <a:latin typeface="等线"/>
                <a:ea typeface="等线" panose="02010600030101010101" pitchFamily="2" charset="-122"/>
                <a:cs typeface="+mn-cs"/>
              </a:rPr>
              <a:t>1</a:t>
            </a:r>
            <a:r>
              <a:rPr kumimoji="0" lang="zh-CN" altLang="zh-CN" sz="1800" b="0" i="0" u="none" strike="noStrike" kern="100" cap="none" spc="0" normalizeH="0" baseline="0" noProof="0" dirty="0">
                <a:ln>
                  <a:noFill/>
                </a:ln>
                <a:solidFill>
                  <a:prstClr val="black"/>
                </a:solidFill>
                <a:effectLst/>
                <a:uLnTx/>
                <a:uFillTx/>
                <a:latin typeface="等线"/>
                <a:ea typeface="等线" panose="02010600030101010101" pitchFamily="2" charset="-122"/>
                <a:cs typeface="Times New Roman" panose="02020603050405020304" pitchFamily="18" charset="0"/>
              </a:rPr>
              <a:t>项</a:t>
            </a: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graphicFrame>
        <p:nvGraphicFramePr>
          <p:cNvPr id="5" name="表格 31">
            <a:extLst>
              <a:ext uri="{FF2B5EF4-FFF2-40B4-BE49-F238E27FC236}">
                <a16:creationId xmlns:a16="http://schemas.microsoft.com/office/drawing/2014/main" id="{34E64B0E-06A5-C05D-EF2A-3770879D3B23}"/>
              </a:ext>
            </a:extLst>
          </p:cNvPr>
          <p:cNvGraphicFramePr>
            <a:graphicFrameLocks noGrp="1"/>
          </p:cNvGraphicFramePr>
          <p:nvPr>
            <p:extLst>
              <p:ext uri="{D42A27DB-BD31-4B8C-83A1-F6EECF244321}">
                <p14:modId xmlns:p14="http://schemas.microsoft.com/office/powerpoint/2010/main" val="3536267088"/>
              </p:ext>
            </p:extLst>
          </p:nvPr>
        </p:nvGraphicFramePr>
        <p:xfrm>
          <a:off x="762000" y="2389695"/>
          <a:ext cx="10679571" cy="3739941"/>
        </p:xfrm>
        <a:graphic>
          <a:graphicData uri="http://schemas.openxmlformats.org/drawingml/2006/table">
            <a:tbl>
              <a:tblPr firstRow="1" bandRow="1"/>
              <a:tblGrid>
                <a:gridCol w="2744771">
                  <a:extLst>
                    <a:ext uri="{9D8B030D-6E8A-4147-A177-3AD203B41FA5}">
                      <a16:colId xmlns:a16="http://schemas.microsoft.com/office/drawing/2014/main" val="20000"/>
                    </a:ext>
                  </a:extLst>
                </a:gridCol>
                <a:gridCol w="5373278">
                  <a:extLst>
                    <a:ext uri="{9D8B030D-6E8A-4147-A177-3AD203B41FA5}">
                      <a16:colId xmlns:a16="http://schemas.microsoft.com/office/drawing/2014/main" val="20001"/>
                    </a:ext>
                  </a:extLst>
                </a:gridCol>
                <a:gridCol w="2561522">
                  <a:extLst>
                    <a:ext uri="{9D8B030D-6E8A-4147-A177-3AD203B41FA5}">
                      <a16:colId xmlns:a16="http://schemas.microsoft.com/office/drawing/2014/main" val="20002"/>
                    </a:ext>
                  </a:extLst>
                </a:gridCol>
              </a:tblGrid>
              <a:tr h="439728">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pPr algn="ctr"/>
                      <a:r>
                        <a:rPr lang="zh-CN" altLang="en-US" dirty="0"/>
                        <a:t>起讫日期</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pPr algn="ctr"/>
                      <a:r>
                        <a:rPr lang="zh-CN" altLang="en-US" dirty="0"/>
                        <a:t>主要研究内容</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b="1" kern="1200">
                          <a:solidFill>
                            <a:schemeClr val="lt1"/>
                          </a:solidFill>
                          <a:latin typeface="等线"/>
                        </a:defRPr>
                      </a:lvl1pPr>
                      <a:lvl2pPr marL="457200" algn="l" defTabSz="914400" rtl="0" eaLnBrk="1" latinLnBrk="0" hangingPunct="1">
                        <a:defRPr sz="1800" b="1" kern="1200">
                          <a:solidFill>
                            <a:schemeClr val="lt1"/>
                          </a:solidFill>
                          <a:latin typeface="等线"/>
                        </a:defRPr>
                      </a:lvl2pPr>
                      <a:lvl3pPr marL="914400" algn="l" defTabSz="914400" rtl="0" eaLnBrk="1" latinLnBrk="0" hangingPunct="1">
                        <a:defRPr sz="1800" b="1" kern="1200">
                          <a:solidFill>
                            <a:schemeClr val="lt1"/>
                          </a:solidFill>
                          <a:latin typeface="等线"/>
                        </a:defRPr>
                      </a:lvl3pPr>
                      <a:lvl4pPr marL="1371600" algn="l" defTabSz="914400" rtl="0" eaLnBrk="1" latinLnBrk="0" hangingPunct="1">
                        <a:defRPr sz="1800" b="1" kern="1200">
                          <a:solidFill>
                            <a:schemeClr val="lt1"/>
                          </a:solidFill>
                          <a:latin typeface="等线"/>
                        </a:defRPr>
                      </a:lvl4pPr>
                      <a:lvl5pPr marL="1828800" algn="l" defTabSz="914400" rtl="0" eaLnBrk="1" latinLnBrk="0" hangingPunct="1">
                        <a:defRPr sz="1800" b="1" kern="1200">
                          <a:solidFill>
                            <a:schemeClr val="lt1"/>
                          </a:solidFill>
                          <a:latin typeface="等线"/>
                        </a:defRPr>
                      </a:lvl5pPr>
                      <a:lvl6pPr marL="2286000" algn="l" defTabSz="914400" rtl="0" eaLnBrk="1" latinLnBrk="0" hangingPunct="1">
                        <a:defRPr sz="1800" b="1" kern="1200">
                          <a:solidFill>
                            <a:schemeClr val="lt1"/>
                          </a:solidFill>
                          <a:latin typeface="等线"/>
                        </a:defRPr>
                      </a:lvl6pPr>
                      <a:lvl7pPr marL="2743200" algn="l" defTabSz="914400" rtl="0" eaLnBrk="1" latinLnBrk="0" hangingPunct="1">
                        <a:defRPr sz="1800" b="1" kern="1200">
                          <a:solidFill>
                            <a:schemeClr val="lt1"/>
                          </a:solidFill>
                          <a:latin typeface="等线"/>
                        </a:defRPr>
                      </a:lvl7pPr>
                      <a:lvl8pPr marL="3200400" algn="l" defTabSz="914400" rtl="0" eaLnBrk="1" latinLnBrk="0" hangingPunct="1">
                        <a:defRPr sz="1800" b="1" kern="1200">
                          <a:solidFill>
                            <a:schemeClr val="lt1"/>
                          </a:solidFill>
                          <a:latin typeface="等线"/>
                        </a:defRPr>
                      </a:lvl8pPr>
                      <a:lvl9pPr marL="3657600" algn="l" defTabSz="914400" rtl="0" eaLnBrk="1" latinLnBrk="0" hangingPunct="1">
                        <a:defRPr sz="1800" b="1" kern="1200">
                          <a:solidFill>
                            <a:schemeClr val="lt1"/>
                          </a:solidFill>
                          <a:latin typeface="等线"/>
                        </a:defRPr>
                      </a:lvl9pPr>
                    </a:lstStyle>
                    <a:p>
                      <a:pPr algn="ctr"/>
                      <a:r>
                        <a:rPr lang="zh-CN" altLang="en-US" dirty="0"/>
                        <a:t>预期结果</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10000"/>
                  </a:ext>
                </a:extLst>
              </a:tr>
              <a:tr h="439728">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en-US" altLang="zh-CN" b="1">
                          <a:solidFill>
                            <a:schemeClr val="bg1"/>
                          </a:solidFill>
                        </a:rPr>
                        <a:t>2024.9-2023.10</a:t>
                      </a:r>
                      <a:endParaRPr lang="zh-CN" altLang="en-US" b="1" dirty="0">
                        <a:solidFill>
                          <a:schemeClr val="bg1"/>
                        </a:solidFill>
                      </a:endParaRP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dirty="0"/>
                        <a:t>国内外文献查阅域资料整理</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dirty="0"/>
                        <a:t>调研报告</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1"/>
                  </a:ext>
                </a:extLst>
              </a:tr>
              <a:tr h="439728">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en-US" altLang="zh-CN" b="1">
                          <a:solidFill>
                            <a:schemeClr val="bg1"/>
                          </a:solidFill>
                        </a:rPr>
                        <a:t>2024.11-2025.1</a:t>
                      </a:r>
                      <a:endParaRPr lang="zh-CN" altLang="en-US" b="1" dirty="0">
                        <a:solidFill>
                          <a:schemeClr val="bg1"/>
                        </a:solidFill>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a:t>研究改进宽度学习的增量式故障诊断方法</a:t>
                      </a:r>
                      <a:endParaRPr lang="zh-CN" altLang="en-US"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dirty="0"/>
                        <a:t>实验报告，中期报告</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r h="439728">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en-US" altLang="zh-CN" b="1">
                          <a:solidFill>
                            <a:schemeClr val="bg1"/>
                          </a:solidFill>
                        </a:rPr>
                        <a:t>2025.2-2025.4</a:t>
                      </a:r>
                      <a:endParaRPr lang="zh-CN" altLang="en-US" b="1" dirty="0">
                        <a:solidFill>
                          <a:schemeClr val="bg1"/>
                        </a:solidFill>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a:t>研究改进域生成对应生成网络的小样本故障诊断方法</a:t>
                      </a:r>
                      <a:endParaRPr lang="zh-CN" altLang="en-US"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dirty="0"/>
                        <a:t>实验报告，形成专利</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3"/>
                  </a:ext>
                </a:extLst>
              </a:tr>
              <a:tr h="461493">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en-US" altLang="zh-CN" b="1">
                          <a:solidFill>
                            <a:schemeClr val="bg1"/>
                          </a:solidFill>
                        </a:rPr>
                        <a:t>2025.5-2025.7</a:t>
                      </a:r>
                      <a:endParaRPr lang="zh-CN" altLang="en-US" b="1" dirty="0">
                        <a:solidFill>
                          <a:schemeClr val="bg1"/>
                        </a:solidFill>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a:t>研究基于自适应原型的小样本增量故障诊断方法</a:t>
                      </a:r>
                      <a:endParaRPr lang="zh-CN" altLang="en-US"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dirty="0"/>
                        <a:t>实验报告，形成小论文</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4"/>
                  </a:ext>
                </a:extLst>
              </a:tr>
              <a:tr h="439728">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en-US" altLang="zh-CN" b="1">
                          <a:solidFill>
                            <a:schemeClr val="bg1"/>
                          </a:solidFill>
                        </a:rPr>
                        <a:t>2025.8-2025.10</a:t>
                      </a:r>
                      <a:endParaRPr lang="zh-CN" altLang="en-US" b="1" dirty="0">
                        <a:solidFill>
                          <a:schemeClr val="bg1"/>
                        </a:solidFill>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a:t>搭建</a:t>
                      </a:r>
                      <a:r>
                        <a:rPr lang="zh-CN" altLang="en-US" dirty="0"/>
                        <a:t>综合实验验证平台</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可视化平台</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5"/>
                  </a:ext>
                </a:extLst>
              </a:tr>
              <a:tr h="439728">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en-US" altLang="zh-CN" b="1">
                          <a:solidFill>
                            <a:schemeClr val="bg1"/>
                          </a:solidFill>
                        </a:rPr>
                        <a:t>2025.11-2026.1</a:t>
                      </a:r>
                      <a:endParaRPr lang="zh-CN" altLang="en-US" b="1" dirty="0">
                        <a:solidFill>
                          <a:schemeClr val="bg1"/>
                        </a:solidFill>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t>整理报告，撰写大论文</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dirty="0"/>
                        <a:t>大论文初稿</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6"/>
                  </a:ext>
                </a:extLst>
              </a:tr>
              <a:tr h="439728">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en-US" altLang="zh-CN" b="1">
                          <a:solidFill>
                            <a:schemeClr val="bg1"/>
                          </a:solidFill>
                        </a:rPr>
                        <a:t>2026.1-2026.3</a:t>
                      </a:r>
                      <a:endParaRPr lang="zh-CN" altLang="en-US" b="1" dirty="0">
                        <a:solidFill>
                          <a:schemeClr val="bg1"/>
                        </a:solidFill>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dirty="0"/>
                        <a:t>完成大论文</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6E6"/>
                    </a:solidFill>
                  </a:tcPr>
                </a:tc>
                <a:tc>
                  <a:txBody>
                    <a:bodyPr/>
                    <a:lstStyle>
                      <a:lvl1pPr marL="0" algn="l" defTabSz="914400" rtl="0" eaLnBrk="1" latinLnBrk="0" hangingPunct="1">
                        <a:defRPr sz="1800" kern="1200">
                          <a:solidFill>
                            <a:schemeClr val="dk1"/>
                          </a:solidFill>
                          <a:latin typeface="等线"/>
                        </a:defRPr>
                      </a:lvl1pPr>
                      <a:lvl2pPr marL="457200" algn="l" defTabSz="914400" rtl="0" eaLnBrk="1" latinLnBrk="0" hangingPunct="1">
                        <a:defRPr sz="1800" kern="1200">
                          <a:solidFill>
                            <a:schemeClr val="dk1"/>
                          </a:solidFill>
                          <a:latin typeface="等线"/>
                        </a:defRPr>
                      </a:lvl2pPr>
                      <a:lvl3pPr marL="914400" algn="l" defTabSz="914400" rtl="0" eaLnBrk="1" latinLnBrk="0" hangingPunct="1">
                        <a:defRPr sz="1800" kern="1200">
                          <a:solidFill>
                            <a:schemeClr val="dk1"/>
                          </a:solidFill>
                          <a:latin typeface="等线"/>
                        </a:defRPr>
                      </a:lvl3pPr>
                      <a:lvl4pPr marL="1371600" algn="l" defTabSz="914400" rtl="0" eaLnBrk="1" latinLnBrk="0" hangingPunct="1">
                        <a:defRPr sz="1800" kern="1200">
                          <a:solidFill>
                            <a:schemeClr val="dk1"/>
                          </a:solidFill>
                          <a:latin typeface="等线"/>
                        </a:defRPr>
                      </a:lvl4pPr>
                      <a:lvl5pPr marL="1828800" algn="l" defTabSz="914400" rtl="0" eaLnBrk="1" latinLnBrk="0" hangingPunct="1">
                        <a:defRPr sz="1800" kern="1200">
                          <a:solidFill>
                            <a:schemeClr val="dk1"/>
                          </a:solidFill>
                          <a:latin typeface="等线"/>
                        </a:defRPr>
                      </a:lvl5pPr>
                      <a:lvl6pPr marL="2286000" algn="l" defTabSz="914400" rtl="0" eaLnBrk="1" latinLnBrk="0" hangingPunct="1">
                        <a:defRPr sz="1800" kern="1200">
                          <a:solidFill>
                            <a:schemeClr val="dk1"/>
                          </a:solidFill>
                          <a:latin typeface="等线"/>
                        </a:defRPr>
                      </a:lvl6pPr>
                      <a:lvl7pPr marL="2743200" algn="l" defTabSz="914400" rtl="0" eaLnBrk="1" latinLnBrk="0" hangingPunct="1">
                        <a:defRPr sz="1800" kern="1200">
                          <a:solidFill>
                            <a:schemeClr val="dk1"/>
                          </a:solidFill>
                          <a:latin typeface="等线"/>
                        </a:defRPr>
                      </a:lvl7pPr>
                      <a:lvl8pPr marL="3200400" algn="l" defTabSz="914400" rtl="0" eaLnBrk="1" latinLnBrk="0" hangingPunct="1">
                        <a:defRPr sz="1800" kern="1200">
                          <a:solidFill>
                            <a:schemeClr val="dk1"/>
                          </a:solidFill>
                          <a:latin typeface="等线"/>
                        </a:defRPr>
                      </a:lvl8pPr>
                      <a:lvl9pPr marL="3657600" algn="l" defTabSz="914400" rtl="0" eaLnBrk="1" latinLnBrk="0" hangingPunct="1">
                        <a:defRPr sz="1800" kern="1200">
                          <a:solidFill>
                            <a:schemeClr val="dk1"/>
                          </a:solidFill>
                          <a:latin typeface="等线"/>
                        </a:defRPr>
                      </a:lvl9pPr>
                    </a:lstStyle>
                    <a:p>
                      <a:pPr algn="ctr"/>
                      <a:r>
                        <a:rPr lang="zh-CN" altLang="en-US" dirty="0"/>
                        <a:t>学位论文</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E6E6"/>
                    </a:solidFill>
                  </a:tcPr>
                </a:tc>
                <a:extLst>
                  <a:ext uri="{0D108BD9-81ED-4DB2-BD59-A6C34878D82A}">
                    <a16:rowId xmlns:a16="http://schemas.microsoft.com/office/drawing/2014/main" val="10007"/>
                  </a:ext>
                </a:extLst>
              </a:tr>
            </a:tbl>
          </a:graphicData>
        </a:graphic>
      </p:graphicFrame>
      <p:sp>
        <p:nvSpPr>
          <p:cNvPr id="11" name="TextBox 23">
            <a:extLst>
              <a:ext uri="{FF2B5EF4-FFF2-40B4-BE49-F238E27FC236}">
                <a16:creationId xmlns:a16="http://schemas.microsoft.com/office/drawing/2014/main" id="{AA4BB4B7-C536-9871-C095-510B91209DF2}"/>
              </a:ext>
            </a:extLst>
          </p:cNvPr>
          <p:cNvSpPr txBox="1"/>
          <p:nvPr/>
        </p:nvSpPr>
        <p:spPr>
          <a:xfrm>
            <a:off x="762000" y="1141703"/>
            <a:ext cx="2213021" cy="422405"/>
          </a:xfrm>
          <a:prstGeom prst="rect">
            <a:avLst/>
          </a:prstGeom>
          <a:solidFill>
            <a:srgbClr val="0057AA"/>
          </a:solidFill>
          <a:ln w="19050">
            <a:noFill/>
          </a:ln>
        </p:spPr>
        <p:txBody>
          <a:bodyPr wrap="square" lIns="72000" tIns="72000" rIns="72000" bIns="72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prstClr val="white"/>
                </a:solidFill>
                <a:latin typeface="黑体" panose="02010609060101010101" pitchFamily="49" charset="-122"/>
                <a:ea typeface="黑体" panose="02010609060101010101" pitchFamily="49" charset="-122"/>
              </a:rPr>
              <a:t>各项任务时间规划</a:t>
            </a:r>
            <a:endParaRPr kumimoji="0" lang="en-US" altLang="zh-CN" sz="2000" b="0" i="0" u="none" strike="noStrike" kern="1200" cap="none" spc="0" normalizeH="0" baseline="0" noProof="0" dirty="0">
              <a:ln>
                <a:noFill/>
              </a:ln>
              <a:solidFill>
                <a:prstClr val="white"/>
              </a:solidFill>
              <a:effectLst/>
              <a:uLnTx/>
              <a:uFillTx/>
              <a:latin typeface="黑体" panose="02010609060101010101" pitchFamily="49" charset="-122"/>
              <a:ea typeface="黑体" panose="02010609060101010101" pitchFamily="49" charset="-122"/>
              <a:cs typeface="+mn-ea"/>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2F16B94-0280-5D48-1C32-A053A84BE5AF}"/>
              </a:ext>
            </a:extLst>
          </p:cNvPr>
          <p:cNvSpPr txBox="1"/>
          <p:nvPr/>
        </p:nvSpPr>
        <p:spPr>
          <a:xfrm>
            <a:off x="120081" y="124043"/>
            <a:ext cx="1107996" cy="369332"/>
          </a:xfrm>
          <a:prstGeom prst="rect">
            <a:avLst/>
          </a:prstGeom>
          <a:noFill/>
        </p:spPr>
        <p:txBody>
          <a:bodyPr wrap="none" rtlCol="0">
            <a:spAutoFit/>
          </a:bodyPr>
          <a:lstStyle/>
          <a:p>
            <a:r>
              <a:rPr lang="zh-CN" altLang="en-US"/>
              <a:t>参考文献</a:t>
            </a:r>
          </a:p>
        </p:txBody>
      </p:sp>
      <p:sp>
        <p:nvSpPr>
          <p:cNvPr id="19" name="文本框 18">
            <a:extLst>
              <a:ext uri="{FF2B5EF4-FFF2-40B4-BE49-F238E27FC236}">
                <a16:creationId xmlns:a16="http://schemas.microsoft.com/office/drawing/2014/main" id="{BFA46319-576F-2183-4D41-443FBDA06AD3}"/>
              </a:ext>
            </a:extLst>
          </p:cNvPr>
          <p:cNvSpPr txBox="1"/>
          <p:nvPr/>
        </p:nvSpPr>
        <p:spPr>
          <a:xfrm>
            <a:off x="219075" y="503585"/>
            <a:ext cx="11753850" cy="6370975"/>
          </a:xfrm>
          <a:prstGeom prst="rect">
            <a:avLst/>
          </a:prstGeom>
          <a:noFill/>
        </p:spPr>
        <p:txBody>
          <a:bodyPr wrap="square">
            <a:spAutoFit/>
          </a:bodyPr>
          <a:lstStyle/>
          <a:p>
            <a:r>
              <a:rPr lang="en-US" altLang="zh-CN" sz="1200">
                <a:latin typeface="Times New Roman" panose="02020603050405020304" pitchFamily="18" charset="0"/>
                <a:cs typeface="Times New Roman" panose="02020603050405020304" pitchFamily="18" charset="0"/>
              </a:rPr>
              <a:t>[1]</a:t>
            </a:r>
            <a:r>
              <a:rPr lang="zh-CN" altLang="en-US" sz="1200">
                <a:latin typeface="Times New Roman" panose="02020603050405020304" pitchFamily="18" charset="0"/>
                <a:cs typeface="Times New Roman" panose="02020603050405020304" pitchFamily="18" charset="0"/>
              </a:rPr>
              <a:t>仉莹,张涛,葛平淑,等.电机轴承智能故障诊断综述[J].机电工程技术,2024,53(03):1-6.</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[2]</a:t>
            </a:r>
            <a:r>
              <a:rPr lang="en-US" altLang="zh-CN" sz="1200" b="0" i="0">
                <a:solidFill>
                  <a:srgbClr val="222222"/>
                </a:solidFill>
                <a:effectLst/>
                <a:highlight>
                  <a:srgbClr val="FFFFFF"/>
                </a:highlight>
                <a:latin typeface="Times New Roman" panose="02020603050405020304" pitchFamily="18" charset="0"/>
                <a:cs typeface="Times New Roman" panose="02020603050405020304" pitchFamily="18" charset="0"/>
              </a:rPr>
              <a:t> Hakim M, Omran A A B, Ahmed A N, et al. A systematic review of rolling bearing fault diagnoses based on deep learning and transfer learning: Taxonomy, overview, application, open challenges, weaknesses and recommendations[J]. Ain Shams Engineering Journal, 2023, 14(4): 101945.</a:t>
            </a:r>
          </a:p>
          <a:p>
            <a:r>
              <a:rPr lang="en-US" altLang="zh-CN" sz="1200">
                <a:solidFill>
                  <a:srgbClr val="222222"/>
                </a:solidFill>
                <a:highlight>
                  <a:srgbClr val="FFFFFF"/>
                </a:highlight>
                <a:latin typeface="Times New Roman" panose="02020603050405020304" pitchFamily="18" charset="0"/>
                <a:cs typeface="Times New Roman" panose="02020603050405020304" pitchFamily="18" charset="0"/>
              </a:rPr>
              <a:t>[3]</a:t>
            </a:r>
            <a:r>
              <a:rPr lang="en-US" altLang="zh-CN" sz="1200" b="0" i="0">
                <a:solidFill>
                  <a:srgbClr val="222222"/>
                </a:solidFill>
                <a:effectLst/>
                <a:highlight>
                  <a:srgbClr val="FFFFFF"/>
                </a:highlight>
                <a:latin typeface="Arial" panose="020B0604020202020204" pitchFamily="34" charset="0"/>
              </a:rPr>
              <a:t> Mohandas R, Southern M, O’Connell E, et al. A Survey of incremental deep learning for defect detection in manufacturing[J]. Big Data and Cognitive Computing, 2024, 8(1): 7.</a:t>
            </a:r>
          </a:p>
          <a:p>
            <a:r>
              <a:rPr lang="en-US" altLang="zh-CN" sz="1200">
                <a:solidFill>
                  <a:srgbClr val="222222"/>
                </a:solidFill>
                <a:highlight>
                  <a:srgbClr val="FFFFFF"/>
                </a:highlight>
                <a:latin typeface="Arial" panose="020B0604020202020204" pitchFamily="34" charset="0"/>
                <a:cs typeface="Times New Roman" panose="02020603050405020304" pitchFamily="18" charset="0"/>
              </a:rPr>
              <a:t>[4] </a:t>
            </a:r>
            <a:r>
              <a:rPr lang="en-US" altLang="zh-CN" sz="1200" b="0" i="0">
                <a:solidFill>
                  <a:srgbClr val="222222"/>
                </a:solidFill>
                <a:effectLst/>
                <a:highlight>
                  <a:srgbClr val="FFFFFF"/>
                </a:highlight>
                <a:latin typeface="Arial" panose="020B0604020202020204" pitchFamily="34" charset="0"/>
              </a:rPr>
              <a:t>Tian S, Li L, Li W, et al. A survey on few-shot class-incremental learning[J]. Neural Networks, 2024, 169: 307-324.</a:t>
            </a:r>
          </a:p>
          <a:p>
            <a:r>
              <a:rPr lang="en-US" altLang="zh-CN" sz="1200">
                <a:solidFill>
                  <a:srgbClr val="222222"/>
                </a:solidFill>
                <a:highlight>
                  <a:srgbClr val="FFFFFF"/>
                </a:highlight>
                <a:latin typeface="Arial" panose="020B0604020202020204" pitchFamily="34" charset="0"/>
                <a:cs typeface="Times New Roman" panose="02020603050405020304" pitchFamily="18" charset="0"/>
              </a:rPr>
              <a:t>[5] </a:t>
            </a:r>
            <a:r>
              <a:rPr lang="en-US" altLang="zh-CN" sz="1200"/>
              <a:t>Rebuffi, S.A., Kolesnikov, A., Sperl, G., &amp; Lampert, C.H. iCaRL: Incremental Classifier and Representation Learning. </a:t>
            </a:r>
            <a:r>
              <a:rPr lang="en-US" altLang="zh-CN" sz="1200" i="1"/>
              <a:t>Proceedings of the IEEE Conference on Computer Vision and Pattern Recognition (CVPR)</a:t>
            </a:r>
            <a:r>
              <a:rPr lang="en-US" altLang="zh-CN" sz="1200"/>
              <a:t>, 2017: 5533-5542. DOI: 10.1109/CVPR.2017.587.</a:t>
            </a:r>
          </a:p>
          <a:p>
            <a:r>
              <a:rPr lang="en-US" altLang="zh-CN" sz="1200">
                <a:latin typeface="Times New Roman" panose="02020603050405020304" pitchFamily="18" charset="0"/>
                <a:cs typeface="Times New Roman" panose="02020603050405020304" pitchFamily="18" charset="0"/>
              </a:rPr>
              <a:t>[6] </a:t>
            </a:r>
            <a:r>
              <a:rPr lang="en-US" altLang="zh-CN" sz="1200"/>
              <a:t>Goodfellow, I., Pouget-Abadie, J., Mirza, M., et al. Generative Adversarial Nets. </a:t>
            </a:r>
            <a:r>
              <a:rPr lang="en-US" altLang="zh-CN" sz="1200" i="1"/>
              <a:t>Advances in Neural Information Processing Systems</a:t>
            </a:r>
            <a:r>
              <a:rPr lang="en-US" altLang="zh-CN" sz="1200"/>
              <a:t>, 2014, 27: 2672-2680.</a:t>
            </a:r>
          </a:p>
          <a:p>
            <a:r>
              <a:rPr lang="en-US" altLang="zh-CN" sz="1200">
                <a:latin typeface="Times New Roman" panose="02020603050405020304" pitchFamily="18" charset="0"/>
                <a:cs typeface="Times New Roman" panose="02020603050405020304" pitchFamily="18" charset="0"/>
              </a:rPr>
              <a:t>[7]</a:t>
            </a:r>
            <a:r>
              <a:rPr lang="en-US" altLang="zh-CN" sz="1200"/>
              <a:t> Lopez-Paz, D., &amp; Ranzato, M. Gradient Episodic Memory for Continual Learning. </a:t>
            </a:r>
            <a:r>
              <a:rPr lang="en-US" altLang="zh-CN" sz="1200" i="1"/>
              <a:t>Advances in Neural Information Processing Systems</a:t>
            </a:r>
            <a:r>
              <a:rPr lang="en-US" altLang="zh-CN" sz="1200"/>
              <a:t>, 2017, 30: 6467-6476.</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[8]</a:t>
            </a:r>
            <a:r>
              <a:rPr lang="en-US" altLang="zh-CN" sz="1200"/>
              <a:t> Yosinski, J., Clune, J., Bengio, Y., &amp; Lipson, H. How Transferable Are Features in Deep Neural Networks?. </a:t>
            </a:r>
            <a:r>
              <a:rPr lang="en-US" altLang="zh-CN" sz="1200" i="1"/>
              <a:t>Advances in Neural Information Processing Systems</a:t>
            </a:r>
            <a:r>
              <a:rPr lang="en-US" altLang="zh-CN" sz="1200"/>
              <a:t>, 2014, 27: 3320-3328.</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[9]</a:t>
            </a:r>
            <a:r>
              <a:rPr lang="en-US" altLang="zh-CN" sz="1200"/>
              <a:t> Mallya, A., &amp; Lazebnik, S. PackNet: Adding Multiple Tasks to a Single Network by Iterative Pruning. </a:t>
            </a:r>
            <a:r>
              <a:rPr lang="en-US" altLang="zh-CN" sz="1200" i="1"/>
              <a:t>Proceedings of the IEEE Conference on Computer Vision and Pattern Recognition (CVPR)</a:t>
            </a:r>
            <a:r>
              <a:rPr lang="en-US" altLang="zh-CN" sz="1200"/>
              <a:t>, 2018: 7765-7773. DOI: 10.1109/CVPR.2018.00810.</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[10]</a:t>
            </a:r>
            <a:r>
              <a:rPr lang="en-US" altLang="zh-CN" sz="1200"/>
              <a:t> Serra, J., Suris, D., Miron, M., &amp; Karatzoglou, A. Overcoming Catastrophic Forgetting with Hard Attention to the Task. </a:t>
            </a:r>
            <a:r>
              <a:rPr lang="en-US" altLang="zh-CN" sz="1200" i="1"/>
              <a:t>Proceedings of the 35th International Conference on Machine Learning (ICML)</a:t>
            </a:r>
            <a:r>
              <a:rPr lang="en-US" altLang="zh-CN" sz="1200"/>
              <a:t>, 2018: 4555-4564.</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[11]</a:t>
            </a:r>
            <a:r>
              <a:rPr lang="en-US" altLang="zh-CN" sz="1200"/>
              <a:t> Hinton, G., Vinyals, O., &amp; Dean, J. Distilling the Knowledge in a Neural Network. </a:t>
            </a:r>
            <a:r>
              <a:rPr lang="en-US" altLang="zh-CN" sz="1200" i="1"/>
              <a:t>arXiv preprint arXiv:1503.02531</a:t>
            </a:r>
            <a:r>
              <a:rPr lang="en-US" altLang="zh-CN" sz="1200"/>
              <a:t>, 2015.</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[12]</a:t>
            </a:r>
            <a:r>
              <a:rPr lang="en-US" altLang="zh-CN" sz="1200"/>
              <a:t> Kirkpatrick, J., Pascanu, R., Rabinowitz, N., et al. Overcoming Catastrophic Forgetting in Neural Networks. </a:t>
            </a:r>
            <a:r>
              <a:rPr lang="en-US" altLang="zh-CN" sz="1200" i="1"/>
              <a:t>Proceedings of the National Academy of Sciences of the United States of America</a:t>
            </a:r>
            <a:r>
              <a:rPr lang="en-US" altLang="zh-CN" sz="1200"/>
              <a:t>, 2017, 114(13): 3521-3526. DOI: 10.1073/pnas.1611835114.</a:t>
            </a:r>
          </a:p>
          <a:p>
            <a:r>
              <a:rPr lang="en-US" altLang="zh-CN" sz="1200">
                <a:latin typeface="Times New Roman" panose="02020603050405020304" pitchFamily="18" charset="0"/>
                <a:cs typeface="Times New Roman" panose="02020603050405020304" pitchFamily="18" charset="0"/>
              </a:rPr>
              <a:t>[13]</a:t>
            </a:r>
            <a:r>
              <a:rPr lang="en-US" altLang="zh-CN" sz="1200"/>
              <a:t> Li, Z., &amp; Hoiem, D. Learning without Forgetting. </a:t>
            </a:r>
            <a:r>
              <a:rPr lang="en-US" altLang="zh-CN" sz="1200" i="1"/>
              <a:t>IEEE Transactions on Pattern Analysis and Machine Intelligence</a:t>
            </a:r>
            <a:r>
              <a:rPr lang="en-US" altLang="zh-CN" sz="1200"/>
              <a:t>, 2018, 40(12): 2935-2947. DOI: 10.1109/TPAMI.2017.2773081.</a:t>
            </a:r>
          </a:p>
          <a:p>
            <a:r>
              <a:rPr lang="en-US" altLang="zh-CN" sz="1200">
                <a:latin typeface="Times New Roman" panose="02020603050405020304" pitchFamily="18" charset="0"/>
                <a:cs typeface="Times New Roman" panose="02020603050405020304" pitchFamily="18" charset="0"/>
              </a:rPr>
              <a:t>[14]</a:t>
            </a:r>
            <a:r>
              <a:rPr lang="en-US" altLang="zh-CN" sz="1200"/>
              <a:t> Tzeng, E., et al. Deep Domain Confusion: Maximizing for Domain Invariance. In: </a:t>
            </a:r>
            <a:r>
              <a:rPr lang="en-US" altLang="zh-CN" sz="1200" i="1"/>
              <a:t>Proceedings of the IEEE Conference on Computer Vision and Pattern Recognition</a:t>
            </a:r>
            <a:r>
              <a:rPr lang="en-US" altLang="zh-CN" sz="1200"/>
              <a:t>, 2014, pp. 1001–1010.</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[15]</a:t>
            </a:r>
            <a:r>
              <a:rPr lang="en-US" altLang="zh-CN" sz="1200"/>
              <a:t> Long, M., et al. Learning Transferable Features with Deep Adaptation Networks. In: </a:t>
            </a:r>
            <a:r>
              <a:rPr lang="en-US" altLang="zh-CN" sz="1200" i="1"/>
              <a:t>Proceedings of the 32nd International Conference on Machine Learning</a:t>
            </a:r>
            <a:r>
              <a:rPr lang="en-US" altLang="zh-CN" sz="1200"/>
              <a:t>, Lille, France, 2015, pp. 97–105.</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[16]</a:t>
            </a:r>
            <a:r>
              <a:rPr lang="en-US" altLang="zh-CN" sz="1200"/>
              <a:t> Ganin, Y., and Lempitsky, V. Unsupervised Domain Adaptation by Backpropagation. In: </a:t>
            </a:r>
            <a:r>
              <a:rPr lang="en-US" altLang="zh-CN" sz="1200" i="1"/>
              <a:t>Proceedings of the 32nd International Conference on Machine Learning</a:t>
            </a:r>
            <a:r>
              <a:rPr lang="en-US" altLang="zh-CN" sz="1200"/>
              <a:t>, Lille, France, 2015, pp. 1180–1189.</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[17]</a:t>
            </a:r>
            <a:r>
              <a:rPr lang="en-US" altLang="zh-CN" sz="1200"/>
              <a:t> Koch, G., et al. Siamese Neural Networks for One-Shot Image Recognition. In: </a:t>
            </a:r>
            <a:r>
              <a:rPr lang="en-US" altLang="zh-CN" sz="1200" i="1"/>
              <a:t>Proceedings of the 32nd International Conference on Machine Learning</a:t>
            </a:r>
            <a:r>
              <a:rPr lang="en-US" altLang="zh-CN" sz="1200"/>
              <a:t>, 2015, pp. 21–26.</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[18]</a:t>
            </a:r>
            <a:r>
              <a:rPr lang="en-US" altLang="zh-CN" sz="1200"/>
              <a:t> Long, M., et al. Combining MMD and Adversarial Adaptation for Transfer Learning. </a:t>
            </a:r>
            <a:r>
              <a:rPr lang="en-US" altLang="zh-CN" sz="1200" i="1"/>
              <a:t>IEEE Transactions on Neural Networks and Learning Systems</a:t>
            </a:r>
            <a:r>
              <a:rPr lang="en-US" altLang="zh-CN" sz="1200"/>
              <a:t>, 2018, 29(10): 1456–1470.</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[19]</a:t>
            </a:r>
            <a:r>
              <a:rPr lang="en-US" altLang="zh-CN" sz="1200"/>
              <a:t> Liu, J., Song, L., &amp; Qin, Y. Prototype rectification for few-shot learning. In: </a:t>
            </a:r>
            <a:r>
              <a:rPr lang="en-US" altLang="zh-CN" sz="1200" i="1"/>
              <a:t>Proceedings of ECCV 2020</a:t>
            </a:r>
            <a:r>
              <a:rPr lang="en-US" altLang="zh-CN" sz="1200"/>
              <a:t>, pp. 741–756​.</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[20]</a:t>
            </a:r>
            <a:r>
              <a:rPr lang="en-US" altLang="zh-CN" sz="1200"/>
              <a:t> Shi, Z., Gu, L., Liu, H., Wang, Y., Yu, Y., &amp; Tang, J. MetaFSCIL: A meta-learning approach for few-shot class incremental learning. In: </a:t>
            </a:r>
            <a:r>
              <a:rPr lang="en-US" altLang="zh-CN" sz="1200" i="1"/>
              <a:t>Proceedings of CVPR 2022</a:t>
            </a:r>
            <a:r>
              <a:rPr lang="en-US" altLang="zh-CN" sz="1200"/>
              <a:t>, pp. 14166–14175​.</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[21]</a:t>
            </a:r>
            <a:r>
              <a:rPr lang="en-US" altLang="zh-CN" sz="1200"/>
              <a:t> Zhou, Wang, et al. Forward compatible training (FACT): A few-shot class incremental learning approach. In: </a:t>
            </a:r>
            <a:r>
              <a:rPr lang="en-US" altLang="zh-CN" sz="1200" i="1"/>
              <a:t>CVPR 2022</a:t>
            </a:r>
            <a:r>
              <a:rPr lang="en-US" altLang="zh-CN" sz="1200"/>
              <a:t>, pp. 64.42–18.96​.</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[22]</a:t>
            </a:r>
            <a:r>
              <a:rPr lang="en-US" altLang="zh-CN" sz="1200"/>
              <a:t> Peng et al. ALICE: A method for adaptive few-shot learning using prototype learning. In: </a:t>
            </a:r>
            <a:r>
              <a:rPr lang="en-US" altLang="zh-CN" sz="1200" i="1"/>
              <a:t>ECCV 2022</a:t>
            </a:r>
            <a:r>
              <a:rPr lang="en-US" altLang="zh-CN" sz="1200"/>
              <a:t>, pp. 63.21–65.75​.</a:t>
            </a:r>
            <a:endParaRPr lang="en-US" altLang="zh-CN" sz="1200">
              <a:latin typeface="Times New Roman" panose="02020603050405020304" pitchFamily="18" charset="0"/>
              <a:cs typeface="Times New Roman" panose="02020603050405020304" pitchFamily="18" charset="0"/>
            </a:endParaRPr>
          </a:p>
          <a:p>
            <a:endParaRPr lang="zh-CN" altLang="en-US" sz="1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7388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2F16B94-0280-5D48-1C32-A053A84BE5AF}"/>
              </a:ext>
            </a:extLst>
          </p:cNvPr>
          <p:cNvSpPr txBox="1"/>
          <p:nvPr/>
        </p:nvSpPr>
        <p:spPr>
          <a:xfrm>
            <a:off x="120081" y="124043"/>
            <a:ext cx="1107996" cy="369332"/>
          </a:xfrm>
          <a:prstGeom prst="rect">
            <a:avLst/>
          </a:prstGeom>
          <a:noFill/>
        </p:spPr>
        <p:txBody>
          <a:bodyPr wrap="none" rtlCol="0">
            <a:spAutoFit/>
          </a:bodyPr>
          <a:lstStyle/>
          <a:p>
            <a:r>
              <a:rPr lang="zh-CN" altLang="en-US"/>
              <a:t>参考文献</a:t>
            </a:r>
          </a:p>
        </p:txBody>
      </p:sp>
      <p:sp>
        <p:nvSpPr>
          <p:cNvPr id="19" name="文本框 18">
            <a:extLst>
              <a:ext uri="{FF2B5EF4-FFF2-40B4-BE49-F238E27FC236}">
                <a16:creationId xmlns:a16="http://schemas.microsoft.com/office/drawing/2014/main" id="{BFA46319-576F-2183-4D41-443FBDA06AD3}"/>
              </a:ext>
            </a:extLst>
          </p:cNvPr>
          <p:cNvSpPr txBox="1"/>
          <p:nvPr/>
        </p:nvSpPr>
        <p:spPr>
          <a:xfrm>
            <a:off x="219075" y="503585"/>
            <a:ext cx="11753850" cy="1200329"/>
          </a:xfrm>
          <a:prstGeom prst="rect">
            <a:avLst/>
          </a:prstGeom>
          <a:noFill/>
        </p:spPr>
        <p:txBody>
          <a:bodyPr wrap="square">
            <a:spAutoFit/>
          </a:bodyPr>
          <a:lstStyle/>
          <a:p>
            <a:r>
              <a:rPr lang="en-US" altLang="zh-CN" sz="1200">
                <a:latin typeface="Times New Roman" panose="02020603050405020304" pitchFamily="18" charset="0"/>
                <a:cs typeface="Times New Roman" panose="02020603050405020304" pitchFamily="18" charset="0"/>
              </a:rPr>
              <a:t>[23]</a:t>
            </a:r>
            <a:r>
              <a:rPr lang="en-US" altLang="zh-CN" sz="1200"/>
              <a:t> Kukleva, Kuehne, and Schiele. A three-stage framework for direct replay in incremental learning. In: </a:t>
            </a:r>
            <a:r>
              <a:rPr lang="en-US" altLang="zh-CN" sz="1200" i="1"/>
              <a:t>Proceedings of ECCV 2022</a:t>
            </a:r>
            <a:r>
              <a:rPr lang="en-US" altLang="zh-CN" sz="1200"/>
              <a:t>, pp. 60.77–61.52​.</a:t>
            </a:r>
          </a:p>
          <a:p>
            <a:r>
              <a:rPr lang="en-US" altLang="zh-CN" sz="1200">
                <a:latin typeface="Times New Roman" panose="02020603050405020304" pitchFamily="18" charset="0"/>
                <a:cs typeface="Times New Roman" panose="02020603050405020304" pitchFamily="18" charset="0"/>
              </a:rPr>
              <a:t>[24]</a:t>
            </a:r>
            <a:r>
              <a:rPr lang="en-US" altLang="zh-CN" sz="1200"/>
              <a:t> Wang, Yao, et al. A few-shot learning approach with GAN-based data augmentation. In: </a:t>
            </a:r>
            <a:r>
              <a:rPr lang="en-US" altLang="zh-CN" sz="1200" i="1"/>
              <a:t>Proceedings of CVPR 2022</a:t>
            </a:r>
            <a:r>
              <a:rPr lang="en-US" altLang="zh-CN" sz="1200"/>
              <a:t>, pp. 50.63–51.84​.</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[25]</a:t>
            </a:r>
            <a:r>
              <a:rPr lang="en-US" altLang="zh-CN" sz="1200"/>
              <a:t> Tao et al. TOPIC: A method for few-shot class incremental learning. In: </a:t>
            </a:r>
            <a:r>
              <a:rPr lang="en-US" altLang="zh-CN" sz="1200" i="1"/>
              <a:t>Proceedings of CVPR 2020</a:t>
            </a:r>
            <a:r>
              <a:rPr lang="en-US" altLang="zh-CN" sz="1200"/>
              <a:t>, pp. 42.62–43.92​.</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[26]</a:t>
            </a:r>
            <a:r>
              <a:rPr lang="en-US" altLang="zh-CN" sz="1200"/>
              <a:t> Zhang et al. Class-incremental learning with CEC. In: </a:t>
            </a:r>
            <a:r>
              <a:rPr lang="en-US" altLang="zh-CN" sz="1200" i="1"/>
              <a:t>Proceedings of CVPR 2021</a:t>
            </a:r>
            <a:r>
              <a:rPr lang="en-US" altLang="zh-CN" sz="1200"/>
              <a:t>, pp. 59.53–61.33​.</a:t>
            </a:r>
            <a:endParaRPr lang="en-US" altLang="zh-CN" sz="1200">
              <a:latin typeface="Times New Roman" panose="02020603050405020304" pitchFamily="18" charset="0"/>
              <a:cs typeface="Times New Roman" panose="02020603050405020304" pitchFamily="18" charset="0"/>
            </a:endParaRPr>
          </a:p>
          <a:p>
            <a:r>
              <a:rPr lang="en-US" altLang="zh-CN" sz="1200">
                <a:latin typeface="Times New Roman" panose="02020603050405020304" pitchFamily="18" charset="0"/>
                <a:cs typeface="Times New Roman" panose="02020603050405020304" pitchFamily="18" charset="0"/>
              </a:rPr>
              <a:t>[27]</a:t>
            </a:r>
            <a:r>
              <a:rPr lang="en-US" altLang="zh-CN" sz="1200"/>
              <a:t> Yang et al. DSN: A method for class-incremental learning. In: </a:t>
            </a:r>
            <a:r>
              <a:rPr lang="en-US" altLang="zh-CN" sz="1200" i="1"/>
              <a:t>Proceedings of PAMI 2022</a:t>
            </a:r>
            <a:r>
              <a:rPr lang="en-US" altLang="zh-CN" sz="1200"/>
              <a:t>, pp. 60.14–71.02​.</a:t>
            </a:r>
            <a:endParaRPr lang="en-US" altLang="zh-CN" sz="1200">
              <a:latin typeface="Times New Roman" panose="02020603050405020304" pitchFamily="18" charset="0"/>
              <a:cs typeface="Times New Roman" panose="02020603050405020304" pitchFamily="18" charset="0"/>
            </a:endParaRPr>
          </a:p>
          <a:p>
            <a:endParaRPr lang="zh-CN" altLang="en-US" sz="1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3118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11"/>
          <p:cNvSpPr/>
          <p:nvPr/>
        </p:nvSpPr>
        <p:spPr>
          <a:xfrm>
            <a:off x="-1" y="2521225"/>
            <a:ext cx="12192000" cy="1815548"/>
          </a:xfrm>
          <a:prstGeom prst="rect">
            <a:avLst/>
          </a:prstGeom>
          <a:solidFill>
            <a:srgbClr val="0054A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文本框 16"/>
          <p:cNvSpPr txBox="1"/>
          <p:nvPr/>
        </p:nvSpPr>
        <p:spPr>
          <a:xfrm>
            <a:off x="3541244" y="3044279"/>
            <a:ext cx="5878981"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4400" b="1">
                <a:solidFill>
                  <a:prstClr val="white"/>
                </a:solidFill>
                <a:latin typeface="等线" panose="020F0502020204030204"/>
                <a:ea typeface="等线" panose="02010600030101010101" pitchFamily="2" charset="-122"/>
              </a:rPr>
              <a:t>请老师批评指正</a:t>
            </a:r>
            <a:r>
              <a:rPr kumimoji="0" lang="zh-CN" altLang="en-US" sz="4400" b="1"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rPr>
              <a:t>！</a:t>
            </a:r>
            <a:endParaRPr kumimoji="0" lang="zh-CN" altLang="en-US" sz="4400" b="1" i="0" u="none" strike="noStrike" kern="1200" cap="none" spc="0" normalizeH="0" baseline="0" noProof="0" dirty="0">
              <a:ln>
                <a:noFill/>
              </a:ln>
              <a:solidFill>
                <a:prstClr val="white"/>
              </a:solidFill>
              <a:effectLst/>
              <a:uLnTx/>
              <a:uFillTx/>
              <a:latin typeface="等线" panose="020F0502020204030204"/>
              <a:ea typeface="等线" panose="02010600030101010101" pitchFamily="2" charset="-122"/>
              <a:cs typeface="+mn-cs"/>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9940</TotalTime>
  <Words>3802</Words>
  <Application>Microsoft Office PowerPoint</Application>
  <PresentationFormat>宽屏</PresentationFormat>
  <Paragraphs>384</Paragraphs>
  <Slides>17</Slides>
  <Notes>17</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17</vt:i4>
      </vt:variant>
    </vt:vector>
  </HeadingPairs>
  <TitlesOfParts>
    <vt:vector size="31" baseType="lpstr">
      <vt:lpstr>等线</vt:lpstr>
      <vt:lpstr>等线 Light</vt:lpstr>
      <vt:lpstr>黑体</vt:lpstr>
      <vt:lpstr>宋体</vt:lpstr>
      <vt:lpstr>Microsoft YaHei</vt:lpstr>
      <vt:lpstr>Microsoft YaHei</vt:lpstr>
      <vt:lpstr>微软雅黑 Light</vt:lpstr>
      <vt:lpstr>幼圆</vt:lpstr>
      <vt:lpstr>字魂105号-简雅黑</vt:lpstr>
      <vt:lpstr>字魂58号-创中黑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璐瑶 李</dc:creator>
  <cp:lastModifiedBy>K1154</cp:lastModifiedBy>
  <cp:revision>95</cp:revision>
  <dcterms:created xsi:type="dcterms:W3CDTF">2024-05-29T09:51:17Z</dcterms:created>
  <dcterms:modified xsi:type="dcterms:W3CDTF">2024-09-10T04:36:44Z</dcterms:modified>
</cp:coreProperties>
</file>