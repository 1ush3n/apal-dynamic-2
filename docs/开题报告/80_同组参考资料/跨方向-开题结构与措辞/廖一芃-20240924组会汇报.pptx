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328" r:id="rId2"/>
    <p:sldId id="391" r:id="rId3"/>
    <p:sldId id="417" r:id="rId4"/>
    <p:sldId id="424" r:id="rId5"/>
    <p:sldId id="423" r:id="rId6"/>
    <p:sldId id="426" r:id="rId7"/>
    <p:sldId id="427" r:id="rId8"/>
    <p:sldId id="428" r:id="rId9"/>
    <p:sldId id="404" r:id="rId10"/>
    <p:sldId id="425" r:id="rId11"/>
    <p:sldId id="401" r:id="rId12"/>
    <p:sldId id="415" r:id="rId13"/>
    <p:sldId id="397" r:id="rId14"/>
    <p:sldId id="399" r:id="rId15"/>
    <p:sldId id="418" r:id="rId16"/>
    <p:sldId id="338" r:id="rId17"/>
    <p:sldId id="347" r:id="rId18"/>
    <p:sldId id="407" r:id="rId19"/>
    <p:sldId id="330"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83C0"/>
    <a:srgbClr val="E7E7E3"/>
    <a:srgbClr val="C6D1E2"/>
    <a:srgbClr val="3B5E98"/>
    <a:srgbClr val="2F5597"/>
    <a:srgbClr val="B3C7DD"/>
    <a:srgbClr val="CED4D9"/>
    <a:srgbClr val="EBF1F6"/>
    <a:srgbClr val="EFF3F6"/>
    <a:srgbClr val="E3E6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242" autoAdjust="0"/>
    <p:restoredTop sz="71826" autoAdjust="0"/>
  </p:normalViewPr>
  <p:slideViewPr>
    <p:cSldViewPr snapToGrid="0">
      <p:cViewPr varScale="1">
        <p:scale>
          <a:sx n="79" d="100"/>
          <a:sy n="79" d="100"/>
        </p:scale>
        <p:origin x="636" y="6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D5EC8E-89AB-4C72-AC0A-29FE67BE0EF2}" type="datetimeFigureOut">
              <a:rPr lang="zh-CN" altLang="en-US" smtClean="0"/>
              <a:t>2024/9/24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6500E-9BD0-4F64-9C53-F2D2129A1C7E}" type="slidenum">
              <a:rPr lang="zh-CN" altLang="en-US" smtClean="0"/>
              <a:t>‹#›</a:t>
            </a:fld>
            <a:endParaRPr lang="zh-CN" altLang="en-US"/>
          </a:p>
        </p:txBody>
      </p:sp>
    </p:spTree>
    <p:extLst>
      <p:ext uri="{BB962C8B-B14F-4D97-AF65-F5344CB8AC3E}">
        <p14:creationId xmlns:p14="http://schemas.microsoft.com/office/powerpoint/2010/main" val="218183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a:t>
            </a:fld>
            <a:endParaRPr lang="zh-CN" altLang="en-US"/>
          </a:p>
        </p:txBody>
      </p:sp>
    </p:spTree>
    <p:extLst>
      <p:ext uri="{BB962C8B-B14F-4D97-AF65-F5344CB8AC3E}">
        <p14:creationId xmlns:p14="http://schemas.microsoft.com/office/powerpoint/2010/main" val="3618559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2</a:t>
            </a:fld>
            <a:endParaRPr lang="zh-CN" altLang="en-US"/>
          </a:p>
        </p:txBody>
      </p:sp>
    </p:spTree>
    <p:extLst>
      <p:ext uri="{BB962C8B-B14F-4D97-AF65-F5344CB8AC3E}">
        <p14:creationId xmlns:p14="http://schemas.microsoft.com/office/powerpoint/2010/main" val="1234197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智能制造背景下，智能车间作为实施新一代智能制造的主要载体，扮演着关键角色。在智能制造系统中，生产调度问题是一个普遍且关键的挑战，该问题的核心在于如何确定工件在各个机器上的加工顺序，以实现目标性能指标的最优化。</a:t>
            </a:r>
            <a:endParaRPr lang="en-US" altLang="zh-CN" dirty="0"/>
          </a:p>
          <a:p>
            <a:endParaRPr lang="en-US" altLang="zh-CN" dirty="0"/>
          </a:p>
          <a:p>
            <a:r>
              <a:rPr lang="zh-CN" altLang="en-US" dirty="0"/>
              <a:t>近年来，智能车间生产模式趋势朝着</a:t>
            </a:r>
            <a:r>
              <a:rPr lang="zh-CN" altLang="en-US" b="1" dirty="0"/>
              <a:t>多品种、小批量和定制化生产</a:t>
            </a:r>
            <a:r>
              <a:rPr lang="zh-CN" altLang="en-US" dirty="0"/>
              <a:t>模式发展，制造车间的运行过程的动态性和随机性更加突出，传统的</a:t>
            </a:r>
            <a:r>
              <a:rPr lang="zh-CN" altLang="en-US" b="1" dirty="0"/>
              <a:t>集中式</a:t>
            </a:r>
            <a:r>
              <a:rPr lang="zh-CN" altLang="en-US" dirty="0"/>
              <a:t>车间运行方式难以实现对车间现场异常的实时响应和动态优化。无法满足智能车间对</a:t>
            </a:r>
            <a:r>
              <a:rPr lang="zh-CN" altLang="en-US" b="1" dirty="0"/>
              <a:t>不确定环境具备自适应能力</a:t>
            </a:r>
            <a:r>
              <a:rPr lang="zh-CN" altLang="en-US" dirty="0"/>
              <a:t>的发展需求。需要将智能车间的监控、调度等功能下放至</a:t>
            </a:r>
            <a:r>
              <a:rPr lang="zh-CN" altLang="en-US" b="1" dirty="0"/>
              <a:t>单元级</a:t>
            </a:r>
            <a:r>
              <a:rPr lang="zh-CN" altLang="en-US" dirty="0"/>
              <a:t>，使单元实现智能化</a:t>
            </a:r>
            <a:endParaRPr lang="en-US" altLang="zh-CN" dirty="0"/>
          </a:p>
          <a:p>
            <a:endParaRPr lang="en-US" altLang="zh-CN" dirty="0"/>
          </a:p>
          <a:p>
            <a:r>
              <a:rPr lang="zh-CN" altLang="en-US" dirty="0"/>
              <a:t>在过去的几十年里，关于车间调度问题的研究很多，但大多数是针对静态环境中的标准问题。随着数据采集硬件的发展以及数据处理技术的进步，车间中的动态事件可以实时捕捉，这对车间调度的实时响应提出了更高要求。调度系统</a:t>
            </a:r>
            <a:r>
              <a:rPr lang="zh-CN" altLang="en-US" b="1" dirty="0"/>
              <a:t>应具有处理紧急订单插入，机器故障等动态事件的能力</a:t>
            </a:r>
            <a:r>
              <a:rPr lang="zh-CN" altLang="en-US" dirty="0"/>
              <a:t>，及时的在动态事件发生时生成高质量的调度方案。</a:t>
            </a:r>
            <a:endParaRPr lang="en-US" altLang="zh-CN" dirty="0"/>
          </a:p>
          <a:p>
            <a:endParaRPr lang="en-US" altLang="zh-CN" dirty="0"/>
          </a:p>
          <a:p>
            <a:r>
              <a:rPr lang="zh-CN" altLang="en-US" dirty="0"/>
              <a:t>结合以上两点，当智能车间运行过程中出现扰动时，单元应该具有根据实时生产状态进行自主调度优化，实现智能车间生产调度的自适应，保证智能车间稳定高效运行。</a:t>
            </a:r>
          </a:p>
        </p:txBody>
      </p:sp>
      <p:sp>
        <p:nvSpPr>
          <p:cNvPr id="4" name="灯片编号占位符 3"/>
          <p:cNvSpPr>
            <a:spLocks noGrp="1"/>
          </p:cNvSpPr>
          <p:nvPr>
            <p:ph type="sldNum" sz="quarter" idx="5"/>
          </p:nvPr>
        </p:nvSpPr>
        <p:spPr/>
        <p:txBody>
          <a:bodyPr/>
          <a:lstStyle/>
          <a:p>
            <a:fld id="{0F66500E-9BD0-4F64-9C53-F2D2129A1C7E}" type="slidenum">
              <a:rPr lang="zh-CN" altLang="en-US" smtClean="0"/>
              <a:t>3</a:t>
            </a:fld>
            <a:endParaRPr lang="zh-CN" altLang="en-US"/>
          </a:p>
        </p:txBody>
      </p:sp>
    </p:spTree>
    <p:extLst>
      <p:ext uri="{BB962C8B-B14F-4D97-AF65-F5344CB8AC3E}">
        <p14:creationId xmlns:p14="http://schemas.microsoft.com/office/powerpoint/2010/main" val="974443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kern="100" dirty="0">
                <a:effectLst/>
                <a:latin typeface="等线" panose="02010600030101010101" pitchFamily="2" charset="-122"/>
                <a:ea typeface="等线" panose="02010600030101010101" pitchFamily="2" charset="-122"/>
                <a:cs typeface="Times New Roman" panose="02020603050405020304" pitchFamily="18" charset="0"/>
              </a:rPr>
              <a:t>智能车间内的</a:t>
            </a:r>
            <a:r>
              <a:rPr lang="zh-CN" altLang="zh-CN" kern="100" dirty="0">
                <a:effectLst/>
                <a:latin typeface="等线" panose="02010600030101010101" pitchFamily="2" charset="-122"/>
                <a:ea typeface="等线" panose="02010600030101010101" pitchFamily="2" charset="-122"/>
                <a:cs typeface="Times New Roman" panose="02020603050405020304" pitchFamily="18" charset="0"/>
              </a:rPr>
              <a:t>动态</a:t>
            </a:r>
            <a:r>
              <a:rPr lang="zh-CN" altLang="en-US" kern="100" dirty="0">
                <a:effectLst/>
                <a:latin typeface="等线" panose="02010600030101010101" pitchFamily="2" charset="-122"/>
                <a:ea typeface="等线" panose="02010600030101010101" pitchFamily="2" charset="-122"/>
                <a:cs typeface="Times New Roman" panose="02020603050405020304" pitchFamily="18" charset="0"/>
              </a:rPr>
              <a:t>因素根据是否可预测性质可以分为不可预测动态事件，如</a:t>
            </a:r>
            <a:r>
              <a:rPr lang="zh-CN" altLang="en-US" sz="1200" b="1" dirty="0">
                <a:ea typeface="等线" panose="02010600030101010101" pitchFamily="2" charset="-122"/>
                <a:cs typeface="Times New Roman" panose="02020603050405020304" pitchFamily="18" charset="0"/>
              </a:rPr>
              <a:t>紧急订单插入，</a:t>
            </a:r>
            <a:r>
              <a:rPr lang="zh-CN" altLang="zh-CN" sz="1200" b="1" dirty="0">
                <a:effectLst/>
                <a:ea typeface="等线" panose="02010600030101010101" pitchFamily="2" charset="-122"/>
                <a:cs typeface="Times New Roman" panose="02020603050405020304" pitchFamily="18" charset="0"/>
              </a:rPr>
              <a:t>订单取消</a:t>
            </a:r>
            <a:r>
              <a:rPr lang="zh-CN" altLang="en-US" sz="1200" b="1" dirty="0">
                <a:effectLst/>
                <a:ea typeface="等线" panose="02010600030101010101" pitchFamily="2" charset="-122"/>
                <a:cs typeface="Times New Roman" panose="02020603050405020304" pitchFamily="18" charset="0"/>
              </a:rPr>
              <a:t>，</a:t>
            </a:r>
            <a:r>
              <a:rPr lang="zh-CN" altLang="zh-CN" sz="1200" b="1" dirty="0">
                <a:effectLst/>
                <a:ea typeface="等线" panose="02010600030101010101" pitchFamily="2" charset="-122"/>
                <a:cs typeface="Times New Roman" panose="02020603050405020304" pitchFamily="18" charset="0"/>
              </a:rPr>
              <a:t>设备故障</a:t>
            </a:r>
            <a:r>
              <a:rPr lang="zh-CN" altLang="en-US" sz="1200" b="1" dirty="0">
                <a:effectLst/>
                <a:ea typeface="等线" panose="02010600030101010101" pitchFamily="2" charset="-122"/>
                <a:cs typeface="Times New Roman" panose="02020603050405020304" pitchFamily="18" charset="0"/>
              </a:rPr>
              <a:t>  以及可预测动态事件如</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设备负载</a:t>
            </a:r>
            <a:r>
              <a:rPr lang="zh-CN" altLang="en-US" sz="1200" b="1" kern="100" dirty="0">
                <a:effectLst/>
                <a:latin typeface="等线" panose="02010600030101010101" pitchFamily="2" charset="-122"/>
                <a:ea typeface="等线" panose="02010600030101010101" pitchFamily="2" charset="-122"/>
                <a:cs typeface="Times New Roman" panose="02020603050405020304" pitchFamily="18" charset="0"/>
              </a:rPr>
              <a:t>变化，</a:t>
            </a:r>
            <a:r>
              <a:rPr lang="zh-CN" altLang="en-US" sz="1200" b="1" dirty="0"/>
              <a:t>工具损耗，</a:t>
            </a:r>
            <a:r>
              <a:rPr lang="zh-CN" altLang="zh-CN" sz="1200" b="1" kern="100" dirty="0">
                <a:effectLst/>
                <a:latin typeface="等线" panose="02010600030101010101" pitchFamily="2" charset="-122"/>
                <a:ea typeface="等线" panose="02010600030101010101" pitchFamily="2" charset="-122"/>
                <a:cs typeface="Times New Roman" panose="02020603050405020304" pitchFamily="18" charset="0"/>
              </a:rPr>
              <a:t>设备维修停机</a:t>
            </a:r>
            <a:r>
              <a:rPr lang="zh-CN" altLang="en-US" sz="1200" b="1" kern="100" dirty="0">
                <a:effectLst/>
                <a:latin typeface="等线" panose="02010600030101010101" pitchFamily="2" charset="-122"/>
                <a:ea typeface="等线" panose="02010600030101010101" pitchFamily="2" charset="-122"/>
                <a:cs typeface="Times New Roman" panose="02020603050405020304" pitchFamily="18" charset="0"/>
              </a:rPr>
              <a:t>等</a:t>
            </a:r>
            <a:endParaRPr lang="en-US"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kern="100" dirty="0">
                <a:effectLst/>
                <a:latin typeface="等线" panose="02010600030101010101" pitchFamily="2" charset="-122"/>
                <a:ea typeface="等线" panose="02010600030101010101" pitchFamily="2" charset="-122"/>
                <a:cs typeface="Times New Roman" panose="02020603050405020304" pitchFamily="18" charset="0"/>
              </a:rPr>
              <a:t>对动态调度的研究可以</a:t>
            </a:r>
            <a:r>
              <a:rPr lang="zh-CN" altLang="zh-CN" kern="100" dirty="0">
                <a:effectLst/>
                <a:latin typeface="等线" panose="02010600030101010101" pitchFamily="2" charset="-122"/>
                <a:ea typeface="等线" panose="02010600030101010101" pitchFamily="2" charset="-122"/>
                <a:cs typeface="Times New Roman" panose="02020603050405020304" pitchFamily="18" charset="0"/>
              </a:rPr>
              <a:t>围绕这两个方面展开，探讨如何在</a:t>
            </a:r>
            <a:r>
              <a:rPr lang="zh-CN" altLang="zh-CN" b="1" kern="100" dirty="0">
                <a:effectLst/>
                <a:latin typeface="等线" panose="02010600030101010101" pitchFamily="2" charset="-122"/>
                <a:ea typeface="等线" panose="02010600030101010101" pitchFamily="2" charset="-122"/>
                <a:cs typeface="Times New Roman" panose="02020603050405020304" pitchFamily="18" charset="0"/>
              </a:rPr>
              <a:t>动态环境下有效调整生产计划，保证生产效率与资源利用的最优化。</a:t>
            </a:r>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4</a:t>
            </a:fld>
            <a:endParaRPr lang="zh-CN" altLang="en-US"/>
          </a:p>
        </p:txBody>
      </p:sp>
    </p:spTree>
    <p:extLst>
      <p:ext uri="{BB962C8B-B14F-4D97-AF65-F5344CB8AC3E}">
        <p14:creationId xmlns:p14="http://schemas.microsoft.com/office/powerpoint/2010/main" val="1381758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effectLst/>
                <a:latin typeface="Microsoft YaHei" panose="020B0503020204020204" pitchFamily="34" charset="-122"/>
                <a:ea typeface="Microsoft YaHei" panose="020B0503020204020204" pitchFamily="34" charset="-122"/>
                <a:cs typeface="Times New Roman (标题 CS)"/>
              </a:rPr>
              <a:t>将智能车间调度决策功能下放至单元级，实现分布式决策的方法，主要有以下几种，其中智能优化算法，合同网不适用于动态性强的场景，博弈论和合作学习方法适用于动态性中等的场景，多智能体强化学习方法适用于动态性强的车间环境。</a:t>
            </a:r>
            <a:endParaRPr lang="en-US" altLang="zh-CN" sz="1200" kern="100" dirty="0">
              <a:effectLst/>
              <a:latin typeface="Microsoft YaHei" panose="020B0503020204020204" pitchFamily="34" charset="-122"/>
              <a:ea typeface="Microsoft YaHei" panose="020B0503020204020204" pitchFamily="34" charset="-122"/>
              <a:cs typeface="Times New Roman (标题 CS)"/>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5</a:t>
            </a:fld>
            <a:endParaRPr lang="zh-CN" altLang="en-US"/>
          </a:p>
        </p:txBody>
      </p:sp>
    </p:spTree>
    <p:extLst>
      <p:ext uri="{BB962C8B-B14F-4D97-AF65-F5344CB8AC3E}">
        <p14:creationId xmlns:p14="http://schemas.microsoft.com/office/powerpoint/2010/main" val="2132606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b="0" dirty="0"/>
              <a:t>已有的动态调度方法主要可以分为三类</a:t>
            </a:r>
            <a:r>
              <a:rPr lang="zh-CN" altLang="en-US" dirty="0"/>
              <a:t>鲁棒前摄式调度，预</a:t>
            </a:r>
            <a:r>
              <a:rPr lang="en-US" altLang="zh-CN" dirty="0"/>
              <a:t>-</a:t>
            </a:r>
            <a:r>
              <a:rPr lang="zh-CN" altLang="en-US" dirty="0"/>
              <a:t>反应调度和完全反应调度，鲁棒前摄式调度。。预反应。。完全反应调度</a:t>
            </a:r>
            <a:endParaRPr lang="en-US" altLang="zh-CN" dirty="0"/>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dirty="0"/>
              <a:t>具体的调度算法主要分为精确，，其中元启发和基于强化学习。。较常用于完全</a:t>
            </a: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dirty="0"/>
              <a:t>，</a:t>
            </a: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b="0"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6</a:t>
            </a:fld>
            <a:endParaRPr lang="zh-CN" altLang="en-US"/>
          </a:p>
        </p:txBody>
      </p:sp>
    </p:spTree>
    <p:extLst>
      <p:ext uri="{BB962C8B-B14F-4D97-AF65-F5344CB8AC3E}">
        <p14:creationId xmlns:p14="http://schemas.microsoft.com/office/powerpoint/2010/main" val="2551654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l" defTabSz="914400" rtl="0" eaLnBrk="1" fontAlgn="auto" latinLnBrk="0" hangingPunct="1">
              <a:lnSpc>
                <a:spcPct val="100000"/>
              </a:lnSpc>
              <a:spcBef>
                <a:spcPts val="600"/>
              </a:spcBef>
              <a:spcAft>
                <a:spcPts val="0"/>
              </a:spcAft>
              <a:buClrTx/>
              <a:buSzTx/>
              <a:buFontTx/>
              <a:buNone/>
              <a:tabLst/>
              <a:defRPr/>
            </a:pPr>
            <a:endParaRPr lang="zh-CN" altLang="en-US" sz="12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b="0" dirty="0"/>
              <a:t>然而元启发式算法的自适应性和实时性都</a:t>
            </a:r>
            <a:endParaRPr lang="en-US" altLang="zh-CN" b="0"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7</a:t>
            </a:fld>
            <a:endParaRPr lang="zh-CN" altLang="en-US"/>
          </a:p>
        </p:txBody>
      </p:sp>
    </p:spTree>
    <p:extLst>
      <p:ext uri="{BB962C8B-B14F-4D97-AF65-F5344CB8AC3E}">
        <p14:creationId xmlns:p14="http://schemas.microsoft.com/office/powerpoint/2010/main" val="233331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b="0" dirty="0"/>
              <a:t>对近几年来采用基于强化学习算法解决动态车间调度问题的算法进行调研可以看出，不可预测类型的动态车间调度方法</a:t>
            </a:r>
            <a:r>
              <a:rPr lang="zh-CN" altLang="en-US" sz="1200" dirty="0"/>
              <a:t>多数为只考虑单一动态因素且多数为集中式决策</a:t>
            </a:r>
            <a:endParaRPr lang="en-US" altLang="zh-CN" sz="1200" dirty="0"/>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200" dirty="0"/>
              <a:t>可预测类型动态事件多数为集中式决策，且考虑短期生产效率和长期设备健康平衡的较少</a:t>
            </a: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zh-CN" altLang="en-US" sz="1200" dirty="0"/>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b="0"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8</a:t>
            </a:fld>
            <a:endParaRPr lang="zh-CN" altLang="en-US"/>
          </a:p>
        </p:txBody>
      </p:sp>
    </p:spTree>
    <p:extLst>
      <p:ext uri="{BB962C8B-B14F-4D97-AF65-F5344CB8AC3E}">
        <p14:creationId xmlns:p14="http://schemas.microsoft.com/office/powerpoint/2010/main" val="3392769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通过以上调研可以总结出以下几点</a:t>
            </a:r>
            <a:endParaRPr lang="en-US" altLang="zh-CN" dirty="0"/>
          </a:p>
          <a:p>
            <a:endParaRPr lang="en-US" altLang="zh-CN" dirty="0"/>
          </a:p>
          <a:p>
            <a:r>
              <a:rPr lang="zh-CN" altLang="en-US" dirty="0"/>
              <a:t>所以计划研究多制造</a:t>
            </a:r>
          </a:p>
        </p:txBody>
      </p:sp>
      <p:sp>
        <p:nvSpPr>
          <p:cNvPr id="4" name="灯片编号占位符 3"/>
          <p:cNvSpPr>
            <a:spLocks noGrp="1"/>
          </p:cNvSpPr>
          <p:nvPr>
            <p:ph type="sldNum" sz="quarter" idx="5"/>
          </p:nvPr>
        </p:nvSpPr>
        <p:spPr/>
        <p:txBody>
          <a:bodyPr/>
          <a:lstStyle/>
          <a:p>
            <a:fld id="{0F66500E-9BD0-4F64-9C53-F2D2129A1C7E}" type="slidenum">
              <a:rPr lang="zh-CN" altLang="en-US" smtClean="0"/>
              <a:t>9</a:t>
            </a:fld>
            <a:endParaRPr lang="zh-CN" altLang="en-US"/>
          </a:p>
        </p:txBody>
      </p:sp>
    </p:spTree>
    <p:extLst>
      <p:ext uri="{BB962C8B-B14F-4D97-AF65-F5344CB8AC3E}">
        <p14:creationId xmlns:p14="http://schemas.microsoft.com/office/powerpoint/2010/main" val="3103126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dirty="0"/>
              <a:t>研究内容框架图如图所示</a:t>
            </a:r>
          </a:p>
        </p:txBody>
      </p:sp>
      <p:sp>
        <p:nvSpPr>
          <p:cNvPr id="4" name="灯片编号占位符 3"/>
          <p:cNvSpPr>
            <a:spLocks noGrp="1"/>
          </p:cNvSpPr>
          <p:nvPr>
            <p:ph type="sldNum" sz="quarter" idx="5"/>
          </p:nvPr>
        </p:nvSpPr>
        <p:spPr/>
        <p:txBody>
          <a:bodyPr/>
          <a:lstStyle/>
          <a:p>
            <a:fld id="{0F66500E-9BD0-4F64-9C53-F2D2129A1C7E}" type="slidenum">
              <a:rPr lang="zh-CN" altLang="en-US" smtClean="0"/>
              <a:t>10</a:t>
            </a:fld>
            <a:endParaRPr lang="zh-CN" altLang="en-US"/>
          </a:p>
        </p:txBody>
      </p:sp>
    </p:spTree>
    <p:extLst>
      <p:ext uri="{BB962C8B-B14F-4D97-AF65-F5344CB8AC3E}">
        <p14:creationId xmlns:p14="http://schemas.microsoft.com/office/powerpoint/2010/main" val="688582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kern="100" dirty="0">
                <a:solidFill>
                  <a:schemeClr val="accent6"/>
                </a:solidFill>
                <a:latin typeface="Microsoft YaHei" panose="020B0503020204020204" pitchFamily="34" charset="-122"/>
                <a:ea typeface="Microsoft YaHei" panose="020B0503020204020204" pitchFamily="34" charset="-122"/>
              </a:rPr>
              <a:t>研究内容一，首先需要构建单元调度智能体，为单元调度智能体设计局部观测状态空间和单元奖励函数，</a:t>
            </a:r>
            <a:r>
              <a:rPr lang="zh-CN" altLang="en-US" sz="1200" b="0" dirty="0"/>
              <a:t>构建</a:t>
            </a:r>
            <a:r>
              <a:rPr lang="zh-CN" altLang="zh-CN" sz="1200" dirty="0"/>
              <a:t>分布式部分可观察马尔科夫决策过程</a:t>
            </a:r>
            <a:r>
              <a:rPr lang="zh-CN" altLang="en-US" sz="1200" dirty="0"/>
              <a:t>，实现将调度决策功能下放至单元级，</a:t>
            </a:r>
            <a:r>
              <a:rPr lang="zh-CN" altLang="en-US" sz="1200" b="1" dirty="0"/>
              <a:t>使制造单元具有观测自身局部状态、进行调度决策的功能。构建混合网络模型，集成</a:t>
            </a:r>
            <a:r>
              <a:rPr lang="zh-CN" altLang="en-US" sz="1200" dirty="0"/>
              <a:t>来自所有单元调度智能体的信息和全局状态的信息，生成一个全局的期望函数，来</a:t>
            </a:r>
            <a:r>
              <a:rPr lang="zh-CN" altLang="en-US" sz="1200" b="1" dirty="0"/>
              <a:t>协调各个智能体，通过单元调度模型和混合网络模型实现分布式调度。</a:t>
            </a:r>
            <a:endParaRPr lang="en-US" altLang="zh-CN" kern="100" dirty="0">
              <a:solidFill>
                <a:schemeClr val="accent6"/>
              </a:solidFill>
              <a:latin typeface="Microsoft YaHei" panose="020B0503020204020204" pitchFamily="34" charset="-122"/>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11</a:t>
            </a:fld>
            <a:endParaRPr lang="zh-CN" altLang="en-US"/>
          </a:p>
        </p:txBody>
      </p:sp>
    </p:spTree>
    <p:extLst>
      <p:ext uri="{BB962C8B-B14F-4D97-AF65-F5344CB8AC3E}">
        <p14:creationId xmlns:p14="http://schemas.microsoft.com/office/powerpoint/2010/main" val="1727304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研究内容二在研究内容一的框架下，增强单元</a:t>
            </a:r>
            <a:r>
              <a:rPr lang="zh-CN" altLang="zh-CN" sz="1200" b="1" kern="0" dirty="0">
                <a:effectLst/>
                <a:ea typeface="宋体" panose="02010600030101010101" pitchFamily="2" charset="-122"/>
                <a:cs typeface="宋体" panose="02010600030101010101" pitchFamily="2" charset="-122"/>
              </a:rPr>
              <a:t>智能体的事件感知能力</a:t>
            </a:r>
            <a:r>
              <a:rPr lang="zh-CN" altLang="en-US" sz="1200" b="1" kern="0" dirty="0">
                <a:effectLst/>
                <a:ea typeface="宋体" panose="02010600030101010101" pitchFamily="2" charset="-122"/>
                <a:cs typeface="宋体" panose="02010600030101010101" pitchFamily="2" charset="-122"/>
              </a:rPr>
              <a:t>，首先引入</a:t>
            </a:r>
            <a:r>
              <a:rPr lang="zh-CN" altLang="zh-CN" sz="1200" kern="0" dirty="0">
                <a:effectLst/>
                <a:ea typeface="宋体" panose="02010600030101010101" pitchFamily="2" charset="-122"/>
                <a:cs typeface="宋体" panose="02010600030101010101" pitchFamily="2" charset="-122"/>
              </a:rPr>
              <a:t>事件检测</a:t>
            </a:r>
            <a:r>
              <a:rPr lang="zh-CN" altLang="en-US" sz="1200" kern="0" dirty="0">
                <a:effectLst/>
                <a:ea typeface="宋体" panose="02010600030101010101" pitchFamily="2" charset="-122"/>
                <a:cs typeface="宋体" panose="02010600030101010101" pitchFamily="2" charset="-122"/>
              </a:rPr>
              <a:t>识别</a:t>
            </a:r>
            <a:r>
              <a:rPr lang="zh-CN" altLang="zh-CN" sz="1200" kern="0" dirty="0">
                <a:effectLst/>
                <a:ea typeface="宋体" panose="02010600030101010101" pitchFamily="2" charset="-122"/>
                <a:cs typeface="宋体" panose="02010600030101010101" pitchFamily="2" charset="-122"/>
              </a:rPr>
              <a:t>模块</a:t>
            </a:r>
            <a:r>
              <a:rPr lang="zh-CN" altLang="en-US" sz="1200" kern="0" dirty="0">
                <a:effectLst/>
                <a:ea typeface="宋体" panose="02010600030101010101" pitchFamily="2" charset="-122"/>
                <a:cs typeface="宋体" panose="02010600030101010101" pitchFamily="2" charset="-122"/>
              </a:rPr>
              <a:t>，将车间数据输入异常检测算法，并构建事件特征向量，将检测结果作为状态输入智能体，扩展智能体状态空间。</a:t>
            </a:r>
            <a:endParaRPr lang="en-US" altLang="zh-CN" sz="1200" kern="0" dirty="0">
              <a:effectLst/>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0" dirty="0">
                <a:effectLst/>
                <a:ea typeface="宋体" panose="02010600030101010101" pitchFamily="2" charset="-122"/>
              </a:rPr>
              <a:t>由于</a:t>
            </a:r>
            <a:r>
              <a:rPr lang="zh-CN" altLang="en-US" dirty="0">
                <a:latin typeface="宋体" panose="02010600030101010101" pitchFamily="2" charset="-122"/>
                <a:ea typeface="宋体" panose="02010600030101010101" pitchFamily="2" charset="-122"/>
              </a:rPr>
              <a:t>相似突发事件的状态特征具有相似性，并且为了应对状态空间扩展带来的维度灾难使用</a:t>
            </a:r>
            <a:r>
              <a:rPr lang="zh-CN" altLang="en-US" b="1" dirty="0">
                <a:latin typeface="宋体" panose="02010600030101010101" pitchFamily="2" charset="-122"/>
                <a:ea typeface="宋体" panose="02010600030101010101" pitchFamily="2" charset="-122"/>
              </a:rPr>
              <a:t>聚类方法</a:t>
            </a:r>
            <a:r>
              <a:rPr lang="zh-CN" altLang="en-US" dirty="0">
                <a:latin typeface="宋体" panose="02010600030101010101" pitchFamily="2" charset="-122"/>
                <a:ea typeface="宋体" panose="02010600030101010101" pitchFamily="2" charset="-122"/>
              </a:rPr>
              <a:t>将相似状态组合在一起。降低计算复杂度，提升学习速度和计算效率，使算法能够更快收敛。</a:t>
            </a:r>
            <a:endParaRPr lang="en-US" altLang="zh-CN" dirty="0">
              <a:latin typeface="宋体" panose="02010600030101010101" pitchFamily="2" charset="-122"/>
              <a:ea typeface="宋体" panose="02010600030101010101" pitchFamily="2" charset="-122"/>
            </a:endParaRPr>
          </a:p>
          <a:p>
            <a:pPr marL="742950" lvl="1" indent="-285750">
              <a:lnSpc>
                <a:spcPct val="150000"/>
              </a:lnSpc>
              <a:buFont typeface="Wingdings" panose="05000000000000000000" pitchFamily="2" charset="2"/>
              <a:buChar char="Ø"/>
            </a:pPr>
            <a:r>
              <a:rPr lang="zh-CN" altLang="en-US" b="1" dirty="0">
                <a:latin typeface="宋体" panose="02010600030101010101" pitchFamily="2" charset="-122"/>
                <a:ea typeface="宋体" panose="02010600030101010101" pitchFamily="2" charset="-122"/>
              </a:rPr>
              <a:t>这一部分的研究重点在于单元智能体要能学习</a:t>
            </a:r>
            <a:r>
              <a:rPr lang="zh-CN" altLang="en-US" dirty="0">
                <a:latin typeface="宋体" panose="02010600030101010101" pitchFamily="2" charset="-122"/>
                <a:ea typeface="宋体" panose="02010600030101010101" pitchFamily="2" charset="-122"/>
              </a:rPr>
              <a:t>在</a:t>
            </a:r>
            <a:r>
              <a:rPr lang="zh-CN" altLang="en-US" b="1" dirty="0">
                <a:latin typeface="宋体" panose="02010600030101010101" pitchFamily="2" charset="-122"/>
                <a:ea typeface="宋体" panose="02010600030101010101" pitchFamily="2" charset="-122"/>
              </a:rPr>
              <a:t>不同类型的突发事件</a:t>
            </a:r>
            <a:r>
              <a:rPr lang="zh-CN" altLang="en-US" dirty="0">
                <a:latin typeface="宋体" panose="02010600030101010101" pitchFamily="2" charset="-122"/>
                <a:ea typeface="宋体" panose="02010600030101010101" pitchFamily="2" charset="-122"/>
              </a:rPr>
              <a:t>下，以最小化最大完工时间为优化目标，生成调度策略。提升算法学习速度，收敛速度，降低计算复杂度</a:t>
            </a:r>
            <a:endParaRPr lang="en-US" altLang="zh-CN"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异常检测算法</a:t>
            </a:r>
            <a:r>
              <a:rPr lang="zh-CN" altLang="en-US" dirty="0"/>
              <a:t>：</a:t>
            </a:r>
            <a:r>
              <a:rPr lang="en-US" altLang="zh-CN" dirty="0"/>
              <a:t>K</a:t>
            </a:r>
            <a:r>
              <a:rPr lang="zh-CN" altLang="en-US" dirty="0"/>
              <a:t>近邻算法：基于邻居距离的简单方法，适用于小规模数据集。支持向量机 </a:t>
            </a:r>
            <a:r>
              <a:rPr lang="en-US" altLang="zh-CN" dirty="0"/>
              <a:t>(SVM)</a:t>
            </a:r>
            <a:r>
              <a:rPr lang="zh-CN" altLang="en-US" dirty="0"/>
              <a:t>：通过单类</a:t>
            </a:r>
            <a:r>
              <a:rPr lang="en-US" altLang="zh-CN" dirty="0"/>
              <a:t>SVM</a:t>
            </a:r>
            <a:r>
              <a:rPr lang="zh-CN" altLang="en-US" dirty="0"/>
              <a:t>学习正常数据的边界，用于检测异常点，适合复杂、高维数据。孤立森林 </a:t>
            </a:r>
            <a:r>
              <a:rPr lang="en-US" altLang="zh-CN" dirty="0"/>
              <a:t>(Isolation Forest)</a:t>
            </a:r>
            <a:r>
              <a:rPr lang="zh-CN" altLang="en-US" dirty="0"/>
              <a:t>：基于随机森林的无监督异常检测算法，直接通过“孤立”异常点来进行识别，适合大规模数据集。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0" dirty="0">
                <a:effectLst/>
                <a:ea typeface="宋体" panose="02010600030101010101" pitchFamily="2" charset="-122"/>
                <a:cs typeface="宋体" panose="02010600030101010101" pitchFamily="2" charset="-122"/>
              </a:rPr>
              <a:t>引入动态事件检测模块，当外部事件发生时，智能体能够及时感知。设计智能体的输入状态包含</a:t>
            </a:r>
            <a:r>
              <a:rPr lang="zh-CN" altLang="en-US" sz="1200" kern="0" dirty="0">
                <a:effectLst/>
                <a:ea typeface="宋体" panose="02010600030101010101" pitchFamily="2" charset="-122"/>
                <a:cs typeface="宋体" panose="02010600030101010101" pitchFamily="2" charset="-122"/>
              </a:rPr>
              <a:t>车间机器工件加工状态事时信息及</a:t>
            </a:r>
            <a:r>
              <a:rPr lang="zh-CN" altLang="en-US" kern="0" dirty="0">
                <a:ea typeface="宋体" panose="02010600030101010101" pitchFamily="2" charset="-122"/>
              </a:rPr>
              <a:t>车间中发生的各种突发事件相关信息。</a:t>
            </a:r>
            <a:r>
              <a:rPr lang="zh-CN" altLang="zh-CN" kern="0" dirty="0">
                <a:ea typeface="宋体" panose="02010600030101010101" pitchFamily="2" charset="-122"/>
              </a:rPr>
              <a:t>使其可以识别</a:t>
            </a:r>
            <a:r>
              <a:rPr lang="zh-CN" altLang="zh-CN" sz="1200" kern="0" dirty="0">
                <a:effectLst/>
                <a:ea typeface="宋体" panose="02010600030101010101" pitchFamily="2" charset="-122"/>
                <a:cs typeface="宋体" panose="02010600030101010101" pitchFamily="2" charset="-122"/>
              </a:rPr>
              <a:t>出</a:t>
            </a:r>
            <a:r>
              <a:rPr lang="en-US" altLang="zh-CN" sz="1200" kern="0" dirty="0">
                <a:effectLst/>
                <a:ea typeface="宋体" panose="02010600030101010101" pitchFamily="2" charset="-122"/>
                <a:cs typeface="宋体" panose="02010600030101010101" pitchFamily="2" charset="-122"/>
              </a:rPr>
              <a:t>“</a:t>
            </a:r>
            <a:r>
              <a:rPr lang="zh-CN" altLang="zh-CN" sz="1200" kern="0" dirty="0">
                <a:effectLst/>
                <a:ea typeface="宋体" panose="02010600030101010101" pitchFamily="2" charset="-122"/>
                <a:cs typeface="宋体" panose="02010600030101010101" pitchFamily="2" charset="-122"/>
              </a:rPr>
              <a:t>新订单到达</a:t>
            </a:r>
            <a:r>
              <a:rPr lang="en-US" altLang="zh-CN" sz="1200" kern="0" dirty="0">
                <a:effectLst/>
                <a:ea typeface="宋体" panose="02010600030101010101" pitchFamily="2" charset="-122"/>
                <a:cs typeface="宋体" panose="02010600030101010101" pitchFamily="2" charset="-122"/>
              </a:rPr>
              <a:t>”“</a:t>
            </a:r>
            <a:r>
              <a:rPr lang="zh-CN" altLang="zh-CN" sz="1200" kern="0" dirty="0">
                <a:effectLst/>
                <a:ea typeface="宋体" panose="02010600030101010101" pitchFamily="2" charset="-122"/>
                <a:cs typeface="宋体" panose="02010600030101010101" pitchFamily="2" charset="-122"/>
              </a:rPr>
              <a:t>设备故障</a:t>
            </a:r>
            <a:r>
              <a:rPr lang="en-US" altLang="zh-CN" sz="1200" kern="0" dirty="0">
                <a:effectLst/>
                <a:ea typeface="宋体" panose="02010600030101010101" pitchFamily="2" charset="-122"/>
                <a:cs typeface="宋体" panose="02010600030101010101" pitchFamily="2" charset="-122"/>
              </a:rPr>
              <a:t>”</a:t>
            </a:r>
            <a:r>
              <a:rPr lang="zh-CN" altLang="zh-CN" sz="1200" kern="0" dirty="0">
                <a:effectLst/>
                <a:ea typeface="宋体" panose="02010600030101010101" pitchFamily="2" charset="-122"/>
                <a:cs typeface="宋体" panose="02010600030101010101" pitchFamily="2" charset="-122"/>
              </a:rPr>
              <a:t>等关键事件。动态事件（如新订单或设备故障）发生时，智能体能够感知本地环境的变化，并在局部范围内迅速调整任务分配。</a:t>
            </a:r>
            <a:endParaRPr lang="en-US" altLang="zh-CN" sz="1200" kern="0" dirty="0">
              <a:effectLst/>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0" dirty="0">
              <a:solidFill>
                <a:schemeClr val="accent6"/>
              </a:solidFill>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数据特征：每个事件数据包含的信息机器故障、设备状态等。事件发生时，智能体的调度策略、机器使用情况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状态空间聚类</a:t>
            </a:r>
            <a:r>
              <a:rPr lang="zh-CN" altLang="en-US" dirty="0"/>
              <a:t>：相似突发事件的状态特征具有相似性，为了应对大型状态空间带来的</a:t>
            </a:r>
            <a:r>
              <a:rPr lang="zh-CN" altLang="en-US" b="1" dirty="0"/>
              <a:t>维度灾难</a:t>
            </a:r>
            <a:r>
              <a:rPr lang="zh-CN" altLang="en-US" dirty="0"/>
              <a:t>，使用了</a:t>
            </a:r>
            <a:r>
              <a:rPr lang="zh-CN" altLang="en-US" b="1" dirty="0"/>
              <a:t>聚类方法</a:t>
            </a:r>
            <a:r>
              <a:rPr lang="zh-CN" altLang="en-US" dirty="0"/>
              <a:t>将相似状态组合在一起，从而减少了需要处理的状态数量。这种状态聚类不仅降低了计算复杂度，提升学习速度和计算效率，帮助算法更好地识别和分类不同的生产状态，使算法能够更快收敛，调度系统可以更有效地进行状态选择和动作执行，并适应复杂的调度环境​。</a:t>
            </a:r>
            <a:r>
              <a:rPr lang="zh-CN" altLang="en-US" b="1" dirty="0"/>
              <a:t>优化算法效率</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r>
              <a:rPr lang="zh-CN" altLang="en-US" b="0" dirty="0"/>
              <a:t>调度系统能迅速感知事件，并准确识别不同类型的事件，在动态事件发生时快速响应并生成调度策略，以</a:t>
            </a:r>
            <a:r>
              <a:rPr lang="zh-CN" altLang="en-US" dirty="0"/>
              <a:t>最小化最大生产周期</a:t>
            </a:r>
            <a:r>
              <a:rPr lang="zh-CN" altLang="en-US" b="0" dirty="0"/>
              <a:t>为优化目标，实现最优调度。每个智能体根据动态事件的性质调整策略，通过局部信息作出快速反应，智能体间协调行动，避免因局部调整导致全局混乱。</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kern="100" dirty="0">
              <a:solidFill>
                <a:schemeClr val="accent6"/>
              </a:solidFill>
              <a:latin typeface="Microsoft YaHei" panose="020B0503020204020204" pitchFamily="34" charset="-122"/>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12</a:t>
            </a:fld>
            <a:endParaRPr lang="zh-CN" altLang="en-US"/>
          </a:p>
        </p:txBody>
      </p:sp>
    </p:spTree>
    <p:extLst>
      <p:ext uri="{BB962C8B-B14F-4D97-AF65-F5344CB8AC3E}">
        <p14:creationId xmlns:p14="http://schemas.microsoft.com/office/powerpoint/2010/main" val="2705068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研究</a:t>
            </a:r>
            <a:r>
              <a:rPr lang="zh-CN" altLang="en-US" b="1" dirty="0"/>
              <a:t>内容三在研究内容一的框架下，引入设备状态预测算法，通过监测历史数据，设备状态数据等车间状态数据和设备状态预测算法得到设备状态预测结果，将</a:t>
            </a:r>
            <a:r>
              <a:rPr lang="zh-CN" altLang="en-US" dirty="0">
                <a:latin typeface="宋体" panose="02010600030101010101" pitchFamily="2" charset="-122"/>
                <a:ea typeface="宋体" panose="02010600030101010101" pitchFamily="2" charset="-122"/>
              </a:rPr>
              <a:t>将这些预测值扩展到智能体的状态输入，帮助智能体进行前瞻性任务规划。此外，对奖励重塑，</a:t>
            </a:r>
            <a:r>
              <a:rPr lang="zh-CN" altLang="en-US" b="1" dirty="0">
                <a:latin typeface="宋体" panose="02010600030101010101" pitchFamily="2" charset="-122"/>
                <a:ea typeface="宋体" panose="02010600030101010101" pitchFamily="2" charset="-122"/>
              </a:rPr>
              <a:t>综合考虑短期生产效率和长期成本</a:t>
            </a:r>
            <a:r>
              <a:rPr lang="zh-CN" altLang="en-US" dirty="0">
                <a:latin typeface="宋体" panose="02010600030101010101" pitchFamily="2" charset="-122"/>
                <a:ea typeface="宋体" panose="02010600030101010101" pitchFamily="2" charset="-122"/>
              </a:rPr>
              <a:t>，在奖励函数中实现平衡，引入</a:t>
            </a:r>
            <a:r>
              <a:rPr lang="zh-CN" altLang="en-US" b="1" dirty="0">
                <a:latin typeface="宋体" panose="02010600030101010101" pitchFamily="2" charset="-122"/>
                <a:ea typeface="宋体" panose="02010600030101010101" pitchFamily="2" charset="-122"/>
              </a:rPr>
              <a:t>阶段奖励</a:t>
            </a:r>
            <a:r>
              <a:rPr lang="zh-CN" altLang="en-US" dirty="0">
                <a:latin typeface="宋体" panose="02010600030101010101" pitchFamily="2" charset="-122"/>
                <a:ea typeface="宋体" panose="02010600030101010101" pitchFamily="2" charset="-122"/>
              </a:rPr>
              <a:t>。确保智能体既能满足当前需求，又能优化未来资源状态</a:t>
            </a:r>
            <a:endParaRPr lang="en-US" altLang="zh-CN"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13</a:t>
            </a:fld>
            <a:endParaRPr lang="zh-CN" altLang="en-US"/>
          </a:p>
        </p:txBody>
      </p:sp>
    </p:spTree>
    <p:extLst>
      <p:ext uri="{BB962C8B-B14F-4D97-AF65-F5344CB8AC3E}">
        <p14:creationId xmlns:p14="http://schemas.microsoft.com/office/powerpoint/2010/main" val="990108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研究内容四为实验验证部分，</a:t>
            </a:r>
            <a:r>
              <a:rPr lang="zh-CN" altLang="en-US" b="0" dirty="0"/>
              <a:t>进行仿真实验，</a:t>
            </a:r>
            <a:r>
              <a:rPr lang="zh-CN" altLang="zh-CN" sz="1200" kern="100" dirty="0">
                <a:solidFill>
                  <a:srgbClr val="000000"/>
                </a:solidFill>
                <a:effectLst/>
                <a:latin typeface="Times New Roman" panose="02020603050405020304" pitchFamily="18" charset="0"/>
                <a:ea typeface="宋体" panose="02010600030101010101" pitchFamily="2" charset="-122"/>
              </a:rPr>
              <a:t>对于动态环境下的研究，现有文献大多使用仿真平台进行实验，证明了进行仿真实验的可行性。</a:t>
            </a:r>
            <a:r>
              <a:rPr lang="zh-CN" altLang="en-US" sz="1200" kern="100" dirty="0">
                <a:solidFill>
                  <a:srgbClr val="000000"/>
                </a:solidFill>
                <a:effectLst/>
                <a:latin typeface="Times New Roman" panose="02020603050405020304" pitchFamily="18" charset="0"/>
                <a:ea typeface="宋体" panose="02010600030101010101" pitchFamily="2" charset="-122"/>
              </a:rPr>
              <a:t>采用</a:t>
            </a:r>
            <a:r>
              <a:rPr lang="en-US" altLang="zh-CN" sz="1200" kern="100" dirty="0" err="1">
                <a:effectLst/>
                <a:latin typeface="Times New Roman" panose="02020603050405020304" pitchFamily="18" charset="0"/>
                <a:ea typeface="宋体" panose="02010600030101010101" pitchFamily="2" charset="-122"/>
                <a:cs typeface="Times New Roman" panose="02020603050405020304" pitchFamily="18" charset="0"/>
              </a:rPr>
              <a:t>SimPy</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离散事件仿真库</a:t>
            </a:r>
            <a:r>
              <a:rPr lang="zh-CN" altLang="en-US" b="0" dirty="0"/>
              <a:t>搭建研究内容</a:t>
            </a:r>
            <a:r>
              <a:rPr lang="en-US" altLang="zh-CN" b="0" dirty="0"/>
              <a:t>2</a:t>
            </a:r>
            <a:r>
              <a:rPr lang="zh-CN" altLang="en-US" b="0" dirty="0"/>
              <a:t>和</a:t>
            </a:r>
            <a:r>
              <a:rPr lang="en-US" altLang="zh-CN" b="0" dirty="0"/>
              <a:t>3</a:t>
            </a:r>
            <a:r>
              <a:rPr lang="zh-CN" altLang="en-US" b="0" dirty="0"/>
              <a:t>针对的两种不同动态场景，实验</a:t>
            </a:r>
            <a:r>
              <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rPr>
              <a:t>研究以航空构件生产线为验证对象</a:t>
            </a:r>
            <a:endPar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目前已开展针对研究内容</a:t>
            </a:r>
            <a:r>
              <a:rPr kumimoji="1" lang="en-US" altLang="zh-CN" sz="1200" dirty="0"/>
              <a:t>1</a:t>
            </a:r>
            <a:r>
              <a:rPr kumimoji="1" lang="zh-CN" altLang="en-US" sz="1200" dirty="0"/>
              <a:t>的</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相关研究，研究成果已被</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CAC2024</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接收。</a:t>
            </a:r>
            <a:endParaRPr kumimoji="1" lang="zh-CN" altLang="en-US" sz="1200" dirty="0"/>
          </a:p>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14</a:t>
            </a:fld>
            <a:endParaRPr lang="zh-CN" altLang="en-US"/>
          </a:p>
        </p:txBody>
      </p:sp>
    </p:spTree>
    <p:extLst>
      <p:ext uri="{BB962C8B-B14F-4D97-AF65-F5344CB8AC3E}">
        <p14:creationId xmlns:p14="http://schemas.microsoft.com/office/powerpoint/2010/main" val="327970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15</a:t>
            </a:fld>
            <a:endParaRPr lang="zh-CN" altLang="en-US"/>
          </a:p>
        </p:txBody>
      </p:sp>
    </p:spTree>
    <p:extLst>
      <p:ext uri="{BB962C8B-B14F-4D97-AF65-F5344CB8AC3E}">
        <p14:creationId xmlns:p14="http://schemas.microsoft.com/office/powerpoint/2010/main" val="1252525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总回报曲线存在剧烈波动，这是由于算法采用了随机探索机制</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防止在探索过程中陷入局部最优解</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），但</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总体呈上升趋势，随着学习率和探索率减小，逐渐收敛于最高值</a:t>
                </a:r>
                <a:endParaRPr lang="en-US" altLang="zh-CN" sz="1800" kern="1050" dirty="0">
                  <a:effectLst/>
                  <a:latin typeface="Calibri" panose="020F0502020204030204" pitchFamily="34" charset="0"/>
                  <a:ea typeface="宋体" panose="02010600030101010101" pitchFamily="2" charset="-122"/>
                  <a:cs typeface="Times New Roman" panose="02020603050405020304" pitchFamily="18" charset="0"/>
                </a:endParaRPr>
              </a:p>
              <a:p>
                <a:endParaRPr lang="en-US" altLang="zh-CN" sz="1800" kern="105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1800" kern="1050" dirty="0">
                    <a:effectLst/>
                    <a:ea typeface="宋体" panose="02010600030101010101" pitchFamily="2" charset="-122"/>
                    <a:cs typeface="Times New Roman" panose="02020603050405020304" pitchFamily="18" charset="0"/>
                  </a:rPr>
                  <a:t>调度智能体输出的组合式规则日产量明显优于</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𝐸𝐷𝐷</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𝐶𝑅</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𝑆𝑅𝑃𝑇</a:t>
                </a:r>
                <a:r>
                  <a:rPr lang="zh-CN" altLang="zh-CN" sz="1200" kern="1200" dirty="0">
                    <a:solidFill>
                      <a:schemeClr val="tx1"/>
                    </a:solidFill>
                    <a:effectLst/>
                    <a:latin typeface="+mn-lt"/>
                    <a:ea typeface="+mn-ea"/>
                    <a:cs typeface="+mn-cs"/>
                  </a:rPr>
                  <a:t>规则</a:t>
                </a:r>
                <a:r>
                  <a:rPr lang="zh-CN" altLang="en-US" sz="1200" kern="1200" dirty="0">
                    <a:solidFill>
                      <a:schemeClr val="tx1"/>
                    </a:solidFill>
                    <a:effectLst/>
                    <a:latin typeface="+mn-lt"/>
                    <a:ea typeface="+mn-ea"/>
                    <a:cs typeface="+mn-cs"/>
                  </a:rPr>
                  <a:t>结果相似，</a:t>
                </a:r>
                <a:r>
                  <a:rPr lang="zh-CN" altLang="zh-CN" sz="1200" kern="1200" dirty="0">
                    <a:solidFill>
                      <a:schemeClr val="tx1"/>
                    </a:solidFill>
                    <a:effectLst/>
                    <a:latin typeface="+mn-lt"/>
                    <a:ea typeface="+mn-ea"/>
                    <a:cs typeface="+mn-cs"/>
                  </a:rPr>
                  <a:t>因为</a:t>
                </a:r>
                <a:r>
                  <a:rPr lang="en-US" altLang="zh-CN" sz="1200" i="0" kern="1200">
                    <a:solidFill>
                      <a:schemeClr val="tx1"/>
                    </a:solidFill>
                    <a:effectLst/>
                    <a:latin typeface="+mn-lt"/>
                    <a:ea typeface="+mn-ea"/>
                    <a:cs typeface="+mn-cs"/>
                  </a:rPr>
                  <a:t>𝑆𝑅𝑃𝑇</a:t>
                </a:r>
                <a:r>
                  <a:rPr lang="zh-CN" altLang="zh-CN" sz="1200" kern="1200" dirty="0">
                    <a:solidFill>
                      <a:schemeClr val="tx1"/>
                    </a:solidFill>
                    <a:effectLst/>
                    <a:latin typeface="+mn-lt"/>
                    <a:ea typeface="+mn-ea"/>
                    <a:cs typeface="+mn-cs"/>
                  </a:rPr>
                  <a:t>是最短剩余加工时间优先规则，</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在本实验环境下对日产量有接近最优的效果</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车间接近满负荷，日产量能够保持平稳，但很难有更大的提升</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调度周期中组合式规则权重数据的变化，最终得到的决策轨迹中</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𝑆𝑅𝑃𝑇</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权重大于其余两种规则权重之和</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从中也反映了调度智能体能够学习到</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𝑆𝑅𝑃𝑇</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具有较好的效果，因此在训练过程</a:t>
                </a:r>
                <a:r>
                  <a:rPr lang="zh-CN" altLang="zh-CN" sz="1800" kern="1050">
                    <a:effectLst/>
                    <a:latin typeface="Calibri" panose="020F0502020204030204" pitchFamily="34" charset="0"/>
                    <a:ea typeface="宋体" panose="02010600030101010101" pitchFamily="2" charset="-122"/>
                    <a:cs typeface="Times New Roman" panose="02020603050405020304" pitchFamily="18" charset="0"/>
                  </a:rPr>
                  <a:t>中不断</a:t>
                </a:r>
                <a:r>
                  <a:rPr lang="zh-CN" altLang="en-US" sz="1800" kern="1050">
                    <a:effectLst/>
                    <a:latin typeface="Calibri" panose="020F0502020204030204" pitchFamily="34" charset="0"/>
                    <a:ea typeface="宋体" panose="02010600030101010101" pitchFamily="2" charset="-122"/>
                    <a:cs typeface="Times New Roman" panose="02020603050405020304" pitchFamily="18" charset="0"/>
                  </a:rPr>
                  <a:t>偏向</a:t>
                </a:r>
                <a:r>
                  <a:rPr lang="zh-CN" altLang="zh-CN" sz="1800" kern="1050">
                    <a:effectLst/>
                    <a:latin typeface="Calibri" panose="020F0502020204030204" pitchFamily="34" charset="0"/>
                    <a:ea typeface="宋体" panose="02010600030101010101" pitchFamily="2" charset="-122"/>
                    <a:cs typeface="Times New Roman" panose="02020603050405020304" pitchFamily="18" charset="0"/>
                  </a:rPr>
                  <a:t>此</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规则，</a:t>
                </a:r>
                <a:endParaRPr lang="zh-CN" altLang="en-US" dirty="0"/>
              </a:p>
            </p:txBody>
          </p:sp>
        </mc:Fallback>
      </mc:AlternateContent>
      <p:sp>
        <p:nvSpPr>
          <p:cNvPr id="4" name="灯片编号占位符 3"/>
          <p:cNvSpPr>
            <a:spLocks noGrp="1"/>
          </p:cNvSpPr>
          <p:nvPr>
            <p:ph type="sldNum" sz="quarter" idx="5"/>
          </p:nvPr>
        </p:nvSpPr>
        <p:spPr/>
        <p:txBody>
          <a:bodyPr/>
          <a:lstStyle/>
          <a:p>
            <a:fld id="{0F66500E-9BD0-4F64-9C53-F2D2129A1C7E}" type="slidenum">
              <a:rPr lang="zh-CN" altLang="en-US" smtClean="0"/>
              <a:t>16</a:t>
            </a:fld>
            <a:endParaRPr lang="zh-CN" altLang="en-US"/>
          </a:p>
        </p:txBody>
      </p:sp>
    </p:spTree>
    <p:extLst>
      <p:ext uri="{BB962C8B-B14F-4D97-AF65-F5344CB8AC3E}">
        <p14:creationId xmlns:p14="http://schemas.microsoft.com/office/powerpoint/2010/main" val="1279921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17</a:t>
            </a:fld>
            <a:endParaRPr lang="zh-CN" altLang="en-US"/>
          </a:p>
        </p:txBody>
      </p:sp>
    </p:spTree>
    <p:extLst>
      <p:ext uri="{BB962C8B-B14F-4D97-AF65-F5344CB8AC3E}">
        <p14:creationId xmlns:p14="http://schemas.microsoft.com/office/powerpoint/2010/main" val="3589443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18</a:t>
            </a:fld>
            <a:endParaRPr lang="zh-CN" altLang="en-US"/>
          </a:p>
        </p:txBody>
      </p:sp>
    </p:spTree>
    <p:extLst>
      <p:ext uri="{BB962C8B-B14F-4D97-AF65-F5344CB8AC3E}">
        <p14:creationId xmlns:p14="http://schemas.microsoft.com/office/powerpoint/2010/main" val="3850680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308757-B174-46B0-AE00-D12643AF7AC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0BA369C-DB91-4252-98DC-DBB5E543B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9505B2B-5BE5-4F2B-A580-8941DC891AFF}"/>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5" name="页脚占位符 4">
            <a:extLst>
              <a:ext uri="{FF2B5EF4-FFF2-40B4-BE49-F238E27FC236}">
                <a16:creationId xmlns:a16="http://schemas.microsoft.com/office/drawing/2014/main" id="{298E7EE5-E015-4269-B4F8-D2137E77F7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DB08F5-159E-43C1-97D3-F5632BB39A2E}"/>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362512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398AE-57EE-4F42-BAB6-1DA33764F6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A84A8E7-D924-43B9-8E61-B65429B6223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37705F-B652-4772-B6B4-1D2D54B164C7}"/>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5" name="页脚占位符 4">
            <a:extLst>
              <a:ext uri="{FF2B5EF4-FFF2-40B4-BE49-F238E27FC236}">
                <a16:creationId xmlns:a16="http://schemas.microsoft.com/office/drawing/2014/main" id="{6CB88D30-A0E4-41F4-B1BF-95424C75CF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6AB7CE-C089-4CE3-B972-E221A7CB5783}"/>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534546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3C35EB-2729-4BFD-9803-6ECAE80D39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FEFC605-8D9F-4D5E-BD5F-C5CC944950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72E9DEE-B257-4EDB-9EEF-1012C128075D}"/>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5" name="页脚占位符 4">
            <a:extLst>
              <a:ext uri="{FF2B5EF4-FFF2-40B4-BE49-F238E27FC236}">
                <a16:creationId xmlns:a16="http://schemas.microsoft.com/office/drawing/2014/main" id="{941AF40E-11CD-499A-A090-02648886BF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732A03-1AE1-4CC8-8749-5D41790D9EB6}"/>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7944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66191-7828-43C5-8F67-EE4B2E48A5D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85548A-FF37-4069-87AE-2F26DA082F3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ACF860-7D89-4FED-AF25-457DAF2FDC2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07F0380-306F-4874-81D9-3B9A6F86704C}"/>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6" name="页脚占位符 5">
            <a:extLst>
              <a:ext uri="{FF2B5EF4-FFF2-40B4-BE49-F238E27FC236}">
                <a16:creationId xmlns:a16="http://schemas.microsoft.com/office/drawing/2014/main" id="{BB730077-F6BB-402B-BF6E-699102B5DF3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B033BA-CB14-4C1A-B36E-FA3C41AA83D1}"/>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690676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2AAC5C-CF7A-4F37-969E-F43F8001A62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F22EE8-91EA-4E16-80B4-4204B7307F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E08C96E-8802-413B-97A8-6E3BA4881C8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0B30721-4382-4451-B079-CEC27E6F34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D903900-F9B0-4D9A-81BA-80535B904E1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C94822C-51EB-4ABD-ABCF-57CD70243A29}"/>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8" name="页脚占位符 7">
            <a:extLst>
              <a:ext uri="{FF2B5EF4-FFF2-40B4-BE49-F238E27FC236}">
                <a16:creationId xmlns:a16="http://schemas.microsoft.com/office/drawing/2014/main" id="{5859C3DB-CB85-4280-9856-4916F578D3F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576BD40-531A-4DC3-A55B-5F84ABC4426D}"/>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101143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0BA5AA-A3D7-4403-8875-7E3DCC0584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0BF626-3F6C-4E45-99BE-D80BFACDF549}"/>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4" name="页脚占位符 3">
            <a:extLst>
              <a:ext uri="{FF2B5EF4-FFF2-40B4-BE49-F238E27FC236}">
                <a16:creationId xmlns:a16="http://schemas.microsoft.com/office/drawing/2014/main" id="{28780042-25CB-43DE-81AE-79E4FE77A5C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1E0A3FD-6BE4-481A-AE15-302EAAD6A59D}"/>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1624732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AB6E3D-AB9A-46C2-84E5-0CC849225841}"/>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3" name="页脚占位符 2">
            <a:extLst>
              <a:ext uri="{FF2B5EF4-FFF2-40B4-BE49-F238E27FC236}">
                <a16:creationId xmlns:a16="http://schemas.microsoft.com/office/drawing/2014/main" id="{75166EC8-6B54-4A57-8E8C-E686581A53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F93DB75-1130-4B4B-A4E9-CC843C0C8A20}"/>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372705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87445B-D863-4E72-BCDE-5D70D8A9D15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26957D4-5D8E-4F35-91EF-984AA5AFB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DE37034-AEDA-4CBE-92BD-A052D0EA63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317194F-0F77-4DF4-B48C-3FEC9DA6C46A}"/>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6" name="页脚占位符 5">
            <a:extLst>
              <a:ext uri="{FF2B5EF4-FFF2-40B4-BE49-F238E27FC236}">
                <a16:creationId xmlns:a16="http://schemas.microsoft.com/office/drawing/2014/main" id="{502FD772-7C26-4744-BDFF-24D7BEA42C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E7C3FB-1936-4305-A899-E7999F43AC26}"/>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3601888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45FB8-D4EB-4245-97EF-42E227E566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0EE8C03-E7F3-40CA-B702-F4AACF9AF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3656D42-0C63-4D76-A235-BDB2D849F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0E0707-8A23-4582-B07B-20FFD68EA8E6}"/>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6" name="页脚占位符 5">
            <a:extLst>
              <a:ext uri="{FF2B5EF4-FFF2-40B4-BE49-F238E27FC236}">
                <a16:creationId xmlns:a16="http://schemas.microsoft.com/office/drawing/2014/main" id="{F9972C68-3D4E-4E72-AE93-762546B3A6A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95D9877-FCCD-4C51-B54F-C804B435CCED}"/>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2391865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26E55-3A45-4E57-841D-E4B63C925A0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07AE3B5-36EE-45C0-B757-8AA743C97DE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59EDC0-603C-42D0-A673-E311E83A5246}"/>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5" name="页脚占位符 4">
            <a:extLst>
              <a:ext uri="{FF2B5EF4-FFF2-40B4-BE49-F238E27FC236}">
                <a16:creationId xmlns:a16="http://schemas.microsoft.com/office/drawing/2014/main" id="{8E493F7F-D907-43A1-A381-9C9265BB35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BB7D5C-785E-44B0-B25D-6F7E8D7914EF}"/>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443337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B523C66-B624-4F6C-AEE3-DD9676FFBEE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01E862B-2609-44E0-BD17-2983BCB4ED6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E80431-38D2-4F07-ABDC-667D6603102D}"/>
              </a:ext>
            </a:extLst>
          </p:cNvPr>
          <p:cNvSpPr>
            <a:spLocks noGrp="1"/>
          </p:cNvSpPr>
          <p:nvPr>
            <p:ph type="dt" sz="half" idx="10"/>
          </p:nvPr>
        </p:nvSpPr>
        <p:spPr/>
        <p:txBody>
          <a:bodyPr/>
          <a:lstStyle/>
          <a:p>
            <a:fld id="{67C89B30-0A19-4D9B-8008-C9B5992491A5}" type="datetimeFigureOut">
              <a:rPr lang="zh-CN" altLang="en-US" smtClean="0"/>
              <a:t>2024/9/24</a:t>
            </a:fld>
            <a:endParaRPr lang="zh-CN" altLang="en-US"/>
          </a:p>
        </p:txBody>
      </p:sp>
      <p:sp>
        <p:nvSpPr>
          <p:cNvPr id="5" name="页脚占位符 4">
            <a:extLst>
              <a:ext uri="{FF2B5EF4-FFF2-40B4-BE49-F238E27FC236}">
                <a16:creationId xmlns:a16="http://schemas.microsoft.com/office/drawing/2014/main" id="{E4E34BFD-2232-4491-B8CF-252F61ECE4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68F1A4-9C94-475F-B0FD-AE4EEFBFEF57}"/>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654072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D0F750D-A912-47DB-AC77-3FE2A2C9FC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08A2446-E2C0-49BB-968A-D6FE0FF5E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FDDCEF-EB3E-4330-BD75-EDB467867D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C89B30-0A19-4D9B-8008-C9B5992491A5}" type="datetimeFigureOut">
              <a:rPr lang="zh-CN" altLang="en-US" smtClean="0"/>
              <a:t>2024/9/24</a:t>
            </a:fld>
            <a:endParaRPr lang="zh-CN" altLang="en-US"/>
          </a:p>
        </p:txBody>
      </p:sp>
      <p:sp>
        <p:nvSpPr>
          <p:cNvPr id="5" name="页脚占位符 4">
            <a:extLst>
              <a:ext uri="{FF2B5EF4-FFF2-40B4-BE49-F238E27FC236}">
                <a16:creationId xmlns:a16="http://schemas.microsoft.com/office/drawing/2014/main" id="{1C254806-6F1A-47C5-BBCB-A8E97C2160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2E71A9D-81A6-43F0-B26E-5EB20B46EC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24065164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294E57AA-4A9E-4E3F-A085-5C32AA493ABF}"/>
              </a:ext>
            </a:extLst>
          </p:cNvPr>
          <p:cNvSpPr/>
          <p:nvPr/>
        </p:nvSpPr>
        <p:spPr>
          <a:xfrm>
            <a:off x="1068404" y="2472138"/>
            <a:ext cx="10055192" cy="1147279"/>
          </a:xfrm>
          <a:prstGeom prst="roundRect">
            <a:avLst>
              <a:gd name="adj" fmla="val 50000"/>
            </a:avLst>
          </a:prstGeom>
          <a:gradFill flip="none" rotWithShape="1">
            <a:gsLst>
              <a:gs pos="19000">
                <a:schemeClr val="accent5">
                  <a:lumMod val="75000"/>
                </a:schemeClr>
              </a:gs>
              <a:gs pos="66000">
                <a:schemeClr val="accent1">
                  <a:lumMod val="75000"/>
                </a:schemeClr>
              </a:gs>
              <a:gs pos="84000">
                <a:schemeClr val="accent1"/>
              </a:gs>
              <a:gs pos="99000">
                <a:schemeClr val="accent5">
                  <a:lumMod val="60000"/>
                  <a:lumOff val="4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E0F67620-F372-4480-800D-CDB2BE12F082}"/>
              </a:ext>
            </a:extLst>
          </p:cNvPr>
          <p:cNvSpPr txBox="1"/>
          <p:nvPr/>
        </p:nvSpPr>
        <p:spPr>
          <a:xfrm>
            <a:off x="1068405" y="2730884"/>
            <a:ext cx="1005519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200" dirty="0">
                <a:solidFill>
                  <a:schemeClr val="bg1"/>
                </a:solidFill>
                <a:latin typeface="华文中宋" panose="02010600040101010101" pitchFamily="2" charset="-122"/>
                <a:ea typeface="华文中宋" panose="02010600040101010101" pitchFamily="2" charset="-122"/>
              </a:rPr>
              <a:t>智能车间分布式动态生产调度方法研究</a:t>
            </a:r>
            <a:r>
              <a:rPr lang="zh-CN" altLang="zh-CN" sz="3200" dirty="0">
                <a:solidFill>
                  <a:schemeClr val="bg1"/>
                </a:solidFill>
                <a:latin typeface="华文中宋" panose="02010600040101010101" pitchFamily="2" charset="-122"/>
                <a:ea typeface="华文中宋" panose="02010600040101010101" pitchFamily="2" charset="-122"/>
              </a:rPr>
              <a:t> </a:t>
            </a:r>
            <a:endParaRPr lang="zh-CN" altLang="en-US" sz="3200" dirty="0">
              <a:solidFill>
                <a:schemeClr val="bg1"/>
              </a:solidFill>
              <a:latin typeface="华文中宋" panose="02010600040101010101" pitchFamily="2" charset="-122"/>
              <a:ea typeface="华文中宋" panose="02010600040101010101" pitchFamily="2" charset="-122"/>
            </a:endParaRPr>
          </a:p>
        </p:txBody>
      </p:sp>
      <p:grpSp>
        <p:nvGrpSpPr>
          <p:cNvPr id="16" name="组合 15">
            <a:extLst>
              <a:ext uri="{FF2B5EF4-FFF2-40B4-BE49-F238E27FC236}">
                <a16:creationId xmlns:a16="http://schemas.microsoft.com/office/drawing/2014/main" id="{547155C8-AD38-422B-ABD4-1B4C136885C6}"/>
              </a:ext>
            </a:extLst>
          </p:cNvPr>
          <p:cNvGrpSpPr/>
          <p:nvPr/>
        </p:nvGrpSpPr>
        <p:grpSpPr>
          <a:xfrm>
            <a:off x="5415218" y="841285"/>
            <a:ext cx="1359953" cy="1361409"/>
            <a:chOff x="5415218" y="841285"/>
            <a:chExt cx="1359953" cy="1361409"/>
          </a:xfrm>
        </p:grpSpPr>
        <p:pic>
          <p:nvPicPr>
            <p:cNvPr id="17" name="图片 16">
              <a:extLst>
                <a:ext uri="{FF2B5EF4-FFF2-40B4-BE49-F238E27FC236}">
                  <a16:creationId xmlns:a16="http://schemas.microsoft.com/office/drawing/2014/main" id="{03B8C9AE-67E8-4F11-95FE-563DF34F16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8371" y="841285"/>
              <a:ext cx="775258" cy="777841"/>
            </a:xfrm>
            <a:prstGeom prst="rect">
              <a:avLst/>
            </a:prstGeom>
          </p:spPr>
        </p:pic>
        <p:pic>
          <p:nvPicPr>
            <p:cNvPr id="19" name="图片 18">
              <a:extLst>
                <a:ext uri="{FF2B5EF4-FFF2-40B4-BE49-F238E27FC236}">
                  <a16:creationId xmlns:a16="http://schemas.microsoft.com/office/drawing/2014/main" id="{27B516AC-3E7C-492E-A6E1-967F35F758D9}"/>
                </a:ext>
              </a:extLst>
            </p:cNvPr>
            <p:cNvPicPr>
              <a:picLocks noChangeAspect="1"/>
            </p:cNvPicPr>
            <p:nvPr/>
          </p:nvPicPr>
          <p:blipFill rotWithShape="1">
            <a:blip r:embed="rId4">
              <a:extLst>
                <a:ext uri="{28A0092B-C50C-407E-A947-70E740481C1C}">
                  <a14:useLocalDpi xmlns:a14="http://schemas.microsoft.com/office/drawing/2010/main" val="0"/>
                </a:ext>
              </a:extLst>
            </a:blip>
            <a:srcRect l="33676" t="32421" r="14560" b="35039"/>
            <a:stretch/>
          </p:blipFill>
          <p:spPr>
            <a:xfrm>
              <a:off x="5415218" y="1619126"/>
              <a:ext cx="1359953" cy="583568"/>
            </a:xfrm>
            <a:prstGeom prst="rect">
              <a:avLst/>
            </a:prstGeom>
          </p:spPr>
        </p:pic>
      </p:grpSp>
      <p:grpSp>
        <p:nvGrpSpPr>
          <p:cNvPr id="2" name="组合 1">
            <a:extLst>
              <a:ext uri="{FF2B5EF4-FFF2-40B4-BE49-F238E27FC236}">
                <a16:creationId xmlns:a16="http://schemas.microsoft.com/office/drawing/2014/main" id="{4138264D-39D1-D94A-A3B9-EE600B334EB1}"/>
              </a:ext>
            </a:extLst>
          </p:cNvPr>
          <p:cNvGrpSpPr/>
          <p:nvPr/>
        </p:nvGrpSpPr>
        <p:grpSpPr>
          <a:xfrm>
            <a:off x="3344498" y="4443066"/>
            <a:ext cx="5501391" cy="400110"/>
            <a:chOff x="3310835" y="4429814"/>
            <a:chExt cx="5501391" cy="400110"/>
          </a:xfrm>
        </p:grpSpPr>
        <p:sp>
          <p:nvSpPr>
            <p:cNvPr id="13" name="文本框 12">
              <a:extLst>
                <a:ext uri="{FF2B5EF4-FFF2-40B4-BE49-F238E27FC236}">
                  <a16:creationId xmlns:a16="http://schemas.microsoft.com/office/drawing/2014/main" id="{40DE178F-3672-422E-920B-D8B3D2EDFFF9}"/>
                </a:ext>
              </a:extLst>
            </p:cNvPr>
            <p:cNvSpPr txBox="1"/>
            <p:nvPr/>
          </p:nvSpPr>
          <p:spPr>
            <a:xfrm>
              <a:off x="3770905" y="4429814"/>
              <a:ext cx="2324289"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答辩人：廖一芃</a:t>
              </a:r>
            </a:p>
          </p:txBody>
        </p:sp>
        <p:cxnSp>
          <p:nvCxnSpPr>
            <p:cNvPr id="14" name="直接连接符 13">
              <a:extLst>
                <a:ext uri="{FF2B5EF4-FFF2-40B4-BE49-F238E27FC236}">
                  <a16:creationId xmlns:a16="http://schemas.microsoft.com/office/drawing/2014/main" id="{E238241D-4D42-4082-ADFF-35496AD970FF}"/>
                </a:ext>
              </a:extLst>
            </p:cNvPr>
            <p:cNvCxnSpPr/>
            <p:nvPr/>
          </p:nvCxnSpPr>
          <p:spPr>
            <a:xfrm>
              <a:off x="3310835" y="4629869"/>
              <a:ext cx="348272" cy="0"/>
            </a:xfrm>
            <a:prstGeom prst="line">
              <a:avLst/>
            </a:prstGeom>
            <a:ln w="158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4578D83A-0E18-4AB3-A0D0-A32F75E0C645}"/>
                </a:ext>
              </a:extLst>
            </p:cNvPr>
            <p:cNvCxnSpPr/>
            <p:nvPr/>
          </p:nvCxnSpPr>
          <p:spPr>
            <a:xfrm>
              <a:off x="8463954" y="4630588"/>
              <a:ext cx="348272" cy="0"/>
            </a:xfrm>
            <a:prstGeom prst="line">
              <a:avLst/>
            </a:prstGeom>
            <a:ln w="158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18DA7B64-DDB8-42EC-ABF7-E1DF20A5E052}"/>
                </a:ext>
              </a:extLst>
            </p:cNvPr>
            <p:cNvSpPr txBox="1"/>
            <p:nvPr/>
          </p:nvSpPr>
          <p:spPr>
            <a:xfrm>
              <a:off x="6206992" y="4429814"/>
              <a:ext cx="232428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指导老师：</a:t>
              </a:r>
              <a:r>
                <a:rPr lang="zh-CN" altLang="en-US" sz="2000" dirty="0">
                  <a:solidFill>
                    <a:srgbClr val="4472C4">
                      <a:lumMod val="75000"/>
                    </a:srgbClr>
                  </a:solidFill>
                  <a:latin typeface="微软雅黑" panose="020B0503020204020204" pitchFamily="34" charset="-122"/>
                  <a:ea typeface="微软雅黑" panose="020B0503020204020204" pitchFamily="34" charset="-122"/>
                </a:rPr>
                <a:t>马玉敏</a:t>
              </a:r>
              <a:endPar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349129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34E897B-0D14-1280-7C56-742AD80BE0E2}"/>
              </a:ext>
            </a:extLst>
          </p:cNvPr>
          <p:cNvPicPr>
            <a:picLocks noChangeAspect="1"/>
          </p:cNvPicPr>
          <p:nvPr/>
        </p:nvPicPr>
        <p:blipFill>
          <a:blip r:embed="rId3"/>
          <a:stretch>
            <a:fillRect/>
          </a:stretch>
        </p:blipFill>
        <p:spPr>
          <a:xfrm>
            <a:off x="125730" y="104140"/>
            <a:ext cx="3571875" cy="1266825"/>
          </a:xfrm>
          <a:prstGeom prst="rect">
            <a:avLst/>
          </a:prstGeom>
        </p:spPr>
      </p:pic>
      <p:sp>
        <p:nvSpPr>
          <p:cNvPr id="14" name="文本占位符 3">
            <a:extLst>
              <a:ext uri="{FF2B5EF4-FFF2-40B4-BE49-F238E27FC236}">
                <a16:creationId xmlns:a16="http://schemas.microsoft.com/office/drawing/2014/main" id="{B00E7F3C-9E5E-07F4-CF3B-746C7E787824}"/>
              </a:ext>
            </a:extLst>
          </p:cNvPr>
          <p:cNvSpPr txBox="1"/>
          <p:nvPr/>
        </p:nvSpPr>
        <p:spPr>
          <a:xfrm>
            <a:off x="6274143" y="1820648"/>
            <a:ext cx="3370580" cy="2330450"/>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buFont typeface="Arial" panose="020B0604020202020204" pitchFamily="34" charset="0"/>
              <a:buNone/>
              <a:defRPr lang="en-US" sz="2800" kern="1200" dirty="0">
                <a:solidFill>
                  <a:schemeClr val="tx1"/>
                </a:solidFill>
                <a:latin typeface="思源黑体" panose="020B0500000000000000" pitchFamily="34" charset="-122"/>
                <a:ea typeface="思源黑体" panose="020B05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40000"/>
              </a:lnSpc>
              <a:buAutoNum type="arabicPeriod"/>
            </a:pPr>
            <a:r>
              <a:rPr lang="zh-CN" altLang="en-US" dirty="0">
                <a:solidFill>
                  <a:schemeClr val="tx1"/>
                </a:solidFill>
              </a:rPr>
              <a:t>研究背景</a:t>
            </a:r>
          </a:p>
          <a:p>
            <a:pPr marL="514350" indent="-514350">
              <a:lnSpc>
                <a:spcPct val="140000"/>
              </a:lnSpc>
              <a:buAutoNum type="arabicPeriod"/>
            </a:pPr>
            <a:r>
              <a:rPr lang="zh-CN" altLang="en-US" dirty="0"/>
              <a:t>文献综述</a:t>
            </a:r>
            <a:endParaRPr lang="zh-CN" altLang="en-US" dirty="0">
              <a:solidFill>
                <a:schemeClr val="tx1"/>
              </a:solidFill>
            </a:endParaRPr>
          </a:p>
          <a:p>
            <a:pPr marL="514350" indent="-514350">
              <a:lnSpc>
                <a:spcPct val="140000"/>
              </a:lnSpc>
              <a:buAutoNum type="arabicPeriod"/>
            </a:pPr>
            <a:r>
              <a:rPr lang="zh-CN" altLang="en-US" dirty="0"/>
              <a:t>研究内容</a:t>
            </a:r>
            <a:endParaRPr lang="zh-CN" altLang="en-US" dirty="0">
              <a:solidFill>
                <a:schemeClr val="tx1"/>
              </a:solidFill>
            </a:endParaRPr>
          </a:p>
          <a:p>
            <a:pPr marL="514350" indent="-514350">
              <a:lnSpc>
                <a:spcPct val="140000"/>
              </a:lnSpc>
              <a:buAutoNum type="arabicPeriod"/>
            </a:pPr>
            <a:r>
              <a:rPr lang="zh-CN" altLang="en-US" dirty="0"/>
              <a:t>技术路线</a:t>
            </a:r>
            <a:endParaRPr lang="en-US" altLang="zh-CN" dirty="0"/>
          </a:p>
          <a:p>
            <a:pPr marL="514350" indent="-514350">
              <a:lnSpc>
                <a:spcPct val="140000"/>
              </a:lnSpc>
              <a:buAutoNum type="arabicPeriod"/>
            </a:pPr>
            <a:r>
              <a:rPr lang="zh-CN" altLang="en-US" dirty="0">
                <a:solidFill>
                  <a:schemeClr val="tx1"/>
                </a:solidFill>
              </a:rPr>
              <a:t>工作计划</a:t>
            </a:r>
          </a:p>
          <a:p>
            <a:pPr marL="514350" indent="-514350">
              <a:buAutoNum type="arabicPeriod"/>
            </a:pPr>
            <a:endParaRPr lang="zh-CN" altLang="en-US" dirty="0">
              <a:solidFill>
                <a:schemeClr val="tx1"/>
              </a:solidFill>
            </a:endParaRPr>
          </a:p>
        </p:txBody>
      </p:sp>
      <p:cxnSp>
        <p:nvCxnSpPr>
          <p:cNvPr id="17" name="直接连接符 16">
            <a:extLst>
              <a:ext uri="{FF2B5EF4-FFF2-40B4-BE49-F238E27FC236}">
                <a16:creationId xmlns:a16="http://schemas.microsoft.com/office/drawing/2014/main" id="{2DF9C1C8-EC69-4705-D064-A87DF709BE71}"/>
              </a:ext>
            </a:extLst>
          </p:cNvPr>
          <p:cNvCxnSpPr/>
          <p:nvPr/>
        </p:nvCxnSpPr>
        <p:spPr>
          <a:xfrm>
            <a:off x="5383530" y="1870075"/>
            <a:ext cx="0" cy="3513455"/>
          </a:xfrm>
          <a:prstGeom prst="line">
            <a:avLst/>
          </a:prstGeom>
          <a:ln w="285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18" name="矩形 17">
            <a:extLst>
              <a:ext uri="{FF2B5EF4-FFF2-40B4-BE49-F238E27FC236}">
                <a16:creationId xmlns:a16="http://schemas.microsoft.com/office/drawing/2014/main" id="{80E6A509-F836-FBC1-D7E7-8A9A3A719E9E}"/>
              </a:ext>
            </a:extLst>
          </p:cNvPr>
          <p:cNvSpPr/>
          <p:nvPr/>
        </p:nvSpPr>
        <p:spPr>
          <a:xfrm>
            <a:off x="1998980" y="2527300"/>
            <a:ext cx="2399030" cy="122428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a:solidFill>
                  <a:schemeClr val="tx1"/>
                </a:solidFill>
                <a:latin typeface="微软雅黑" panose="020B0503020204020204" pitchFamily="34" charset="-122"/>
                <a:ea typeface="微软雅黑" panose="020B0503020204020204" pitchFamily="34" charset="-122"/>
              </a:rPr>
              <a:t>目</a:t>
            </a:r>
            <a:r>
              <a:rPr lang="en-US" altLang="zh-CN" sz="3600">
                <a:solidFill>
                  <a:schemeClr val="tx1"/>
                </a:solidFill>
                <a:latin typeface="微软雅黑" panose="020B0503020204020204" pitchFamily="34" charset="-122"/>
                <a:ea typeface="微软雅黑" panose="020B0503020204020204" pitchFamily="34" charset="-122"/>
              </a:rPr>
              <a:t> </a:t>
            </a:r>
            <a:r>
              <a:rPr lang="zh-CN" altLang="en-US" sz="3600">
                <a:solidFill>
                  <a:schemeClr val="tx1"/>
                </a:solidFill>
                <a:latin typeface="微软雅黑" panose="020B0503020204020204" pitchFamily="34" charset="-122"/>
                <a:ea typeface="微软雅黑" panose="020B0503020204020204" pitchFamily="34" charset="-122"/>
              </a:rPr>
              <a:t>录</a:t>
            </a:r>
          </a:p>
        </p:txBody>
      </p:sp>
    </p:spTree>
    <p:extLst>
      <p:ext uri="{BB962C8B-B14F-4D97-AF65-F5344CB8AC3E}">
        <p14:creationId xmlns:p14="http://schemas.microsoft.com/office/powerpoint/2010/main" val="365410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25">
            <a:extLst>
              <a:ext uri="{FF2B5EF4-FFF2-40B4-BE49-F238E27FC236}">
                <a16:creationId xmlns:a16="http://schemas.microsoft.com/office/drawing/2014/main" id="{F2787E63-E5C7-4117-B2D8-93E13F914D70}"/>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研究背景</a:t>
            </a:r>
          </a:p>
        </p:txBody>
      </p:sp>
      <p:sp>
        <p:nvSpPr>
          <p:cNvPr id="72" name="文本框 26">
            <a:extLst>
              <a:ext uri="{FF2B5EF4-FFF2-40B4-BE49-F238E27FC236}">
                <a16:creationId xmlns:a16="http://schemas.microsoft.com/office/drawing/2014/main" id="{74A3B37B-6EB3-4A80-945C-96D4A8132526}"/>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73" name="文本框 27">
            <a:extLst>
              <a:ext uri="{FF2B5EF4-FFF2-40B4-BE49-F238E27FC236}">
                <a16:creationId xmlns:a16="http://schemas.microsoft.com/office/drawing/2014/main" id="{41C9E807-FA41-4A85-9420-E6EC08205C09}"/>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4" name="文本框 28">
            <a:extLst>
              <a:ext uri="{FF2B5EF4-FFF2-40B4-BE49-F238E27FC236}">
                <a16:creationId xmlns:a16="http://schemas.microsoft.com/office/drawing/2014/main" id="{146CE437-3AC6-412A-89B7-DB2D385FFFE3}"/>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76" name="等腰三角形 75">
            <a:extLst>
              <a:ext uri="{FF2B5EF4-FFF2-40B4-BE49-F238E27FC236}">
                <a16:creationId xmlns:a16="http://schemas.microsoft.com/office/drawing/2014/main" id="{0B0F3881-7627-4817-8066-75BB63622584}"/>
              </a:ext>
            </a:extLst>
          </p:cNvPr>
          <p:cNvSpPr/>
          <p:nvPr/>
        </p:nvSpPr>
        <p:spPr>
          <a:xfrm rot="10800000">
            <a:off x="15035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7" name="直接连接符 76">
            <a:extLst>
              <a:ext uri="{FF2B5EF4-FFF2-40B4-BE49-F238E27FC236}">
                <a16:creationId xmlns:a16="http://schemas.microsoft.com/office/drawing/2014/main" id="{D16687C7-E0F1-4B20-B73C-34C66BAC4A66}"/>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CB75EF7-913B-45C5-BC96-6E84AAEE0A4A}"/>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7F1D62A-202E-49CC-9573-DD4D1FAC0675}"/>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E5196B38-8F33-45BB-8DC6-A7158713C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32" y="88882"/>
            <a:ext cx="930963" cy="934065"/>
          </a:xfrm>
          <a:prstGeom prst="rect">
            <a:avLst/>
          </a:prstGeom>
        </p:spPr>
      </p:pic>
      <p:sp>
        <p:nvSpPr>
          <p:cNvPr id="15" name="文本框 28">
            <a:extLst>
              <a:ext uri="{FF2B5EF4-FFF2-40B4-BE49-F238E27FC236}">
                <a16:creationId xmlns:a16="http://schemas.microsoft.com/office/drawing/2014/main" id="{5E78964D-F4C1-4D84-83FE-6DCB8A6F0AAA}"/>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6" name="直接连接符 15">
            <a:extLst>
              <a:ext uri="{FF2B5EF4-FFF2-40B4-BE49-F238E27FC236}">
                <a16:creationId xmlns:a16="http://schemas.microsoft.com/office/drawing/2014/main" id="{8B9207DB-DAA2-458E-84DD-E98FD14A016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箭头: 右 13">
            <a:extLst>
              <a:ext uri="{FF2B5EF4-FFF2-40B4-BE49-F238E27FC236}">
                <a16:creationId xmlns:a16="http://schemas.microsoft.com/office/drawing/2014/main" id="{26BC41B5-008E-9E93-F63A-F18407FF9919}"/>
              </a:ext>
            </a:extLst>
          </p:cNvPr>
          <p:cNvSpPr/>
          <p:nvPr/>
        </p:nvSpPr>
        <p:spPr>
          <a:xfrm>
            <a:off x="8293707" y="1724697"/>
            <a:ext cx="740093" cy="234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9A23A13F-6026-01C6-1559-A4DBE124EA09}"/>
              </a:ext>
            </a:extLst>
          </p:cNvPr>
          <p:cNvSpPr txBox="1"/>
          <p:nvPr/>
        </p:nvSpPr>
        <p:spPr>
          <a:xfrm>
            <a:off x="7941873" y="3047138"/>
            <a:ext cx="2586789" cy="369332"/>
          </a:xfrm>
          <a:prstGeom prst="rect">
            <a:avLst/>
          </a:prstGeom>
          <a:noFill/>
        </p:spPr>
        <p:txBody>
          <a:bodyPr wrap="square" rtlCol="0">
            <a:spAutoFit/>
          </a:bodyPr>
          <a:lstStyle/>
          <a:p>
            <a:r>
              <a:rPr lang="zh-CN" altLang="en-US" dirty="0"/>
              <a:t>集中式到分布式</a:t>
            </a:r>
          </a:p>
        </p:txBody>
      </p:sp>
      <p:sp>
        <p:nvSpPr>
          <p:cNvPr id="18" name="文本框 17">
            <a:extLst>
              <a:ext uri="{FF2B5EF4-FFF2-40B4-BE49-F238E27FC236}">
                <a16:creationId xmlns:a16="http://schemas.microsoft.com/office/drawing/2014/main" id="{FEEA96E5-5981-2DDF-2AB7-2005DFE01F62}"/>
              </a:ext>
            </a:extLst>
          </p:cNvPr>
          <p:cNvSpPr txBox="1"/>
          <p:nvPr/>
        </p:nvSpPr>
        <p:spPr>
          <a:xfrm>
            <a:off x="8019096" y="5167962"/>
            <a:ext cx="2586789" cy="369332"/>
          </a:xfrm>
          <a:prstGeom prst="rect">
            <a:avLst/>
          </a:prstGeom>
          <a:noFill/>
        </p:spPr>
        <p:txBody>
          <a:bodyPr wrap="square" rtlCol="0">
            <a:spAutoFit/>
          </a:bodyPr>
          <a:lstStyle/>
          <a:p>
            <a:r>
              <a:rPr lang="zh-CN" altLang="en-US" dirty="0"/>
              <a:t>静态到动态</a:t>
            </a:r>
          </a:p>
        </p:txBody>
      </p:sp>
      <p:sp>
        <p:nvSpPr>
          <p:cNvPr id="20" name="箭头: 右 19">
            <a:extLst>
              <a:ext uri="{FF2B5EF4-FFF2-40B4-BE49-F238E27FC236}">
                <a16:creationId xmlns:a16="http://schemas.microsoft.com/office/drawing/2014/main" id="{8099210B-DB7E-553F-1C45-98465C72E96D}"/>
              </a:ext>
            </a:extLst>
          </p:cNvPr>
          <p:cNvSpPr/>
          <p:nvPr/>
        </p:nvSpPr>
        <p:spPr>
          <a:xfrm>
            <a:off x="8218292" y="3752030"/>
            <a:ext cx="920905" cy="1795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箭头: 右 20">
            <a:extLst>
              <a:ext uri="{FF2B5EF4-FFF2-40B4-BE49-F238E27FC236}">
                <a16:creationId xmlns:a16="http://schemas.microsoft.com/office/drawing/2014/main" id="{E1E8584B-B896-F5AD-8433-87D112294743}"/>
              </a:ext>
            </a:extLst>
          </p:cNvPr>
          <p:cNvSpPr/>
          <p:nvPr/>
        </p:nvSpPr>
        <p:spPr>
          <a:xfrm>
            <a:off x="8218292" y="5503892"/>
            <a:ext cx="920906" cy="1791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77ADA203-4C84-E52D-3412-2D0B7C16E9EC}"/>
              </a:ext>
            </a:extLst>
          </p:cNvPr>
          <p:cNvSpPr txBox="1"/>
          <p:nvPr/>
        </p:nvSpPr>
        <p:spPr>
          <a:xfrm>
            <a:off x="352649" y="1239605"/>
            <a:ext cx="7441638" cy="5632311"/>
          </a:xfrm>
          <a:prstGeom prst="rect">
            <a:avLst/>
          </a:prstGeom>
          <a:noFill/>
        </p:spPr>
        <p:txBody>
          <a:bodyPr wrap="square" rtlCol="0">
            <a:spAutoFit/>
          </a:bodyPr>
          <a:lstStyle/>
          <a:p>
            <a:r>
              <a:rPr lang="zh-CN" altLang="en-US" dirty="0"/>
              <a:t>在智能制造背景下，智能车间作为实施新一代智能制造的主要载体，扮演着关键角色。在智能制造系统中，生产调度问题是一个普遍且关键的挑战，该问题的核心在于如何确定工件在各个机器上的加工顺序，以实现目标性能指标的最优化。</a:t>
            </a:r>
            <a:endParaRPr lang="en-US" altLang="zh-CN" dirty="0"/>
          </a:p>
          <a:p>
            <a:endParaRPr lang="en-US" altLang="zh-CN" dirty="0"/>
          </a:p>
          <a:p>
            <a:endParaRPr lang="en-US" altLang="zh-CN" dirty="0"/>
          </a:p>
          <a:p>
            <a:r>
              <a:rPr lang="zh-CN" altLang="en-US" dirty="0"/>
              <a:t>智能车间生产模式：朝着</a:t>
            </a:r>
            <a:r>
              <a:rPr lang="zh-CN" altLang="en-US" b="1" dirty="0"/>
              <a:t>多品种、小批量和定制化生产</a:t>
            </a:r>
            <a:r>
              <a:rPr lang="zh-CN" altLang="en-US" dirty="0"/>
              <a:t>模式发展，</a:t>
            </a:r>
            <a:endParaRPr lang="en-US" altLang="zh-CN" dirty="0"/>
          </a:p>
          <a:p>
            <a:r>
              <a:rPr lang="zh-CN" altLang="en-US" dirty="0"/>
              <a:t>传统的</a:t>
            </a:r>
            <a:r>
              <a:rPr lang="zh-CN" altLang="en-US" b="1" dirty="0"/>
              <a:t>集中式</a:t>
            </a:r>
            <a:r>
              <a:rPr lang="zh-CN" altLang="en-US" dirty="0"/>
              <a:t>车间运行方式难以实现对车间现场异常的实时响应和动态优化。无法满足智能车间对</a:t>
            </a:r>
            <a:r>
              <a:rPr lang="zh-CN" altLang="en-US" b="1" dirty="0"/>
              <a:t>不确定环境具备自适应能力</a:t>
            </a:r>
            <a:r>
              <a:rPr lang="zh-CN" altLang="en-US" dirty="0"/>
              <a:t>的发展需求。</a:t>
            </a:r>
            <a:endParaRPr lang="en-US" altLang="zh-CN" dirty="0"/>
          </a:p>
          <a:p>
            <a:endParaRPr lang="en-US" altLang="zh-CN" dirty="0"/>
          </a:p>
          <a:p>
            <a:endParaRPr lang="en-US" altLang="zh-CN" dirty="0"/>
          </a:p>
          <a:p>
            <a:r>
              <a:rPr lang="zh-CN" altLang="en-US" dirty="0"/>
              <a:t>需要将智能车间的监控、调度等功能下放至</a:t>
            </a:r>
            <a:r>
              <a:rPr lang="zh-CN" altLang="en-US" b="1" dirty="0"/>
              <a:t>单元级</a:t>
            </a:r>
            <a:r>
              <a:rPr lang="zh-CN" altLang="en-US" dirty="0"/>
              <a:t>，使单元实现智能化。</a:t>
            </a:r>
            <a:endParaRPr lang="en-US" altLang="zh-CN" dirty="0"/>
          </a:p>
          <a:p>
            <a:endParaRPr lang="en-US" altLang="zh-CN" dirty="0"/>
          </a:p>
          <a:p>
            <a:endParaRPr lang="en-US" altLang="zh-CN" dirty="0"/>
          </a:p>
          <a:p>
            <a:r>
              <a:rPr lang="zh-CN" altLang="en-US" dirty="0">
                <a:effectLst/>
                <a:ea typeface="等线" panose="02010600030101010101" pitchFamily="2" charset="-122"/>
                <a:cs typeface="Times New Roman" panose="02020603050405020304" pitchFamily="18" charset="0"/>
              </a:rPr>
              <a:t>过去车间调度问题的研究大多针对静态环境展开。</a:t>
            </a:r>
            <a:r>
              <a:rPr lang="zh-CN" altLang="zh-CN" dirty="0">
                <a:effectLst/>
                <a:ea typeface="等线" panose="02010600030101010101" pitchFamily="2" charset="-122"/>
                <a:cs typeface="Times New Roman" panose="02020603050405020304" pitchFamily="18" charset="0"/>
              </a:rPr>
              <a:t>随着车间生产环境的日益动态化，调度问题不仅局限于静态场景，还必须面对诸如</a:t>
            </a:r>
            <a:r>
              <a:rPr lang="zh-CN" altLang="zh-CN" b="1" dirty="0">
                <a:effectLst/>
                <a:ea typeface="等线" panose="02010600030101010101" pitchFamily="2" charset="-122"/>
                <a:cs typeface="Times New Roman" panose="02020603050405020304" pitchFamily="18" charset="0"/>
              </a:rPr>
              <a:t>动态事件和资源状态变化</a:t>
            </a:r>
            <a:r>
              <a:rPr lang="zh-CN" altLang="zh-CN" dirty="0">
                <a:effectLst/>
                <a:ea typeface="等线" panose="02010600030101010101" pitchFamily="2" charset="-122"/>
                <a:cs typeface="Times New Roman" panose="02020603050405020304" pitchFamily="18" charset="0"/>
              </a:rPr>
              <a:t>等不确定性因素</a:t>
            </a:r>
            <a:r>
              <a:rPr lang="zh-CN" altLang="en-US" dirty="0">
                <a:effectLst/>
                <a:ea typeface="等线" panose="02010600030101010101" pitchFamily="2" charset="-122"/>
                <a:cs typeface="Times New Roman" panose="02020603050405020304" pitchFamily="18" charset="0"/>
              </a:rPr>
              <a:t>。</a:t>
            </a:r>
            <a:r>
              <a:rPr lang="zh-CN" altLang="en-US" dirty="0"/>
              <a:t>调度系统</a:t>
            </a:r>
            <a:r>
              <a:rPr lang="zh-CN" altLang="en-US" b="1" dirty="0"/>
              <a:t>应具有处理紧急订单插入，机器故障等动态事件的能力</a:t>
            </a:r>
            <a:r>
              <a:rPr lang="zh-CN" altLang="en-US" dirty="0"/>
              <a:t>，及时的在动态事件发生时生成高质量的调度方案。</a:t>
            </a:r>
          </a:p>
          <a:p>
            <a:endParaRPr lang="zh-CN" altLang="en-US" dirty="0"/>
          </a:p>
        </p:txBody>
      </p:sp>
      <p:sp>
        <p:nvSpPr>
          <p:cNvPr id="23" name="文本框 22">
            <a:extLst>
              <a:ext uri="{FF2B5EF4-FFF2-40B4-BE49-F238E27FC236}">
                <a16:creationId xmlns:a16="http://schemas.microsoft.com/office/drawing/2014/main" id="{96ECE386-72E3-903B-BA14-824D55CD2842}"/>
              </a:ext>
            </a:extLst>
          </p:cNvPr>
          <p:cNvSpPr txBox="1"/>
          <p:nvPr/>
        </p:nvSpPr>
        <p:spPr>
          <a:xfrm>
            <a:off x="9385633" y="1617394"/>
            <a:ext cx="1569660" cy="369332"/>
          </a:xfrm>
          <a:prstGeom prst="rect">
            <a:avLst/>
          </a:prstGeom>
          <a:noFill/>
        </p:spPr>
        <p:txBody>
          <a:bodyPr wrap="none" rtlCol="0">
            <a:spAutoFit/>
          </a:bodyPr>
          <a:lstStyle/>
          <a:p>
            <a:r>
              <a:rPr lang="zh-CN" altLang="en-US" dirty="0"/>
              <a:t>生产调度问题</a:t>
            </a:r>
          </a:p>
        </p:txBody>
      </p:sp>
      <p:sp>
        <p:nvSpPr>
          <p:cNvPr id="2" name="矩形: 圆角 1">
            <a:extLst>
              <a:ext uri="{FF2B5EF4-FFF2-40B4-BE49-F238E27FC236}">
                <a16:creationId xmlns:a16="http://schemas.microsoft.com/office/drawing/2014/main" id="{EF9A3ADA-96FE-E951-9379-CEE927F90457}"/>
              </a:ext>
            </a:extLst>
          </p:cNvPr>
          <p:cNvSpPr/>
          <p:nvPr/>
        </p:nvSpPr>
        <p:spPr>
          <a:xfrm>
            <a:off x="252560" y="1199325"/>
            <a:ext cx="7689314" cy="1383409"/>
          </a:xfrm>
          <a:prstGeom prst="roundRect">
            <a:avLst/>
          </a:prstGeom>
          <a:noFill/>
          <a:ln w="38100">
            <a:solidFill>
              <a:srgbClr val="4883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AC3A7B4A-14DC-F05C-D300-F2625A6D352D}"/>
              </a:ext>
            </a:extLst>
          </p:cNvPr>
          <p:cNvSpPr/>
          <p:nvPr/>
        </p:nvSpPr>
        <p:spPr>
          <a:xfrm>
            <a:off x="275426" y="2761897"/>
            <a:ext cx="7689313" cy="1859654"/>
          </a:xfrm>
          <a:prstGeom prst="roundRect">
            <a:avLst/>
          </a:prstGeom>
          <a:noFill/>
          <a:ln w="38100">
            <a:solidFill>
              <a:srgbClr val="4883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8D78FC9E-7754-BDC8-A141-34708C0AFF11}"/>
              </a:ext>
            </a:extLst>
          </p:cNvPr>
          <p:cNvSpPr/>
          <p:nvPr/>
        </p:nvSpPr>
        <p:spPr>
          <a:xfrm>
            <a:off x="309308" y="4991326"/>
            <a:ext cx="7632565" cy="1510814"/>
          </a:xfrm>
          <a:prstGeom prst="roundRect">
            <a:avLst/>
          </a:prstGeom>
          <a:noFill/>
          <a:ln w="38100">
            <a:solidFill>
              <a:srgbClr val="4883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下 4">
            <a:extLst>
              <a:ext uri="{FF2B5EF4-FFF2-40B4-BE49-F238E27FC236}">
                <a16:creationId xmlns:a16="http://schemas.microsoft.com/office/drawing/2014/main" id="{4EECBA5A-1010-0788-0234-D72C88C15154}"/>
              </a:ext>
            </a:extLst>
          </p:cNvPr>
          <p:cNvSpPr/>
          <p:nvPr/>
        </p:nvSpPr>
        <p:spPr>
          <a:xfrm>
            <a:off x="3555312" y="3890030"/>
            <a:ext cx="771738" cy="2639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1824634-1A0A-0442-2170-E7730C27A866}"/>
              </a:ext>
            </a:extLst>
          </p:cNvPr>
          <p:cNvSpPr txBox="1"/>
          <p:nvPr/>
        </p:nvSpPr>
        <p:spPr>
          <a:xfrm>
            <a:off x="9316781" y="3774729"/>
            <a:ext cx="2762652" cy="1754326"/>
          </a:xfrm>
          <a:prstGeom prst="rect">
            <a:avLst/>
          </a:prstGeom>
          <a:noFill/>
        </p:spPr>
        <p:txBody>
          <a:bodyPr wrap="square" rtlCol="0">
            <a:spAutoFit/>
          </a:bodyPr>
          <a:lstStyle/>
          <a:p>
            <a:r>
              <a:rPr lang="zh-CN" altLang="en-US" dirty="0"/>
              <a:t>当智能车间运行过程中出现扰动时，单元应该具有根据实时生产状态进行自主调度优化，实现智能车间生产调度的自适应。</a:t>
            </a:r>
            <a:endParaRPr lang="en-US" altLang="zh-CN" dirty="0"/>
          </a:p>
          <a:p>
            <a:endParaRPr lang="zh-CN" altLang="en-US" dirty="0"/>
          </a:p>
        </p:txBody>
      </p:sp>
      <p:sp>
        <p:nvSpPr>
          <p:cNvPr id="7" name="加号 6">
            <a:extLst>
              <a:ext uri="{FF2B5EF4-FFF2-40B4-BE49-F238E27FC236}">
                <a16:creationId xmlns:a16="http://schemas.microsoft.com/office/drawing/2014/main" id="{BA41034E-2B33-CB4A-BE79-2757B5F3A0A8}"/>
              </a:ext>
            </a:extLst>
          </p:cNvPr>
          <p:cNvSpPr/>
          <p:nvPr/>
        </p:nvSpPr>
        <p:spPr>
          <a:xfrm>
            <a:off x="8218292" y="4186154"/>
            <a:ext cx="885762" cy="824271"/>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F803FFE5-60CD-BF06-C1B8-E6FF158194DC}"/>
              </a:ext>
            </a:extLst>
          </p:cNvPr>
          <p:cNvSpPr/>
          <p:nvPr/>
        </p:nvSpPr>
        <p:spPr>
          <a:xfrm>
            <a:off x="9286783" y="3594174"/>
            <a:ext cx="2762652" cy="1859654"/>
          </a:xfrm>
          <a:prstGeom prst="roundRect">
            <a:avLst/>
          </a:prstGeom>
          <a:noFill/>
          <a:ln w="38100">
            <a:solidFill>
              <a:srgbClr val="4883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4818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25">
            <a:extLst>
              <a:ext uri="{FF2B5EF4-FFF2-40B4-BE49-F238E27FC236}">
                <a16:creationId xmlns:a16="http://schemas.microsoft.com/office/drawing/2014/main" id="{F2787E63-E5C7-4117-B2D8-93E13F914D70}"/>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研究背景</a:t>
            </a:r>
          </a:p>
        </p:txBody>
      </p:sp>
      <p:sp>
        <p:nvSpPr>
          <p:cNvPr id="72" name="文本框 26">
            <a:extLst>
              <a:ext uri="{FF2B5EF4-FFF2-40B4-BE49-F238E27FC236}">
                <a16:creationId xmlns:a16="http://schemas.microsoft.com/office/drawing/2014/main" id="{74A3B37B-6EB3-4A80-945C-96D4A8132526}"/>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73" name="文本框 27">
            <a:extLst>
              <a:ext uri="{FF2B5EF4-FFF2-40B4-BE49-F238E27FC236}">
                <a16:creationId xmlns:a16="http://schemas.microsoft.com/office/drawing/2014/main" id="{41C9E807-FA41-4A85-9420-E6EC08205C09}"/>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4" name="文本框 28">
            <a:extLst>
              <a:ext uri="{FF2B5EF4-FFF2-40B4-BE49-F238E27FC236}">
                <a16:creationId xmlns:a16="http://schemas.microsoft.com/office/drawing/2014/main" id="{146CE437-3AC6-412A-89B7-DB2D385FFFE3}"/>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76" name="等腰三角形 75">
            <a:extLst>
              <a:ext uri="{FF2B5EF4-FFF2-40B4-BE49-F238E27FC236}">
                <a16:creationId xmlns:a16="http://schemas.microsoft.com/office/drawing/2014/main" id="{0B0F3881-7627-4817-8066-75BB63622584}"/>
              </a:ext>
            </a:extLst>
          </p:cNvPr>
          <p:cNvSpPr/>
          <p:nvPr/>
        </p:nvSpPr>
        <p:spPr>
          <a:xfrm rot="10800000">
            <a:off x="15035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7" name="直接连接符 76">
            <a:extLst>
              <a:ext uri="{FF2B5EF4-FFF2-40B4-BE49-F238E27FC236}">
                <a16:creationId xmlns:a16="http://schemas.microsoft.com/office/drawing/2014/main" id="{D16687C7-E0F1-4B20-B73C-34C66BAC4A66}"/>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CB75EF7-913B-45C5-BC96-6E84AAEE0A4A}"/>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7F1D62A-202E-49CC-9573-DD4D1FAC0675}"/>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E5196B38-8F33-45BB-8DC6-A7158713C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32" y="88882"/>
            <a:ext cx="930963" cy="934065"/>
          </a:xfrm>
          <a:prstGeom prst="rect">
            <a:avLst/>
          </a:prstGeom>
        </p:spPr>
      </p:pic>
      <p:sp>
        <p:nvSpPr>
          <p:cNvPr id="15" name="文本框 28">
            <a:extLst>
              <a:ext uri="{FF2B5EF4-FFF2-40B4-BE49-F238E27FC236}">
                <a16:creationId xmlns:a16="http://schemas.microsoft.com/office/drawing/2014/main" id="{5E78964D-F4C1-4D84-83FE-6DCB8A6F0AAA}"/>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6" name="直接连接符 15">
            <a:extLst>
              <a:ext uri="{FF2B5EF4-FFF2-40B4-BE49-F238E27FC236}">
                <a16:creationId xmlns:a16="http://schemas.microsoft.com/office/drawing/2014/main" id="{8B9207DB-DAA2-458E-84DD-E98FD14A016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F1A29AAE-884E-B077-4C37-87671E14A95C}"/>
              </a:ext>
            </a:extLst>
          </p:cNvPr>
          <p:cNvSpPr txBox="1"/>
          <p:nvPr/>
        </p:nvSpPr>
        <p:spPr>
          <a:xfrm>
            <a:off x="811638" y="6025057"/>
            <a:ext cx="10992418" cy="584270"/>
          </a:xfrm>
          <a:prstGeom prst="rect">
            <a:avLst/>
          </a:prstGeom>
          <a:noFill/>
        </p:spPr>
        <p:txBody>
          <a:bodyPr wrap="square" rtlCol="0">
            <a:spAutoFit/>
          </a:bodyPr>
          <a:lstStyle/>
          <a:p>
            <a:pPr marL="285750" indent="-285750">
              <a:buFont typeface="Wingdings" panose="05000000000000000000" pitchFamily="2" charset="2"/>
              <a:buChar char="l"/>
            </a:pPr>
            <a:r>
              <a:rPr lang="zh-CN" altLang="zh-CN" sz="1600" dirty="0">
                <a:effectLst/>
                <a:ea typeface="等线" panose="02010600030101010101" pitchFamily="2" charset="-122"/>
                <a:cs typeface="Times New Roman" panose="02020603050405020304" pitchFamily="18" charset="0"/>
              </a:rPr>
              <a:t>针</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对动态环境下的调度，两个主要的挑战是</a:t>
            </a:r>
            <a:r>
              <a:rPr lang="zh-CN" altLang="en-US" sz="1600" b="1" kern="100" dirty="0">
                <a:effectLst/>
                <a:latin typeface="等线" panose="02010600030101010101" pitchFamily="2" charset="-122"/>
                <a:ea typeface="等线" panose="02010600030101010101" pitchFamily="2" charset="-122"/>
                <a:cs typeface="Times New Roman" panose="02020603050405020304" pitchFamily="18" charset="0"/>
              </a:rPr>
              <a:t>突发</a:t>
            </a: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事件触发的动态调度</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和</a:t>
            </a: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资源状态变化引发的调度</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。本研究</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对动态环境下的车间调度</a:t>
            </a:r>
            <a:r>
              <a:rPr lang="zh-CN" altLang="en-US" sz="1600" kern="100" dirty="0">
                <a:latin typeface="等线" panose="02010600030101010101" pitchFamily="2" charset="-122"/>
                <a:ea typeface="等线" panose="02010600030101010101" pitchFamily="2" charset="-122"/>
                <a:cs typeface="Times New Roman" panose="02020603050405020304" pitchFamily="18" charset="0"/>
              </a:rPr>
              <a:t>将</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围绕这两个方面展开，探讨如何在</a:t>
            </a: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动态环境下有效调整生产计划，保证生产效率与资源利用的最优化。</a:t>
            </a:r>
            <a:endParaRPr lang="zh-CN" altLang="en-US" sz="16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左大括号 4">
            <a:extLst>
              <a:ext uri="{FF2B5EF4-FFF2-40B4-BE49-F238E27FC236}">
                <a16:creationId xmlns:a16="http://schemas.microsoft.com/office/drawing/2014/main" id="{83EABA89-A5BF-2931-35DE-675AD4FE44AD}"/>
              </a:ext>
            </a:extLst>
          </p:cNvPr>
          <p:cNvSpPr/>
          <p:nvPr/>
        </p:nvSpPr>
        <p:spPr>
          <a:xfrm>
            <a:off x="1286013" y="2279618"/>
            <a:ext cx="428358" cy="221795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文本框 98">
            <a:extLst>
              <a:ext uri="{FF2B5EF4-FFF2-40B4-BE49-F238E27FC236}">
                <a16:creationId xmlns:a16="http://schemas.microsoft.com/office/drawing/2014/main" id="{0B2F392E-E0C7-6C25-73BD-4A71D62BA848}"/>
              </a:ext>
            </a:extLst>
          </p:cNvPr>
          <p:cNvSpPr txBox="1"/>
          <p:nvPr/>
        </p:nvSpPr>
        <p:spPr>
          <a:xfrm>
            <a:off x="2216961" y="869227"/>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分类</a:t>
            </a:r>
          </a:p>
        </p:txBody>
      </p:sp>
      <p:sp>
        <p:nvSpPr>
          <p:cNvPr id="7" name="文本框 98">
            <a:extLst>
              <a:ext uri="{FF2B5EF4-FFF2-40B4-BE49-F238E27FC236}">
                <a16:creationId xmlns:a16="http://schemas.microsoft.com/office/drawing/2014/main" id="{B10F6006-70F0-3866-E673-0CC89CE01300}"/>
              </a:ext>
            </a:extLst>
          </p:cNvPr>
          <p:cNvSpPr txBox="1"/>
          <p:nvPr/>
        </p:nvSpPr>
        <p:spPr>
          <a:xfrm>
            <a:off x="178017" y="3203929"/>
            <a:ext cx="110799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动态因素</a:t>
            </a:r>
          </a:p>
        </p:txBody>
      </p:sp>
      <p:sp>
        <p:nvSpPr>
          <p:cNvPr id="8" name="文本框 98">
            <a:extLst>
              <a:ext uri="{FF2B5EF4-FFF2-40B4-BE49-F238E27FC236}">
                <a16:creationId xmlns:a16="http://schemas.microsoft.com/office/drawing/2014/main" id="{ED69721A-A0BE-48F7-679E-92642C0457C2}"/>
              </a:ext>
            </a:extLst>
          </p:cNvPr>
          <p:cNvSpPr txBox="1"/>
          <p:nvPr/>
        </p:nvSpPr>
        <p:spPr>
          <a:xfrm>
            <a:off x="5449669" y="869227"/>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描述</a:t>
            </a:r>
          </a:p>
        </p:txBody>
      </p:sp>
      <p:sp>
        <p:nvSpPr>
          <p:cNvPr id="9" name="文本框 98">
            <a:extLst>
              <a:ext uri="{FF2B5EF4-FFF2-40B4-BE49-F238E27FC236}">
                <a16:creationId xmlns:a16="http://schemas.microsoft.com/office/drawing/2014/main" id="{7A4DDA62-AF8B-4551-5867-562D47ACE3A8}"/>
              </a:ext>
            </a:extLst>
          </p:cNvPr>
          <p:cNvSpPr txBox="1"/>
          <p:nvPr/>
        </p:nvSpPr>
        <p:spPr>
          <a:xfrm>
            <a:off x="9824447" y="937769"/>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特点</a:t>
            </a:r>
          </a:p>
        </p:txBody>
      </p:sp>
      <p:sp>
        <p:nvSpPr>
          <p:cNvPr id="10" name="文本框 9">
            <a:extLst>
              <a:ext uri="{FF2B5EF4-FFF2-40B4-BE49-F238E27FC236}">
                <a16:creationId xmlns:a16="http://schemas.microsoft.com/office/drawing/2014/main" id="{A5C16FFC-D9DC-BAA6-0CC4-30C18AC9C029}"/>
              </a:ext>
            </a:extLst>
          </p:cNvPr>
          <p:cNvSpPr txBox="1"/>
          <p:nvPr/>
        </p:nvSpPr>
        <p:spPr>
          <a:xfrm>
            <a:off x="1764227" y="2115276"/>
            <a:ext cx="2031325" cy="369332"/>
          </a:xfrm>
          <a:prstGeom prst="rect">
            <a:avLst/>
          </a:prstGeom>
          <a:noFill/>
        </p:spPr>
        <p:txBody>
          <a:bodyPr wrap="none" rtlCol="0">
            <a:spAutoFit/>
          </a:bodyPr>
          <a:lstStyle/>
          <a:p>
            <a:r>
              <a:rPr lang="zh-CN" altLang="en-US" dirty="0"/>
              <a:t>不可预测动态事件</a:t>
            </a:r>
          </a:p>
        </p:txBody>
      </p:sp>
      <p:sp>
        <p:nvSpPr>
          <p:cNvPr id="12" name="文本框 11">
            <a:extLst>
              <a:ext uri="{FF2B5EF4-FFF2-40B4-BE49-F238E27FC236}">
                <a16:creationId xmlns:a16="http://schemas.microsoft.com/office/drawing/2014/main" id="{BD5C8410-CDB0-F553-CA2B-649A8269FD7E}"/>
              </a:ext>
            </a:extLst>
          </p:cNvPr>
          <p:cNvSpPr txBox="1"/>
          <p:nvPr/>
        </p:nvSpPr>
        <p:spPr>
          <a:xfrm>
            <a:off x="1910387" y="4224669"/>
            <a:ext cx="1800493" cy="369332"/>
          </a:xfrm>
          <a:prstGeom prst="rect">
            <a:avLst/>
          </a:prstGeom>
          <a:noFill/>
        </p:spPr>
        <p:txBody>
          <a:bodyPr wrap="none" rtlCol="0">
            <a:spAutoFit/>
          </a:bodyPr>
          <a:lstStyle/>
          <a:p>
            <a:r>
              <a:rPr lang="zh-CN" altLang="en-US" dirty="0"/>
              <a:t>可预测动态事件</a:t>
            </a:r>
          </a:p>
        </p:txBody>
      </p:sp>
      <p:sp>
        <p:nvSpPr>
          <p:cNvPr id="13" name="左大括号 12">
            <a:extLst>
              <a:ext uri="{FF2B5EF4-FFF2-40B4-BE49-F238E27FC236}">
                <a16:creationId xmlns:a16="http://schemas.microsoft.com/office/drawing/2014/main" id="{90B7D4CC-99D2-F49D-01B7-03EEE800E6DC}"/>
              </a:ext>
            </a:extLst>
          </p:cNvPr>
          <p:cNvSpPr/>
          <p:nvPr/>
        </p:nvSpPr>
        <p:spPr>
          <a:xfrm>
            <a:off x="3661025" y="1348121"/>
            <a:ext cx="253413" cy="1704109"/>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72B97EA-D53F-99E3-A7DE-DB36F776B9F0}"/>
              </a:ext>
            </a:extLst>
          </p:cNvPr>
          <p:cNvSpPr txBox="1"/>
          <p:nvPr/>
        </p:nvSpPr>
        <p:spPr>
          <a:xfrm>
            <a:off x="4037630" y="1208494"/>
            <a:ext cx="4385429" cy="800219"/>
          </a:xfrm>
          <a:prstGeom prst="rect">
            <a:avLst/>
          </a:prstGeom>
          <a:noFill/>
        </p:spPr>
        <p:txBody>
          <a:bodyPr wrap="square" rtlCol="0">
            <a:spAutoFit/>
          </a:bodyPr>
          <a:lstStyle/>
          <a:p>
            <a:r>
              <a:rPr lang="zh-CN" altLang="en-US" sz="1400" b="1" dirty="0">
                <a:ea typeface="等线" panose="02010600030101010101" pitchFamily="2" charset="-122"/>
                <a:cs typeface="Times New Roman" panose="02020603050405020304" pitchFamily="18" charset="0"/>
              </a:rPr>
              <a:t>紧急订单插入</a:t>
            </a:r>
            <a:r>
              <a:rPr lang="zh-CN" altLang="en-US" sz="1400" dirty="0">
                <a:effectLst/>
                <a:ea typeface="等线" panose="02010600030101010101" pitchFamily="2" charset="-122"/>
                <a:cs typeface="Times New Roman" panose="02020603050405020304" pitchFamily="18" charset="0"/>
              </a:rPr>
              <a:t>：</a:t>
            </a:r>
            <a:r>
              <a:rPr lang="zh-CN" altLang="zh-CN" sz="1400" dirty="0">
                <a:effectLst/>
                <a:ea typeface="等线" panose="02010600030101010101" pitchFamily="2" charset="-122"/>
                <a:cs typeface="Times New Roman" panose="02020603050405020304" pitchFamily="18" charset="0"/>
              </a:rPr>
              <a:t>突然下达新的订单，调度系统必须重新分配生产任务、调整设备和工具的使用计划。</a:t>
            </a:r>
            <a:endParaRPr lang="zh-CN" altLang="en-US" sz="1400" dirty="0"/>
          </a:p>
          <a:p>
            <a:endParaRPr lang="zh-CN" altLang="en-US" dirty="0"/>
          </a:p>
        </p:txBody>
      </p:sp>
      <p:sp>
        <p:nvSpPr>
          <p:cNvPr id="24" name="文本框 23">
            <a:extLst>
              <a:ext uri="{FF2B5EF4-FFF2-40B4-BE49-F238E27FC236}">
                <a16:creationId xmlns:a16="http://schemas.microsoft.com/office/drawing/2014/main" id="{6B44E69E-1A19-F09A-E49E-59108C0005DA}"/>
              </a:ext>
            </a:extLst>
          </p:cNvPr>
          <p:cNvSpPr txBox="1"/>
          <p:nvPr/>
        </p:nvSpPr>
        <p:spPr>
          <a:xfrm>
            <a:off x="3993037" y="1919544"/>
            <a:ext cx="4168226" cy="523220"/>
          </a:xfrm>
          <a:prstGeom prst="rect">
            <a:avLst/>
          </a:prstGeom>
          <a:noFill/>
        </p:spPr>
        <p:txBody>
          <a:bodyPr wrap="square" rtlCol="0">
            <a:spAutoFit/>
          </a:bodyPr>
          <a:lstStyle/>
          <a:p>
            <a:r>
              <a:rPr lang="zh-CN" altLang="zh-CN" sz="1400" b="1" dirty="0">
                <a:effectLst/>
                <a:ea typeface="等线" panose="02010600030101010101" pitchFamily="2" charset="-122"/>
                <a:cs typeface="Times New Roman" panose="02020603050405020304" pitchFamily="18" charset="0"/>
              </a:rPr>
              <a:t>订单取消</a:t>
            </a:r>
            <a:r>
              <a:rPr lang="zh-CN" altLang="en-US" sz="1400" b="1" dirty="0">
                <a:effectLst/>
                <a:ea typeface="等线" panose="02010600030101010101" pitchFamily="2" charset="-122"/>
                <a:cs typeface="Times New Roman" panose="02020603050405020304" pitchFamily="18" charset="0"/>
              </a:rPr>
              <a:t>：</a:t>
            </a:r>
            <a:r>
              <a:rPr lang="zh-CN" altLang="en-US" sz="1400" dirty="0">
                <a:effectLst/>
                <a:ea typeface="等线" panose="02010600030101010101" pitchFamily="2" charset="-122"/>
                <a:cs typeface="Times New Roman" panose="02020603050405020304" pitchFamily="18" charset="0"/>
              </a:rPr>
              <a:t>可能导致资源浪费，原本安排的生产计划需要被调整，资源需要重新分配。</a:t>
            </a:r>
            <a:endParaRPr lang="zh-CN" altLang="en-US" sz="1400" dirty="0"/>
          </a:p>
        </p:txBody>
      </p:sp>
      <p:sp>
        <p:nvSpPr>
          <p:cNvPr id="25" name="文本框 24">
            <a:extLst>
              <a:ext uri="{FF2B5EF4-FFF2-40B4-BE49-F238E27FC236}">
                <a16:creationId xmlns:a16="http://schemas.microsoft.com/office/drawing/2014/main" id="{5317D4B0-56D5-9022-5A90-CBA53B7ABA82}"/>
              </a:ext>
            </a:extLst>
          </p:cNvPr>
          <p:cNvSpPr txBox="1"/>
          <p:nvPr/>
        </p:nvSpPr>
        <p:spPr>
          <a:xfrm>
            <a:off x="9010842" y="1906559"/>
            <a:ext cx="2567313" cy="646331"/>
          </a:xfrm>
          <a:prstGeom prst="rect">
            <a:avLst/>
          </a:prstGeom>
          <a:noFill/>
        </p:spPr>
        <p:txBody>
          <a:bodyPr wrap="square" rtlCol="0">
            <a:spAutoFit/>
          </a:bodyPr>
          <a:lstStyle/>
          <a:p>
            <a:pPr algn="ctr"/>
            <a:r>
              <a:rPr lang="zh-CN" altLang="zh-CN" sz="1800" dirty="0">
                <a:effectLst/>
                <a:ea typeface="等线" panose="02010600030101010101" pitchFamily="2" charset="-122"/>
                <a:cs typeface="Times New Roman" panose="02020603050405020304" pitchFamily="18" charset="0"/>
              </a:rPr>
              <a:t>突</a:t>
            </a:r>
            <a:r>
              <a:rPr lang="zh-CN" altLang="en-US" sz="1800" dirty="0">
                <a:effectLst/>
                <a:ea typeface="等线" panose="02010600030101010101" pitchFamily="2" charset="-122"/>
                <a:cs typeface="Times New Roman" panose="02020603050405020304" pitchFamily="18" charset="0"/>
              </a:rPr>
              <a:t>发</a:t>
            </a:r>
            <a:r>
              <a:rPr lang="zh-CN" altLang="en-US" dirty="0">
                <a:ea typeface="等线" panose="02010600030101010101" pitchFamily="2" charset="-122"/>
                <a:cs typeface="Times New Roman" panose="02020603050405020304" pitchFamily="18" charset="0"/>
              </a:rPr>
              <a:t>性</a:t>
            </a:r>
            <a:r>
              <a:rPr lang="zh-CN" altLang="zh-CN" sz="1800" dirty="0">
                <a:effectLst/>
                <a:ea typeface="等线" panose="02010600030101010101" pitchFamily="2" charset="-122"/>
                <a:cs typeface="Times New Roman" panose="02020603050405020304" pitchFamily="18" charset="0"/>
              </a:rPr>
              <a:t>、不可预测</a:t>
            </a:r>
            <a:r>
              <a:rPr lang="zh-CN" altLang="en-US" sz="1800" dirty="0">
                <a:effectLst/>
                <a:ea typeface="等线" panose="02010600030101010101" pitchFamily="2" charset="-122"/>
                <a:cs typeface="Times New Roman" panose="02020603050405020304" pitchFamily="18" charset="0"/>
              </a:rPr>
              <a:t>性</a:t>
            </a:r>
            <a:endParaRPr lang="en-US" altLang="zh-CN" sz="1800" dirty="0">
              <a:effectLst/>
              <a:ea typeface="等线" panose="02010600030101010101" pitchFamily="2" charset="-122"/>
              <a:cs typeface="Times New Roman" panose="02020603050405020304" pitchFamily="18" charset="0"/>
            </a:endParaRPr>
          </a:p>
          <a:p>
            <a:pPr algn="ctr"/>
            <a:r>
              <a:rPr lang="zh-CN" altLang="en-US" sz="1800" dirty="0">
                <a:effectLst/>
                <a:ea typeface="等线" panose="02010600030101010101" pitchFamily="2" charset="-122"/>
                <a:cs typeface="Times New Roman" panose="02020603050405020304" pitchFamily="18" charset="0"/>
              </a:rPr>
              <a:t>不可控性</a:t>
            </a:r>
            <a:endParaRPr lang="zh-CN" altLang="en-US" dirty="0"/>
          </a:p>
        </p:txBody>
      </p:sp>
      <p:sp>
        <p:nvSpPr>
          <p:cNvPr id="26" name="文本框 25">
            <a:extLst>
              <a:ext uri="{FF2B5EF4-FFF2-40B4-BE49-F238E27FC236}">
                <a16:creationId xmlns:a16="http://schemas.microsoft.com/office/drawing/2014/main" id="{19173519-7635-210F-411F-943AFC788E93}"/>
              </a:ext>
            </a:extLst>
          </p:cNvPr>
          <p:cNvSpPr txBox="1"/>
          <p:nvPr/>
        </p:nvSpPr>
        <p:spPr>
          <a:xfrm>
            <a:off x="3967122" y="2598763"/>
            <a:ext cx="4116742" cy="738664"/>
          </a:xfrm>
          <a:prstGeom prst="rect">
            <a:avLst/>
          </a:prstGeom>
          <a:noFill/>
        </p:spPr>
        <p:txBody>
          <a:bodyPr wrap="square" rtlCol="0">
            <a:spAutoFit/>
          </a:bodyPr>
          <a:lstStyle/>
          <a:p>
            <a:r>
              <a:rPr lang="zh-CN" altLang="zh-CN" sz="1400" b="1" dirty="0">
                <a:effectLst/>
                <a:ea typeface="等线" panose="02010600030101010101" pitchFamily="2" charset="-122"/>
                <a:cs typeface="Times New Roman" panose="02020603050405020304" pitchFamily="18" charset="0"/>
              </a:rPr>
              <a:t>设备故障</a:t>
            </a:r>
            <a:r>
              <a:rPr lang="zh-CN" altLang="en-US" sz="1400" b="1" dirty="0">
                <a:effectLst/>
                <a:ea typeface="等线" panose="02010600030101010101" pitchFamily="2" charset="-122"/>
                <a:cs typeface="Times New Roman" panose="02020603050405020304" pitchFamily="18" charset="0"/>
              </a:rPr>
              <a:t>：</a:t>
            </a:r>
            <a:r>
              <a:rPr lang="zh-CN" altLang="en-US" sz="1400" dirty="0">
                <a:effectLst/>
                <a:ea typeface="等线" panose="02010600030101010101" pitchFamily="2" charset="-122"/>
                <a:cs typeface="Times New Roman" panose="02020603050405020304" pitchFamily="18" charset="0"/>
              </a:rPr>
              <a:t>设备在没有提前预警的情况下突然故障，生产中断，影响现有生产任务的执行需要紧急调度来应对设备不可用的情况。</a:t>
            </a:r>
            <a:endParaRPr lang="zh-CN" altLang="en-US" sz="1400" dirty="0"/>
          </a:p>
        </p:txBody>
      </p:sp>
      <p:sp>
        <p:nvSpPr>
          <p:cNvPr id="27" name="文本框 26">
            <a:extLst>
              <a:ext uri="{FF2B5EF4-FFF2-40B4-BE49-F238E27FC236}">
                <a16:creationId xmlns:a16="http://schemas.microsoft.com/office/drawing/2014/main" id="{D73F25E9-2C2B-F951-0581-0315CB07272B}"/>
              </a:ext>
            </a:extLst>
          </p:cNvPr>
          <p:cNvSpPr txBox="1"/>
          <p:nvPr/>
        </p:nvSpPr>
        <p:spPr>
          <a:xfrm>
            <a:off x="9169276" y="4255567"/>
            <a:ext cx="2131856" cy="646331"/>
          </a:xfrm>
          <a:prstGeom prst="rect">
            <a:avLst/>
          </a:prstGeom>
          <a:noFill/>
        </p:spPr>
        <p:txBody>
          <a:bodyPr wrap="square" rtlCol="0">
            <a:spAutoFit/>
          </a:bodyPr>
          <a:lstStyle/>
          <a:p>
            <a:pPr algn="ctr"/>
            <a:r>
              <a:rPr lang="zh-CN" altLang="en-US" dirty="0"/>
              <a:t>长期性、可预测性可监控性</a:t>
            </a:r>
          </a:p>
        </p:txBody>
      </p:sp>
      <p:cxnSp>
        <p:nvCxnSpPr>
          <p:cNvPr id="28" name="直线连接符 6">
            <a:extLst>
              <a:ext uri="{FF2B5EF4-FFF2-40B4-BE49-F238E27FC236}">
                <a16:creationId xmlns:a16="http://schemas.microsoft.com/office/drawing/2014/main" id="{43723CDC-D83D-8D92-4445-19A5B0A44F79}"/>
              </a:ext>
            </a:extLst>
          </p:cNvPr>
          <p:cNvCxnSpPr>
            <a:cxnSpLocks/>
          </p:cNvCxnSpPr>
          <p:nvPr/>
        </p:nvCxnSpPr>
        <p:spPr>
          <a:xfrm>
            <a:off x="8716950" y="937769"/>
            <a:ext cx="0" cy="469371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文本框 28">
            <a:extLst>
              <a:ext uri="{FF2B5EF4-FFF2-40B4-BE49-F238E27FC236}">
                <a16:creationId xmlns:a16="http://schemas.microsoft.com/office/drawing/2014/main" id="{7AE68B42-1D98-ADDF-9E68-FBF85A88FF02}"/>
              </a:ext>
            </a:extLst>
          </p:cNvPr>
          <p:cNvSpPr txBox="1"/>
          <p:nvPr/>
        </p:nvSpPr>
        <p:spPr>
          <a:xfrm>
            <a:off x="4009693" y="4215051"/>
            <a:ext cx="3973625" cy="553998"/>
          </a:xfrm>
          <a:prstGeom prst="rect">
            <a:avLst/>
          </a:prstGeom>
          <a:noFill/>
        </p:spPr>
        <p:txBody>
          <a:bodyPr wrap="square" rtlCol="0">
            <a:spAutoFit/>
          </a:bodyPr>
          <a:lstStyle/>
          <a:p>
            <a:r>
              <a:rPr lang="zh-CN" altLang="en-US" sz="1400" b="1" dirty="0"/>
              <a:t>工具损耗</a:t>
            </a:r>
            <a:r>
              <a:rPr lang="zh-CN" altLang="en-US" sz="1400" dirty="0"/>
              <a:t>：当工具寿命接近极限时，调度系统需要提前规划更换工具并安排备用设备</a:t>
            </a:r>
            <a:r>
              <a:rPr lang="zh-CN" altLang="en-US" sz="1600" dirty="0"/>
              <a:t>。</a:t>
            </a:r>
          </a:p>
        </p:txBody>
      </p:sp>
      <p:sp>
        <p:nvSpPr>
          <p:cNvPr id="30" name="文本框 29">
            <a:extLst>
              <a:ext uri="{FF2B5EF4-FFF2-40B4-BE49-F238E27FC236}">
                <a16:creationId xmlns:a16="http://schemas.microsoft.com/office/drawing/2014/main" id="{5F307376-188F-1BC4-7ABC-01C16A3DEE68}"/>
              </a:ext>
            </a:extLst>
          </p:cNvPr>
          <p:cNvSpPr txBox="1"/>
          <p:nvPr/>
        </p:nvSpPr>
        <p:spPr>
          <a:xfrm>
            <a:off x="3514796" y="4895023"/>
            <a:ext cx="5021394" cy="821635"/>
          </a:xfrm>
          <a:prstGeom prst="rect">
            <a:avLst/>
          </a:prstGeom>
          <a:noFill/>
        </p:spPr>
        <p:txBody>
          <a:bodyPr wrap="square" rtlCol="0">
            <a:spAutoFit/>
          </a:bodyPr>
          <a:lstStyle/>
          <a:p>
            <a:pPr lvl="1">
              <a:lnSpc>
                <a:spcPct val="115000"/>
              </a:lnSpc>
              <a:spcAft>
                <a:spcPts val="800"/>
              </a:spcAft>
              <a:buSzPts val="1000"/>
              <a:tabLst>
                <a:tab pos="914400" algn="l"/>
              </a:tabLst>
            </a:pPr>
            <a:r>
              <a:rPr lang="zh-CN" altLang="zh-CN" sz="1400" b="1" kern="100" dirty="0">
                <a:effectLst/>
                <a:latin typeface="等线" panose="02010600030101010101" pitchFamily="2" charset="-122"/>
                <a:ea typeface="等线" panose="02010600030101010101" pitchFamily="2" charset="-122"/>
                <a:cs typeface="Times New Roman" panose="02020603050405020304" pitchFamily="18" charset="0"/>
              </a:rPr>
              <a:t>设备维修停机</a:t>
            </a:r>
            <a:r>
              <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rPr>
              <a:t>：设备的预定维护或维修停机时间可以提前预测和规划，基于设备的使用情况，调度系统在适当的时机安排设备停机进行维护，而不会严重影响生产。</a:t>
            </a:r>
          </a:p>
        </p:txBody>
      </p:sp>
      <p:sp>
        <p:nvSpPr>
          <p:cNvPr id="31" name="文本框 30">
            <a:extLst>
              <a:ext uri="{FF2B5EF4-FFF2-40B4-BE49-F238E27FC236}">
                <a16:creationId xmlns:a16="http://schemas.microsoft.com/office/drawing/2014/main" id="{B4FF1247-7B5E-2A6F-7852-988B83714573}"/>
              </a:ext>
            </a:extLst>
          </p:cNvPr>
          <p:cNvSpPr txBox="1"/>
          <p:nvPr/>
        </p:nvSpPr>
        <p:spPr>
          <a:xfrm>
            <a:off x="3544094" y="3462274"/>
            <a:ext cx="5203808" cy="821635"/>
          </a:xfrm>
          <a:prstGeom prst="rect">
            <a:avLst/>
          </a:prstGeom>
          <a:noFill/>
        </p:spPr>
        <p:txBody>
          <a:bodyPr wrap="square" rtlCol="0">
            <a:spAutoFit/>
          </a:bodyPr>
          <a:lstStyle/>
          <a:p>
            <a:pPr lvl="1">
              <a:lnSpc>
                <a:spcPct val="115000"/>
              </a:lnSpc>
              <a:spcAft>
                <a:spcPts val="800"/>
              </a:spcAft>
              <a:buSzPts val="1000"/>
              <a:tabLst>
                <a:tab pos="914400" algn="l"/>
              </a:tabLst>
            </a:pPr>
            <a:r>
              <a:rPr lang="zh-CN" altLang="zh-CN" sz="1400" b="1" kern="100" dirty="0">
                <a:effectLst/>
                <a:latin typeface="等线" panose="02010600030101010101" pitchFamily="2" charset="-122"/>
                <a:ea typeface="等线" panose="02010600030101010101" pitchFamily="2" charset="-122"/>
                <a:cs typeface="Times New Roman" panose="02020603050405020304" pitchFamily="18" charset="0"/>
              </a:rPr>
              <a:t>设备负载</a:t>
            </a:r>
            <a:r>
              <a:rPr lang="zh-CN" altLang="en-US" sz="1400" b="1" kern="100" dirty="0">
                <a:effectLst/>
                <a:latin typeface="等线" panose="02010600030101010101" pitchFamily="2" charset="-122"/>
                <a:ea typeface="等线" panose="02010600030101010101" pitchFamily="2" charset="-122"/>
                <a:cs typeface="Times New Roman" panose="02020603050405020304" pitchFamily="18" charset="0"/>
              </a:rPr>
              <a:t>变化</a:t>
            </a:r>
            <a:r>
              <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rPr>
              <a:t>：负载的变化是动态的，设备负载过高时，调度系统</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需要</a:t>
            </a:r>
            <a:r>
              <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rPr>
              <a:t>动态调整生产任务，避免设备过载而导致故障。</a:t>
            </a:r>
          </a:p>
        </p:txBody>
      </p:sp>
      <p:sp>
        <p:nvSpPr>
          <p:cNvPr id="32" name="左大括号 31">
            <a:extLst>
              <a:ext uri="{FF2B5EF4-FFF2-40B4-BE49-F238E27FC236}">
                <a16:creationId xmlns:a16="http://schemas.microsoft.com/office/drawing/2014/main" id="{1D4B9DB8-F200-3228-15E4-D41EDF4F0E01}"/>
              </a:ext>
            </a:extLst>
          </p:cNvPr>
          <p:cNvSpPr/>
          <p:nvPr/>
        </p:nvSpPr>
        <p:spPr>
          <a:xfrm>
            <a:off x="3661025" y="3532360"/>
            <a:ext cx="253409" cy="177328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34" name="直线连接符 6">
            <a:extLst>
              <a:ext uri="{FF2B5EF4-FFF2-40B4-BE49-F238E27FC236}">
                <a16:creationId xmlns:a16="http://schemas.microsoft.com/office/drawing/2014/main" id="{CFDA76CA-741A-009F-A5F2-69AECA9C224A}"/>
              </a:ext>
            </a:extLst>
          </p:cNvPr>
          <p:cNvCxnSpPr>
            <a:cxnSpLocks/>
          </p:cNvCxnSpPr>
          <p:nvPr/>
        </p:nvCxnSpPr>
        <p:spPr>
          <a:xfrm>
            <a:off x="3710880" y="990571"/>
            <a:ext cx="0" cy="469371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线连接符 6">
            <a:extLst>
              <a:ext uri="{FF2B5EF4-FFF2-40B4-BE49-F238E27FC236}">
                <a16:creationId xmlns:a16="http://schemas.microsoft.com/office/drawing/2014/main" id="{67C82BA3-6DD4-8A3C-669E-E62FC8243424}"/>
              </a:ext>
            </a:extLst>
          </p:cNvPr>
          <p:cNvCxnSpPr>
            <a:cxnSpLocks/>
          </p:cNvCxnSpPr>
          <p:nvPr/>
        </p:nvCxnSpPr>
        <p:spPr>
          <a:xfrm>
            <a:off x="1551147" y="1175347"/>
            <a:ext cx="0" cy="469371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直接箭头连接符 35">
            <a:extLst>
              <a:ext uri="{FF2B5EF4-FFF2-40B4-BE49-F238E27FC236}">
                <a16:creationId xmlns:a16="http://schemas.microsoft.com/office/drawing/2014/main" id="{D36E9CD5-2FE0-FFA4-74A4-AC3A8B5FB9C4}"/>
              </a:ext>
            </a:extLst>
          </p:cNvPr>
          <p:cNvCxnSpPr>
            <a:cxnSpLocks/>
          </p:cNvCxnSpPr>
          <p:nvPr/>
        </p:nvCxnSpPr>
        <p:spPr>
          <a:xfrm>
            <a:off x="8372518" y="2120468"/>
            <a:ext cx="893505" cy="0"/>
          </a:xfrm>
          <a:prstGeom prst="straightConnector1">
            <a:avLst/>
          </a:prstGeom>
          <a:ln w="28575">
            <a:prstDash val="lgDash"/>
            <a:tailEnd type="triangle"/>
          </a:ln>
        </p:spPr>
        <p:style>
          <a:lnRef idx="1">
            <a:schemeClr val="accent3"/>
          </a:lnRef>
          <a:fillRef idx="0">
            <a:schemeClr val="accent3"/>
          </a:fillRef>
          <a:effectRef idx="0">
            <a:schemeClr val="accent3"/>
          </a:effectRef>
          <a:fontRef idx="minor">
            <a:schemeClr val="tx1"/>
          </a:fontRef>
        </p:style>
      </p:cxnSp>
      <p:cxnSp>
        <p:nvCxnSpPr>
          <p:cNvPr id="40" name="直接箭头连接符 39">
            <a:extLst>
              <a:ext uri="{FF2B5EF4-FFF2-40B4-BE49-F238E27FC236}">
                <a16:creationId xmlns:a16="http://schemas.microsoft.com/office/drawing/2014/main" id="{27B17C37-428B-F0B4-4158-93A1DDCE99C9}"/>
              </a:ext>
            </a:extLst>
          </p:cNvPr>
          <p:cNvCxnSpPr>
            <a:cxnSpLocks/>
          </p:cNvCxnSpPr>
          <p:nvPr/>
        </p:nvCxnSpPr>
        <p:spPr>
          <a:xfrm>
            <a:off x="8372518" y="4492050"/>
            <a:ext cx="893505" cy="0"/>
          </a:xfrm>
          <a:prstGeom prst="straightConnector1">
            <a:avLst/>
          </a:prstGeom>
          <a:ln w="28575">
            <a:prstDash val="lgDash"/>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09505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48C5FD45-8112-F394-E134-4A6F8B18168F}"/>
              </a:ext>
            </a:extLst>
          </p:cNvPr>
          <p:cNvSpPr txBox="1"/>
          <p:nvPr/>
        </p:nvSpPr>
        <p:spPr>
          <a:xfrm>
            <a:off x="107324" y="3724145"/>
            <a:ext cx="1338828" cy="369332"/>
          </a:xfrm>
          <a:prstGeom prst="rect">
            <a:avLst/>
          </a:prstGeom>
          <a:noFill/>
        </p:spPr>
        <p:txBody>
          <a:bodyPr wrap="none" rtlCol="0">
            <a:spAutoFit/>
          </a:bodyPr>
          <a:lstStyle/>
          <a:p>
            <a:r>
              <a:rPr lang="zh-CN" altLang="en-US" dirty="0"/>
              <a:t>分布式决策</a:t>
            </a:r>
          </a:p>
        </p:txBody>
      </p:sp>
      <p:sp>
        <p:nvSpPr>
          <p:cNvPr id="30" name="左大括号 29">
            <a:extLst>
              <a:ext uri="{FF2B5EF4-FFF2-40B4-BE49-F238E27FC236}">
                <a16:creationId xmlns:a16="http://schemas.microsoft.com/office/drawing/2014/main" id="{8FF31995-7374-2343-8FCE-2CEE4FF9E3F5}"/>
              </a:ext>
            </a:extLst>
          </p:cNvPr>
          <p:cNvSpPr/>
          <p:nvPr/>
        </p:nvSpPr>
        <p:spPr>
          <a:xfrm>
            <a:off x="1437085" y="1898840"/>
            <a:ext cx="150415" cy="420579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32" name="文本框 98">
            <a:extLst>
              <a:ext uri="{FF2B5EF4-FFF2-40B4-BE49-F238E27FC236}">
                <a16:creationId xmlns:a16="http://schemas.microsoft.com/office/drawing/2014/main" id="{26D6187E-FE12-FD70-88A4-6B47021B6E2D}"/>
              </a:ext>
            </a:extLst>
          </p:cNvPr>
          <p:cNvSpPr txBox="1"/>
          <p:nvPr/>
        </p:nvSpPr>
        <p:spPr>
          <a:xfrm>
            <a:off x="6096000" y="932277"/>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缺点</a:t>
            </a:r>
          </a:p>
        </p:txBody>
      </p:sp>
      <p:sp>
        <p:nvSpPr>
          <p:cNvPr id="48" name="文本框 47">
            <a:extLst>
              <a:ext uri="{FF2B5EF4-FFF2-40B4-BE49-F238E27FC236}">
                <a16:creationId xmlns:a16="http://schemas.microsoft.com/office/drawing/2014/main" id="{582B5BB2-6A7E-C332-4590-8C6BE9FEFAAC}"/>
              </a:ext>
            </a:extLst>
          </p:cNvPr>
          <p:cNvSpPr txBox="1"/>
          <p:nvPr/>
        </p:nvSpPr>
        <p:spPr>
          <a:xfrm>
            <a:off x="1738085" y="4614055"/>
            <a:ext cx="2082621" cy="369332"/>
          </a:xfrm>
          <a:prstGeom prst="rect">
            <a:avLst/>
          </a:prstGeom>
          <a:noFill/>
        </p:spPr>
        <p:txBody>
          <a:bodyPr wrap="none" rtlCol="0">
            <a:spAutoFit/>
          </a:bodyPr>
          <a:lstStyle/>
          <a:p>
            <a:r>
              <a:rPr lang="zh-CN" altLang="en-US" dirty="0"/>
              <a:t>合作学习方法</a:t>
            </a:r>
            <a:r>
              <a:rPr lang="en-US" altLang="zh-CN" dirty="0"/>
              <a:t>[6][7]</a:t>
            </a:r>
            <a:endParaRPr lang="zh-CN" altLang="en-US" dirty="0"/>
          </a:p>
        </p:txBody>
      </p:sp>
      <p:sp>
        <p:nvSpPr>
          <p:cNvPr id="51" name="文本框 50">
            <a:extLst>
              <a:ext uri="{FF2B5EF4-FFF2-40B4-BE49-F238E27FC236}">
                <a16:creationId xmlns:a16="http://schemas.microsoft.com/office/drawing/2014/main" id="{BF134F31-D78C-6D99-E2C7-9DDDC4D3C2E7}"/>
              </a:ext>
            </a:extLst>
          </p:cNvPr>
          <p:cNvSpPr txBox="1"/>
          <p:nvPr/>
        </p:nvSpPr>
        <p:spPr>
          <a:xfrm>
            <a:off x="4583883" y="1498229"/>
            <a:ext cx="4270004" cy="923330"/>
          </a:xfrm>
          <a:prstGeom prst="rect">
            <a:avLst/>
          </a:prstGeom>
          <a:noFill/>
        </p:spPr>
        <p:txBody>
          <a:bodyPr wrap="square" rtlCol="0">
            <a:spAutoFit/>
          </a:bodyPr>
          <a:lstStyle/>
          <a:p>
            <a:r>
              <a:rPr lang="zh-CN" altLang="en-US" dirty="0"/>
              <a:t>依赖局部优化，可能难以达到全局最优</a:t>
            </a:r>
            <a:endParaRPr lang="en-US" altLang="zh-CN" dirty="0"/>
          </a:p>
          <a:p>
            <a:r>
              <a:rPr lang="zh-CN" altLang="en-US" dirty="0"/>
              <a:t>对环境变化的自适应性不如强化学习等方法  实时性差，响应速度慢</a:t>
            </a:r>
          </a:p>
        </p:txBody>
      </p:sp>
      <p:sp>
        <p:nvSpPr>
          <p:cNvPr id="52" name="文本框 51">
            <a:extLst>
              <a:ext uri="{FF2B5EF4-FFF2-40B4-BE49-F238E27FC236}">
                <a16:creationId xmlns:a16="http://schemas.microsoft.com/office/drawing/2014/main" id="{83E6092B-9A34-6E6E-612E-48B646E4BD84}"/>
              </a:ext>
            </a:extLst>
          </p:cNvPr>
          <p:cNvSpPr txBox="1"/>
          <p:nvPr/>
        </p:nvSpPr>
        <p:spPr>
          <a:xfrm>
            <a:off x="1754912" y="3724145"/>
            <a:ext cx="1595309" cy="369332"/>
          </a:xfrm>
          <a:prstGeom prst="rect">
            <a:avLst/>
          </a:prstGeom>
          <a:noFill/>
        </p:spPr>
        <p:txBody>
          <a:bodyPr wrap="none" rtlCol="0">
            <a:spAutoFit/>
          </a:bodyPr>
          <a:lstStyle/>
          <a:p>
            <a:r>
              <a:rPr lang="zh-CN" altLang="en-US" dirty="0"/>
              <a:t>博弈论方法</a:t>
            </a:r>
            <a:r>
              <a:rPr lang="en-US" altLang="zh-CN" dirty="0"/>
              <a:t>[5]</a:t>
            </a:r>
            <a:endParaRPr lang="zh-CN" altLang="en-US" dirty="0"/>
          </a:p>
        </p:txBody>
      </p:sp>
      <p:sp>
        <p:nvSpPr>
          <p:cNvPr id="53" name="文本框 52">
            <a:extLst>
              <a:ext uri="{FF2B5EF4-FFF2-40B4-BE49-F238E27FC236}">
                <a16:creationId xmlns:a16="http://schemas.microsoft.com/office/drawing/2014/main" id="{4880B80B-0DFD-684D-81D8-3E838B7036C9}"/>
              </a:ext>
            </a:extLst>
          </p:cNvPr>
          <p:cNvSpPr txBox="1"/>
          <p:nvPr/>
        </p:nvSpPr>
        <p:spPr>
          <a:xfrm>
            <a:off x="1738085" y="1507568"/>
            <a:ext cx="1893467" cy="369332"/>
          </a:xfrm>
          <a:prstGeom prst="rect">
            <a:avLst/>
          </a:prstGeom>
          <a:noFill/>
        </p:spPr>
        <p:txBody>
          <a:bodyPr wrap="none" rtlCol="0">
            <a:spAutoFit/>
          </a:bodyPr>
          <a:lstStyle/>
          <a:p>
            <a:r>
              <a:rPr lang="zh-CN" altLang="en-US" dirty="0"/>
              <a:t>智能优化算法</a:t>
            </a:r>
            <a:r>
              <a:rPr lang="en-US" altLang="zh-CN" dirty="0"/>
              <a:t>[1]</a:t>
            </a:r>
            <a:endParaRPr lang="zh-CN" altLang="en-US" dirty="0"/>
          </a:p>
        </p:txBody>
      </p:sp>
      <p:sp>
        <p:nvSpPr>
          <p:cNvPr id="54" name="文本框 53">
            <a:extLst>
              <a:ext uri="{FF2B5EF4-FFF2-40B4-BE49-F238E27FC236}">
                <a16:creationId xmlns:a16="http://schemas.microsoft.com/office/drawing/2014/main" id="{622AC1B8-A998-32A7-11E9-BBB93F409945}"/>
              </a:ext>
            </a:extLst>
          </p:cNvPr>
          <p:cNvSpPr txBox="1"/>
          <p:nvPr/>
        </p:nvSpPr>
        <p:spPr>
          <a:xfrm>
            <a:off x="1754912" y="2677119"/>
            <a:ext cx="2289409" cy="369332"/>
          </a:xfrm>
          <a:prstGeom prst="rect">
            <a:avLst/>
          </a:prstGeom>
          <a:noFill/>
        </p:spPr>
        <p:txBody>
          <a:bodyPr wrap="none" rtlCol="0">
            <a:spAutoFit/>
          </a:bodyPr>
          <a:lstStyle/>
          <a:p>
            <a:r>
              <a:rPr lang="zh-CN" altLang="en-US" dirty="0"/>
              <a:t>合同网（</a:t>
            </a:r>
            <a:r>
              <a:rPr lang="en-US" altLang="zh-CN" dirty="0"/>
              <a:t>CNP</a:t>
            </a:r>
            <a:r>
              <a:rPr lang="zh-CN" altLang="en-US" dirty="0"/>
              <a:t>）</a:t>
            </a:r>
            <a:r>
              <a:rPr lang="en-US" altLang="zh-CN" dirty="0"/>
              <a:t>[3][4]</a:t>
            </a:r>
            <a:endParaRPr lang="zh-CN" altLang="en-US" dirty="0"/>
          </a:p>
        </p:txBody>
      </p:sp>
      <p:sp>
        <p:nvSpPr>
          <p:cNvPr id="55" name="文本框 54">
            <a:extLst>
              <a:ext uri="{FF2B5EF4-FFF2-40B4-BE49-F238E27FC236}">
                <a16:creationId xmlns:a16="http://schemas.microsoft.com/office/drawing/2014/main" id="{DDCDBC38-49D8-747F-18EB-8BE9F43DCE60}"/>
              </a:ext>
            </a:extLst>
          </p:cNvPr>
          <p:cNvSpPr txBox="1"/>
          <p:nvPr/>
        </p:nvSpPr>
        <p:spPr>
          <a:xfrm>
            <a:off x="4689445" y="2677119"/>
            <a:ext cx="3521953" cy="646331"/>
          </a:xfrm>
          <a:prstGeom prst="rect">
            <a:avLst/>
          </a:prstGeom>
          <a:noFill/>
        </p:spPr>
        <p:txBody>
          <a:bodyPr wrap="square" rtlCol="0">
            <a:spAutoFit/>
          </a:bodyPr>
          <a:lstStyle/>
          <a:p>
            <a:r>
              <a:rPr lang="zh-CN" altLang="en-US" dirty="0"/>
              <a:t>在高度动态环境下可能出现频繁的资源竞价，导致系统不稳定。</a:t>
            </a:r>
          </a:p>
        </p:txBody>
      </p:sp>
      <p:sp>
        <p:nvSpPr>
          <p:cNvPr id="56" name="文本框 98">
            <a:extLst>
              <a:ext uri="{FF2B5EF4-FFF2-40B4-BE49-F238E27FC236}">
                <a16:creationId xmlns:a16="http://schemas.microsoft.com/office/drawing/2014/main" id="{5D183A36-2E17-E993-3F6B-870ED6F45995}"/>
              </a:ext>
            </a:extLst>
          </p:cNvPr>
          <p:cNvSpPr txBox="1"/>
          <p:nvPr/>
        </p:nvSpPr>
        <p:spPr>
          <a:xfrm>
            <a:off x="2162116" y="939210"/>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方法</a:t>
            </a:r>
          </a:p>
        </p:txBody>
      </p:sp>
      <p:sp>
        <p:nvSpPr>
          <p:cNvPr id="57" name="文本框 98">
            <a:extLst>
              <a:ext uri="{FF2B5EF4-FFF2-40B4-BE49-F238E27FC236}">
                <a16:creationId xmlns:a16="http://schemas.microsoft.com/office/drawing/2014/main" id="{19103393-9D31-8D7E-A0AE-D6D806C48335}"/>
              </a:ext>
            </a:extLst>
          </p:cNvPr>
          <p:cNvSpPr txBox="1"/>
          <p:nvPr/>
        </p:nvSpPr>
        <p:spPr>
          <a:xfrm>
            <a:off x="9645136" y="955733"/>
            <a:ext cx="1223971"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适用场景</a:t>
            </a:r>
          </a:p>
        </p:txBody>
      </p:sp>
      <p:sp>
        <p:nvSpPr>
          <p:cNvPr id="58" name="文本框 57">
            <a:extLst>
              <a:ext uri="{FF2B5EF4-FFF2-40B4-BE49-F238E27FC236}">
                <a16:creationId xmlns:a16="http://schemas.microsoft.com/office/drawing/2014/main" id="{8CE7A93D-92E1-CF35-30C4-774F0BB8BD5E}"/>
              </a:ext>
            </a:extLst>
          </p:cNvPr>
          <p:cNvSpPr txBox="1"/>
          <p:nvPr/>
        </p:nvSpPr>
        <p:spPr>
          <a:xfrm>
            <a:off x="4677979" y="3562999"/>
            <a:ext cx="3416320" cy="646331"/>
          </a:xfrm>
          <a:prstGeom prst="rect">
            <a:avLst/>
          </a:prstGeom>
          <a:noFill/>
        </p:spPr>
        <p:txBody>
          <a:bodyPr wrap="none" rtlCol="0">
            <a:spAutoFit/>
          </a:bodyPr>
          <a:lstStyle/>
          <a:p>
            <a:r>
              <a:rPr lang="zh-CN" altLang="en-US" dirty="0"/>
              <a:t>计算复杂，合作激励机制设计难</a:t>
            </a:r>
            <a:br>
              <a:rPr lang="zh-CN" altLang="en-US" dirty="0"/>
            </a:br>
            <a:r>
              <a:rPr lang="en-US" altLang="zh-CN" dirty="0"/>
              <a:t> </a:t>
            </a:r>
            <a:r>
              <a:rPr lang="zh-CN" altLang="en-US" dirty="0"/>
              <a:t>鲁棒性不强</a:t>
            </a:r>
          </a:p>
        </p:txBody>
      </p:sp>
      <p:sp>
        <p:nvSpPr>
          <p:cNvPr id="59" name="文本框 58">
            <a:extLst>
              <a:ext uri="{FF2B5EF4-FFF2-40B4-BE49-F238E27FC236}">
                <a16:creationId xmlns:a16="http://schemas.microsoft.com/office/drawing/2014/main" id="{309988E1-FC10-1C07-ED56-0768B38E3DAB}"/>
              </a:ext>
            </a:extLst>
          </p:cNvPr>
          <p:cNvSpPr txBox="1"/>
          <p:nvPr/>
        </p:nvSpPr>
        <p:spPr>
          <a:xfrm>
            <a:off x="9189597" y="4638205"/>
            <a:ext cx="2700030" cy="646331"/>
          </a:xfrm>
          <a:prstGeom prst="rect">
            <a:avLst/>
          </a:prstGeom>
          <a:noFill/>
        </p:spPr>
        <p:txBody>
          <a:bodyPr wrap="square" rtlCol="0">
            <a:spAutoFit/>
          </a:bodyPr>
          <a:lstStyle/>
          <a:p>
            <a:r>
              <a:rPr lang="zh-CN" altLang="en-US" dirty="0"/>
              <a:t>适合</a:t>
            </a:r>
            <a:r>
              <a:rPr lang="zh-CN" altLang="en-US" b="1" dirty="0"/>
              <a:t>多任务协作</a:t>
            </a:r>
            <a:r>
              <a:rPr lang="zh-CN" altLang="en-US" dirty="0"/>
              <a:t>和</a:t>
            </a:r>
            <a:r>
              <a:rPr lang="zh-CN" altLang="en-US" b="1" dirty="0"/>
              <a:t>资源共享</a:t>
            </a:r>
            <a:r>
              <a:rPr lang="zh-CN" altLang="en-US" dirty="0"/>
              <a:t>的车间环境</a:t>
            </a:r>
          </a:p>
        </p:txBody>
      </p:sp>
      <p:sp>
        <p:nvSpPr>
          <p:cNvPr id="60" name="文本框 59">
            <a:extLst>
              <a:ext uri="{FF2B5EF4-FFF2-40B4-BE49-F238E27FC236}">
                <a16:creationId xmlns:a16="http://schemas.microsoft.com/office/drawing/2014/main" id="{11E19799-8A66-EF8A-8F03-0A3F19BA7D29}"/>
              </a:ext>
            </a:extLst>
          </p:cNvPr>
          <p:cNvSpPr txBox="1"/>
          <p:nvPr/>
        </p:nvSpPr>
        <p:spPr>
          <a:xfrm>
            <a:off x="9342085" y="1457930"/>
            <a:ext cx="2395055" cy="646331"/>
          </a:xfrm>
          <a:prstGeom prst="rect">
            <a:avLst/>
          </a:prstGeom>
          <a:noFill/>
        </p:spPr>
        <p:txBody>
          <a:bodyPr wrap="square" rtlCol="0">
            <a:spAutoFit/>
          </a:bodyPr>
          <a:lstStyle/>
          <a:p>
            <a:r>
              <a:rPr lang="zh-CN" altLang="en-US" dirty="0"/>
              <a:t>大规模、稳定或缓慢变化的车间环境</a:t>
            </a:r>
          </a:p>
        </p:txBody>
      </p:sp>
      <p:sp>
        <p:nvSpPr>
          <p:cNvPr id="61" name="文本框 60">
            <a:extLst>
              <a:ext uri="{FF2B5EF4-FFF2-40B4-BE49-F238E27FC236}">
                <a16:creationId xmlns:a16="http://schemas.microsoft.com/office/drawing/2014/main" id="{73359204-F4E3-D0C1-2A9C-95031AFAA9ED}"/>
              </a:ext>
            </a:extLst>
          </p:cNvPr>
          <p:cNvSpPr txBox="1"/>
          <p:nvPr/>
        </p:nvSpPr>
        <p:spPr>
          <a:xfrm>
            <a:off x="9017242" y="3631812"/>
            <a:ext cx="3044740" cy="923330"/>
          </a:xfrm>
          <a:prstGeom prst="rect">
            <a:avLst/>
          </a:prstGeom>
          <a:noFill/>
        </p:spPr>
        <p:txBody>
          <a:bodyPr wrap="square" rtlCol="0">
            <a:spAutoFit/>
          </a:bodyPr>
          <a:lstStyle/>
          <a:p>
            <a:r>
              <a:rPr lang="zh-CN" altLang="en-US" dirty="0"/>
              <a:t>多智能体资源竞争或合作的车间环境，动态性中等的场景</a:t>
            </a:r>
          </a:p>
        </p:txBody>
      </p:sp>
      <p:sp>
        <p:nvSpPr>
          <p:cNvPr id="62" name="文本框 61">
            <a:extLst>
              <a:ext uri="{FF2B5EF4-FFF2-40B4-BE49-F238E27FC236}">
                <a16:creationId xmlns:a16="http://schemas.microsoft.com/office/drawing/2014/main" id="{775CCFF0-4235-80BE-75AE-04B73BFB6F2E}"/>
              </a:ext>
            </a:extLst>
          </p:cNvPr>
          <p:cNvSpPr txBox="1"/>
          <p:nvPr/>
        </p:nvSpPr>
        <p:spPr>
          <a:xfrm>
            <a:off x="9189597" y="2782669"/>
            <a:ext cx="2395055" cy="646331"/>
          </a:xfrm>
          <a:prstGeom prst="rect">
            <a:avLst/>
          </a:prstGeom>
          <a:noFill/>
        </p:spPr>
        <p:txBody>
          <a:bodyPr wrap="square" rtlCol="0">
            <a:spAutoFit/>
          </a:bodyPr>
          <a:lstStyle/>
          <a:p>
            <a:r>
              <a:rPr lang="zh-CN" altLang="en-US" dirty="0"/>
              <a:t>资源稀缺、任务频繁变化的车间环境</a:t>
            </a:r>
          </a:p>
        </p:txBody>
      </p:sp>
      <p:sp>
        <p:nvSpPr>
          <p:cNvPr id="63" name="文本框 62">
            <a:extLst>
              <a:ext uri="{FF2B5EF4-FFF2-40B4-BE49-F238E27FC236}">
                <a16:creationId xmlns:a16="http://schemas.microsoft.com/office/drawing/2014/main" id="{DD170261-B2DD-B31B-81A7-9264A803316E}"/>
              </a:ext>
            </a:extLst>
          </p:cNvPr>
          <p:cNvSpPr txBox="1"/>
          <p:nvPr/>
        </p:nvSpPr>
        <p:spPr>
          <a:xfrm>
            <a:off x="4739933" y="4464890"/>
            <a:ext cx="3815838" cy="923330"/>
          </a:xfrm>
          <a:prstGeom prst="rect">
            <a:avLst/>
          </a:prstGeom>
          <a:noFill/>
        </p:spPr>
        <p:txBody>
          <a:bodyPr wrap="square" rtlCol="0">
            <a:spAutoFit/>
          </a:bodyPr>
          <a:lstStyle/>
          <a:p>
            <a:r>
              <a:rPr lang="zh-CN" altLang="en-US" dirty="0"/>
              <a:t>通过信息共享与合作提升全局效率，通信开销大，协作协议设计复杂，难以实现全局最优</a:t>
            </a:r>
          </a:p>
        </p:txBody>
      </p:sp>
      <p:sp>
        <p:nvSpPr>
          <p:cNvPr id="64" name="文本框 63">
            <a:extLst>
              <a:ext uri="{FF2B5EF4-FFF2-40B4-BE49-F238E27FC236}">
                <a16:creationId xmlns:a16="http://schemas.microsoft.com/office/drawing/2014/main" id="{883459D4-DF46-1CDC-57EB-913169B8845A}"/>
              </a:ext>
            </a:extLst>
          </p:cNvPr>
          <p:cNvSpPr txBox="1"/>
          <p:nvPr/>
        </p:nvSpPr>
        <p:spPr>
          <a:xfrm>
            <a:off x="1587412" y="5898629"/>
            <a:ext cx="2922595" cy="369332"/>
          </a:xfrm>
          <a:prstGeom prst="rect">
            <a:avLst/>
          </a:prstGeom>
          <a:noFill/>
        </p:spPr>
        <p:txBody>
          <a:bodyPr wrap="none" rtlCol="0">
            <a:spAutoFit/>
          </a:bodyPr>
          <a:lstStyle/>
          <a:p>
            <a:r>
              <a:rPr lang="zh-CN" altLang="en-US" dirty="0"/>
              <a:t>多智能体强化学习</a:t>
            </a:r>
            <a:r>
              <a:rPr lang="en-US" altLang="zh-CN" dirty="0"/>
              <a:t>[8][9][10]</a:t>
            </a:r>
            <a:endParaRPr lang="zh-CN" altLang="en-US" dirty="0"/>
          </a:p>
        </p:txBody>
      </p:sp>
      <p:sp>
        <p:nvSpPr>
          <p:cNvPr id="66" name="文本框 65">
            <a:extLst>
              <a:ext uri="{FF2B5EF4-FFF2-40B4-BE49-F238E27FC236}">
                <a16:creationId xmlns:a16="http://schemas.microsoft.com/office/drawing/2014/main" id="{EC54210D-E1EA-2294-D093-ED904B20FF11}"/>
              </a:ext>
            </a:extLst>
          </p:cNvPr>
          <p:cNvSpPr txBox="1"/>
          <p:nvPr/>
        </p:nvSpPr>
        <p:spPr>
          <a:xfrm>
            <a:off x="4964822" y="5733182"/>
            <a:ext cx="3112378" cy="646331"/>
          </a:xfrm>
          <a:prstGeom prst="rect">
            <a:avLst/>
          </a:prstGeom>
          <a:noFill/>
        </p:spPr>
        <p:txBody>
          <a:bodyPr wrap="square" rtlCol="0">
            <a:spAutoFit/>
          </a:bodyPr>
          <a:lstStyle/>
          <a:p>
            <a:r>
              <a:rPr lang="zh-CN" altLang="en-US" b="1" dirty="0">
                <a:solidFill>
                  <a:srgbClr val="C00000"/>
                </a:solidFill>
              </a:rPr>
              <a:t>训练时间长，初期不稳定，计算开销大</a:t>
            </a:r>
          </a:p>
        </p:txBody>
      </p:sp>
      <p:sp>
        <p:nvSpPr>
          <p:cNvPr id="67" name="文本框 66">
            <a:extLst>
              <a:ext uri="{FF2B5EF4-FFF2-40B4-BE49-F238E27FC236}">
                <a16:creationId xmlns:a16="http://schemas.microsoft.com/office/drawing/2014/main" id="{1ACE2808-CADA-794B-8879-1C51072090E4}"/>
              </a:ext>
            </a:extLst>
          </p:cNvPr>
          <p:cNvSpPr txBox="1"/>
          <p:nvPr/>
        </p:nvSpPr>
        <p:spPr>
          <a:xfrm>
            <a:off x="9239673" y="5735303"/>
            <a:ext cx="2262158" cy="369332"/>
          </a:xfrm>
          <a:prstGeom prst="rect">
            <a:avLst/>
          </a:prstGeom>
          <a:noFill/>
        </p:spPr>
        <p:txBody>
          <a:bodyPr wrap="none" rtlCol="0">
            <a:spAutoFit/>
          </a:bodyPr>
          <a:lstStyle/>
          <a:p>
            <a:r>
              <a:rPr lang="zh-CN" altLang="en-US" b="1" dirty="0">
                <a:solidFill>
                  <a:srgbClr val="C00000"/>
                </a:solidFill>
              </a:rPr>
              <a:t>动态性强</a:t>
            </a:r>
            <a:r>
              <a:rPr lang="zh-CN" altLang="en-US" dirty="0"/>
              <a:t>的车间环境</a:t>
            </a:r>
          </a:p>
        </p:txBody>
      </p:sp>
      <p:cxnSp>
        <p:nvCxnSpPr>
          <p:cNvPr id="2" name="直线连接符 6">
            <a:extLst>
              <a:ext uri="{FF2B5EF4-FFF2-40B4-BE49-F238E27FC236}">
                <a16:creationId xmlns:a16="http://schemas.microsoft.com/office/drawing/2014/main" id="{8C7F0195-16F0-4417-58B2-D10BD27F7255}"/>
              </a:ext>
            </a:extLst>
          </p:cNvPr>
          <p:cNvCxnSpPr>
            <a:cxnSpLocks/>
          </p:cNvCxnSpPr>
          <p:nvPr/>
        </p:nvCxnSpPr>
        <p:spPr>
          <a:xfrm>
            <a:off x="4508399" y="1140399"/>
            <a:ext cx="0" cy="520154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直线连接符 6">
            <a:extLst>
              <a:ext uri="{FF2B5EF4-FFF2-40B4-BE49-F238E27FC236}">
                <a16:creationId xmlns:a16="http://schemas.microsoft.com/office/drawing/2014/main" id="{86E4DD58-4C34-39AB-58F4-8498FFB6EE49}"/>
              </a:ext>
            </a:extLst>
          </p:cNvPr>
          <p:cNvCxnSpPr>
            <a:cxnSpLocks/>
          </p:cNvCxnSpPr>
          <p:nvPr/>
        </p:nvCxnSpPr>
        <p:spPr>
          <a:xfrm>
            <a:off x="8948127" y="1031040"/>
            <a:ext cx="0" cy="520154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086177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表格 4">
            <a:extLst>
              <a:ext uri="{FF2B5EF4-FFF2-40B4-BE49-F238E27FC236}">
                <a16:creationId xmlns:a16="http://schemas.microsoft.com/office/drawing/2014/main" id="{39EF8B7B-52C3-C106-B6D0-DEE6D348E92E}"/>
              </a:ext>
            </a:extLst>
          </p:cNvPr>
          <p:cNvGraphicFramePr>
            <a:graphicFrameLocks noGrp="1"/>
          </p:cNvGraphicFramePr>
          <p:nvPr>
            <p:extLst>
              <p:ext uri="{D42A27DB-BD31-4B8C-83A1-F6EECF244321}">
                <p14:modId xmlns:p14="http://schemas.microsoft.com/office/powerpoint/2010/main" val="714823622"/>
              </p:ext>
            </p:extLst>
          </p:nvPr>
        </p:nvGraphicFramePr>
        <p:xfrm>
          <a:off x="767416" y="1052052"/>
          <a:ext cx="10980084" cy="3474720"/>
        </p:xfrm>
        <a:graphic>
          <a:graphicData uri="http://schemas.openxmlformats.org/drawingml/2006/table">
            <a:tbl>
              <a:tblPr firstRow="1" bandRow="1">
                <a:tableStyleId>{BDBED569-4797-4DF1-A0F4-6AAB3CD982D8}</a:tableStyleId>
              </a:tblPr>
              <a:tblGrid>
                <a:gridCol w="1134229">
                  <a:extLst>
                    <a:ext uri="{9D8B030D-6E8A-4147-A177-3AD203B41FA5}">
                      <a16:colId xmlns:a16="http://schemas.microsoft.com/office/drawing/2014/main" val="2454361629"/>
                    </a:ext>
                  </a:extLst>
                </a:gridCol>
                <a:gridCol w="3982071">
                  <a:extLst>
                    <a:ext uri="{9D8B030D-6E8A-4147-A177-3AD203B41FA5}">
                      <a16:colId xmlns:a16="http://schemas.microsoft.com/office/drawing/2014/main" val="4123940090"/>
                    </a:ext>
                  </a:extLst>
                </a:gridCol>
                <a:gridCol w="2290388">
                  <a:extLst>
                    <a:ext uri="{9D8B030D-6E8A-4147-A177-3AD203B41FA5}">
                      <a16:colId xmlns:a16="http://schemas.microsoft.com/office/drawing/2014/main" val="3343593416"/>
                    </a:ext>
                  </a:extLst>
                </a:gridCol>
                <a:gridCol w="1989447">
                  <a:extLst>
                    <a:ext uri="{9D8B030D-6E8A-4147-A177-3AD203B41FA5}">
                      <a16:colId xmlns:a16="http://schemas.microsoft.com/office/drawing/2014/main" val="77458299"/>
                    </a:ext>
                  </a:extLst>
                </a:gridCol>
                <a:gridCol w="1583949">
                  <a:extLst>
                    <a:ext uri="{9D8B030D-6E8A-4147-A177-3AD203B41FA5}">
                      <a16:colId xmlns:a16="http://schemas.microsoft.com/office/drawing/2014/main" val="499465009"/>
                    </a:ext>
                  </a:extLst>
                </a:gridCol>
              </a:tblGrid>
              <a:tr h="388363">
                <a:tc gridSpan="5">
                  <a:txBody>
                    <a:bodyPr/>
                    <a:lstStyle/>
                    <a:p>
                      <a:pPr marL="0" algn="ctr" defTabSz="914400" rtl="0" eaLnBrk="1" latinLnBrk="0" hangingPunct="1"/>
                      <a:r>
                        <a:rPr lang="zh-CN" altLang="en-US" sz="2000" b="1" kern="1200" dirty="0">
                          <a:solidFill>
                            <a:schemeClr val="tx1"/>
                          </a:solidFill>
                          <a:latin typeface="宋体" panose="02010600030101010101" pitchFamily="2" charset="-122"/>
                          <a:ea typeface="宋体" panose="02010600030101010101" pitchFamily="2" charset="-122"/>
                          <a:cs typeface="+mn-cs"/>
                        </a:rPr>
                        <a:t>动态调度方法</a:t>
                      </a:r>
                    </a:p>
                  </a:txBody>
                  <a:tcPr anchor="ctr">
                    <a:noFill/>
                  </a:tcPr>
                </a:tc>
                <a:tc hMerge="1">
                  <a:txBody>
                    <a:bodyPr/>
                    <a:lstStyle/>
                    <a:p>
                      <a:endParaRPr lang="zh-CN" altLang="en-US"/>
                    </a:p>
                  </a:txBody>
                  <a:tcPr/>
                </a:tc>
                <a:tc hMerge="1">
                  <a:txBody>
                    <a:bodyPr/>
                    <a:lstStyle/>
                    <a:p>
                      <a:endParaRPr lang="zh-CN" altLang="en-US" dirty="0"/>
                    </a:p>
                  </a:txBody>
                  <a:tcPr>
                    <a:noFill/>
                  </a:tcPr>
                </a:tc>
                <a:tc hMerge="1">
                  <a:txBody>
                    <a:bodyPr/>
                    <a:lstStyle/>
                    <a:p>
                      <a:endParaRPr lang="zh-CN" altLang="en-US"/>
                    </a:p>
                  </a:txBody>
                  <a:tcPr/>
                </a:tc>
                <a:tc hMerge="1">
                  <a:txBody>
                    <a:bodyPr/>
                    <a:lstStyle/>
                    <a:p>
                      <a:endParaRPr lang="zh-CN" altLang="en-US" dirty="0"/>
                    </a:p>
                  </a:txBody>
                  <a:tcPr>
                    <a:noFill/>
                  </a:tcPr>
                </a:tc>
                <a:extLst>
                  <a:ext uri="{0D108BD9-81ED-4DB2-BD59-A6C34878D82A}">
                    <a16:rowId xmlns:a16="http://schemas.microsoft.com/office/drawing/2014/main" val="2008581586"/>
                  </a:ext>
                </a:extLst>
              </a:tr>
              <a:tr h="358489">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分类</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简介</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适用场景</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优点</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缺点</a:t>
                      </a:r>
                    </a:p>
                  </a:txBody>
                  <a:tcPr anchor="ctr">
                    <a:noFill/>
                  </a:tcPr>
                </a:tc>
                <a:extLst>
                  <a:ext uri="{0D108BD9-81ED-4DB2-BD59-A6C34878D82A}">
                    <a16:rowId xmlns:a16="http://schemas.microsoft.com/office/drawing/2014/main" val="1003228294"/>
                  </a:ext>
                </a:extLst>
              </a:tr>
              <a:tr h="8066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鲁棒前摄式调度</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预先考虑扰动的调度方式。它在生成初始调度计划时，已经将可能发生的各种扰动（如设备故障、订单变化等）纳入考虑</a:t>
                      </a:r>
                    </a:p>
                  </a:txBody>
                  <a:tcPr anchor="ctr">
                    <a:noFill/>
                  </a:tcPr>
                </a:tc>
                <a:tc>
                  <a:txBody>
                    <a:bodyPr/>
                    <a:lstStyle/>
                    <a:p>
                      <a:pPr algn="ctr"/>
                      <a:r>
                        <a:rPr lang="zh-CN" altLang="en-US" sz="1600" b="1" dirty="0"/>
                        <a:t>扰动少且可以准确地以概率形式描述</a:t>
                      </a:r>
                      <a:r>
                        <a:rPr lang="zh-CN" altLang="en-US" sz="1600" b="0" dirty="0"/>
                        <a:t>的</a:t>
                      </a:r>
                      <a:r>
                        <a:rPr lang="zh-CN" altLang="en-US" sz="1600" dirty="0"/>
                        <a:t>调度环境中</a:t>
                      </a:r>
                    </a:p>
                  </a:txBody>
                  <a:tcPr anchor="ctr">
                    <a:noFill/>
                  </a:tcPr>
                </a:tc>
                <a:tc>
                  <a:txBody>
                    <a:bodyPr/>
                    <a:lstStyle/>
                    <a:p>
                      <a:pPr algn="ctr"/>
                      <a:r>
                        <a:rPr lang="zh-CN" altLang="en-US" sz="1600" dirty="0"/>
                        <a:t>高稳定性</a:t>
                      </a:r>
                      <a:endParaRPr lang="en-US" altLang="zh-CN" sz="1600" dirty="0"/>
                    </a:p>
                  </a:txBody>
                  <a:tcPr anchor="ctr">
                    <a:noFill/>
                  </a:tcPr>
                </a:tc>
                <a:tc>
                  <a:txBody>
                    <a:bodyPr/>
                    <a:lstStyle/>
                    <a:p>
                      <a:pPr marL="0" algn="ctr" defTabSz="914400" rtl="0" eaLnBrk="1" latinLnBrk="0" hangingPunct="1"/>
                      <a:r>
                        <a:rPr lang="zh-CN" altLang="en-US" sz="1600" dirty="0"/>
                        <a:t>局限性较强，实时反应能力差</a:t>
                      </a:r>
                      <a:endParaRPr lang="zh-CN" altLang="en-US" sz="16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extLst>
                  <a:ext uri="{0D108BD9-81ED-4DB2-BD59-A6C34878D82A}">
                    <a16:rowId xmlns:a16="http://schemas.microsoft.com/office/drawing/2014/main" val="352822958"/>
                  </a:ext>
                </a:extLst>
              </a:tr>
              <a:tr h="8066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预</a:t>
                      </a:r>
                      <a:r>
                        <a:rPr lang="en-US" altLang="zh-CN" dirty="0"/>
                        <a:t>-</a:t>
                      </a:r>
                      <a:r>
                        <a:rPr lang="zh-CN" altLang="en-US" dirty="0"/>
                        <a:t>反应调度</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将复杂的调度问题分解为一系列静态调度问题</a:t>
                      </a:r>
                      <a:r>
                        <a:rPr lang="en-US" altLang="zh-CN" sz="1600" dirty="0"/>
                        <a:t>,</a:t>
                      </a:r>
                      <a:r>
                        <a:rPr lang="zh-CN" altLang="en-US" sz="1600" dirty="0"/>
                        <a:t>利用静态调度技术使每个子问题得到最优解决</a:t>
                      </a:r>
                    </a:p>
                  </a:txBody>
                  <a:tcPr anchor="ctr">
                    <a:noFill/>
                  </a:tcPr>
                </a:tc>
                <a:tc>
                  <a:txBody>
                    <a:bodyPr/>
                    <a:lstStyle/>
                    <a:p>
                      <a:pPr marL="0" algn="ctr" defTabSz="914400" rtl="0" eaLnBrk="1" latinLnBrk="0" hangingPunct="1"/>
                      <a:r>
                        <a:rPr lang="zh-CN" altLang="en-US" sz="1600" dirty="0"/>
                        <a:t>动态事件发生</a:t>
                      </a:r>
                      <a:r>
                        <a:rPr lang="zh-CN" altLang="en-US" sz="1600" b="1" dirty="0"/>
                        <a:t>不频繁</a:t>
                      </a:r>
                      <a:r>
                        <a:rPr lang="zh-CN" altLang="en-US" sz="1600" dirty="0"/>
                        <a:t>、</a:t>
                      </a:r>
                      <a:r>
                        <a:rPr lang="zh-CN" altLang="en-US" sz="1600" b="1" dirty="0"/>
                        <a:t>不确定性程度低</a:t>
                      </a:r>
                      <a:r>
                        <a:rPr lang="zh-CN" altLang="en-US" sz="1600" dirty="0"/>
                        <a:t>地生产环境中</a:t>
                      </a:r>
                      <a:endParaRPr lang="zh-CN" altLang="en-US" sz="16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ctr" defTabSz="914400" rtl="0" eaLnBrk="1" latinLnBrk="0" hangingPunct="1"/>
                      <a:r>
                        <a:rPr lang="zh-CN" altLang="en-US" sz="16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灵活性较强</a:t>
                      </a:r>
                    </a:p>
                  </a:txBody>
                  <a:tcPr anchor="ctr">
                    <a:noFill/>
                  </a:tcPr>
                </a:tc>
                <a:tc>
                  <a:txBody>
                    <a:bodyPr/>
                    <a:lstStyle/>
                    <a:p>
                      <a:pPr marL="0" algn="ctr" defTabSz="914400" rtl="0" eaLnBrk="1" latinLnBrk="0" hangingPunct="1"/>
                      <a:r>
                        <a:rPr lang="zh-CN" altLang="en-US" sz="16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调度计算开销较大</a:t>
                      </a:r>
                    </a:p>
                  </a:txBody>
                  <a:tcPr anchor="ctr">
                    <a:noFill/>
                  </a:tcPr>
                </a:tc>
                <a:extLst>
                  <a:ext uri="{0D108BD9-81ED-4DB2-BD59-A6C34878D82A}">
                    <a16:rowId xmlns:a16="http://schemas.microsoft.com/office/drawing/2014/main" val="238161178"/>
                  </a:ext>
                </a:extLst>
              </a:tr>
              <a:tr h="10455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完全反应调度</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一种纯粹的实时调度方式，不预先生成调度方案，而是在扰动发生后根据当前环境的状态立即做出响应和调整。不考虑对扰动的前摄式应对，专注于即时响应。</a:t>
                      </a:r>
                      <a:endParaRPr lang="zh-CN" altLang="en-US" sz="16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algn="ctr"/>
                      <a:r>
                        <a:rPr lang="zh-CN" altLang="en-US" sz="1600" b="1" dirty="0"/>
                        <a:t>各种车间场景</a:t>
                      </a:r>
                      <a:r>
                        <a:rPr lang="zh-CN" altLang="en-US" sz="1600" dirty="0"/>
                        <a:t>，可以很好的响应车间的各种动态事件</a:t>
                      </a:r>
                    </a:p>
                  </a:txBody>
                  <a:tcPr anchor="ctr">
                    <a:noFill/>
                  </a:tcPr>
                </a:tc>
                <a:tc>
                  <a:txBody>
                    <a:bodyPr/>
                    <a:lstStyle/>
                    <a:p>
                      <a:pPr algn="ctr"/>
                      <a:r>
                        <a:rPr lang="zh-CN" altLang="en-US" sz="1600" b="1" dirty="0">
                          <a:solidFill>
                            <a:srgbClr val="C00000"/>
                          </a:solidFill>
                        </a:rPr>
                        <a:t>具有高度灵活性和实时性</a:t>
                      </a:r>
                      <a:endParaRPr lang="en-US" altLang="zh-CN" sz="1600" b="1" dirty="0">
                        <a:solidFill>
                          <a:srgbClr val="C00000"/>
                        </a:solidFill>
                      </a:endParaRPr>
                    </a:p>
                    <a:p>
                      <a:pPr algn="ctr"/>
                      <a:r>
                        <a:rPr lang="zh-CN" altLang="en-US" sz="1600" b="1" dirty="0">
                          <a:solidFill>
                            <a:srgbClr val="C00000"/>
                          </a:solidFill>
                        </a:rPr>
                        <a:t>适应复杂动态环境</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高计算开销</a:t>
                      </a:r>
                    </a:p>
                  </a:txBody>
                  <a:tcPr anchor="ctr">
                    <a:noFill/>
                  </a:tcPr>
                </a:tc>
                <a:extLst>
                  <a:ext uri="{0D108BD9-81ED-4DB2-BD59-A6C34878D82A}">
                    <a16:rowId xmlns:a16="http://schemas.microsoft.com/office/drawing/2014/main" val="2099745847"/>
                  </a:ext>
                </a:extLst>
              </a:tr>
            </a:tbl>
          </a:graphicData>
        </a:graphic>
      </p:graphicFrame>
      <p:graphicFrame>
        <p:nvGraphicFramePr>
          <p:cNvPr id="2" name="表格 1">
            <a:extLst>
              <a:ext uri="{FF2B5EF4-FFF2-40B4-BE49-F238E27FC236}">
                <a16:creationId xmlns:a16="http://schemas.microsoft.com/office/drawing/2014/main" id="{E33EE17B-7D0F-832D-7597-F59A830270D8}"/>
              </a:ext>
            </a:extLst>
          </p:cNvPr>
          <p:cNvGraphicFramePr>
            <a:graphicFrameLocks noGrp="1"/>
          </p:cNvGraphicFramePr>
          <p:nvPr>
            <p:extLst>
              <p:ext uri="{D42A27DB-BD31-4B8C-83A1-F6EECF244321}">
                <p14:modId xmlns:p14="http://schemas.microsoft.com/office/powerpoint/2010/main" val="3799856299"/>
              </p:ext>
            </p:extLst>
          </p:nvPr>
        </p:nvGraphicFramePr>
        <p:xfrm>
          <a:off x="1326624" y="5096320"/>
          <a:ext cx="9861667" cy="1164357"/>
        </p:xfrm>
        <a:graphic>
          <a:graphicData uri="http://schemas.openxmlformats.org/drawingml/2006/table">
            <a:tbl>
              <a:tblPr firstRow="1" bandRow="1">
                <a:tableStyleId>{BDBED569-4797-4DF1-A0F4-6AAB3CD982D8}</a:tableStyleId>
              </a:tblPr>
              <a:tblGrid>
                <a:gridCol w="1581512">
                  <a:extLst>
                    <a:ext uri="{9D8B030D-6E8A-4147-A177-3AD203B41FA5}">
                      <a16:colId xmlns:a16="http://schemas.microsoft.com/office/drawing/2014/main" val="2484636762"/>
                    </a:ext>
                  </a:extLst>
                </a:gridCol>
                <a:gridCol w="1930155">
                  <a:extLst>
                    <a:ext uri="{9D8B030D-6E8A-4147-A177-3AD203B41FA5}">
                      <a16:colId xmlns:a16="http://schemas.microsoft.com/office/drawing/2014/main" val="2454361629"/>
                    </a:ext>
                  </a:extLst>
                </a:gridCol>
                <a:gridCol w="1694634">
                  <a:extLst>
                    <a:ext uri="{9D8B030D-6E8A-4147-A177-3AD203B41FA5}">
                      <a16:colId xmlns:a16="http://schemas.microsoft.com/office/drawing/2014/main" val="4123940090"/>
                    </a:ext>
                  </a:extLst>
                </a:gridCol>
                <a:gridCol w="2096692">
                  <a:extLst>
                    <a:ext uri="{9D8B030D-6E8A-4147-A177-3AD203B41FA5}">
                      <a16:colId xmlns:a16="http://schemas.microsoft.com/office/drawing/2014/main" val="3343593416"/>
                    </a:ext>
                  </a:extLst>
                </a:gridCol>
                <a:gridCol w="2558674">
                  <a:extLst>
                    <a:ext uri="{9D8B030D-6E8A-4147-A177-3AD203B41FA5}">
                      <a16:colId xmlns:a16="http://schemas.microsoft.com/office/drawing/2014/main" val="77458299"/>
                    </a:ext>
                  </a:extLst>
                </a:gridCol>
              </a:tblGrid>
              <a:tr h="5186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SimSun" panose="02010600030101010101" pitchFamily="2" charset="-122"/>
                          <a:ea typeface="SimSun" panose="02010600030101010101" pitchFamily="2" charset="-122"/>
                          <a:cs typeface="+mn-cs"/>
                        </a:rPr>
                        <a:t>算法</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SimSun" panose="02010600030101010101" pitchFamily="2" charset="-122"/>
                          <a:ea typeface="SimSun" panose="02010600030101010101" pitchFamily="2" charset="-122"/>
                          <a:cs typeface="+mn-cs"/>
                        </a:rPr>
                        <a:t>精确方法</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SimSun" panose="02010600030101010101" pitchFamily="2" charset="-122"/>
                          <a:ea typeface="SimSun" panose="02010600030101010101" pitchFamily="2" charset="-122"/>
                          <a:cs typeface="+mn-cs"/>
                        </a:rPr>
                        <a:t>启发式算法</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C00000"/>
                          </a:solidFill>
                          <a:latin typeface="宋体" panose="02010600030101010101" pitchFamily="2" charset="-122"/>
                          <a:ea typeface="宋体" panose="02010600030101010101" pitchFamily="2" charset="-122"/>
                        </a:rPr>
                        <a:t>元启发式算法</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C00000"/>
                          </a:solidFill>
                          <a:latin typeface="宋体" panose="02010600030101010101" pitchFamily="2" charset="-122"/>
                          <a:ea typeface="宋体" panose="02010600030101010101" pitchFamily="2" charset="-122"/>
                        </a:rPr>
                        <a:t>基于强化学习的方法</a:t>
                      </a:r>
                    </a:p>
                  </a:txBody>
                  <a:tcPr anchor="ctr">
                    <a:noFill/>
                  </a:tcPr>
                </a:tc>
                <a:extLst>
                  <a:ext uri="{0D108BD9-81ED-4DB2-BD59-A6C34878D82A}">
                    <a16:rowId xmlns:a16="http://schemas.microsoft.com/office/drawing/2014/main" val="1003228294"/>
                  </a:ext>
                </a:extLst>
              </a:tr>
              <a:tr h="6456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SimSun" panose="02010600030101010101" pitchFamily="2" charset="-122"/>
                          <a:ea typeface="SimSun" panose="02010600030101010101" pitchFamily="2" charset="-122"/>
                          <a:cs typeface="+mn-cs"/>
                        </a:rPr>
                        <a:t>所属调度方式</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鲁棒前摄式调度</a:t>
                      </a:r>
                      <a:endParaRPr lang="en-US" altLang="zh-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预</a:t>
                      </a:r>
                      <a:r>
                        <a:rPr lang="en-US" altLang="zh-CN" dirty="0"/>
                        <a:t>-</a:t>
                      </a:r>
                      <a:r>
                        <a:rPr lang="zh-CN" altLang="en-US" dirty="0"/>
                        <a:t>反应调度</a:t>
                      </a:r>
                      <a:endParaRPr lang="zh-CN" altLang="en-US" sz="1800" kern="1200" dirty="0">
                        <a:solidFill>
                          <a:schemeClr val="dk1"/>
                        </a:solidFill>
                        <a:latin typeface="SimSun" panose="02010600030101010101" pitchFamily="2" charset="-122"/>
                        <a:ea typeface="SimSun" panose="02010600030101010101" pitchFamily="2" charset="-122"/>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预</a:t>
                      </a:r>
                      <a:r>
                        <a:rPr lang="en-US" altLang="zh-CN" dirty="0"/>
                        <a:t>-</a:t>
                      </a:r>
                      <a:r>
                        <a:rPr lang="zh-CN" altLang="en-US" dirty="0"/>
                        <a:t>反应调度</a:t>
                      </a:r>
                      <a:endParaRPr lang="zh-CN" altLang="en-US" sz="1800" kern="1200" dirty="0">
                        <a:solidFill>
                          <a:schemeClr val="dk1"/>
                        </a:solidFill>
                        <a:latin typeface="SimSun" panose="02010600030101010101" pitchFamily="2" charset="-122"/>
                        <a:ea typeface="SimSun" panose="02010600030101010101" pitchFamily="2" charset="-122"/>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预</a:t>
                      </a:r>
                      <a:r>
                        <a:rPr lang="en-US" altLang="zh-CN" dirty="0"/>
                        <a:t>-</a:t>
                      </a:r>
                      <a:r>
                        <a:rPr lang="zh-CN" altLang="en-US" dirty="0"/>
                        <a:t>反应调度</a:t>
                      </a:r>
                      <a:endParaRPr lang="en-US" altLang="zh-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完全反应调度</a:t>
                      </a:r>
                      <a:endParaRPr lang="zh-CN" altLang="en-US" dirty="0">
                        <a:latin typeface="宋体" panose="02010600030101010101" pitchFamily="2" charset="-122"/>
                        <a:ea typeface="宋体" panose="02010600030101010101" pitchFamily="2" charset="-122"/>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完全反应调度</a:t>
                      </a:r>
                      <a:endParaRPr lang="zh-CN" altLang="en-US" dirty="0">
                        <a:latin typeface="宋体" panose="02010600030101010101" pitchFamily="2" charset="-122"/>
                        <a:ea typeface="宋体" panose="02010600030101010101" pitchFamily="2" charset="-122"/>
                      </a:endParaRPr>
                    </a:p>
                  </a:txBody>
                  <a:tcPr anchor="ctr">
                    <a:noFill/>
                  </a:tcPr>
                </a:tc>
                <a:extLst>
                  <a:ext uri="{0D108BD9-81ED-4DB2-BD59-A6C34878D82A}">
                    <a16:rowId xmlns:a16="http://schemas.microsoft.com/office/drawing/2014/main" val="1867734202"/>
                  </a:ext>
                </a:extLst>
              </a:tr>
            </a:tbl>
          </a:graphicData>
        </a:graphic>
      </p:graphicFrame>
    </p:spTree>
    <p:extLst>
      <p:ext uri="{BB962C8B-B14F-4D97-AF65-F5344CB8AC3E}">
        <p14:creationId xmlns:p14="http://schemas.microsoft.com/office/powerpoint/2010/main" val="138775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757664F9-6527-259E-2AF3-AE201680DBAC}"/>
              </a:ext>
            </a:extLst>
          </p:cNvPr>
          <p:cNvGraphicFramePr>
            <a:graphicFrameLocks noGrp="1"/>
          </p:cNvGraphicFramePr>
          <p:nvPr>
            <p:extLst>
              <p:ext uri="{D42A27DB-BD31-4B8C-83A1-F6EECF244321}">
                <p14:modId xmlns:p14="http://schemas.microsoft.com/office/powerpoint/2010/main" val="1158968946"/>
              </p:ext>
            </p:extLst>
          </p:nvPr>
        </p:nvGraphicFramePr>
        <p:xfrm>
          <a:off x="692859" y="1541149"/>
          <a:ext cx="10806281" cy="4114800"/>
        </p:xfrm>
        <a:graphic>
          <a:graphicData uri="http://schemas.openxmlformats.org/drawingml/2006/table">
            <a:tbl>
              <a:tblPr firstRow="1" bandRow="1">
                <a:tableStyleId>{5940675A-B579-460E-94D1-54222C63F5DA}</a:tableStyleId>
              </a:tblPr>
              <a:tblGrid>
                <a:gridCol w="583419">
                  <a:extLst>
                    <a:ext uri="{9D8B030D-6E8A-4147-A177-3AD203B41FA5}">
                      <a16:colId xmlns:a16="http://schemas.microsoft.com/office/drawing/2014/main" val="2176183"/>
                    </a:ext>
                  </a:extLst>
                </a:gridCol>
                <a:gridCol w="872303">
                  <a:extLst>
                    <a:ext uri="{9D8B030D-6E8A-4147-A177-3AD203B41FA5}">
                      <a16:colId xmlns:a16="http://schemas.microsoft.com/office/drawing/2014/main" val="1218550047"/>
                    </a:ext>
                  </a:extLst>
                </a:gridCol>
                <a:gridCol w="1822708">
                  <a:extLst>
                    <a:ext uri="{9D8B030D-6E8A-4147-A177-3AD203B41FA5}">
                      <a16:colId xmlns:a16="http://schemas.microsoft.com/office/drawing/2014/main" val="997834706"/>
                    </a:ext>
                  </a:extLst>
                </a:gridCol>
                <a:gridCol w="2066537">
                  <a:extLst>
                    <a:ext uri="{9D8B030D-6E8A-4147-A177-3AD203B41FA5}">
                      <a16:colId xmlns:a16="http://schemas.microsoft.com/office/drawing/2014/main" val="4102120278"/>
                    </a:ext>
                  </a:extLst>
                </a:gridCol>
                <a:gridCol w="2730657">
                  <a:extLst>
                    <a:ext uri="{9D8B030D-6E8A-4147-A177-3AD203B41FA5}">
                      <a16:colId xmlns:a16="http://schemas.microsoft.com/office/drawing/2014/main" val="1103115278"/>
                    </a:ext>
                  </a:extLst>
                </a:gridCol>
                <a:gridCol w="2730657">
                  <a:extLst>
                    <a:ext uri="{9D8B030D-6E8A-4147-A177-3AD203B41FA5}">
                      <a16:colId xmlns:a16="http://schemas.microsoft.com/office/drawing/2014/main" val="3933820874"/>
                    </a:ext>
                  </a:extLst>
                </a:gridCol>
              </a:tblGrid>
              <a:tr h="278584">
                <a:tc row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元启发式算法</a:t>
                      </a:r>
                    </a:p>
                    <a:p>
                      <a:endParaRPr sz="1400" dirty="0"/>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gridSpan="2">
                  <a:txBody>
                    <a:bodyPr/>
                    <a:lstStyle/>
                    <a:p>
                      <a:pPr marL="0" algn="ctr" defTabSz="914400" rtl="0" eaLnBrk="1" latinLnBrk="0" hangingPunct="1"/>
                      <a:r>
                        <a:rPr lang="zh-CN" altLang="en-US" sz="1800" kern="1200" dirty="0">
                          <a:solidFill>
                            <a:schemeClr val="dk1"/>
                          </a:solidFill>
                          <a:latin typeface="SimSun" panose="02010600030101010101" pitchFamily="2" charset="-122"/>
                          <a:ea typeface="SimSun" panose="02010600030101010101" pitchFamily="2" charset="-122"/>
                          <a:cs typeface="+mn-cs"/>
                        </a:rPr>
                        <a:t>分类</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hMerge="1">
                  <a:txBody>
                    <a:bodyPr/>
                    <a:lstStyle/>
                    <a:p>
                      <a:endParaRPr dirty="0"/>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lang="zh-CN" altLang="en-US" sz="1800" kern="1200" dirty="0">
                          <a:solidFill>
                            <a:schemeClr val="dk1"/>
                          </a:solidFill>
                          <a:latin typeface="SimSun" panose="02010600030101010101" pitchFamily="2" charset="-122"/>
                          <a:ea typeface="SimSun" panose="02010600030101010101" pitchFamily="2" charset="-122"/>
                          <a:cs typeface="+mn-cs"/>
                        </a:rPr>
                        <a:t>优点</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rgbClr val="3B5E98"/>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lang="zh-CN" altLang="en-US" sz="1800" kern="1200" dirty="0">
                          <a:solidFill>
                            <a:schemeClr val="dk1"/>
                          </a:solidFill>
                          <a:latin typeface="SimSun" panose="02010600030101010101" pitchFamily="2" charset="-122"/>
                          <a:ea typeface="SimSun" panose="02010600030101010101" pitchFamily="2" charset="-122"/>
                          <a:cs typeface="+mn-cs"/>
                        </a:rPr>
                        <a:t>缺点</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tcPr>
                </a:tc>
                <a:tc>
                  <a:txBody>
                    <a:bodyPr/>
                    <a:lstStyle/>
                    <a:p>
                      <a:pPr marL="0" algn="ctr" defTabSz="914400" rtl="0" eaLnBrk="1" latinLnBrk="0" hangingPunct="1"/>
                      <a:r>
                        <a:rPr lang="zh-CN" altLang="en-US" sz="1800" kern="1200" dirty="0">
                          <a:solidFill>
                            <a:schemeClr val="dk1"/>
                          </a:solidFill>
                          <a:latin typeface="SimSun" panose="02010600030101010101" pitchFamily="2" charset="-122"/>
                          <a:ea typeface="SimSun" panose="02010600030101010101" pitchFamily="2" charset="-122"/>
                          <a:cs typeface="+mn-cs"/>
                        </a:rPr>
                        <a:t>评价</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tcPr>
                </a:tc>
                <a:extLst>
                  <a:ext uri="{0D108BD9-81ED-4DB2-BD59-A6C34878D82A}">
                    <a16:rowId xmlns:a16="http://schemas.microsoft.com/office/drawing/2014/main" val="370909478"/>
                  </a:ext>
                </a:extLst>
              </a:tr>
              <a:tr h="278584">
                <a:tc vMerge="1">
                  <a:txBody>
                    <a:bodyPr/>
                    <a:lstStyle/>
                    <a:p>
                      <a:endParaRPr dirty="0"/>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rowSpan="3">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基于轨迹的元启发式算法</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模拟退火（</a:t>
                      </a:r>
                      <a:r>
                        <a:rPr lang="en-US" altLang="zh-CN" sz="1400" kern="1200" dirty="0">
                          <a:solidFill>
                            <a:schemeClr val="dk1"/>
                          </a:solidFill>
                          <a:latin typeface="SimSun" panose="02010600030101010101" pitchFamily="2" charset="-122"/>
                          <a:ea typeface="SimSun" panose="02010600030101010101" pitchFamily="2" charset="-122"/>
                          <a:cs typeface="+mn-cs"/>
                        </a:rPr>
                        <a:t>SA</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7">
                  <a:txBody>
                    <a:bodyPr/>
                    <a:lstStyle/>
                    <a:p>
                      <a:pPr marL="0" algn="ctr" defTabSz="914400" rtl="0" eaLnBrk="1" latinLnBrk="0" hangingPunct="1"/>
                      <a:r>
                        <a:rPr lang="en-US" altLang="zh-CN" sz="1400" dirty="0"/>
                        <a:t>1.</a:t>
                      </a:r>
                      <a:r>
                        <a:rPr lang="zh-CN" altLang="en-US" sz="1400" dirty="0"/>
                        <a:t>适用于大规模和复杂的调度问题。</a:t>
                      </a:r>
                      <a:endParaRPr lang="en-US" altLang="zh-CN" sz="1400" dirty="0"/>
                    </a:p>
                    <a:p>
                      <a:pPr marL="0" algn="ctr" defTabSz="914400" rtl="0" eaLnBrk="1" latinLnBrk="0" hangingPunct="1"/>
                      <a:r>
                        <a:rPr lang="en-US" altLang="zh-CN" sz="1400" dirty="0"/>
                        <a:t>2.</a:t>
                      </a:r>
                      <a:r>
                        <a:rPr lang="zh-CN" altLang="en-US" sz="1400" dirty="0"/>
                        <a:t>能够处理多目标优化问题，如同时最小化生产周期和最大化资源利用率。 </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7">
                  <a:txBody>
                    <a:bodyPr/>
                    <a:lstStyle/>
                    <a:p>
                      <a:pPr marL="0" algn="ctr" defTabSz="914400" rtl="0" eaLnBrk="1" latinLnBrk="0" hangingPunct="1"/>
                      <a:r>
                        <a:rPr lang="en-US" altLang="zh-CN" sz="1400" dirty="0"/>
                        <a:t>1.</a:t>
                      </a:r>
                      <a:r>
                        <a:rPr lang="zh-CN" altLang="en-US" sz="1400" dirty="0"/>
                        <a:t>算法需要调优，并且对于不同问题可能需要进行较多的参数调整。</a:t>
                      </a:r>
                      <a:endParaRPr lang="en-US" altLang="zh-CN" sz="1400" dirty="0"/>
                    </a:p>
                    <a:p>
                      <a:pPr marL="0" algn="ctr" defTabSz="914400" rtl="0" eaLnBrk="1" latinLnBrk="0" hangingPunct="1"/>
                      <a:r>
                        <a:rPr lang="en-US" altLang="zh-CN" sz="1400" dirty="0"/>
                        <a:t>2.</a:t>
                      </a:r>
                      <a:r>
                        <a:rPr lang="zh-CN" altLang="en-US" sz="1400" dirty="0"/>
                        <a:t>计算复杂度较高，求解时间较长。</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tcPr>
                </a:tc>
                <a:tc rowSpan="8">
                  <a:txBody>
                    <a:bodyPr/>
                    <a:lstStyle/>
                    <a:p>
                      <a:pPr marL="0" algn="ctr" defTabSz="914400" rtl="0" eaLnBrk="1" latinLnBrk="0" hangingPunct="1"/>
                      <a:r>
                        <a:rPr lang="zh-CN" altLang="en-US" sz="1400" b="1" kern="1200" dirty="0">
                          <a:solidFill>
                            <a:srgbClr val="C00000"/>
                          </a:solidFill>
                          <a:latin typeface="SimSun" panose="02010600030101010101" pitchFamily="2" charset="-122"/>
                          <a:ea typeface="SimSun" panose="02010600030101010101" pitchFamily="2" charset="-122"/>
                          <a:cs typeface="+mn-cs"/>
                        </a:rPr>
                        <a:t>自适应性较差，且实时性不如强化学习方法</a:t>
                      </a:r>
                      <a:endParaRPr lang="en-US" altLang="zh-CN" sz="1400" b="1" kern="1200" dirty="0">
                        <a:solidFill>
                          <a:srgbClr val="C00000"/>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B w="9525" cap="flat" cmpd="sng" algn="ctr">
                      <a:solidFill>
                        <a:srgbClr val="3B5E98"/>
                      </a:solidFill>
                      <a:prstDash val="solid"/>
                      <a:round/>
                      <a:headEnd type="none" w="med" len="med"/>
                      <a:tailEnd type="none" w="med" len="med"/>
                    </a:lnB>
                  </a:tcPr>
                </a:tc>
                <a:extLst>
                  <a:ext uri="{0D108BD9-81ED-4DB2-BD59-A6C34878D82A}">
                    <a16:rowId xmlns:a16="http://schemas.microsoft.com/office/drawing/2014/main" val="2888417708"/>
                  </a:ext>
                </a:extLst>
              </a:tr>
              <a:tr h="27858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禁忌搜索（</a:t>
                      </a:r>
                      <a:r>
                        <a:rPr lang="en-US" altLang="zh-CN" sz="1400" kern="1200" dirty="0">
                          <a:solidFill>
                            <a:schemeClr val="dk1"/>
                          </a:solidFill>
                          <a:latin typeface="SimSun" panose="02010600030101010101" pitchFamily="2" charset="-122"/>
                          <a:ea typeface="SimSun" panose="02010600030101010101" pitchFamily="2" charset="-122"/>
                          <a:cs typeface="+mn-cs"/>
                        </a:rPr>
                        <a:t>TS</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834832324"/>
                  </a:ext>
                </a:extLst>
              </a:tr>
              <a:tr h="278584">
                <a:tc vMerge="1">
                  <a:txBody>
                    <a:bodyPr/>
                    <a:lstStyle/>
                    <a:p>
                      <a:endParaRPr lang="zh-CN" altLang="en-US"/>
                    </a:p>
                  </a:txBody>
                  <a:tcPr/>
                </a:tc>
                <a:tc vMerge="1">
                  <a:txBody>
                    <a:bodyPr/>
                    <a:lstStyle/>
                    <a:p>
                      <a:endParaRPr lang="zh-CN" altLang="en-US" dirty="0"/>
                    </a:p>
                  </a:txBody>
                  <a:tcPr/>
                </a:tc>
                <a:tc>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变邻域搜索（</a:t>
                      </a:r>
                      <a:r>
                        <a:rPr lang="en-US" altLang="zh-CN" sz="1400" kern="1200" dirty="0">
                          <a:solidFill>
                            <a:schemeClr val="dk1"/>
                          </a:solidFill>
                          <a:latin typeface="SimSun" panose="02010600030101010101" pitchFamily="2" charset="-122"/>
                          <a:ea typeface="SimSun" panose="02010600030101010101" pitchFamily="2" charset="-122"/>
                          <a:cs typeface="+mn-cs"/>
                        </a:rPr>
                        <a:t>VNS</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724994143"/>
                  </a:ext>
                </a:extLst>
              </a:tr>
              <a:tr h="278584">
                <a:tc vMerge="1">
                  <a:txBody>
                    <a:bodyPr/>
                    <a:lstStyle/>
                    <a:p>
                      <a:pPr marL="0" algn="ctr" defTabSz="914400" rtl="0" eaLnBrk="1" latinLnBrk="0" hangingPunct="1"/>
                      <a:endParaRPr lang="zh-CN" altLang="en-US" sz="1600" kern="1200" dirty="0">
                        <a:solidFill>
                          <a:schemeClr val="dk1"/>
                        </a:solidFill>
                        <a:latin typeface="微软雅黑" panose="020B0503020204020204" pitchFamily="34" charset="-122"/>
                        <a:ea typeface="微软雅黑" panose="020B0503020204020204" pitchFamily="34" charset="-122"/>
                        <a:cs typeface="+mn-cs"/>
                      </a:endParaRPr>
                    </a:p>
                  </a:txBody>
                  <a:tcPr anchor="ctr">
                    <a:lnR w="12700"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12700" cap="flat" cmpd="sng" algn="ctr">
                      <a:solidFill>
                        <a:srgbClr val="3B5E98"/>
                      </a:solidFill>
                      <a:prstDash val="solid"/>
                      <a:round/>
                      <a:headEnd type="none" w="med" len="med"/>
                      <a:tailEnd type="none" w="med" len="med"/>
                    </a:lnB>
                  </a:tcPr>
                </a:tc>
                <a:tc rowSpan="4">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基于种群的元启发式算法</a:t>
                      </a:r>
                    </a:p>
                  </a:txBody>
                  <a:tcPr anchor="ctr">
                    <a:lnL w="12700"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遗传算法（</a:t>
                      </a:r>
                      <a:r>
                        <a:rPr lang="en-US" altLang="zh-CN" sz="1400" kern="1200" dirty="0">
                          <a:solidFill>
                            <a:schemeClr val="dk1"/>
                          </a:solidFill>
                          <a:latin typeface="SimSun" panose="02010600030101010101" pitchFamily="2" charset="-122"/>
                          <a:ea typeface="SimSun" panose="02010600030101010101" pitchFamily="2" charset="-122"/>
                          <a:cs typeface="+mn-cs"/>
                        </a:rPr>
                        <a:t>GA</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9525" cap="flat" cmpd="sng" algn="ctr">
                      <a:solidFill>
                        <a:srgbClr val="3B5E98"/>
                      </a:solidFill>
                      <a:prstDash val="solid"/>
                      <a:round/>
                      <a:headEnd type="none" w="med" len="med"/>
                      <a:tailEnd type="none" w="med" len="med"/>
                    </a:lnT>
                    <a:lnB w="9525" cap="flat" cmpd="sng" algn="ctr">
                      <a:solidFill>
                        <a:srgbClr val="3B5E98"/>
                      </a:solidFill>
                      <a:prstDash val="solid"/>
                      <a:round/>
                      <a:headEnd type="none" w="med" len="med"/>
                      <a:tailEnd type="none" w="med" len="med"/>
                    </a:lnB>
                  </a:tcPr>
                </a:tc>
                <a:tc vMerge="1">
                  <a:txBody>
                    <a:bodyPr/>
                    <a:lstStyle/>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28575" cap="flat" cmpd="sng" algn="ctr">
                      <a:solidFill>
                        <a:srgbClr val="3B5E98"/>
                      </a:solidFill>
                      <a:prstDash val="solid"/>
                      <a:round/>
                      <a:headEnd type="none" w="med" len="med"/>
                      <a:tailEnd type="none" w="med" len="med"/>
                    </a:lnR>
                    <a:lnT w="9525" cap="flat" cmpd="sng" algn="ctr">
                      <a:solidFill>
                        <a:srgbClr val="3B5E98"/>
                      </a:solidFill>
                      <a:prstDash val="solid"/>
                      <a:round/>
                      <a:headEnd type="none" w="med" len="med"/>
                      <a:tailEnd type="none" w="med" len="med"/>
                    </a:lnT>
                    <a:lnB w="9525" cap="flat" cmpd="sng" algn="ctr">
                      <a:solidFill>
                        <a:srgbClr val="3B5E98"/>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1252176705"/>
                  </a:ext>
                </a:extLst>
              </a:tr>
              <a:tr h="27858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粒子群优化算法（</a:t>
                      </a:r>
                      <a:r>
                        <a:rPr lang="en-US" altLang="zh-CN" sz="1400" kern="1200" dirty="0">
                          <a:solidFill>
                            <a:schemeClr val="dk1"/>
                          </a:solidFill>
                          <a:latin typeface="SimSun" panose="02010600030101010101" pitchFamily="2" charset="-122"/>
                          <a:ea typeface="SimSun" panose="02010600030101010101" pitchFamily="2" charset="-122"/>
                          <a:cs typeface="+mn-cs"/>
                        </a:rPr>
                        <a:t>PSO</a:t>
                      </a:r>
                      <a:r>
                        <a:rPr lang="zh-CN" altLang="en-US" sz="1400" kern="1200" dirty="0">
                          <a:solidFill>
                            <a:schemeClr val="dk1"/>
                          </a:solidFill>
                          <a:latin typeface="SimSun" panose="02010600030101010101" pitchFamily="2" charset="-122"/>
                          <a:ea typeface="SimSun" panose="02010600030101010101" pitchFamily="2" charset="-122"/>
                          <a:cs typeface="+mn-cs"/>
                        </a:rPr>
                        <a:t>）</a:t>
                      </a:r>
                      <a:endParaRPr lang="en-US" altLang="zh-CN"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070656914"/>
                  </a:ext>
                </a:extLst>
              </a:tr>
              <a:tr h="27858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SimSun" panose="02010600030101010101" pitchFamily="2" charset="-122"/>
                          <a:ea typeface="SimSun" panose="02010600030101010101" pitchFamily="2" charset="-122"/>
                          <a:cs typeface="+mn-cs"/>
                        </a:rPr>
                        <a:t>蚁群优化（</a:t>
                      </a:r>
                      <a:r>
                        <a:rPr lang="en-US" altLang="zh-CN" sz="1400" kern="1200" dirty="0">
                          <a:solidFill>
                            <a:schemeClr val="dk1"/>
                          </a:solidFill>
                          <a:latin typeface="SimSun" panose="02010600030101010101" pitchFamily="2" charset="-122"/>
                          <a:ea typeface="SimSun" panose="02010600030101010101" pitchFamily="2" charset="-122"/>
                          <a:cs typeface="+mn-cs"/>
                        </a:rPr>
                        <a:t>ACO</a:t>
                      </a:r>
                      <a:r>
                        <a:rPr lang="zh-CN" altLang="en-US" sz="1400" kern="1200" dirty="0">
                          <a:solidFill>
                            <a:schemeClr val="dk1"/>
                          </a:solidFill>
                          <a:latin typeface="SimSun" panose="02010600030101010101" pitchFamily="2" charset="-122"/>
                          <a:ea typeface="SimSun" panose="02010600030101010101" pitchFamily="2" charset="-122"/>
                          <a:cs typeface="+mn-cs"/>
                        </a:rPr>
                        <a:t>）</a:t>
                      </a:r>
                      <a:endParaRPr lang="en-US" altLang="zh-CN"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380086173"/>
                  </a:ext>
                </a:extLst>
              </a:tr>
              <a:tr h="278584">
                <a:tc vMerge="1">
                  <a:txBody>
                    <a:bodyPr/>
                    <a:lstStyle/>
                    <a:p>
                      <a:endParaRPr lang="zh-CN" altLang="en-US"/>
                    </a:p>
                  </a:txBody>
                  <a:tcPr/>
                </a:tc>
                <a:tc vMerge="1">
                  <a:txBody>
                    <a:bodyPr/>
                    <a:lstStyle/>
                    <a:p>
                      <a:endParaRPr lang="zh-CN" altLang="en-US"/>
                    </a:p>
                  </a:txBody>
                  <a:tcPr/>
                </a:tc>
                <a:tc>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分布估计算法（</a:t>
                      </a:r>
                      <a:r>
                        <a:rPr lang="en-US" altLang="zh-CN" sz="1400" kern="1200" dirty="0">
                          <a:solidFill>
                            <a:schemeClr val="dk1"/>
                          </a:solidFill>
                          <a:latin typeface="SimSun" panose="02010600030101010101" pitchFamily="2" charset="-122"/>
                          <a:ea typeface="SimSun" panose="02010600030101010101" pitchFamily="2" charset="-122"/>
                          <a:cs typeface="+mn-cs"/>
                        </a:rPr>
                        <a:t>EDA</a:t>
                      </a:r>
                      <a:r>
                        <a:rPr lang="zh-CN" altLang="en-US" sz="1400" kern="1200" dirty="0">
                          <a:solidFill>
                            <a:schemeClr val="dk1"/>
                          </a:solidFill>
                          <a:latin typeface="SimSun" panose="02010600030101010101" pitchFamily="2" charset="-122"/>
                          <a:ea typeface="SimSun" panose="02010600030101010101" pitchFamily="2" charset="-122"/>
                          <a:cs typeface="+mn-cs"/>
                        </a:rPr>
                        <a:t>）</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818050602"/>
                  </a:ext>
                </a:extLst>
              </a:tr>
              <a:tr h="863609">
                <a:tc vMerge="1">
                  <a:txBody>
                    <a:bodyPr/>
                    <a:lstStyle/>
                    <a:p>
                      <a:endParaRPr dirty="0"/>
                    </a:p>
                  </a:txBody>
                  <a:tcPr anchor="ctr">
                    <a:lnL w="9525" cap="flat" cmpd="sng" algn="ctr">
                      <a:solidFill>
                        <a:srgbClr val="3B5E98"/>
                      </a:solidFill>
                      <a:prstDash val="solid"/>
                      <a:round/>
                      <a:headEnd type="none" w="med" len="med"/>
                      <a:tailEnd type="none" w="med" len="med"/>
                    </a:lnL>
                    <a:lnR w="12700" cap="flat" cmpd="sng" algn="ctr">
                      <a:solidFill>
                        <a:srgbClr val="3B5E98"/>
                      </a:solidFill>
                      <a:prstDash val="solid"/>
                      <a:round/>
                      <a:headEnd type="none" w="med" len="med"/>
                      <a:tailEnd type="none" w="med" len="med"/>
                    </a:lnR>
                    <a:lnT w="28575" cap="flat" cmpd="sng" algn="ctr">
                      <a:solidFill>
                        <a:srgbClr val="3B5E98"/>
                      </a:solidFill>
                      <a:prstDash val="solid"/>
                      <a:round/>
                      <a:headEnd type="none" w="med" len="med"/>
                      <a:tailEnd type="none" w="med" len="med"/>
                    </a:lnT>
                    <a:lnB w="28575" cap="flat" cmpd="sng" algn="ctr">
                      <a:solidFill>
                        <a:srgbClr val="3B5E98"/>
                      </a:solidFill>
                      <a:prstDash val="solid"/>
                      <a:round/>
                      <a:headEnd type="none" w="med" len="med"/>
                      <a:tailEnd type="none" w="med" len="med"/>
                    </a:lnB>
                  </a:tcPr>
                </a:tc>
                <a:tc>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混合元启发式算法</a:t>
                      </a:r>
                    </a:p>
                  </a:txBody>
                  <a:tcPr anchor="ctr">
                    <a:lnL w="12700"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algn="ctr" defTabSz="914400" rtl="0" eaLnBrk="1" latinLnBrk="0" hangingPunct="1"/>
                      <a:r>
                        <a:rPr lang="zh-CN" altLang="en-US" sz="1400" kern="1200" dirty="0">
                          <a:solidFill>
                            <a:schemeClr val="dk1"/>
                          </a:solidFill>
                          <a:latin typeface="SimSun" panose="02010600030101010101" pitchFamily="2" charset="-122"/>
                          <a:ea typeface="SimSun" panose="02010600030101010101" pitchFamily="2" charset="-122"/>
                          <a:cs typeface="+mn-cs"/>
                        </a:rPr>
                        <a:t>结合基于轨迹和基于种群的元启发式算法</a:t>
                      </a: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1.</a:t>
                      </a:r>
                      <a:r>
                        <a:rPr lang="zh-CN" altLang="en-US" sz="1400" dirty="0"/>
                        <a:t>能够利用不同算法的优点，提高求解质量。</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2.</a:t>
                      </a:r>
                      <a:r>
                        <a:rPr lang="zh-CN" altLang="en-US" sz="1400" dirty="0"/>
                        <a:t>在全局搜索和局部搜索之间取得平衡，适用于解决复杂的调度问题。</a:t>
                      </a:r>
                      <a:endParaRPr lang="zh-CN" altLang="en-US" sz="1400" kern="1200" dirty="0">
                        <a:solidFill>
                          <a:schemeClr val="dk1"/>
                        </a:solidFill>
                        <a:latin typeface="SimSun" panose="02010600030101010101" pitchFamily="2" charset="-122"/>
                        <a:ea typeface="SimSun" panose="02010600030101010101" pitchFamily="2" charset="-122"/>
                        <a:cs typeface="+mn-cs"/>
                      </a:endParaRPr>
                    </a:p>
                    <a:p>
                      <a:pPr marL="0" algn="ctr" defTabSz="914400" rtl="0" eaLnBrk="1" latinLnBrk="0" hangingPunct="1"/>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9525" cap="flat" cmpd="sng" algn="ctr">
                      <a:solidFill>
                        <a:srgbClr val="3B5E98"/>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1.</a:t>
                      </a:r>
                      <a:r>
                        <a:rPr lang="zh-CN" altLang="en-US" sz="1400" dirty="0"/>
                        <a:t>混合算法设计和实现复杂，调优难度较大。</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2.</a:t>
                      </a:r>
                      <a:r>
                        <a:rPr lang="zh-CN" altLang="en-US" sz="1400" dirty="0"/>
                        <a:t>算法实现的复杂性可能影响求解的效率。</a:t>
                      </a: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B w="9525" cap="flat" cmpd="sng" algn="ctr">
                      <a:solidFill>
                        <a:srgbClr val="3B5E98"/>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kern="1200" dirty="0">
                        <a:solidFill>
                          <a:schemeClr val="dk1"/>
                        </a:solidFill>
                        <a:latin typeface="SimSun" panose="02010600030101010101" pitchFamily="2" charset="-122"/>
                        <a:ea typeface="SimSun" panose="02010600030101010101" pitchFamily="2" charset="-122"/>
                        <a:cs typeface="+mn-cs"/>
                      </a:endParaRPr>
                    </a:p>
                  </a:txBody>
                  <a:tcPr anchor="ctr">
                    <a:lnL w="9525" cap="flat" cmpd="sng" algn="ctr">
                      <a:solidFill>
                        <a:srgbClr val="3B5E98"/>
                      </a:solidFill>
                      <a:prstDash val="solid"/>
                      <a:round/>
                      <a:headEnd type="none" w="med" len="med"/>
                      <a:tailEnd type="none" w="med" len="med"/>
                    </a:lnL>
                    <a:lnR w="9525" cap="flat" cmpd="sng" algn="ctr">
                      <a:solidFill>
                        <a:srgbClr val="3B5E98"/>
                      </a:solidFill>
                      <a:prstDash val="solid"/>
                      <a:round/>
                      <a:headEnd type="none" w="med" len="med"/>
                      <a:tailEnd type="none" w="med" len="med"/>
                    </a:lnR>
                    <a:lnB w="9525" cap="flat" cmpd="sng" algn="ctr">
                      <a:solidFill>
                        <a:srgbClr val="3B5E98"/>
                      </a:solidFill>
                      <a:prstDash val="solid"/>
                      <a:round/>
                      <a:headEnd type="none" w="med" len="med"/>
                      <a:tailEnd type="none" w="med" len="med"/>
                    </a:lnB>
                  </a:tcPr>
                </a:tc>
                <a:extLst>
                  <a:ext uri="{0D108BD9-81ED-4DB2-BD59-A6C34878D82A}">
                    <a16:rowId xmlns:a16="http://schemas.microsoft.com/office/drawing/2014/main" val="1136073185"/>
                  </a:ext>
                </a:extLst>
              </a:tr>
            </a:tbl>
          </a:graphicData>
        </a:graphic>
      </p:graphicFrame>
    </p:spTree>
    <p:extLst>
      <p:ext uri="{BB962C8B-B14F-4D97-AF65-F5344CB8AC3E}">
        <p14:creationId xmlns:p14="http://schemas.microsoft.com/office/powerpoint/2010/main" val="1410793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表格 3">
            <a:extLst>
              <a:ext uri="{FF2B5EF4-FFF2-40B4-BE49-F238E27FC236}">
                <a16:creationId xmlns:a16="http://schemas.microsoft.com/office/drawing/2014/main" id="{9FA6646F-24DB-8D73-2325-175D5E44BE59}"/>
              </a:ext>
            </a:extLst>
          </p:cNvPr>
          <p:cNvGraphicFramePr/>
          <p:nvPr>
            <p:custDataLst>
              <p:tags r:id="rId1"/>
            </p:custDataLst>
            <p:extLst>
              <p:ext uri="{D42A27DB-BD31-4B8C-83A1-F6EECF244321}">
                <p14:modId xmlns:p14="http://schemas.microsoft.com/office/powerpoint/2010/main" val="755978990"/>
              </p:ext>
            </p:extLst>
          </p:nvPr>
        </p:nvGraphicFramePr>
        <p:xfrm>
          <a:off x="634521" y="1270541"/>
          <a:ext cx="5344034" cy="4407568"/>
        </p:xfrm>
        <a:graphic>
          <a:graphicData uri="http://schemas.openxmlformats.org/drawingml/2006/table">
            <a:tbl>
              <a:tblPr>
                <a:tableStyleId>{6E25E649-3F16-4E02-A733-19D2CDBF48F0}</a:tableStyleId>
              </a:tblPr>
              <a:tblGrid>
                <a:gridCol w="407775">
                  <a:extLst>
                    <a:ext uri="{9D8B030D-6E8A-4147-A177-3AD203B41FA5}">
                      <a16:colId xmlns:a16="http://schemas.microsoft.com/office/drawing/2014/main" val="20000"/>
                    </a:ext>
                  </a:extLst>
                </a:gridCol>
                <a:gridCol w="1450678">
                  <a:extLst>
                    <a:ext uri="{9D8B030D-6E8A-4147-A177-3AD203B41FA5}">
                      <a16:colId xmlns:a16="http://schemas.microsoft.com/office/drawing/2014/main" val="20001"/>
                    </a:ext>
                  </a:extLst>
                </a:gridCol>
                <a:gridCol w="1633588">
                  <a:extLst>
                    <a:ext uri="{9D8B030D-6E8A-4147-A177-3AD203B41FA5}">
                      <a16:colId xmlns:a16="http://schemas.microsoft.com/office/drawing/2014/main" val="20002"/>
                    </a:ext>
                  </a:extLst>
                </a:gridCol>
                <a:gridCol w="1851993">
                  <a:extLst>
                    <a:ext uri="{9D8B030D-6E8A-4147-A177-3AD203B41FA5}">
                      <a16:colId xmlns:a16="http://schemas.microsoft.com/office/drawing/2014/main" val="3731634418"/>
                    </a:ext>
                  </a:extLst>
                </a:gridCol>
              </a:tblGrid>
              <a:tr h="466041">
                <a:tc>
                  <a:txBody>
                    <a:bodyPr/>
                    <a:lstStyle/>
                    <a:p>
                      <a:pPr indent="0" algn="ctr">
                        <a:buNone/>
                      </a:pPr>
                      <a:r>
                        <a:rPr lang="zh-CN" altLang="en-US" sz="1400" dirty="0"/>
                        <a:t>文献</a:t>
                      </a:r>
                    </a:p>
                  </a:txBody>
                  <a:tcPr marL="12700" marR="12700" marT="12700" anchor="ctr"/>
                </a:tc>
                <a:tc>
                  <a:txBody>
                    <a:bodyPr/>
                    <a:lstStyle/>
                    <a:p>
                      <a:pPr indent="0" algn="ctr">
                        <a:buNone/>
                      </a:pPr>
                      <a:r>
                        <a:rPr lang="zh-CN" altLang="en-US" sz="1400" dirty="0"/>
                        <a:t>年份</a:t>
                      </a:r>
                      <a:r>
                        <a:rPr lang="en-US" altLang="zh-CN" sz="1400" dirty="0"/>
                        <a:t>/</a:t>
                      </a:r>
                      <a:r>
                        <a:rPr lang="zh-CN" altLang="en-US" sz="1400" dirty="0"/>
                        <a:t>期刊</a:t>
                      </a:r>
                    </a:p>
                  </a:txBody>
                  <a:tcPr marL="12700" marR="12700" marT="12700" anchor="ctr"/>
                </a:tc>
                <a:tc>
                  <a:txBody>
                    <a:bodyPr/>
                    <a:lstStyle/>
                    <a:p>
                      <a:pPr indent="0" algn="ctr">
                        <a:buNone/>
                      </a:pPr>
                      <a:r>
                        <a:rPr lang="zh-CN" altLang="en-US" sz="1400" dirty="0"/>
                        <a:t>动态因素</a:t>
                      </a:r>
                    </a:p>
                  </a:txBody>
                  <a:tcPr marL="12700" marR="12700" marT="12700" anchor="ctr"/>
                </a:tc>
                <a:tc>
                  <a:txBody>
                    <a:bodyPr/>
                    <a:lstStyle/>
                    <a:p>
                      <a:pPr indent="0" algn="ctr">
                        <a:buNone/>
                      </a:pPr>
                      <a:r>
                        <a:rPr lang="zh-CN" altLang="en-US" sz="1400" dirty="0"/>
                        <a:t>决策粒度</a:t>
                      </a:r>
                    </a:p>
                  </a:txBody>
                  <a:tcPr marL="12700" marR="12700" marT="12700" anchor="ctr"/>
                </a:tc>
                <a:extLst>
                  <a:ext uri="{0D108BD9-81ED-4DB2-BD59-A6C34878D82A}">
                    <a16:rowId xmlns:a16="http://schemas.microsoft.com/office/drawing/2014/main" val="10000"/>
                  </a:ext>
                </a:extLst>
              </a:tr>
              <a:tr h="330794">
                <a:tc>
                  <a:txBody>
                    <a:bodyPr/>
                    <a:lstStyle/>
                    <a:p>
                      <a:pPr indent="0" algn="ctr">
                        <a:buNone/>
                      </a:pPr>
                      <a:r>
                        <a:rPr lang="en-US" altLang="en-US" sz="1400" dirty="0"/>
                        <a:t>[11]</a:t>
                      </a:r>
                    </a:p>
                  </a:txBody>
                  <a:tcPr marL="12700" marR="12700" marT="12700" anchor="ctr"/>
                </a:tc>
                <a:tc>
                  <a:txBody>
                    <a:bodyPr/>
                    <a:lstStyle/>
                    <a:p>
                      <a:pPr algn="ctr"/>
                      <a:r>
                        <a:rPr lang="en-US" sz="1400" kern="1200" dirty="0">
                          <a:solidFill>
                            <a:schemeClr val="dk1"/>
                          </a:solidFill>
                          <a:latin typeface="+mn-lt"/>
                          <a:ea typeface="+mn-ea"/>
                          <a:cs typeface="+mn-cs"/>
                        </a:rPr>
                        <a:t>2022/SCI2</a:t>
                      </a:r>
                      <a:r>
                        <a:rPr lang="zh-CN" altLang="en-US" sz="1400" kern="1200" dirty="0">
                          <a:solidFill>
                            <a:schemeClr val="dk1"/>
                          </a:solidFill>
                          <a:latin typeface="+mn-lt"/>
                          <a:ea typeface="+mn-ea"/>
                          <a:cs typeface="+mn-cs"/>
                        </a:rPr>
                        <a:t>区</a:t>
                      </a: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订单插入取消</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algn="ctr"/>
                      <a:r>
                        <a:rPr lang="zh-CN" altLang="en-US" sz="1400" kern="100" dirty="0">
                          <a:effectLst/>
                          <a:latin typeface="+mn-ea"/>
                          <a:ea typeface="+mn-ea"/>
                          <a:cs typeface="Times New Roman" panose="02020603050405020304" pitchFamily="18" charset="0"/>
                        </a:rPr>
                        <a:t>集中式</a:t>
                      </a: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66974">
                <a:tc>
                  <a:txBody>
                    <a:bodyPr/>
                    <a:lstStyle/>
                    <a:p>
                      <a:pPr indent="0" algn="ctr">
                        <a:buNone/>
                      </a:pPr>
                      <a:r>
                        <a:rPr lang="en-US" altLang="en-US" sz="1400" dirty="0"/>
                        <a:t>[13]</a:t>
                      </a:r>
                    </a:p>
                  </a:txBody>
                  <a:tcPr marL="12700" marR="12700" marT="12700" anchor="ctr"/>
                </a:tc>
                <a:tc>
                  <a:txBody>
                    <a:bodyPr/>
                    <a:lstStyle/>
                    <a:p>
                      <a:pPr algn="ctr"/>
                      <a:r>
                        <a:rPr lang="en-US" sz="1400" kern="1200" dirty="0">
                          <a:solidFill>
                            <a:schemeClr val="dk1"/>
                          </a:solidFill>
                          <a:latin typeface="+mn-lt"/>
                          <a:ea typeface="+mn-ea"/>
                          <a:cs typeface="+mn-cs"/>
                        </a:rPr>
                        <a:t>2023/SCI1</a:t>
                      </a:r>
                      <a:r>
                        <a:rPr lang="zh-CN" altLang="en-US" sz="1400" kern="1200" dirty="0">
                          <a:solidFill>
                            <a:schemeClr val="dk1"/>
                          </a:solidFill>
                          <a:latin typeface="+mn-lt"/>
                          <a:ea typeface="+mn-ea"/>
                          <a:cs typeface="+mn-cs"/>
                        </a:rPr>
                        <a:t>区</a:t>
                      </a: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紧急订单插入，机器故障</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集中式</a:t>
                      </a: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298544">
                <a:tc>
                  <a:txBody>
                    <a:bodyPr/>
                    <a:lstStyle/>
                    <a:p>
                      <a:pPr indent="0" algn="ctr">
                        <a:buNone/>
                      </a:pPr>
                      <a:r>
                        <a:rPr lang="en-US" altLang="en-US" sz="1400" dirty="0"/>
                        <a:t>[8]</a:t>
                      </a:r>
                    </a:p>
                  </a:txBody>
                  <a:tcPr marL="12700" marR="12700" marT="12700" anchor="ctr"/>
                </a:tc>
                <a:tc>
                  <a:txBody>
                    <a:bodyPr/>
                    <a:lstStyle/>
                    <a:p>
                      <a:pPr algn="ctr"/>
                      <a:r>
                        <a:rPr lang="en-US" sz="1400" kern="1200" dirty="0">
                          <a:solidFill>
                            <a:schemeClr val="dk1"/>
                          </a:solidFill>
                          <a:latin typeface="+mn-lt"/>
                          <a:ea typeface="+mn-ea"/>
                          <a:cs typeface="+mn-cs"/>
                        </a:rPr>
                        <a:t>2022/SCI2</a:t>
                      </a:r>
                      <a:r>
                        <a:rPr lang="zh-CN" altLang="en-US" sz="1400" kern="1200" dirty="0">
                          <a:solidFill>
                            <a:schemeClr val="dk1"/>
                          </a:solidFill>
                          <a:latin typeface="+mn-lt"/>
                          <a:ea typeface="+mn-ea"/>
                          <a:cs typeface="+mn-cs"/>
                        </a:rPr>
                        <a:t>区</a:t>
                      </a: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机器故障</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indent="228600" algn="ctr"/>
                      <a:r>
                        <a:rPr lang="zh-CN" altLang="en-US" sz="1400" kern="100" dirty="0">
                          <a:effectLst/>
                          <a:latin typeface="+mn-ea"/>
                          <a:ea typeface="+mn-ea"/>
                          <a:cs typeface="宋体" panose="02010600030101010101" pitchFamily="2" charset="-122"/>
                        </a:rPr>
                        <a:t>分布式</a:t>
                      </a: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279335">
                <a:tc>
                  <a:txBody>
                    <a:bodyPr/>
                    <a:lstStyle/>
                    <a:p>
                      <a:pPr indent="0" algn="ctr">
                        <a:buNone/>
                      </a:pPr>
                      <a:r>
                        <a:rPr lang="en-US" altLang="en-US" sz="1400" dirty="0"/>
                        <a:t>[15]</a:t>
                      </a:r>
                    </a:p>
                  </a:txBody>
                  <a:tcPr marL="12700" marR="12700" marT="12700" anchor="ctr"/>
                </a:tc>
                <a:tc>
                  <a:txBody>
                    <a:bodyPr/>
                    <a:lstStyle/>
                    <a:p>
                      <a:pPr algn="ctr"/>
                      <a:r>
                        <a:rPr lang="en-US" altLang="zh-CN" sz="1400" kern="1200" dirty="0">
                          <a:solidFill>
                            <a:schemeClr val="dk1"/>
                          </a:solidFill>
                          <a:latin typeface="+mn-lt"/>
                          <a:ea typeface="+mn-ea"/>
                          <a:cs typeface="+mn-cs"/>
                        </a:rPr>
                        <a:t>2020/SCI3</a:t>
                      </a:r>
                      <a:r>
                        <a:rPr lang="zh-CN" altLang="zh-CN" sz="1400" kern="1200" dirty="0">
                          <a:solidFill>
                            <a:schemeClr val="dk1"/>
                          </a:solidFill>
                          <a:latin typeface="+mn-lt"/>
                          <a:ea typeface="+mn-ea"/>
                          <a:cs typeface="+mn-cs"/>
                        </a:rPr>
                        <a:t>区</a:t>
                      </a:r>
                      <a:endParaRPr lang="en-US" altLang="zh-CN" sz="1400" kern="1200" dirty="0">
                        <a:solidFill>
                          <a:schemeClr val="dk1"/>
                        </a:solidFill>
                        <a:latin typeface="+mn-lt"/>
                        <a:ea typeface="+mn-ea"/>
                        <a:cs typeface="+mn-cs"/>
                      </a:endParaRPr>
                    </a:p>
                  </a:txBody>
                  <a:tcPr marL="68580" marR="68580" marT="0" marB="0" anchor="ctr"/>
                </a:tc>
                <a:tc>
                  <a:txBody>
                    <a:bodyPr/>
                    <a:lstStyle/>
                    <a:p>
                      <a:pPr indent="0" algn="ctr">
                        <a:buNone/>
                      </a:pPr>
                      <a:r>
                        <a:rPr lang="zh-CN" altLang="en-US" sz="1400" dirty="0">
                          <a:latin typeface="+mn-ea"/>
                          <a:ea typeface="+mn-ea"/>
                        </a:rPr>
                        <a:t>新订单到来</a:t>
                      </a:r>
                    </a:p>
                  </a:txBody>
                  <a:tcPr marL="12700" marR="12700" marT="12700" anchor="ctr"/>
                </a:tc>
                <a:tc>
                  <a:txBody>
                    <a:bodyPr/>
                    <a:lstStyle/>
                    <a:p>
                      <a:pPr algn="ctr"/>
                      <a:r>
                        <a:rPr lang="zh-CN" altLang="en-US" sz="1400" kern="100" dirty="0">
                          <a:effectLst/>
                          <a:latin typeface="+mn-ea"/>
                          <a:ea typeface="+mn-ea"/>
                          <a:cs typeface="宋体" panose="02010600030101010101" pitchFamily="2" charset="-122"/>
                        </a:rPr>
                        <a:t>集中式</a:t>
                      </a: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99330">
                <a:tc>
                  <a:txBody>
                    <a:bodyPr/>
                    <a:lstStyle/>
                    <a:p>
                      <a:pPr indent="0" algn="ctr">
                        <a:buNone/>
                      </a:pPr>
                      <a:r>
                        <a:rPr lang="en-US" altLang="en-US" sz="1400" dirty="0"/>
                        <a:t>[17]</a:t>
                      </a:r>
                    </a:p>
                  </a:txBody>
                  <a:tcPr marL="12700" marR="12700" marT="12700" anchor="ctr"/>
                </a:tc>
                <a:tc>
                  <a:txBody>
                    <a:bodyPr/>
                    <a:lstStyle/>
                    <a:p>
                      <a:pPr algn="ctr"/>
                      <a:r>
                        <a:rPr lang="en-US" sz="1400" kern="1200" dirty="0">
                          <a:solidFill>
                            <a:schemeClr val="dk1"/>
                          </a:solidFill>
                          <a:latin typeface="+mn-lt"/>
                          <a:ea typeface="+mn-ea"/>
                          <a:cs typeface="+mn-cs"/>
                        </a:rPr>
                        <a:t>2020/SCI1</a:t>
                      </a:r>
                      <a:r>
                        <a:rPr lang="zh-CN" altLang="en-US" sz="1400" kern="1200" dirty="0">
                          <a:solidFill>
                            <a:schemeClr val="dk1"/>
                          </a:solidFill>
                          <a:latin typeface="+mn-lt"/>
                          <a:ea typeface="+mn-ea"/>
                          <a:cs typeface="+mn-cs"/>
                        </a:rPr>
                        <a:t>区</a:t>
                      </a:r>
                    </a:p>
                  </a:txBody>
                  <a:tcPr marL="68580" marR="68580" marT="0" marB="0"/>
                </a:tc>
                <a:tc>
                  <a:txBody>
                    <a:bodyPr/>
                    <a:lstStyle/>
                    <a:p>
                      <a:pPr algn="ctr"/>
                      <a:r>
                        <a:rPr lang="zh-CN" altLang="en-US" sz="1400" kern="100" dirty="0">
                          <a:effectLst/>
                          <a:latin typeface="+mn-ea"/>
                          <a:ea typeface="+mn-ea"/>
                          <a:cs typeface="宋体" panose="02010600030101010101" pitchFamily="2" charset="-122"/>
                        </a:rPr>
                        <a:t>机器故障</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indent="0" algn="ctr">
                        <a:buNone/>
                      </a:pPr>
                      <a:r>
                        <a:rPr lang="zh-CN" altLang="en-US" sz="1400" dirty="0"/>
                        <a:t>集中式</a:t>
                      </a:r>
                    </a:p>
                  </a:txBody>
                  <a:tcPr marL="12700" marR="12700" marT="12700" anchor="ctr"/>
                </a:tc>
                <a:extLst>
                  <a:ext uri="{0D108BD9-81ED-4DB2-BD59-A6C34878D82A}">
                    <a16:rowId xmlns:a16="http://schemas.microsoft.com/office/drawing/2014/main" val="2187539811"/>
                  </a:ext>
                </a:extLst>
              </a:tr>
              <a:tr h="399330">
                <a:tc>
                  <a:txBody>
                    <a:bodyPr/>
                    <a:lstStyle/>
                    <a:p>
                      <a:pPr indent="0" algn="ctr">
                        <a:buNone/>
                      </a:pPr>
                      <a:r>
                        <a:rPr lang="en-US" altLang="en-US" sz="1400" dirty="0"/>
                        <a:t>[18]</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latin typeface="+mn-lt"/>
                          <a:ea typeface="+mn-ea"/>
                          <a:cs typeface="+mn-cs"/>
                        </a:rPr>
                        <a:t>2023/SCI1</a:t>
                      </a:r>
                      <a:r>
                        <a:rPr lang="zh-CN" altLang="en-US" sz="1400" kern="1200" dirty="0">
                          <a:solidFill>
                            <a:schemeClr val="dk1"/>
                          </a:solidFill>
                          <a:latin typeface="+mn-lt"/>
                          <a:ea typeface="+mn-ea"/>
                          <a:cs typeface="+mn-cs"/>
                        </a:rPr>
                        <a:t>区</a:t>
                      </a:r>
                    </a:p>
                  </a:txBody>
                  <a:tcPr marL="68580" marR="68580" marT="0" marB="0"/>
                </a:tc>
                <a:tc>
                  <a:txBody>
                    <a:bodyPr/>
                    <a:lstStyle/>
                    <a:p>
                      <a:pPr algn="ctr"/>
                      <a:r>
                        <a:rPr lang="zh-CN" altLang="en-US" sz="1400" kern="100" dirty="0">
                          <a:effectLst/>
                          <a:latin typeface="+mn-ea"/>
                          <a:ea typeface="+mn-ea"/>
                          <a:cs typeface="宋体" panose="02010600030101010101" pitchFamily="2" charset="-122"/>
                        </a:rPr>
                        <a:t>紧急订单插入</a:t>
                      </a:r>
                      <a:endParaRPr lang="zh-CN" altLang="zh-CN" sz="1400" kern="100" dirty="0">
                        <a:effectLst/>
                        <a:latin typeface="+mn-ea"/>
                        <a:ea typeface="+mn-ea"/>
                        <a:cs typeface="宋体" panose="02010600030101010101" pitchFamily="2" charset="-122"/>
                      </a:endParaRPr>
                    </a:p>
                  </a:txBody>
                  <a:tcPr marL="68580" marR="68580" marT="0" marB="0" anchor="ctr"/>
                </a:tc>
                <a:tc>
                  <a:txBody>
                    <a:bodyPr/>
                    <a:lstStyle/>
                    <a:p>
                      <a:pPr indent="0" algn="ctr">
                        <a:buNone/>
                      </a:pPr>
                      <a:r>
                        <a:rPr lang="zh-CN" altLang="en-US" sz="1400" dirty="0"/>
                        <a:t>集中式</a:t>
                      </a:r>
                    </a:p>
                  </a:txBody>
                  <a:tcPr marL="12700" marR="12700" marT="12700" anchor="ctr"/>
                </a:tc>
                <a:extLst>
                  <a:ext uri="{0D108BD9-81ED-4DB2-BD59-A6C34878D82A}">
                    <a16:rowId xmlns:a16="http://schemas.microsoft.com/office/drawing/2014/main" val="463453550"/>
                  </a:ext>
                </a:extLst>
              </a:tr>
              <a:tr h="419404">
                <a:tc>
                  <a:txBody>
                    <a:bodyPr/>
                    <a:lstStyle/>
                    <a:p>
                      <a:pPr indent="0" algn="ctr">
                        <a:buNone/>
                      </a:pPr>
                      <a:r>
                        <a:rPr lang="en-US" altLang="en-US" sz="1400" dirty="0"/>
                        <a:t>[10]</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2024/SCI2</a:t>
                      </a:r>
                      <a:r>
                        <a:rPr lang="zh-CN" altLang="en-US" sz="1400" kern="1200" dirty="0">
                          <a:solidFill>
                            <a:schemeClr val="dk1"/>
                          </a:solidFill>
                          <a:latin typeface="+mn-lt"/>
                          <a:ea typeface="+mn-ea"/>
                          <a:cs typeface="+mn-cs"/>
                        </a:rPr>
                        <a:t>区</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 </a:t>
                      </a:r>
                      <a:endParaRPr lang="zh-CN" altLang="en-US" sz="1400" kern="1200" dirty="0">
                        <a:solidFill>
                          <a:schemeClr val="dk1"/>
                        </a:solidFill>
                        <a:latin typeface="+mn-lt"/>
                        <a:ea typeface="+mn-ea"/>
                        <a:cs typeface="+mn-cs"/>
                      </a:endParaRP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机器故障</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indent="0" algn="ctr">
                        <a:buNone/>
                      </a:pPr>
                      <a:r>
                        <a:rPr lang="zh-CN" altLang="en-US" sz="1400" dirty="0"/>
                        <a:t>集中式</a:t>
                      </a:r>
                    </a:p>
                  </a:txBody>
                  <a:tcPr marL="12700" marR="12700" marT="12700" anchor="ctr"/>
                </a:tc>
                <a:extLst>
                  <a:ext uri="{0D108BD9-81ED-4DB2-BD59-A6C34878D82A}">
                    <a16:rowId xmlns:a16="http://schemas.microsoft.com/office/drawing/2014/main" val="3751412879"/>
                  </a:ext>
                </a:extLst>
              </a:tr>
              <a:tr h="414450">
                <a:tc>
                  <a:txBody>
                    <a:bodyPr/>
                    <a:lstStyle/>
                    <a:p>
                      <a:pPr indent="0" algn="ctr">
                        <a:buNone/>
                      </a:pPr>
                      <a:r>
                        <a:rPr lang="en-US" altLang="en-US" sz="1400" dirty="0"/>
                        <a:t>[9]</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2023/SCI3</a:t>
                      </a:r>
                      <a:r>
                        <a:rPr lang="zh-CN" altLang="en-US" sz="1400" kern="1200" dirty="0">
                          <a:solidFill>
                            <a:schemeClr val="dk1"/>
                          </a:solidFill>
                          <a:latin typeface="+mn-lt"/>
                          <a:ea typeface="+mn-ea"/>
                          <a:cs typeface="+mn-cs"/>
                        </a:rPr>
                        <a:t>区</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mn-ea"/>
                          <a:ea typeface="+mn-ea"/>
                          <a:cs typeface="+mn-cs"/>
                        </a:rPr>
                        <a:t>订单更改</a:t>
                      </a:r>
                    </a:p>
                  </a:txBody>
                  <a:tcPr marL="68580" marR="68580" marT="0" marB="0" anchor="ctr"/>
                </a:tc>
                <a:tc>
                  <a:txBody>
                    <a:bodyPr/>
                    <a:lstStyle/>
                    <a:p>
                      <a:pPr indent="0" algn="ctr">
                        <a:buNone/>
                      </a:pPr>
                      <a:r>
                        <a:rPr lang="zh-CN" altLang="en-US" sz="1400" dirty="0"/>
                        <a:t>分布式</a:t>
                      </a:r>
                    </a:p>
                  </a:txBody>
                  <a:tcPr marL="12700" marR="12700" marT="12700" anchor="ctr"/>
                </a:tc>
                <a:extLst>
                  <a:ext uri="{0D108BD9-81ED-4DB2-BD59-A6C34878D82A}">
                    <a16:rowId xmlns:a16="http://schemas.microsoft.com/office/drawing/2014/main" val="2326323028"/>
                  </a:ext>
                </a:extLst>
              </a:tr>
              <a:tr h="399330">
                <a:tc>
                  <a:txBody>
                    <a:bodyPr/>
                    <a:lstStyle/>
                    <a:p>
                      <a:pPr indent="0" algn="ctr">
                        <a:buNone/>
                      </a:pPr>
                      <a:r>
                        <a:rPr lang="en-US" altLang="en-US" sz="1400" dirty="0"/>
                        <a:t>[12]</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2023/ SCI2</a:t>
                      </a:r>
                      <a:r>
                        <a:rPr lang="zh-CN" altLang="en-US" sz="1400" kern="1200" dirty="0">
                          <a:solidFill>
                            <a:schemeClr val="dk1"/>
                          </a:solidFill>
                          <a:latin typeface="+mn-lt"/>
                          <a:ea typeface="+mn-ea"/>
                          <a:cs typeface="+mn-cs"/>
                        </a:rPr>
                        <a:t>区 </a:t>
                      </a: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可变操作时间</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indent="0" algn="ctr">
                        <a:buNone/>
                      </a:pPr>
                      <a:r>
                        <a:rPr lang="zh-CN" altLang="en-US" sz="1400" dirty="0"/>
                        <a:t>集中式</a:t>
                      </a:r>
                    </a:p>
                  </a:txBody>
                  <a:tcPr marL="12700" marR="12700" marT="12700" anchor="ctr"/>
                </a:tc>
                <a:extLst>
                  <a:ext uri="{0D108BD9-81ED-4DB2-BD59-A6C34878D82A}">
                    <a16:rowId xmlns:a16="http://schemas.microsoft.com/office/drawing/2014/main" val="1430088881"/>
                  </a:ext>
                </a:extLst>
              </a:tr>
              <a:tr h="419404">
                <a:tc>
                  <a:txBody>
                    <a:bodyPr/>
                    <a:lstStyle/>
                    <a:p>
                      <a:pPr indent="0" algn="ctr">
                        <a:buNone/>
                      </a:pPr>
                      <a:r>
                        <a:rPr lang="en-US" altLang="en-US" sz="1400" dirty="0"/>
                        <a:t>[16]</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2023/ SCI1</a:t>
                      </a:r>
                      <a:r>
                        <a:rPr lang="zh-CN" altLang="en-US" sz="1400" kern="1200" dirty="0">
                          <a:solidFill>
                            <a:schemeClr val="dk1"/>
                          </a:solidFill>
                          <a:latin typeface="+mn-lt"/>
                          <a:ea typeface="+mn-ea"/>
                          <a:cs typeface="+mn-cs"/>
                        </a:rPr>
                        <a:t>区</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00" dirty="0">
                          <a:effectLst/>
                          <a:latin typeface="+mn-ea"/>
                          <a:ea typeface="+mn-ea"/>
                          <a:cs typeface="宋体" panose="02010600030101010101" pitchFamily="2" charset="-122"/>
                        </a:rPr>
                        <a:t>可变操作时间，机器故障</a:t>
                      </a:r>
                      <a:endParaRPr lang="zh-CN" altLang="zh-CN" sz="1400" kern="100" dirty="0">
                        <a:effectLst/>
                        <a:latin typeface="+mn-ea"/>
                        <a:ea typeface="+mn-ea"/>
                        <a:cs typeface="宋体" panose="02010600030101010101" pitchFamily="2" charset="-122"/>
                      </a:endParaRPr>
                    </a:p>
                  </a:txBody>
                  <a:tcPr marL="68580" marR="68580" marT="0" marB="0" anchor="ctr"/>
                </a:tc>
                <a:tc>
                  <a:txBody>
                    <a:bodyPr/>
                    <a:lstStyle/>
                    <a:p>
                      <a:pPr indent="0" algn="ctr">
                        <a:buNone/>
                      </a:pPr>
                      <a:r>
                        <a:rPr lang="zh-CN" altLang="en-US" sz="1400" dirty="0"/>
                        <a:t>分布式</a:t>
                      </a:r>
                    </a:p>
                  </a:txBody>
                  <a:tcPr marL="12700" marR="12700" marT="12700" anchor="ctr"/>
                </a:tc>
                <a:extLst>
                  <a:ext uri="{0D108BD9-81ED-4DB2-BD59-A6C34878D82A}">
                    <a16:rowId xmlns:a16="http://schemas.microsoft.com/office/drawing/2014/main" val="2855287495"/>
                  </a:ext>
                </a:extLst>
              </a:tr>
            </a:tbl>
          </a:graphicData>
        </a:graphic>
      </p:graphicFrame>
      <p:sp>
        <p:nvSpPr>
          <p:cNvPr id="6" name="文本框 5">
            <a:extLst>
              <a:ext uri="{FF2B5EF4-FFF2-40B4-BE49-F238E27FC236}">
                <a16:creationId xmlns:a16="http://schemas.microsoft.com/office/drawing/2014/main" id="{32FC23F2-B7AB-10A5-A9D4-F4B5351042B9}"/>
              </a:ext>
            </a:extLst>
          </p:cNvPr>
          <p:cNvSpPr txBox="1"/>
          <p:nvPr/>
        </p:nvSpPr>
        <p:spPr>
          <a:xfrm>
            <a:off x="1745167" y="890643"/>
            <a:ext cx="2781531" cy="369332"/>
          </a:xfrm>
          <a:prstGeom prst="rect">
            <a:avLst/>
          </a:prstGeom>
          <a:noFill/>
        </p:spPr>
        <p:txBody>
          <a:bodyPr wrap="none" rtlCol="0">
            <a:spAutoFit/>
          </a:bodyPr>
          <a:lstStyle/>
          <a:p>
            <a:pPr marL="285750" indent="-285750">
              <a:buFont typeface="Wingdings" panose="05000000000000000000" pitchFamily="2" charset="2"/>
              <a:buChar char="p"/>
            </a:pPr>
            <a:r>
              <a:rPr lang="zh-CN" altLang="en-US" dirty="0"/>
              <a:t>不可预测类型动态事件</a:t>
            </a:r>
          </a:p>
        </p:txBody>
      </p:sp>
      <p:sp>
        <p:nvSpPr>
          <p:cNvPr id="7" name="文本框 6">
            <a:extLst>
              <a:ext uri="{FF2B5EF4-FFF2-40B4-BE49-F238E27FC236}">
                <a16:creationId xmlns:a16="http://schemas.microsoft.com/office/drawing/2014/main" id="{4C719526-DB90-85BF-C904-CB170EBD391C}"/>
              </a:ext>
            </a:extLst>
          </p:cNvPr>
          <p:cNvSpPr txBox="1"/>
          <p:nvPr/>
        </p:nvSpPr>
        <p:spPr>
          <a:xfrm>
            <a:off x="7489845" y="816546"/>
            <a:ext cx="2550698" cy="369332"/>
          </a:xfrm>
          <a:prstGeom prst="rect">
            <a:avLst/>
          </a:prstGeom>
          <a:noFill/>
        </p:spPr>
        <p:txBody>
          <a:bodyPr wrap="none" rtlCol="0">
            <a:spAutoFit/>
          </a:bodyPr>
          <a:lstStyle/>
          <a:p>
            <a:pPr marL="285750" indent="-285750">
              <a:buFont typeface="Wingdings" panose="05000000000000000000" pitchFamily="2" charset="2"/>
              <a:buChar char="p"/>
            </a:pPr>
            <a:r>
              <a:rPr lang="zh-CN" altLang="en-US" dirty="0"/>
              <a:t>可预测类型动态事件</a:t>
            </a:r>
          </a:p>
        </p:txBody>
      </p:sp>
      <p:graphicFrame>
        <p:nvGraphicFramePr>
          <p:cNvPr id="10" name="表格 9">
            <a:extLst>
              <a:ext uri="{FF2B5EF4-FFF2-40B4-BE49-F238E27FC236}">
                <a16:creationId xmlns:a16="http://schemas.microsoft.com/office/drawing/2014/main" id="{0B082FBD-34B8-826E-A233-71A3FC2494BE}"/>
              </a:ext>
            </a:extLst>
          </p:cNvPr>
          <p:cNvGraphicFramePr/>
          <p:nvPr>
            <p:custDataLst>
              <p:tags r:id="rId2"/>
            </p:custDataLst>
            <p:extLst>
              <p:ext uri="{D42A27DB-BD31-4B8C-83A1-F6EECF244321}">
                <p14:modId xmlns:p14="http://schemas.microsoft.com/office/powerpoint/2010/main" val="476436868"/>
              </p:ext>
            </p:extLst>
          </p:nvPr>
        </p:nvGraphicFramePr>
        <p:xfrm>
          <a:off x="6553685" y="1320551"/>
          <a:ext cx="5186281" cy="3658291"/>
        </p:xfrm>
        <a:graphic>
          <a:graphicData uri="http://schemas.openxmlformats.org/drawingml/2006/table">
            <a:tbl>
              <a:tblPr>
                <a:tableStyleId>{6E25E649-3F16-4E02-A733-19D2CDBF48F0}</a:tableStyleId>
              </a:tblPr>
              <a:tblGrid>
                <a:gridCol w="509288">
                  <a:extLst>
                    <a:ext uri="{9D8B030D-6E8A-4147-A177-3AD203B41FA5}">
                      <a16:colId xmlns:a16="http://schemas.microsoft.com/office/drawing/2014/main" val="20000"/>
                    </a:ext>
                  </a:extLst>
                </a:gridCol>
                <a:gridCol w="1226917">
                  <a:extLst>
                    <a:ext uri="{9D8B030D-6E8A-4147-A177-3AD203B41FA5}">
                      <a16:colId xmlns:a16="http://schemas.microsoft.com/office/drawing/2014/main" val="20001"/>
                    </a:ext>
                  </a:extLst>
                </a:gridCol>
                <a:gridCol w="1723324">
                  <a:extLst>
                    <a:ext uri="{9D8B030D-6E8A-4147-A177-3AD203B41FA5}">
                      <a16:colId xmlns:a16="http://schemas.microsoft.com/office/drawing/2014/main" val="3731634418"/>
                    </a:ext>
                  </a:extLst>
                </a:gridCol>
                <a:gridCol w="1726752">
                  <a:extLst>
                    <a:ext uri="{9D8B030D-6E8A-4147-A177-3AD203B41FA5}">
                      <a16:colId xmlns:a16="http://schemas.microsoft.com/office/drawing/2014/main" val="137563020"/>
                    </a:ext>
                  </a:extLst>
                </a:gridCol>
              </a:tblGrid>
              <a:tr h="514393">
                <a:tc>
                  <a:txBody>
                    <a:bodyPr/>
                    <a:lstStyle/>
                    <a:p>
                      <a:pPr indent="0" algn="ctr">
                        <a:buNone/>
                      </a:pPr>
                      <a:r>
                        <a:rPr lang="zh-CN" altLang="en-US" sz="1400" dirty="0"/>
                        <a:t>文献</a:t>
                      </a:r>
                    </a:p>
                  </a:txBody>
                  <a:tcPr marL="12700" marR="12700" marT="12700" anchor="ctr"/>
                </a:tc>
                <a:tc>
                  <a:txBody>
                    <a:bodyPr/>
                    <a:lstStyle/>
                    <a:p>
                      <a:pPr indent="0" algn="ctr">
                        <a:buNone/>
                      </a:pPr>
                      <a:r>
                        <a:rPr lang="zh-CN" altLang="en-US" sz="1400" dirty="0"/>
                        <a:t>年份</a:t>
                      </a:r>
                      <a:r>
                        <a:rPr lang="en-US" altLang="zh-CN" sz="1400" dirty="0"/>
                        <a:t>/</a:t>
                      </a:r>
                      <a:r>
                        <a:rPr lang="zh-CN" altLang="en-US" sz="1400" dirty="0"/>
                        <a:t>期刊</a:t>
                      </a:r>
                    </a:p>
                  </a:txBody>
                  <a:tcPr marL="12700" marR="12700" marT="12700" anchor="ctr"/>
                </a:tc>
                <a:tc>
                  <a:txBody>
                    <a:bodyPr/>
                    <a:lstStyle/>
                    <a:p>
                      <a:pPr indent="0" algn="ctr">
                        <a:buNone/>
                      </a:pPr>
                      <a:r>
                        <a:rPr lang="zh-CN" altLang="en-US" sz="1400" dirty="0"/>
                        <a:t>决策粒度</a:t>
                      </a:r>
                    </a:p>
                  </a:txBody>
                  <a:tcPr marL="12700" marR="12700" marT="12700" anchor="ctr"/>
                </a:tc>
                <a:tc>
                  <a:txBody>
                    <a:bodyPr/>
                    <a:lstStyle/>
                    <a:p>
                      <a:pPr indent="0" algn="ctr">
                        <a:buNone/>
                      </a:pPr>
                      <a:r>
                        <a:rPr lang="zh-CN" altLang="en-US" sz="1400" dirty="0"/>
                        <a:t>优化目标</a:t>
                      </a:r>
                    </a:p>
                  </a:txBody>
                  <a:tcPr marL="12700" marR="12700" marT="12700" anchor="ctr"/>
                </a:tc>
                <a:extLst>
                  <a:ext uri="{0D108BD9-81ED-4DB2-BD59-A6C34878D82A}">
                    <a16:rowId xmlns:a16="http://schemas.microsoft.com/office/drawing/2014/main" val="10000"/>
                  </a:ext>
                </a:extLst>
              </a:tr>
              <a:tr h="451768">
                <a:tc>
                  <a:txBody>
                    <a:bodyPr/>
                    <a:lstStyle/>
                    <a:p>
                      <a:pPr indent="0" algn="ctr">
                        <a:buNone/>
                      </a:pPr>
                      <a:r>
                        <a:rPr lang="en-US" altLang="en-US" sz="1400" dirty="0"/>
                        <a:t>[19]</a:t>
                      </a:r>
                    </a:p>
                  </a:txBody>
                  <a:tcPr marL="12700" marR="12700" marT="12700" anchor="ctr"/>
                </a:tc>
                <a:tc>
                  <a:txBody>
                    <a:bodyPr/>
                    <a:lstStyle/>
                    <a:p>
                      <a:pPr algn="ctr"/>
                      <a:r>
                        <a:rPr lang="en-US" sz="1400" kern="1200" dirty="0">
                          <a:solidFill>
                            <a:schemeClr val="dk1"/>
                          </a:solidFill>
                          <a:latin typeface="+mn-lt"/>
                          <a:ea typeface="+mn-ea"/>
                          <a:cs typeface="+mn-cs"/>
                        </a:rPr>
                        <a:t>2022/SCI3</a:t>
                      </a:r>
                      <a:r>
                        <a:rPr lang="zh-CN" altLang="en-US" sz="1400" kern="1200" dirty="0">
                          <a:solidFill>
                            <a:schemeClr val="dk1"/>
                          </a:solidFill>
                          <a:latin typeface="+mn-lt"/>
                          <a:ea typeface="+mn-ea"/>
                          <a:cs typeface="+mn-cs"/>
                        </a:rPr>
                        <a:t>区</a:t>
                      </a:r>
                    </a:p>
                  </a:txBody>
                  <a:tcPr marL="68580" marR="68580" marT="0" marB="0" anchor="ctr"/>
                </a:tc>
                <a:tc>
                  <a:txBody>
                    <a:bodyPr/>
                    <a:lstStyle/>
                    <a:p>
                      <a:pPr algn="ctr"/>
                      <a:r>
                        <a:rPr lang="zh-CN" altLang="en-US" sz="1400" kern="100" dirty="0">
                          <a:effectLst/>
                          <a:latin typeface="+mn-ea"/>
                          <a:ea typeface="+mn-ea"/>
                          <a:cs typeface="Times New Roman" panose="02020603050405020304" pitchFamily="18" charset="0"/>
                        </a:rPr>
                        <a:t>集中式</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长期设备健康</a:t>
                      </a:r>
                    </a:p>
                    <a:p>
                      <a:pPr algn="ct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682675">
                <a:tc>
                  <a:txBody>
                    <a:bodyPr/>
                    <a:lstStyle/>
                    <a:p>
                      <a:pPr indent="0" algn="ctr">
                        <a:buNone/>
                      </a:pPr>
                      <a:r>
                        <a:rPr lang="en-US" altLang="en-US" sz="1400" dirty="0"/>
                        <a:t>[20]</a:t>
                      </a:r>
                    </a:p>
                  </a:txBody>
                  <a:tcPr marL="12700" marR="12700" marT="12700" anchor="ctr"/>
                </a:tc>
                <a:tc>
                  <a:txBody>
                    <a:bodyPr/>
                    <a:lstStyle/>
                    <a:p>
                      <a:pPr algn="ctr"/>
                      <a:r>
                        <a:rPr lang="en-US" sz="1400" kern="1200" dirty="0">
                          <a:solidFill>
                            <a:schemeClr val="dk1"/>
                          </a:solidFill>
                          <a:latin typeface="+mn-lt"/>
                          <a:ea typeface="+mn-ea"/>
                          <a:cs typeface="+mn-cs"/>
                        </a:rPr>
                        <a:t>2024/SCI3</a:t>
                      </a:r>
                      <a:r>
                        <a:rPr lang="zh-CN" altLang="en-US" sz="1400" kern="1200" dirty="0">
                          <a:solidFill>
                            <a:schemeClr val="dk1"/>
                          </a:solidFill>
                          <a:latin typeface="+mn-lt"/>
                          <a:ea typeface="+mn-ea"/>
                          <a:cs typeface="+mn-cs"/>
                        </a:rPr>
                        <a:t>区</a:t>
                      </a: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集中式</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短期生产效率和长期设备健康</a:t>
                      </a:r>
                    </a:p>
                    <a:p>
                      <a:pPr algn="ct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451768">
                <a:tc>
                  <a:txBody>
                    <a:bodyPr/>
                    <a:lstStyle/>
                    <a:p>
                      <a:pPr indent="0" algn="ctr">
                        <a:buNone/>
                      </a:pPr>
                      <a:r>
                        <a:rPr lang="en-US" altLang="en-US" sz="1400" dirty="0"/>
                        <a:t>[22]</a:t>
                      </a:r>
                    </a:p>
                  </a:txBody>
                  <a:tcPr marL="12700" marR="12700" marT="12700" anchor="ctr"/>
                </a:tc>
                <a:tc>
                  <a:txBody>
                    <a:bodyPr/>
                    <a:lstStyle/>
                    <a:p>
                      <a:pPr algn="ctr"/>
                      <a:r>
                        <a:rPr lang="en-US" altLang="zh-CN" sz="1400" kern="1200" dirty="0">
                          <a:solidFill>
                            <a:schemeClr val="dk1"/>
                          </a:solidFill>
                          <a:latin typeface="+mn-lt"/>
                          <a:ea typeface="+mn-ea"/>
                          <a:cs typeface="+mn-cs"/>
                        </a:rPr>
                        <a:t>2023/SCI1</a:t>
                      </a:r>
                      <a:r>
                        <a:rPr lang="zh-CN" altLang="zh-CN" sz="1400" kern="1200" dirty="0">
                          <a:solidFill>
                            <a:schemeClr val="dk1"/>
                          </a:solidFill>
                          <a:latin typeface="+mn-lt"/>
                          <a:ea typeface="+mn-ea"/>
                          <a:cs typeface="+mn-cs"/>
                        </a:rPr>
                        <a:t>区</a:t>
                      </a:r>
                      <a:endParaRPr lang="en-US" altLang="zh-CN" sz="1400" kern="1200" dirty="0">
                        <a:solidFill>
                          <a:schemeClr val="dk1"/>
                        </a:solidFill>
                        <a:latin typeface="+mn-lt"/>
                        <a:ea typeface="+mn-ea"/>
                        <a:cs typeface="+mn-cs"/>
                      </a:endParaRPr>
                    </a:p>
                  </a:txBody>
                  <a:tcPr marL="68580" marR="68580" marT="0" marB="0" anchor="ctr"/>
                </a:tc>
                <a:tc>
                  <a:txBody>
                    <a:bodyPr/>
                    <a:lstStyle/>
                    <a:p>
                      <a:pPr algn="ctr"/>
                      <a:r>
                        <a:rPr lang="zh-CN" altLang="en-US" sz="1400" kern="100" dirty="0">
                          <a:effectLst/>
                          <a:latin typeface="+mn-ea"/>
                          <a:ea typeface="+mn-ea"/>
                          <a:cs typeface="宋体" panose="02010600030101010101" pitchFamily="2" charset="-122"/>
                        </a:rPr>
                        <a:t>集中式</a:t>
                      </a:r>
                      <a:endParaRPr lang="zh-CN" sz="1400" kern="100" dirty="0">
                        <a:effectLst/>
                        <a:latin typeface="+mn-ea"/>
                        <a:ea typeface="+mn-ea"/>
                        <a:cs typeface="宋体" panose="02010600030101010101" pitchFamily="2" charset="-122"/>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长期设备健康</a:t>
                      </a:r>
                    </a:p>
                    <a:p>
                      <a:pPr algn="ctr"/>
                      <a:endParaRPr lang="zh-CN" sz="1400" kern="100" dirty="0">
                        <a:effectLst/>
                        <a:latin typeface="+mn-ea"/>
                        <a:ea typeface="+mn-ea"/>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480819">
                <a:tc>
                  <a:txBody>
                    <a:bodyPr/>
                    <a:lstStyle/>
                    <a:p>
                      <a:pPr indent="0" algn="ctr">
                        <a:buNone/>
                      </a:pPr>
                      <a:r>
                        <a:rPr lang="en-US" altLang="en-US" sz="1400" dirty="0"/>
                        <a:t>[14]</a:t>
                      </a:r>
                    </a:p>
                  </a:txBody>
                  <a:tcPr marL="12700" marR="12700" marT="12700" anchor="ctr"/>
                </a:tc>
                <a:tc>
                  <a:txBody>
                    <a:bodyPr/>
                    <a:lstStyle/>
                    <a:p>
                      <a:pPr algn="ctr"/>
                      <a:r>
                        <a:rPr lang="en-US" sz="1400" kern="1200" dirty="0">
                          <a:solidFill>
                            <a:schemeClr val="dk1"/>
                          </a:solidFill>
                          <a:latin typeface="+mn-lt"/>
                          <a:ea typeface="+mn-ea"/>
                          <a:cs typeface="+mn-cs"/>
                        </a:rPr>
                        <a:t>2024/SCI3</a:t>
                      </a:r>
                      <a:r>
                        <a:rPr lang="zh-CN" altLang="en-US" sz="1400" kern="1200" dirty="0">
                          <a:solidFill>
                            <a:schemeClr val="dk1"/>
                          </a:solidFill>
                          <a:latin typeface="+mn-lt"/>
                          <a:ea typeface="+mn-ea"/>
                          <a:cs typeface="+mn-cs"/>
                        </a:rPr>
                        <a:t>区</a:t>
                      </a:r>
                    </a:p>
                  </a:txBody>
                  <a:tcPr marL="68580" marR="68580" marT="0" marB="0"/>
                </a:tc>
                <a:tc>
                  <a:txBody>
                    <a:bodyPr/>
                    <a:lstStyle/>
                    <a:p>
                      <a:pPr indent="0" algn="ctr">
                        <a:buNone/>
                      </a:pPr>
                      <a:r>
                        <a:rPr lang="zh-CN" altLang="en-US" sz="1400" dirty="0"/>
                        <a:t>集中式</a:t>
                      </a:r>
                    </a:p>
                  </a:txBody>
                  <a:tcPr marL="12700" marR="12700" marT="12700" anchor="ctr"/>
                </a:tc>
                <a:tc>
                  <a:txBody>
                    <a:bodyPr/>
                    <a:lstStyle/>
                    <a:p>
                      <a:pPr indent="0" algn="ctr">
                        <a:buNone/>
                      </a:pPr>
                      <a:r>
                        <a:rPr lang="zh-CN" altLang="en-US" sz="1400" dirty="0"/>
                        <a:t>长期设备健康</a:t>
                      </a:r>
                    </a:p>
                  </a:txBody>
                  <a:tcPr marL="12700" marR="12700" marT="12700" anchor="ctr"/>
                </a:tc>
                <a:extLst>
                  <a:ext uri="{0D108BD9-81ED-4DB2-BD59-A6C34878D82A}">
                    <a16:rowId xmlns:a16="http://schemas.microsoft.com/office/drawing/2014/main" val="2187539811"/>
                  </a:ext>
                </a:extLst>
              </a:tr>
              <a:tr h="480819">
                <a:tc>
                  <a:txBody>
                    <a:bodyPr/>
                    <a:lstStyle/>
                    <a:p>
                      <a:pPr indent="0" algn="ctr">
                        <a:buNone/>
                      </a:pPr>
                      <a:r>
                        <a:rPr lang="en-US" altLang="en-US" sz="1400" dirty="0"/>
                        <a:t>[21]</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latin typeface="+mn-lt"/>
                          <a:ea typeface="+mn-ea"/>
                          <a:cs typeface="+mn-cs"/>
                        </a:rPr>
                        <a:t>2022/SCI2</a:t>
                      </a:r>
                      <a:r>
                        <a:rPr lang="zh-CN" altLang="en-US" sz="1400" kern="1200" dirty="0">
                          <a:solidFill>
                            <a:schemeClr val="dk1"/>
                          </a:solidFill>
                          <a:latin typeface="+mn-lt"/>
                          <a:ea typeface="+mn-ea"/>
                          <a:cs typeface="+mn-cs"/>
                        </a:rPr>
                        <a:t>区</a:t>
                      </a:r>
                    </a:p>
                  </a:txBody>
                  <a:tcPr marL="68580" marR="68580" marT="0" marB="0"/>
                </a:tc>
                <a:tc>
                  <a:txBody>
                    <a:bodyPr/>
                    <a:lstStyle/>
                    <a:p>
                      <a:pPr indent="0" algn="ctr">
                        <a:buNone/>
                      </a:pPr>
                      <a:r>
                        <a:rPr lang="zh-CN" altLang="en-US" sz="1400" dirty="0"/>
                        <a:t>集中式</a:t>
                      </a:r>
                    </a:p>
                  </a:txBody>
                  <a:tcPr marL="12700" marR="12700" marT="12700" anchor="ctr"/>
                </a:tc>
                <a:tc>
                  <a:txBody>
                    <a:bodyPr/>
                    <a:lstStyle/>
                    <a:p>
                      <a:pPr indent="0" algn="ctr">
                        <a:buNone/>
                      </a:pPr>
                      <a:r>
                        <a:rPr lang="zh-CN" altLang="en-US" sz="1400" dirty="0"/>
                        <a:t>长期设备健康</a:t>
                      </a:r>
                    </a:p>
                  </a:txBody>
                  <a:tcPr marL="12700" marR="12700" marT="12700" anchor="ctr"/>
                </a:tc>
                <a:extLst>
                  <a:ext uri="{0D108BD9-81ED-4DB2-BD59-A6C34878D82A}">
                    <a16:rowId xmlns:a16="http://schemas.microsoft.com/office/drawing/2014/main" val="463453550"/>
                  </a:ext>
                </a:extLst>
              </a:tr>
              <a:tr h="596049">
                <a:tc>
                  <a:txBody>
                    <a:bodyPr/>
                    <a:lstStyle/>
                    <a:p>
                      <a:pPr indent="0" algn="ctr">
                        <a:buNone/>
                      </a:pPr>
                      <a:r>
                        <a:rPr lang="en-US" altLang="en-US" sz="1400" dirty="0"/>
                        <a:t>[23]</a:t>
                      </a:r>
                    </a:p>
                  </a:txBody>
                  <a:tcPr marL="12700" marR="12700" marT="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2023/SCI2</a:t>
                      </a:r>
                      <a:r>
                        <a:rPr lang="zh-CN" altLang="en-US" sz="1400" kern="1200" dirty="0">
                          <a:solidFill>
                            <a:schemeClr val="dk1"/>
                          </a:solidFill>
                          <a:latin typeface="+mn-lt"/>
                          <a:ea typeface="+mn-ea"/>
                          <a:cs typeface="+mn-cs"/>
                        </a:rPr>
                        <a:t>区</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 </a:t>
                      </a:r>
                      <a:endParaRPr lang="zh-CN" altLang="en-US" sz="1400" kern="1200" dirty="0">
                        <a:solidFill>
                          <a:schemeClr val="dk1"/>
                        </a:solidFill>
                        <a:latin typeface="+mn-lt"/>
                        <a:ea typeface="+mn-ea"/>
                        <a:cs typeface="+mn-cs"/>
                      </a:endParaRPr>
                    </a:p>
                  </a:txBody>
                  <a:tcPr marL="68580" marR="68580" marT="0" marB="0" anchor="ctr"/>
                </a:tc>
                <a:tc>
                  <a:txBody>
                    <a:bodyPr/>
                    <a:lstStyle/>
                    <a:p>
                      <a:pPr indent="0" algn="ctr">
                        <a:buNone/>
                      </a:pPr>
                      <a:r>
                        <a:rPr lang="zh-CN" altLang="en-US" sz="1400" dirty="0"/>
                        <a:t>集中式</a:t>
                      </a:r>
                    </a:p>
                  </a:txBody>
                  <a:tcPr marL="12700" marR="12700" marT="12700" anchor="ctr"/>
                </a:tc>
                <a:tc>
                  <a:txBody>
                    <a:bodyPr/>
                    <a:lstStyle/>
                    <a:p>
                      <a:pPr indent="0" algn="ctr">
                        <a:buNone/>
                      </a:pPr>
                      <a:r>
                        <a:rPr lang="zh-CN" altLang="en-US" sz="1400" dirty="0"/>
                        <a:t>短期生产效率和长期设备健康</a:t>
                      </a:r>
                    </a:p>
                  </a:txBody>
                  <a:tcPr marL="12700" marR="12700" marT="12700" anchor="ctr"/>
                </a:tc>
                <a:extLst>
                  <a:ext uri="{0D108BD9-81ED-4DB2-BD59-A6C34878D82A}">
                    <a16:rowId xmlns:a16="http://schemas.microsoft.com/office/drawing/2014/main" val="3751412879"/>
                  </a:ext>
                </a:extLst>
              </a:tr>
            </a:tbl>
          </a:graphicData>
        </a:graphic>
      </p:graphicFrame>
      <p:sp>
        <p:nvSpPr>
          <p:cNvPr id="11" name="文本框 10">
            <a:extLst>
              <a:ext uri="{FF2B5EF4-FFF2-40B4-BE49-F238E27FC236}">
                <a16:creationId xmlns:a16="http://schemas.microsoft.com/office/drawing/2014/main" id="{3E47F53E-3B31-DA08-3FFF-D4B90CE3D2B3}"/>
              </a:ext>
            </a:extLst>
          </p:cNvPr>
          <p:cNvSpPr txBox="1"/>
          <p:nvPr/>
        </p:nvSpPr>
        <p:spPr>
          <a:xfrm>
            <a:off x="564208" y="5851501"/>
            <a:ext cx="2935419" cy="338554"/>
          </a:xfrm>
          <a:prstGeom prst="rect">
            <a:avLst/>
          </a:prstGeom>
          <a:noFill/>
        </p:spPr>
        <p:txBody>
          <a:bodyPr wrap="none" rtlCol="0">
            <a:spAutoFit/>
          </a:bodyPr>
          <a:lstStyle/>
          <a:p>
            <a:pPr marL="285750" indent="-285750">
              <a:buFont typeface="Arial" panose="020B0604020202020204" pitchFamily="34" charset="0"/>
              <a:buChar char="•"/>
            </a:pPr>
            <a:r>
              <a:rPr lang="zh-CN" altLang="en-US" sz="1600" dirty="0"/>
              <a:t>多数为只考虑单一动态因素</a:t>
            </a:r>
          </a:p>
        </p:txBody>
      </p:sp>
      <p:sp>
        <p:nvSpPr>
          <p:cNvPr id="12" name="文本框 11">
            <a:extLst>
              <a:ext uri="{FF2B5EF4-FFF2-40B4-BE49-F238E27FC236}">
                <a16:creationId xmlns:a16="http://schemas.microsoft.com/office/drawing/2014/main" id="{D3FF3DB1-72C4-EA2F-D673-2D024C30AC2B}"/>
              </a:ext>
            </a:extLst>
          </p:cNvPr>
          <p:cNvSpPr txBox="1"/>
          <p:nvPr/>
        </p:nvSpPr>
        <p:spPr>
          <a:xfrm>
            <a:off x="3523807" y="5845007"/>
            <a:ext cx="2114681" cy="338554"/>
          </a:xfrm>
          <a:prstGeom prst="rect">
            <a:avLst/>
          </a:prstGeom>
          <a:noFill/>
        </p:spPr>
        <p:txBody>
          <a:bodyPr wrap="none" rtlCol="0">
            <a:spAutoFit/>
          </a:bodyPr>
          <a:lstStyle/>
          <a:p>
            <a:pPr marL="285750" indent="-285750">
              <a:buFont typeface="Arial" panose="020B0604020202020204" pitchFamily="34" charset="0"/>
              <a:buChar char="•"/>
            </a:pPr>
            <a:r>
              <a:rPr lang="zh-CN" altLang="en-US" sz="1600" dirty="0"/>
              <a:t>多数为集中式决策</a:t>
            </a:r>
          </a:p>
        </p:txBody>
      </p:sp>
      <p:sp>
        <p:nvSpPr>
          <p:cNvPr id="13" name="文本框 12">
            <a:extLst>
              <a:ext uri="{FF2B5EF4-FFF2-40B4-BE49-F238E27FC236}">
                <a16:creationId xmlns:a16="http://schemas.microsoft.com/office/drawing/2014/main" id="{B1E062B6-E15D-3DE0-068B-E1BA4D654251}"/>
              </a:ext>
            </a:extLst>
          </p:cNvPr>
          <p:cNvSpPr txBox="1"/>
          <p:nvPr/>
        </p:nvSpPr>
        <p:spPr>
          <a:xfrm>
            <a:off x="9442798" y="5568559"/>
            <a:ext cx="2114681" cy="338554"/>
          </a:xfrm>
          <a:prstGeom prst="rect">
            <a:avLst/>
          </a:prstGeom>
          <a:noFill/>
        </p:spPr>
        <p:txBody>
          <a:bodyPr wrap="none" rtlCol="0">
            <a:spAutoFit/>
          </a:bodyPr>
          <a:lstStyle/>
          <a:p>
            <a:pPr marL="285750" indent="-285750">
              <a:buFont typeface="Arial" panose="020B0604020202020204" pitchFamily="34" charset="0"/>
              <a:buChar char="•"/>
            </a:pPr>
            <a:r>
              <a:rPr lang="zh-CN" altLang="en-US" sz="1600" dirty="0"/>
              <a:t>多数为集中式决策</a:t>
            </a:r>
          </a:p>
        </p:txBody>
      </p:sp>
      <p:sp>
        <p:nvSpPr>
          <p:cNvPr id="14" name="文本框 13">
            <a:extLst>
              <a:ext uri="{FF2B5EF4-FFF2-40B4-BE49-F238E27FC236}">
                <a16:creationId xmlns:a16="http://schemas.microsoft.com/office/drawing/2014/main" id="{393BA629-0FE7-AC8B-0A4E-FEDCCC5308BD}"/>
              </a:ext>
            </a:extLst>
          </p:cNvPr>
          <p:cNvSpPr txBox="1"/>
          <p:nvPr/>
        </p:nvSpPr>
        <p:spPr>
          <a:xfrm>
            <a:off x="6553685" y="5552620"/>
            <a:ext cx="2963839" cy="584775"/>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t>考虑短期生产效率和长期设备健康平衡的较少</a:t>
            </a:r>
          </a:p>
        </p:txBody>
      </p:sp>
      <p:cxnSp>
        <p:nvCxnSpPr>
          <p:cNvPr id="15" name="直线连接符 6">
            <a:extLst>
              <a:ext uri="{FF2B5EF4-FFF2-40B4-BE49-F238E27FC236}">
                <a16:creationId xmlns:a16="http://schemas.microsoft.com/office/drawing/2014/main" id="{CE3E38C7-BFD9-ADC1-3A88-F4A6B7A13A8B}"/>
              </a:ext>
            </a:extLst>
          </p:cNvPr>
          <p:cNvCxnSpPr>
            <a:cxnSpLocks/>
          </p:cNvCxnSpPr>
          <p:nvPr/>
        </p:nvCxnSpPr>
        <p:spPr>
          <a:xfrm>
            <a:off x="6159230" y="890643"/>
            <a:ext cx="0" cy="5246752"/>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7160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88980CB-291F-8243-9A58-9A86AF78F530}"/>
              </a:ext>
            </a:extLst>
          </p:cNvPr>
          <p:cNvSpPr txBox="1"/>
          <p:nvPr/>
        </p:nvSpPr>
        <p:spPr>
          <a:xfrm>
            <a:off x="603133" y="1219298"/>
            <a:ext cx="986167" cy="400110"/>
          </a:xfrm>
          <a:prstGeom prst="rect">
            <a:avLst/>
          </a:prstGeom>
          <a:noFill/>
        </p:spPr>
        <p:txBody>
          <a:bodyPr wrap="none" rtlCol="0">
            <a:spAutoFit/>
          </a:bodyPr>
          <a:lstStyle/>
          <a:p>
            <a:pPr marL="285750" indent="-285750">
              <a:buFont typeface="Wingdings" pitchFamily="2" charset="2"/>
              <a:buChar char="p"/>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总结</a:t>
            </a:r>
          </a:p>
        </p:txBody>
      </p:sp>
      <p:sp>
        <p:nvSpPr>
          <p:cNvPr id="3" name="文本框 2">
            <a:extLst>
              <a:ext uri="{FF2B5EF4-FFF2-40B4-BE49-F238E27FC236}">
                <a16:creationId xmlns:a16="http://schemas.microsoft.com/office/drawing/2014/main" id="{D546DD6B-A6DC-4F44-BA75-AB2BD9DDCC27}"/>
              </a:ext>
            </a:extLst>
          </p:cNvPr>
          <p:cNvSpPr txBox="1"/>
          <p:nvPr/>
        </p:nvSpPr>
        <p:spPr>
          <a:xfrm>
            <a:off x="557752" y="3187380"/>
            <a:ext cx="5185012" cy="1723549"/>
          </a:xfrm>
          <a:prstGeom prst="rect">
            <a:avLst/>
          </a:prstGeom>
          <a:noFill/>
        </p:spPr>
        <p:txBody>
          <a:bodyPr wrap="square" rtlCol="0">
            <a:spAutoFit/>
          </a:bodyPr>
          <a:lstStyle/>
          <a:p>
            <a:pPr marL="285750" indent="-285750" algn="just">
              <a:buFont typeface="Wingdings" pitchFamily="2" charset="2"/>
              <a:buChar char="n"/>
            </a:pPr>
            <a:r>
              <a:rPr lang="zh-CN" altLang="en-US" kern="100" dirty="0">
                <a:latin typeface="Times New Roman" panose="02020603050405020304" pitchFamily="18" charset="0"/>
                <a:ea typeface="宋体" panose="02010600030101010101" pitchFamily="2" charset="-122"/>
              </a:rPr>
              <a:t>现有的解决可预测性的动态事件的动态调度方法多为只考虑单一的动态事件，动态事件的发生往往具有多样性和复杂性，可能包括多种事件的叠加和并发，</a:t>
            </a:r>
            <a:r>
              <a:rPr lang="zh-CN" altLang="en-US" b="1" kern="100" dirty="0">
                <a:solidFill>
                  <a:srgbClr val="C00000"/>
                </a:solidFill>
                <a:latin typeface="Times New Roman" panose="02020603050405020304" pitchFamily="18" charset="0"/>
                <a:ea typeface="宋体" panose="02010600030101010101" pitchFamily="2" charset="-122"/>
              </a:rPr>
              <a:t>缺乏应对多种动态事件的扰动应对策略研究</a:t>
            </a:r>
            <a:r>
              <a:rPr lang="zh-CN" altLang="en-US" kern="100" dirty="0">
                <a:latin typeface="Times New Roman" panose="02020603050405020304" pitchFamily="18" charset="0"/>
                <a:ea typeface="宋体" panose="02010600030101010101" pitchFamily="2" charset="-122"/>
              </a:rPr>
              <a:t>。</a:t>
            </a:r>
          </a:p>
          <a:p>
            <a:pPr algn="just"/>
            <a:endParaRPr lang="en-US" altLang="zh-CN" sz="1600" b="1" kern="100" dirty="0">
              <a:solidFill>
                <a:srgbClr val="C00000"/>
              </a:solidFill>
              <a:effectLst/>
              <a:latin typeface="Times New Roman" panose="02020603050405020304" pitchFamily="18" charset="0"/>
              <a:ea typeface="宋体" panose="02010600030101010101" pitchFamily="2" charset="-122"/>
            </a:endParaRPr>
          </a:p>
        </p:txBody>
      </p:sp>
      <p:sp>
        <p:nvSpPr>
          <p:cNvPr id="4" name="右箭头 3">
            <a:extLst>
              <a:ext uri="{FF2B5EF4-FFF2-40B4-BE49-F238E27FC236}">
                <a16:creationId xmlns:a16="http://schemas.microsoft.com/office/drawing/2014/main" id="{A49154AA-E2D4-F948-8834-1848BD1EF24D}"/>
              </a:ext>
            </a:extLst>
          </p:cNvPr>
          <p:cNvSpPr/>
          <p:nvPr/>
        </p:nvSpPr>
        <p:spPr>
          <a:xfrm>
            <a:off x="6145225" y="3641111"/>
            <a:ext cx="769110" cy="45932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39408CEF-C4BA-F643-ABA0-F30F1267D00B}"/>
              </a:ext>
            </a:extLst>
          </p:cNvPr>
          <p:cNvSpPr txBox="1"/>
          <p:nvPr/>
        </p:nvSpPr>
        <p:spPr>
          <a:xfrm>
            <a:off x="7164009" y="2855112"/>
            <a:ext cx="4632563" cy="2031325"/>
          </a:xfrm>
          <a:prstGeom prst="rect">
            <a:avLst/>
          </a:prstGeom>
          <a:noFill/>
        </p:spPr>
        <p:txBody>
          <a:bodyPr wrap="square">
            <a:spAutoFit/>
          </a:bodyPr>
          <a:lstStyle/>
          <a:p>
            <a:pPr marL="285750" indent="-285750" algn="just">
              <a:buFont typeface="Wingdings" pitchFamily="2" charset="2"/>
              <a:buChar char="n"/>
            </a:pPr>
            <a:r>
              <a:rPr lang="zh-CN" altLang="en-US" kern="100" dirty="0">
                <a:solidFill>
                  <a:srgbClr val="000000"/>
                </a:solidFill>
                <a:latin typeface="Times New Roman" panose="02020603050405020304" pitchFamily="18" charset="0"/>
                <a:ea typeface="宋体" panose="02010600030101010101" pitchFamily="2" charset="-122"/>
              </a:rPr>
              <a:t>研究多制造单元的智能车间分布式静态调度方法，并在此基础上</a:t>
            </a:r>
            <a:r>
              <a:rPr lang="zh-CN" altLang="en-US" dirty="0"/>
              <a:t>进一步</a:t>
            </a:r>
            <a:r>
              <a:rPr lang="zh-CN" altLang="en-US" kern="100" dirty="0">
                <a:solidFill>
                  <a:srgbClr val="000000"/>
                </a:solidFill>
                <a:latin typeface="Times New Roman" panose="02020603050405020304" pitchFamily="18" charset="0"/>
                <a:ea typeface="宋体" panose="02010600030101010101" pitchFamily="2" charset="-122"/>
              </a:rPr>
              <a:t>研究动态环境下的</a:t>
            </a:r>
            <a:r>
              <a:rPr lang="zh-CN" altLang="en-US" b="1" kern="100" dirty="0">
                <a:solidFill>
                  <a:srgbClr val="C00000"/>
                </a:solidFill>
                <a:latin typeface="Times New Roman" panose="02020603050405020304" pitchFamily="18" charset="0"/>
                <a:ea typeface="宋体" panose="02010600030101010101" pitchFamily="2" charset="-122"/>
              </a:rPr>
              <a:t>调度模型动态演化</a:t>
            </a:r>
            <a:r>
              <a:rPr lang="zh-CN" altLang="en-US" kern="100" dirty="0">
                <a:solidFill>
                  <a:srgbClr val="000000"/>
                </a:solidFill>
                <a:latin typeface="Times New Roman" panose="02020603050405020304" pitchFamily="18" charset="0"/>
                <a:ea typeface="宋体" panose="02010600030101010101" pitchFamily="2" charset="-122"/>
              </a:rPr>
              <a:t>。将动态事件分为</a:t>
            </a:r>
            <a:r>
              <a:rPr lang="zh-CN" altLang="en-US" b="1" kern="100" dirty="0">
                <a:solidFill>
                  <a:srgbClr val="000000"/>
                </a:solidFill>
                <a:latin typeface="Times New Roman" panose="02020603050405020304" pitchFamily="18" charset="0"/>
                <a:ea typeface="宋体" panose="02010600030101010101" pitchFamily="2" charset="-122"/>
              </a:rPr>
              <a:t>可预测</a:t>
            </a:r>
            <a:r>
              <a:rPr lang="zh-CN" altLang="en-US" kern="100" dirty="0">
                <a:solidFill>
                  <a:srgbClr val="000000"/>
                </a:solidFill>
                <a:latin typeface="Times New Roman" panose="02020603050405020304" pitchFamily="18" charset="0"/>
                <a:ea typeface="宋体" panose="02010600030101010101" pitchFamily="2" charset="-122"/>
              </a:rPr>
              <a:t>和</a:t>
            </a:r>
            <a:r>
              <a:rPr lang="zh-CN" altLang="en-US" b="1" kern="100" dirty="0">
                <a:solidFill>
                  <a:srgbClr val="000000"/>
                </a:solidFill>
                <a:latin typeface="Times New Roman" panose="02020603050405020304" pitchFamily="18" charset="0"/>
                <a:ea typeface="宋体" panose="02010600030101010101" pitchFamily="2" charset="-122"/>
              </a:rPr>
              <a:t>不可预测</a:t>
            </a:r>
            <a:r>
              <a:rPr lang="zh-CN" altLang="en-US" kern="100" dirty="0">
                <a:solidFill>
                  <a:srgbClr val="000000"/>
                </a:solidFill>
                <a:latin typeface="Times New Roman" panose="02020603050405020304" pitchFamily="18" charset="0"/>
                <a:ea typeface="宋体" panose="02010600030101010101" pitchFamily="2" charset="-122"/>
              </a:rPr>
              <a:t>两类，分别对不同类型动态事件针对性研究</a:t>
            </a:r>
            <a:r>
              <a:rPr lang="zh-CN" altLang="en-US" b="1" kern="100" dirty="0">
                <a:solidFill>
                  <a:srgbClr val="000000"/>
                </a:solidFill>
                <a:latin typeface="Times New Roman" panose="02020603050405020304" pitchFamily="18" charset="0"/>
                <a:ea typeface="宋体" panose="02010600030101010101" pitchFamily="2" charset="-122"/>
              </a:rPr>
              <a:t>分布式自适应动态调度模型。</a:t>
            </a:r>
            <a:r>
              <a:rPr lang="zh-CN" altLang="en-US" kern="100" dirty="0">
                <a:solidFill>
                  <a:srgbClr val="000000"/>
                </a:solidFill>
                <a:latin typeface="Times New Roman" panose="02020603050405020304" pitchFamily="18" charset="0"/>
                <a:ea typeface="宋体" panose="02010600030101010101" pitchFamily="2" charset="-122"/>
              </a:rPr>
              <a:t>以应对复杂车间中的多种不确定性因素</a:t>
            </a:r>
            <a:r>
              <a:rPr lang="zh-CN" altLang="en-US" sz="1600" kern="100" dirty="0">
                <a:solidFill>
                  <a:srgbClr val="000000"/>
                </a:solidFill>
                <a:latin typeface="Times New Roman" panose="02020603050405020304" pitchFamily="18" charset="0"/>
                <a:ea typeface="宋体" panose="02010600030101010101" pitchFamily="2" charset="-122"/>
              </a:rPr>
              <a:t>。</a:t>
            </a:r>
            <a:endParaRPr lang="en-US" altLang="zh-CN" sz="1600" kern="100" dirty="0">
              <a:solidFill>
                <a:srgbClr val="000000"/>
              </a:solidFill>
              <a:latin typeface="Times New Roman" panose="02020603050405020304" pitchFamily="18" charset="0"/>
              <a:ea typeface="宋体" panose="02010600030101010101" pitchFamily="2" charset="-122"/>
            </a:endParaRPr>
          </a:p>
        </p:txBody>
      </p:sp>
      <p:sp>
        <p:nvSpPr>
          <p:cNvPr id="22" name="文本框 21">
            <a:extLst>
              <a:ext uri="{FF2B5EF4-FFF2-40B4-BE49-F238E27FC236}">
                <a16:creationId xmlns:a16="http://schemas.microsoft.com/office/drawing/2014/main" id="{BE371233-C889-9246-9695-8127507CC2DF}"/>
              </a:ext>
            </a:extLst>
          </p:cNvPr>
          <p:cNvSpPr txBox="1"/>
          <p:nvPr/>
        </p:nvSpPr>
        <p:spPr>
          <a:xfrm>
            <a:off x="603133" y="1785068"/>
            <a:ext cx="5094250" cy="1200329"/>
          </a:xfrm>
          <a:prstGeom prst="rect">
            <a:avLst/>
          </a:prstGeom>
          <a:noFill/>
        </p:spPr>
        <p:txBody>
          <a:bodyPr wrap="square">
            <a:spAutoFit/>
          </a:bodyPr>
          <a:lstStyle/>
          <a:p>
            <a:pPr marL="285750" indent="-285750" algn="just">
              <a:buFont typeface="Wingdings" pitchFamily="2" charset="2"/>
              <a:buChar char="n"/>
            </a:pPr>
            <a:r>
              <a:rPr lang="zh-CN" altLang="en-US" kern="100" dirty="0">
                <a:solidFill>
                  <a:srgbClr val="000000"/>
                </a:solidFill>
                <a:effectLst/>
                <a:latin typeface="Times New Roman" panose="02020603050405020304" pitchFamily="18" charset="0"/>
                <a:ea typeface="宋体" panose="02010600030101010101" pitchFamily="2" charset="-122"/>
              </a:rPr>
              <a:t>车间调度研究多为集中式调度研究，考虑车间内部</a:t>
            </a:r>
            <a:r>
              <a:rPr lang="zh-CN" altLang="en-US" kern="100" dirty="0">
                <a:solidFill>
                  <a:srgbClr val="000000"/>
                </a:solidFill>
                <a:latin typeface="Times New Roman" panose="02020603050405020304" pitchFamily="18" charset="0"/>
                <a:ea typeface="宋体" panose="02010600030101010101" pitchFamily="2" charset="-122"/>
              </a:rPr>
              <a:t>多个</a:t>
            </a:r>
            <a:r>
              <a:rPr lang="zh-CN" altLang="en-US" kern="100" dirty="0">
                <a:solidFill>
                  <a:srgbClr val="000000"/>
                </a:solidFill>
                <a:effectLst/>
                <a:latin typeface="Times New Roman" panose="02020603050405020304" pitchFamily="18" charset="0"/>
                <a:ea typeface="宋体" panose="02010600030101010101" pitchFamily="2" charset="-122"/>
              </a:rPr>
              <a:t>制造单元的分布式调度研究较少，且</a:t>
            </a:r>
            <a:r>
              <a:rPr lang="zh-CN" altLang="en-US" kern="100" dirty="0">
                <a:effectLst/>
                <a:latin typeface="Times New Roman" panose="02020603050405020304" pitchFamily="18" charset="0"/>
                <a:ea typeface="宋体" panose="02010600030101010101" pitchFamily="2" charset="-122"/>
              </a:rPr>
              <a:t>多为静态环境下的车间调度方法，</a:t>
            </a:r>
            <a:r>
              <a:rPr lang="zh-CN" altLang="zh-CN" b="1" kern="100" dirty="0">
                <a:solidFill>
                  <a:srgbClr val="C00000"/>
                </a:solidFill>
                <a:effectLst/>
                <a:latin typeface="Times New Roman" panose="02020603050405020304" pitchFamily="18" charset="0"/>
                <a:ea typeface="宋体" panose="02010600030101010101" pitchFamily="2" charset="-122"/>
              </a:rPr>
              <a:t>缺乏</a:t>
            </a:r>
            <a:r>
              <a:rPr lang="zh-CN" altLang="en-US" b="1" kern="100" dirty="0">
                <a:solidFill>
                  <a:srgbClr val="C00000"/>
                </a:solidFill>
                <a:latin typeface="Times New Roman" panose="02020603050405020304" pitchFamily="18" charset="0"/>
                <a:ea typeface="宋体" panose="02010600030101010101" pitchFamily="2" charset="-122"/>
              </a:rPr>
              <a:t>动态环境下</a:t>
            </a:r>
            <a:r>
              <a:rPr lang="zh-CN" altLang="en-US" b="1" kern="100" dirty="0">
                <a:solidFill>
                  <a:srgbClr val="C00000"/>
                </a:solidFill>
                <a:effectLst/>
                <a:latin typeface="Times New Roman" panose="02020603050405020304" pitchFamily="18" charset="0"/>
                <a:ea typeface="宋体" panose="02010600030101010101" pitchFamily="2" charset="-122"/>
              </a:rPr>
              <a:t>的分布式车间调度研究</a:t>
            </a:r>
            <a:r>
              <a:rPr lang="zh-CN" altLang="en-US" sz="1600" b="1" kern="100" dirty="0">
                <a:solidFill>
                  <a:srgbClr val="C00000"/>
                </a:solidFill>
                <a:effectLst/>
                <a:latin typeface="Times New Roman" panose="02020603050405020304" pitchFamily="18" charset="0"/>
                <a:ea typeface="宋体" panose="02010600030101010101" pitchFamily="2" charset="-122"/>
              </a:rPr>
              <a:t>。</a:t>
            </a:r>
            <a:endParaRPr lang="zh-CN" altLang="zh-CN" sz="1600" kern="1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4C7F60F0-CB29-6007-14FB-1E1664E08D87}"/>
              </a:ext>
            </a:extLst>
          </p:cNvPr>
          <p:cNvSpPr txBox="1"/>
          <p:nvPr/>
        </p:nvSpPr>
        <p:spPr>
          <a:xfrm>
            <a:off x="557752" y="4886437"/>
            <a:ext cx="5312556" cy="1200329"/>
          </a:xfrm>
          <a:prstGeom prst="rect">
            <a:avLst/>
          </a:prstGeom>
          <a:noFill/>
        </p:spPr>
        <p:txBody>
          <a:bodyPr wrap="square" rtlCol="0">
            <a:spAutoFit/>
          </a:bodyPr>
          <a:lstStyle/>
          <a:p>
            <a:pPr marL="285750" indent="-285750" algn="just">
              <a:buFont typeface="Wingdings" pitchFamily="2" charset="2"/>
              <a:buChar char="n"/>
            </a:pPr>
            <a:r>
              <a:rPr lang="zh-CN" altLang="en-US" kern="100" dirty="0">
                <a:latin typeface="Times New Roman" panose="02020603050405020304" pitchFamily="18" charset="0"/>
                <a:ea typeface="宋体" panose="02010600030101010101" pitchFamily="2" charset="-122"/>
              </a:rPr>
              <a:t>现有的应对可预测性的动态事件的动态调度方法多为只考虑长期的成本及未来的设备健康状态，而忽略当前短期的生产效率。</a:t>
            </a:r>
            <a:r>
              <a:rPr lang="zh-CN" altLang="en-US" b="1" kern="100" dirty="0">
                <a:solidFill>
                  <a:srgbClr val="C00000"/>
                </a:solidFill>
                <a:latin typeface="Times New Roman" panose="02020603050405020304" pitchFamily="18" charset="0"/>
                <a:ea typeface="宋体" panose="02010600030101010101" pitchFamily="2" charset="-122"/>
              </a:rPr>
              <a:t>缺乏综合考虑短期生产效率和长期成本的动态调度模型研究</a:t>
            </a:r>
            <a:endParaRPr lang="zh-CN" altLang="en-US"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012990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5">
            <a:extLst>
              <a:ext uri="{FF2B5EF4-FFF2-40B4-BE49-F238E27FC236}">
                <a16:creationId xmlns:a16="http://schemas.microsoft.com/office/drawing/2014/main" id="{BD1B6A0E-7751-46B8-9227-8E5577684FA8}"/>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18" name="文本框 26">
            <a:extLst>
              <a:ext uri="{FF2B5EF4-FFF2-40B4-BE49-F238E27FC236}">
                <a16:creationId xmlns:a16="http://schemas.microsoft.com/office/drawing/2014/main" id="{35BB26C5-BCF9-431F-BBB3-07FBA902F271}"/>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19" name="文本框 27">
            <a:extLst>
              <a:ext uri="{FF2B5EF4-FFF2-40B4-BE49-F238E27FC236}">
                <a16:creationId xmlns:a16="http://schemas.microsoft.com/office/drawing/2014/main" id="{2C8BBA73-83CE-4C05-BA90-6FEF04282F33}"/>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研究内容</a:t>
            </a:r>
          </a:p>
        </p:txBody>
      </p:sp>
      <p:sp>
        <p:nvSpPr>
          <p:cNvPr id="20" name="文本框 28">
            <a:extLst>
              <a:ext uri="{FF2B5EF4-FFF2-40B4-BE49-F238E27FC236}">
                <a16:creationId xmlns:a16="http://schemas.microsoft.com/office/drawing/2014/main" id="{1BE83BFB-838C-4CEC-8ECA-8F78CAB7BAF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21" name="等腰三角形 20">
            <a:extLst>
              <a:ext uri="{FF2B5EF4-FFF2-40B4-BE49-F238E27FC236}">
                <a16:creationId xmlns:a16="http://schemas.microsoft.com/office/drawing/2014/main" id="{96F63EA8-6093-46DC-9285-C21660451AE7}"/>
              </a:ext>
            </a:extLst>
          </p:cNvPr>
          <p:cNvSpPr/>
          <p:nvPr/>
        </p:nvSpPr>
        <p:spPr>
          <a:xfrm rot="10800000">
            <a:off x="41324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22" name="直接连接符 21">
            <a:extLst>
              <a:ext uri="{FF2B5EF4-FFF2-40B4-BE49-F238E27FC236}">
                <a16:creationId xmlns:a16="http://schemas.microsoft.com/office/drawing/2014/main" id="{A60986D2-9C51-4546-BAA0-D1B4562BA870}"/>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3723DFD-7FF7-4306-8E40-E9938F6672B3}"/>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38582B4-1262-4206-B1FC-0925B419775C}"/>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5" name="图片 24">
            <a:extLst>
              <a:ext uri="{FF2B5EF4-FFF2-40B4-BE49-F238E27FC236}">
                <a16:creationId xmlns:a16="http://schemas.microsoft.com/office/drawing/2014/main" id="{0CA2FC49-006A-4BFB-91B7-9E6FAC249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26" name="文本框 28">
            <a:extLst>
              <a:ext uri="{FF2B5EF4-FFF2-40B4-BE49-F238E27FC236}">
                <a16:creationId xmlns:a16="http://schemas.microsoft.com/office/drawing/2014/main" id="{D1E3C7F9-3742-4B75-BFE1-68BF775DF03D}"/>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27" name="直接连接符 26">
            <a:extLst>
              <a:ext uri="{FF2B5EF4-FFF2-40B4-BE49-F238E27FC236}">
                <a16:creationId xmlns:a16="http://schemas.microsoft.com/office/drawing/2014/main" id="{B6392A6D-1696-4E70-935F-908ED5E3D33B}"/>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FCEC9732-919D-784D-A415-2C3A922E5283}"/>
              </a:ext>
            </a:extLst>
          </p:cNvPr>
          <p:cNvSpPr txBox="1"/>
          <p:nvPr/>
        </p:nvSpPr>
        <p:spPr>
          <a:xfrm>
            <a:off x="2567871" y="6109379"/>
            <a:ext cx="1677062" cy="338554"/>
          </a:xfrm>
          <a:prstGeom prst="rect">
            <a:avLst/>
          </a:prstGeom>
          <a:noFill/>
        </p:spPr>
        <p:txBody>
          <a:bodyPr wrap="none" rtlCol="0">
            <a:spAutoFit/>
          </a:bodyPr>
          <a:lstStyle/>
          <a:p>
            <a:pPr algn="ct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研究内容框架图</a:t>
            </a:r>
            <a:r>
              <a:rPr lang="zh-CN" altLang="zh-CN" sz="1600" dirty="0">
                <a:effectLst/>
              </a:rPr>
              <a:t> </a:t>
            </a:r>
            <a:endParaRPr kumimoji="1" lang="zh-CN" altLang="en-US" sz="1600" dirty="0"/>
          </a:p>
        </p:txBody>
      </p:sp>
      <p:sp>
        <p:nvSpPr>
          <p:cNvPr id="9" name="文本框 8">
            <a:extLst>
              <a:ext uri="{FF2B5EF4-FFF2-40B4-BE49-F238E27FC236}">
                <a16:creationId xmlns:a16="http://schemas.microsoft.com/office/drawing/2014/main" id="{B5939E38-6F69-8946-B88F-36279FBE5561}"/>
              </a:ext>
            </a:extLst>
          </p:cNvPr>
          <p:cNvSpPr txBox="1"/>
          <p:nvPr/>
        </p:nvSpPr>
        <p:spPr>
          <a:xfrm>
            <a:off x="6589329" y="1132650"/>
            <a:ext cx="5380177" cy="4524315"/>
          </a:xfrm>
          <a:prstGeom prst="rect">
            <a:avLst/>
          </a:prstGeom>
          <a:noFill/>
        </p:spPr>
        <p:txBody>
          <a:bodyPr wrap="square" rtlCol="0">
            <a:spAutoFit/>
          </a:bodyPr>
          <a:lstStyle>
            <a:defPPr>
              <a:defRPr lang="zh-CN"/>
            </a:defPPr>
            <a:lvl1pPr marR="0" lvl="0" indent="457200" algn="just" fontAlgn="auto">
              <a:lnSpc>
                <a:spcPct val="100000"/>
              </a:lnSpc>
              <a:spcBef>
                <a:spcPts val="0"/>
              </a:spcBef>
              <a:spcAft>
                <a:spcPts val="0"/>
              </a:spcAft>
              <a:buClrTx/>
              <a:buSzTx/>
              <a:buFontTx/>
              <a:buNone/>
              <a:tabLst/>
              <a:defRPr sz="1600" b="1" kern="100">
                <a:effectLst/>
                <a:latin typeface="Times New Roman" panose="02020603050405020304" pitchFamily="18" charset="0"/>
                <a:ea typeface="宋体" panose="02010600030101010101" pitchFamily="2" charset="-122"/>
              </a:defRPr>
            </a:lvl1pPr>
          </a:lstStyle>
          <a:p>
            <a:pPr marL="285750" indent="-285750">
              <a:buFont typeface="Wingdings" panose="05000000000000000000" pitchFamily="2" charset="2"/>
              <a:buChar char="Ø"/>
            </a:pPr>
            <a:r>
              <a:rPr lang="zh-CN" altLang="en-US" dirty="0"/>
              <a:t>研究内容</a:t>
            </a:r>
            <a:r>
              <a:rPr lang="en-US" altLang="zh-CN" dirty="0"/>
              <a:t>1</a:t>
            </a:r>
            <a:r>
              <a:rPr lang="zh-CN" altLang="en-US" dirty="0"/>
              <a:t>：</a:t>
            </a:r>
            <a:r>
              <a:rPr lang="zh-CN" altLang="zh-CN" b="0" dirty="0"/>
              <a:t>对</a:t>
            </a:r>
            <a:r>
              <a:rPr lang="zh-CN" altLang="en-US" b="0" dirty="0"/>
              <a:t>多制造单元智能车间的车间调度问题</a:t>
            </a:r>
            <a:r>
              <a:rPr lang="zh-CN" altLang="zh-CN" b="0" dirty="0"/>
              <a:t>进行描述</a:t>
            </a:r>
            <a:r>
              <a:rPr lang="zh-CN" altLang="en-US" b="0" dirty="0"/>
              <a:t>，将该问题构建为</a:t>
            </a:r>
            <a:r>
              <a:rPr lang="zh-CN" altLang="zh-CN" dirty="0"/>
              <a:t>分布式部分可观察马尔科夫决策过程</a:t>
            </a:r>
            <a:r>
              <a:rPr lang="en-US" altLang="zh-CN" dirty="0"/>
              <a:t>(Dec-POMDP)</a:t>
            </a:r>
            <a:r>
              <a:rPr lang="zh-CN" altLang="en-US" b="0" dirty="0"/>
              <a:t>，基于多智能体强化学习设计</a:t>
            </a:r>
            <a:r>
              <a:rPr lang="zh-CN" altLang="en-US" dirty="0"/>
              <a:t>分布式调度框架。</a:t>
            </a:r>
            <a:endParaRPr lang="en-US" altLang="zh-CN" dirty="0"/>
          </a:p>
          <a:p>
            <a:pPr indent="0"/>
            <a:endParaRPr lang="en-US" altLang="zh-CN" b="0" dirty="0"/>
          </a:p>
          <a:p>
            <a:pPr marL="285750" indent="-285750">
              <a:buFont typeface="Wingdings" panose="05000000000000000000" pitchFamily="2" charset="2"/>
              <a:buChar char="Ø"/>
            </a:pPr>
            <a:r>
              <a:rPr lang="zh-CN" altLang="en-US" dirty="0"/>
              <a:t>研究内容</a:t>
            </a:r>
            <a:r>
              <a:rPr lang="en-US" altLang="zh-CN" dirty="0"/>
              <a:t>2</a:t>
            </a:r>
            <a:r>
              <a:rPr lang="zh-CN" altLang="en-US" dirty="0"/>
              <a:t>：</a:t>
            </a:r>
            <a:r>
              <a:rPr lang="zh-CN" altLang="en-US" b="0" dirty="0"/>
              <a:t>针对车间中可能出现的突发性事件（设备故障、订单更改）</a:t>
            </a:r>
            <a:r>
              <a:rPr lang="zh-CN" altLang="en-US" dirty="0"/>
              <a:t>构建实时事件监测与识别机制</a:t>
            </a:r>
            <a:r>
              <a:rPr lang="zh-CN" altLang="en-US" b="0" dirty="0"/>
              <a:t>。基于研究内容一的分布式调度框架设计应对多种突发性动态事件的自适应调度算法。</a:t>
            </a:r>
            <a:endParaRPr lang="en-US" altLang="zh-CN" b="0" dirty="0"/>
          </a:p>
          <a:p>
            <a:pPr indent="0"/>
            <a:endParaRPr lang="en-US" altLang="zh-CN" b="0" dirty="0"/>
          </a:p>
          <a:p>
            <a:pPr marL="285750" indent="-285750">
              <a:buFont typeface="Wingdings" panose="05000000000000000000" pitchFamily="2" charset="2"/>
              <a:buChar char="Ø"/>
            </a:pPr>
            <a:r>
              <a:rPr lang="zh-CN" altLang="en-US" dirty="0"/>
              <a:t>研究内容</a:t>
            </a:r>
            <a:r>
              <a:rPr lang="en-US" altLang="zh-CN" dirty="0"/>
              <a:t>3</a:t>
            </a:r>
            <a:r>
              <a:rPr lang="zh-CN" altLang="en-US" dirty="0"/>
              <a:t>：</a:t>
            </a:r>
            <a:r>
              <a:rPr lang="zh-CN" altLang="en-US" b="0" dirty="0"/>
              <a:t>针对车间中的可预测事件（</a:t>
            </a:r>
            <a:r>
              <a:rPr lang="zh-CN" altLang="en-US" dirty="0"/>
              <a:t>设备负载和工具磨损）</a:t>
            </a:r>
            <a:r>
              <a:rPr lang="zh-CN" altLang="en-US" b="0" dirty="0"/>
              <a:t>，构建</a:t>
            </a:r>
            <a:r>
              <a:rPr lang="zh-CN" altLang="en-US" dirty="0"/>
              <a:t>设备状态预测模型</a:t>
            </a:r>
            <a:r>
              <a:rPr lang="zh-CN" altLang="en-US" b="0" dirty="0"/>
              <a:t>，预测值扩展到智能体的状态输入，基于研究内容一设计动态调度算法</a:t>
            </a:r>
            <a:endParaRPr lang="en-US" altLang="zh-CN" b="0" dirty="0"/>
          </a:p>
          <a:p>
            <a:pPr marL="285750" indent="-285750">
              <a:buFont typeface="Wingdings" panose="05000000000000000000" pitchFamily="2" charset="2"/>
              <a:buChar char="Ø"/>
            </a:pPr>
            <a:endParaRPr lang="en-US" altLang="zh-CN" b="0" dirty="0"/>
          </a:p>
          <a:p>
            <a:pPr indent="0"/>
            <a:endParaRPr lang="en-US" altLang="zh-CN" b="0" dirty="0"/>
          </a:p>
          <a:p>
            <a:pPr marL="285750" indent="-285750">
              <a:buFont typeface="Wingdings" panose="05000000000000000000" pitchFamily="2" charset="2"/>
              <a:buChar char="Ø"/>
            </a:pPr>
            <a:r>
              <a:rPr lang="zh-CN" altLang="en-US" dirty="0"/>
              <a:t>研究内容</a:t>
            </a:r>
            <a:r>
              <a:rPr lang="en-US" altLang="zh-CN" dirty="0"/>
              <a:t>4</a:t>
            </a:r>
            <a:r>
              <a:rPr lang="zh-CN" altLang="en-US" dirty="0"/>
              <a:t>：</a:t>
            </a:r>
            <a:r>
              <a:rPr lang="zh-CN" altLang="en-US" b="0" dirty="0"/>
              <a:t>搭建研究内容</a:t>
            </a:r>
            <a:r>
              <a:rPr lang="en-US" altLang="zh-CN" b="0" dirty="0"/>
              <a:t>2</a:t>
            </a:r>
            <a:r>
              <a:rPr lang="zh-CN" altLang="en-US" b="0" dirty="0"/>
              <a:t>和</a:t>
            </a:r>
            <a:r>
              <a:rPr lang="en-US" altLang="zh-CN" b="0" dirty="0"/>
              <a:t>3</a:t>
            </a:r>
            <a:r>
              <a:rPr lang="zh-CN" altLang="en-US" b="0" dirty="0"/>
              <a:t>针对的两种不同动态场景，进行仿真实验，对提出的两种分布式动态调度方法进行性能测试</a:t>
            </a:r>
            <a:endParaRPr lang="en-US" altLang="zh-CN" b="0" dirty="0"/>
          </a:p>
        </p:txBody>
      </p:sp>
      <p:pic>
        <p:nvPicPr>
          <p:cNvPr id="57" name="图片 56">
            <a:extLst>
              <a:ext uri="{FF2B5EF4-FFF2-40B4-BE49-F238E27FC236}">
                <a16:creationId xmlns:a16="http://schemas.microsoft.com/office/drawing/2014/main" id="{48E3E2DA-3FAB-FFB8-ADCF-5779415D2049}"/>
              </a:ext>
            </a:extLst>
          </p:cNvPr>
          <p:cNvPicPr>
            <a:picLocks noChangeAspect="1"/>
          </p:cNvPicPr>
          <p:nvPr/>
        </p:nvPicPr>
        <p:blipFill>
          <a:blip r:embed="rId4"/>
          <a:stretch>
            <a:fillRect/>
          </a:stretch>
        </p:blipFill>
        <p:spPr>
          <a:xfrm>
            <a:off x="670863" y="1234580"/>
            <a:ext cx="5789987" cy="4557191"/>
          </a:xfrm>
          <a:prstGeom prst="rect">
            <a:avLst/>
          </a:prstGeom>
        </p:spPr>
      </p:pic>
    </p:spTree>
    <p:extLst>
      <p:ext uri="{BB962C8B-B14F-4D97-AF65-F5344CB8AC3E}">
        <p14:creationId xmlns:p14="http://schemas.microsoft.com/office/powerpoint/2010/main" val="832024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848CF1DF-A676-E944-8423-6FA22E34237F}"/>
              </a:ext>
            </a:extLst>
          </p:cNvPr>
          <p:cNvSpPr txBox="1"/>
          <p:nvPr/>
        </p:nvSpPr>
        <p:spPr>
          <a:xfrm>
            <a:off x="1068615" y="782746"/>
            <a:ext cx="6699270" cy="400110"/>
          </a:xfrm>
          <a:prstGeom prst="rect">
            <a:avLst/>
          </a:prstGeom>
          <a:noFill/>
        </p:spPr>
        <p:txBody>
          <a:bodyPr wrap="none" rtlCol="0">
            <a:spAutoFit/>
          </a:bodyPr>
          <a:lstStyle/>
          <a:p>
            <a:pPr marL="285750" indent="-285750">
              <a:buFont typeface="Wingdings" pitchFamily="2" charset="2"/>
              <a:buChar char="p"/>
            </a:pPr>
            <a:r>
              <a:rPr lang="en-US" altLang="zh-CN" sz="2000" kern="100" dirty="0">
                <a:effectLst/>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2000" kern="100" dirty="0">
                <a:effectLst/>
                <a:latin typeface="Microsoft YaHei" panose="020B0503020204020204" pitchFamily="34" charset="-122"/>
                <a:ea typeface="Microsoft YaHei" panose="020B0503020204020204" pitchFamily="34" charset="-122"/>
                <a:cs typeface="Times New Roman" panose="02020603050405020304" pitchFamily="18" charset="0"/>
              </a:rPr>
              <a:t> 智能车间多制造单元分布式静态调度方法</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254" name="文本框 253">
                <a:extLst>
                  <a:ext uri="{FF2B5EF4-FFF2-40B4-BE49-F238E27FC236}">
                    <a16:creationId xmlns:a16="http://schemas.microsoft.com/office/drawing/2014/main" id="{12F86D6C-4FA6-AB36-5A5F-320A0D86D65B}"/>
                  </a:ext>
                </a:extLst>
              </p:cNvPr>
              <p:cNvSpPr txBox="1"/>
              <p:nvPr/>
            </p:nvSpPr>
            <p:spPr>
              <a:xfrm>
                <a:off x="4542131" y="1817581"/>
                <a:ext cx="3148696" cy="1384995"/>
              </a:xfrm>
              <a:prstGeom prst="rect">
                <a:avLst/>
              </a:prstGeom>
              <a:noFill/>
            </p:spPr>
            <p:txBody>
              <a:bodyPr wrap="square" rtlCol="0">
                <a:spAutoFit/>
              </a:bodyPr>
              <a:lstStyle/>
              <a:p>
                <a:pPr marL="285750" indent="-285750">
                  <a:buFont typeface="Wingdings" panose="05000000000000000000" pitchFamily="2" charset="2"/>
                  <a:buChar char="p"/>
                </a:pPr>
                <a:r>
                  <a:rPr lang="en-US" altLang="zh-CN" dirty="0">
                    <a:solidFill>
                      <a:schemeClr val="accent1"/>
                    </a:solidFill>
                    <a:latin typeface="Times New Roman" panose="02020603050405020304" pitchFamily="18" charset="0"/>
                    <a:cs typeface="Times New Roman" panose="02020603050405020304" pitchFamily="18" charset="0"/>
                  </a:rPr>
                  <a:t>Dec-POMDP</a:t>
                </a:r>
                <a:r>
                  <a:rPr lang="zh-CN" altLang="en-US" dirty="0">
                    <a:solidFill>
                      <a:schemeClr val="accent1"/>
                    </a:solidFill>
                    <a:latin typeface="宋体" panose="02010600030101010101" pitchFamily="2" charset="-122"/>
                    <a:ea typeface="宋体" panose="02010600030101010101" pitchFamily="2" charset="-122"/>
                  </a:rPr>
                  <a:t>模型构建</a:t>
                </a:r>
                <a:endParaRPr lang="en-US" altLang="zh-CN" b="0" dirty="0">
                  <a:solidFill>
                    <a:schemeClr val="accent1"/>
                  </a:solidFill>
                </a:endParaRPr>
              </a:p>
              <a:p>
                <a:r>
                  <a:rPr lang="zh-CN" altLang="en-US" sz="1600" b="0" dirty="0"/>
                  <a:t>构建为</a:t>
                </a:r>
                <a:r>
                  <a:rPr lang="zh-CN" altLang="zh-CN" sz="1600" dirty="0"/>
                  <a:t>分布式部分可观察马尔科夫决策过程</a:t>
                </a:r>
                <a:r>
                  <a:rPr lang="en-US" altLang="zh-CN" sz="1600" dirty="0"/>
                  <a:t>(Dec-POMDP)</a:t>
                </a:r>
                <a:r>
                  <a:rPr lang="zh-CN" altLang="en-US" sz="1600" dirty="0"/>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包括一个七元组</a:t>
                </a:r>
                <a14:m>
                  <m:oMath xmlns:m="http://schemas.openxmlformats.org/officeDocument/2006/math">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𝐼</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𝑆</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𝐴</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𝑇</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𝑂</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𝑍</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&gt;</m:t>
                    </m:r>
                  </m:oMath>
                </a14:m>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mc:Choice>
        <mc:Fallback>
          <p:sp>
            <p:nvSpPr>
              <p:cNvPr id="254" name="文本框 253">
                <a:extLst>
                  <a:ext uri="{FF2B5EF4-FFF2-40B4-BE49-F238E27FC236}">
                    <a16:creationId xmlns:a16="http://schemas.microsoft.com/office/drawing/2014/main" id="{12F86D6C-4FA6-AB36-5A5F-320A0D86D65B}"/>
                  </a:ext>
                </a:extLst>
              </p:cNvPr>
              <p:cNvSpPr txBox="1">
                <a:spLocks noRot="1" noChangeAspect="1" noMove="1" noResize="1" noEditPoints="1" noAdjustHandles="1" noChangeArrowheads="1" noChangeShapeType="1" noTextEdit="1"/>
              </p:cNvSpPr>
              <p:nvPr/>
            </p:nvSpPr>
            <p:spPr>
              <a:xfrm>
                <a:off x="4542131" y="1817581"/>
                <a:ext cx="3148696" cy="1384995"/>
              </a:xfrm>
              <a:prstGeom prst="rect">
                <a:avLst/>
              </a:prstGeom>
              <a:blipFill>
                <a:blip r:embed="rId4"/>
                <a:stretch>
                  <a:fillRect l="-1161" t="-3524"/>
                </a:stretch>
              </a:blipFill>
            </p:spPr>
            <p:txBody>
              <a:bodyPr/>
              <a:lstStyle/>
              <a:p>
                <a:r>
                  <a:rPr lang="zh-CN" altLang="en-US">
                    <a:noFill/>
                  </a:rPr>
                  <a:t> </a:t>
                </a:r>
              </a:p>
            </p:txBody>
          </p:sp>
        </mc:Fallback>
      </mc:AlternateContent>
      <p:sp>
        <p:nvSpPr>
          <p:cNvPr id="255" name="文本框 254">
            <a:extLst>
              <a:ext uri="{FF2B5EF4-FFF2-40B4-BE49-F238E27FC236}">
                <a16:creationId xmlns:a16="http://schemas.microsoft.com/office/drawing/2014/main" id="{A257C36C-2CFF-540A-3581-1E55D18AA37C}"/>
              </a:ext>
            </a:extLst>
          </p:cNvPr>
          <p:cNvSpPr txBox="1"/>
          <p:nvPr/>
        </p:nvSpPr>
        <p:spPr>
          <a:xfrm>
            <a:off x="8689424" y="1618554"/>
            <a:ext cx="2797994" cy="1323439"/>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dirty="0"/>
              <a:t>每个车间制造单元构建调度智能体，将调度决策功能下放至单元级，</a:t>
            </a:r>
            <a:r>
              <a:rPr lang="zh-CN" altLang="en-US" sz="1600" b="1" dirty="0"/>
              <a:t>使制造单元具有观测自身局部状态、进行调度决策的功能</a:t>
            </a:r>
          </a:p>
        </p:txBody>
      </p:sp>
      <p:grpSp>
        <p:nvGrpSpPr>
          <p:cNvPr id="11" name="组合 10">
            <a:extLst>
              <a:ext uri="{FF2B5EF4-FFF2-40B4-BE49-F238E27FC236}">
                <a16:creationId xmlns:a16="http://schemas.microsoft.com/office/drawing/2014/main" id="{AD05DC80-FD2A-BF20-1BC7-080F27D48B9C}"/>
              </a:ext>
            </a:extLst>
          </p:cNvPr>
          <p:cNvGrpSpPr/>
          <p:nvPr/>
        </p:nvGrpSpPr>
        <p:grpSpPr>
          <a:xfrm>
            <a:off x="694443" y="1518364"/>
            <a:ext cx="2331673" cy="426439"/>
            <a:chOff x="3253195" y="2228400"/>
            <a:chExt cx="2331673" cy="426439"/>
          </a:xfrm>
        </p:grpSpPr>
        <p:sp>
          <p:nvSpPr>
            <p:cNvPr id="3" name="文本框 2">
              <a:extLst>
                <a:ext uri="{FF2B5EF4-FFF2-40B4-BE49-F238E27FC236}">
                  <a16:creationId xmlns:a16="http://schemas.microsoft.com/office/drawing/2014/main" id="{1035B2AD-0F94-B985-E40E-FE542995E8BE}"/>
                </a:ext>
              </a:extLst>
            </p:cNvPr>
            <p:cNvSpPr txBox="1"/>
            <p:nvPr/>
          </p:nvSpPr>
          <p:spPr>
            <a:xfrm>
              <a:off x="3322710" y="2244264"/>
              <a:ext cx="2262158" cy="369332"/>
            </a:xfrm>
            <a:prstGeom prst="rect">
              <a:avLst/>
            </a:prstGeom>
            <a:noFill/>
          </p:spPr>
          <p:txBody>
            <a:bodyPr wrap="none" rtlCol="0">
              <a:spAutoFit/>
            </a:bodyPr>
            <a:lstStyle/>
            <a:p>
              <a:r>
                <a:rPr lang="zh-CN" altLang="en-US" dirty="0"/>
                <a:t>构建单元调度智能体</a:t>
              </a:r>
            </a:p>
          </p:txBody>
        </p:sp>
        <p:sp>
          <p:nvSpPr>
            <p:cNvPr id="7" name="矩形 6">
              <a:extLst>
                <a:ext uri="{FF2B5EF4-FFF2-40B4-BE49-F238E27FC236}">
                  <a16:creationId xmlns:a16="http://schemas.microsoft.com/office/drawing/2014/main" id="{9ECE3E58-98F1-81B5-FF32-6034235C5BB5}"/>
                </a:ext>
              </a:extLst>
            </p:cNvPr>
            <p:cNvSpPr/>
            <p:nvPr/>
          </p:nvSpPr>
          <p:spPr>
            <a:xfrm>
              <a:off x="3253195" y="2228400"/>
              <a:ext cx="2303446" cy="4264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箭头连接符 11">
            <a:extLst>
              <a:ext uri="{FF2B5EF4-FFF2-40B4-BE49-F238E27FC236}">
                <a16:creationId xmlns:a16="http://schemas.microsoft.com/office/drawing/2014/main" id="{885E342D-6691-6EB1-46C6-299F7A22D181}"/>
              </a:ext>
            </a:extLst>
          </p:cNvPr>
          <p:cNvCxnSpPr>
            <a:cxnSpLocks/>
          </p:cNvCxnSpPr>
          <p:nvPr/>
        </p:nvCxnSpPr>
        <p:spPr>
          <a:xfrm>
            <a:off x="1839145" y="1929476"/>
            <a:ext cx="0" cy="426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7C99266B-DF7B-7E48-741A-C17A749EF927}"/>
              </a:ext>
            </a:extLst>
          </p:cNvPr>
          <p:cNvSpPr txBox="1"/>
          <p:nvPr/>
        </p:nvSpPr>
        <p:spPr>
          <a:xfrm>
            <a:off x="520674" y="2439315"/>
            <a:ext cx="1403838" cy="646331"/>
          </a:xfrm>
          <a:prstGeom prst="rect">
            <a:avLst/>
          </a:prstGeom>
          <a:noFill/>
        </p:spPr>
        <p:txBody>
          <a:bodyPr wrap="square" rtlCol="0">
            <a:spAutoFit/>
          </a:bodyPr>
          <a:lstStyle/>
          <a:p>
            <a:r>
              <a:rPr lang="zh-CN" altLang="en-US" dirty="0"/>
              <a:t>设计局部观测状态空间</a:t>
            </a:r>
          </a:p>
        </p:txBody>
      </p:sp>
      <p:sp>
        <p:nvSpPr>
          <p:cNvPr id="15" name="矩形 14">
            <a:extLst>
              <a:ext uri="{FF2B5EF4-FFF2-40B4-BE49-F238E27FC236}">
                <a16:creationId xmlns:a16="http://schemas.microsoft.com/office/drawing/2014/main" id="{AA2A63ED-A4FD-6241-CB81-8EAC7E658D8B}"/>
              </a:ext>
            </a:extLst>
          </p:cNvPr>
          <p:cNvSpPr/>
          <p:nvPr/>
        </p:nvSpPr>
        <p:spPr>
          <a:xfrm>
            <a:off x="538219" y="2380904"/>
            <a:ext cx="1246300" cy="7631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E36E4EFF-CB51-C419-4780-6C1D509629B4}"/>
              </a:ext>
            </a:extLst>
          </p:cNvPr>
          <p:cNvSpPr txBox="1"/>
          <p:nvPr/>
        </p:nvSpPr>
        <p:spPr>
          <a:xfrm>
            <a:off x="1784519" y="5331097"/>
            <a:ext cx="2031325" cy="369332"/>
          </a:xfrm>
          <a:prstGeom prst="rect">
            <a:avLst/>
          </a:prstGeom>
          <a:noFill/>
        </p:spPr>
        <p:txBody>
          <a:bodyPr wrap="none" rtlCol="0">
            <a:spAutoFit/>
          </a:bodyPr>
          <a:lstStyle/>
          <a:p>
            <a:r>
              <a:rPr lang="zh-CN" altLang="en-US" dirty="0"/>
              <a:t>构建混合网络模型</a:t>
            </a:r>
          </a:p>
        </p:txBody>
      </p:sp>
      <p:sp>
        <p:nvSpPr>
          <p:cNvPr id="17" name="矩形 16">
            <a:extLst>
              <a:ext uri="{FF2B5EF4-FFF2-40B4-BE49-F238E27FC236}">
                <a16:creationId xmlns:a16="http://schemas.microsoft.com/office/drawing/2014/main" id="{744B3A6B-BCE4-62A6-4A24-5E0AA9BD332E}"/>
              </a:ext>
            </a:extLst>
          </p:cNvPr>
          <p:cNvSpPr/>
          <p:nvPr/>
        </p:nvSpPr>
        <p:spPr>
          <a:xfrm>
            <a:off x="1607420" y="5277541"/>
            <a:ext cx="2303446" cy="4264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0F644FB-D73B-05FC-6A5E-B31510A6E203}"/>
              </a:ext>
            </a:extLst>
          </p:cNvPr>
          <p:cNvSpPr txBox="1"/>
          <p:nvPr/>
        </p:nvSpPr>
        <p:spPr>
          <a:xfrm>
            <a:off x="4815552" y="4688581"/>
            <a:ext cx="2567937" cy="1323439"/>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dirty="0"/>
              <a:t>混合网络集成来自所有单元调度智能体的信息和全局状态的信息，生成一个全局的期望函数，来</a:t>
            </a:r>
            <a:r>
              <a:rPr lang="zh-CN" altLang="en-US" sz="1600" b="1" dirty="0"/>
              <a:t>协调各个智能体</a:t>
            </a:r>
            <a:endParaRPr lang="en-US" altLang="zh-CN" sz="1600" b="1" dirty="0"/>
          </a:p>
        </p:txBody>
      </p:sp>
      <p:cxnSp>
        <p:nvCxnSpPr>
          <p:cNvPr id="20" name="直接箭头连接符 19">
            <a:extLst>
              <a:ext uri="{FF2B5EF4-FFF2-40B4-BE49-F238E27FC236}">
                <a16:creationId xmlns:a16="http://schemas.microsoft.com/office/drawing/2014/main" id="{D16DFB82-00D7-D439-53C2-43C2447629D9}"/>
              </a:ext>
            </a:extLst>
          </p:cNvPr>
          <p:cNvCxnSpPr>
            <a:cxnSpLocks/>
          </p:cNvCxnSpPr>
          <p:nvPr/>
        </p:nvCxnSpPr>
        <p:spPr>
          <a:xfrm>
            <a:off x="2745061" y="4819507"/>
            <a:ext cx="0" cy="426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B83A7BB0-FABD-2408-1A55-4E56963618F8}"/>
              </a:ext>
            </a:extLst>
          </p:cNvPr>
          <p:cNvSpPr txBox="1"/>
          <p:nvPr/>
        </p:nvSpPr>
        <p:spPr>
          <a:xfrm>
            <a:off x="9178156" y="6172440"/>
            <a:ext cx="1800493" cy="369332"/>
          </a:xfrm>
          <a:prstGeom prst="rect">
            <a:avLst/>
          </a:prstGeom>
          <a:noFill/>
        </p:spPr>
        <p:txBody>
          <a:bodyPr wrap="none" rtlCol="0">
            <a:spAutoFit/>
          </a:bodyPr>
          <a:lstStyle/>
          <a:p>
            <a:r>
              <a:rPr lang="zh-CN" altLang="en-US" b="1" dirty="0">
                <a:solidFill>
                  <a:srgbClr val="C00000"/>
                </a:solidFill>
              </a:rPr>
              <a:t>实现分布式调度</a:t>
            </a:r>
            <a:endParaRPr lang="zh-CN" altLang="en-US" dirty="0"/>
          </a:p>
        </p:txBody>
      </p:sp>
      <p:sp>
        <p:nvSpPr>
          <p:cNvPr id="24" name="文本框 23">
            <a:extLst>
              <a:ext uri="{FF2B5EF4-FFF2-40B4-BE49-F238E27FC236}">
                <a16:creationId xmlns:a16="http://schemas.microsoft.com/office/drawing/2014/main" id="{C5808628-1016-A25E-92CB-2CD1C759D053}"/>
              </a:ext>
            </a:extLst>
          </p:cNvPr>
          <p:cNvSpPr txBox="1"/>
          <p:nvPr/>
        </p:nvSpPr>
        <p:spPr>
          <a:xfrm>
            <a:off x="2013450" y="2448898"/>
            <a:ext cx="1285425" cy="655593"/>
          </a:xfrm>
          <a:prstGeom prst="rect">
            <a:avLst/>
          </a:prstGeom>
          <a:noFill/>
        </p:spPr>
        <p:txBody>
          <a:bodyPr wrap="square" rtlCol="0">
            <a:spAutoFit/>
          </a:bodyPr>
          <a:lstStyle/>
          <a:p>
            <a:r>
              <a:rPr lang="zh-CN" altLang="en-US" dirty="0"/>
              <a:t>设计单元奖励函数</a:t>
            </a:r>
          </a:p>
        </p:txBody>
      </p:sp>
      <p:sp>
        <p:nvSpPr>
          <p:cNvPr id="25" name="矩形 24">
            <a:extLst>
              <a:ext uri="{FF2B5EF4-FFF2-40B4-BE49-F238E27FC236}">
                <a16:creationId xmlns:a16="http://schemas.microsoft.com/office/drawing/2014/main" id="{63D0F1C4-CE2B-5FB6-D0BE-79275DFC5CF3}"/>
              </a:ext>
            </a:extLst>
          </p:cNvPr>
          <p:cNvSpPr/>
          <p:nvPr/>
        </p:nvSpPr>
        <p:spPr>
          <a:xfrm>
            <a:off x="1982081" y="2390250"/>
            <a:ext cx="1120521" cy="7538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9BD57C6-9532-A510-F992-A336005EE59E}"/>
              </a:ext>
            </a:extLst>
          </p:cNvPr>
          <p:cNvSpPr/>
          <p:nvPr/>
        </p:nvSpPr>
        <p:spPr>
          <a:xfrm>
            <a:off x="472416" y="2329640"/>
            <a:ext cx="2697279" cy="85263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25366D61-AE74-4C1A-B18D-0C944695A91E}"/>
              </a:ext>
            </a:extLst>
          </p:cNvPr>
          <p:cNvGrpSpPr/>
          <p:nvPr/>
        </p:nvGrpSpPr>
        <p:grpSpPr>
          <a:xfrm>
            <a:off x="3586225" y="3563194"/>
            <a:ext cx="1124690" cy="979445"/>
            <a:chOff x="624643" y="3410794"/>
            <a:chExt cx="1124690" cy="979445"/>
          </a:xfrm>
        </p:grpSpPr>
        <p:sp>
          <p:nvSpPr>
            <p:cNvPr id="27" name="矩形 26">
              <a:extLst>
                <a:ext uri="{FF2B5EF4-FFF2-40B4-BE49-F238E27FC236}">
                  <a16:creationId xmlns:a16="http://schemas.microsoft.com/office/drawing/2014/main" id="{351A9390-6782-A5F4-E5F6-C917E89FA058}"/>
                </a:ext>
              </a:extLst>
            </p:cNvPr>
            <p:cNvSpPr/>
            <p:nvPr/>
          </p:nvSpPr>
          <p:spPr>
            <a:xfrm>
              <a:off x="647731" y="3410794"/>
              <a:ext cx="1078513" cy="979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D810A725-F0E3-F016-922E-AD769B2B57BD}"/>
                </a:ext>
              </a:extLst>
            </p:cNvPr>
            <p:cNvSpPr txBox="1"/>
            <p:nvPr/>
          </p:nvSpPr>
          <p:spPr>
            <a:xfrm>
              <a:off x="624643" y="3580265"/>
              <a:ext cx="1124690" cy="646331"/>
            </a:xfrm>
            <a:prstGeom prst="rect">
              <a:avLst/>
            </a:prstGeom>
            <a:noFill/>
          </p:spPr>
          <p:txBody>
            <a:bodyPr wrap="square" rtlCol="0">
              <a:spAutoFit/>
            </a:bodyPr>
            <a:lstStyle/>
            <a:p>
              <a:pPr algn="ctr"/>
              <a:r>
                <a:rPr lang="zh-CN" altLang="en-US" dirty="0"/>
                <a:t>单元调度智能体</a:t>
              </a:r>
            </a:p>
          </p:txBody>
        </p:sp>
      </p:grpSp>
      <p:grpSp>
        <p:nvGrpSpPr>
          <p:cNvPr id="34" name="组合 33">
            <a:extLst>
              <a:ext uri="{FF2B5EF4-FFF2-40B4-BE49-F238E27FC236}">
                <a16:creationId xmlns:a16="http://schemas.microsoft.com/office/drawing/2014/main" id="{DB47494A-0481-47C6-40D4-9C7271BC0F94}"/>
              </a:ext>
            </a:extLst>
          </p:cNvPr>
          <p:cNvGrpSpPr/>
          <p:nvPr/>
        </p:nvGrpSpPr>
        <p:grpSpPr>
          <a:xfrm>
            <a:off x="777043" y="3563194"/>
            <a:ext cx="1124690" cy="979445"/>
            <a:chOff x="624643" y="3410794"/>
            <a:chExt cx="1124690" cy="979445"/>
          </a:xfrm>
        </p:grpSpPr>
        <p:sp>
          <p:nvSpPr>
            <p:cNvPr id="35" name="矩形 34">
              <a:extLst>
                <a:ext uri="{FF2B5EF4-FFF2-40B4-BE49-F238E27FC236}">
                  <a16:creationId xmlns:a16="http://schemas.microsoft.com/office/drawing/2014/main" id="{E6A6622D-B2CC-3D5C-C79B-D3C9744F57C4}"/>
                </a:ext>
              </a:extLst>
            </p:cNvPr>
            <p:cNvSpPr/>
            <p:nvPr/>
          </p:nvSpPr>
          <p:spPr>
            <a:xfrm>
              <a:off x="647731" y="3410794"/>
              <a:ext cx="1078513" cy="979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BF2CA256-143D-D1F4-14D8-D8403A43A1B9}"/>
                </a:ext>
              </a:extLst>
            </p:cNvPr>
            <p:cNvSpPr txBox="1"/>
            <p:nvPr/>
          </p:nvSpPr>
          <p:spPr>
            <a:xfrm>
              <a:off x="624643" y="3580265"/>
              <a:ext cx="1124690" cy="646331"/>
            </a:xfrm>
            <a:prstGeom prst="rect">
              <a:avLst/>
            </a:prstGeom>
            <a:noFill/>
          </p:spPr>
          <p:txBody>
            <a:bodyPr wrap="square" rtlCol="0">
              <a:spAutoFit/>
            </a:bodyPr>
            <a:lstStyle/>
            <a:p>
              <a:pPr algn="ctr"/>
              <a:r>
                <a:rPr lang="zh-CN" altLang="en-US" dirty="0"/>
                <a:t>单元调度智能体</a:t>
              </a:r>
            </a:p>
          </p:txBody>
        </p:sp>
      </p:grpSp>
      <p:sp>
        <p:nvSpPr>
          <p:cNvPr id="40" name="文本框 39">
            <a:extLst>
              <a:ext uri="{FF2B5EF4-FFF2-40B4-BE49-F238E27FC236}">
                <a16:creationId xmlns:a16="http://schemas.microsoft.com/office/drawing/2014/main" id="{1433577B-FFE0-1227-5062-CA3CEFC2C90E}"/>
              </a:ext>
            </a:extLst>
          </p:cNvPr>
          <p:cNvSpPr txBox="1"/>
          <p:nvPr/>
        </p:nvSpPr>
        <p:spPr>
          <a:xfrm>
            <a:off x="3110677" y="4334947"/>
            <a:ext cx="506870" cy="646331"/>
          </a:xfrm>
          <a:prstGeom prst="rect">
            <a:avLst/>
          </a:prstGeom>
          <a:noFill/>
        </p:spPr>
        <p:txBody>
          <a:bodyPr wrap="none" rtlCol="0">
            <a:spAutoFit/>
          </a:bodyPr>
          <a:lstStyle/>
          <a:p>
            <a:r>
              <a:rPr lang="en-US" altLang="zh-CN" sz="3600" dirty="0"/>
              <a:t>…</a:t>
            </a:r>
            <a:endParaRPr lang="zh-CN" altLang="en-US" sz="3600" dirty="0"/>
          </a:p>
        </p:txBody>
      </p:sp>
      <p:cxnSp>
        <p:nvCxnSpPr>
          <p:cNvPr id="45" name="直接连接符 44">
            <a:extLst>
              <a:ext uri="{FF2B5EF4-FFF2-40B4-BE49-F238E27FC236}">
                <a16:creationId xmlns:a16="http://schemas.microsoft.com/office/drawing/2014/main" id="{0A56FCC7-678C-B120-3F9D-ADE98B19532A}"/>
              </a:ext>
            </a:extLst>
          </p:cNvPr>
          <p:cNvCxnSpPr/>
          <p:nvPr/>
        </p:nvCxnSpPr>
        <p:spPr>
          <a:xfrm>
            <a:off x="1339387" y="4819507"/>
            <a:ext cx="2839512" cy="0"/>
          </a:xfrm>
          <a:prstGeom prst="line">
            <a:avLst/>
          </a:prstGeom>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585C0373-5378-8E97-B2DC-9C939659EEB9}"/>
              </a:ext>
            </a:extLst>
          </p:cNvPr>
          <p:cNvCxnSpPr>
            <a:cxnSpLocks/>
          </p:cNvCxnSpPr>
          <p:nvPr/>
        </p:nvCxnSpPr>
        <p:spPr>
          <a:xfrm>
            <a:off x="1339387" y="4542639"/>
            <a:ext cx="0" cy="276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ECF68185-9893-CF0B-C9F9-05A75ECE384B}"/>
              </a:ext>
            </a:extLst>
          </p:cNvPr>
          <p:cNvCxnSpPr>
            <a:cxnSpLocks/>
          </p:cNvCxnSpPr>
          <p:nvPr/>
        </p:nvCxnSpPr>
        <p:spPr>
          <a:xfrm>
            <a:off x="4165020" y="4542639"/>
            <a:ext cx="0" cy="276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6AFE3B4A-BE6E-760E-C5B7-7B55B0B0BAA7}"/>
              </a:ext>
            </a:extLst>
          </p:cNvPr>
          <p:cNvCxnSpPr>
            <a:cxnSpLocks/>
          </p:cNvCxnSpPr>
          <p:nvPr/>
        </p:nvCxnSpPr>
        <p:spPr>
          <a:xfrm>
            <a:off x="2745061" y="4542639"/>
            <a:ext cx="0" cy="276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45929A55-EFB2-D73F-4FC9-90F505D5A5BA}"/>
              </a:ext>
            </a:extLst>
          </p:cNvPr>
          <p:cNvSpPr txBox="1"/>
          <p:nvPr/>
        </p:nvSpPr>
        <p:spPr>
          <a:xfrm>
            <a:off x="1820453" y="4365416"/>
            <a:ext cx="506870" cy="646331"/>
          </a:xfrm>
          <a:prstGeom prst="rect">
            <a:avLst/>
          </a:prstGeom>
          <a:noFill/>
        </p:spPr>
        <p:txBody>
          <a:bodyPr wrap="none" rtlCol="0">
            <a:spAutoFit/>
          </a:bodyPr>
          <a:lstStyle/>
          <a:p>
            <a:r>
              <a:rPr lang="en-US" altLang="zh-CN" sz="3600" dirty="0"/>
              <a:t>…</a:t>
            </a:r>
            <a:endParaRPr lang="zh-CN" altLang="en-US" sz="3600" dirty="0"/>
          </a:p>
        </p:txBody>
      </p:sp>
      <p:sp>
        <p:nvSpPr>
          <p:cNvPr id="52" name="文本框 51">
            <a:extLst>
              <a:ext uri="{FF2B5EF4-FFF2-40B4-BE49-F238E27FC236}">
                <a16:creationId xmlns:a16="http://schemas.microsoft.com/office/drawing/2014/main" id="{0771DA76-8C14-B201-F2DD-FE0C458DAA7D}"/>
              </a:ext>
            </a:extLst>
          </p:cNvPr>
          <p:cNvSpPr txBox="1"/>
          <p:nvPr/>
        </p:nvSpPr>
        <p:spPr>
          <a:xfrm>
            <a:off x="2644155" y="3881526"/>
            <a:ext cx="506870" cy="646331"/>
          </a:xfrm>
          <a:prstGeom prst="rect">
            <a:avLst/>
          </a:prstGeom>
          <a:noFill/>
        </p:spPr>
        <p:txBody>
          <a:bodyPr wrap="none" rtlCol="0">
            <a:spAutoFit/>
          </a:bodyPr>
          <a:lstStyle/>
          <a:p>
            <a:r>
              <a:rPr lang="en-US" altLang="zh-CN" sz="3600" dirty="0"/>
              <a:t>…</a:t>
            </a:r>
            <a:endParaRPr lang="zh-CN" altLang="en-US" sz="3600" dirty="0"/>
          </a:p>
        </p:txBody>
      </p:sp>
      <p:sp>
        <p:nvSpPr>
          <p:cNvPr id="54" name="箭头: 下 53">
            <a:extLst>
              <a:ext uri="{FF2B5EF4-FFF2-40B4-BE49-F238E27FC236}">
                <a16:creationId xmlns:a16="http://schemas.microsoft.com/office/drawing/2014/main" id="{B54AD93D-36BC-3754-3A85-E472869C7D01}"/>
              </a:ext>
            </a:extLst>
          </p:cNvPr>
          <p:cNvSpPr/>
          <p:nvPr/>
        </p:nvSpPr>
        <p:spPr>
          <a:xfrm>
            <a:off x="1098656" y="3252863"/>
            <a:ext cx="508764" cy="236183"/>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1C1ACD3B-7EA2-A3D7-4C24-310AE00EFF9B}"/>
              </a:ext>
            </a:extLst>
          </p:cNvPr>
          <p:cNvSpPr/>
          <p:nvPr/>
        </p:nvSpPr>
        <p:spPr>
          <a:xfrm>
            <a:off x="3629689" y="2248282"/>
            <a:ext cx="864450" cy="2747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CE933B0C-273D-2743-FAD8-C4ADB7E0DF45}"/>
              </a:ext>
            </a:extLst>
          </p:cNvPr>
          <p:cNvSpPr/>
          <p:nvPr/>
        </p:nvSpPr>
        <p:spPr>
          <a:xfrm>
            <a:off x="361050" y="1412533"/>
            <a:ext cx="2970231" cy="1832939"/>
          </a:xfrm>
          <a:prstGeom prst="rect">
            <a:avLst/>
          </a:prstGeom>
          <a:noFill/>
          <a:ln w="19050">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8" name="文本框 57">
                <a:extLst>
                  <a:ext uri="{FF2B5EF4-FFF2-40B4-BE49-F238E27FC236}">
                    <a16:creationId xmlns:a16="http://schemas.microsoft.com/office/drawing/2014/main" id="{AE5F6812-DF65-0362-CDC5-DBDB95350FF7}"/>
                  </a:ext>
                </a:extLst>
              </p:cNvPr>
              <p:cNvSpPr txBox="1"/>
              <p:nvPr/>
            </p:nvSpPr>
            <p:spPr>
              <a:xfrm>
                <a:off x="343323" y="6082637"/>
                <a:ext cx="7023183" cy="360676"/>
              </a:xfrm>
              <a:prstGeom prst="rect">
                <a:avLst/>
              </a:prstGeom>
              <a:noFill/>
            </p:spPr>
            <p:txBody>
              <a:bodyPr wrap="square">
                <a:spAutoFit/>
              </a:bodyPr>
              <a:lstStyle/>
              <a:p>
                <a14:m>
                  <m:oMath xmlns:m="http://schemas.openxmlformats.org/officeDocument/2006/math">
                    <m:sSub>
                      <m:sSubPr>
                        <m:ctrlPr>
                          <a:rPr lang="zh-CN" altLang="zh-CN" sz="1600" i="1" smtClean="0">
                            <a:effectLst/>
                            <a:latin typeface="Cambria Math" panose="02040503050406030204" pitchFamily="18" charset="0"/>
                            <a:ea typeface="Cambria Math" panose="02040503050406030204" pitchFamily="18" charset="0"/>
                          </a:rPr>
                        </m:ctrlPr>
                      </m:sSubPr>
                      <m:e>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𝑄</m:t>
                        </m:r>
                      </m:e>
                      <m:sub>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𝑡𝑜𝑡</m:t>
                        </m:r>
                      </m:sub>
                    </m:sSub>
                    <m:d>
                      <m:dPr>
                        <m:ctrlP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𝑂</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𝜙</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a:effectLst/>
                            <a:latin typeface="Cambria Math" panose="02040503050406030204" pitchFamily="18" charset="0"/>
                            <a:ea typeface="宋体" panose="02010600030101010101" pitchFamily="2" charset="-122"/>
                            <a:cs typeface="Times New Roman" panose="02020603050405020304" pitchFamily="18" charset="0"/>
                          </a:rPr>
                          <m:t>𝜃</m:t>
                        </m:r>
                      </m:e>
                    </m:d>
                    <m:r>
                      <a:rPr lang="en-US" altLang="zh-CN" sz="1600" b="0" i="1"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m:ctrlPr>
                      </m:sSubPr>
                      <m:e>
                        <m:r>
                          <a:rPr lang="en-US" altLang="zh-CN" sz="1600" i="1"/>
                          <m:t>𝑞</m:t>
                        </m:r>
                      </m:e>
                      <m:sub>
                        <m:r>
                          <a:rPr lang="en-US" altLang="zh-CN" sz="1600" i="1"/>
                          <m:t>𝜙</m:t>
                        </m:r>
                      </m:sub>
                    </m:sSub>
                    <m:r>
                      <a:rPr lang="en-US" altLang="zh-CN" sz="1600" i="1"/>
                      <m:t>(</m:t>
                    </m:r>
                    <m:r>
                      <a:rPr lang="en-US" altLang="zh-CN" sz="1600" i="1"/>
                      <m:t>𝑠</m:t>
                    </m:r>
                    <m:r>
                      <a:rPr lang="en-US" altLang="zh-CN" sz="1600" i="1"/>
                      <m:t>,</m:t>
                    </m:r>
                    <m:sSub>
                      <m:sSubPr>
                        <m:ctrlPr>
                          <a:rPr lang="zh-CN" altLang="zh-CN" sz="1600" i="1"/>
                        </m:ctrlPr>
                      </m:sSubPr>
                      <m:e>
                        <m:r>
                          <a:rPr lang="en-US" altLang="zh-CN" sz="1600" i="1"/>
                          <m:t>𝑄</m:t>
                        </m:r>
                      </m:e>
                      <m:sub>
                        <m:r>
                          <a:rPr lang="en-US" altLang="zh-CN" sz="1600" i="1"/>
                          <m:t>1</m:t>
                        </m:r>
                      </m:sub>
                    </m:sSub>
                    <m:r>
                      <a:rPr lang="en-US" altLang="zh-CN" sz="1600" i="1"/>
                      <m:t>(</m:t>
                    </m:r>
                    <m:sSub>
                      <m:sSubPr>
                        <m:ctrlPr>
                          <a:rPr lang="zh-CN" altLang="zh-CN" sz="1600" i="1"/>
                        </m:ctrlPr>
                      </m:sSubPr>
                      <m:e>
                        <m:r>
                          <a:rPr lang="en-US" altLang="zh-CN" sz="1600" i="1"/>
                          <m:t>𝑂</m:t>
                        </m:r>
                      </m:e>
                      <m:sub>
                        <m:r>
                          <a:rPr lang="en-US" altLang="zh-CN" sz="1600" i="1"/>
                          <m:t>1</m:t>
                        </m:r>
                      </m:sub>
                    </m:sSub>
                    <m:r>
                      <a:rPr lang="en-US" altLang="zh-CN" sz="1600" i="1"/>
                      <m:t>,</m:t>
                    </m:r>
                    <m:sSub>
                      <m:sSubPr>
                        <m:ctrlPr>
                          <a:rPr lang="zh-CN" altLang="zh-CN" sz="1600" i="1"/>
                        </m:ctrlPr>
                      </m:sSubPr>
                      <m:e>
                        <m:r>
                          <a:rPr lang="en-US" altLang="zh-CN" sz="1600" i="1"/>
                          <m:t>𝑎</m:t>
                        </m:r>
                      </m:e>
                      <m:sub>
                        <m:r>
                          <a:rPr lang="en-US" altLang="zh-CN" sz="1600" i="1"/>
                          <m:t>1</m:t>
                        </m:r>
                      </m:sub>
                    </m:sSub>
                    <m:r>
                      <a:rPr lang="en-US" altLang="zh-CN" sz="1600" i="1"/>
                      <m:t>;</m:t>
                    </m:r>
                    <m:sSub>
                      <m:sSubPr>
                        <m:ctrlPr>
                          <a:rPr lang="zh-CN" altLang="zh-CN" sz="1600" i="1"/>
                        </m:ctrlPr>
                      </m:sSubPr>
                      <m:e>
                        <m:r>
                          <a:rPr lang="en-US" altLang="zh-CN" sz="1600" i="1"/>
                          <m:t>𝜃</m:t>
                        </m:r>
                      </m:e>
                      <m:sub>
                        <m:r>
                          <a:rPr lang="en-US" altLang="zh-CN" sz="1600" i="1"/>
                          <m:t>1</m:t>
                        </m:r>
                      </m:sub>
                    </m:sSub>
                    <m:r>
                      <a:rPr lang="en-US" altLang="zh-CN" sz="1600" i="1"/>
                      <m:t>),</m:t>
                    </m:r>
                    <m:sSub>
                      <m:sSubPr>
                        <m:ctrlPr>
                          <a:rPr lang="zh-CN" altLang="zh-CN" sz="1600" i="1"/>
                        </m:ctrlPr>
                      </m:sSubPr>
                      <m:e>
                        <m:r>
                          <a:rPr lang="en-US" altLang="zh-CN" sz="1600" i="1"/>
                          <m:t>𝑄</m:t>
                        </m:r>
                      </m:e>
                      <m:sub>
                        <m:r>
                          <a:rPr lang="en-US" altLang="zh-CN" sz="1600" i="1"/>
                          <m:t>2</m:t>
                        </m:r>
                      </m:sub>
                    </m:sSub>
                    <m:r>
                      <a:rPr lang="en-US" altLang="zh-CN" sz="1600" i="1"/>
                      <m:t>(</m:t>
                    </m:r>
                    <m:sSub>
                      <m:sSubPr>
                        <m:ctrlPr>
                          <a:rPr lang="zh-CN" altLang="zh-CN" sz="1600" i="1"/>
                        </m:ctrlPr>
                      </m:sSubPr>
                      <m:e>
                        <m:r>
                          <a:rPr lang="en-US" altLang="zh-CN" sz="1600" i="1"/>
                          <m:t>𝑂</m:t>
                        </m:r>
                      </m:e>
                      <m:sub>
                        <m:r>
                          <a:rPr lang="en-US" altLang="zh-CN" sz="1600" i="1"/>
                          <m:t>2</m:t>
                        </m:r>
                      </m:sub>
                    </m:sSub>
                    <m:r>
                      <a:rPr lang="en-US" altLang="zh-CN" sz="1600" i="1"/>
                      <m:t>,</m:t>
                    </m:r>
                    <m:sSub>
                      <m:sSubPr>
                        <m:ctrlPr>
                          <a:rPr lang="zh-CN" altLang="zh-CN" sz="1600" i="1"/>
                        </m:ctrlPr>
                      </m:sSubPr>
                      <m:e>
                        <m:r>
                          <a:rPr lang="en-US" altLang="zh-CN" sz="1600" i="1"/>
                          <m:t>𝑎</m:t>
                        </m:r>
                      </m:e>
                      <m:sub>
                        <m:r>
                          <a:rPr lang="en-US" altLang="zh-CN" sz="1600" i="1"/>
                          <m:t>2</m:t>
                        </m:r>
                      </m:sub>
                    </m:sSub>
                    <m:r>
                      <a:rPr lang="en-US" altLang="zh-CN" sz="1600" i="1"/>
                      <m:t>;</m:t>
                    </m:r>
                    <m:sSub>
                      <m:sSubPr>
                        <m:ctrlPr>
                          <a:rPr lang="zh-CN" altLang="zh-CN" sz="1600" i="1"/>
                        </m:ctrlPr>
                      </m:sSubPr>
                      <m:e>
                        <m:r>
                          <a:rPr lang="en-US" altLang="zh-CN" sz="1600" i="1"/>
                          <m:t>𝜃</m:t>
                        </m:r>
                      </m:e>
                      <m:sub>
                        <m:r>
                          <a:rPr lang="en-US" altLang="zh-CN" sz="1600" i="1"/>
                          <m:t>2</m:t>
                        </m:r>
                      </m:sub>
                    </m:sSub>
                    <m:r>
                      <a:rPr lang="en-US" altLang="zh-CN" sz="1600" i="1"/>
                      <m:t>),...</m:t>
                    </m:r>
                    <m:sSub>
                      <m:sSubPr>
                        <m:ctrlPr>
                          <a:rPr lang="zh-CN" altLang="zh-CN" sz="1600" i="1"/>
                        </m:ctrlPr>
                      </m:sSubPr>
                      <m:e>
                        <m:r>
                          <a:rPr lang="en-US" altLang="zh-CN" sz="1600" i="1"/>
                          <m:t>𝑄</m:t>
                        </m:r>
                      </m:e>
                      <m:sub>
                        <m:r>
                          <a:rPr lang="en-US" altLang="zh-CN" sz="1600" i="1"/>
                          <m:t>𝑛</m:t>
                        </m:r>
                      </m:sub>
                    </m:sSub>
                    <m:r>
                      <a:rPr lang="en-US" altLang="zh-CN" sz="1600" i="1"/>
                      <m:t>(</m:t>
                    </m:r>
                    <m:sSub>
                      <m:sSubPr>
                        <m:ctrlPr>
                          <a:rPr lang="zh-CN" altLang="zh-CN" sz="1600" i="1"/>
                        </m:ctrlPr>
                      </m:sSubPr>
                      <m:e>
                        <m:r>
                          <a:rPr lang="en-US" altLang="zh-CN" sz="1600" i="1"/>
                          <m:t>𝑂</m:t>
                        </m:r>
                      </m:e>
                      <m:sub>
                        <m:r>
                          <a:rPr lang="en-US" altLang="zh-CN" sz="1600" i="1"/>
                          <m:t>𝑛</m:t>
                        </m:r>
                      </m:sub>
                    </m:sSub>
                    <m:r>
                      <a:rPr lang="en-US" altLang="zh-CN" sz="1600" i="1"/>
                      <m:t>,</m:t>
                    </m:r>
                    <m:sSub>
                      <m:sSubPr>
                        <m:ctrlPr>
                          <a:rPr lang="zh-CN" altLang="zh-CN" sz="1600" i="1"/>
                        </m:ctrlPr>
                      </m:sSubPr>
                      <m:e>
                        <m:r>
                          <a:rPr lang="en-US" altLang="zh-CN" sz="1600" i="1"/>
                          <m:t>𝑎</m:t>
                        </m:r>
                      </m:e>
                      <m:sub>
                        <m:r>
                          <a:rPr lang="en-US" altLang="zh-CN" sz="1600" i="1"/>
                          <m:t>𝑛</m:t>
                        </m:r>
                      </m:sub>
                    </m:sSub>
                    <m:r>
                      <a:rPr lang="en-US" altLang="zh-CN" sz="1600" i="1"/>
                      <m:t>;</m:t>
                    </m:r>
                    <m:sSub>
                      <m:sSubPr>
                        <m:ctrlPr>
                          <a:rPr lang="zh-CN" altLang="zh-CN" sz="1600" i="1"/>
                        </m:ctrlPr>
                      </m:sSubPr>
                      <m:e>
                        <m:r>
                          <a:rPr lang="en-US" altLang="zh-CN" sz="1600" i="1"/>
                          <m:t>𝜃</m:t>
                        </m:r>
                      </m:e>
                      <m:sub>
                        <m:r>
                          <a:rPr lang="en-US" altLang="zh-CN" sz="1600" i="1"/>
                          <m:t>𝑛</m:t>
                        </m:r>
                      </m:sub>
                    </m:sSub>
                    <m:r>
                      <a:rPr lang="en-US" altLang="zh-CN" sz="1600" i="1"/>
                      <m:t>))</m:t>
                    </m:r>
                  </m:oMath>
                </a14:m>
                <a:r>
                  <a:rPr lang="en-US" altLang="zh-CN" sz="1600" i="1" dirty="0">
                    <a:effectLst/>
                    <a:latin typeface="宋体" panose="02010600030101010101" pitchFamily="2" charset="-122"/>
                    <a:cs typeface="Times New Roman" panose="02020603050405020304" pitchFamily="18" charset="0"/>
                  </a:rPr>
                  <a:t> </a:t>
                </a:r>
                <a:endParaRPr lang="zh-CN" altLang="en-US" sz="1600" dirty="0"/>
              </a:p>
            </p:txBody>
          </p:sp>
        </mc:Choice>
        <mc:Fallback>
          <p:sp>
            <p:nvSpPr>
              <p:cNvPr id="58" name="文本框 57">
                <a:extLst>
                  <a:ext uri="{FF2B5EF4-FFF2-40B4-BE49-F238E27FC236}">
                    <a16:creationId xmlns:a16="http://schemas.microsoft.com/office/drawing/2014/main" id="{AE5F6812-DF65-0362-CDC5-DBDB95350FF7}"/>
                  </a:ext>
                </a:extLst>
              </p:cNvPr>
              <p:cNvSpPr txBox="1">
                <a:spLocks noRot="1" noChangeAspect="1" noMove="1" noResize="1" noEditPoints="1" noAdjustHandles="1" noChangeArrowheads="1" noChangeShapeType="1" noTextEdit="1"/>
              </p:cNvSpPr>
              <p:nvPr/>
            </p:nvSpPr>
            <p:spPr>
              <a:xfrm>
                <a:off x="343323" y="6082637"/>
                <a:ext cx="7023183" cy="360676"/>
              </a:xfrm>
              <a:prstGeom prst="rect">
                <a:avLst/>
              </a:prstGeom>
              <a:blipFill>
                <a:blip r:embed="rId5"/>
                <a:stretch>
                  <a:fillRect b="-5085"/>
                </a:stretch>
              </a:blipFill>
            </p:spPr>
            <p:txBody>
              <a:bodyPr/>
              <a:lstStyle/>
              <a:p>
                <a:r>
                  <a:rPr lang="zh-CN" altLang="en-US">
                    <a:noFill/>
                  </a:rPr>
                  <a:t> </a:t>
                </a:r>
              </a:p>
            </p:txBody>
          </p:sp>
        </mc:Fallback>
      </mc:AlternateContent>
      <p:sp>
        <p:nvSpPr>
          <p:cNvPr id="59" name="箭头: 右 58">
            <a:extLst>
              <a:ext uri="{FF2B5EF4-FFF2-40B4-BE49-F238E27FC236}">
                <a16:creationId xmlns:a16="http://schemas.microsoft.com/office/drawing/2014/main" id="{95DDBDC2-6CE6-0663-8A79-DF5377D0E711}"/>
              </a:ext>
            </a:extLst>
          </p:cNvPr>
          <p:cNvSpPr/>
          <p:nvPr/>
        </p:nvSpPr>
        <p:spPr>
          <a:xfrm>
            <a:off x="4100372" y="5304067"/>
            <a:ext cx="864450" cy="2747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F0D35F7B-F40E-CDE9-E91E-0E2235D90748}"/>
              </a:ext>
            </a:extLst>
          </p:cNvPr>
          <p:cNvSpPr/>
          <p:nvPr/>
        </p:nvSpPr>
        <p:spPr>
          <a:xfrm>
            <a:off x="7824974" y="2243157"/>
            <a:ext cx="864450" cy="2747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2" name="图片 61">
            <a:extLst>
              <a:ext uri="{FF2B5EF4-FFF2-40B4-BE49-F238E27FC236}">
                <a16:creationId xmlns:a16="http://schemas.microsoft.com/office/drawing/2014/main" id="{61D02116-A98B-5C8B-F411-22E8B6129679}"/>
              </a:ext>
            </a:extLst>
          </p:cNvPr>
          <p:cNvPicPr>
            <a:picLocks noChangeAspect="1"/>
          </p:cNvPicPr>
          <p:nvPr/>
        </p:nvPicPr>
        <p:blipFill>
          <a:blip r:embed="rId6"/>
          <a:stretch>
            <a:fillRect/>
          </a:stretch>
        </p:blipFill>
        <p:spPr>
          <a:xfrm>
            <a:off x="8265906" y="3594912"/>
            <a:ext cx="3645030" cy="2497790"/>
          </a:xfrm>
          <a:prstGeom prst="rect">
            <a:avLst/>
          </a:prstGeom>
        </p:spPr>
      </p:pic>
      <p:sp>
        <p:nvSpPr>
          <p:cNvPr id="63" name="箭头: 右 62">
            <a:extLst>
              <a:ext uri="{FF2B5EF4-FFF2-40B4-BE49-F238E27FC236}">
                <a16:creationId xmlns:a16="http://schemas.microsoft.com/office/drawing/2014/main" id="{14EDD111-C057-A569-D25A-B2BAB8FAE6C7}"/>
              </a:ext>
            </a:extLst>
          </p:cNvPr>
          <p:cNvSpPr/>
          <p:nvPr/>
        </p:nvSpPr>
        <p:spPr>
          <a:xfrm rot="5400000">
            <a:off x="9821733" y="3126988"/>
            <a:ext cx="513341" cy="2630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箭头: 右 63">
            <a:extLst>
              <a:ext uri="{FF2B5EF4-FFF2-40B4-BE49-F238E27FC236}">
                <a16:creationId xmlns:a16="http://schemas.microsoft.com/office/drawing/2014/main" id="{40EA5B0D-9666-4CB4-8EDA-583FC3071C10}"/>
              </a:ext>
            </a:extLst>
          </p:cNvPr>
          <p:cNvSpPr/>
          <p:nvPr/>
        </p:nvSpPr>
        <p:spPr>
          <a:xfrm>
            <a:off x="7366506" y="5277541"/>
            <a:ext cx="864450" cy="2747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22171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848CF1DF-A676-E944-8423-6FA22E34237F}"/>
              </a:ext>
            </a:extLst>
          </p:cNvPr>
          <p:cNvSpPr txBox="1"/>
          <p:nvPr/>
        </p:nvSpPr>
        <p:spPr>
          <a:xfrm>
            <a:off x="1068615" y="782746"/>
            <a:ext cx="7212231" cy="400110"/>
          </a:xfrm>
          <a:prstGeom prst="rect">
            <a:avLst/>
          </a:prstGeom>
          <a:noFill/>
        </p:spPr>
        <p:txBody>
          <a:bodyPr wrap="none" rtlCol="0">
            <a:spAutoFit/>
          </a:bodyPr>
          <a:lstStyle/>
          <a:p>
            <a:pPr marL="285750" indent="-285750">
              <a:buFont typeface="Wingdings" pitchFamily="2" charset="2"/>
              <a:buChar char="p"/>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2</a:t>
            </a:r>
            <a:r>
              <a:rPr lang="zh-CN" altLang="en-US" sz="2000" kern="100" dirty="0">
                <a:effectLst/>
                <a:latin typeface="Microsoft YaHei" panose="020B0503020204020204" pitchFamily="34" charset="-122"/>
                <a:ea typeface="Microsoft YaHei" panose="020B0503020204020204" pitchFamily="34" charset="-122"/>
                <a:cs typeface="Times New Roman" panose="02020603050405020304" pitchFamily="18" charset="0"/>
              </a:rPr>
              <a:t> 面向</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突发性动态事件的分布式自适应调度方法</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2</a:t>
            </a:r>
            <a:endParaRPr kumimoji="1" lang="zh-CN" altLang="en-US" sz="1600" dirty="0">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78366E24-2A00-1E4E-9485-3A584F89886C}"/>
              </a:ext>
            </a:extLst>
          </p:cNvPr>
          <p:cNvSpPr txBox="1"/>
          <p:nvPr/>
        </p:nvSpPr>
        <p:spPr>
          <a:xfrm>
            <a:off x="2352178" y="5285470"/>
            <a:ext cx="3503552" cy="584775"/>
          </a:xfrm>
          <a:prstGeom prst="rect">
            <a:avLst/>
          </a:prstGeom>
          <a:noFill/>
        </p:spPr>
        <p:txBody>
          <a:bodyPr wrap="square">
            <a:spAutoFit/>
          </a:bodyPr>
          <a:lstStyle/>
          <a:p>
            <a:pPr algn="ctr"/>
            <a:r>
              <a:rPr lang="zh-CN" altLang="en-US" sz="1600" dirty="0">
                <a:effectLst/>
              </a:rPr>
              <a:t>突发性动态事件监测与识别机制流程</a:t>
            </a:r>
          </a:p>
          <a:p>
            <a:pPr algn="ctr"/>
            <a:endParaRPr lang="zh-CN" altLang="en-US" sz="1600" dirty="0"/>
          </a:p>
        </p:txBody>
      </p:sp>
      <p:sp>
        <p:nvSpPr>
          <p:cNvPr id="31" name="文本框 30">
            <a:extLst>
              <a:ext uri="{FF2B5EF4-FFF2-40B4-BE49-F238E27FC236}">
                <a16:creationId xmlns:a16="http://schemas.microsoft.com/office/drawing/2014/main" id="{5372CF35-7E4F-F606-7286-4CBECB143C49}"/>
              </a:ext>
            </a:extLst>
          </p:cNvPr>
          <p:cNvSpPr txBox="1"/>
          <p:nvPr/>
        </p:nvSpPr>
        <p:spPr>
          <a:xfrm>
            <a:off x="631960" y="5337789"/>
            <a:ext cx="10878061" cy="1273875"/>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b="1" dirty="0"/>
              <a:t>研究重点</a:t>
            </a:r>
            <a:endParaRPr lang="en-US" altLang="zh-CN" dirty="0"/>
          </a:p>
          <a:p>
            <a:pPr marL="742950" lvl="1"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单元智能体学习在</a:t>
            </a:r>
            <a:r>
              <a:rPr lang="zh-CN" altLang="en-US" b="1" dirty="0">
                <a:latin typeface="宋体" panose="02010600030101010101" pitchFamily="2" charset="-122"/>
                <a:ea typeface="宋体" panose="02010600030101010101" pitchFamily="2" charset="-122"/>
              </a:rPr>
              <a:t>不同类型的突发事件</a:t>
            </a:r>
            <a:r>
              <a:rPr lang="zh-CN" altLang="en-US" dirty="0">
                <a:latin typeface="宋体" panose="02010600030101010101" pitchFamily="2" charset="-122"/>
                <a:ea typeface="宋体" panose="02010600030101010101" pitchFamily="2" charset="-122"/>
              </a:rPr>
              <a:t>下，以最小化最大完工时间为优化目标，生成调度策略。</a:t>
            </a:r>
          </a:p>
          <a:p>
            <a:pPr marL="742950" lvl="1" indent="-285750">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提升算法学习速度，收敛速度，降低计算复杂度</a:t>
            </a:r>
            <a:endParaRPr lang="en-US" altLang="zh-CN" dirty="0">
              <a:latin typeface="宋体" panose="02010600030101010101" pitchFamily="2" charset="-122"/>
              <a:ea typeface="宋体" panose="02010600030101010101" pitchFamily="2" charset="-122"/>
            </a:endParaRPr>
          </a:p>
        </p:txBody>
      </p:sp>
      <p:sp>
        <p:nvSpPr>
          <p:cNvPr id="34" name="文本框 33">
            <a:extLst>
              <a:ext uri="{FF2B5EF4-FFF2-40B4-BE49-F238E27FC236}">
                <a16:creationId xmlns:a16="http://schemas.microsoft.com/office/drawing/2014/main" id="{E6C27BAD-9556-2751-4E59-7FE734E822FD}"/>
              </a:ext>
            </a:extLst>
          </p:cNvPr>
          <p:cNvSpPr txBox="1"/>
          <p:nvPr/>
        </p:nvSpPr>
        <p:spPr>
          <a:xfrm rot="10800000" flipV="1">
            <a:off x="6865591" y="3219378"/>
            <a:ext cx="4694449" cy="1477328"/>
          </a:xfrm>
          <a:prstGeom prst="rect">
            <a:avLst/>
          </a:prstGeom>
          <a:noFill/>
        </p:spPr>
        <p:txBody>
          <a:bodyPr wrap="square" rtlCol="0">
            <a:spAutoFit/>
          </a:bodyPr>
          <a:lstStyle/>
          <a:p>
            <a:pPr marL="285750" indent="-285750">
              <a:buFont typeface="Wingdings" panose="05000000000000000000" pitchFamily="2" charset="2"/>
              <a:buChar char="p"/>
            </a:pPr>
            <a:r>
              <a:rPr lang="zh-CN" altLang="en-US" b="1" dirty="0">
                <a:latin typeface="宋体" panose="02010600030101010101" pitchFamily="2" charset="-122"/>
                <a:ea typeface="宋体" panose="02010600030101010101" pitchFamily="2" charset="-122"/>
              </a:rPr>
              <a:t>状态空间聚类</a:t>
            </a:r>
            <a:r>
              <a:rPr lang="zh-CN" altLang="en-US" dirty="0">
                <a:latin typeface="宋体" panose="02010600030101010101" pitchFamily="2" charset="-122"/>
                <a:ea typeface="宋体" panose="02010600030101010101" pitchFamily="2" charset="-122"/>
              </a:rPr>
              <a:t>：相似突发事件的状态特征具有相似性，为了应对大型状态空间带来的</a:t>
            </a:r>
            <a:r>
              <a:rPr lang="zh-CN" altLang="en-US" b="1" dirty="0">
                <a:latin typeface="宋体" panose="02010600030101010101" pitchFamily="2" charset="-122"/>
                <a:ea typeface="宋体" panose="02010600030101010101" pitchFamily="2" charset="-122"/>
              </a:rPr>
              <a:t>维度灾难</a:t>
            </a:r>
            <a:r>
              <a:rPr lang="zh-CN" altLang="en-US" dirty="0">
                <a:latin typeface="宋体" panose="02010600030101010101" pitchFamily="2" charset="-122"/>
                <a:ea typeface="宋体" panose="02010600030101010101" pitchFamily="2" charset="-122"/>
              </a:rPr>
              <a:t>，使用了</a:t>
            </a:r>
            <a:r>
              <a:rPr lang="zh-CN" altLang="en-US" b="1" dirty="0">
                <a:latin typeface="宋体" panose="02010600030101010101" pitchFamily="2" charset="-122"/>
                <a:ea typeface="宋体" panose="02010600030101010101" pitchFamily="2" charset="-122"/>
              </a:rPr>
              <a:t>聚类方法</a:t>
            </a:r>
            <a:r>
              <a:rPr lang="zh-CN" altLang="en-US" dirty="0">
                <a:latin typeface="宋体" panose="02010600030101010101" pitchFamily="2" charset="-122"/>
                <a:ea typeface="宋体" panose="02010600030101010101" pitchFamily="2" charset="-122"/>
              </a:rPr>
              <a:t>将相似状态组合在一起。降低计算复杂度，提升学习速度和计算效率，使算法能够更快收敛</a:t>
            </a:r>
            <a:r>
              <a:rPr lang="zh-CN" altLang="en-US" dirty="0"/>
              <a:t>。</a:t>
            </a:r>
          </a:p>
        </p:txBody>
      </p:sp>
      <p:pic>
        <p:nvPicPr>
          <p:cNvPr id="119" name="图片 118">
            <a:extLst>
              <a:ext uri="{FF2B5EF4-FFF2-40B4-BE49-F238E27FC236}">
                <a16:creationId xmlns:a16="http://schemas.microsoft.com/office/drawing/2014/main" id="{ADCFB69D-FB0D-C426-87CB-DEFCAE5D4591}"/>
              </a:ext>
            </a:extLst>
          </p:cNvPr>
          <p:cNvPicPr>
            <a:picLocks noChangeAspect="1"/>
          </p:cNvPicPr>
          <p:nvPr/>
        </p:nvPicPr>
        <p:blipFill>
          <a:blip r:embed="rId4"/>
          <a:stretch>
            <a:fillRect/>
          </a:stretch>
        </p:blipFill>
        <p:spPr>
          <a:xfrm>
            <a:off x="631960" y="1566291"/>
            <a:ext cx="3714679" cy="3391336"/>
          </a:xfrm>
          <a:prstGeom prst="rect">
            <a:avLst/>
          </a:prstGeom>
        </p:spPr>
      </p:pic>
      <p:sp>
        <p:nvSpPr>
          <p:cNvPr id="172" name="矩形 171">
            <a:extLst>
              <a:ext uri="{FF2B5EF4-FFF2-40B4-BE49-F238E27FC236}">
                <a16:creationId xmlns:a16="http://schemas.microsoft.com/office/drawing/2014/main" id="{EFAA6BD8-FBEA-EEA8-5595-365DA41454E3}"/>
              </a:ext>
            </a:extLst>
          </p:cNvPr>
          <p:cNvSpPr/>
          <p:nvPr/>
        </p:nvSpPr>
        <p:spPr>
          <a:xfrm>
            <a:off x="572680" y="1354946"/>
            <a:ext cx="3503552" cy="3649287"/>
          </a:xfrm>
          <a:prstGeom prst="rect">
            <a:avLst/>
          </a:prstGeom>
          <a:noFill/>
          <a:ln w="19050">
            <a:solidFill>
              <a:schemeClr val="accent5">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文本框 204">
            <a:extLst>
              <a:ext uri="{FF2B5EF4-FFF2-40B4-BE49-F238E27FC236}">
                <a16:creationId xmlns:a16="http://schemas.microsoft.com/office/drawing/2014/main" id="{EF36F037-66E4-B1A1-46B3-FECD7CF31E7A}"/>
              </a:ext>
            </a:extLst>
          </p:cNvPr>
          <p:cNvSpPr txBox="1"/>
          <p:nvPr/>
        </p:nvSpPr>
        <p:spPr>
          <a:xfrm>
            <a:off x="6865591" y="1520211"/>
            <a:ext cx="4563724" cy="1200329"/>
          </a:xfrm>
          <a:prstGeom prst="rect">
            <a:avLst/>
          </a:prstGeom>
          <a:noFill/>
        </p:spPr>
        <p:txBody>
          <a:bodyPr wrap="square" rtlCol="0">
            <a:spAutoFit/>
          </a:bodyPr>
          <a:lstStyle/>
          <a:p>
            <a:pPr marL="285750" indent="-285750">
              <a:buFont typeface="Wingdings" panose="05000000000000000000" pitchFamily="2" charset="2"/>
              <a:buChar char="p"/>
            </a:pPr>
            <a:r>
              <a:rPr lang="zh-CN" altLang="zh-CN" sz="1800" b="1" kern="0" dirty="0">
                <a:effectLst/>
                <a:ea typeface="宋体" panose="02010600030101010101" pitchFamily="2" charset="-122"/>
                <a:cs typeface="宋体" panose="02010600030101010101" pitchFamily="2" charset="-122"/>
              </a:rPr>
              <a:t>增强智能体的事件感知能力</a:t>
            </a:r>
            <a:r>
              <a:rPr lang="zh-CN" altLang="en-US" sz="1800" b="1" kern="0" dirty="0">
                <a:effectLst/>
                <a:ea typeface="宋体" panose="02010600030101010101" pitchFamily="2" charset="-122"/>
                <a:cs typeface="宋体" panose="02010600030101010101" pitchFamily="2" charset="-122"/>
              </a:rPr>
              <a:t>：</a:t>
            </a:r>
            <a:r>
              <a:rPr lang="zh-CN" altLang="zh-CN" sz="1800" kern="0" dirty="0">
                <a:effectLst/>
                <a:ea typeface="宋体" panose="02010600030101010101" pitchFamily="2" charset="-122"/>
                <a:cs typeface="宋体" panose="02010600030101010101" pitchFamily="2" charset="-122"/>
              </a:rPr>
              <a:t>引入动态事件检测</a:t>
            </a:r>
            <a:r>
              <a:rPr lang="zh-CN" altLang="en-US" sz="1800" kern="0" dirty="0">
                <a:effectLst/>
                <a:ea typeface="宋体" panose="02010600030101010101" pitchFamily="2" charset="-122"/>
                <a:cs typeface="宋体" panose="02010600030101010101" pitchFamily="2" charset="-122"/>
              </a:rPr>
              <a:t>识别</a:t>
            </a:r>
            <a:r>
              <a:rPr lang="zh-CN" altLang="zh-CN" sz="1800" kern="0" dirty="0">
                <a:effectLst/>
                <a:ea typeface="宋体" panose="02010600030101010101" pitchFamily="2" charset="-122"/>
                <a:cs typeface="宋体" panose="02010600030101010101" pitchFamily="2" charset="-122"/>
              </a:rPr>
              <a:t>模块，</a:t>
            </a:r>
            <a:r>
              <a:rPr lang="zh-CN" altLang="en-US" sz="1800" kern="0" dirty="0">
                <a:effectLst/>
                <a:ea typeface="宋体" panose="02010600030101010101" pitchFamily="2" charset="-122"/>
                <a:cs typeface="宋体" panose="02010600030101010101" pitchFamily="2" charset="-122"/>
              </a:rPr>
              <a:t>扩展智能体状态空间。异常检测算法的引入可以提高复杂多变动态环境下的</a:t>
            </a:r>
            <a:r>
              <a:rPr lang="zh-CN" altLang="en-US" kern="0" dirty="0">
                <a:ea typeface="宋体" panose="02010600030101010101" pitchFamily="2" charset="-122"/>
              </a:rPr>
              <a:t>训练效率和决策质量</a:t>
            </a:r>
          </a:p>
        </p:txBody>
      </p:sp>
      <p:pic>
        <p:nvPicPr>
          <p:cNvPr id="209" name="图片 208">
            <a:extLst>
              <a:ext uri="{FF2B5EF4-FFF2-40B4-BE49-F238E27FC236}">
                <a16:creationId xmlns:a16="http://schemas.microsoft.com/office/drawing/2014/main" id="{407ADC57-3644-AE68-F81E-54CC7060625E}"/>
              </a:ext>
            </a:extLst>
          </p:cNvPr>
          <p:cNvPicPr>
            <a:picLocks noChangeAspect="1"/>
          </p:cNvPicPr>
          <p:nvPr/>
        </p:nvPicPr>
        <p:blipFill>
          <a:blip r:embed="rId5"/>
          <a:stretch>
            <a:fillRect/>
          </a:stretch>
        </p:blipFill>
        <p:spPr>
          <a:xfrm>
            <a:off x="4103954" y="1823939"/>
            <a:ext cx="2733915" cy="2273389"/>
          </a:xfrm>
          <a:prstGeom prst="rect">
            <a:avLst/>
          </a:prstGeom>
        </p:spPr>
      </p:pic>
    </p:spTree>
    <p:extLst>
      <p:ext uri="{BB962C8B-B14F-4D97-AF65-F5344CB8AC3E}">
        <p14:creationId xmlns:p14="http://schemas.microsoft.com/office/powerpoint/2010/main" val="1461340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图片 92">
            <a:extLst>
              <a:ext uri="{FF2B5EF4-FFF2-40B4-BE49-F238E27FC236}">
                <a16:creationId xmlns:a16="http://schemas.microsoft.com/office/drawing/2014/main" id="{4C8A12D6-1CF0-78A4-72DE-CD66859400B9}"/>
              </a:ext>
            </a:extLst>
          </p:cNvPr>
          <p:cNvPicPr>
            <a:picLocks noChangeAspect="1"/>
          </p:cNvPicPr>
          <p:nvPr/>
        </p:nvPicPr>
        <p:blipFill>
          <a:blip r:embed="rId3"/>
          <a:stretch>
            <a:fillRect/>
          </a:stretch>
        </p:blipFill>
        <p:spPr>
          <a:xfrm>
            <a:off x="687918" y="2294135"/>
            <a:ext cx="3047481" cy="2643896"/>
          </a:xfrm>
          <a:prstGeom prst="rect">
            <a:avLst/>
          </a:prstGeom>
        </p:spPr>
      </p:pic>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94E559A4-D47E-D24C-A04C-636C021AB101}"/>
              </a:ext>
            </a:extLst>
          </p:cNvPr>
          <p:cNvSpPr txBox="1"/>
          <p:nvPr/>
        </p:nvSpPr>
        <p:spPr>
          <a:xfrm>
            <a:off x="1068615" y="782746"/>
            <a:ext cx="7016664" cy="400110"/>
          </a:xfrm>
          <a:prstGeom prst="rect">
            <a:avLst/>
          </a:prstGeom>
          <a:noFill/>
        </p:spPr>
        <p:txBody>
          <a:bodyPr wrap="none" rtlCol="0">
            <a:spAutoFit/>
          </a:bodyPr>
          <a:lstStyle/>
          <a:p>
            <a:pPr marL="285750" indent="-285750">
              <a:buFont typeface="Wingdings" pitchFamily="2" charset="2"/>
              <a:buChar char="p"/>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 面向可预测动态事件的分布式动态调度方法</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3</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F8D9F18A-325E-0F73-7F1D-D4CE25CA1264}"/>
              </a:ext>
            </a:extLst>
          </p:cNvPr>
          <p:cNvSpPr txBox="1"/>
          <p:nvPr/>
        </p:nvSpPr>
        <p:spPr>
          <a:xfrm>
            <a:off x="6983917" y="1861515"/>
            <a:ext cx="4255101" cy="3509137"/>
          </a:xfrm>
          <a:prstGeom prst="rect">
            <a:avLst/>
          </a:prstGeom>
          <a:noFill/>
        </p:spPr>
        <p:txBody>
          <a:bodyPr wrap="square" rtlCol="0">
            <a:spAutoFit/>
          </a:bodyPr>
          <a:lstStyle/>
          <a:p>
            <a:pPr marL="285750" indent="-285750">
              <a:buFont typeface="Wingdings" panose="05000000000000000000" pitchFamily="2" charset="2"/>
              <a:buChar char="p"/>
            </a:pPr>
            <a:r>
              <a:rPr lang="zh-CN" altLang="en-US" b="1" dirty="0">
                <a:latin typeface="宋体" panose="02010600030101010101" pitchFamily="2" charset="-122"/>
                <a:ea typeface="宋体" panose="02010600030101010101" pitchFamily="2" charset="-122"/>
              </a:rPr>
              <a:t>预测算法</a:t>
            </a:r>
            <a:r>
              <a:rPr lang="zh-CN" altLang="en-US" dirty="0">
                <a:latin typeface="宋体" panose="02010600030101010101" pitchFamily="2" charset="-122"/>
                <a:ea typeface="宋体" panose="02010600030101010101" pitchFamily="2" charset="-122"/>
              </a:rPr>
              <a:t>：通过时间序列模型预测未来的设备负载和工具磨损，将这些预测值扩展到智能体的状态输入，帮助智能体进行前瞻性任务规划。</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pPr marL="285750" indent="-285750">
              <a:buFont typeface="Wingdings" panose="05000000000000000000" pitchFamily="2" charset="2"/>
              <a:buChar char="p"/>
            </a:pPr>
            <a:r>
              <a:rPr lang="zh-CN" altLang="en-US" b="1" dirty="0">
                <a:solidFill>
                  <a:schemeClr val="accent2">
                    <a:lumMod val="75000"/>
                  </a:schemeClr>
                </a:solidFill>
                <a:latin typeface="宋体" panose="02010600030101010101" pitchFamily="2" charset="-122"/>
                <a:ea typeface="宋体" panose="02010600030101010101" pitchFamily="2" charset="-122"/>
              </a:rPr>
              <a:t>奖励重塑</a:t>
            </a:r>
            <a:r>
              <a:rPr lang="zh-CN" altLang="en-US"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综合考虑短期生产效率和长期成本</a:t>
            </a:r>
            <a:r>
              <a:rPr lang="zh-CN" altLang="en-US" dirty="0">
                <a:latin typeface="宋体" panose="02010600030101010101" pitchFamily="2" charset="-122"/>
                <a:ea typeface="宋体" panose="02010600030101010101" pitchFamily="2" charset="-122"/>
              </a:rPr>
              <a:t>，在奖励函数中实现平衡，引入</a:t>
            </a:r>
            <a:r>
              <a:rPr lang="zh-CN" altLang="en-US" b="1" dirty="0">
                <a:latin typeface="宋体" panose="02010600030101010101" pitchFamily="2" charset="-122"/>
                <a:ea typeface="宋体" panose="02010600030101010101" pitchFamily="2" charset="-122"/>
              </a:rPr>
              <a:t>阶段奖励</a:t>
            </a:r>
            <a:r>
              <a:rPr lang="zh-CN" altLang="en-US" dirty="0">
                <a:latin typeface="宋体" panose="02010600030101010101" pitchFamily="2" charset="-122"/>
                <a:ea typeface="宋体" panose="02010600030101010101" pitchFamily="2" charset="-122"/>
              </a:rPr>
              <a:t>。确保智能体既能满足当前需求，又能优化未来资源状态。</a:t>
            </a:r>
            <a:endParaRPr lang="en-US" altLang="zh-CN" dirty="0">
              <a:latin typeface="宋体" panose="02010600030101010101" pitchFamily="2" charset="-122"/>
              <a:ea typeface="宋体" panose="02010600030101010101" pitchFamily="2" charset="-122"/>
            </a:endParaRPr>
          </a:p>
        </p:txBody>
      </p:sp>
      <p:sp>
        <p:nvSpPr>
          <p:cNvPr id="28" name="文本框 27">
            <a:extLst>
              <a:ext uri="{FF2B5EF4-FFF2-40B4-BE49-F238E27FC236}">
                <a16:creationId xmlns:a16="http://schemas.microsoft.com/office/drawing/2014/main" id="{2E1B3561-0518-B524-5BB6-0EF820A17D3F}"/>
              </a:ext>
            </a:extLst>
          </p:cNvPr>
          <p:cNvSpPr txBox="1"/>
          <p:nvPr/>
        </p:nvSpPr>
        <p:spPr>
          <a:xfrm>
            <a:off x="398795" y="4192365"/>
            <a:ext cx="2608406" cy="307777"/>
          </a:xfrm>
          <a:prstGeom prst="rect">
            <a:avLst/>
          </a:prstGeom>
          <a:noFill/>
        </p:spPr>
        <p:txBody>
          <a:bodyPr wrap="none" rtlCol="0">
            <a:spAutoFit/>
          </a:bodyPr>
          <a:lstStyle/>
          <a:p>
            <a:r>
              <a:rPr lang="zh-CN" altLang="en-US" sz="1400" dirty="0">
                <a:latin typeface="宋体" panose="02010600030101010101" pitchFamily="2" charset="-122"/>
                <a:ea typeface="宋体" panose="02010600030101010101" pitchFamily="2" charset="-122"/>
              </a:rPr>
              <a:t>预测结果作为状态输入智能体</a:t>
            </a:r>
          </a:p>
        </p:txBody>
      </p:sp>
      <p:grpSp>
        <p:nvGrpSpPr>
          <p:cNvPr id="37" name="组合 36">
            <a:extLst>
              <a:ext uri="{FF2B5EF4-FFF2-40B4-BE49-F238E27FC236}">
                <a16:creationId xmlns:a16="http://schemas.microsoft.com/office/drawing/2014/main" id="{4392A3CE-A00D-5C08-2E76-1B20ACDFE1C4}"/>
              </a:ext>
            </a:extLst>
          </p:cNvPr>
          <p:cNvGrpSpPr/>
          <p:nvPr/>
        </p:nvGrpSpPr>
        <p:grpSpPr>
          <a:xfrm>
            <a:off x="3801730" y="2272133"/>
            <a:ext cx="2626732" cy="2808632"/>
            <a:chOff x="1651000" y="1390650"/>
            <a:chExt cx="2914887" cy="2945833"/>
          </a:xfrm>
        </p:grpSpPr>
        <p:sp>
          <p:nvSpPr>
            <p:cNvPr id="38" name="矩形: 圆角 37">
              <a:extLst>
                <a:ext uri="{FF2B5EF4-FFF2-40B4-BE49-F238E27FC236}">
                  <a16:creationId xmlns:a16="http://schemas.microsoft.com/office/drawing/2014/main" id="{64E3A96B-C0E1-8BE8-ECB7-04EAD702E9A3}"/>
                </a:ext>
              </a:extLst>
            </p:cNvPr>
            <p:cNvSpPr/>
            <p:nvPr/>
          </p:nvSpPr>
          <p:spPr>
            <a:xfrm>
              <a:off x="2097040" y="3653480"/>
              <a:ext cx="2010345" cy="623421"/>
            </a:xfrm>
            <a:prstGeom prst="roundRect">
              <a:avLst/>
            </a:prstGeom>
            <a:solidFill>
              <a:schemeClr val="accent5">
                <a:lumMod val="40000"/>
                <a:lumOff val="6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5E0A5388-D485-1711-3082-90A570EC5C10}"/>
                </a:ext>
              </a:extLst>
            </p:cNvPr>
            <p:cNvSpPr txBox="1"/>
            <p:nvPr/>
          </p:nvSpPr>
          <p:spPr>
            <a:xfrm>
              <a:off x="2493657" y="3803066"/>
              <a:ext cx="1210588" cy="338554"/>
            </a:xfrm>
            <a:prstGeom prst="rect">
              <a:avLst/>
            </a:prstGeom>
            <a:noFill/>
          </p:spPr>
          <p:txBody>
            <a:bodyPr wrap="none" rtlCol="0">
              <a:spAutoFit/>
            </a:bodyPr>
            <a:lstStyle/>
            <a:p>
              <a:r>
                <a:rPr lang="zh-CN" altLang="en-US" sz="1600" b="1" dirty="0"/>
                <a:t>单元智能体</a:t>
              </a:r>
            </a:p>
          </p:txBody>
        </p:sp>
        <p:sp>
          <p:nvSpPr>
            <p:cNvPr id="40" name="矩形 39">
              <a:extLst>
                <a:ext uri="{FF2B5EF4-FFF2-40B4-BE49-F238E27FC236}">
                  <a16:creationId xmlns:a16="http://schemas.microsoft.com/office/drawing/2014/main" id="{94AABD3E-1231-261D-7AD9-81B33FD0EC46}"/>
                </a:ext>
              </a:extLst>
            </p:cNvPr>
            <p:cNvSpPr/>
            <p:nvPr/>
          </p:nvSpPr>
          <p:spPr>
            <a:xfrm>
              <a:off x="1651000" y="1390650"/>
              <a:ext cx="2914887" cy="2945833"/>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a:extLst>
                <a:ext uri="{FF2B5EF4-FFF2-40B4-BE49-F238E27FC236}">
                  <a16:creationId xmlns:a16="http://schemas.microsoft.com/office/drawing/2014/main" id="{4B34BD28-36F8-7B29-56C5-009305C481E1}"/>
                </a:ext>
              </a:extLst>
            </p:cNvPr>
            <p:cNvCxnSpPr>
              <a:cxnSpLocks/>
            </p:cNvCxnSpPr>
            <p:nvPr/>
          </p:nvCxnSpPr>
          <p:spPr>
            <a:xfrm flipV="1">
              <a:off x="3470431" y="2936896"/>
              <a:ext cx="0" cy="716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7AC38D13-4F59-D032-5E18-707417405950}"/>
                </a:ext>
              </a:extLst>
            </p:cNvPr>
            <p:cNvGrpSpPr/>
            <p:nvPr/>
          </p:nvGrpSpPr>
          <p:grpSpPr>
            <a:xfrm>
              <a:off x="1800790" y="1527212"/>
              <a:ext cx="2675648" cy="1409684"/>
              <a:chOff x="1768512" y="454603"/>
              <a:chExt cx="2675648" cy="1409684"/>
            </a:xfrm>
          </p:grpSpPr>
          <p:sp>
            <p:nvSpPr>
              <p:cNvPr id="45" name="矩形 44">
                <a:extLst>
                  <a:ext uri="{FF2B5EF4-FFF2-40B4-BE49-F238E27FC236}">
                    <a16:creationId xmlns:a16="http://schemas.microsoft.com/office/drawing/2014/main" id="{7F7F896E-E7C5-FDD1-9E1A-4B61EB0AF354}"/>
                  </a:ext>
                </a:extLst>
              </p:cNvPr>
              <p:cNvSpPr/>
              <p:nvPr/>
            </p:nvSpPr>
            <p:spPr>
              <a:xfrm>
                <a:off x="1768512" y="454603"/>
                <a:ext cx="2675648" cy="1409684"/>
              </a:xfrm>
              <a:prstGeom prst="rect">
                <a:avLst/>
              </a:prstGeom>
              <a:no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dirty="0"/>
              </a:p>
            </p:txBody>
          </p:sp>
          <p:sp>
            <p:nvSpPr>
              <p:cNvPr id="46" name="文本框 45">
                <a:extLst>
                  <a:ext uri="{FF2B5EF4-FFF2-40B4-BE49-F238E27FC236}">
                    <a16:creationId xmlns:a16="http://schemas.microsoft.com/office/drawing/2014/main" id="{6FA19DF0-613C-1FFE-C2EC-A85FAD12CB80}"/>
                  </a:ext>
                </a:extLst>
              </p:cNvPr>
              <p:cNvSpPr txBox="1"/>
              <p:nvPr/>
            </p:nvSpPr>
            <p:spPr>
              <a:xfrm>
                <a:off x="2543371" y="544437"/>
                <a:ext cx="1107996" cy="369332"/>
              </a:xfrm>
              <a:prstGeom prst="rect">
                <a:avLst/>
              </a:prstGeom>
              <a:noFill/>
            </p:spPr>
            <p:txBody>
              <a:bodyPr wrap="none" rtlCol="0">
                <a:spAutoFit/>
              </a:bodyPr>
              <a:lstStyle/>
              <a:p>
                <a:r>
                  <a:rPr lang="zh-CN" altLang="en-US" b="1" dirty="0"/>
                  <a:t>制造单元</a:t>
                </a:r>
              </a:p>
            </p:txBody>
          </p:sp>
          <p:grpSp>
            <p:nvGrpSpPr>
              <p:cNvPr id="47" name="组合 46">
                <a:extLst>
                  <a:ext uri="{FF2B5EF4-FFF2-40B4-BE49-F238E27FC236}">
                    <a16:creationId xmlns:a16="http://schemas.microsoft.com/office/drawing/2014/main" id="{C9C658F5-13D3-0D68-A9F6-532AE6B43489}"/>
                  </a:ext>
                </a:extLst>
              </p:cNvPr>
              <p:cNvGrpSpPr/>
              <p:nvPr/>
            </p:nvGrpSpPr>
            <p:grpSpPr>
              <a:xfrm>
                <a:off x="3503784" y="1018684"/>
                <a:ext cx="888352" cy="601943"/>
                <a:chOff x="3740222" y="1691914"/>
                <a:chExt cx="1122019" cy="844033"/>
              </a:xfrm>
            </p:grpSpPr>
            <p:sp>
              <p:nvSpPr>
                <p:cNvPr id="57" name="流程图: 磁盘 56">
                  <a:extLst>
                    <a:ext uri="{FF2B5EF4-FFF2-40B4-BE49-F238E27FC236}">
                      <a16:creationId xmlns:a16="http://schemas.microsoft.com/office/drawing/2014/main" id="{C452F75A-99FF-B62C-342D-6824734D127C}"/>
                    </a:ext>
                  </a:extLst>
                </p:cNvPr>
                <p:cNvSpPr/>
                <p:nvPr/>
              </p:nvSpPr>
              <p:spPr>
                <a:xfrm>
                  <a:off x="3740222" y="1740035"/>
                  <a:ext cx="1122019" cy="795912"/>
                </a:xfrm>
                <a:prstGeom prst="flowChartMagneticDisk">
                  <a:avLst/>
                </a:prstGeom>
                <a:solidFill>
                  <a:schemeClr val="accent4">
                    <a:lumMod val="40000"/>
                    <a:lumOff val="6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7D8B07E3-4C8E-CA20-F416-9F039F7E9A3D}"/>
                    </a:ext>
                  </a:extLst>
                </p:cNvPr>
                <p:cNvSpPr txBox="1"/>
                <p:nvPr/>
              </p:nvSpPr>
              <p:spPr>
                <a:xfrm>
                  <a:off x="3840216" y="1691914"/>
                  <a:ext cx="1020921" cy="431559"/>
                </a:xfrm>
                <a:prstGeom prst="rect">
                  <a:avLst/>
                </a:prstGeom>
                <a:noFill/>
              </p:spPr>
              <p:txBody>
                <a:bodyPr wrap="square" rtlCol="0">
                  <a:spAutoFit/>
                </a:bodyPr>
                <a:lstStyle/>
                <a:p>
                  <a:r>
                    <a:rPr lang="zh-CN" altLang="en-US" sz="1400" b="1" dirty="0"/>
                    <a:t>缓冲区</a:t>
                  </a:r>
                </a:p>
              </p:txBody>
            </p:sp>
            <p:pic>
              <p:nvPicPr>
                <p:cNvPr id="59" name="图片 58">
                  <a:extLst>
                    <a:ext uri="{FF2B5EF4-FFF2-40B4-BE49-F238E27FC236}">
                      <a16:creationId xmlns:a16="http://schemas.microsoft.com/office/drawing/2014/main" id="{AFAA7C66-E665-79C0-1F13-55C7093DF0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6724" y="2135926"/>
                  <a:ext cx="162172" cy="162172"/>
                </a:xfrm>
                <a:prstGeom prst="rect">
                  <a:avLst/>
                </a:prstGeom>
              </p:spPr>
            </p:pic>
            <p:pic>
              <p:nvPicPr>
                <p:cNvPr id="60" name="图片 59">
                  <a:extLst>
                    <a:ext uri="{FF2B5EF4-FFF2-40B4-BE49-F238E27FC236}">
                      <a16:creationId xmlns:a16="http://schemas.microsoft.com/office/drawing/2014/main" id="{427B5831-8020-0BF9-ACB3-2285853735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2470" y="2137791"/>
                  <a:ext cx="174399" cy="174399"/>
                </a:xfrm>
                <a:prstGeom prst="rect">
                  <a:avLst/>
                </a:prstGeom>
              </p:spPr>
            </p:pic>
            <p:sp>
              <p:nvSpPr>
                <p:cNvPr id="61" name="文本框 60">
                  <a:extLst>
                    <a:ext uri="{FF2B5EF4-FFF2-40B4-BE49-F238E27FC236}">
                      <a16:creationId xmlns:a16="http://schemas.microsoft.com/office/drawing/2014/main" id="{1EDFDAD2-B801-D644-9496-5B0CD573D12F}"/>
                    </a:ext>
                  </a:extLst>
                </p:cNvPr>
                <p:cNvSpPr txBox="1"/>
                <p:nvPr/>
              </p:nvSpPr>
              <p:spPr>
                <a:xfrm>
                  <a:off x="4155421" y="1924116"/>
                  <a:ext cx="387272" cy="400110"/>
                </a:xfrm>
                <a:prstGeom prst="rect">
                  <a:avLst/>
                </a:prstGeom>
                <a:noFill/>
              </p:spPr>
              <p:txBody>
                <a:bodyPr wrap="square" rtlCol="0">
                  <a:spAutoFit/>
                </a:bodyPr>
                <a:lstStyle/>
                <a:p>
                  <a:r>
                    <a:rPr lang="en-US" altLang="zh-CN" sz="2000" dirty="0"/>
                    <a:t>…</a:t>
                  </a:r>
                  <a:endParaRPr lang="zh-CN" altLang="en-US" sz="2000" dirty="0"/>
                </a:p>
              </p:txBody>
            </p:sp>
            <p:pic>
              <p:nvPicPr>
                <p:cNvPr id="62" name="图片 61">
                  <a:extLst>
                    <a:ext uri="{FF2B5EF4-FFF2-40B4-BE49-F238E27FC236}">
                      <a16:creationId xmlns:a16="http://schemas.microsoft.com/office/drawing/2014/main" id="{EBAF779C-7DC5-2F61-4C01-760FD5DB57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27413" y="2135926"/>
                  <a:ext cx="176266" cy="176266"/>
                </a:xfrm>
                <a:prstGeom prst="rect">
                  <a:avLst/>
                </a:prstGeom>
              </p:spPr>
            </p:pic>
          </p:grpSp>
          <p:grpSp>
            <p:nvGrpSpPr>
              <p:cNvPr id="48" name="组合 47">
                <a:extLst>
                  <a:ext uri="{FF2B5EF4-FFF2-40B4-BE49-F238E27FC236}">
                    <a16:creationId xmlns:a16="http://schemas.microsoft.com/office/drawing/2014/main" id="{BE0AD6C3-FC72-4ACD-373A-BEA9D738AD92}"/>
                  </a:ext>
                </a:extLst>
              </p:cNvPr>
              <p:cNvGrpSpPr/>
              <p:nvPr/>
            </p:nvGrpSpPr>
            <p:grpSpPr>
              <a:xfrm>
                <a:off x="1888986" y="1051153"/>
                <a:ext cx="1079252" cy="559321"/>
                <a:chOff x="2049550" y="2468304"/>
                <a:chExt cx="1185775" cy="608979"/>
              </a:xfrm>
            </p:grpSpPr>
            <p:sp>
              <p:nvSpPr>
                <p:cNvPr id="51" name="矩形 50">
                  <a:extLst>
                    <a:ext uri="{FF2B5EF4-FFF2-40B4-BE49-F238E27FC236}">
                      <a16:creationId xmlns:a16="http://schemas.microsoft.com/office/drawing/2014/main" id="{901D5447-94FA-1849-F79F-FC32B662EFC8}"/>
                    </a:ext>
                  </a:extLst>
                </p:cNvPr>
                <p:cNvSpPr/>
                <p:nvPr/>
              </p:nvSpPr>
              <p:spPr>
                <a:xfrm>
                  <a:off x="2049550" y="2480867"/>
                  <a:ext cx="1185775" cy="541733"/>
                </a:xfrm>
                <a:prstGeom prst="rect">
                  <a:avLst/>
                </a:prstGeom>
                <a:no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35842809-51CE-C40A-7C9F-2B556EAB6E2A}"/>
                    </a:ext>
                  </a:extLst>
                </p:cNvPr>
                <p:cNvSpPr txBox="1"/>
                <p:nvPr/>
              </p:nvSpPr>
              <p:spPr>
                <a:xfrm>
                  <a:off x="2342423" y="2468304"/>
                  <a:ext cx="687182" cy="335102"/>
                </a:xfrm>
                <a:prstGeom prst="rect">
                  <a:avLst/>
                </a:prstGeom>
                <a:noFill/>
              </p:spPr>
              <p:txBody>
                <a:bodyPr wrap="square" rtlCol="0">
                  <a:spAutoFit/>
                </a:bodyPr>
                <a:lstStyle/>
                <a:p>
                  <a:r>
                    <a:rPr lang="zh-CN" altLang="en-US" sz="1400" b="1" dirty="0"/>
                    <a:t>机器</a:t>
                  </a:r>
                </a:p>
              </p:txBody>
            </p:sp>
            <p:pic>
              <p:nvPicPr>
                <p:cNvPr id="53" name="图片 52">
                  <a:extLst>
                    <a:ext uri="{FF2B5EF4-FFF2-40B4-BE49-F238E27FC236}">
                      <a16:creationId xmlns:a16="http://schemas.microsoft.com/office/drawing/2014/main" id="{957445E1-8850-7881-3FB1-27B54C46EE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02912" y="2774940"/>
                  <a:ext cx="207020" cy="207020"/>
                </a:xfrm>
                <a:prstGeom prst="rect">
                  <a:avLst/>
                </a:prstGeom>
              </p:spPr>
            </p:pic>
            <p:pic>
              <p:nvPicPr>
                <p:cNvPr id="54" name="图片 53">
                  <a:extLst>
                    <a:ext uri="{FF2B5EF4-FFF2-40B4-BE49-F238E27FC236}">
                      <a16:creationId xmlns:a16="http://schemas.microsoft.com/office/drawing/2014/main" id="{B8E6C196-594B-D736-B625-E5E5AC4DFF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08034" y="2764206"/>
                  <a:ext cx="207020" cy="207020"/>
                </a:xfrm>
                <a:prstGeom prst="rect">
                  <a:avLst/>
                </a:prstGeom>
              </p:spPr>
            </p:pic>
            <p:pic>
              <p:nvPicPr>
                <p:cNvPr id="55" name="图片 54">
                  <a:extLst>
                    <a:ext uri="{FF2B5EF4-FFF2-40B4-BE49-F238E27FC236}">
                      <a16:creationId xmlns:a16="http://schemas.microsoft.com/office/drawing/2014/main" id="{EDD142C4-8B42-A7AD-9691-57612CBAE6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86046" y="2760056"/>
                  <a:ext cx="207020" cy="207020"/>
                </a:xfrm>
                <a:prstGeom prst="rect">
                  <a:avLst/>
                </a:prstGeom>
              </p:spPr>
            </p:pic>
            <p:sp>
              <p:nvSpPr>
                <p:cNvPr id="56" name="文本框 55">
                  <a:extLst>
                    <a:ext uri="{FF2B5EF4-FFF2-40B4-BE49-F238E27FC236}">
                      <a16:creationId xmlns:a16="http://schemas.microsoft.com/office/drawing/2014/main" id="{6831B985-2C3B-ADB4-D6A2-13269426DCC9}"/>
                    </a:ext>
                  </a:extLst>
                </p:cNvPr>
                <p:cNvSpPr txBox="1"/>
                <p:nvPr/>
              </p:nvSpPr>
              <p:spPr>
                <a:xfrm>
                  <a:off x="2602805" y="2677173"/>
                  <a:ext cx="387273" cy="400110"/>
                </a:xfrm>
                <a:prstGeom prst="rect">
                  <a:avLst/>
                </a:prstGeom>
                <a:noFill/>
              </p:spPr>
              <p:txBody>
                <a:bodyPr wrap="square" rtlCol="0">
                  <a:spAutoFit/>
                </a:bodyPr>
                <a:lstStyle/>
                <a:p>
                  <a:r>
                    <a:rPr lang="en-US" altLang="zh-CN" sz="2000" dirty="0"/>
                    <a:t>…</a:t>
                  </a:r>
                  <a:endParaRPr lang="zh-CN" altLang="en-US" sz="2000" dirty="0"/>
                </a:p>
              </p:txBody>
            </p:sp>
          </p:grpSp>
          <p:sp>
            <p:nvSpPr>
              <p:cNvPr id="49" name="箭头: 右 48">
                <a:extLst>
                  <a:ext uri="{FF2B5EF4-FFF2-40B4-BE49-F238E27FC236}">
                    <a16:creationId xmlns:a16="http://schemas.microsoft.com/office/drawing/2014/main" id="{96B621CB-3EC8-CD59-0954-7C11B182D4AC}"/>
                  </a:ext>
                </a:extLst>
              </p:cNvPr>
              <p:cNvSpPr/>
              <p:nvPr/>
            </p:nvSpPr>
            <p:spPr>
              <a:xfrm>
                <a:off x="3023347" y="1267300"/>
                <a:ext cx="430766" cy="125708"/>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9B2B6706-895E-DC1E-2DAF-11429B4D2D53}"/>
                  </a:ext>
                </a:extLst>
              </p:cNvPr>
              <p:cNvSpPr txBox="1"/>
              <p:nvPr/>
            </p:nvSpPr>
            <p:spPr>
              <a:xfrm>
                <a:off x="2961858" y="1062692"/>
                <a:ext cx="595908" cy="215444"/>
              </a:xfrm>
              <a:prstGeom prst="rect">
                <a:avLst/>
              </a:prstGeom>
              <a:noFill/>
            </p:spPr>
            <p:txBody>
              <a:bodyPr wrap="square" rtlCol="0">
                <a:spAutoFit/>
              </a:bodyPr>
              <a:lstStyle/>
              <a:p>
                <a:r>
                  <a:rPr lang="zh-CN" altLang="en-US" sz="800" b="1" dirty="0"/>
                  <a:t>选择工件</a:t>
                </a:r>
              </a:p>
            </p:txBody>
          </p:sp>
        </p:grpSp>
        <p:sp>
          <p:nvSpPr>
            <p:cNvPr id="43" name="文本框 42">
              <a:extLst>
                <a:ext uri="{FF2B5EF4-FFF2-40B4-BE49-F238E27FC236}">
                  <a16:creationId xmlns:a16="http://schemas.microsoft.com/office/drawing/2014/main" id="{6F607F9B-CBE9-53C7-E472-583C279D2EAE}"/>
                </a:ext>
              </a:extLst>
            </p:cNvPr>
            <p:cNvSpPr txBox="1"/>
            <p:nvPr/>
          </p:nvSpPr>
          <p:spPr>
            <a:xfrm>
              <a:off x="3661827" y="3156180"/>
              <a:ext cx="696050" cy="307777"/>
            </a:xfrm>
            <a:prstGeom prst="rect">
              <a:avLst/>
            </a:prstGeom>
            <a:noFill/>
          </p:spPr>
          <p:txBody>
            <a:bodyPr wrap="square" rtlCol="0">
              <a:spAutoFit/>
            </a:bodyPr>
            <a:lstStyle/>
            <a:p>
              <a:r>
                <a:rPr lang="zh-CN" altLang="en-US" sz="1400" b="1" dirty="0"/>
                <a:t>决策</a:t>
              </a:r>
            </a:p>
          </p:txBody>
        </p:sp>
        <p:sp>
          <p:nvSpPr>
            <p:cNvPr id="44" name="文本框 43">
              <a:extLst>
                <a:ext uri="{FF2B5EF4-FFF2-40B4-BE49-F238E27FC236}">
                  <a16:creationId xmlns:a16="http://schemas.microsoft.com/office/drawing/2014/main" id="{5597DBF0-8477-1555-615F-081642D538FD}"/>
                </a:ext>
              </a:extLst>
            </p:cNvPr>
            <p:cNvSpPr txBox="1"/>
            <p:nvPr/>
          </p:nvSpPr>
          <p:spPr>
            <a:xfrm>
              <a:off x="1950666" y="3166835"/>
              <a:ext cx="538946" cy="307777"/>
            </a:xfrm>
            <a:prstGeom prst="rect">
              <a:avLst/>
            </a:prstGeom>
            <a:noFill/>
          </p:spPr>
          <p:txBody>
            <a:bodyPr wrap="square" rtlCol="0">
              <a:spAutoFit/>
            </a:bodyPr>
            <a:lstStyle/>
            <a:p>
              <a:r>
                <a:rPr lang="zh-CN" altLang="en-US" sz="1400" b="1" dirty="0"/>
                <a:t>状态</a:t>
              </a:r>
            </a:p>
          </p:txBody>
        </p:sp>
      </p:grpSp>
      <p:cxnSp>
        <p:nvCxnSpPr>
          <p:cNvPr id="63" name="直接箭头连接符 62">
            <a:extLst>
              <a:ext uri="{FF2B5EF4-FFF2-40B4-BE49-F238E27FC236}">
                <a16:creationId xmlns:a16="http://schemas.microsoft.com/office/drawing/2014/main" id="{48D81C51-4D9A-BF2C-4D5D-9D8ED8D25F62}"/>
              </a:ext>
            </a:extLst>
          </p:cNvPr>
          <p:cNvCxnSpPr>
            <a:cxnSpLocks/>
          </p:cNvCxnSpPr>
          <p:nvPr/>
        </p:nvCxnSpPr>
        <p:spPr>
          <a:xfrm>
            <a:off x="4704057" y="3752986"/>
            <a:ext cx="7886" cy="716584"/>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3546D797-3BAD-3443-2D3A-3A8703598494}"/>
              </a:ext>
            </a:extLst>
          </p:cNvPr>
          <p:cNvCxnSpPr>
            <a:cxnSpLocks/>
          </p:cNvCxnSpPr>
          <p:nvPr/>
        </p:nvCxnSpPr>
        <p:spPr>
          <a:xfrm>
            <a:off x="4960619" y="3752986"/>
            <a:ext cx="0" cy="716584"/>
          </a:xfrm>
          <a:prstGeom prst="straightConnector1">
            <a:avLst/>
          </a:prstGeom>
          <a:ln w="3810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5A8BDA65-6197-77E6-D063-C71D6D9AFC81}"/>
              </a:ext>
            </a:extLst>
          </p:cNvPr>
          <p:cNvSpPr txBox="1"/>
          <p:nvPr/>
        </p:nvSpPr>
        <p:spPr>
          <a:xfrm>
            <a:off x="4969401" y="3973093"/>
            <a:ext cx="538946" cy="307777"/>
          </a:xfrm>
          <a:prstGeom prst="rect">
            <a:avLst/>
          </a:prstGeom>
          <a:noFill/>
        </p:spPr>
        <p:txBody>
          <a:bodyPr wrap="square" rtlCol="0">
            <a:spAutoFit/>
          </a:bodyPr>
          <a:lstStyle/>
          <a:p>
            <a:r>
              <a:rPr lang="zh-CN" altLang="en-US" sz="1400" b="1" dirty="0"/>
              <a:t>奖励</a:t>
            </a:r>
          </a:p>
        </p:txBody>
      </p:sp>
      <p:cxnSp>
        <p:nvCxnSpPr>
          <p:cNvPr id="87" name="直接箭头连接符 86">
            <a:extLst>
              <a:ext uri="{FF2B5EF4-FFF2-40B4-BE49-F238E27FC236}">
                <a16:creationId xmlns:a16="http://schemas.microsoft.com/office/drawing/2014/main" id="{D1C56AD9-CDF8-6C5B-E4A9-BE7A3EC30BF9}"/>
              </a:ext>
            </a:extLst>
          </p:cNvPr>
          <p:cNvCxnSpPr>
            <a:cxnSpLocks/>
          </p:cNvCxnSpPr>
          <p:nvPr/>
        </p:nvCxnSpPr>
        <p:spPr>
          <a:xfrm flipH="1">
            <a:off x="3254825" y="4291525"/>
            <a:ext cx="1465906" cy="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FE8E2FB6-08B8-C762-0599-0D249E3E78EC}"/>
              </a:ext>
            </a:extLst>
          </p:cNvPr>
          <p:cNvCxnSpPr>
            <a:cxnSpLocks/>
          </p:cNvCxnSpPr>
          <p:nvPr/>
        </p:nvCxnSpPr>
        <p:spPr>
          <a:xfrm>
            <a:off x="4964822" y="4237263"/>
            <a:ext cx="2099013" cy="0"/>
          </a:xfrm>
          <a:prstGeom prst="straightConnector1">
            <a:avLst/>
          </a:prstGeom>
          <a:ln w="38100">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755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086A626-18A8-B740-9633-CFA1F5E381E3}"/>
              </a:ext>
            </a:extLst>
          </p:cNvPr>
          <p:cNvSpPr txBox="1"/>
          <p:nvPr/>
        </p:nvSpPr>
        <p:spPr>
          <a:xfrm>
            <a:off x="1631527" y="1936450"/>
            <a:ext cx="8802410" cy="338554"/>
          </a:xfrm>
          <a:prstGeom prst="rect">
            <a:avLst/>
          </a:prstGeom>
          <a:noFill/>
        </p:spPr>
        <p:txBody>
          <a:bodyPr wrap="none" rtlCol="0">
            <a:spAutoFit/>
          </a:bodyPr>
          <a:lstStyle/>
          <a:p>
            <a:r>
              <a:rPr lang="zh-CN" altLang="zh-CN" sz="1600" kern="100" dirty="0">
                <a:solidFill>
                  <a:srgbClr val="000000"/>
                </a:solidFill>
                <a:effectLst/>
                <a:latin typeface="Times New Roman" panose="02020603050405020304" pitchFamily="18" charset="0"/>
                <a:ea typeface="宋体" panose="02010600030101010101" pitchFamily="2" charset="-122"/>
              </a:rPr>
              <a:t>对于动态环境下的研究，现有文献大多使用仿真平台进行实验，证明了进行仿真实验的可行性。</a:t>
            </a:r>
            <a:endParaRPr kumimoji="1" lang="zh-CN" altLang="en-US" sz="1600" dirty="0"/>
          </a:p>
        </p:txBody>
      </p:sp>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AAE2696-BB2D-5447-8F14-CEB302143F01}"/>
              </a:ext>
            </a:extLst>
          </p:cNvPr>
          <p:cNvSpPr txBox="1"/>
          <p:nvPr/>
        </p:nvSpPr>
        <p:spPr>
          <a:xfrm>
            <a:off x="1068615" y="782746"/>
            <a:ext cx="4708340" cy="400110"/>
          </a:xfrm>
          <a:prstGeom prst="rect">
            <a:avLst/>
          </a:prstGeom>
          <a:noFill/>
        </p:spPr>
        <p:txBody>
          <a:bodyPr wrap="none" rtlCol="0">
            <a:spAutoFit/>
          </a:bodyPr>
          <a:lstStyle/>
          <a:p>
            <a:pPr marL="285750" indent="-285750">
              <a:buFont typeface="Wingdings" pitchFamily="2" charset="2"/>
              <a:buChar char="p"/>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4</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 实验验证及可行性分析</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4</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BD6D1F0C-BF07-4646-9AC7-B82C3C927C4C}"/>
              </a:ext>
            </a:extLst>
          </p:cNvPr>
          <p:cNvSpPr txBox="1"/>
          <p:nvPr/>
        </p:nvSpPr>
        <p:spPr>
          <a:xfrm>
            <a:off x="1770073" y="2300372"/>
            <a:ext cx="8245803" cy="115865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altLang="zh-CN" sz="1600" kern="100" dirty="0" err="1">
                <a:effectLst/>
                <a:latin typeface="Times New Roman" panose="02020603050405020304" pitchFamily="18" charset="0"/>
                <a:ea typeface="宋体" panose="02010600030101010101" pitchFamily="2" charset="-122"/>
                <a:cs typeface="Times New Roman" panose="02020603050405020304" pitchFamily="18" charset="0"/>
              </a:rPr>
              <a:t>SimPy</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是一个基于</a:t>
            </a:r>
            <a:r>
              <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Python</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的离散事件仿真库，用于建模、模拟和分析离散事件动态系统。它可以用于模拟不同智能车间场景，本研究以</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航空构件生产线为验证对象</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1600" kern="100" dirty="0">
                <a:effectLst/>
                <a:latin typeface="Times New Roman" panose="02020603050405020304" pitchFamily="18" charset="0"/>
                <a:ea typeface="宋体" panose="02010600030101010101" pitchFamily="2" charset="-122"/>
              </a:rPr>
              <a:t>PyCharm</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平台进行数据处理、程序编写和实验分析。</a:t>
            </a:r>
            <a:r>
              <a:rPr lang="zh-CN" altLang="zh-CN" sz="1600" dirty="0">
                <a:effectLst/>
              </a:rPr>
              <a:t> </a:t>
            </a:r>
            <a:endParaRPr kumimoji="1" lang="zh-CN" altLang="en-US" sz="1600" dirty="0"/>
          </a:p>
        </p:txBody>
      </p:sp>
      <p:sp>
        <p:nvSpPr>
          <p:cNvPr id="6" name="Rectangle 4">
            <a:extLst>
              <a:ext uri="{FF2B5EF4-FFF2-40B4-BE49-F238E27FC236}">
                <a16:creationId xmlns:a16="http://schemas.microsoft.com/office/drawing/2014/main" id="{CA6D2DF8-6B90-9C48-9E68-031F323C2AE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文本框 21">
            <a:extLst>
              <a:ext uri="{FF2B5EF4-FFF2-40B4-BE49-F238E27FC236}">
                <a16:creationId xmlns:a16="http://schemas.microsoft.com/office/drawing/2014/main" id="{E57E46BD-236B-1D42-832D-C9EFB9B9469D}"/>
              </a:ext>
            </a:extLst>
          </p:cNvPr>
          <p:cNvSpPr txBox="1"/>
          <p:nvPr/>
        </p:nvSpPr>
        <p:spPr>
          <a:xfrm>
            <a:off x="1356967" y="3853722"/>
            <a:ext cx="9292561" cy="2461636"/>
          </a:xfrm>
          <a:prstGeom prst="rect">
            <a:avLst/>
          </a:prstGeom>
          <a:noFill/>
        </p:spPr>
        <p:txBody>
          <a:bodyPr wrap="square" rtlCol="0">
            <a:spAutoFit/>
          </a:bodyPr>
          <a:lstStyle/>
          <a:p>
            <a:pPr marL="285750" indent="-285750">
              <a:lnSpc>
                <a:spcPct val="150000"/>
              </a:lnSpc>
              <a:spcBef>
                <a:spcPts val="600"/>
              </a:spcBef>
              <a:buFont typeface="Wingdings" pitchFamily="2" charset="2"/>
              <a:buChar char="n"/>
            </a:pPr>
            <a:r>
              <a:rPr lang="zh-CN" altLang="en-US" sz="1800" kern="100" dirty="0">
                <a:solidFill>
                  <a:srgbClr val="000000"/>
                </a:solidFill>
                <a:effectLst/>
                <a:latin typeface="Microsoft YaHei" panose="020B0503020204020204" pitchFamily="34" charset="-122"/>
                <a:ea typeface="Microsoft YaHei" panose="020B0503020204020204" pitchFamily="34" charset="-122"/>
              </a:rPr>
              <a:t>研究</a:t>
            </a:r>
            <a:r>
              <a:rPr lang="zh-CN" altLang="zh-CN" sz="1800" kern="100" dirty="0">
                <a:solidFill>
                  <a:srgbClr val="000000"/>
                </a:solidFill>
                <a:effectLst/>
                <a:latin typeface="Microsoft YaHei" panose="020B0503020204020204" pitchFamily="34" charset="-122"/>
                <a:ea typeface="Microsoft YaHei" panose="020B0503020204020204" pitchFamily="34" charset="-122"/>
              </a:rPr>
              <a:t>基础</a:t>
            </a:r>
            <a:endParaRPr lang="en-US" altLang="zh-CN" sz="1800" kern="100" dirty="0">
              <a:solidFill>
                <a:srgbClr val="000000"/>
              </a:solidFill>
              <a:effectLst/>
              <a:latin typeface="Microsoft YaHei" panose="020B0503020204020204" pitchFamily="34" charset="-122"/>
              <a:ea typeface="Microsoft YaHei" panose="020B0503020204020204" pitchFamily="34" charset="-122"/>
            </a:endParaRPr>
          </a:p>
          <a:p>
            <a:pPr marL="742950" lvl="1" indent="-285750">
              <a:lnSpc>
                <a:spcPct val="150000"/>
              </a:lnSpc>
              <a:spcBef>
                <a:spcPts val="600"/>
              </a:spcBef>
              <a:buFont typeface="Wingdings" panose="05000000000000000000" pitchFamily="2" charset="2"/>
              <a:buChar char="Ø"/>
            </a:pP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车间调度是生产调度领域的经典研究课题，已经有数十年的研究历史已有多年的研究，强化学习领域是近年来车间调度研究的新兴热门研究领域，关于动态车间调度国内外学术团队都有较多的研究成果，有较多的文献可供参考，可以指引本课题研究方向。</a:t>
            </a:r>
            <a:endParaRPr lang="en-US" altLang="zh-CN" sz="1600" kern="1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nSpc>
                <a:spcPct val="150000"/>
              </a:lnSpc>
              <a:spcBef>
                <a:spcPts val="600"/>
              </a:spcBef>
              <a:buFont typeface="Wingdings" panose="05000000000000000000" pitchFamily="2" charset="2"/>
              <a:buChar char="Ø"/>
            </a:pP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本人已展开研究内容</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的相关研究，包括多制造单元智能车间分布式调度框架和基于多智能体强化学习的制造单元间协同调度算法，研究成果已被</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CAC2024</a:t>
            </a: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接收</a:t>
            </a:r>
            <a:r>
              <a:rPr lang="zh-CN" altLang="en-US" sz="1600" kern="100" dirty="0">
                <a:solidFill>
                  <a:srgbClr val="000000"/>
                </a:solidFill>
                <a:effectLst/>
                <a:latin typeface="Times New Roman" panose="02020603050405020304" pitchFamily="18" charset="0"/>
                <a:ea typeface="宋体" panose="02010600030101010101" pitchFamily="2" charset="-122"/>
              </a:rPr>
              <a:t>。</a:t>
            </a:r>
            <a:endParaRPr lang="en-US" altLang="zh-CN" sz="1600" kern="100" dirty="0">
              <a:solidFill>
                <a:srgbClr val="000000"/>
              </a:solidFill>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42998795-0D7F-B14C-891F-E30A071A5E38}"/>
              </a:ext>
            </a:extLst>
          </p:cNvPr>
          <p:cNvSpPr txBox="1"/>
          <p:nvPr/>
        </p:nvSpPr>
        <p:spPr>
          <a:xfrm>
            <a:off x="1356967" y="1323379"/>
            <a:ext cx="1396536" cy="458908"/>
          </a:xfrm>
          <a:prstGeom prst="rect">
            <a:avLst/>
          </a:prstGeom>
          <a:noFill/>
        </p:spPr>
        <p:txBody>
          <a:bodyPr wrap="none" rtlCol="0">
            <a:spAutoFit/>
          </a:bodyPr>
          <a:lstStyle/>
          <a:p>
            <a:pPr marL="285750" indent="-285750">
              <a:lnSpc>
                <a:spcPct val="150000"/>
              </a:lnSpc>
              <a:buFont typeface="Wingdings" pitchFamily="2" charset="2"/>
              <a:buChar char="n"/>
            </a:pPr>
            <a:r>
              <a:rPr kumimoji="1" lang="zh-CN" altLang="en-US" dirty="0">
                <a:latin typeface="Microsoft YaHei" panose="020B0503020204020204" pitchFamily="34" charset="-122"/>
                <a:ea typeface="Microsoft YaHei" panose="020B0503020204020204" pitchFamily="34" charset="-122"/>
              </a:rPr>
              <a:t>实验验证</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90100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4">
            <a:extLst>
              <a:ext uri="{FF2B5EF4-FFF2-40B4-BE49-F238E27FC236}">
                <a16:creationId xmlns:a16="http://schemas.microsoft.com/office/drawing/2014/main" id="{CA6D2DF8-6B90-9C48-9E68-031F323C2AE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文本框 1">
            <a:extLst>
              <a:ext uri="{FF2B5EF4-FFF2-40B4-BE49-F238E27FC236}">
                <a16:creationId xmlns:a16="http://schemas.microsoft.com/office/drawing/2014/main" id="{CD2A4358-8E5C-5095-5D66-BD4EE82D5627}"/>
              </a:ext>
            </a:extLst>
          </p:cNvPr>
          <p:cNvSpPr txBox="1"/>
          <p:nvPr/>
        </p:nvSpPr>
        <p:spPr>
          <a:xfrm>
            <a:off x="548983" y="1061530"/>
            <a:ext cx="6096000" cy="369332"/>
          </a:xfrm>
          <a:prstGeom prst="rect">
            <a:avLst/>
          </a:prstGeom>
          <a:noFill/>
        </p:spPr>
        <p:txBody>
          <a:bodyPr wrap="square">
            <a:spAutoFit/>
          </a:bodyPr>
          <a:lstStyle/>
          <a:p>
            <a:pPr marL="285750" indent="-285750">
              <a:buFont typeface="Wingdings" panose="05000000000000000000" pitchFamily="2" charset="2"/>
              <a:buChar char="n"/>
            </a:pPr>
            <a:r>
              <a:rPr lang="zh-CN" altLang="en-US" b="1" dirty="0">
                <a:latin typeface="黑体" panose="02010609060101010101" pitchFamily="49" charset="-122"/>
                <a:ea typeface="黑体" panose="02010609060101010101" pitchFamily="49" charset="-122"/>
              </a:rPr>
              <a:t>关键技术难点</a:t>
            </a:r>
          </a:p>
        </p:txBody>
      </p:sp>
      <p:sp>
        <p:nvSpPr>
          <p:cNvPr id="3" name="文本框 2">
            <a:extLst>
              <a:ext uri="{FF2B5EF4-FFF2-40B4-BE49-F238E27FC236}">
                <a16:creationId xmlns:a16="http://schemas.microsoft.com/office/drawing/2014/main" id="{4D772D98-2C75-1AB0-5A4C-2F919343DE16}"/>
              </a:ext>
            </a:extLst>
          </p:cNvPr>
          <p:cNvSpPr txBox="1"/>
          <p:nvPr/>
        </p:nvSpPr>
        <p:spPr>
          <a:xfrm>
            <a:off x="1220733" y="1853754"/>
            <a:ext cx="9511146" cy="1277273"/>
          </a:xfrm>
          <a:prstGeom prst="rect">
            <a:avLst/>
          </a:prstGeom>
          <a:solidFill>
            <a:schemeClr val="bg1">
              <a:lumMod val="95000"/>
            </a:schemeClr>
          </a:solidFill>
          <a:ln w="19050">
            <a:solidFill>
              <a:schemeClr val="tx1"/>
            </a:solidFill>
          </a:ln>
        </p:spPr>
        <p:txBody>
          <a:bodyPr wrap="square">
            <a:spAutoFit/>
          </a:bodyPr>
          <a:lstStyle/>
          <a:p>
            <a:pPr marL="342900" indent="-342900" algn="just">
              <a:spcBef>
                <a:spcPts val="600"/>
              </a:spcBef>
              <a:buFont typeface="Times New Roman" panose="02020603050405020304" pitchFamily="18" charset="0"/>
              <a:buAutoNum type="arabicParenR"/>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如何构建复杂的动态变化场景的状态空间。解决对于高维且可变状态空间，强化学习收敛难且慢，训练过程长，计算复杂度高的问题。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spcBef>
                <a:spcPts val="600"/>
              </a:spcBef>
              <a:buFont typeface="Times New Roman" panose="02020603050405020304" pitchFamily="18" charset="0"/>
              <a:buAutoNum type="arabicParen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如何保证预测模型准确度的条件下充分利用预测信息，如何重塑奖励平衡短期生产效率和长期成本</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4500FF4D-4A66-4F96-FEE4-AB33A374C5E3}"/>
              </a:ext>
            </a:extLst>
          </p:cNvPr>
          <p:cNvSpPr txBox="1"/>
          <p:nvPr/>
        </p:nvSpPr>
        <p:spPr>
          <a:xfrm>
            <a:off x="581689" y="3997647"/>
            <a:ext cx="6096000" cy="369332"/>
          </a:xfrm>
          <a:prstGeom prst="rect">
            <a:avLst/>
          </a:prstGeom>
          <a:noFill/>
        </p:spPr>
        <p:txBody>
          <a:bodyPr wrap="square">
            <a:spAutoFit/>
          </a:bodyPr>
          <a:lstStyle/>
          <a:p>
            <a:pPr marL="285750" indent="-285750">
              <a:buFont typeface="Wingdings" panose="05000000000000000000" pitchFamily="2" charset="2"/>
              <a:buChar char="n"/>
            </a:pPr>
            <a:r>
              <a:rPr lang="zh-CN" altLang="en-US" b="1" dirty="0">
                <a:latin typeface="黑体" panose="02010609060101010101" pitchFamily="49" charset="-122"/>
                <a:ea typeface="黑体" panose="02010609060101010101" pitchFamily="49" charset="-122"/>
              </a:rPr>
              <a:t>关键创新点</a:t>
            </a:r>
          </a:p>
        </p:txBody>
      </p:sp>
      <p:sp>
        <p:nvSpPr>
          <p:cNvPr id="5" name="文本框 4">
            <a:extLst>
              <a:ext uri="{FF2B5EF4-FFF2-40B4-BE49-F238E27FC236}">
                <a16:creationId xmlns:a16="http://schemas.microsoft.com/office/drawing/2014/main" id="{FAB33E05-837F-C352-FA93-E5DABEE02E31}"/>
              </a:ext>
            </a:extLst>
          </p:cNvPr>
          <p:cNvSpPr txBox="1"/>
          <p:nvPr/>
        </p:nvSpPr>
        <p:spPr>
          <a:xfrm>
            <a:off x="1220733" y="4471258"/>
            <a:ext cx="9511146" cy="1277273"/>
          </a:xfrm>
          <a:prstGeom prst="rect">
            <a:avLst/>
          </a:prstGeom>
          <a:solidFill>
            <a:schemeClr val="bg1">
              <a:lumMod val="95000"/>
            </a:schemeClr>
          </a:solidFill>
          <a:ln w="19050">
            <a:solidFill>
              <a:schemeClr val="tx1"/>
            </a:solidFill>
          </a:ln>
        </p:spPr>
        <p:txBody>
          <a:bodyPr wrap="square">
            <a:spAutoFit/>
          </a:bodyPr>
          <a:lstStyle/>
          <a:p>
            <a:pPr marL="342900" indent="-342900" algn="just">
              <a:spcBef>
                <a:spcPts val="600"/>
              </a:spcBef>
              <a:buFont typeface="Times New Roman" panose="02020603050405020304" pitchFamily="18" charset="0"/>
              <a:buAutoNum type="arabicParen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在</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分布式调度框架</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下，采用异常检测算法和状态聚类方法使单元智能体具有自适应地识别应对</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多种动态扰动</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事件的能力，实现动态调度模型演化。</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spcBef>
                <a:spcPts val="600"/>
              </a:spcBef>
              <a:buFont typeface="Times New Roman" panose="02020603050405020304" pitchFamily="18" charset="0"/>
              <a:buAutoNum type="arabicParen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考虑车间内</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累积性</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的动态因素，将</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预测信息</a:t>
            </a:r>
            <a:r>
              <a:rPr lang="zh-CN" altLang="en-US" dirty="0">
                <a:latin typeface="Times New Roman" panose="02020603050405020304" pitchFamily="18" charset="0"/>
                <a:ea typeface="宋体" panose="02010600030101010101" pitchFamily="2" charset="-122"/>
                <a:cs typeface="Times New Roman" panose="02020603050405020304" pitchFamily="18" charset="0"/>
              </a:rPr>
              <a:t>引入</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分布式调度</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中，使单元智能体在做自主决策时平衡</a:t>
            </a:r>
            <a:r>
              <a:rPr lang="zh-CN" altLang="en-US" b="1" dirty="0">
                <a:latin typeface="宋体" panose="02010600030101010101" pitchFamily="2" charset="-122"/>
                <a:ea typeface="宋体" panose="02010600030101010101" pitchFamily="2" charset="-122"/>
              </a:rPr>
              <a:t>短期生产效率和长期成本。</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34605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25">
            <a:extLst>
              <a:ext uri="{FF2B5EF4-FFF2-40B4-BE49-F238E27FC236}">
                <a16:creationId xmlns:a16="http://schemas.microsoft.com/office/drawing/2014/main" id="{D4512EF7-C838-49C6-8031-316508F651C3}"/>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21" name="文本框 26">
            <a:extLst>
              <a:ext uri="{FF2B5EF4-FFF2-40B4-BE49-F238E27FC236}">
                <a16:creationId xmlns:a16="http://schemas.microsoft.com/office/drawing/2014/main" id="{432BB638-7A89-4A11-A608-F4018752DEFE}"/>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22" name="文本框 27">
            <a:extLst>
              <a:ext uri="{FF2B5EF4-FFF2-40B4-BE49-F238E27FC236}">
                <a16:creationId xmlns:a16="http://schemas.microsoft.com/office/drawing/2014/main" id="{2F3567B5-5454-4309-A9DB-0698A7340F28}"/>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23" name="文本框 28">
            <a:extLst>
              <a:ext uri="{FF2B5EF4-FFF2-40B4-BE49-F238E27FC236}">
                <a16:creationId xmlns:a16="http://schemas.microsoft.com/office/drawing/2014/main" id="{A0C2987F-3147-45B2-AB86-BA617CD0677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24" name="等腰三角形 23">
            <a:extLst>
              <a:ext uri="{FF2B5EF4-FFF2-40B4-BE49-F238E27FC236}">
                <a16:creationId xmlns:a16="http://schemas.microsoft.com/office/drawing/2014/main" id="{429CD1BD-E2E6-4D55-AB26-ABAFF9A1E054}"/>
              </a:ext>
            </a:extLst>
          </p:cNvPr>
          <p:cNvSpPr/>
          <p:nvPr/>
        </p:nvSpPr>
        <p:spPr>
          <a:xfrm rot="10800000">
            <a:off x="681847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25" name="直接连接符 24">
            <a:extLst>
              <a:ext uri="{FF2B5EF4-FFF2-40B4-BE49-F238E27FC236}">
                <a16:creationId xmlns:a16="http://schemas.microsoft.com/office/drawing/2014/main" id="{EF21DFC2-A91F-4515-8C21-66B588DD9C89}"/>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FE5720F-31E8-4D65-9959-3050621914E0}"/>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E133D45-3B53-42D1-B1AE-6518953C23CD}"/>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1AD3F88-4169-4B4E-A308-97ECEF97B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29" name="文本框 28">
            <a:extLst>
              <a:ext uri="{FF2B5EF4-FFF2-40B4-BE49-F238E27FC236}">
                <a16:creationId xmlns:a16="http://schemas.microsoft.com/office/drawing/2014/main" id="{F819E27E-60DE-4D60-A7C8-5A0975D104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工作计划</a:t>
            </a:r>
          </a:p>
        </p:txBody>
      </p:sp>
      <p:cxnSp>
        <p:nvCxnSpPr>
          <p:cNvPr id="30" name="直接连接符 29">
            <a:extLst>
              <a:ext uri="{FF2B5EF4-FFF2-40B4-BE49-F238E27FC236}">
                <a16:creationId xmlns:a16="http://schemas.microsoft.com/office/drawing/2014/main" id="{AD092CB9-B715-4546-931C-D1571E9A016F}"/>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文本框 32">
            <a:extLst>
              <a:ext uri="{FF2B5EF4-FFF2-40B4-BE49-F238E27FC236}">
                <a16:creationId xmlns:a16="http://schemas.microsoft.com/office/drawing/2014/main" id="{D15445BC-C311-A14B-AFA0-13BCB7868CCB}"/>
              </a:ext>
            </a:extLst>
          </p:cNvPr>
          <p:cNvSpPr txBox="1"/>
          <p:nvPr/>
        </p:nvSpPr>
        <p:spPr>
          <a:xfrm>
            <a:off x="1280752" y="5143714"/>
            <a:ext cx="8224176" cy="36830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发表</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学术</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论文</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1-2</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篇，</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专利</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篇，参加学术交流活动</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次。</a:t>
            </a:r>
            <a:endParaRPr lang="zh-CN" altLang="en-US" b="1" dirty="0">
              <a:latin typeface="Times New Roman" panose="02020603050405020304" pitchFamily="18" charset="0"/>
              <a:ea typeface="+mj-ea"/>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050069AB-0765-6A4C-B369-3089BA8DA6A3}"/>
              </a:ext>
            </a:extLst>
          </p:cNvPr>
          <p:cNvGraphicFramePr>
            <a:graphicFrameLocks noGrp="1"/>
          </p:cNvGraphicFramePr>
          <p:nvPr>
            <p:extLst>
              <p:ext uri="{D42A27DB-BD31-4B8C-83A1-F6EECF244321}">
                <p14:modId xmlns:p14="http://schemas.microsoft.com/office/powerpoint/2010/main" val="1193340694"/>
              </p:ext>
            </p:extLst>
          </p:nvPr>
        </p:nvGraphicFramePr>
        <p:xfrm>
          <a:off x="1141014" y="1516329"/>
          <a:ext cx="9909971" cy="2867025"/>
        </p:xfrm>
        <a:graphic>
          <a:graphicData uri="http://schemas.openxmlformats.org/drawingml/2006/table">
            <a:tbl>
              <a:tblPr firstRow="1" firstCol="1" bandRow="1">
                <a:tableStyleId>{5C22544A-7EE6-4342-B048-85BDC9FD1C3A}</a:tableStyleId>
              </a:tblPr>
              <a:tblGrid>
                <a:gridCol w="2271040">
                  <a:extLst>
                    <a:ext uri="{9D8B030D-6E8A-4147-A177-3AD203B41FA5}">
                      <a16:colId xmlns:a16="http://schemas.microsoft.com/office/drawing/2014/main" val="437202868"/>
                    </a:ext>
                  </a:extLst>
                </a:gridCol>
                <a:gridCol w="5102087">
                  <a:extLst>
                    <a:ext uri="{9D8B030D-6E8A-4147-A177-3AD203B41FA5}">
                      <a16:colId xmlns:a16="http://schemas.microsoft.com/office/drawing/2014/main" val="2586955896"/>
                    </a:ext>
                  </a:extLst>
                </a:gridCol>
                <a:gridCol w="2536844">
                  <a:extLst>
                    <a:ext uri="{9D8B030D-6E8A-4147-A177-3AD203B41FA5}">
                      <a16:colId xmlns:a16="http://schemas.microsoft.com/office/drawing/2014/main" val="2269055976"/>
                    </a:ext>
                  </a:extLst>
                </a:gridCol>
              </a:tblGrid>
              <a:tr h="409575">
                <a:tc>
                  <a:txBody>
                    <a:bodyPr/>
                    <a:lstStyle/>
                    <a:p>
                      <a:pPr algn="ctr"/>
                      <a:r>
                        <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起讫日期</a:t>
                      </a:r>
                    </a:p>
                  </a:txBody>
                  <a:tcPr marL="68580" marR="68580" marT="0" marB="0" anchor="ctr"/>
                </a:tc>
                <a:tc>
                  <a:txBody>
                    <a:bodyPr/>
                    <a:lstStyle/>
                    <a:p>
                      <a:pPr algn="ctr"/>
                      <a:r>
                        <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rPr>
                        <a:t>主要研究内容</a:t>
                      </a:r>
                    </a:p>
                  </a:txBody>
                  <a:tcPr marL="68580" marR="68580" marT="0" marB="0" anchor="ctr"/>
                </a:tc>
                <a:tc>
                  <a:txBody>
                    <a:bodyPr/>
                    <a:lstStyle/>
                    <a:p>
                      <a:pPr algn="ctr"/>
                      <a:r>
                        <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预期结果</a:t>
                      </a:r>
                    </a:p>
                  </a:txBody>
                  <a:tcPr marL="68580" marR="68580" marT="0" marB="0" anchor="ctr"/>
                </a:tc>
                <a:extLst>
                  <a:ext uri="{0D108BD9-81ED-4DB2-BD59-A6C34878D82A}">
                    <a16:rowId xmlns:a16="http://schemas.microsoft.com/office/drawing/2014/main" val="2675125976"/>
                  </a:ext>
                </a:extLst>
              </a:tr>
              <a:tr h="409575">
                <a:tc>
                  <a:txBody>
                    <a:bodyPr/>
                    <a:lstStyle/>
                    <a:p>
                      <a:pPr algn="ctr"/>
                      <a:r>
                        <a:rPr lang="en-US" sz="1600" kern="100">
                          <a:effectLst/>
                          <a:latin typeface="Times New Roman" panose="02020603050405020304" pitchFamily="18" charset="0"/>
                          <a:ea typeface="SimSun" panose="02010600030101010101" pitchFamily="2" charset="-122"/>
                          <a:cs typeface="Times New Roman" panose="02020603050405020304" pitchFamily="18" charset="0"/>
                        </a:rPr>
                        <a:t>2023.9-2023.10</a:t>
                      </a:r>
                      <a:endParaRPr lang="zh-CN"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国内外文献查阅与资料整理</a:t>
                      </a:r>
                    </a:p>
                  </a:txBody>
                  <a:tcPr marL="68580" marR="68580" marT="0" marB="0" anchor="ctr"/>
                </a:tc>
                <a:tc>
                  <a:txBody>
                    <a:bodyPr/>
                    <a:lstStyle/>
                    <a:p>
                      <a:pPr algn="ct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文献综述，</a:t>
                      </a: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开题报告</a:t>
                      </a:r>
                    </a:p>
                  </a:txBody>
                  <a:tcPr marL="68580" marR="68580" marT="0" marB="0" anchor="ctr"/>
                </a:tc>
                <a:extLst>
                  <a:ext uri="{0D108BD9-81ED-4DB2-BD59-A6C34878D82A}">
                    <a16:rowId xmlns:a16="http://schemas.microsoft.com/office/drawing/2014/main" val="4014874893"/>
                  </a:ext>
                </a:extLst>
              </a:tr>
              <a:tr h="409575">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2023.11-2024.1</a:t>
                      </a:r>
                      <a:r>
                        <a:rPr lang="en-US" altLang="zh-CN" sz="1600" kern="100" dirty="0">
                          <a:effectLst/>
                          <a:latin typeface="Times New Roman" panose="02020603050405020304" pitchFamily="18" charset="0"/>
                          <a:ea typeface="SimSun" panose="02010600030101010101" pitchFamily="2" charset="-122"/>
                          <a:cs typeface="Times New Roman" panose="02020603050405020304" pitchFamily="18" charset="0"/>
                        </a:rPr>
                        <a:t>2</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b="0" dirty="0">
                          <a:solidFill>
                            <a:schemeClr val="tx1"/>
                          </a:solidFill>
                          <a:latin typeface="宋体" panose="02010600030101010101" pitchFamily="2" charset="-122"/>
                          <a:ea typeface="宋体" panose="02010600030101010101" pitchFamily="2" charset="-122"/>
                        </a:rPr>
                        <a:t>智能车间多制造单元分布式静态调度方法</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实验报告</a:t>
                      </a: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，中期报告</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3537374"/>
                  </a:ext>
                </a:extLst>
              </a:tr>
              <a:tr h="409575">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a:t>
                      </a:r>
                      <a:r>
                        <a:rPr lang="en-US" altLang="zh-CN" sz="1600" kern="100" dirty="0">
                          <a:effectLst/>
                          <a:latin typeface="Times New Roman" panose="02020603050405020304" pitchFamily="18" charset="0"/>
                          <a:ea typeface="SimSun" panose="02010600030101010101" pitchFamily="2" charset="-122"/>
                          <a:cs typeface="Times New Roman" panose="02020603050405020304" pitchFamily="18" charset="0"/>
                        </a:rPr>
                        <a:t>2</a:t>
                      </a: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-2024.5</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b="0" dirty="0">
                          <a:solidFill>
                            <a:schemeClr val="tx1"/>
                          </a:solidFill>
                          <a:latin typeface="宋体" panose="02010600030101010101" pitchFamily="2" charset="-122"/>
                          <a:ea typeface="宋体" panose="02010600030101010101" pitchFamily="2" charset="-122"/>
                        </a:rPr>
                        <a:t>面向突发性动态事件的分布式自适应调度方法</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实验报告，专利</a:t>
                      </a:r>
                    </a:p>
                  </a:txBody>
                  <a:tcPr marL="68580" marR="68580" marT="0" marB="0" anchor="ctr"/>
                </a:tc>
                <a:extLst>
                  <a:ext uri="{0D108BD9-81ED-4DB2-BD59-A6C34878D82A}">
                    <a16:rowId xmlns:a16="http://schemas.microsoft.com/office/drawing/2014/main" val="3480647899"/>
                  </a:ext>
                </a:extLst>
              </a:tr>
              <a:tr h="409575">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2024.6-2024.</a:t>
                      </a:r>
                      <a:r>
                        <a:rPr lang="en-US" altLang="zh-CN" sz="1600" kern="100" dirty="0">
                          <a:effectLst/>
                          <a:latin typeface="Times New Roman" panose="02020603050405020304" pitchFamily="18" charset="0"/>
                          <a:ea typeface="SimSun" panose="02010600030101010101" pitchFamily="2" charset="-122"/>
                          <a:cs typeface="Times New Roman" panose="02020603050405020304" pitchFamily="18" charset="0"/>
                        </a:rPr>
                        <a:t>7</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b="0" dirty="0">
                          <a:solidFill>
                            <a:schemeClr val="tx1"/>
                          </a:solidFill>
                          <a:latin typeface="宋体" panose="02010600030101010101" pitchFamily="2" charset="-122"/>
                          <a:ea typeface="宋体" panose="02010600030101010101" pitchFamily="2" charset="-122"/>
                        </a:rPr>
                        <a:t>面向可预测动态事件的分布式长期优化调度方法</a:t>
                      </a:r>
                      <a:endParaRPr lang="zh-CN" alt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a:effectLst/>
                          <a:latin typeface="Times New Roman" panose="02020603050405020304" pitchFamily="18" charset="0"/>
                          <a:ea typeface="SimSun" panose="02010600030101010101" pitchFamily="2" charset="-122"/>
                          <a:cs typeface="Times New Roman" panose="02020603050405020304" pitchFamily="18" charset="0"/>
                        </a:rPr>
                        <a:t>实验报告</a:t>
                      </a:r>
                    </a:p>
                  </a:txBody>
                  <a:tcPr marL="68580" marR="68580" marT="0" marB="0" anchor="ctr"/>
                </a:tc>
                <a:extLst>
                  <a:ext uri="{0D108BD9-81ED-4DB2-BD59-A6C34878D82A}">
                    <a16:rowId xmlns:a16="http://schemas.microsoft.com/office/drawing/2014/main" val="4083104248"/>
                  </a:ext>
                </a:extLst>
              </a:tr>
              <a:tr h="409575">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2024.9-2024.11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实验验证</a:t>
                      </a:r>
                      <a:endParaRPr lang="zh-CN" alt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a:effectLst/>
                          <a:latin typeface="Times New Roman" panose="02020603050405020304" pitchFamily="18" charset="0"/>
                          <a:ea typeface="SimSun" panose="02010600030101010101" pitchFamily="2" charset="-122"/>
                          <a:cs typeface="Times New Roman" panose="02020603050405020304" pitchFamily="18" charset="0"/>
                        </a:rPr>
                        <a:t>实验报告，小论文</a:t>
                      </a:r>
                    </a:p>
                  </a:txBody>
                  <a:tcPr marL="68580" marR="68580" marT="0" marB="0" anchor="ctr"/>
                </a:tc>
                <a:extLst>
                  <a:ext uri="{0D108BD9-81ED-4DB2-BD59-A6C34878D82A}">
                    <a16:rowId xmlns:a16="http://schemas.microsoft.com/office/drawing/2014/main" val="2664335379"/>
                  </a:ext>
                </a:extLst>
              </a:tr>
              <a:tr h="409575">
                <a:tc>
                  <a:txBody>
                    <a:bodyPr/>
                    <a:lstStyle/>
                    <a:p>
                      <a:pPr algn="ctr"/>
                      <a:r>
                        <a:rPr lang="en-US" sz="1600" kern="100">
                          <a:effectLst/>
                          <a:latin typeface="Times New Roman" panose="02020603050405020304" pitchFamily="18" charset="0"/>
                          <a:ea typeface="SimSun" panose="02010600030101010101" pitchFamily="2" charset="-122"/>
                          <a:cs typeface="Times New Roman" panose="02020603050405020304" pitchFamily="18" charset="0"/>
                        </a:rPr>
                        <a:t>2024.12-2025.3</a:t>
                      </a:r>
                      <a:endParaRPr lang="zh-CN"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撰写大论文</a:t>
                      </a: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学位论文</a:t>
                      </a:r>
                    </a:p>
                  </a:txBody>
                  <a:tcPr marL="68580" marR="68580" marT="0" marB="0" anchor="ctr"/>
                </a:tc>
                <a:extLst>
                  <a:ext uri="{0D108BD9-81ED-4DB2-BD59-A6C34878D82A}">
                    <a16:rowId xmlns:a16="http://schemas.microsoft.com/office/drawing/2014/main" val="1177513081"/>
                  </a:ext>
                </a:extLst>
              </a:tr>
            </a:tbl>
          </a:graphicData>
        </a:graphic>
      </p:graphicFrame>
    </p:spTree>
    <p:extLst>
      <p:ext uri="{BB962C8B-B14F-4D97-AF65-F5344CB8AC3E}">
        <p14:creationId xmlns:p14="http://schemas.microsoft.com/office/powerpoint/2010/main" val="2858228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15" name="文本框 14">
            <a:extLst>
              <a:ext uri="{FF2B5EF4-FFF2-40B4-BE49-F238E27FC236}">
                <a16:creationId xmlns:a16="http://schemas.microsoft.com/office/drawing/2014/main" id="{A8644BE9-E0FD-C743-8A03-16B73F15A65A}"/>
              </a:ext>
            </a:extLst>
          </p:cNvPr>
          <p:cNvSpPr txBox="1"/>
          <p:nvPr/>
        </p:nvSpPr>
        <p:spPr>
          <a:xfrm>
            <a:off x="1008991" y="204900"/>
            <a:ext cx="1598515" cy="461665"/>
          </a:xfrm>
          <a:prstGeom prst="rect">
            <a:avLst/>
          </a:prstGeom>
          <a:noFill/>
        </p:spPr>
        <p:txBody>
          <a:bodyPr wrap="none" rtlCol="0">
            <a:spAutoFit/>
          </a:bodyPr>
          <a:lstStyle>
            <a:defPPr>
              <a:defRPr lang="zh-CN"/>
            </a:defPPr>
            <a:lvl1pPr>
              <a:defRPr kumimoji="1" b="1">
                <a:solidFill>
                  <a:srgbClr val="3B5E98"/>
                </a:solidFill>
                <a:latin typeface="Microsoft YaHei" panose="020B0503020204020204" pitchFamily="34" charset="-122"/>
                <a:ea typeface="Microsoft YaHei" panose="020B0503020204020204" pitchFamily="34" charset="-122"/>
              </a:defRPr>
            </a:lvl1pPr>
          </a:lstStyle>
          <a:p>
            <a:r>
              <a:rPr lang="zh-CN" altLang="en-US" sz="2400" dirty="0"/>
              <a:t>  参考文献</a:t>
            </a:r>
          </a:p>
        </p:txBody>
      </p:sp>
      <p:sp>
        <p:nvSpPr>
          <p:cNvPr id="2" name="文本框 1">
            <a:extLst>
              <a:ext uri="{FF2B5EF4-FFF2-40B4-BE49-F238E27FC236}">
                <a16:creationId xmlns:a16="http://schemas.microsoft.com/office/drawing/2014/main" id="{402A1A3F-9EB2-444C-A7DE-5B9EFBF79033}"/>
              </a:ext>
            </a:extLst>
          </p:cNvPr>
          <p:cNvSpPr txBox="1"/>
          <p:nvPr/>
        </p:nvSpPr>
        <p:spPr>
          <a:xfrm>
            <a:off x="404191" y="1052052"/>
            <a:ext cx="10871117" cy="5693866"/>
          </a:xfrm>
          <a:prstGeom prst="rect">
            <a:avLst/>
          </a:prstGeom>
          <a:noFill/>
        </p:spPr>
        <p:txBody>
          <a:bodyPr wrap="square" rtlCol="0">
            <a:spAutoFit/>
          </a:bodyPr>
          <a:lstStyle/>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 Wang L, Hu X, Wang Y, et al. Dynamic job-shop scheduling in smart manufacturing using deep reinforcement learning[J]. Computer Networks, 2021, 190: 107969.</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 Chang J, Yu D, Hu Y, et al. Deep reinforcement learning for dynamic flexible job shop scheduling with random job arrival[J]. Processes, 2022, 10(4): 760.</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[3] Zhang Y, Zhu H, Tang D, et al. Dynamic job shop scheduling based on deep reinforcement learning for multi-agent manufacturing systems[J]. Robotics and Computer-Integrated Manufacturing, 2022, 78: 102412.</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[4] Liu R,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Piplani</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R, Toro C. A deep multi-agent reinforcement learning approach to solve dynamic job shop scheduling problem[J]. Computers &amp; Operations Research, 2023, 159: 106294.</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[5] Zhang J D, He Z, Chan W H, et al.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DeepMAG</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Deep reinforcement learning with multi-agent graphs for flexible job shop scheduling[J]. Knowledge-Based Systems, 2023, 259: 110083.</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[6] Huang J P, Gao L, Li X Y, et al. A cooperative hierarchical deep reinforcement learning based multi-agent method for distributed job shop scheduling problem with random job arrivals[J]. Computers &amp; Industrial Engineering, 2023, 185: 109650.</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[7] Luo S, Zhang L, Fan Y. Dynamic multi-objective scheduling for flexible job shop by deep reinforcement learning[J]. Computers &amp; Industrial Engineering, 2021, 159: 107489.</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[8] Wang X, Zhang L, Lin T, et al. Solving job scheduling problems in a resource preemption environment with multi-agent reinforcement learning[J]. Robotics and Computer-Integrated Manufacturing, 2022, 77: 102324.</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[9] Rashid T,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Samvelyan</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M, De Witt C S, et al. Monotonic value function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factorisation</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for deep multi-agent reinforcement learning[J]. Journal of Machine Learning Research, 2020, 21(178): 1-51.</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[10] Kim Y G, Lee S, Son J, et al. Multi-agent system and reinforcement learning approach for distributed intelligence in a flexible smart manufacturing system[J]. Journal of Manufacturing Systems, 2020, 57: 440-450.</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[11] Bernstein D S,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Givan</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R,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Immerman</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N, et al. The complexity of decentralized control of Markov decision processes[J]. Mathematics of operations research, 2002, 27(4): 819-840.</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[12]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Kapturowski</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S,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Ostrovski</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G, Quan J, et al. Recurrent experience replay in distributed reinforcement learning[C]//International conference on learning representations. 2018.</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[13] Johnson D, Chen G, Lu Y. Multi-agent reinforcement learning for real-time dynamic production scheduling in a robot assembly cell[J]. IEEE Robotics and Automation Letters, 2022, 7(3): 7684-7691.</a:t>
            </a:r>
          </a:p>
        </p:txBody>
      </p:sp>
    </p:spTree>
    <p:extLst>
      <p:ext uri="{BB962C8B-B14F-4D97-AF65-F5344CB8AC3E}">
        <p14:creationId xmlns:p14="http://schemas.microsoft.com/office/powerpoint/2010/main" val="1019006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15" name="文本框 14">
            <a:extLst>
              <a:ext uri="{FF2B5EF4-FFF2-40B4-BE49-F238E27FC236}">
                <a16:creationId xmlns:a16="http://schemas.microsoft.com/office/drawing/2014/main" id="{A8644BE9-E0FD-C743-8A03-16B73F15A65A}"/>
              </a:ext>
            </a:extLst>
          </p:cNvPr>
          <p:cNvSpPr txBox="1"/>
          <p:nvPr/>
        </p:nvSpPr>
        <p:spPr>
          <a:xfrm>
            <a:off x="1008991" y="204900"/>
            <a:ext cx="1598515" cy="461665"/>
          </a:xfrm>
          <a:prstGeom prst="rect">
            <a:avLst/>
          </a:prstGeom>
          <a:noFill/>
        </p:spPr>
        <p:txBody>
          <a:bodyPr wrap="none" rtlCol="0">
            <a:spAutoFit/>
          </a:bodyPr>
          <a:lstStyle>
            <a:defPPr>
              <a:defRPr lang="zh-CN"/>
            </a:defPPr>
            <a:lvl1pPr>
              <a:defRPr kumimoji="1" b="1">
                <a:solidFill>
                  <a:srgbClr val="3B5E98"/>
                </a:solidFill>
                <a:latin typeface="Microsoft YaHei" panose="020B0503020204020204" pitchFamily="34" charset="-122"/>
                <a:ea typeface="Microsoft YaHei" panose="020B0503020204020204" pitchFamily="34" charset="-122"/>
              </a:defRPr>
            </a:lvl1pPr>
          </a:lstStyle>
          <a:p>
            <a:r>
              <a:rPr lang="zh-CN" altLang="en-US" sz="2400" dirty="0"/>
              <a:t>  参考文献</a:t>
            </a:r>
          </a:p>
        </p:txBody>
      </p:sp>
      <p:sp>
        <p:nvSpPr>
          <p:cNvPr id="2" name="文本框 1">
            <a:extLst>
              <a:ext uri="{FF2B5EF4-FFF2-40B4-BE49-F238E27FC236}">
                <a16:creationId xmlns:a16="http://schemas.microsoft.com/office/drawing/2014/main" id="{402A1A3F-9EB2-444C-A7DE-5B9EFBF79033}"/>
              </a:ext>
            </a:extLst>
          </p:cNvPr>
          <p:cNvSpPr txBox="1"/>
          <p:nvPr/>
        </p:nvSpPr>
        <p:spPr>
          <a:xfrm>
            <a:off x="404191" y="1052052"/>
            <a:ext cx="11383618" cy="2677656"/>
          </a:xfrm>
          <a:prstGeom prst="rect">
            <a:avLst/>
          </a:prstGeom>
          <a:noFill/>
        </p:spPr>
        <p:txBody>
          <a:bodyPr wrap="square" rtlCol="0">
            <a:spAutoFit/>
          </a:bodyPr>
          <a:lstStyle/>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[14] Liu C L, Chang C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Tseng C J. Actor-critic deep reinforcement learning for solving job shop scheduling problems[J].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Ieee</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Access, 2020, 8: 71752-71762.</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[15] Qin Z, Johnson D, Lu Y. Dynamic production scheduling towards self-organizing mass personalization: A multi-agent dueling deep reinforcement learning approach[J]. Journal of Manufacturing Systems, 2023, 68: 242-257.</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[16] Wang Y, Liu H, Zheng W, et al. Multi-objective workflow scheduling with deep-Q-network-based multi-agent reinforcement learning[J]. IEEE access, 2019, 7: 39974-39982.</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[17] Jing X, Yao X, Liu M, et al. Multi-agent reinforcement learning based on graph convolutional network for flexible job shop scheduling[J]. Journal of Intelligent Manufacturing, 2024, 35(1): 75-93.</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[18] Peng S, Xiong G, Yang J, et al. Multi-Agent Reinforcement Learning for Extended Flexible Job Shop Scheduling[J]. Machines, 2023, 12(1): 8.</a:t>
            </a:r>
          </a:p>
          <a:p>
            <a:pPr lvl="0" algn="just"/>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[19] Zhang J D, He Z, Chan W H, et al. </a:t>
            </a:r>
            <a:r>
              <a:rPr lang="en-US" altLang="zh-CN" sz="1400" kern="100" dirty="0" err="1">
                <a:latin typeface="Times New Roman" panose="02020603050405020304" pitchFamily="18" charset="0"/>
                <a:ea typeface="宋体" panose="02010600030101010101" pitchFamily="2" charset="-122"/>
                <a:cs typeface="Times New Roman" panose="02020603050405020304" pitchFamily="18" charset="0"/>
              </a:rPr>
              <a:t>DeepMAG</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Deep reinforcement learning with multi-agent graphs for flexible job shop scheduling[J]. Knowledge-Based Systems, 2023, 259: 110083.</a:t>
            </a:r>
          </a:p>
          <a:p>
            <a:pPr lvl="0" algn="just"/>
            <a:endParaRPr lang="en-US" altLang="zh-CN" sz="14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92202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B02CD62C-AC52-42B9-BB74-086C94E78CF8}"/>
              </a:ext>
            </a:extLst>
          </p:cNvPr>
          <p:cNvSpPr/>
          <p:nvPr/>
        </p:nvSpPr>
        <p:spPr>
          <a:xfrm>
            <a:off x="1618911" y="2472138"/>
            <a:ext cx="8952570" cy="1147279"/>
          </a:xfrm>
          <a:prstGeom prst="roundRect">
            <a:avLst>
              <a:gd name="adj" fmla="val 50000"/>
            </a:avLst>
          </a:prstGeom>
          <a:gradFill flip="none" rotWithShape="1">
            <a:gsLst>
              <a:gs pos="19000">
                <a:schemeClr val="accent5">
                  <a:lumMod val="75000"/>
                </a:schemeClr>
              </a:gs>
              <a:gs pos="66000">
                <a:schemeClr val="accent1">
                  <a:lumMod val="75000"/>
                </a:schemeClr>
              </a:gs>
              <a:gs pos="84000">
                <a:schemeClr val="accent1"/>
              </a:gs>
              <a:gs pos="99000">
                <a:schemeClr val="accent5">
                  <a:lumMod val="60000"/>
                  <a:lumOff val="4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nvGrpSpPr>
          <p:cNvPr id="18" name="组合 17">
            <a:extLst>
              <a:ext uri="{FF2B5EF4-FFF2-40B4-BE49-F238E27FC236}">
                <a16:creationId xmlns:a16="http://schemas.microsoft.com/office/drawing/2014/main" id="{FC8191DE-E03B-4AD5-BF6A-AD1A3DCA31E2}"/>
              </a:ext>
            </a:extLst>
          </p:cNvPr>
          <p:cNvGrpSpPr/>
          <p:nvPr/>
        </p:nvGrpSpPr>
        <p:grpSpPr>
          <a:xfrm>
            <a:off x="5415218" y="841285"/>
            <a:ext cx="1359953" cy="1361409"/>
            <a:chOff x="5415218" y="841285"/>
            <a:chExt cx="1359953" cy="1361409"/>
          </a:xfrm>
        </p:grpSpPr>
        <p:pic>
          <p:nvPicPr>
            <p:cNvPr id="20" name="图片 19">
              <a:extLst>
                <a:ext uri="{FF2B5EF4-FFF2-40B4-BE49-F238E27FC236}">
                  <a16:creationId xmlns:a16="http://schemas.microsoft.com/office/drawing/2014/main" id="{991D0987-E869-4193-ABBA-0F79D7CA4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8371" y="841285"/>
              <a:ext cx="775258" cy="777841"/>
            </a:xfrm>
            <a:prstGeom prst="rect">
              <a:avLst/>
            </a:prstGeom>
          </p:spPr>
        </p:pic>
        <p:pic>
          <p:nvPicPr>
            <p:cNvPr id="21" name="图片 20">
              <a:extLst>
                <a:ext uri="{FF2B5EF4-FFF2-40B4-BE49-F238E27FC236}">
                  <a16:creationId xmlns:a16="http://schemas.microsoft.com/office/drawing/2014/main" id="{9F8ED6A6-CC55-4DB6-8331-568A0D44EA9C}"/>
                </a:ext>
              </a:extLst>
            </p:cNvPr>
            <p:cNvPicPr>
              <a:picLocks noChangeAspect="1"/>
            </p:cNvPicPr>
            <p:nvPr/>
          </p:nvPicPr>
          <p:blipFill rotWithShape="1">
            <a:blip r:embed="rId3">
              <a:extLst>
                <a:ext uri="{28A0092B-C50C-407E-A947-70E740481C1C}">
                  <a14:useLocalDpi xmlns:a14="http://schemas.microsoft.com/office/drawing/2010/main" val="0"/>
                </a:ext>
              </a:extLst>
            </a:blip>
            <a:srcRect l="33676" t="32421" r="14560" b="35039"/>
            <a:stretch/>
          </p:blipFill>
          <p:spPr>
            <a:xfrm>
              <a:off x="5415218" y="1619126"/>
              <a:ext cx="1359953" cy="583568"/>
            </a:xfrm>
            <a:prstGeom prst="rect">
              <a:avLst/>
            </a:prstGeom>
          </p:spPr>
        </p:pic>
      </p:grpSp>
      <p:sp>
        <p:nvSpPr>
          <p:cNvPr id="22" name="文本框 21">
            <a:extLst>
              <a:ext uri="{FF2B5EF4-FFF2-40B4-BE49-F238E27FC236}">
                <a16:creationId xmlns:a16="http://schemas.microsoft.com/office/drawing/2014/main" id="{D658D4AE-48F4-411A-AC0A-EDA9D9FDD190}"/>
              </a:ext>
            </a:extLst>
          </p:cNvPr>
          <p:cNvSpPr txBox="1"/>
          <p:nvPr/>
        </p:nvSpPr>
        <p:spPr>
          <a:xfrm>
            <a:off x="1930335" y="2598003"/>
            <a:ext cx="83297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prstClr val="white"/>
                </a:solidFill>
                <a:effectLst/>
                <a:uLnTx/>
                <a:uFillTx/>
                <a:latin typeface="华文中宋" panose="02010600040101010101" pitchFamily="2" charset="-122"/>
                <a:ea typeface="华文中宋" panose="02010600040101010101" pitchFamily="2" charset="-122"/>
                <a:cs typeface="+mn-cs"/>
              </a:rPr>
              <a:t>请老师批评指正</a:t>
            </a:r>
            <a:r>
              <a:rPr kumimoji="0" lang="en-US" altLang="zh-CN" sz="4800" b="0" i="0" u="none" strike="noStrike" kern="1200" cap="none" spc="0" normalizeH="0" baseline="0" noProof="0" dirty="0">
                <a:ln>
                  <a:noFill/>
                </a:ln>
                <a:solidFill>
                  <a:prstClr val="white"/>
                </a:solidFill>
                <a:effectLst/>
                <a:uLnTx/>
                <a:uFillTx/>
                <a:latin typeface="华文中宋" panose="02010600040101010101" pitchFamily="2" charset="-122"/>
                <a:ea typeface="华文中宋" panose="02010600040101010101" pitchFamily="2" charset="-122"/>
                <a:cs typeface="+mn-cs"/>
              </a:rPr>
              <a:t>!</a:t>
            </a:r>
            <a:endParaRPr kumimoji="0" lang="zh-CN" altLang="en-US" sz="4800" b="0" i="0" u="none" strike="noStrike" kern="1200" cap="none" spc="0" normalizeH="0" baseline="0" noProof="0" dirty="0">
              <a:ln>
                <a:noFill/>
              </a:ln>
              <a:solidFill>
                <a:prstClr val="white"/>
              </a:solidFill>
              <a:effectLst/>
              <a:uLnTx/>
              <a:uFillTx/>
              <a:latin typeface="华文中宋" panose="02010600040101010101" pitchFamily="2" charset="-122"/>
              <a:ea typeface="华文中宋" panose="02010600040101010101" pitchFamily="2" charset="-122"/>
              <a:cs typeface="+mn-cs"/>
            </a:endParaRPr>
          </a:p>
        </p:txBody>
      </p:sp>
      <p:grpSp>
        <p:nvGrpSpPr>
          <p:cNvPr id="17" name="组合 16">
            <a:extLst>
              <a:ext uri="{FF2B5EF4-FFF2-40B4-BE49-F238E27FC236}">
                <a16:creationId xmlns:a16="http://schemas.microsoft.com/office/drawing/2014/main" id="{1698C101-C20D-904A-AAAC-69A6BD57789C}"/>
              </a:ext>
            </a:extLst>
          </p:cNvPr>
          <p:cNvGrpSpPr/>
          <p:nvPr/>
        </p:nvGrpSpPr>
        <p:grpSpPr>
          <a:xfrm>
            <a:off x="3344498" y="4443066"/>
            <a:ext cx="5501391" cy="400110"/>
            <a:chOff x="3310835" y="4429814"/>
            <a:chExt cx="5501391" cy="400110"/>
          </a:xfrm>
        </p:grpSpPr>
        <p:sp>
          <p:nvSpPr>
            <p:cNvPr id="19" name="文本框 18">
              <a:extLst>
                <a:ext uri="{FF2B5EF4-FFF2-40B4-BE49-F238E27FC236}">
                  <a16:creationId xmlns:a16="http://schemas.microsoft.com/office/drawing/2014/main" id="{66266A03-FC15-A041-9EE6-BC48D201B5E4}"/>
                </a:ext>
              </a:extLst>
            </p:cNvPr>
            <p:cNvSpPr txBox="1"/>
            <p:nvPr/>
          </p:nvSpPr>
          <p:spPr>
            <a:xfrm>
              <a:off x="3770905" y="4429814"/>
              <a:ext cx="2324289"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答辩人：廖一芃</a:t>
              </a:r>
            </a:p>
          </p:txBody>
        </p:sp>
        <p:cxnSp>
          <p:nvCxnSpPr>
            <p:cNvPr id="23" name="直接连接符 13">
              <a:extLst>
                <a:ext uri="{FF2B5EF4-FFF2-40B4-BE49-F238E27FC236}">
                  <a16:creationId xmlns:a16="http://schemas.microsoft.com/office/drawing/2014/main" id="{5D76B74E-DE45-5C4E-99BF-58B98EE1AA0A}"/>
                </a:ext>
              </a:extLst>
            </p:cNvPr>
            <p:cNvCxnSpPr/>
            <p:nvPr/>
          </p:nvCxnSpPr>
          <p:spPr>
            <a:xfrm>
              <a:off x="3310835" y="4629869"/>
              <a:ext cx="348272" cy="0"/>
            </a:xfrm>
            <a:prstGeom prst="line">
              <a:avLst/>
            </a:prstGeom>
            <a:ln w="158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14">
              <a:extLst>
                <a:ext uri="{FF2B5EF4-FFF2-40B4-BE49-F238E27FC236}">
                  <a16:creationId xmlns:a16="http://schemas.microsoft.com/office/drawing/2014/main" id="{F5FE2A60-AF4C-B640-9AFB-A04E86059463}"/>
                </a:ext>
              </a:extLst>
            </p:cNvPr>
            <p:cNvCxnSpPr/>
            <p:nvPr/>
          </p:nvCxnSpPr>
          <p:spPr>
            <a:xfrm>
              <a:off x="8463954" y="4630588"/>
              <a:ext cx="348272" cy="0"/>
            </a:xfrm>
            <a:prstGeom prst="line">
              <a:avLst/>
            </a:prstGeom>
            <a:ln w="158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3E4EDCE1-2189-F54B-BB1D-D094D805C4C4}"/>
                </a:ext>
              </a:extLst>
            </p:cNvPr>
            <p:cNvSpPr txBox="1"/>
            <p:nvPr/>
          </p:nvSpPr>
          <p:spPr>
            <a:xfrm>
              <a:off x="6206992" y="4429814"/>
              <a:ext cx="232428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指导老师：</a:t>
              </a:r>
              <a:r>
                <a:rPr lang="zh-CN" altLang="en-US" sz="2000" dirty="0">
                  <a:solidFill>
                    <a:srgbClr val="4472C4">
                      <a:lumMod val="75000"/>
                    </a:srgbClr>
                  </a:solidFill>
                  <a:latin typeface="微软雅黑" panose="020B0503020204020204" pitchFamily="34" charset="-122"/>
                  <a:ea typeface="微软雅黑" panose="020B0503020204020204" pitchFamily="34" charset="-122"/>
                </a:rPr>
                <a:t>马玉敏</a:t>
              </a:r>
              <a:endPar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36049858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85266e62-82b5-4525-92ff-627ae313dee4}"/>
  <p:tag name="TABLE_ENDDRAG_ORIGIN_RECT" val="800*213"/>
  <p:tag name="TABLE_ENDDRAG_RECT" val="55*139*800*213"/>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85266e62-82b5-4525-92ff-627ae313dee4}"/>
  <p:tag name="TABLE_ENDDRAG_ORIGIN_RECT" val="800*213"/>
  <p:tag name="TABLE_ENDDRAG_RECT" val="55*139*800*213"/>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44626</TotalTime>
  <Words>4898</Words>
  <Application>Microsoft Office PowerPoint</Application>
  <PresentationFormat>宽屏</PresentationFormat>
  <Paragraphs>442</Paragraphs>
  <Slides>19</Slides>
  <Notes>18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19</vt:i4>
      </vt:variant>
    </vt:vector>
  </HeadingPairs>
  <TitlesOfParts>
    <vt:vector size="34" baseType="lpstr">
      <vt:lpstr>等线</vt:lpstr>
      <vt:lpstr>等线 Light</vt:lpstr>
      <vt:lpstr>黑体</vt:lpstr>
      <vt:lpstr>华文中宋</vt:lpstr>
      <vt:lpstr>SimSun</vt:lpstr>
      <vt:lpstr>SimSun</vt:lpstr>
      <vt:lpstr>微软雅黑</vt:lpstr>
      <vt:lpstr>微软雅黑</vt:lpstr>
      <vt:lpstr>微软雅黑 Light</vt:lpstr>
      <vt:lpstr>Arial</vt:lpstr>
      <vt:lpstr>Calibri</vt:lpstr>
      <vt:lpstr>Cambria Math</vt:lpstr>
      <vt:lpstr>Times New Roman</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Winnie</dc:creator>
  <cp:lastModifiedBy>一芃 廖</cp:lastModifiedBy>
  <cp:revision>944</cp:revision>
  <dcterms:created xsi:type="dcterms:W3CDTF">2020-04-29T08:28:44Z</dcterms:created>
  <dcterms:modified xsi:type="dcterms:W3CDTF">2024-09-24T06:17:35Z</dcterms:modified>
</cp:coreProperties>
</file>