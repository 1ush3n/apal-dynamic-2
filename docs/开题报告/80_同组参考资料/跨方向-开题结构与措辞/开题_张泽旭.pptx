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handoutMasterIdLst>
    <p:handoutMasterId r:id="rId28"/>
  </p:handoutMasterIdLst>
  <p:sldIdLst>
    <p:sldId id="346" r:id="rId2"/>
    <p:sldId id="257" r:id="rId3"/>
    <p:sldId id="3093" r:id="rId4"/>
    <p:sldId id="3142" r:id="rId5"/>
    <p:sldId id="3144" r:id="rId6"/>
    <p:sldId id="3105" r:id="rId7"/>
    <p:sldId id="3150" r:id="rId8"/>
    <p:sldId id="3146" r:id="rId9"/>
    <p:sldId id="3143" r:id="rId10"/>
    <p:sldId id="3137" r:id="rId11"/>
    <p:sldId id="3147" r:id="rId12"/>
    <p:sldId id="3145" r:id="rId13"/>
    <p:sldId id="3134" r:id="rId14"/>
    <p:sldId id="3133" r:id="rId15"/>
    <p:sldId id="3135" r:id="rId16"/>
    <p:sldId id="3130" r:id="rId17"/>
    <p:sldId id="3131" r:id="rId18"/>
    <p:sldId id="3140" r:id="rId19"/>
    <p:sldId id="3149" r:id="rId20"/>
    <p:sldId id="3151" r:id="rId21"/>
    <p:sldId id="3152" r:id="rId22"/>
    <p:sldId id="3136" r:id="rId23"/>
    <p:sldId id="3126" r:id="rId24"/>
    <p:sldId id="3138" r:id="rId25"/>
    <p:sldId id="313" r:id="rId26"/>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00FF"/>
    <a:srgbClr val="005A8A"/>
    <a:srgbClr val="2F5597"/>
    <a:srgbClr val="006171"/>
    <a:srgbClr val="006097"/>
    <a:srgbClr val="EEECE1"/>
    <a:srgbClr val="911F22"/>
    <a:srgbClr val="C92B2F"/>
    <a:srgbClr val="0097B0"/>
    <a:srgbClr val="6FD5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98" autoAdjust="0"/>
    <p:restoredTop sz="67301" autoAdjust="0"/>
  </p:normalViewPr>
  <p:slideViewPr>
    <p:cSldViewPr snapToGrid="0">
      <p:cViewPr varScale="1">
        <p:scale>
          <a:sx n="76" d="100"/>
          <a:sy n="76" d="100"/>
        </p:scale>
        <p:origin x="2346" y="78"/>
      </p:cViewPr>
      <p:guideLst/>
    </p:cSldViewPr>
  </p:slideViewPr>
  <p:notesTextViewPr>
    <p:cViewPr>
      <p:scale>
        <a:sx n="3" d="2"/>
        <a:sy n="3" d="2"/>
      </p:scale>
      <p:origin x="0" y="0"/>
    </p:cViewPr>
  </p:notesTextViewPr>
  <p:sorterViewPr>
    <p:cViewPr>
      <p:scale>
        <a:sx n="100" d="100"/>
        <a:sy n="100" d="100"/>
      </p:scale>
      <p:origin x="0" y="-5552"/>
    </p:cViewPr>
  </p:sorterViewPr>
  <p:notesViewPr>
    <p:cSldViewPr snapToGrid="0">
      <p:cViewPr varScale="1">
        <p:scale>
          <a:sx n="65" d="100"/>
          <a:sy n="65" d="100"/>
        </p:scale>
        <p:origin x="3154"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C5DB4D-224A-41B8-ADF5-F000A6A6F2AE}" type="datetimeFigureOut">
              <a:rPr lang="zh-CN" altLang="en-US" smtClean="0"/>
              <a:t>2025/10/23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102B22-A639-4D50-9D99-B51D3EAADE5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70A44A-4D38-48A7-9D7C-ECFC6DB5196B}" type="datetimeFigureOut">
              <a:rPr lang="zh-CN" altLang="en-US" smtClean="0"/>
              <a:t>2025/10/23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D9C11C-D04B-4B83-A5E8-D873315BDD39}"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各位老师好，今天由我来进行开题汇报，汇报的题目是面向智能车间的</a:t>
            </a:r>
            <a:r>
              <a:rPr lang="en-US" altLang="zh-CN" dirty="0"/>
              <a:t>PHM</a:t>
            </a:r>
            <a:r>
              <a:rPr lang="zh-CN" altLang="en-US" dirty="0"/>
              <a:t>与调度协同优化研究。</a:t>
            </a:r>
          </a:p>
          <a:p>
            <a:endParaRPr lang="zh-CN" altLang="en-US" dirty="0"/>
          </a:p>
        </p:txBody>
      </p:sp>
      <p:sp>
        <p:nvSpPr>
          <p:cNvPr id="4" name="灯片编号占位符 3"/>
          <p:cNvSpPr>
            <a:spLocks noGrp="1"/>
          </p:cNvSpPr>
          <p:nvPr>
            <p:ph type="sldNum" sz="quarter" idx="5"/>
          </p:nvPr>
        </p:nvSpPr>
        <p:spPr/>
        <p:txBody>
          <a:bodyPr/>
          <a:lstStyle/>
          <a:p>
            <a:fld id="{3DD9C11C-D04B-4B83-A5E8-D873315BDD39}"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我将从以下五个部分进行介绍</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首先是研究背景</a:t>
            </a:r>
          </a:p>
        </p:txBody>
      </p:sp>
      <p:sp>
        <p:nvSpPr>
          <p:cNvPr id="4" name="灯片编号占位符 3"/>
          <p:cNvSpPr>
            <a:spLocks noGrp="1"/>
          </p:cNvSpPr>
          <p:nvPr>
            <p:ph type="sldNum" sz="quarter" idx="5"/>
          </p:nvPr>
        </p:nvSpPr>
        <p:spPr/>
        <p:txBody>
          <a:bodyPr/>
          <a:lstStyle/>
          <a:p>
            <a:fld id="{3DD9C11C-D04B-4B83-A5E8-D873315BDD39}" type="slidenum">
              <a:rPr lang="zh-CN" altLang="en-US" smtClean="0"/>
              <a:t>3</a:t>
            </a:fld>
            <a:endParaRPr lang="zh-CN" altLang="en-US"/>
          </a:p>
        </p:txBody>
      </p:sp>
    </p:spTree>
    <p:extLst>
      <p:ext uri="{BB962C8B-B14F-4D97-AF65-F5344CB8AC3E}">
        <p14:creationId xmlns:p14="http://schemas.microsoft.com/office/powerpoint/2010/main" val="3933127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1F1F1F"/>
                </a:solidFill>
                <a:effectLst/>
                <a:latin typeface="ElsevierGulliver"/>
              </a:rPr>
              <a:t>当前</a:t>
            </a:r>
            <a:r>
              <a:rPr lang="zh-CN" altLang="en-US" sz="1200" dirty="0">
                <a:solidFill>
                  <a:srgbClr val="2F5597"/>
                </a:solidFill>
                <a:latin typeface="Microsoft YaHei" panose="020B0503020204020204" pitchFamily="34" charset="-122"/>
                <a:ea typeface="Microsoft YaHei" panose="020B0503020204020204" pitchFamily="34" charset="-122"/>
              </a:rPr>
              <a:t>我国</a:t>
            </a:r>
            <a:r>
              <a:rPr lang="en-US" altLang="zh-CN" sz="1200" dirty="0">
                <a:solidFill>
                  <a:srgbClr val="2F5597"/>
                </a:solidFill>
                <a:latin typeface="Microsoft YaHei" panose="020B0503020204020204" pitchFamily="34" charset="-122"/>
                <a:ea typeface="Microsoft YaHei" panose="020B0503020204020204" pitchFamily="34" charset="-122"/>
              </a:rPr>
              <a:t>《“</a:t>
            </a:r>
            <a:r>
              <a:rPr lang="zh-CN" altLang="en-US" sz="1200" dirty="0">
                <a:solidFill>
                  <a:srgbClr val="2F5597"/>
                </a:solidFill>
                <a:latin typeface="Microsoft YaHei" panose="020B0503020204020204" pitchFamily="34" charset="-122"/>
                <a:ea typeface="Microsoft YaHei" panose="020B0503020204020204" pitchFamily="34" charset="-122"/>
              </a:rPr>
              <a:t>十四五”智能制造发展规划</a:t>
            </a:r>
            <a:r>
              <a:rPr lang="en-US" altLang="zh-CN" sz="1200" dirty="0">
                <a:solidFill>
                  <a:srgbClr val="2F5597"/>
                </a:solidFill>
                <a:latin typeface="Microsoft YaHei" panose="020B0503020204020204" pitchFamily="34" charset="-122"/>
                <a:ea typeface="Microsoft YaHei" panose="020B0503020204020204" pitchFamily="34" charset="-122"/>
              </a:rPr>
              <a:t>》</a:t>
            </a:r>
            <a:r>
              <a:rPr lang="zh-CN" altLang="en-US" sz="1200" dirty="0">
                <a:solidFill>
                  <a:srgbClr val="2F5597"/>
                </a:solidFill>
                <a:latin typeface="Microsoft YaHei" panose="020B0503020204020204" pitchFamily="34" charset="-122"/>
                <a:ea typeface="Microsoft YaHei" panose="020B0503020204020204" pitchFamily="34" charset="-122"/>
              </a:rPr>
              <a:t>和</a:t>
            </a:r>
            <a:r>
              <a:rPr lang="en-US" altLang="zh-CN" sz="1200" dirty="0">
                <a:solidFill>
                  <a:srgbClr val="2F5597"/>
                </a:solidFill>
                <a:latin typeface="Microsoft YaHei" panose="020B0503020204020204" pitchFamily="34" charset="-122"/>
                <a:ea typeface="Microsoft YaHei" panose="020B0503020204020204" pitchFamily="34" charset="-122"/>
              </a:rPr>
              <a:t>《“</a:t>
            </a:r>
            <a:r>
              <a:rPr lang="zh-CN" altLang="en-US" sz="1200" dirty="0">
                <a:solidFill>
                  <a:srgbClr val="2F5597"/>
                </a:solidFill>
                <a:latin typeface="Microsoft YaHei" panose="020B0503020204020204" pitchFamily="34" charset="-122"/>
                <a:ea typeface="Microsoft YaHei" panose="020B0503020204020204" pitchFamily="34" charset="-122"/>
              </a:rPr>
              <a:t>十四五”国家安全生产规划</a:t>
            </a:r>
            <a:r>
              <a:rPr lang="en-US" altLang="zh-CN" sz="1200" dirty="0">
                <a:solidFill>
                  <a:srgbClr val="2F5597"/>
                </a:solidFill>
                <a:latin typeface="Microsoft YaHei" panose="020B0503020204020204" pitchFamily="34" charset="-122"/>
                <a:ea typeface="Microsoft YaHei" panose="020B0503020204020204" pitchFamily="34" charset="-122"/>
              </a:rPr>
              <a:t>》</a:t>
            </a:r>
            <a:r>
              <a:rPr lang="zh-CN" altLang="en-US" sz="1200" dirty="0">
                <a:solidFill>
                  <a:srgbClr val="2F5597"/>
                </a:solidFill>
                <a:latin typeface="Microsoft YaHei" panose="020B0503020204020204" pitchFamily="34" charset="-122"/>
                <a:ea typeface="Microsoft YaHei" panose="020B0503020204020204" pitchFamily="34" charset="-122"/>
              </a:rPr>
              <a:t>明确提出要“统筹好发展和安全两件大事”，推动制造业向高效与安全并重的方向发展。制造运营中的“高效生产”是生产调度追求的主体目标，而设备的“安全运行”则由设备管理加以保障。</a:t>
            </a:r>
            <a:endParaRPr lang="en-US" altLang="zh-CN" sz="1200" dirty="0">
              <a:solidFill>
                <a:srgbClr val="2F5597"/>
              </a:solidFill>
              <a:latin typeface="Microsoft YaHei" panose="020B0503020204020204" pitchFamily="34" charset="-122"/>
              <a:ea typeface="Microsoft YaHei" panose="020B0503020204020204" pitchFamily="34" charset="-122"/>
            </a:endParaRPr>
          </a:p>
          <a:p>
            <a:pPr marL="0" indent="0" algn="just">
              <a:lnSpc>
                <a:spcPct val="125000"/>
              </a:lnSpc>
              <a:buFont typeface="Wingdings" panose="05000000000000000000" pitchFamily="2" charset="2"/>
              <a:buNone/>
            </a:pPr>
            <a:r>
              <a:rPr lang="zh-CN" altLang="en-US" sz="1200" dirty="0">
                <a:solidFill>
                  <a:srgbClr val="2F5597"/>
                </a:solidFill>
                <a:latin typeface="Microsoft YaHei" panose="020B0503020204020204" pitchFamily="34" charset="-122"/>
                <a:ea typeface="Microsoft YaHei" panose="020B0503020204020204" pitchFamily="34" charset="-122"/>
              </a:rPr>
              <a:t>在智能制造背景下，生产调度和预防性设备维护计划是提升制造过程生产效率和可靠性的两大关键活动。生产调度（追求效率、成本）与设备维护（保障安全、可靠）二者深度耦合：生产负荷影响设备退化，设备状态又制约生产执行。实现两者的优化协同对于制造环节非常重要。</a:t>
            </a:r>
            <a:endParaRPr lang="en-US" altLang="zh-CN" sz="1200" dirty="0">
              <a:solidFill>
                <a:srgbClr val="2F5597"/>
              </a:solidFill>
              <a:latin typeface="Microsoft YaHei" panose="020B0503020204020204" pitchFamily="34" charset="-122"/>
              <a:ea typeface="Microsoft YaHei" panose="020B0503020204020204" pitchFamily="34" charset="-122"/>
            </a:endParaRPr>
          </a:p>
          <a:p>
            <a:pPr marL="0" indent="0" algn="just">
              <a:lnSpc>
                <a:spcPct val="125000"/>
              </a:lnSpc>
              <a:buFont typeface="Wingdings" panose="05000000000000000000" pitchFamily="2" charset="2"/>
              <a:buNone/>
            </a:pPr>
            <a:endParaRPr lang="en-US" altLang="zh-CN" sz="1200" dirty="0">
              <a:solidFill>
                <a:srgbClr val="2F5597"/>
              </a:solidFill>
              <a:latin typeface="Microsoft YaHei" panose="020B0503020204020204" pitchFamily="34" charset="-122"/>
              <a:ea typeface="Microsoft YaHei"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3DD9C11C-D04B-4B83-A5E8-D873315BDD39}" type="slidenum">
              <a:rPr lang="zh-CN" altLang="en-US" smtClean="0"/>
              <a:t>4</a:t>
            </a:fld>
            <a:endParaRPr lang="zh-CN" altLang="en-US"/>
          </a:p>
        </p:txBody>
      </p:sp>
    </p:spTree>
    <p:extLst>
      <p:ext uri="{BB962C8B-B14F-4D97-AF65-F5344CB8AC3E}">
        <p14:creationId xmlns:p14="http://schemas.microsoft.com/office/powerpoint/2010/main" val="12095287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200" b="1"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RUL</a:t>
            </a:r>
            <a:r>
              <a:rPr lang="zh-CN" altLang="en-US" sz="1200" dirty="0">
                <a:effectLst/>
                <a:latin typeface="微软雅黑" panose="020B0503020204020204" pitchFamily="34" charset="-122"/>
                <a:ea typeface="微软雅黑" panose="020B0503020204020204" pitchFamily="34" charset="-122"/>
                <a:cs typeface="Times New Roman" panose="02020603050405020304" pitchFamily="18" charset="0"/>
              </a:rPr>
              <a:t>是设备健康的关键指标</a:t>
            </a:r>
            <a:endPar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预测性维护</a:t>
            </a: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对</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降低维护成本，避免灾难性故障的发生</a:t>
            </a: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，具有重要作用。</a:t>
            </a:r>
            <a:endParaRPr lang="zh-CN" altLang="en-US" dirty="0"/>
          </a:p>
          <a:p>
            <a:pPr algn="just"/>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忽视</a:t>
            </a:r>
            <a:r>
              <a:rPr lang="zh-CN" altLang="zh-CN" b="1" kern="100" dirty="0">
                <a:latin typeface="Times New Roman" panose="02020603050405020304" pitchFamily="18" charset="0"/>
                <a:ea typeface="宋体" panose="02010600030101010101" pitchFamily="2" charset="-122"/>
                <a:cs typeface="Times New Roman" panose="02020603050405020304" pitchFamily="18" charset="0"/>
              </a:rPr>
              <a:t>维护与调度</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两者的协同优化可能导致生产中断、设备过早损坏以及生产效率降低。</a:t>
            </a:r>
          </a:p>
          <a:p>
            <a:endParaRPr lang="zh-CN" altLang="en-US" dirty="0"/>
          </a:p>
        </p:txBody>
      </p:sp>
      <p:sp>
        <p:nvSpPr>
          <p:cNvPr id="4" name="灯片编号占位符 3"/>
          <p:cNvSpPr>
            <a:spLocks noGrp="1"/>
          </p:cNvSpPr>
          <p:nvPr>
            <p:ph type="sldNum" sz="quarter" idx="5"/>
          </p:nvPr>
        </p:nvSpPr>
        <p:spPr/>
        <p:txBody>
          <a:bodyPr/>
          <a:lstStyle/>
          <a:p>
            <a:fld id="{3DD9C11C-D04B-4B83-A5E8-D873315BDD39}" type="slidenum">
              <a:rPr lang="zh-CN" altLang="en-US" smtClean="0"/>
              <a:t>5</a:t>
            </a:fld>
            <a:endParaRPr lang="zh-CN" altLang="en-US"/>
          </a:p>
        </p:txBody>
      </p:sp>
    </p:spTree>
    <p:extLst>
      <p:ext uri="{BB962C8B-B14F-4D97-AF65-F5344CB8AC3E}">
        <p14:creationId xmlns:p14="http://schemas.microsoft.com/office/powerpoint/2010/main" val="1819189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之后是第二部分，文献调研</a:t>
            </a:r>
          </a:p>
        </p:txBody>
      </p:sp>
      <p:sp>
        <p:nvSpPr>
          <p:cNvPr id="4" name="灯片编号占位符 3"/>
          <p:cNvSpPr>
            <a:spLocks noGrp="1"/>
          </p:cNvSpPr>
          <p:nvPr>
            <p:ph type="sldNum" sz="quarter" idx="5"/>
          </p:nvPr>
        </p:nvSpPr>
        <p:spPr/>
        <p:txBody>
          <a:bodyPr/>
          <a:lstStyle/>
          <a:p>
            <a:fld id="{3DD9C11C-D04B-4B83-A5E8-D873315BDD39}" type="slidenum">
              <a:rPr lang="zh-CN" altLang="en-US" smtClean="0"/>
              <a:t>6</a:t>
            </a:fld>
            <a:endParaRPr lang="zh-CN" altLang="en-US"/>
          </a:p>
        </p:txBody>
      </p:sp>
    </p:spTree>
    <p:extLst>
      <p:ext uri="{BB962C8B-B14F-4D97-AF65-F5344CB8AC3E}">
        <p14:creationId xmlns:p14="http://schemas.microsoft.com/office/powerpoint/2010/main" val="2185474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zh-CN" altLang="en-US" sz="1800" kern="100" dirty="0">
                <a:effectLst/>
                <a:latin typeface="Times New Roman" panose="02020603050405020304" pitchFamily="18" charset="0"/>
                <a:ea typeface="宋体" panose="02010600030101010101" pitchFamily="2" charset="-122"/>
              </a:rPr>
              <a:t>首先围绕</a:t>
            </a:r>
            <a:r>
              <a:rPr lang="en-US" altLang="zh-CN" sz="1800" kern="100" dirty="0">
                <a:effectLst/>
                <a:latin typeface="Times New Roman" panose="02020603050405020304" pitchFamily="18" charset="0"/>
                <a:ea typeface="宋体" panose="02010600030101010101" pitchFamily="2" charset="-122"/>
              </a:rPr>
              <a:t>RUL</a:t>
            </a:r>
            <a:r>
              <a:rPr lang="zh-CN" altLang="en-US" sz="1800" kern="100" dirty="0">
                <a:effectLst/>
                <a:latin typeface="Times New Roman" panose="02020603050405020304" pitchFamily="18" charset="0"/>
                <a:ea typeface="宋体" panose="02010600030101010101" pitchFamily="2" charset="-122"/>
              </a:rPr>
              <a:t>预测方法进行了文献调研。</a:t>
            </a:r>
            <a:endParaRPr lang="en-US" altLang="zh-CN" sz="1800" kern="100" dirty="0">
              <a:effectLst/>
              <a:latin typeface="Times New Roman" panose="02020603050405020304" pitchFamily="18" charset="0"/>
              <a:ea typeface="宋体" panose="02010600030101010101" pitchFamily="2" charset="-122"/>
            </a:endParaRPr>
          </a:p>
          <a:p>
            <a:pPr indent="266700" algn="just"/>
            <a:r>
              <a:rPr lang="zh-CN" altLang="zh-CN" sz="1800" kern="100" dirty="0">
                <a:effectLst/>
                <a:latin typeface="Times New Roman" panose="02020603050405020304" pitchFamily="18" charset="0"/>
                <a:ea typeface="宋体" panose="02010600030101010101" pitchFamily="2" charset="-122"/>
              </a:rPr>
              <a:t>现有剩余使用寿命（</a:t>
            </a:r>
            <a:r>
              <a:rPr lang="en-US" altLang="zh-CN" sz="1800" kern="100" dirty="0">
                <a:effectLst/>
                <a:latin typeface="Times New Roman" panose="02020603050405020304" pitchFamily="18" charset="0"/>
                <a:ea typeface="宋体" panose="02010600030101010101" pitchFamily="2" charset="-122"/>
              </a:rPr>
              <a:t>RUL</a:t>
            </a:r>
            <a:r>
              <a:rPr lang="zh-CN" altLang="zh-CN" sz="1800" kern="100" dirty="0">
                <a:effectLst/>
                <a:latin typeface="Times New Roman" panose="02020603050405020304" pitchFamily="18" charset="0"/>
                <a:ea typeface="宋体" panose="02010600030101010101" pitchFamily="2" charset="-122"/>
              </a:rPr>
              <a:t>）预测方法主要分为基于</a:t>
            </a:r>
            <a:r>
              <a:rPr lang="zh-CN" altLang="en-US" sz="1800" kern="100" dirty="0">
                <a:effectLst/>
                <a:latin typeface="Times New Roman" panose="02020603050405020304" pitchFamily="18" charset="0"/>
                <a:ea typeface="宋体" panose="02010600030101010101" pitchFamily="2" charset="-122"/>
              </a:rPr>
              <a:t>模型</a:t>
            </a:r>
            <a:r>
              <a:rPr lang="zh-CN" altLang="zh-CN" sz="1800" kern="100" dirty="0">
                <a:effectLst/>
                <a:latin typeface="Times New Roman" panose="02020603050405020304" pitchFamily="18" charset="0"/>
                <a:ea typeface="宋体" panose="02010600030101010101" pitchFamily="2" charset="-122"/>
              </a:rPr>
              <a:t>、基于数据和混合方法三类，各类方法各有优劣</a:t>
            </a:r>
            <a:r>
              <a:rPr lang="zh-CN" altLang="en-US"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当前</a:t>
            </a:r>
            <a:r>
              <a:rPr lang="zh-CN" altLang="en-US" sz="1800" kern="100" dirty="0">
                <a:effectLst/>
                <a:latin typeface="Times New Roman" panose="02020603050405020304" pitchFamily="18" charset="0"/>
                <a:ea typeface="宋体" panose="02010600030101010101" pitchFamily="2" charset="-122"/>
              </a:rPr>
              <a:t>预测</a:t>
            </a:r>
            <a:r>
              <a:rPr lang="zh-CN" altLang="zh-CN" sz="1800" kern="100" dirty="0">
                <a:effectLst/>
                <a:latin typeface="Times New Roman" panose="02020603050405020304" pitchFamily="18" charset="0"/>
                <a:ea typeface="宋体" panose="02010600030101010101" pitchFamily="2" charset="-122"/>
              </a:rPr>
              <a:t>研究普遍忽视设备内部部件间的耦合退化机制与领域知识的有效嵌入，导致预测结果在小样本</a:t>
            </a:r>
            <a:r>
              <a:rPr lang="zh-CN" altLang="en-US"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复杂系统场景下鲁棒性不足。因此，亟需发展一种能融合设备物理机理与运行数据</a:t>
            </a:r>
            <a:r>
              <a:rPr lang="zh-CN" altLang="en-US" sz="1800" kern="100" dirty="0">
                <a:effectLst/>
                <a:latin typeface="Times New Roman" panose="02020603050405020304" pitchFamily="18" charset="0"/>
                <a:ea typeface="宋体" panose="02010600030101010101" pitchFamily="2" charset="-122"/>
              </a:rPr>
              <a:t>的方法</a:t>
            </a:r>
            <a:r>
              <a:rPr lang="zh-CN" altLang="zh-CN" sz="1800" kern="100" dirty="0">
                <a:effectLst/>
                <a:latin typeface="Times New Roman" panose="02020603050405020304" pitchFamily="18" charset="0"/>
                <a:ea typeface="宋体" panose="02010600030101010101" pitchFamily="2" charset="-122"/>
              </a:rPr>
              <a:t>，以提升模型的可解释性、泛化能力，为后续预测性维护与调度协同决策提供可靠的状态输入。</a:t>
            </a:r>
          </a:p>
        </p:txBody>
      </p:sp>
      <p:sp>
        <p:nvSpPr>
          <p:cNvPr id="4" name="灯片编号占位符 3"/>
          <p:cNvSpPr>
            <a:spLocks noGrp="1"/>
          </p:cNvSpPr>
          <p:nvPr>
            <p:ph type="sldNum" sz="quarter" idx="5"/>
          </p:nvPr>
        </p:nvSpPr>
        <p:spPr/>
        <p:txBody>
          <a:bodyPr/>
          <a:lstStyle/>
          <a:p>
            <a:fld id="{3DD9C11C-D04B-4B83-A5E8-D873315BDD39}" type="slidenum">
              <a:rPr lang="zh-CN" altLang="en-US" smtClean="0"/>
              <a:t>7</a:t>
            </a:fld>
            <a:endParaRPr lang="zh-CN" altLang="en-US"/>
          </a:p>
        </p:txBody>
      </p:sp>
    </p:spTree>
    <p:extLst>
      <p:ext uri="{BB962C8B-B14F-4D97-AF65-F5344CB8AC3E}">
        <p14:creationId xmlns:p14="http://schemas.microsoft.com/office/powerpoint/2010/main" val="19533742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维护决策是指在维护资源有限的情况下，通过合理规划维护活动，以实现提高可用度、降低维护成本等目标。</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而预测性维护是当前的研究热点</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维护决策的实现我们可以从两个视角出发：维护的依据、维护的方法</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从维护的依据来说，</a:t>
            </a:r>
            <a:r>
              <a:rPr lang="zh-CN" altLang="en-US" b="0" i="0" dirty="0">
                <a:solidFill>
                  <a:srgbClr val="1F1F1F"/>
                </a:solidFill>
                <a:effectLst/>
                <a:latin typeface="ElsevierGulliver"/>
              </a:rPr>
              <a:t>当前大多数这些研究提出了先进的维修规划模型，并对系统</a:t>
            </a:r>
            <a:r>
              <a:rPr lang="en-US" altLang="zh-CN" b="0" i="0" dirty="0">
                <a:solidFill>
                  <a:srgbClr val="1F1F1F"/>
                </a:solidFill>
                <a:effectLst/>
                <a:latin typeface="ElsevierGulliver"/>
              </a:rPr>
              <a:t>/</a:t>
            </a:r>
            <a:r>
              <a:rPr lang="zh-CN" altLang="en-US" b="0" i="0" dirty="0">
                <a:solidFill>
                  <a:srgbClr val="1F1F1F"/>
                </a:solidFill>
                <a:effectLst/>
                <a:latin typeface="ElsevierGulliver"/>
              </a:rPr>
              <a:t>组件的退化过程做了简单假设。组件的退化过程通常被假设为遵循随机退化， 例如</a:t>
            </a:r>
            <a:r>
              <a:rPr lang="en-US" altLang="zh-CN" b="0" i="0" dirty="0">
                <a:solidFill>
                  <a:srgbClr val="1F1F1F"/>
                </a:solidFill>
                <a:effectLst/>
                <a:latin typeface="ElsevierGulliver"/>
              </a:rPr>
              <a:t>Gamma </a:t>
            </a:r>
            <a:r>
              <a:rPr lang="zh-CN" altLang="en-US" b="0" i="0" dirty="0">
                <a:solidFill>
                  <a:srgbClr val="1F1F1F"/>
                </a:solidFill>
                <a:effectLst/>
                <a:latin typeface="ElsevierGulliver"/>
              </a:rPr>
              <a:t>过程、维纳过程、非齐次泊松过程或马尔可夫过程；只有少数研究将数据驱动的 </a:t>
            </a:r>
            <a:r>
              <a:rPr lang="en-US" altLang="zh-CN" b="0" i="0" dirty="0">
                <a:solidFill>
                  <a:srgbClr val="1F1F1F"/>
                </a:solidFill>
                <a:effectLst/>
                <a:latin typeface="ElsevierGulliver"/>
              </a:rPr>
              <a:t>RUL </a:t>
            </a:r>
            <a:r>
              <a:rPr lang="zh-CN" altLang="en-US" b="0" i="0" dirty="0">
                <a:solidFill>
                  <a:srgbClr val="1F1F1F"/>
                </a:solidFill>
                <a:effectLst/>
                <a:latin typeface="ElsevierGulliver"/>
              </a:rPr>
              <a:t>预测整合到维护计划中，利用时序模型或其余预测模型获得部件的可靠性，整合入维护决策中。</a:t>
            </a:r>
            <a:endParaRPr lang="en-US" altLang="zh-CN" b="0" i="0" dirty="0">
              <a:solidFill>
                <a:srgbClr val="1F1F1F"/>
              </a:solidFill>
              <a:effectLst/>
              <a:latin typeface="ElsevierGullive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1F1F1F"/>
                </a:solidFill>
                <a:effectLst/>
                <a:latin typeface="ElsevierGulliver"/>
              </a:rPr>
              <a:t>另外，在维护决策中，大多文献所采用预测性维护依赖于固定阈值安排维护</a:t>
            </a:r>
            <a:endParaRPr lang="zh-CN" altLang="en-US" dirty="0"/>
          </a:p>
        </p:txBody>
      </p:sp>
      <p:sp>
        <p:nvSpPr>
          <p:cNvPr id="4" name="灯片编号占位符 3"/>
          <p:cNvSpPr>
            <a:spLocks noGrp="1"/>
          </p:cNvSpPr>
          <p:nvPr>
            <p:ph type="sldNum" sz="quarter" idx="5"/>
          </p:nvPr>
        </p:nvSpPr>
        <p:spPr/>
        <p:txBody>
          <a:bodyPr/>
          <a:lstStyle/>
          <a:p>
            <a:fld id="{3DD9C11C-D04B-4B83-A5E8-D873315BDD39}" type="slidenum">
              <a:rPr lang="zh-CN" altLang="en-US" smtClean="0"/>
              <a:t>8</a:t>
            </a:fld>
            <a:endParaRPr lang="zh-CN" altLang="en-US"/>
          </a:p>
        </p:txBody>
      </p:sp>
    </p:spTree>
    <p:extLst>
      <p:ext uri="{BB962C8B-B14F-4D97-AF65-F5344CB8AC3E}">
        <p14:creationId xmlns:p14="http://schemas.microsoft.com/office/powerpoint/2010/main" val="41882538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因此，总结来说；</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设备预测方式存在局限</a:t>
            </a:r>
            <a:r>
              <a:rPr lang="en-US" altLang="zh-CN" dirty="0"/>
              <a:t>:</a:t>
            </a:r>
            <a:r>
              <a:rPr lang="zh-CN" altLang="zh-CN" sz="1200" b="1" dirty="0">
                <a:solidFill>
                  <a:srgbClr val="000F82"/>
                </a:solidFill>
                <a:latin typeface="微软雅黑" panose="020B0503020204020204" charset="-122"/>
                <a:ea typeface="微软雅黑" panose="020B0503020204020204" charset="-122"/>
              </a:rPr>
              <a:t>多数研究将设备退化过程简化为已知参数的随机过程，依赖强假设而缺乏对真实退化数据的自适应学习能力</a:t>
            </a:r>
            <a:r>
              <a:rPr lang="zh-CN" altLang="en-US" sz="1200" b="1" dirty="0">
                <a:solidFill>
                  <a:srgbClr val="000F82"/>
                </a:solidFill>
                <a:latin typeface="微软雅黑" panose="020B0503020204020204" charset="-122"/>
                <a:ea typeface="微软雅黑" panose="020B0503020204020204" charset="-122"/>
              </a:rPr>
              <a:t>，数据驱动的</a:t>
            </a:r>
            <a:r>
              <a:rPr lang="en-US" altLang="zh-CN" sz="1200" b="1" dirty="0">
                <a:solidFill>
                  <a:srgbClr val="000F82"/>
                </a:solidFill>
                <a:latin typeface="微软雅黑" panose="020B0503020204020204" charset="-122"/>
                <a:ea typeface="微软雅黑" panose="020B0503020204020204" charset="-122"/>
              </a:rPr>
              <a:t>RUL</a:t>
            </a:r>
            <a:r>
              <a:rPr lang="zh-CN" altLang="en-US" sz="1200" b="1" dirty="0">
                <a:solidFill>
                  <a:srgbClr val="000F82"/>
                </a:solidFill>
                <a:latin typeface="微软雅黑" panose="020B0503020204020204" charset="-122"/>
                <a:ea typeface="微软雅黑" panose="020B0503020204020204" charset="-122"/>
              </a:rPr>
              <a:t>预测</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目前维护决策仍然存在局限：</a:t>
            </a:r>
            <a:r>
              <a:rPr lang="zh-CN" altLang="en-US" sz="1200" b="1" dirty="0">
                <a:solidFill>
                  <a:srgbClr val="000F82"/>
                </a:solidFill>
                <a:latin typeface="微软雅黑" panose="020B0503020204020204" charset="-122"/>
                <a:ea typeface="微软雅黑" panose="020B0503020204020204" charset="-122"/>
              </a:rPr>
              <a:t>设备运维策略逐渐由传统的基于时间的定期维护策略到基于状态的维护转变，预测性维护在运维策略中有待深入研究。而现阶段预测性维护大量使用</a:t>
            </a:r>
            <a:r>
              <a:rPr lang="en-US" altLang="zh-CN" sz="1200" b="1" dirty="0">
                <a:solidFill>
                  <a:srgbClr val="000F82"/>
                </a:solidFill>
                <a:latin typeface="微软雅黑" panose="020B0503020204020204" charset="-122"/>
                <a:ea typeface="微软雅黑" panose="020B0503020204020204" charset="-122"/>
              </a:rPr>
              <a:t>RUL</a:t>
            </a:r>
            <a:r>
              <a:rPr lang="zh-CN" altLang="en-US" sz="1200" b="1" dirty="0">
                <a:solidFill>
                  <a:srgbClr val="000F82"/>
                </a:solidFill>
                <a:latin typeface="微软雅黑" panose="020B0503020204020204" charset="-122"/>
                <a:ea typeface="微软雅黑" panose="020B0503020204020204" charset="-122"/>
              </a:rPr>
              <a:t>阈值维护，</a:t>
            </a:r>
            <a:r>
              <a:rPr lang="zh-CN" altLang="zh-CN" sz="1200" b="1" dirty="0">
                <a:solidFill>
                  <a:srgbClr val="000F82"/>
                </a:solidFill>
                <a:latin typeface="微软雅黑" panose="020B0503020204020204" charset="-122"/>
                <a:ea typeface="微软雅黑" panose="020B0503020204020204" charset="-122"/>
              </a:rPr>
              <a:t>忽视了</a:t>
            </a:r>
            <a:r>
              <a:rPr lang="en-US" altLang="zh-CN" sz="1200" b="1" dirty="0">
                <a:solidFill>
                  <a:srgbClr val="000F82"/>
                </a:solidFill>
                <a:latin typeface="微软雅黑" panose="020B0503020204020204" charset="-122"/>
                <a:ea typeface="微软雅黑" panose="020B0503020204020204" charset="-122"/>
              </a:rPr>
              <a:t>RUL</a:t>
            </a:r>
            <a:r>
              <a:rPr lang="zh-CN" altLang="zh-CN" sz="1200" b="1" dirty="0">
                <a:solidFill>
                  <a:srgbClr val="000F82"/>
                </a:solidFill>
                <a:latin typeface="微软雅黑" panose="020B0503020204020204" charset="-122"/>
                <a:ea typeface="微软雅黑" panose="020B0503020204020204" charset="-122"/>
              </a:rPr>
              <a:t>预测本身固有的不确定性以及维护成本</a:t>
            </a:r>
            <a:r>
              <a:rPr lang="zh-CN" altLang="en-US" sz="1200" b="1" dirty="0">
                <a:solidFill>
                  <a:srgbClr val="000F82"/>
                </a:solidFill>
                <a:latin typeface="微软雅黑" panose="020B0503020204020204" charset="-122"/>
                <a:ea typeface="微软雅黑" panose="020B0503020204020204" charset="-122"/>
              </a:rPr>
              <a:t>等约束。</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利用深度强化学习构建自适应维护决策智能体，成为解决维护决策问题的关键方式</a:t>
            </a:r>
            <a:endParaRPr lang="en-US" altLang="zh-CN" sz="1200" b="1" dirty="0">
              <a:solidFill>
                <a:srgbClr val="000F82"/>
              </a:solidFill>
              <a:latin typeface="微软雅黑" panose="020B0503020204020204" charset="-122"/>
              <a:ea typeface="微软雅黑" panose="020B0503020204020204" charset="-122"/>
            </a:endParaRPr>
          </a:p>
          <a:p>
            <a:endParaRPr lang="zh-CN" altLang="en-US" dirty="0"/>
          </a:p>
        </p:txBody>
      </p:sp>
      <p:sp>
        <p:nvSpPr>
          <p:cNvPr id="4" name="灯片编号占位符 3"/>
          <p:cNvSpPr>
            <a:spLocks noGrp="1"/>
          </p:cNvSpPr>
          <p:nvPr>
            <p:ph type="sldNum" sz="quarter" idx="5"/>
          </p:nvPr>
        </p:nvSpPr>
        <p:spPr/>
        <p:txBody>
          <a:bodyPr/>
          <a:lstStyle/>
          <a:p>
            <a:fld id="{3DD9C11C-D04B-4B83-A5E8-D873315BDD39}" type="slidenum">
              <a:rPr lang="zh-CN" altLang="en-US" smtClean="0"/>
              <a:t>9</a:t>
            </a:fld>
            <a:endParaRPr lang="zh-CN" altLang="en-US"/>
          </a:p>
        </p:txBody>
      </p:sp>
    </p:spTree>
    <p:extLst>
      <p:ext uri="{BB962C8B-B14F-4D97-AF65-F5344CB8AC3E}">
        <p14:creationId xmlns:p14="http://schemas.microsoft.com/office/powerpoint/2010/main" val="25746403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0" i="0" u="none" strike="noStrike" kern="100" baseline="0" dirty="0">
                <a:solidFill>
                  <a:srgbClr val="C00000"/>
                </a:solidFill>
                <a:effectLst/>
                <a:latin typeface="宋体" panose="02010600030101010101" pitchFamily="2" charset="-122"/>
                <a:ea typeface="宋体" panose="02010600030101010101" pitchFamily="2" charset="-122"/>
              </a:rPr>
              <a:t>当前维护与调度协同优化有多样的方法，主要可以分为智能优化算法和强化学习的方法</a:t>
            </a:r>
            <a:endParaRPr lang="en-US" altLang="zh-CN" sz="1200" b="1" kern="100" dirty="0">
              <a:solidFill>
                <a:srgbClr val="C00000"/>
              </a:solidFill>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3DD9C11C-D04B-4B83-A5E8-D873315BDD39}" type="slidenum">
              <a:rPr lang="zh-CN" altLang="en-US" smtClean="0"/>
              <a:t>10</a:t>
            </a:fld>
            <a:endParaRPr lang="zh-CN" altLang="en-US"/>
          </a:p>
        </p:txBody>
      </p:sp>
    </p:spTree>
    <p:extLst>
      <p:ext uri="{BB962C8B-B14F-4D97-AF65-F5344CB8AC3E}">
        <p14:creationId xmlns:p14="http://schemas.microsoft.com/office/powerpoint/2010/main" val="25451492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0" i="0" u="none" strike="noStrike" baseline="0" dirty="0">
                <a:latin typeface="宋体" panose="02010600030101010101" pitchFamily="2" charset="-122"/>
                <a:ea typeface="宋体" panose="02010600030101010101" pitchFamily="2" charset="-122"/>
              </a:rPr>
              <a:t>总结来说。</a:t>
            </a:r>
            <a:endParaRPr lang="en-US" altLang="zh-CN" sz="1400" b="0" i="0" u="none" strike="noStrike" baseline="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0" i="0" u="none" strike="noStrike" baseline="0" dirty="0">
                <a:latin typeface="宋体" panose="02010600030101010101" pitchFamily="2" charset="-122"/>
                <a:ea typeface="宋体" panose="02010600030101010101" pitchFamily="2" charset="-122"/>
              </a:rPr>
              <a:t>早期的研究大多按维护是生产的前置约束条件来处理，即先制定维护计划，再以此为约束安排生产调度。只由生产调度单向满足维护计划的处理方式通常会带来机时浪费、成本增加等不合理性</a:t>
            </a:r>
            <a:r>
              <a:rPr lang="zh-CN" altLang="en-US" b="0" i="0" dirty="0">
                <a:solidFill>
                  <a:srgbClr val="0F1115"/>
                </a:solidFill>
                <a:effectLst/>
                <a:latin typeface="quote-cjk-patch"/>
              </a:rPr>
              <a:t>。</a:t>
            </a:r>
            <a:endParaRPr lang="en-US" altLang="zh-CN" b="0" i="0" dirty="0">
              <a:solidFill>
                <a:srgbClr val="0F1115"/>
              </a:solidFill>
              <a:effectLst/>
              <a:latin typeface="quote-cjk-patch"/>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F1115"/>
                </a:solidFill>
                <a:effectLst/>
                <a:latin typeface="quote-cjk-patch"/>
              </a:rPr>
              <a:t>维护与调度的协同优化能够有效的</a:t>
            </a:r>
            <a:r>
              <a:rPr lang="zh-CN" altLang="en-US" sz="1200" b="0" i="0" dirty="0">
                <a:solidFill>
                  <a:srgbClr val="1F1F1F"/>
                </a:solidFill>
                <a:effectLst/>
                <a:latin typeface="ElsevierGulliver"/>
              </a:rPr>
              <a:t>提高生产效率和降低维护成本，</a:t>
            </a:r>
            <a:r>
              <a:rPr lang="zh-CN" altLang="en-US" sz="1400" b="0" i="0" u="none" strike="noStrike" baseline="0" dirty="0">
                <a:latin typeface="宋体" panose="02010600030101010101" pitchFamily="2" charset="-122"/>
                <a:ea typeface="宋体" panose="02010600030101010101" pitchFamily="2" charset="-122"/>
              </a:rPr>
              <a:t>已成为当下研究的主流与热点</a:t>
            </a:r>
            <a:r>
              <a:rPr lang="zh-CN" altLang="en-US" sz="1200" b="0" i="0" dirty="0">
                <a:solidFill>
                  <a:srgbClr val="1F1F1F"/>
                </a:solidFill>
                <a:effectLst/>
                <a:latin typeface="ElsevierGulliver"/>
              </a:rPr>
              <a:t>，其中启发式算法与强化学习成为解决这类多目标优化的主要方法；启发式和元启发式算法可解释性强、</a:t>
            </a:r>
            <a:r>
              <a:rPr lang="zh-CN" altLang="en-US" sz="1200" dirty="0">
                <a:solidFill>
                  <a:srgbClr val="1F1F1F"/>
                </a:solidFill>
                <a:latin typeface="ElsevierGulliver"/>
              </a:rPr>
              <a:t>实现简单，但是求解复杂，难以处理复杂动态环境；单智能体</a:t>
            </a:r>
            <a:r>
              <a:rPr lang="en-US" altLang="zh-CN" sz="1200" dirty="0">
                <a:solidFill>
                  <a:srgbClr val="1F1F1F"/>
                </a:solidFill>
                <a:latin typeface="ElsevierGulliver"/>
              </a:rPr>
              <a:t>RL</a:t>
            </a:r>
            <a:r>
              <a:rPr lang="zh-CN" altLang="en-US" sz="1200" dirty="0">
                <a:solidFill>
                  <a:srgbClr val="1F1F1F"/>
                </a:solidFill>
                <a:latin typeface="ElsevierGulliver"/>
              </a:rPr>
              <a:t>面对此类协同问题，会出现观测状态庞大导致难以收敛。</a:t>
            </a:r>
            <a:endParaRPr lang="en-US" altLang="zh-CN" sz="1200" b="1" kern="100" dirty="0">
              <a:solidFill>
                <a:srgbClr val="C00000"/>
              </a:solidFill>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3DD9C11C-D04B-4B83-A5E8-D873315BDD39}" type="slidenum">
              <a:rPr lang="zh-CN" altLang="en-US" smtClean="0"/>
              <a:t>11</a:t>
            </a:fld>
            <a:endParaRPr lang="zh-CN" altLang="en-US"/>
          </a:p>
        </p:txBody>
      </p:sp>
    </p:spTree>
    <p:extLst>
      <p:ext uri="{BB962C8B-B14F-4D97-AF65-F5344CB8AC3E}">
        <p14:creationId xmlns:p14="http://schemas.microsoft.com/office/powerpoint/2010/main" val="23141842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en-US" sz="1200" b="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最后针对现状分析，总结来说：</a:t>
            </a:r>
            <a:endParaRPr lang="en-US" altLang="zh-CN" sz="1200" b="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baseline="0" noProof="0" dirty="0">
                <a:ln>
                  <a:noFill/>
                </a:ln>
                <a:solidFill>
                  <a:prstClr val="black"/>
                </a:solidFill>
                <a:effectLst/>
                <a:uLnTx/>
                <a:uFillTx/>
                <a:latin typeface="等线" panose="020F0502020204030204"/>
                <a:ea typeface="宋体" panose="02010600030101010101" pitchFamily="2" charset="-122"/>
                <a:cs typeface="Times New Roman" panose="02020603050405020304" pitchFamily="18" charset="0"/>
              </a:rPr>
              <a:t>应实现</a:t>
            </a:r>
            <a:r>
              <a:rPr kumimoji="0" lang="zh-CN" altLang="en-US" b="1" i="0" u="none" strike="noStrike" kern="1200" cap="none" spc="0" normalizeH="0" baseline="0" noProof="0" dirty="0">
                <a:ln>
                  <a:noFill/>
                </a:ln>
                <a:effectLst/>
                <a:uLnTx/>
                <a:uFillTx/>
                <a:latin typeface="宋体" panose="02010600030101010101" pitchFamily="2" charset="-122"/>
              </a:rPr>
              <a:t>先验知识引导的</a:t>
            </a:r>
            <a:r>
              <a:rPr kumimoji="0" lang="en-US" altLang="zh-CN" b="1" i="0" u="none" strike="noStrike" kern="1200" cap="none" spc="0" normalizeH="0" baseline="0" noProof="0" dirty="0">
                <a:ln>
                  <a:noFill/>
                </a:ln>
                <a:effectLst/>
                <a:uLnTx/>
                <a:uFillTx/>
                <a:latin typeface="宋体" panose="02010600030101010101" pitchFamily="2" charset="-122"/>
              </a:rPr>
              <a:t>RUL</a:t>
            </a:r>
            <a:r>
              <a:rPr kumimoji="0" lang="zh-CN" altLang="en-US" b="1" i="0" u="none" strike="noStrike" kern="1200" cap="none" spc="0" normalizeH="0" baseline="0" noProof="0" dirty="0">
                <a:ln>
                  <a:noFill/>
                </a:ln>
                <a:effectLst/>
                <a:uLnTx/>
                <a:uFillTx/>
                <a:latin typeface="宋体" panose="02010600030101010101" pitchFamily="2" charset="-122"/>
              </a:rPr>
              <a:t>预测模型</a:t>
            </a:r>
            <a:r>
              <a:rPr kumimoji="0" lang="zh-CN" altLang="en-US" b="1" i="0" u="none" strike="noStrike" kern="1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b="1" i="0" u="none" strike="noStrike" kern="1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baseline="0" noProof="0" dirty="0">
                <a:ln>
                  <a:noFill/>
                </a:ln>
                <a:effectLst/>
                <a:uLnTx/>
                <a:uFillTx/>
                <a:latin typeface="宋体" panose="02010600030101010101" pitchFamily="2" charset="-122"/>
              </a:rPr>
              <a:t>实现</a:t>
            </a:r>
            <a:r>
              <a:rPr lang="zh-CN" altLang="en-US" b="1" dirty="0">
                <a:latin typeface="宋体" panose="02010600030101010101" pitchFamily="2" charset="-122"/>
              </a:rPr>
              <a:t>数据驱动的</a:t>
            </a:r>
            <a:r>
              <a:rPr lang="en-US" altLang="zh-CN" b="1" dirty="0">
                <a:latin typeface="宋体" panose="02010600030101010101" pitchFamily="2" charset="-122"/>
              </a:rPr>
              <a:t>RUL</a:t>
            </a:r>
            <a:r>
              <a:rPr lang="zh-CN" altLang="en-US" b="1" dirty="0">
                <a:latin typeface="宋体" panose="02010600030101010101" pitchFamily="2" charset="-122"/>
              </a:rPr>
              <a:t>预测不确定性的量化；</a:t>
            </a:r>
            <a:r>
              <a:rPr lang="zh-CN" altLang="zh-CN" b="1" dirty="0">
                <a:latin typeface="宋体" panose="02010600030101010101" pitchFamily="2" charset="-122"/>
              </a:rPr>
              <a:t>用深度强化学习构建自适应维护决策智能体</a:t>
            </a:r>
            <a:endParaRPr lang="zh-CN" altLang="en-US" b="1" dirty="0">
              <a:latin typeface="宋体" panose="02010600030101010101" pitchFamily="2" charset="-122"/>
              <a:ea typeface="宋体" panose="02010600030101010101" pitchFamily="2" charset="-122"/>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baseline="0" noProof="0" dirty="0">
                <a:ln>
                  <a:noFill/>
                </a:ln>
                <a:effectLst/>
                <a:uLnTx/>
                <a:uFillTx/>
                <a:latin typeface="宋体" panose="02010600030101010101" pitchFamily="2" charset="-122"/>
              </a:rPr>
              <a:t>建立多智能体协同优化系统</a:t>
            </a:r>
            <a:endParaRPr lang="en-US" altLang="zh-CN" b="1" dirty="0">
              <a:latin typeface="宋体" panose="02010600030101010101" pitchFamily="2" charset="-122"/>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altLang="zh-CN" b="1" dirty="0">
              <a:latin typeface="宋体" panose="02010600030101010101" pitchFamily="2" charset="-122"/>
              <a:ea typeface="宋体" panose="02010600030101010101" pitchFamily="2" charset="-122"/>
            </a:endParaRPr>
          </a:p>
          <a:p>
            <a:pPr algn="just"/>
            <a:endParaRPr lang="en-US" altLang="zh-CN" sz="1200" b="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5"/>
          </p:nvPr>
        </p:nvSpPr>
        <p:spPr/>
        <p:txBody>
          <a:bodyPr/>
          <a:lstStyle/>
          <a:p>
            <a:fld id="{3DD9C11C-D04B-4B83-A5E8-D873315BDD39}" type="slidenum">
              <a:rPr lang="zh-CN" altLang="en-US" smtClean="0"/>
              <a:t>12</a:t>
            </a:fld>
            <a:endParaRPr lang="zh-CN" altLang="en-US"/>
          </a:p>
        </p:txBody>
      </p:sp>
    </p:spTree>
    <p:extLst>
      <p:ext uri="{BB962C8B-B14F-4D97-AF65-F5344CB8AC3E}">
        <p14:creationId xmlns:p14="http://schemas.microsoft.com/office/powerpoint/2010/main" val="748557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第三部分是我的研究内容</a:t>
            </a:r>
          </a:p>
        </p:txBody>
      </p:sp>
      <p:sp>
        <p:nvSpPr>
          <p:cNvPr id="4" name="灯片编号占位符 3"/>
          <p:cNvSpPr>
            <a:spLocks noGrp="1"/>
          </p:cNvSpPr>
          <p:nvPr>
            <p:ph type="sldNum" sz="quarter" idx="5"/>
          </p:nvPr>
        </p:nvSpPr>
        <p:spPr/>
        <p:txBody>
          <a:bodyPr/>
          <a:lstStyle/>
          <a:p>
            <a:fld id="{3DD9C11C-D04B-4B83-A5E8-D873315BDD39}" type="slidenum">
              <a:rPr lang="zh-CN" altLang="en-US" smtClean="0"/>
              <a:t>13</a:t>
            </a:fld>
            <a:endParaRPr lang="zh-CN" altLang="en-US"/>
          </a:p>
        </p:txBody>
      </p:sp>
    </p:spTree>
    <p:extLst>
      <p:ext uri="{BB962C8B-B14F-4D97-AF65-F5344CB8AC3E}">
        <p14:creationId xmlns:p14="http://schemas.microsoft.com/office/powerpoint/2010/main" val="15889578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本页是我的整个研究内容</a:t>
            </a: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r>
              <a:rPr lang="zh-CN" altLang="en-US" dirty="0"/>
              <a:t>整体研究内容分为了四个部分</a:t>
            </a:r>
            <a:endParaRPr lang="en-US" altLang="zh-CN" dirty="0"/>
          </a:p>
          <a:p>
            <a:r>
              <a:rPr lang="zh-CN" altLang="zh-CN" dirty="0"/>
              <a:t>第一部分聚焦于设备剩余使用寿命（</a:t>
            </a:r>
            <a:r>
              <a:rPr lang="en-US" altLang="zh-CN" dirty="0"/>
              <a:t>RUL</a:t>
            </a:r>
            <a:r>
              <a:rPr lang="zh-CN" altLang="zh-CN" dirty="0"/>
              <a:t>）的有效预测。将部件间的空间布局与功能依赖关系建模为图结构，表征多部件退化的空间相关性，嵌入时序预测模型之中</a:t>
            </a:r>
            <a:r>
              <a:rPr lang="zh-CN" altLang="en-US" dirty="0"/>
              <a:t>。</a:t>
            </a:r>
            <a:endParaRPr lang="en-US" altLang="zh-CN" dirty="0"/>
          </a:p>
          <a:p>
            <a:r>
              <a:rPr lang="zh-CN" altLang="en-US" dirty="0"/>
              <a:t>第二部分</a:t>
            </a:r>
            <a:r>
              <a:rPr lang="zh-CN" altLang="zh-CN" dirty="0"/>
              <a:t>以研究内容一获得的剩余使用寿命预测模型作为基础，在推理阶段获得</a:t>
            </a:r>
            <a:r>
              <a:rPr lang="en-US" altLang="zh-CN" dirty="0"/>
              <a:t>RUL</a:t>
            </a:r>
            <a:r>
              <a:rPr lang="zh-CN" altLang="zh-CN" dirty="0"/>
              <a:t>的概率分布，然后将</a:t>
            </a:r>
            <a:r>
              <a:rPr lang="en-US" altLang="zh-CN" dirty="0"/>
              <a:t>RUL</a:t>
            </a:r>
            <a:r>
              <a:rPr lang="zh-CN" altLang="zh-CN" dirty="0"/>
              <a:t>概率分布状态信息、维护资源等作为观测状态，利用强化学习等决策优化算法进行决策方案求解。</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第三部分</a:t>
            </a:r>
            <a:r>
              <a:rPr lang="zh-CN" altLang="zh-CN" dirty="0"/>
              <a:t>面向多设备智能制造车间</a:t>
            </a:r>
            <a:r>
              <a:rPr lang="zh-CN" altLang="en-US" dirty="0"/>
              <a:t>：</a:t>
            </a:r>
            <a:r>
              <a:rPr lang="zh-CN" altLang="zh-CN" dirty="0"/>
              <a:t>调度部分预训练多个设备调度智能体，维护部分由研究内容二部分的维护智能体生成各设备维护决策，并通过动作掩码动态屏蔽需维护设备的调度选项；在训练中冻结调度策略，仅利用全局生产奖励反馈优化维护智能体。</a:t>
            </a:r>
            <a:r>
              <a:rPr lang="zh-CN" altLang="en-US" dirty="0"/>
              <a:t>实现维护调度协同。</a:t>
            </a:r>
            <a:endParaRPr lang="en-US" altLang="zh-CN" dirty="0"/>
          </a:p>
          <a:p>
            <a:r>
              <a:rPr lang="zh-CN" altLang="en-US" dirty="0"/>
              <a:t>第四部分</a:t>
            </a:r>
            <a:r>
              <a:rPr lang="zh-CN" altLang="en-US" kern="100" dirty="0">
                <a:latin typeface="+mn-ea"/>
                <a:cs typeface="+mn-ea"/>
              </a:rPr>
              <a:t>搭建实际车间仿真环境，进行实例验证和进一步完善上述理论和技术成果。</a:t>
            </a:r>
            <a:endParaRPr lang="en-US" altLang="zh-CN" dirty="0"/>
          </a:p>
          <a:p>
            <a:pPr indent="457200" algn="just"/>
            <a:endParaRPr lang="en-US" altLang="zh-CN" dirty="0"/>
          </a:p>
          <a:p>
            <a:endParaRPr lang="en-US" altLang="zh-CN" dirty="0"/>
          </a:p>
        </p:txBody>
      </p:sp>
      <p:sp>
        <p:nvSpPr>
          <p:cNvPr id="4" name="灯片编号占位符 3"/>
          <p:cNvSpPr>
            <a:spLocks noGrp="1"/>
          </p:cNvSpPr>
          <p:nvPr>
            <p:ph type="sldNum" sz="quarter" idx="5"/>
          </p:nvPr>
        </p:nvSpPr>
        <p:spPr/>
        <p:txBody>
          <a:bodyPr/>
          <a:lstStyle/>
          <a:p>
            <a:fld id="{3DD9C11C-D04B-4B83-A5E8-D873315BDD39}" type="slidenum">
              <a:rPr lang="zh-CN" altLang="en-US" smtClean="0"/>
              <a:t>14</a:t>
            </a:fld>
            <a:endParaRPr lang="zh-CN" altLang="en-US"/>
          </a:p>
        </p:txBody>
      </p:sp>
    </p:spTree>
    <p:extLst>
      <p:ext uri="{BB962C8B-B14F-4D97-AF65-F5344CB8AC3E}">
        <p14:creationId xmlns:p14="http://schemas.microsoft.com/office/powerpoint/2010/main" val="21252082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之后为具体技术路线</a:t>
            </a:r>
          </a:p>
        </p:txBody>
      </p:sp>
      <p:sp>
        <p:nvSpPr>
          <p:cNvPr id="4" name="灯片编号占位符 3"/>
          <p:cNvSpPr>
            <a:spLocks noGrp="1"/>
          </p:cNvSpPr>
          <p:nvPr>
            <p:ph type="sldNum" sz="quarter" idx="5"/>
          </p:nvPr>
        </p:nvSpPr>
        <p:spPr/>
        <p:txBody>
          <a:bodyPr/>
          <a:lstStyle/>
          <a:p>
            <a:fld id="{3DD9C11C-D04B-4B83-A5E8-D873315BDD39}" type="slidenum">
              <a:rPr lang="zh-CN" altLang="en-US" smtClean="0"/>
              <a:t>15</a:t>
            </a:fld>
            <a:endParaRPr lang="zh-CN" altLang="en-US"/>
          </a:p>
        </p:txBody>
      </p:sp>
    </p:spTree>
    <p:extLst>
      <p:ext uri="{BB962C8B-B14F-4D97-AF65-F5344CB8AC3E}">
        <p14:creationId xmlns:p14="http://schemas.microsoft.com/office/powerpoint/2010/main" val="8393080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本方法的首要步骤是将非结构化的物理先验知识转化为可计算的数学模型。通过分析设备物理结构，构建了一个知识图谱，形成了一系列三元组。随后，利用知识嵌入算法映射为低维稠密向量，基于嵌入向量的相似性构建一个邻接矩阵，为后续的图神经网络提供了可靠的拓扑结构基础</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rPr>
              <a:t>在获取结构化知识的同时，</a:t>
            </a:r>
            <a:r>
              <a:rPr lang="zh-CN" altLang="en-US" sz="1800" kern="100" dirty="0">
                <a:effectLst/>
                <a:latin typeface="Times New Roman" panose="02020603050405020304" pitchFamily="18" charset="0"/>
                <a:ea typeface="宋体" panose="02010600030101010101" pitchFamily="2" charset="-122"/>
              </a:rPr>
              <a:t>利用</a:t>
            </a:r>
            <a:r>
              <a:rPr lang="zh-CN" altLang="zh-CN" sz="1800" kern="100" dirty="0">
                <a:effectLst/>
                <a:latin typeface="Times New Roman" panose="02020603050405020304" pitchFamily="18" charset="0"/>
                <a:ea typeface="宋体" panose="02010600030101010101" pitchFamily="2" charset="-122"/>
              </a:rPr>
              <a:t>时序预测网络</a:t>
            </a:r>
            <a:r>
              <a:rPr lang="zh-CN" altLang="en-US"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捕捉</a:t>
            </a:r>
            <a:r>
              <a:rPr lang="zh-CN" altLang="en-US" sz="1800" kern="100" dirty="0">
                <a:effectLst/>
                <a:latin typeface="Times New Roman" panose="02020603050405020304" pitchFamily="18" charset="0"/>
                <a:ea typeface="宋体" panose="02010600030101010101" pitchFamily="2" charset="-122"/>
              </a:rPr>
              <a:t>时序特征</a:t>
            </a:r>
            <a:r>
              <a:rPr lang="zh-CN" altLang="zh-CN" sz="1800" kern="100" dirty="0">
                <a:effectLst/>
                <a:latin typeface="Times New Roman" panose="02020603050405020304" pitchFamily="18" charset="0"/>
                <a:ea typeface="宋体" panose="02010600030101010101" pitchFamily="2" charset="-122"/>
              </a:rPr>
              <a:t>，所有这些</a:t>
            </a:r>
            <a:r>
              <a:rPr lang="zh-CN" altLang="en-US" sz="1800" kern="100" dirty="0">
                <a:effectLst/>
                <a:latin typeface="Times New Roman" panose="02020603050405020304" pitchFamily="18" charset="0"/>
                <a:ea typeface="宋体" panose="02010600030101010101" pitchFamily="2" charset="-122"/>
              </a:rPr>
              <a:t>时序特征</a:t>
            </a:r>
            <a:r>
              <a:rPr lang="zh-CN" altLang="zh-CN" sz="1800" kern="100" dirty="0">
                <a:effectLst/>
                <a:latin typeface="Times New Roman" panose="02020603050405020304" pitchFamily="18" charset="0"/>
                <a:ea typeface="宋体" panose="02010600030101010101" pitchFamily="2" charset="-122"/>
              </a:rPr>
              <a:t>共同构成图节点的初始特征矩阵。</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rPr>
              <a:t>利用前阶段生成的节点特征和知识驱动的邻接矩阵，构建图神经网络。物理约束的拓扑结构上自适应地聚合空间信息。</a:t>
            </a:r>
            <a:r>
              <a:rPr lang="zh-CN" altLang="en-US" sz="1800" kern="100" dirty="0">
                <a:effectLst/>
                <a:latin typeface="Times New Roman" panose="02020603050405020304" pitchFamily="18" charset="0"/>
                <a:ea typeface="宋体" panose="02010600030101010101" pitchFamily="2" charset="-122"/>
              </a:rPr>
              <a:t>获得</a:t>
            </a:r>
            <a:r>
              <a:rPr lang="zh-CN" altLang="zh-CN" sz="1800" kern="100" dirty="0">
                <a:effectLst/>
                <a:latin typeface="Times New Roman" panose="02020603050405020304" pitchFamily="18" charset="0"/>
                <a:ea typeface="宋体" panose="02010600030101010101" pitchFamily="2" charset="-122"/>
              </a:rPr>
              <a:t>表征整个系统健康状态的全局空间特征向量。</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rPr>
              <a:t>最后实现从特征到剩余使用寿命的端到端回归。最终输出预测结果。</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3DD9C11C-D04B-4B83-A5E8-D873315BDD39}" type="slidenum">
              <a:rPr lang="zh-CN" altLang="en-US" smtClean="0"/>
              <a:t>16</a:t>
            </a:fld>
            <a:endParaRPr lang="zh-CN" altLang="en-US"/>
          </a:p>
        </p:txBody>
      </p:sp>
    </p:spTree>
    <p:extLst>
      <p:ext uri="{BB962C8B-B14F-4D97-AF65-F5344CB8AC3E}">
        <p14:creationId xmlns:p14="http://schemas.microsoft.com/office/powerpoint/2010/main" val="42428936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利用第一部分训练的</a:t>
            </a:r>
            <a:r>
              <a:rPr lang="en-US" altLang="zh-CN" sz="1800" kern="100" dirty="0">
                <a:effectLst/>
                <a:latin typeface="Times New Roman" panose="02020603050405020304" pitchFamily="18" charset="0"/>
                <a:ea typeface="宋体" panose="02010600030101010101" pitchFamily="2" charset="-122"/>
              </a:rPr>
              <a:t>RUL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预测模型结合</a:t>
            </a:r>
            <a:r>
              <a:rPr lang="en-US" altLang="zh-CN" sz="1800" kern="100" dirty="0">
                <a:effectLst/>
                <a:latin typeface="Times New Roman" panose="02020603050405020304" pitchFamily="18" charset="0"/>
                <a:ea typeface="宋体" panose="02010600030101010101" pitchFamily="2" charset="-122"/>
              </a:rPr>
              <a:t>Monte Carlo Dropout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进行多次前向采样，获得</a:t>
            </a:r>
            <a:r>
              <a:rPr lang="en-US" altLang="zh-CN" sz="1800" kern="100" dirty="0">
                <a:effectLst/>
                <a:latin typeface="Times New Roman" panose="02020603050405020304" pitchFamily="18" charset="0"/>
                <a:ea typeface="宋体" panose="02010600030101010101" pitchFamily="2" charset="-122"/>
              </a:rPr>
              <a:t>RUL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的经验分布，并据此估计其累积分布函数</a:t>
            </a:r>
            <a:r>
              <a:rPr lang="en-US" altLang="zh-CN" sz="1800" kern="100" dirty="0">
                <a:effectLst/>
                <a:latin typeface="Times New Roman" panose="02020603050405020304" pitchFamily="18" charset="0"/>
                <a:ea typeface="宋体" panose="02010600030101010101" pitchFamily="2" charset="-122"/>
              </a:rPr>
              <a:t>F(t)=P(</a:t>
            </a:r>
            <a:r>
              <a:rPr lang="en-US" altLang="zh-CN" sz="1800" kern="100" dirty="0" err="1">
                <a:effectLst/>
                <a:latin typeface="Times New Roman" panose="02020603050405020304" pitchFamily="18" charset="0"/>
                <a:ea typeface="宋体" panose="02010600030101010101" pitchFamily="2" charset="-122"/>
              </a:rPr>
              <a:t>RUL≤t</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，反映设备在未来各时间点的失效概率。生成未来时间步的</a:t>
            </a:r>
            <a:r>
              <a:rPr lang="en-US" altLang="zh-CN" sz="1800" kern="100" dirty="0">
                <a:effectLst/>
                <a:latin typeface="Times New Roman" panose="02020603050405020304" pitchFamily="18" charset="0"/>
                <a:ea typeface="宋体" panose="02010600030101010101" pitchFamily="2" charset="-122"/>
              </a:rPr>
              <a:t>RUL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分布，并将对应的</a:t>
            </a:r>
            <a:r>
              <a:rPr lang="en-US" altLang="zh-CN" sz="1800" kern="100" dirty="0">
                <a:effectLst/>
                <a:latin typeface="Times New Roman" panose="02020603050405020304" pitchFamily="18" charset="0"/>
                <a:ea typeface="宋体" panose="02010600030101010101" pitchFamily="2" charset="-122"/>
              </a:rPr>
              <a:t>CDF</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拼接为一个长向量。</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作为观测状态。</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kern="100" dirty="0">
                <a:effectLst/>
                <a:latin typeface="Times New Roman" panose="02020603050405020304" pitchFamily="18" charset="0"/>
                <a:ea typeface="宋体" panose="02010600030101010101" pitchFamily="2" charset="-122"/>
              </a:rPr>
              <a:t>基于上述状态表征，将预测性维护问题</a:t>
            </a:r>
            <a:r>
              <a:rPr lang="zh-CN" altLang="en-US" sz="1800" kern="100" dirty="0">
                <a:effectLst/>
                <a:latin typeface="Times New Roman" panose="02020603050405020304" pitchFamily="18" charset="0"/>
                <a:ea typeface="宋体" panose="02010600030101010101" pitchFamily="2" charset="-122"/>
              </a:rPr>
              <a:t>建模</a:t>
            </a:r>
            <a:r>
              <a:rPr lang="zh-CN" altLang="zh-CN" sz="1800" kern="100" dirty="0">
                <a:effectLst/>
                <a:latin typeface="Times New Roman" panose="02020603050405020304" pitchFamily="18" charset="0"/>
                <a:ea typeface="宋体" panose="02010600030101010101" pitchFamily="2" charset="-122"/>
              </a:rPr>
              <a:t>为马尔可夫决策过程（</a:t>
            </a:r>
            <a:r>
              <a:rPr lang="en-US" altLang="zh-CN" sz="1800" kern="100" dirty="0">
                <a:effectLst/>
                <a:latin typeface="Times New Roman" panose="02020603050405020304" pitchFamily="18" charset="0"/>
                <a:ea typeface="宋体" panose="02010600030101010101" pitchFamily="2" charset="-122"/>
              </a:rPr>
              <a:t>MDP</a:t>
            </a:r>
            <a:r>
              <a:rPr lang="zh-CN" altLang="zh-CN" sz="1800" kern="100" dirty="0">
                <a:effectLst/>
                <a:latin typeface="Times New Roman" panose="02020603050405020304" pitchFamily="18" charset="0"/>
                <a:ea typeface="宋体" panose="02010600030101010101" pitchFamily="2" charset="-122"/>
              </a:rPr>
              <a:t>）。状态空间由多步</a:t>
            </a:r>
            <a:r>
              <a:rPr lang="en-US" altLang="zh-CN" sz="1800" kern="100" dirty="0">
                <a:effectLst/>
                <a:latin typeface="Times New Roman" panose="02020603050405020304" pitchFamily="18" charset="0"/>
                <a:ea typeface="宋体" panose="02010600030101010101" pitchFamily="2" charset="-122"/>
              </a:rPr>
              <a:t>CDF</a:t>
            </a:r>
            <a:r>
              <a:rPr lang="zh-CN" altLang="zh-CN" sz="1800" kern="100" dirty="0">
                <a:effectLst/>
                <a:latin typeface="Times New Roman" panose="02020603050405020304" pitchFamily="18" charset="0"/>
                <a:ea typeface="宋体" panose="02010600030101010101" pitchFamily="2" charset="-122"/>
              </a:rPr>
              <a:t>拼接向量、维护资源可用性（如备件库存、维修人力）等构成；动作空间定义为对每台设备选择</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无动作</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不完美维护</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或</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纠正性维护</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等离散维护操作；奖励函数则综合考虑维护成本、故障风险惩罚、资源约束冲突。实现面向实际工业场景的多目标维护优化。</a:t>
            </a:r>
            <a:endParaRPr lang="en-US" altLang="zh-CN" sz="1800" kern="100" dirty="0">
              <a:effectLst/>
              <a:latin typeface="Times New Roman" panose="02020603050405020304" pitchFamily="18" charset="0"/>
              <a:ea typeface="宋体" panose="02010600030101010101" pitchFamily="2" charset="-122"/>
            </a:endParaRPr>
          </a:p>
          <a:p>
            <a:endParaRPr lang="zh-CN" altLang="zh-CN" sz="1800" kern="100" dirty="0">
              <a:effectLst/>
              <a:latin typeface="Times New Roman" panose="02020603050405020304" pitchFamily="18" charset="0"/>
              <a:ea typeface="宋体" panose="02010600030101010101" pitchFamily="2" charset="-122"/>
            </a:endParaRPr>
          </a:p>
        </p:txBody>
      </p:sp>
      <p:sp>
        <p:nvSpPr>
          <p:cNvPr id="4" name="灯片编号占位符 3"/>
          <p:cNvSpPr>
            <a:spLocks noGrp="1"/>
          </p:cNvSpPr>
          <p:nvPr>
            <p:ph type="sldNum" sz="quarter" idx="5"/>
          </p:nvPr>
        </p:nvSpPr>
        <p:spPr/>
        <p:txBody>
          <a:bodyPr/>
          <a:lstStyle/>
          <a:p>
            <a:fld id="{3DD9C11C-D04B-4B83-A5E8-D873315BDD39}" type="slidenum">
              <a:rPr lang="zh-CN" altLang="en-US" smtClean="0"/>
              <a:t>17</a:t>
            </a:fld>
            <a:endParaRPr lang="zh-CN" altLang="en-US"/>
          </a:p>
        </p:txBody>
      </p:sp>
    </p:spTree>
    <p:extLst>
      <p:ext uri="{BB962C8B-B14F-4D97-AF65-F5344CB8AC3E}">
        <p14:creationId xmlns:p14="http://schemas.microsoft.com/office/powerpoint/2010/main" val="945480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系统中每台关键设备配置一个独立的调度智能体，负责为其分配待加工工件；同时引入一个全局维护智能体，基于设备健康状态动态生成各设备的维护决策。工件具有动态到达特性、多工序约束及交货期要求，构成典型的动态作业车间调度。</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spc="25" dirty="0">
                <a:solidFill>
                  <a:srgbClr val="2C2C36"/>
                </a:solidFill>
                <a:effectLst/>
                <a:latin typeface="Times New Roman" panose="02020603050405020304" pitchFamily="18" charset="0"/>
                <a:ea typeface="宋体" panose="02010600030101010101" pitchFamily="2" charset="-122"/>
              </a:rPr>
              <a:t>为降低协同训练的复杂度并提升调度性能，首先对调度智能体进行独立预训练。以最小化总延迟、最大完工时间等生产指标为目标，定义状态（包括工件队列、设备当前任务、剩余工序等）、动作（</a:t>
            </a:r>
            <a:r>
              <a:rPr lang="zh-CN" altLang="en-US" sz="1800" kern="100" spc="25" dirty="0">
                <a:solidFill>
                  <a:srgbClr val="2C2C36"/>
                </a:solidFill>
                <a:effectLst/>
                <a:latin typeface="Times New Roman" panose="02020603050405020304" pitchFamily="18" charset="0"/>
                <a:ea typeface="宋体" panose="02010600030101010101" pitchFamily="2" charset="-122"/>
              </a:rPr>
              <a:t>调度规则</a:t>
            </a:r>
            <a:r>
              <a:rPr lang="zh-CN" altLang="zh-CN" sz="1800" kern="100" spc="25" dirty="0">
                <a:solidFill>
                  <a:srgbClr val="2C2C36"/>
                </a:solidFill>
                <a:effectLst/>
                <a:latin typeface="Times New Roman" panose="02020603050405020304" pitchFamily="18" charset="0"/>
                <a:ea typeface="宋体" panose="02010600030101010101" pitchFamily="2" charset="-122"/>
              </a:rPr>
              <a:t>）和奖励（负延迟、负能耗等）。采用</a:t>
            </a:r>
            <a:r>
              <a:rPr lang="en-US" altLang="zh-CN" sz="1800" kern="100" spc="25" dirty="0">
                <a:solidFill>
                  <a:srgbClr val="2C2C36"/>
                </a:solidFill>
                <a:effectLst/>
                <a:latin typeface="Times New Roman" panose="02020603050405020304" pitchFamily="18" charset="0"/>
                <a:ea typeface="宋体" panose="02010600030101010101" pitchFamily="2" charset="-122"/>
              </a:rPr>
              <a:t>QMIX</a:t>
            </a:r>
            <a:r>
              <a:rPr lang="zh-CN" altLang="zh-CN" sz="1800" kern="100" spc="25" dirty="0">
                <a:solidFill>
                  <a:srgbClr val="2C2C36"/>
                </a:solidFill>
                <a:effectLst/>
                <a:latin typeface="Times New Roman" panose="02020603050405020304" pitchFamily="18" charset="0"/>
                <a:ea typeface="宋体" panose="02010600030101010101" pitchFamily="2" charset="-122"/>
              </a:rPr>
              <a:t>多智能体强化学习算法对所有调度智能体进行联合训练，有效协调多设备间的任务分配。训练完成后，各调度智能体获得一个在无维护干扰条件下具备高效调度能力的初始策略模型，作为后续协同阶段的稳定基础</a:t>
            </a:r>
            <a:r>
              <a:rPr lang="zh-CN" altLang="zh-CN" sz="1800" kern="100" dirty="0">
                <a:effectLst/>
                <a:latin typeface="Times New Roman" panose="02020603050405020304" pitchFamily="18" charset="0"/>
                <a:ea typeface="宋体" panose="02010600030101010101" pitchFamily="2" charset="-122"/>
              </a:rPr>
              <a:t>。</a:t>
            </a:r>
            <a:endParaRPr lang="en-US" altLang="zh-CN" sz="1800" kern="100" dirty="0">
              <a:effectLst/>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rPr>
              <a:t>在协同优化阶段，</a:t>
            </a:r>
            <a:r>
              <a:rPr lang="zh-CN" altLang="en-US" sz="1800" kern="100" dirty="0">
                <a:effectLst/>
                <a:latin typeface="Times New Roman" panose="02020603050405020304" pitchFamily="18" charset="0"/>
                <a:ea typeface="宋体" panose="02010600030101010101" pitchFamily="2" charset="-122"/>
              </a:rPr>
              <a:t>采用</a:t>
            </a:r>
            <a:r>
              <a:rPr lang="zh-CN" altLang="zh-CN" sz="1800" kern="100" dirty="0">
                <a:effectLst/>
                <a:latin typeface="Times New Roman" panose="02020603050405020304" pitchFamily="18" charset="0"/>
                <a:ea typeface="宋体" panose="02010600030101010101" pitchFamily="2" charset="-122"/>
              </a:rPr>
              <a:t>一种</a:t>
            </a:r>
            <a:r>
              <a:rPr lang="zh-CN" altLang="en-US" sz="1800" kern="100" dirty="0">
                <a:effectLst/>
                <a:latin typeface="Times New Roman" panose="02020603050405020304" pitchFamily="18" charset="0"/>
                <a:ea typeface="宋体" panose="02010600030101010101" pitchFamily="2" charset="-122"/>
              </a:rPr>
              <a:t>两阶段</a:t>
            </a:r>
            <a:r>
              <a:rPr lang="zh-CN" altLang="zh-CN" sz="1800" kern="100" dirty="0">
                <a:effectLst/>
                <a:latin typeface="Times New Roman" panose="02020603050405020304" pitchFamily="18" charset="0"/>
                <a:ea typeface="宋体" panose="02010600030101010101" pitchFamily="2" charset="-122"/>
              </a:rPr>
              <a:t>维护调度协同</a:t>
            </a:r>
            <a:r>
              <a:rPr lang="zh-CN" altLang="en-US" sz="1800" kern="100" dirty="0">
                <a:effectLst/>
                <a:latin typeface="Times New Roman" panose="02020603050405020304" pitchFamily="18" charset="0"/>
                <a:ea typeface="宋体" panose="02010600030101010101" pitchFamily="2" charset="-122"/>
              </a:rPr>
              <a:t>训练策略</a:t>
            </a:r>
            <a:r>
              <a:rPr lang="zh-CN" altLang="zh-CN" sz="1800" kern="100" dirty="0">
                <a:effectLst/>
                <a:latin typeface="Times New Roman" panose="02020603050405020304" pitchFamily="18" charset="0"/>
                <a:ea typeface="宋体" panose="02010600030101010101" pitchFamily="2" charset="-122"/>
              </a:rPr>
              <a:t>。维护智能体根据设备</a:t>
            </a:r>
            <a:r>
              <a:rPr lang="en-US" altLang="zh-CN" sz="1800" kern="100" dirty="0">
                <a:effectLst/>
                <a:latin typeface="Times New Roman" panose="02020603050405020304" pitchFamily="18" charset="0"/>
                <a:ea typeface="宋体" panose="02010600030101010101" pitchFamily="2" charset="-122"/>
              </a:rPr>
              <a:t>RUL</a:t>
            </a:r>
            <a:r>
              <a:rPr lang="zh-CN" altLang="zh-CN" sz="1800" kern="100" dirty="0">
                <a:effectLst/>
                <a:latin typeface="Times New Roman" panose="02020603050405020304" pitchFamily="18" charset="0"/>
                <a:ea typeface="宋体" panose="02010600030101010101" pitchFamily="2" charset="-122"/>
              </a:rPr>
              <a:t>预测结果输出维护动作向量，指示哪些设备需在当前时段执行维护；该决策通过基于规则设置的协调控制单元，将维护动作转换为合法的动作掩码，嵌入调度过程：对需维护的设备，其对应调度智能体的动作空间中调度动作的选项被强制屏蔽，确保设备在维护期间不可用。冻结预训练的调度智能体参数，仅利用系统全局奖励通过策略梯度方法更新维护智能体。</a:t>
            </a:r>
            <a:r>
              <a:rPr lang="zh-CN" altLang="en-US" sz="1800" kern="100" dirty="0">
                <a:effectLst/>
                <a:latin typeface="Times New Roman" panose="02020603050405020304" pitchFamily="18" charset="0"/>
                <a:ea typeface="宋体" panose="02010600030101010101" pitchFamily="2" charset="-122"/>
              </a:rPr>
              <a:t>最后联合微调实现整体目标优化</a:t>
            </a:r>
            <a:endParaRPr lang="zh-CN" altLang="zh-CN" sz="1800" kern="100" dirty="0">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3DD9C11C-D04B-4B83-A5E8-D873315BDD39}" type="slidenum">
              <a:rPr lang="zh-CN" altLang="en-US" smtClean="0"/>
              <a:t>18</a:t>
            </a:fld>
            <a:endParaRPr lang="zh-CN" altLang="en-US"/>
          </a:p>
        </p:txBody>
      </p:sp>
    </p:spTree>
    <p:extLst>
      <p:ext uri="{BB962C8B-B14F-4D97-AF65-F5344CB8AC3E}">
        <p14:creationId xmlns:p14="http://schemas.microsoft.com/office/powerpoint/2010/main" val="23191109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54000" algn="just"/>
            <a:r>
              <a:rPr lang="zh-CN" altLang="en-US" dirty="0"/>
              <a:t>研究内容</a:t>
            </a:r>
            <a:r>
              <a:rPr lang="en-US" altLang="zh-CN" dirty="0"/>
              <a:t>4</a:t>
            </a:r>
            <a:r>
              <a:rPr lang="zh-CN" altLang="en-US" dirty="0"/>
              <a:t>完成实验验证，</a:t>
            </a:r>
            <a:r>
              <a:rPr lang="zh-CN" altLang="zh-CN" sz="1200" kern="100" dirty="0">
                <a:effectLst/>
                <a:latin typeface="微软雅黑" panose="020B0503020204020204" pitchFamily="34" charset="-122"/>
                <a:ea typeface="微软雅黑" panose="020B0503020204020204" pitchFamily="34" charset="-122"/>
              </a:rPr>
              <a:t>计划采用多工况下的发动机退化</a:t>
            </a:r>
            <a:r>
              <a:rPr lang="en-US" altLang="zh-CN" sz="1200" kern="100" dirty="0">
                <a:effectLst/>
                <a:latin typeface="微软雅黑" panose="020B0503020204020204" pitchFamily="34" charset="-122"/>
                <a:ea typeface="微软雅黑" panose="020B0503020204020204" pitchFamily="34" charset="-122"/>
              </a:rPr>
              <a:t>CMAPSS</a:t>
            </a:r>
            <a:r>
              <a:rPr lang="zh-CN" altLang="zh-CN" sz="1200" kern="100" dirty="0">
                <a:effectLst/>
                <a:latin typeface="微软雅黑" panose="020B0503020204020204" pitchFamily="34" charset="-122"/>
                <a:ea typeface="微软雅黑" panose="020B0503020204020204" pitchFamily="34" charset="-122"/>
              </a:rPr>
              <a:t>数据集模拟车间设备退化过程，采集退化数据，</a:t>
            </a:r>
            <a:r>
              <a:rPr lang="zh-CN" altLang="zh-CN" sz="1200" kern="100" spc="25" dirty="0">
                <a:solidFill>
                  <a:srgbClr val="2C2C36"/>
                </a:solidFill>
                <a:effectLst/>
                <a:latin typeface="微软雅黑" panose="020B0503020204020204" pitchFamily="34" charset="-122"/>
                <a:ea typeface="微软雅黑" panose="020B0503020204020204" pitchFamily="34" charset="-122"/>
                <a:cs typeface="Arial" panose="020B0604020202020204" pitchFamily="34" charset="0"/>
              </a:rPr>
              <a:t>该数据集包含多工况下涡扇发动机的全生命周期传感器监测数据，能够有效模拟智能车间中设备在复杂运行条件下的退化行为。</a:t>
            </a:r>
            <a:r>
              <a:rPr lang="zh-CN" altLang="zh-CN" sz="1200" kern="100" dirty="0">
                <a:effectLst/>
                <a:latin typeface="微软雅黑" panose="020B0503020204020204" pitchFamily="34" charset="-122"/>
                <a:ea typeface="微软雅黑" panose="020B0503020204020204" pitchFamily="34" charset="-122"/>
              </a:rPr>
              <a:t>并通过设计飞机结构件机械加工车间，构建包含多台加工设备、动态工件到达的仿真环境，实现对维护调度任务协同策略的训练与验证。</a:t>
            </a:r>
          </a:p>
          <a:p>
            <a:endParaRPr lang="zh-CN" altLang="en-US" dirty="0"/>
          </a:p>
        </p:txBody>
      </p:sp>
      <p:sp>
        <p:nvSpPr>
          <p:cNvPr id="4" name="灯片编号占位符 3"/>
          <p:cNvSpPr>
            <a:spLocks noGrp="1"/>
          </p:cNvSpPr>
          <p:nvPr>
            <p:ph type="sldNum" sz="quarter" idx="5"/>
          </p:nvPr>
        </p:nvSpPr>
        <p:spPr/>
        <p:txBody>
          <a:bodyPr/>
          <a:lstStyle/>
          <a:p>
            <a:fld id="{3DD9C11C-D04B-4B83-A5E8-D873315BDD39}" type="slidenum">
              <a:rPr lang="zh-CN" altLang="en-US" smtClean="0"/>
              <a:t>19</a:t>
            </a:fld>
            <a:endParaRPr lang="zh-CN" altLang="en-US"/>
          </a:p>
        </p:txBody>
      </p:sp>
    </p:spTree>
    <p:extLst>
      <p:ext uri="{BB962C8B-B14F-4D97-AF65-F5344CB8AC3E}">
        <p14:creationId xmlns:p14="http://schemas.microsoft.com/office/powerpoint/2010/main" val="20922114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总结来说创新点包含这三个部分，先验知识引导</a:t>
            </a:r>
            <a:r>
              <a:rPr lang="en-US" altLang="zh-CN" dirty="0"/>
              <a:t>RUL</a:t>
            </a:r>
            <a:r>
              <a:rPr lang="zh-CN" altLang="en-US" dirty="0"/>
              <a:t>预测、量化使用寿命不确定性并利用深度强化学习解决维护决策问题，搭建有效的协同机制</a:t>
            </a:r>
          </a:p>
        </p:txBody>
      </p:sp>
      <p:sp>
        <p:nvSpPr>
          <p:cNvPr id="4" name="灯片编号占位符 3"/>
          <p:cNvSpPr>
            <a:spLocks noGrp="1"/>
          </p:cNvSpPr>
          <p:nvPr>
            <p:ph type="sldNum" sz="quarter" idx="5"/>
          </p:nvPr>
        </p:nvSpPr>
        <p:spPr/>
        <p:txBody>
          <a:bodyPr/>
          <a:lstStyle/>
          <a:p>
            <a:fld id="{3DD9C11C-D04B-4B83-A5E8-D873315BDD39}" type="slidenum">
              <a:rPr lang="zh-CN" altLang="en-US" smtClean="0"/>
              <a:t>20</a:t>
            </a:fld>
            <a:endParaRPr lang="zh-CN" altLang="en-US"/>
          </a:p>
        </p:txBody>
      </p:sp>
    </p:spTree>
    <p:extLst>
      <p:ext uri="{BB962C8B-B14F-4D97-AF65-F5344CB8AC3E}">
        <p14:creationId xmlns:p14="http://schemas.microsoft.com/office/powerpoint/2010/main" val="7858123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关于本课题的可行性分析，首先本课题有广泛的研究基础：课题组内有丰富的经验和资源，研究方向为热门领域，有面上基金的支撑；另外，我已开展第一部分研究，研究成果发表在</a:t>
            </a:r>
            <a:r>
              <a:rPr lang="en-US" altLang="zh-CN" dirty="0"/>
              <a:t>CAC2025</a:t>
            </a:r>
            <a:r>
              <a:rPr lang="zh-CN" altLang="en-US" dirty="0"/>
              <a:t>上</a:t>
            </a:r>
          </a:p>
        </p:txBody>
      </p:sp>
      <p:sp>
        <p:nvSpPr>
          <p:cNvPr id="4" name="灯片编号占位符 3"/>
          <p:cNvSpPr>
            <a:spLocks noGrp="1"/>
          </p:cNvSpPr>
          <p:nvPr>
            <p:ph type="sldNum" sz="quarter" idx="5"/>
          </p:nvPr>
        </p:nvSpPr>
        <p:spPr/>
        <p:txBody>
          <a:bodyPr/>
          <a:lstStyle/>
          <a:p>
            <a:fld id="{3DD9C11C-D04B-4B83-A5E8-D873315BDD39}" type="slidenum">
              <a:rPr lang="zh-CN" altLang="en-US" smtClean="0"/>
              <a:t>21</a:t>
            </a:fld>
            <a:endParaRPr lang="zh-CN" altLang="en-US"/>
          </a:p>
        </p:txBody>
      </p:sp>
    </p:spTree>
    <p:extLst>
      <p:ext uri="{BB962C8B-B14F-4D97-AF65-F5344CB8AC3E}">
        <p14:creationId xmlns:p14="http://schemas.microsoft.com/office/powerpoint/2010/main" val="36202920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D9C11C-D04B-4B83-A5E8-D873315BDD39}" type="slidenum">
              <a:rPr lang="zh-CN" altLang="en-US" smtClean="0"/>
              <a:t>22</a:t>
            </a:fld>
            <a:endParaRPr lang="zh-CN" altLang="en-US"/>
          </a:p>
        </p:txBody>
      </p:sp>
    </p:spTree>
    <p:extLst>
      <p:ext uri="{BB962C8B-B14F-4D97-AF65-F5344CB8AC3E}">
        <p14:creationId xmlns:p14="http://schemas.microsoft.com/office/powerpoint/2010/main" val="19718023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mj-ea"/>
                <a:ea typeface="+mj-ea"/>
              </a:rPr>
              <a:t>我将以两个月为周期，完成本课题的各项相关工作</a:t>
            </a:r>
          </a:p>
          <a:p>
            <a:endParaRPr lang="zh-CN" altLang="en-US" dirty="0"/>
          </a:p>
        </p:txBody>
      </p:sp>
      <p:sp>
        <p:nvSpPr>
          <p:cNvPr id="4" name="灯片编号占位符 3"/>
          <p:cNvSpPr>
            <a:spLocks noGrp="1"/>
          </p:cNvSpPr>
          <p:nvPr>
            <p:ph type="sldNum" sz="quarter" idx="5"/>
          </p:nvPr>
        </p:nvSpPr>
        <p:spPr/>
        <p:txBody>
          <a:bodyPr/>
          <a:lstStyle/>
          <a:p>
            <a:fld id="{3DD9C11C-D04B-4B83-A5E8-D873315BDD39}" type="slidenum">
              <a:rPr lang="zh-CN" altLang="en-US" smtClean="0"/>
              <a:t>23</a:t>
            </a:fld>
            <a:endParaRPr lang="zh-CN" altLang="en-US"/>
          </a:p>
        </p:txBody>
      </p:sp>
    </p:spTree>
    <p:extLst>
      <p:ext uri="{BB962C8B-B14F-4D97-AF65-F5344CB8AC3E}">
        <p14:creationId xmlns:p14="http://schemas.microsoft.com/office/powerpoint/2010/main" val="19567019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24</a:t>
            </a:fld>
            <a:endParaRPr lang="zh-CN" altLang="en-US"/>
          </a:p>
        </p:txBody>
      </p:sp>
    </p:spTree>
    <p:extLst>
      <p:ext uri="{BB962C8B-B14F-4D97-AF65-F5344CB8AC3E}">
        <p14:creationId xmlns:p14="http://schemas.microsoft.com/office/powerpoint/2010/main" val="2255183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1.xml"/><Relationship Id="rId5" Type="http://schemas.openxmlformats.org/officeDocument/2006/relationships/tags" Target="../tags/tag6.xml"/><Relationship Id="rId4"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EAA93BF-772A-4C92-B1DC-E6EFAA9B7E24}" type="datetimeFigureOut">
              <a:rPr lang="zh-CN" altLang="en-US" smtClean="0"/>
              <a:t>2025/10/23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77F9130-EB6A-4866-830C-2DB68EFB30B4}" type="slidenum">
              <a:rPr lang="zh-CN" altLang="en-US" smtClean="0"/>
              <a:t>‹#›</a:t>
            </a:fld>
            <a:endParaRPr lang="zh-CN" altLang="en-US"/>
          </a:p>
        </p:txBody>
      </p:sp>
      <p:sp>
        <p:nvSpPr>
          <p:cNvPr id="5" name="标题 4"/>
          <p:cNvSpPr>
            <a:spLocks noGrp="1"/>
          </p:cNvSpPr>
          <p:nvPr>
            <p:ph type="title"/>
          </p:nvPr>
        </p:nvSpPr>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EAA93BF-772A-4C92-B1DC-E6EFAA9B7E24}" type="datetimeFigureOut">
              <a:rPr lang="zh-CN" altLang="en-US" smtClean="0"/>
              <a:t>2025/10/23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77F9130-EB6A-4866-830C-2DB68EFB30B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2025/10/23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199806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7FC9E8A-6E04-1B13-B5FB-39D36D19DDC0}"/>
              </a:ext>
            </a:extLst>
          </p:cNvPr>
          <p:cNvSpPr>
            <a:spLocks noGrp="1"/>
          </p:cNvSpPr>
          <p:nvPr>
            <p:ph type="dt" sz="half" idx="10"/>
          </p:nvPr>
        </p:nvSpPr>
        <p:spPr/>
        <p:txBody>
          <a:bodyPr/>
          <a:lstStyle/>
          <a:p>
            <a:fld id="{62F5F282-2C00-443B-BCC9-F077A50D3742}" type="datetime1">
              <a:rPr lang="zh-CN" altLang="en-US" smtClean="0"/>
              <a:t>2025/10/23</a:t>
            </a:fld>
            <a:endParaRPr lang="zh-CN" altLang="en-US"/>
          </a:p>
        </p:txBody>
      </p:sp>
      <p:sp>
        <p:nvSpPr>
          <p:cNvPr id="3" name="页脚占位符 2">
            <a:extLst>
              <a:ext uri="{FF2B5EF4-FFF2-40B4-BE49-F238E27FC236}">
                <a16:creationId xmlns:a16="http://schemas.microsoft.com/office/drawing/2014/main" id="{9FB0F993-56C1-8A6D-4369-309E4AA1C35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6EB155B-CF97-19F2-155E-9B71DF55E8BD}"/>
              </a:ext>
            </a:extLst>
          </p:cNvPr>
          <p:cNvSpPr>
            <a:spLocks noGrp="1"/>
          </p:cNvSpPr>
          <p:nvPr>
            <p:ph type="sldNum" sz="quarter" idx="12"/>
          </p:nvPr>
        </p:nvSpPr>
        <p:spPr/>
        <p:txBody>
          <a:bodyPr/>
          <a:lstStyle/>
          <a:p>
            <a:fld id="{C95CF86F-CF51-4BC7-BD7B-45DB1334E16D}" type="slidenum">
              <a:rPr lang="zh-CN" altLang="en-US" smtClean="0"/>
              <a:pPr/>
              <a:t>‹#›</a:t>
            </a:fld>
            <a:r>
              <a:rPr lang="en-US" altLang="zh-CN" dirty="0"/>
              <a:t>/23</a:t>
            </a:r>
            <a:endParaRPr lang="zh-CN" altLang="en-US" dirty="0"/>
          </a:p>
        </p:txBody>
      </p:sp>
    </p:spTree>
    <p:extLst>
      <p:ext uri="{BB962C8B-B14F-4D97-AF65-F5344CB8AC3E}">
        <p14:creationId xmlns:p14="http://schemas.microsoft.com/office/powerpoint/2010/main" val="471728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4B0015B-7B98-4738-B241-08F03F02F239}" type="datetimeFigureOut">
              <a:rPr lang="zh-CN" altLang="en-US" smtClean="0"/>
              <a:t>2025/10/23</a:t>
            </a:fld>
            <a:endParaRPr lang="zh-CN" altLang="en-US"/>
          </a:p>
        </p:txBody>
      </p:sp>
      <p:sp>
        <p:nvSpPr>
          <p:cNvPr id="4" name="灯片编号占位符 3"/>
          <p:cNvSpPr>
            <a:spLocks noGrp="1"/>
          </p:cNvSpPr>
          <p:nvPr>
            <p:ph type="sldNum" sz="quarter" idx="11"/>
          </p:nvPr>
        </p:nvSpPr>
        <p:spPr/>
        <p:txBody>
          <a:bodyPr/>
          <a:lstStyle/>
          <a:p>
            <a:fld id="{D3271BCF-8F0B-4BA6-83E5-4FB40673BE8B}" type="slidenum">
              <a:rPr lang="zh-CN" altLang="en-US" smtClean="0"/>
              <a:t>‹#›</a:t>
            </a:fld>
            <a:endParaRPr lang="zh-CN" altLang="en-US"/>
          </a:p>
        </p:txBody>
      </p:sp>
    </p:spTree>
    <p:extLst>
      <p:ext uri="{BB962C8B-B14F-4D97-AF65-F5344CB8AC3E}">
        <p14:creationId xmlns:p14="http://schemas.microsoft.com/office/powerpoint/2010/main" val="20959676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AA93BF-772A-4C92-B1DC-E6EFAA9B7E24}" type="datetimeFigureOut">
              <a:rPr lang="zh-CN" altLang="en-US" smtClean="0"/>
              <a:t>2025/10/23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7F9130-EB6A-4866-830C-2DB68EFB30B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0.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582333"/>
            <a:ext cx="12192000" cy="306070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5A8A"/>
              </a:solidFill>
              <a:highlight>
                <a:srgbClr val="00FF00"/>
              </a:highlight>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文本框 4"/>
          <p:cNvSpPr txBox="1"/>
          <p:nvPr/>
        </p:nvSpPr>
        <p:spPr>
          <a:xfrm>
            <a:off x="1190847" y="3090695"/>
            <a:ext cx="10100930" cy="769441"/>
          </a:xfrm>
          <a:prstGeom prst="rect">
            <a:avLst/>
          </a:prstGeom>
          <a:noFill/>
        </p:spPr>
        <p:txBody>
          <a:bodyPr wrap="square" rtlCol="0">
            <a:spAutoFit/>
          </a:bodyPr>
          <a:lstStyle/>
          <a:p>
            <a:pPr algn="ctr"/>
            <a:r>
              <a:rPr lang="zh-CN" altLang="en-US" sz="4400" b="1" spc="-3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面向智能车间的</a:t>
            </a:r>
            <a:r>
              <a:rPr lang="en-US" altLang="zh-CN" sz="4400" b="1" spc="-3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PHM</a:t>
            </a:r>
            <a:r>
              <a:rPr lang="zh-CN" altLang="en-US" sz="4400" b="1" spc="-3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与调度协同优化研究</a:t>
            </a:r>
          </a:p>
        </p:txBody>
      </p:sp>
      <p:sp>
        <p:nvSpPr>
          <p:cNvPr id="6" name="文本框 5"/>
          <p:cNvSpPr txBox="1"/>
          <p:nvPr/>
        </p:nvSpPr>
        <p:spPr>
          <a:xfrm>
            <a:off x="3308019" y="4632211"/>
            <a:ext cx="1896441" cy="369332"/>
          </a:xfrm>
          <a:prstGeom prst="rect">
            <a:avLst/>
          </a:prstGeom>
          <a:noFill/>
        </p:spPr>
        <p:txBody>
          <a:bodyPr wrap="square" rtlCol="0">
            <a:spAutoFit/>
          </a:bodyPr>
          <a:lstStyle/>
          <a:p>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答辩人：张泽旭</a:t>
            </a:r>
          </a:p>
        </p:txBody>
      </p:sp>
      <p:sp>
        <p:nvSpPr>
          <p:cNvPr id="7" name="文本框 6"/>
          <p:cNvSpPr txBox="1"/>
          <p:nvPr/>
        </p:nvSpPr>
        <p:spPr>
          <a:xfrm>
            <a:off x="4584700" y="5138138"/>
            <a:ext cx="3022600" cy="368300"/>
          </a:xfrm>
          <a:prstGeom prst="rect">
            <a:avLst/>
          </a:prstGeom>
          <a:noFill/>
        </p:spPr>
        <p:txBody>
          <a:bodyPr wrap="square" rtlCol="0">
            <a:spAutoFit/>
          </a:bodyPr>
          <a:lstStyle/>
          <a:p>
            <a:pPr algn="ctr"/>
            <a:r>
              <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2025/10/23</a:t>
            </a:r>
            <a:endPar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7335" y="1586524"/>
            <a:ext cx="2017330" cy="696246"/>
          </a:xfrm>
          <a:prstGeom prst="rect">
            <a:avLst/>
          </a:prstGeom>
        </p:spPr>
      </p:pic>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4409" y="441810"/>
            <a:ext cx="983182" cy="983182"/>
          </a:xfrm>
          <a:prstGeom prst="rect">
            <a:avLst/>
          </a:prstGeom>
        </p:spPr>
      </p:pic>
      <p:sp>
        <p:nvSpPr>
          <p:cNvPr id="12" name="文本框 11">
            <a:extLst>
              <a:ext uri="{FF2B5EF4-FFF2-40B4-BE49-F238E27FC236}">
                <a16:creationId xmlns:a16="http://schemas.microsoft.com/office/drawing/2014/main" id="{A2BFA4FA-E61E-4072-9F07-8EF9638F4A80}"/>
              </a:ext>
            </a:extLst>
          </p:cNvPr>
          <p:cNvSpPr txBox="1"/>
          <p:nvPr/>
        </p:nvSpPr>
        <p:spPr>
          <a:xfrm>
            <a:off x="6987541" y="4632211"/>
            <a:ext cx="2319491" cy="369332"/>
          </a:xfrm>
          <a:prstGeom prst="rect">
            <a:avLst/>
          </a:prstGeom>
          <a:noFill/>
        </p:spPr>
        <p:txBody>
          <a:bodyPr wrap="square" rtlCol="0">
            <a:spAutoFit/>
          </a:bodyPr>
          <a:lstStyle/>
          <a:p>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指导教师：乔非教授</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直角三角形 9"/>
          <p:cNvSpPr/>
          <p:nvPr/>
        </p:nvSpPr>
        <p:spPr>
          <a:xfrm flipH="1" flipV="1">
            <a:off x="4949825" y="-35560"/>
            <a:ext cx="7269480" cy="3656330"/>
          </a:xfrm>
          <a:prstGeom prst="rtTriangle">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a:off x="-13970" y="3239770"/>
            <a:ext cx="7269480" cy="3656330"/>
          </a:xfrm>
          <a:prstGeom prst="rtTriangle">
            <a:avLst/>
          </a:prstGeom>
          <a:solidFill>
            <a:srgbClr val="005A8A"/>
          </a:solidFill>
          <a:ln>
            <a:solidFill>
              <a:srgbClr val="005A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452437" y="444500"/>
            <a:ext cx="11287125" cy="5969000"/>
          </a:xfrm>
          <a:prstGeom prst="rect">
            <a:avLst/>
          </a:prstGeom>
          <a:solidFill>
            <a:schemeClr val="bg1"/>
          </a:solidFill>
          <a:ln>
            <a:solidFill>
              <a:srgbClr val="2159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918210" y="2172335"/>
            <a:ext cx="3380105" cy="1445260"/>
          </a:xfrm>
          <a:prstGeom prst="rect">
            <a:avLst/>
          </a:prstGeom>
          <a:noFill/>
        </p:spPr>
        <p:txBody>
          <a:bodyPr wrap="square" rtlCol="0">
            <a:spAutoFit/>
          </a:bodyPr>
          <a:lstStyle/>
          <a:p>
            <a:pPr algn="ctr"/>
            <a:r>
              <a:rPr lang="zh-CN" altLang="en-US" sz="8800">
                <a:solidFill>
                  <a:srgbClr val="2159A5"/>
                </a:solidFill>
              </a:rPr>
              <a:t>目录</a:t>
            </a:r>
          </a:p>
        </p:txBody>
      </p:sp>
      <p:sp>
        <p:nvSpPr>
          <p:cNvPr id="49" name="文本框 48"/>
          <p:cNvSpPr txBox="1"/>
          <p:nvPr/>
        </p:nvSpPr>
        <p:spPr>
          <a:xfrm>
            <a:off x="1445260" y="3846195"/>
            <a:ext cx="2326005" cy="306705"/>
          </a:xfrm>
          <a:prstGeom prst="rect">
            <a:avLst/>
          </a:prstGeom>
          <a:noFill/>
        </p:spPr>
        <p:txBody>
          <a:bodyPr wrap="square" rtlCol="0">
            <a:spAutoFit/>
          </a:bodyPr>
          <a:lstStyle/>
          <a:p>
            <a:pPr algn="dist"/>
            <a:r>
              <a:rPr lang="en-US" altLang="zh-CN" sz="1400">
                <a:solidFill>
                  <a:srgbClr val="2159A5"/>
                </a:solidFill>
              </a:rPr>
              <a:t>CONTENTS</a:t>
            </a:r>
          </a:p>
        </p:txBody>
      </p:sp>
      <p:sp>
        <p:nvSpPr>
          <p:cNvPr id="52" name="文本框 51"/>
          <p:cNvSpPr txBox="1"/>
          <p:nvPr/>
        </p:nvSpPr>
        <p:spPr>
          <a:xfrm>
            <a:off x="5291138" y="1597538"/>
            <a:ext cx="1813124" cy="461665"/>
          </a:xfrm>
          <a:prstGeom prst="rect">
            <a:avLst/>
          </a:prstGeom>
          <a:noFill/>
          <a:ln>
            <a:solidFill>
              <a:schemeClr val="bg1"/>
            </a:solidFill>
          </a:ln>
        </p:spPr>
        <p:txBody>
          <a:bodyPr wrap="square" rtlCol="0">
            <a:spAutoFit/>
          </a:bodyPr>
          <a:lstStyle/>
          <a:p>
            <a:pPr algn="l"/>
            <a:r>
              <a:rPr lang="zh-CN" altLang="en-US" sz="2400" b="1" dirty="0">
                <a:solidFill>
                  <a:srgbClr val="005A8A"/>
                </a:solidFill>
                <a:latin typeface="微软雅黑" panose="020B0503020204020204" charset="-122"/>
                <a:ea typeface="微软雅黑" panose="020B0503020204020204" charset="-122"/>
              </a:rPr>
              <a:t>研究背景</a:t>
            </a:r>
          </a:p>
        </p:txBody>
      </p:sp>
      <p:sp>
        <p:nvSpPr>
          <p:cNvPr id="57" name="文本框 56"/>
          <p:cNvSpPr txBox="1"/>
          <p:nvPr/>
        </p:nvSpPr>
        <p:spPr>
          <a:xfrm>
            <a:off x="4195066" y="1530809"/>
            <a:ext cx="994708" cy="645160"/>
          </a:xfrm>
          <a:prstGeom prst="rect">
            <a:avLst/>
          </a:prstGeom>
          <a:noFill/>
        </p:spPr>
        <p:txBody>
          <a:bodyPr wrap="square" rtlCol="0">
            <a:spAutoFit/>
          </a:bodyPr>
          <a:lstStyle/>
          <a:p>
            <a:pPr algn="l"/>
            <a:r>
              <a:rPr lang="en-US" altLang="zh-CN" sz="3600" dirty="0">
                <a:solidFill>
                  <a:srgbClr val="2159A5"/>
                </a:solidFill>
                <a:latin typeface="微软雅黑" panose="020B0503020204020204" charset="-122"/>
                <a:ea typeface="微软雅黑" panose="020B0503020204020204" charset="-122"/>
              </a:rPr>
              <a:t>01</a:t>
            </a:r>
          </a:p>
        </p:txBody>
      </p:sp>
      <p:sp>
        <p:nvSpPr>
          <p:cNvPr id="63" name="文本框 62"/>
          <p:cNvSpPr txBox="1"/>
          <p:nvPr/>
        </p:nvSpPr>
        <p:spPr>
          <a:xfrm>
            <a:off x="4195066" y="2289964"/>
            <a:ext cx="994708" cy="645160"/>
          </a:xfrm>
          <a:prstGeom prst="rect">
            <a:avLst/>
          </a:prstGeom>
          <a:noFill/>
        </p:spPr>
        <p:txBody>
          <a:bodyPr wrap="square" rtlCol="0">
            <a:spAutoFit/>
          </a:bodyPr>
          <a:lstStyle/>
          <a:p>
            <a:pPr algn="l"/>
            <a:r>
              <a:rPr lang="en-US" altLang="zh-CN" sz="3600" dirty="0">
                <a:solidFill>
                  <a:srgbClr val="2159A5"/>
                </a:solidFill>
                <a:latin typeface="微软雅黑" panose="020B0503020204020204" charset="-122"/>
                <a:ea typeface="微软雅黑" panose="020B0503020204020204" charset="-122"/>
              </a:rPr>
              <a:t>02</a:t>
            </a:r>
          </a:p>
        </p:txBody>
      </p:sp>
      <p:sp>
        <p:nvSpPr>
          <p:cNvPr id="64" name="文本框 63"/>
          <p:cNvSpPr txBox="1"/>
          <p:nvPr/>
        </p:nvSpPr>
        <p:spPr>
          <a:xfrm>
            <a:off x="4195066" y="3049119"/>
            <a:ext cx="994708" cy="645160"/>
          </a:xfrm>
          <a:prstGeom prst="rect">
            <a:avLst/>
          </a:prstGeom>
          <a:noFill/>
        </p:spPr>
        <p:txBody>
          <a:bodyPr wrap="square" rtlCol="0">
            <a:spAutoFit/>
          </a:bodyPr>
          <a:lstStyle/>
          <a:p>
            <a:pPr algn="l"/>
            <a:r>
              <a:rPr lang="en-US" altLang="zh-CN" sz="3600" dirty="0">
                <a:solidFill>
                  <a:srgbClr val="2159A5"/>
                </a:solidFill>
                <a:latin typeface="微软雅黑" panose="020B0503020204020204" charset="-122"/>
                <a:ea typeface="微软雅黑" panose="020B0503020204020204" charset="-122"/>
              </a:rPr>
              <a:t>03</a:t>
            </a:r>
          </a:p>
        </p:txBody>
      </p:sp>
      <p:grpSp>
        <p:nvGrpSpPr>
          <p:cNvPr id="488" name="组合 487"/>
          <p:cNvGrpSpPr/>
          <p:nvPr/>
        </p:nvGrpSpPr>
        <p:grpSpPr>
          <a:xfrm>
            <a:off x="9323070" y="1017270"/>
            <a:ext cx="2029460" cy="538480"/>
            <a:chOff x="12105096" y="425424"/>
            <a:chExt cx="26128067" cy="6924675"/>
          </a:xfrm>
          <a:solidFill>
            <a:srgbClr val="2159A5"/>
          </a:solidFill>
        </p:grpSpPr>
        <p:grpSp>
          <p:nvGrpSpPr>
            <p:cNvPr id="489" name="组合 488"/>
            <p:cNvGrpSpPr/>
            <p:nvPr/>
          </p:nvGrpSpPr>
          <p:grpSpPr>
            <a:xfrm>
              <a:off x="12105096" y="425424"/>
              <a:ext cx="6901647" cy="6924675"/>
              <a:chOff x="650875" y="546100"/>
              <a:chExt cx="22837775" cy="22913975"/>
            </a:xfrm>
            <a:grpFill/>
          </p:grpSpPr>
          <p:sp>
            <p:nvSpPr>
              <p:cNvPr id="520" name="Freeform 264"/>
              <p:cNvSpPr>
                <a:spLocks noEditPoints="1"/>
              </p:cNvSpPr>
              <p:nvPr/>
            </p:nvSpPr>
            <p:spPr bwMode="auto">
              <a:xfrm>
                <a:off x="650875" y="546100"/>
                <a:ext cx="22837775" cy="22913975"/>
              </a:xfrm>
              <a:custGeom>
                <a:avLst/>
                <a:gdLst>
                  <a:gd name="T0" fmla="*/ 3008 w 7237"/>
                  <a:gd name="T1" fmla="*/ 7201 h 7259"/>
                  <a:gd name="T2" fmla="*/ 2315 w 7237"/>
                  <a:gd name="T3" fmla="*/ 7007 h 7259"/>
                  <a:gd name="T4" fmla="*/ 1564 w 7237"/>
                  <a:gd name="T5" fmla="*/ 6604 h 7259"/>
                  <a:gd name="T6" fmla="*/ 1112 w 7237"/>
                  <a:gd name="T7" fmla="*/ 6231 h 7259"/>
                  <a:gd name="T8" fmla="*/ 798 w 7237"/>
                  <a:gd name="T9" fmla="*/ 5883 h 7259"/>
                  <a:gd name="T10" fmla="*/ 506 w 7237"/>
                  <a:gd name="T11" fmla="*/ 5462 h 7259"/>
                  <a:gd name="T12" fmla="*/ 272 w 7237"/>
                  <a:gd name="T13" fmla="*/ 4982 h 7259"/>
                  <a:gd name="T14" fmla="*/ 88 w 7237"/>
                  <a:gd name="T15" fmla="*/ 4390 h 7259"/>
                  <a:gd name="T16" fmla="*/ 13 w 7237"/>
                  <a:gd name="T17" fmla="*/ 3871 h 7259"/>
                  <a:gd name="T18" fmla="*/ 22 w 7237"/>
                  <a:gd name="T19" fmla="*/ 3235 h 7259"/>
                  <a:gd name="T20" fmla="*/ 98 w 7237"/>
                  <a:gd name="T21" fmla="*/ 2783 h 7259"/>
                  <a:gd name="T22" fmla="*/ 331 w 7237"/>
                  <a:gd name="T23" fmla="*/ 2112 h 7259"/>
                  <a:gd name="T24" fmla="*/ 796 w 7237"/>
                  <a:gd name="T25" fmla="*/ 1354 h 7259"/>
                  <a:gd name="T26" fmla="*/ 1304 w 7237"/>
                  <a:gd name="T27" fmla="*/ 839 h 7259"/>
                  <a:gd name="T28" fmla="*/ 1828 w 7237"/>
                  <a:gd name="T29" fmla="*/ 476 h 7259"/>
                  <a:gd name="T30" fmla="*/ 2590 w 7237"/>
                  <a:gd name="T31" fmla="*/ 150 h 7259"/>
                  <a:gd name="T32" fmla="*/ 3193 w 7237"/>
                  <a:gd name="T33" fmla="*/ 28 h 7259"/>
                  <a:gd name="T34" fmla="*/ 3863 w 7237"/>
                  <a:gd name="T35" fmla="*/ 8 h 7259"/>
                  <a:gd name="T36" fmla="*/ 4448 w 7237"/>
                  <a:gd name="T37" fmla="*/ 96 h 7259"/>
                  <a:gd name="T38" fmla="*/ 5035 w 7237"/>
                  <a:gd name="T39" fmla="*/ 286 h 7259"/>
                  <a:gd name="T40" fmla="*/ 5879 w 7237"/>
                  <a:gd name="T41" fmla="*/ 794 h 7259"/>
                  <a:gd name="T42" fmla="*/ 6391 w 7237"/>
                  <a:gd name="T43" fmla="*/ 1299 h 7259"/>
                  <a:gd name="T44" fmla="*/ 6967 w 7237"/>
                  <a:gd name="T45" fmla="*/ 2260 h 7259"/>
                  <a:gd name="T46" fmla="*/ 7148 w 7237"/>
                  <a:gd name="T47" fmla="*/ 2836 h 7259"/>
                  <a:gd name="T48" fmla="*/ 7234 w 7237"/>
                  <a:gd name="T49" fmla="*/ 3675 h 7259"/>
                  <a:gd name="T50" fmla="*/ 7130 w 7237"/>
                  <a:gd name="T51" fmla="*/ 4505 h 7259"/>
                  <a:gd name="T52" fmla="*/ 6904 w 7237"/>
                  <a:gd name="T53" fmla="*/ 5149 h 7259"/>
                  <a:gd name="T54" fmla="*/ 6545 w 7237"/>
                  <a:gd name="T55" fmla="*/ 5771 h 7259"/>
                  <a:gd name="T56" fmla="*/ 5888 w 7237"/>
                  <a:gd name="T57" fmla="*/ 6463 h 7259"/>
                  <a:gd name="T58" fmla="*/ 4916 w 7237"/>
                  <a:gd name="T59" fmla="*/ 7021 h 7259"/>
                  <a:gd name="T60" fmla="*/ 4304 w 7237"/>
                  <a:gd name="T61" fmla="*/ 7192 h 7259"/>
                  <a:gd name="T62" fmla="*/ 3548 w 7237"/>
                  <a:gd name="T63" fmla="*/ 7259 h 7259"/>
                  <a:gd name="T64" fmla="*/ 3624 w 7237"/>
                  <a:gd name="T65" fmla="*/ 7111 h 7259"/>
                  <a:gd name="T66" fmla="*/ 3927 w 7237"/>
                  <a:gd name="T67" fmla="*/ 7098 h 7259"/>
                  <a:gd name="T68" fmla="*/ 4331 w 7237"/>
                  <a:gd name="T69" fmla="*/ 7040 h 7259"/>
                  <a:gd name="T70" fmla="*/ 4838 w 7237"/>
                  <a:gd name="T71" fmla="*/ 6897 h 7259"/>
                  <a:gd name="T72" fmla="*/ 5551 w 7237"/>
                  <a:gd name="T73" fmla="*/ 6532 h 7259"/>
                  <a:gd name="T74" fmla="*/ 6208 w 7237"/>
                  <a:gd name="T75" fmla="*/ 5962 h 7259"/>
                  <a:gd name="T76" fmla="*/ 6533 w 7237"/>
                  <a:gd name="T77" fmla="*/ 5535 h 7259"/>
                  <a:gd name="T78" fmla="*/ 6758 w 7237"/>
                  <a:gd name="T79" fmla="*/ 5124 h 7259"/>
                  <a:gd name="T80" fmla="*/ 6953 w 7237"/>
                  <a:gd name="T81" fmla="*/ 4620 h 7259"/>
                  <a:gd name="T82" fmla="*/ 7087 w 7237"/>
                  <a:gd name="T83" fmla="*/ 3843 h 7259"/>
                  <a:gd name="T84" fmla="*/ 7012 w 7237"/>
                  <a:gd name="T85" fmla="*/ 2876 h 7259"/>
                  <a:gd name="T86" fmla="*/ 6698 w 7237"/>
                  <a:gd name="T87" fmla="*/ 2015 h 7259"/>
                  <a:gd name="T88" fmla="*/ 6261 w 7237"/>
                  <a:gd name="T89" fmla="*/ 1368 h 7259"/>
                  <a:gd name="T90" fmla="*/ 5904 w 7237"/>
                  <a:gd name="T91" fmla="*/ 1002 h 7259"/>
                  <a:gd name="T92" fmla="*/ 5365 w 7237"/>
                  <a:gd name="T93" fmla="*/ 612 h 7259"/>
                  <a:gd name="T94" fmla="*/ 4538 w 7237"/>
                  <a:gd name="T95" fmla="*/ 265 h 7259"/>
                  <a:gd name="T96" fmla="*/ 3960 w 7237"/>
                  <a:gd name="T97" fmla="*/ 159 h 7259"/>
                  <a:gd name="T98" fmla="*/ 3270 w 7237"/>
                  <a:gd name="T99" fmla="*/ 163 h 7259"/>
                  <a:gd name="T100" fmla="*/ 2575 w 7237"/>
                  <a:gd name="T101" fmla="*/ 304 h 7259"/>
                  <a:gd name="T102" fmla="*/ 1796 w 7237"/>
                  <a:gd name="T103" fmla="*/ 660 h 7259"/>
                  <a:gd name="T104" fmla="*/ 1142 w 7237"/>
                  <a:gd name="T105" fmla="*/ 1182 h 7259"/>
                  <a:gd name="T106" fmla="*/ 754 w 7237"/>
                  <a:gd name="T107" fmla="*/ 1653 h 7259"/>
                  <a:gd name="T108" fmla="*/ 432 w 7237"/>
                  <a:gd name="T109" fmla="*/ 2238 h 7259"/>
                  <a:gd name="T110" fmla="*/ 192 w 7237"/>
                  <a:gd name="T111" fmla="*/ 3036 h 7259"/>
                  <a:gd name="T112" fmla="*/ 165 w 7237"/>
                  <a:gd name="T113" fmla="*/ 3976 h 7259"/>
                  <a:gd name="T114" fmla="*/ 363 w 7237"/>
                  <a:gd name="T115" fmla="*/ 4828 h 7259"/>
                  <a:gd name="T116" fmla="*/ 674 w 7237"/>
                  <a:gd name="T117" fmla="*/ 5460 h 7259"/>
                  <a:gd name="T118" fmla="*/ 1384 w 7237"/>
                  <a:gd name="T119" fmla="*/ 6284 h 7259"/>
                  <a:gd name="T120" fmla="*/ 1989 w 7237"/>
                  <a:gd name="T121" fmla="*/ 6699 h 7259"/>
                  <a:gd name="T122" fmla="*/ 2790 w 7237"/>
                  <a:gd name="T123" fmla="*/ 7007 h 7259"/>
                  <a:gd name="T124" fmla="*/ 3623 w 7237"/>
                  <a:gd name="T125" fmla="*/ 7117 h 7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237" h="7259">
                    <a:moveTo>
                      <a:pt x="3548" y="7259"/>
                    </a:moveTo>
                    <a:cubicBezTo>
                      <a:pt x="3367" y="7250"/>
                      <a:pt x="3186" y="7234"/>
                      <a:pt x="3008" y="7201"/>
                    </a:cubicBezTo>
                    <a:cubicBezTo>
                      <a:pt x="2895" y="7181"/>
                      <a:pt x="2783" y="7157"/>
                      <a:pt x="2673" y="7126"/>
                    </a:cubicBezTo>
                    <a:cubicBezTo>
                      <a:pt x="2552" y="7092"/>
                      <a:pt x="2432" y="7051"/>
                      <a:pt x="2315" y="7007"/>
                    </a:cubicBezTo>
                    <a:cubicBezTo>
                      <a:pt x="2148" y="6944"/>
                      <a:pt x="1986" y="6869"/>
                      <a:pt x="1832" y="6777"/>
                    </a:cubicBezTo>
                    <a:cubicBezTo>
                      <a:pt x="1741" y="6723"/>
                      <a:pt x="1651" y="6666"/>
                      <a:pt x="1564" y="6604"/>
                    </a:cubicBezTo>
                    <a:cubicBezTo>
                      <a:pt x="1468" y="6537"/>
                      <a:pt x="1375" y="6465"/>
                      <a:pt x="1285" y="6391"/>
                    </a:cubicBezTo>
                    <a:cubicBezTo>
                      <a:pt x="1224" y="6342"/>
                      <a:pt x="1168" y="6286"/>
                      <a:pt x="1112" y="6231"/>
                    </a:cubicBezTo>
                    <a:cubicBezTo>
                      <a:pt x="1062" y="6182"/>
                      <a:pt x="1012" y="6133"/>
                      <a:pt x="965" y="6082"/>
                    </a:cubicBezTo>
                    <a:cubicBezTo>
                      <a:pt x="907" y="6017"/>
                      <a:pt x="852" y="5951"/>
                      <a:pt x="798" y="5883"/>
                    </a:cubicBezTo>
                    <a:cubicBezTo>
                      <a:pt x="740" y="5810"/>
                      <a:pt x="683" y="5735"/>
                      <a:pt x="629" y="5658"/>
                    </a:cubicBezTo>
                    <a:cubicBezTo>
                      <a:pt x="585" y="5595"/>
                      <a:pt x="545" y="5529"/>
                      <a:pt x="506" y="5462"/>
                    </a:cubicBezTo>
                    <a:cubicBezTo>
                      <a:pt x="456" y="5374"/>
                      <a:pt x="407" y="5285"/>
                      <a:pt x="362" y="5195"/>
                    </a:cubicBezTo>
                    <a:cubicBezTo>
                      <a:pt x="328" y="5126"/>
                      <a:pt x="300" y="5054"/>
                      <a:pt x="272" y="4982"/>
                    </a:cubicBezTo>
                    <a:cubicBezTo>
                      <a:pt x="238" y="4895"/>
                      <a:pt x="202" y="4808"/>
                      <a:pt x="175" y="4719"/>
                    </a:cubicBezTo>
                    <a:cubicBezTo>
                      <a:pt x="142" y="4611"/>
                      <a:pt x="114" y="4500"/>
                      <a:pt x="88" y="4390"/>
                    </a:cubicBezTo>
                    <a:cubicBezTo>
                      <a:pt x="69" y="4309"/>
                      <a:pt x="55" y="4227"/>
                      <a:pt x="43" y="4144"/>
                    </a:cubicBezTo>
                    <a:cubicBezTo>
                      <a:pt x="30" y="4054"/>
                      <a:pt x="20" y="3962"/>
                      <a:pt x="13" y="3871"/>
                    </a:cubicBezTo>
                    <a:cubicBezTo>
                      <a:pt x="6" y="3775"/>
                      <a:pt x="0" y="3678"/>
                      <a:pt x="2" y="3581"/>
                    </a:cubicBezTo>
                    <a:cubicBezTo>
                      <a:pt x="4" y="3466"/>
                      <a:pt x="13" y="3350"/>
                      <a:pt x="22" y="3235"/>
                    </a:cubicBezTo>
                    <a:cubicBezTo>
                      <a:pt x="28" y="3160"/>
                      <a:pt x="38" y="3086"/>
                      <a:pt x="50" y="3013"/>
                    </a:cubicBezTo>
                    <a:cubicBezTo>
                      <a:pt x="63" y="2936"/>
                      <a:pt x="79" y="2859"/>
                      <a:pt x="98" y="2783"/>
                    </a:cubicBezTo>
                    <a:cubicBezTo>
                      <a:pt x="123" y="2683"/>
                      <a:pt x="148" y="2582"/>
                      <a:pt x="182" y="2485"/>
                    </a:cubicBezTo>
                    <a:cubicBezTo>
                      <a:pt x="227" y="2359"/>
                      <a:pt x="277" y="2235"/>
                      <a:pt x="331" y="2112"/>
                    </a:cubicBezTo>
                    <a:cubicBezTo>
                      <a:pt x="371" y="2021"/>
                      <a:pt x="417" y="1931"/>
                      <a:pt x="466" y="1843"/>
                    </a:cubicBezTo>
                    <a:cubicBezTo>
                      <a:pt x="562" y="1671"/>
                      <a:pt x="669" y="1505"/>
                      <a:pt x="796" y="1354"/>
                    </a:cubicBezTo>
                    <a:cubicBezTo>
                      <a:pt x="864" y="1273"/>
                      <a:pt x="932" y="1189"/>
                      <a:pt x="1006" y="1114"/>
                    </a:cubicBezTo>
                    <a:cubicBezTo>
                      <a:pt x="1101" y="1018"/>
                      <a:pt x="1200" y="925"/>
                      <a:pt x="1304" y="839"/>
                    </a:cubicBezTo>
                    <a:cubicBezTo>
                      <a:pt x="1401" y="757"/>
                      <a:pt x="1504" y="683"/>
                      <a:pt x="1608" y="610"/>
                    </a:cubicBezTo>
                    <a:cubicBezTo>
                      <a:pt x="1678" y="560"/>
                      <a:pt x="1753" y="516"/>
                      <a:pt x="1828" y="476"/>
                    </a:cubicBezTo>
                    <a:cubicBezTo>
                      <a:pt x="1952" y="410"/>
                      <a:pt x="2076" y="346"/>
                      <a:pt x="2203" y="288"/>
                    </a:cubicBezTo>
                    <a:cubicBezTo>
                      <a:pt x="2328" y="231"/>
                      <a:pt x="2457" y="185"/>
                      <a:pt x="2590" y="150"/>
                    </a:cubicBezTo>
                    <a:cubicBezTo>
                      <a:pt x="2708" y="119"/>
                      <a:pt x="2826" y="91"/>
                      <a:pt x="2945" y="66"/>
                    </a:cubicBezTo>
                    <a:cubicBezTo>
                      <a:pt x="3027" y="49"/>
                      <a:pt x="3110" y="37"/>
                      <a:pt x="3193" y="28"/>
                    </a:cubicBezTo>
                    <a:cubicBezTo>
                      <a:pt x="3303" y="16"/>
                      <a:pt x="3413" y="6"/>
                      <a:pt x="3524" y="3"/>
                    </a:cubicBezTo>
                    <a:cubicBezTo>
                      <a:pt x="3637" y="0"/>
                      <a:pt x="3750" y="2"/>
                      <a:pt x="3863" y="8"/>
                    </a:cubicBezTo>
                    <a:cubicBezTo>
                      <a:pt x="3950" y="12"/>
                      <a:pt x="4038" y="22"/>
                      <a:pt x="4125" y="36"/>
                    </a:cubicBezTo>
                    <a:cubicBezTo>
                      <a:pt x="4233" y="52"/>
                      <a:pt x="4341" y="72"/>
                      <a:pt x="4448" y="96"/>
                    </a:cubicBezTo>
                    <a:cubicBezTo>
                      <a:pt x="4537" y="116"/>
                      <a:pt x="4625" y="140"/>
                      <a:pt x="4711" y="168"/>
                    </a:cubicBezTo>
                    <a:cubicBezTo>
                      <a:pt x="4820" y="204"/>
                      <a:pt x="4929" y="242"/>
                      <a:pt x="5035" y="286"/>
                    </a:cubicBezTo>
                    <a:cubicBezTo>
                      <a:pt x="5206" y="356"/>
                      <a:pt x="5368" y="444"/>
                      <a:pt x="5526" y="541"/>
                    </a:cubicBezTo>
                    <a:cubicBezTo>
                      <a:pt x="5649" y="617"/>
                      <a:pt x="5769" y="699"/>
                      <a:pt x="5879" y="794"/>
                    </a:cubicBezTo>
                    <a:cubicBezTo>
                      <a:pt x="5979" y="882"/>
                      <a:pt x="6081" y="968"/>
                      <a:pt x="6176" y="1061"/>
                    </a:cubicBezTo>
                    <a:cubicBezTo>
                      <a:pt x="6252" y="1136"/>
                      <a:pt x="6321" y="1219"/>
                      <a:pt x="6391" y="1299"/>
                    </a:cubicBezTo>
                    <a:cubicBezTo>
                      <a:pt x="6512" y="1438"/>
                      <a:pt x="6614" y="1590"/>
                      <a:pt x="6710" y="1745"/>
                    </a:cubicBezTo>
                    <a:cubicBezTo>
                      <a:pt x="6811" y="1909"/>
                      <a:pt x="6896" y="2081"/>
                      <a:pt x="6967" y="2260"/>
                    </a:cubicBezTo>
                    <a:cubicBezTo>
                      <a:pt x="6992" y="2325"/>
                      <a:pt x="7019" y="2389"/>
                      <a:pt x="7042" y="2455"/>
                    </a:cubicBezTo>
                    <a:cubicBezTo>
                      <a:pt x="7085" y="2580"/>
                      <a:pt x="7120" y="2707"/>
                      <a:pt x="7148" y="2836"/>
                    </a:cubicBezTo>
                    <a:cubicBezTo>
                      <a:pt x="7176" y="2966"/>
                      <a:pt x="7197" y="3097"/>
                      <a:pt x="7211" y="3230"/>
                    </a:cubicBezTo>
                    <a:cubicBezTo>
                      <a:pt x="7227" y="3378"/>
                      <a:pt x="7237" y="3526"/>
                      <a:pt x="7234" y="3675"/>
                    </a:cubicBezTo>
                    <a:cubicBezTo>
                      <a:pt x="7231" y="3792"/>
                      <a:pt x="7222" y="3910"/>
                      <a:pt x="7212" y="4027"/>
                    </a:cubicBezTo>
                    <a:cubicBezTo>
                      <a:pt x="7200" y="4189"/>
                      <a:pt x="7171" y="4349"/>
                      <a:pt x="7130" y="4505"/>
                    </a:cubicBezTo>
                    <a:cubicBezTo>
                      <a:pt x="7098" y="4631"/>
                      <a:pt x="7059" y="4756"/>
                      <a:pt x="7016" y="4879"/>
                    </a:cubicBezTo>
                    <a:cubicBezTo>
                      <a:pt x="6984" y="4971"/>
                      <a:pt x="6939" y="5058"/>
                      <a:pt x="6904" y="5149"/>
                    </a:cubicBezTo>
                    <a:cubicBezTo>
                      <a:pt x="6869" y="5240"/>
                      <a:pt x="6825" y="5327"/>
                      <a:pt x="6775" y="5412"/>
                    </a:cubicBezTo>
                    <a:cubicBezTo>
                      <a:pt x="6703" y="5534"/>
                      <a:pt x="6630" y="5656"/>
                      <a:pt x="6545" y="5771"/>
                    </a:cubicBezTo>
                    <a:cubicBezTo>
                      <a:pt x="6447" y="5905"/>
                      <a:pt x="6341" y="6032"/>
                      <a:pt x="6226" y="6152"/>
                    </a:cubicBezTo>
                    <a:cubicBezTo>
                      <a:pt x="6120" y="6263"/>
                      <a:pt x="6009" y="6368"/>
                      <a:pt x="5888" y="6463"/>
                    </a:cubicBezTo>
                    <a:cubicBezTo>
                      <a:pt x="5756" y="6567"/>
                      <a:pt x="5621" y="6665"/>
                      <a:pt x="5477" y="6751"/>
                    </a:cubicBezTo>
                    <a:cubicBezTo>
                      <a:pt x="5298" y="6858"/>
                      <a:pt x="5111" y="6949"/>
                      <a:pt x="4916" y="7021"/>
                    </a:cubicBezTo>
                    <a:cubicBezTo>
                      <a:pt x="4819" y="7057"/>
                      <a:pt x="4722" y="7092"/>
                      <a:pt x="4623" y="7120"/>
                    </a:cubicBezTo>
                    <a:cubicBezTo>
                      <a:pt x="4518" y="7149"/>
                      <a:pt x="4411" y="7173"/>
                      <a:pt x="4304" y="7192"/>
                    </a:cubicBezTo>
                    <a:cubicBezTo>
                      <a:pt x="4188" y="7213"/>
                      <a:pt x="4071" y="7231"/>
                      <a:pt x="3954" y="7241"/>
                    </a:cubicBezTo>
                    <a:cubicBezTo>
                      <a:pt x="3819" y="7252"/>
                      <a:pt x="3684" y="7254"/>
                      <a:pt x="3548" y="7259"/>
                    </a:cubicBezTo>
                    <a:close/>
                    <a:moveTo>
                      <a:pt x="3623" y="7117"/>
                    </a:moveTo>
                    <a:cubicBezTo>
                      <a:pt x="3624" y="7115"/>
                      <a:pt x="3624" y="7113"/>
                      <a:pt x="3624" y="7111"/>
                    </a:cubicBezTo>
                    <a:cubicBezTo>
                      <a:pt x="3648" y="7111"/>
                      <a:pt x="3672" y="7112"/>
                      <a:pt x="3696" y="7111"/>
                    </a:cubicBezTo>
                    <a:cubicBezTo>
                      <a:pt x="3773" y="7107"/>
                      <a:pt x="3850" y="7104"/>
                      <a:pt x="3927" y="7098"/>
                    </a:cubicBezTo>
                    <a:cubicBezTo>
                      <a:pt x="3976" y="7095"/>
                      <a:pt x="4025" y="7091"/>
                      <a:pt x="4074" y="7084"/>
                    </a:cubicBezTo>
                    <a:cubicBezTo>
                      <a:pt x="4160" y="7071"/>
                      <a:pt x="4246" y="7057"/>
                      <a:pt x="4331" y="7040"/>
                    </a:cubicBezTo>
                    <a:cubicBezTo>
                      <a:pt x="4424" y="7020"/>
                      <a:pt x="4517" y="6998"/>
                      <a:pt x="4608" y="6973"/>
                    </a:cubicBezTo>
                    <a:cubicBezTo>
                      <a:pt x="4686" y="6951"/>
                      <a:pt x="4763" y="6925"/>
                      <a:pt x="4838" y="6897"/>
                    </a:cubicBezTo>
                    <a:cubicBezTo>
                      <a:pt x="4928" y="6862"/>
                      <a:pt x="5018" y="6825"/>
                      <a:pt x="5107" y="6785"/>
                    </a:cubicBezTo>
                    <a:cubicBezTo>
                      <a:pt x="5262" y="6714"/>
                      <a:pt x="5409" y="6627"/>
                      <a:pt x="5551" y="6532"/>
                    </a:cubicBezTo>
                    <a:cubicBezTo>
                      <a:pt x="5674" y="6450"/>
                      <a:pt x="5794" y="6363"/>
                      <a:pt x="5903" y="6264"/>
                    </a:cubicBezTo>
                    <a:cubicBezTo>
                      <a:pt x="6009" y="6168"/>
                      <a:pt x="6114" y="6070"/>
                      <a:pt x="6208" y="5962"/>
                    </a:cubicBezTo>
                    <a:cubicBezTo>
                      <a:pt x="6260" y="5902"/>
                      <a:pt x="6312" y="5842"/>
                      <a:pt x="6359" y="5779"/>
                    </a:cubicBezTo>
                    <a:cubicBezTo>
                      <a:pt x="6420" y="5699"/>
                      <a:pt x="6477" y="5618"/>
                      <a:pt x="6533" y="5535"/>
                    </a:cubicBezTo>
                    <a:cubicBezTo>
                      <a:pt x="6577" y="5469"/>
                      <a:pt x="6618" y="5401"/>
                      <a:pt x="6656" y="5332"/>
                    </a:cubicBezTo>
                    <a:cubicBezTo>
                      <a:pt x="6693" y="5264"/>
                      <a:pt x="6726" y="5194"/>
                      <a:pt x="6758" y="5124"/>
                    </a:cubicBezTo>
                    <a:cubicBezTo>
                      <a:pt x="6797" y="5038"/>
                      <a:pt x="6837" y="4952"/>
                      <a:pt x="6871" y="4864"/>
                    </a:cubicBezTo>
                    <a:cubicBezTo>
                      <a:pt x="6902" y="4784"/>
                      <a:pt x="6928" y="4702"/>
                      <a:pt x="6953" y="4620"/>
                    </a:cubicBezTo>
                    <a:cubicBezTo>
                      <a:pt x="6996" y="4482"/>
                      <a:pt x="7028" y="4341"/>
                      <a:pt x="7048" y="4198"/>
                    </a:cubicBezTo>
                    <a:cubicBezTo>
                      <a:pt x="7065" y="4080"/>
                      <a:pt x="7077" y="3962"/>
                      <a:pt x="7087" y="3843"/>
                    </a:cubicBezTo>
                    <a:cubicBezTo>
                      <a:pt x="7102" y="3650"/>
                      <a:pt x="7094" y="3457"/>
                      <a:pt x="7074" y="3264"/>
                    </a:cubicBezTo>
                    <a:cubicBezTo>
                      <a:pt x="7061" y="3134"/>
                      <a:pt x="7040" y="3005"/>
                      <a:pt x="7012" y="2876"/>
                    </a:cubicBezTo>
                    <a:cubicBezTo>
                      <a:pt x="6983" y="2741"/>
                      <a:pt x="6947" y="2607"/>
                      <a:pt x="6901" y="2477"/>
                    </a:cubicBezTo>
                    <a:cubicBezTo>
                      <a:pt x="6846" y="2317"/>
                      <a:pt x="6774" y="2165"/>
                      <a:pt x="6698" y="2015"/>
                    </a:cubicBezTo>
                    <a:cubicBezTo>
                      <a:pt x="6622" y="1863"/>
                      <a:pt x="6530" y="1721"/>
                      <a:pt x="6431" y="1584"/>
                    </a:cubicBezTo>
                    <a:cubicBezTo>
                      <a:pt x="6378" y="1510"/>
                      <a:pt x="6320" y="1438"/>
                      <a:pt x="6261" y="1368"/>
                    </a:cubicBezTo>
                    <a:cubicBezTo>
                      <a:pt x="6194" y="1290"/>
                      <a:pt x="6124" y="1215"/>
                      <a:pt x="6053" y="1141"/>
                    </a:cubicBezTo>
                    <a:cubicBezTo>
                      <a:pt x="6006" y="1092"/>
                      <a:pt x="5956" y="1046"/>
                      <a:pt x="5904" y="1002"/>
                    </a:cubicBezTo>
                    <a:cubicBezTo>
                      <a:pt x="5832" y="940"/>
                      <a:pt x="5759" y="879"/>
                      <a:pt x="5683" y="822"/>
                    </a:cubicBezTo>
                    <a:cubicBezTo>
                      <a:pt x="5581" y="746"/>
                      <a:pt x="5475" y="676"/>
                      <a:pt x="5365" y="612"/>
                    </a:cubicBezTo>
                    <a:cubicBezTo>
                      <a:pt x="5230" y="534"/>
                      <a:pt x="5090" y="466"/>
                      <a:pt x="4946" y="405"/>
                    </a:cubicBezTo>
                    <a:cubicBezTo>
                      <a:pt x="4813" y="349"/>
                      <a:pt x="4678" y="301"/>
                      <a:pt x="4538" y="265"/>
                    </a:cubicBezTo>
                    <a:cubicBezTo>
                      <a:pt x="4455" y="244"/>
                      <a:pt x="4372" y="224"/>
                      <a:pt x="4287" y="209"/>
                    </a:cubicBezTo>
                    <a:cubicBezTo>
                      <a:pt x="4179" y="189"/>
                      <a:pt x="4070" y="170"/>
                      <a:pt x="3960" y="159"/>
                    </a:cubicBezTo>
                    <a:cubicBezTo>
                      <a:pt x="3853" y="148"/>
                      <a:pt x="3745" y="143"/>
                      <a:pt x="3637" y="144"/>
                    </a:cubicBezTo>
                    <a:cubicBezTo>
                      <a:pt x="3515" y="145"/>
                      <a:pt x="3392" y="151"/>
                      <a:pt x="3270" y="163"/>
                    </a:cubicBezTo>
                    <a:cubicBezTo>
                      <a:pt x="3162" y="173"/>
                      <a:pt x="3054" y="192"/>
                      <a:pt x="2947" y="211"/>
                    </a:cubicBezTo>
                    <a:cubicBezTo>
                      <a:pt x="2820" y="232"/>
                      <a:pt x="2697" y="265"/>
                      <a:pt x="2575" y="304"/>
                    </a:cubicBezTo>
                    <a:cubicBezTo>
                      <a:pt x="2440" y="347"/>
                      <a:pt x="2308" y="399"/>
                      <a:pt x="2179" y="457"/>
                    </a:cubicBezTo>
                    <a:cubicBezTo>
                      <a:pt x="2047" y="517"/>
                      <a:pt x="1919" y="584"/>
                      <a:pt x="1796" y="660"/>
                    </a:cubicBezTo>
                    <a:cubicBezTo>
                      <a:pt x="1713" y="711"/>
                      <a:pt x="1632" y="765"/>
                      <a:pt x="1555" y="823"/>
                    </a:cubicBezTo>
                    <a:cubicBezTo>
                      <a:pt x="1408" y="932"/>
                      <a:pt x="1267" y="1048"/>
                      <a:pt x="1142" y="1182"/>
                    </a:cubicBezTo>
                    <a:cubicBezTo>
                      <a:pt x="1064" y="1265"/>
                      <a:pt x="987" y="1349"/>
                      <a:pt x="915" y="1437"/>
                    </a:cubicBezTo>
                    <a:cubicBezTo>
                      <a:pt x="858" y="1506"/>
                      <a:pt x="805" y="1579"/>
                      <a:pt x="754" y="1653"/>
                    </a:cubicBezTo>
                    <a:cubicBezTo>
                      <a:pt x="705" y="1725"/>
                      <a:pt x="655" y="1797"/>
                      <a:pt x="613" y="1873"/>
                    </a:cubicBezTo>
                    <a:cubicBezTo>
                      <a:pt x="549" y="1992"/>
                      <a:pt x="487" y="2114"/>
                      <a:pt x="432" y="2238"/>
                    </a:cubicBezTo>
                    <a:cubicBezTo>
                      <a:pt x="381" y="2354"/>
                      <a:pt x="337" y="2474"/>
                      <a:pt x="298" y="2594"/>
                    </a:cubicBezTo>
                    <a:cubicBezTo>
                      <a:pt x="251" y="2739"/>
                      <a:pt x="217" y="2887"/>
                      <a:pt x="192" y="3036"/>
                    </a:cubicBezTo>
                    <a:cubicBezTo>
                      <a:pt x="169" y="3172"/>
                      <a:pt x="154" y="3308"/>
                      <a:pt x="148" y="3445"/>
                    </a:cubicBezTo>
                    <a:cubicBezTo>
                      <a:pt x="140" y="3623"/>
                      <a:pt x="146" y="3800"/>
                      <a:pt x="165" y="3976"/>
                    </a:cubicBezTo>
                    <a:cubicBezTo>
                      <a:pt x="179" y="4115"/>
                      <a:pt x="202" y="4253"/>
                      <a:pt x="233" y="4390"/>
                    </a:cubicBezTo>
                    <a:cubicBezTo>
                      <a:pt x="267" y="4538"/>
                      <a:pt x="307" y="4685"/>
                      <a:pt x="363" y="4828"/>
                    </a:cubicBezTo>
                    <a:cubicBezTo>
                      <a:pt x="408" y="4946"/>
                      <a:pt x="460" y="5063"/>
                      <a:pt x="515" y="5177"/>
                    </a:cubicBezTo>
                    <a:cubicBezTo>
                      <a:pt x="563" y="5274"/>
                      <a:pt x="619" y="5367"/>
                      <a:pt x="674" y="5460"/>
                    </a:cubicBezTo>
                    <a:cubicBezTo>
                      <a:pt x="786" y="5649"/>
                      <a:pt x="924" y="5820"/>
                      <a:pt x="1071" y="5983"/>
                    </a:cubicBezTo>
                    <a:cubicBezTo>
                      <a:pt x="1167" y="6091"/>
                      <a:pt x="1274" y="6190"/>
                      <a:pt x="1384" y="6284"/>
                    </a:cubicBezTo>
                    <a:cubicBezTo>
                      <a:pt x="1493" y="6377"/>
                      <a:pt x="1606" y="6464"/>
                      <a:pt x="1726" y="6540"/>
                    </a:cubicBezTo>
                    <a:cubicBezTo>
                      <a:pt x="1812" y="6596"/>
                      <a:pt x="1899" y="6649"/>
                      <a:pt x="1989" y="6699"/>
                    </a:cubicBezTo>
                    <a:cubicBezTo>
                      <a:pt x="2108" y="6764"/>
                      <a:pt x="2231" y="6822"/>
                      <a:pt x="2358" y="6871"/>
                    </a:cubicBezTo>
                    <a:cubicBezTo>
                      <a:pt x="2499" y="6925"/>
                      <a:pt x="2643" y="6972"/>
                      <a:pt x="2790" y="7007"/>
                    </a:cubicBezTo>
                    <a:cubicBezTo>
                      <a:pt x="2938" y="7043"/>
                      <a:pt x="3087" y="7074"/>
                      <a:pt x="3239" y="7088"/>
                    </a:cubicBezTo>
                    <a:cubicBezTo>
                      <a:pt x="3367" y="7099"/>
                      <a:pt x="3495" y="7108"/>
                      <a:pt x="3623" y="7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1" name="Freeform 266"/>
              <p:cNvSpPr>
                <a:spLocks noEditPoints="1"/>
              </p:cNvSpPr>
              <p:nvPr/>
            </p:nvSpPr>
            <p:spPr bwMode="auto">
              <a:xfrm>
                <a:off x="3824288" y="3717925"/>
                <a:ext cx="16533813" cy="16567150"/>
              </a:xfrm>
              <a:custGeom>
                <a:avLst/>
                <a:gdLst>
                  <a:gd name="T0" fmla="*/ 5209 w 5239"/>
                  <a:gd name="T1" fmla="*/ 3022 h 5248"/>
                  <a:gd name="T2" fmla="*/ 4920 w 5239"/>
                  <a:gd name="T3" fmla="*/ 3878 h 5248"/>
                  <a:gd name="T4" fmla="*/ 4549 w 5239"/>
                  <a:gd name="T5" fmla="*/ 4399 h 5248"/>
                  <a:gd name="T6" fmla="*/ 3904 w 5239"/>
                  <a:gd name="T7" fmla="*/ 4910 h 5248"/>
                  <a:gd name="T8" fmla="*/ 3121 w 5239"/>
                  <a:gd name="T9" fmla="*/ 5195 h 5248"/>
                  <a:gd name="T10" fmla="*/ 2441 w 5239"/>
                  <a:gd name="T11" fmla="*/ 5236 h 5248"/>
                  <a:gd name="T12" fmla="*/ 1721 w 5239"/>
                  <a:gd name="T13" fmla="*/ 5080 h 5248"/>
                  <a:gd name="T14" fmla="*/ 1034 w 5239"/>
                  <a:gd name="T15" fmla="*/ 4700 h 5248"/>
                  <a:gd name="T16" fmla="*/ 492 w 5239"/>
                  <a:gd name="T17" fmla="*/ 4145 h 5248"/>
                  <a:gd name="T18" fmla="*/ 210 w 5239"/>
                  <a:gd name="T19" fmla="*/ 3644 h 5248"/>
                  <a:gd name="T20" fmla="*/ 31 w 5239"/>
                  <a:gd name="T21" fmla="*/ 3014 h 5248"/>
                  <a:gd name="T22" fmla="*/ 4 w 5239"/>
                  <a:gd name="T23" fmla="*/ 2472 h 5248"/>
                  <a:gd name="T24" fmla="*/ 74 w 5239"/>
                  <a:gd name="T25" fmla="*/ 1991 h 5248"/>
                  <a:gd name="T26" fmla="*/ 259 w 5239"/>
                  <a:gd name="T27" fmla="*/ 1484 h 5248"/>
                  <a:gd name="T28" fmla="*/ 795 w 5239"/>
                  <a:gd name="T29" fmla="*/ 739 h 5248"/>
                  <a:gd name="T30" fmla="*/ 1556 w 5239"/>
                  <a:gd name="T31" fmla="*/ 230 h 5248"/>
                  <a:gd name="T32" fmla="*/ 2103 w 5239"/>
                  <a:gd name="T33" fmla="*/ 56 h 5248"/>
                  <a:gd name="T34" fmla="*/ 2871 w 5239"/>
                  <a:gd name="T35" fmla="*/ 17 h 5248"/>
                  <a:gd name="T36" fmla="*/ 3650 w 5239"/>
                  <a:gd name="T37" fmla="*/ 217 h 5248"/>
                  <a:gd name="T38" fmla="*/ 4493 w 5239"/>
                  <a:gd name="T39" fmla="*/ 795 h 5248"/>
                  <a:gd name="T40" fmla="*/ 4999 w 5239"/>
                  <a:gd name="T41" fmla="*/ 1530 h 5248"/>
                  <a:gd name="T42" fmla="*/ 5178 w 5239"/>
                  <a:gd name="T43" fmla="*/ 2072 h 5248"/>
                  <a:gd name="T44" fmla="*/ 5239 w 5239"/>
                  <a:gd name="T45" fmla="*/ 2633 h 5248"/>
                  <a:gd name="T46" fmla="*/ 97 w 5239"/>
                  <a:gd name="T47" fmla="*/ 2599 h 5248"/>
                  <a:gd name="T48" fmla="*/ 124 w 5239"/>
                  <a:gd name="T49" fmla="*/ 3000 h 5248"/>
                  <a:gd name="T50" fmla="*/ 254 w 5239"/>
                  <a:gd name="T51" fmla="*/ 3501 h 5248"/>
                  <a:gd name="T52" fmla="*/ 611 w 5239"/>
                  <a:gd name="T53" fmla="*/ 4147 h 5248"/>
                  <a:gd name="T54" fmla="*/ 1084 w 5239"/>
                  <a:gd name="T55" fmla="*/ 4623 h 5248"/>
                  <a:gd name="T56" fmla="*/ 1780 w 5239"/>
                  <a:gd name="T57" fmla="*/ 5001 h 5248"/>
                  <a:gd name="T58" fmla="*/ 2336 w 5239"/>
                  <a:gd name="T59" fmla="*/ 5130 h 5248"/>
                  <a:gd name="T60" fmla="*/ 2749 w 5239"/>
                  <a:gd name="T61" fmla="*/ 5145 h 5248"/>
                  <a:gd name="T62" fmla="*/ 3382 w 5239"/>
                  <a:gd name="T63" fmla="*/ 5035 h 5248"/>
                  <a:gd name="T64" fmla="*/ 4047 w 5239"/>
                  <a:gd name="T65" fmla="*/ 4710 h 5248"/>
                  <a:gd name="T66" fmla="*/ 4551 w 5239"/>
                  <a:gd name="T67" fmla="*/ 4253 h 5248"/>
                  <a:gd name="T68" fmla="*/ 4814 w 5239"/>
                  <a:gd name="T69" fmla="*/ 3876 h 5248"/>
                  <a:gd name="T70" fmla="*/ 5036 w 5239"/>
                  <a:gd name="T71" fmla="*/ 3359 h 5248"/>
                  <a:gd name="T72" fmla="*/ 5142 w 5239"/>
                  <a:gd name="T73" fmla="*/ 2730 h 5248"/>
                  <a:gd name="T74" fmla="*/ 5111 w 5239"/>
                  <a:gd name="T75" fmla="*/ 2218 h 5248"/>
                  <a:gd name="T76" fmla="*/ 4943 w 5239"/>
                  <a:gd name="T77" fmla="*/ 1631 h 5248"/>
                  <a:gd name="T78" fmla="*/ 4411 w 5239"/>
                  <a:gd name="T79" fmla="*/ 845 h 5248"/>
                  <a:gd name="T80" fmla="*/ 3840 w 5239"/>
                  <a:gd name="T81" fmla="*/ 412 h 5248"/>
                  <a:gd name="T82" fmla="*/ 3095 w 5239"/>
                  <a:gd name="T83" fmla="*/ 142 h 5248"/>
                  <a:gd name="T84" fmla="*/ 2344 w 5239"/>
                  <a:gd name="T85" fmla="*/ 111 h 5248"/>
                  <a:gd name="T86" fmla="*/ 1663 w 5239"/>
                  <a:gd name="T87" fmla="*/ 286 h 5248"/>
                  <a:gd name="T88" fmla="*/ 943 w 5239"/>
                  <a:gd name="T89" fmla="*/ 730 h 5248"/>
                  <a:gd name="T90" fmla="*/ 441 w 5239"/>
                  <a:gd name="T91" fmla="*/ 1339 h 5248"/>
                  <a:gd name="T92" fmla="*/ 105 w 5239"/>
                  <a:gd name="T93" fmla="*/ 2357 h 5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239" h="5248">
                    <a:moveTo>
                      <a:pt x="5239" y="2633"/>
                    </a:moveTo>
                    <a:cubicBezTo>
                      <a:pt x="5238" y="2764"/>
                      <a:pt x="5228" y="2893"/>
                      <a:pt x="5209" y="3022"/>
                    </a:cubicBezTo>
                    <a:cubicBezTo>
                      <a:pt x="5180" y="3207"/>
                      <a:pt x="5134" y="3388"/>
                      <a:pt x="5066" y="3563"/>
                    </a:cubicBezTo>
                    <a:cubicBezTo>
                      <a:pt x="5023" y="3671"/>
                      <a:pt x="4978" y="3778"/>
                      <a:pt x="4920" y="3878"/>
                    </a:cubicBezTo>
                    <a:cubicBezTo>
                      <a:pt x="4868" y="3967"/>
                      <a:pt x="4807" y="4051"/>
                      <a:pt x="4753" y="4139"/>
                    </a:cubicBezTo>
                    <a:cubicBezTo>
                      <a:pt x="4696" y="4234"/>
                      <a:pt x="4624" y="4318"/>
                      <a:pt x="4549" y="4399"/>
                    </a:cubicBezTo>
                    <a:cubicBezTo>
                      <a:pt x="4461" y="4492"/>
                      <a:pt x="4370" y="4582"/>
                      <a:pt x="4270" y="4661"/>
                    </a:cubicBezTo>
                    <a:cubicBezTo>
                      <a:pt x="4154" y="4753"/>
                      <a:pt x="4032" y="4837"/>
                      <a:pt x="3904" y="4910"/>
                    </a:cubicBezTo>
                    <a:cubicBezTo>
                      <a:pt x="3758" y="4993"/>
                      <a:pt x="3606" y="5062"/>
                      <a:pt x="3445" y="5110"/>
                    </a:cubicBezTo>
                    <a:cubicBezTo>
                      <a:pt x="3338" y="5143"/>
                      <a:pt x="3230" y="5172"/>
                      <a:pt x="3121" y="5195"/>
                    </a:cubicBezTo>
                    <a:cubicBezTo>
                      <a:pt x="3031" y="5213"/>
                      <a:pt x="2938" y="5222"/>
                      <a:pt x="2846" y="5233"/>
                    </a:cubicBezTo>
                    <a:cubicBezTo>
                      <a:pt x="2711" y="5248"/>
                      <a:pt x="2576" y="5245"/>
                      <a:pt x="2441" y="5236"/>
                    </a:cubicBezTo>
                    <a:cubicBezTo>
                      <a:pt x="2327" y="5228"/>
                      <a:pt x="2214" y="5212"/>
                      <a:pt x="2101" y="5189"/>
                    </a:cubicBezTo>
                    <a:cubicBezTo>
                      <a:pt x="1972" y="5162"/>
                      <a:pt x="1844" y="5128"/>
                      <a:pt x="1721" y="5080"/>
                    </a:cubicBezTo>
                    <a:cubicBezTo>
                      <a:pt x="1620" y="5041"/>
                      <a:pt x="1521" y="4997"/>
                      <a:pt x="1424" y="4948"/>
                    </a:cubicBezTo>
                    <a:cubicBezTo>
                      <a:pt x="1286" y="4878"/>
                      <a:pt x="1156" y="4796"/>
                      <a:pt x="1034" y="4700"/>
                    </a:cubicBezTo>
                    <a:cubicBezTo>
                      <a:pt x="959" y="4642"/>
                      <a:pt x="886" y="4581"/>
                      <a:pt x="817" y="4516"/>
                    </a:cubicBezTo>
                    <a:cubicBezTo>
                      <a:pt x="697" y="4403"/>
                      <a:pt x="588" y="4279"/>
                      <a:pt x="492" y="4145"/>
                    </a:cubicBezTo>
                    <a:cubicBezTo>
                      <a:pt x="429" y="4058"/>
                      <a:pt x="374" y="3964"/>
                      <a:pt x="320" y="3870"/>
                    </a:cubicBezTo>
                    <a:cubicBezTo>
                      <a:pt x="279" y="3797"/>
                      <a:pt x="240" y="3721"/>
                      <a:pt x="210" y="3644"/>
                    </a:cubicBezTo>
                    <a:cubicBezTo>
                      <a:pt x="166" y="3532"/>
                      <a:pt x="126" y="3418"/>
                      <a:pt x="92" y="3302"/>
                    </a:cubicBezTo>
                    <a:cubicBezTo>
                      <a:pt x="65" y="3208"/>
                      <a:pt x="48" y="3110"/>
                      <a:pt x="31" y="3014"/>
                    </a:cubicBezTo>
                    <a:cubicBezTo>
                      <a:pt x="19" y="2942"/>
                      <a:pt x="11" y="2868"/>
                      <a:pt x="8" y="2795"/>
                    </a:cubicBezTo>
                    <a:cubicBezTo>
                      <a:pt x="3" y="2688"/>
                      <a:pt x="0" y="2580"/>
                      <a:pt x="4" y="2472"/>
                    </a:cubicBezTo>
                    <a:cubicBezTo>
                      <a:pt x="7" y="2382"/>
                      <a:pt x="20" y="2292"/>
                      <a:pt x="32" y="2202"/>
                    </a:cubicBezTo>
                    <a:cubicBezTo>
                      <a:pt x="43" y="2131"/>
                      <a:pt x="57" y="2061"/>
                      <a:pt x="74" y="1991"/>
                    </a:cubicBezTo>
                    <a:cubicBezTo>
                      <a:pt x="93" y="1916"/>
                      <a:pt x="114" y="1840"/>
                      <a:pt x="141" y="1768"/>
                    </a:cubicBezTo>
                    <a:cubicBezTo>
                      <a:pt x="177" y="1672"/>
                      <a:pt x="215" y="1576"/>
                      <a:pt x="259" y="1484"/>
                    </a:cubicBezTo>
                    <a:cubicBezTo>
                      <a:pt x="338" y="1319"/>
                      <a:pt x="431" y="1162"/>
                      <a:pt x="545" y="1019"/>
                    </a:cubicBezTo>
                    <a:cubicBezTo>
                      <a:pt x="623" y="921"/>
                      <a:pt x="704" y="826"/>
                      <a:pt x="795" y="739"/>
                    </a:cubicBezTo>
                    <a:cubicBezTo>
                      <a:pt x="909" y="631"/>
                      <a:pt x="1030" y="530"/>
                      <a:pt x="1162" y="444"/>
                    </a:cubicBezTo>
                    <a:cubicBezTo>
                      <a:pt x="1287" y="362"/>
                      <a:pt x="1418" y="289"/>
                      <a:pt x="1556" y="230"/>
                    </a:cubicBezTo>
                    <a:cubicBezTo>
                      <a:pt x="1625" y="201"/>
                      <a:pt x="1694" y="169"/>
                      <a:pt x="1765" y="146"/>
                    </a:cubicBezTo>
                    <a:cubicBezTo>
                      <a:pt x="1876" y="112"/>
                      <a:pt x="1989" y="82"/>
                      <a:pt x="2103" y="56"/>
                    </a:cubicBezTo>
                    <a:cubicBezTo>
                      <a:pt x="2226" y="28"/>
                      <a:pt x="2352" y="15"/>
                      <a:pt x="2478" y="8"/>
                    </a:cubicBezTo>
                    <a:cubicBezTo>
                      <a:pt x="2609" y="0"/>
                      <a:pt x="2740" y="4"/>
                      <a:pt x="2871" y="17"/>
                    </a:cubicBezTo>
                    <a:cubicBezTo>
                      <a:pt x="3006" y="30"/>
                      <a:pt x="3139" y="53"/>
                      <a:pt x="3270" y="86"/>
                    </a:cubicBezTo>
                    <a:cubicBezTo>
                      <a:pt x="3400" y="119"/>
                      <a:pt x="3527" y="163"/>
                      <a:pt x="3650" y="217"/>
                    </a:cubicBezTo>
                    <a:cubicBezTo>
                      <a:pt x="3822" y="292"/>
                      <a:pt x="3985" y="381"/>
                      <a:pt x="4137" y="490"/>
                    </a:cubicBezTo>
                    <a:cubicBezTo>
                      <a:pt x="4264" y="582"/>
                      <a:pt x="4382" y="684"/>
                      <a:pt x="4493" y="795"/>
                    </a:cubicBezTo>
                    <a:cubicBezTo>
                      <a:pt x="4593" y="895"/>
                      <a:pt x="4681" y="1005"/>
                      <a:pt x="4762" y="1121"/>
                    </a:cubicBezTo>
                    <a:cubicBezTo>
                      <a:pt x="4852" y="1251"/>
                      <a:pt x="4934" y="1385"/>
                      <a:pt x="4999" y="1530"/>
                    </a:cubicBezTo>
                    <a:cubicBezTo>
                      <a:pt x="5047" y="1635"/>
                      <a:pt x="5090" y="1741"/>
                      <a:pt x="5120" y="1853"/>
                    </a:cubicBezTo>
                    <a:cubicBezTo>
                      <a:pt x="5141" y="1926"/>
                      <a:pt x="5162" y="1998"/>
                      <a:pt x="5178" y="2072"/>
                    </a:cubicBezTo>
                    <a:cubicBezTo>
                      <a:pt x="5208" y="2205"/>
                      <a:pt x="5225" y="2339"/>
                      <a:pt x="5233" y="2474"/>
                    </a:cubicBezTo>
                    <a:cubicBezTo>
                      <a:pt x="5236" y="2527"/>
                      <a:pt x="5237" y="2580"/>
                      <a:pt x="5239" y="2633"/>
                    </a:cubicBezTo>
                    <a:close/>
                    <a:moveTo>
                      <a:pt x="91" y="2598"/>
                    </a:moveTo>
                    <a:cubicBezTo>
                      <a:pt x="93" y="2598"/>
                      <a:pt x="95" y="2599"/>
                      <a:pt x="97" y="2599"/>
                    </a:cubicBezTo>
                    <a:cubicBezTo>
                      <a:pt x="97" y="2647"/>
                      <a:pt x="94" y="2696"/>
                      <a:pt x="98" y="2744"/>
                    </a:cubicBezTo>
                    <a:cubicBezTo>
                      <a:pt x="104" y="2830"/>
                      <a:pt x="110" y="2916"/>
                      <a:pt x="124" y="3000"/>
                    </a:cubicBezTo>
                    <a:cubicBezTo>
                      <a:pt x="141" y="3100"/>
                      <a:pt x="164" y="3198"/>
                      <a:pt x="189" y="3296"/>
                    </a:cubicBezTo>
                    <a:cubicBezTo>
                      <a:pt x="207" y="3366"/>
                      <a:pt x="229" y="3435"/>
                      <a:pt x="254" y="3501"/>
                    </a:cubicBezTo>
                    <a:cubicBezTo>
                      <a:pt x="304" y="3631"/>
                      <a:pt x="360" y="3757"/>
                      <a:pt x="431" y="3877"/>
                    </a:cubicBezTo>
                    <a:cubicBezTo>
                      <a:pt x="486" y="3970"/>
                      <a:pt x="543" y="4062"/>
                      <a:pt x="611" y="4147"/>
                    </a:cubicBezTo>
                    <a:cubicBezTo>
                      <a:pt x="652" y="4199"/>
                      <a:pt x="696" y="4249"/>
                      <a:pt x="740" y="4299"/>
                    </a:cubicBezTo>
                    <a:cubicBezTo>
                      <a:pt x="845" y="4418"/>
                      <a:pt x="958" y="4528"/>
                      <a:pt x="1084" y="4623"/>
                    </a:cubicBezTo>
                    <a:cubicBezTo>
                      <a:pt x="1140" y="4665"/>
                      <a:pt x="1199" y="4705"/>
                      <a:pt x="1258" y="4743"/>
                    </a:cubicBezTo>
                    <a:cubicBezTo>
                      <a:pt x="1422" y="4849"/>
                      <a:pt x="1595" y="4938"/>
                      <a:pt x="1780" y="5001"/>
                    </a:cubicBezTo>
                    <a:cubicBezTo>
                      <a:pt x="1872" y="5033"/>
                      <a:pt x="1966" y="5061"/>
                      <a:pt x="2061" y="5083"/>
                    </a:cubicBezTo>
                    <a:cubicBezTo>
                      <a:pt x="2152" y="5104"/>
                      <a:pt x="2244" y="5116"/>
                      <a:pt x="2336" y="5130"/>
                    </a:cubicBezTo>
                    <a:cubicBezTo>
                      <a:pt x="2392" y="5138"/>
                      <a:pt x="2447" y="5143"/>
                      <a:pt x="2503" y="5145"/>
                    </a:cubicBezTo>
                    <a:cubicBezTo>
                      <a:pt x="2585" y="5148"/>
                      <a:pt x="2667" y="5150"/>
                      <a:pt x="2749" y="5145"/>
                    </a:cubicBezTo>
                    <a:cubicBezTo>
                      <a:pt x="2846" y="5139"/>
                      <a:pt x="2944" y="5126"/>
                      <a:pt x="3040" y="5114"/>
                    </a:cubicBezTo>
                    <a:cubicBezTo>
                      <a:pt x="3157" y="5099"/>
                      <a:pt x="3270" y="5069"/>
                      <a:pt x="3382" y="5035"/>
                    </a:cubicBezTo>
                    <a:cubicBezTo>
                      <a:pt x="3517" y="4993"/>
                      <a:pt x="3646" y="4940"/>
                      <a:pt x="3771" y="4874"/>
                    </a:cubicBezTo>
                    <a:cubicBezTo>
                      <a:pt x="3866" y="4825"/>
                      <a:pt x="3958" y="4770"/>
                      <a:pt x="4047" y="4710"/>
                    </a:cubicBezTo>
                    <a:cubicBezTo>
                      <a:pt x="4157" y="4636"/>
                      <a:pt x="4262" y="4553"/>
                      <a:pt x="4356" y="4459"/>
                    </a:cubicBezTo>
                    <a:cubicBezTo>
                      <a:pt x="4423" y="4392"/>
                      <a:pt x="4490" y="4325"/>
                      <a:pt x="4551" y="4253"/>
                    </a:cubicBezTo>
                    <a:cubicBezTo>
                      <a:pt x="4596" y="4202"/>
                      <a:pt x="4634" y="4145"/>
                      <a:pt x="4673" y="4088"/>
                    </a:cubicBezTo>
                    <a:cubicBezTo>
                      <a:pt x="4722" y="4018"/>
                      <a:pt x="4772" y="3949"/>
                      <a:pt x="4814" y="3876"/>
                    </a:cubicBezTo>
                    <a:cubicBezTo>
                      <a:pt x="4855" y="3806"/>
                      <a:pt x="4892" y="3733"/>
                      <a:pt x="4924" y="3658"/>
                    </a:cubicBezTo>
                    <a:cubicBezTo>
                      <a:pt x="4965" y="3560"/>
                      <a:pt x="5005" y="3461"/>
                      <a:pt x="5036" y="3359"/>
                    </a:cubicBezTo>
                    <a:cubicBezTo>
                      <a:pt x="5066" y="3262"/>
                      <a:pt x="5085" y="3161"/>
                      <a:pt x="5107" y="3061"/>
                    </a:cubicBezTo>
                    <a:cubicBezTo>
                      <a:pt x="5131" y="2952"/>
                      <a:pt x="5139" y="2841"/>
                      <a:pt x="5142" y="2730"/>
                    </a:cubicBezTo>
                    <a:cubicBezTo>
                      <a:pt x="5144" y="2633"/>
                      <a:pt x="5142" y="2537"/>
                      <a:pt x="5137" y="2440"/>
                    </a:cubicBezTo>
                    <a:cubicBezTo>
                      <a:pt x="5132" y="2366"/>
                      <a:pt x="5123" y="2292"/>
                      <a:pt x="5111" y="2218"/>
                    </a:cubicBezTo>
                    <a:cubicBezTo>
                      <a:pt x="5100" y="2150"/>
                      <a:pt x="5085" y="2082"/>
                      <a:pt x="5069" y="2015"/>
                    </a:cubicBezTo>
                    <a:cubicBezTo>
                      <a:pt x="5039" y="1883"/>
                      <a:pt x="4997" y="1755"/>
                      <a:pt x="4943" y="1631"/>
                    </a:cubicBezTo>
                    <a:cubicBezTo>
                      <a:pt x="4884" y="1496"/>
                      <a:pt x="4817" y="1365"/>
                      <a:pt x="4733" y="1243"/>
                    </a:cubicBezTo>
                    <a:cubicBezTo>
                      <a:pt x="4636" y="1102"/>
                      <a:pt x="4532" y="967"/>
                      <a:pt x="4411" y="845"/>
                    </a:cubicBezTo>
                    <a:cubicBezTo>
                      <a:pt x="4332" y="765"/>
                      <a:pt x="4246" y="692"/>
                      <a:pt x="4157" y="623"/>
                    </a:cubicBezTo>
                    <a:cubicBezTo>
                      <a:pt x="4057" y="545"/>
                      <a:pt x="3951" y="474"/>
                      <a:pt x="3840" y="412"/>
                    </a:cubicBezTo>
                    <a:cubicBezTo>
                      <a:pt x="3727" y="350"/>
                      <a:pt x="3610" y="298"/>
                      <a:pt x="3489" y="254"/>
                    </a:cubicBezTo>
                    <a:cubicBezTo>
                      <a:pt x="3361" y="207"/>
                      <a:pt x="3230" y="169"/>
                      <a:pt x="3095" y="142"/>
                    </a:cubicBezTo>
                    <a:cubicBezTo>
                      <a:pt x="2975" y="119"/>
                      <a:pt x="2853" y="106"/>
                      <a:pt x="2731" y="99"/>
                    </a:cubicBezTo>
                    <a:cubicBezTo>
                      <a:pt x="2601" y="92"/>
                      <a:pt x="2472" y="98"/>
                      <a:pt x="2344" y="111"/>
                    </a:cubicBezTo>
                    <a:cubicBezTo>
                      <a:pt x="2233" y="123"/>
                      <a:pt x="2124" y="143"/>
                      <a:pt x="2016" y="171"/>
                    </a:cubicBezTo>
                    <a:cubicBezTo>
                      <a:pt x="1896" y="201"/>
                      <a:pt x="1778" y="239"/>
                      <a:pt x="1663" y="286"/>
                    </a:cubicBezTo>
                    <a:cubicBezTo>
                      <a:pt x="1525" y="342"/>
                      <a:pt x="1392" y="408"/>
                      <a:pt x="1266" y="489"/>
                    </a:cubicBezTo>
                    <a:cubicBezTo>
                      <a:pt x="1152" y="562"/>
                      <a:pt x="1045" y="643"/>
                      <a:pt x="943" y="730"/>
                    </a:cubicBezTo>
                    <a:cubicBezTo>
                      <a:pt x="853" y="808"/>
                      <a:pt x="771" y="893"/>
                      <a:pt x="694" y="984"/>
                    </a:cubicBezTo>
                    <a:cubicBezTo>
                      <a:pt x="600" y="1095"/>
                      <a:pt x="515" y="1213"/>
                      <a:pt x="441" y="1339"/>
                    </a:cubicBezTo>
                    <a:cubicBezTo>
                      <a:pt x="336" y="1520"/>
                      <a:pt x="253" y="1711"/>
                      <a:pt x="193" y="1911"/>
                    </a:cubicBezTo>
                    <a:cubicBezTo>
                      <a:pt x="149" y="2057"/>
                      <a:pt x="120" y="2206"/>
                      <a:pt x="105" y="2357"/>
                    </a:cubicBezTo>
                    <a:cubicBezTo>
                      <a:pt x="97" y="2437"/>
                      <a:pt x="95" y="2518"/>
                      <a:pt x="91" y="259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2" name="Freeform 267"/>
              <p:cNvSpPr/>
              <p:nvPr/>
            </p:nvSpPr>
            <p:spPr bwMode="auto">
              <a:xfrm>
                <a:off x="19042063" y="4886325"/>
                <a:ext cx="1951038" cy="1654175"/>
              </a:xfrm>
              <a:custGeom>
                <a:avLst/>
                <a:gdLst>
                  <a:gd name="T0" fmla="*/ 263 w 618"/>
                  <a:gd name="T1" fmla="*/ 182 h 524"/>
                  <a:gd name="T2" fmla="*/ 342 w 618"/>
                  <a:gd name="T3" fmla="*/ 112 h 524"/>
                  <a:gd name="T4" fmla="*/ 359 w 618"/>
                  <a:gd name="T5" fmla="*/ 92 h 524"/>
                  <a:gd name="T6" fmla="*/ 381 w 618"/>
                  <a:gd name="T7" fmla="*/ 73 h 524"/>
                  <a:gd name="T8" fmla="*/ 424 w 618"/>
                  <a:gd name="T9" fmla="*/ 69 h 524"/>
                  <a:gd name="T10" fmla="*/ 447 w 618"/>
                  <a:gd name="T11" fmla="*/ 92 h 524"/>
                  <a:gd name="T12" fmla="*/ 472 w 618"/>
                  <a:gd name="T13" fmla="*/ 138 h 524"/>
                  <a:gd name="T14" fmla="*/ 490 w 618"/>
                  <a:gd name="T15" fmla="*/ 165 h 524"/>
                  <a:gd name="T16" fmla="*/ 511 w 618"/>
                  <a:gd name="T17" fmla="*/ 189 h 524"/>
                  <a:gd name="T18" fmla="*/ 583 w 618"/>
                  <a:gd name="T19" fmla="*/ 222 h 524"/>
                  <a:gd name="T20" fmla="*/ 614 w 618"/>
                  <a:gd name="T21" fmla="*/ 286 h 524"/>
                  <a:gd name="T22" fmla="*/ 559 w 618"/>
                  <a:gd name="T23" fmla="*/ 330 h 524"/>
                  <a:gd name="T24" fmla="*/ 476 w 618"/>
                  <a:gd name="T25" fmla="*/ 332 h 524"/>
                  <a:gd name="T26" fmla="*/ 397 w 618"/>
                  <a:gd name="T27" fmla="*/ 312 h 524"/>
                  <a:gd name="T28" fmla="*/ 348 w 618"/>
                  <a:gd name="T29" fmla="*/ 312 h 524"/>
                  <a:gd name="T30" fmla="*/ 345 w 618"/>
                  <a:gd name="T31" fmla="*/ 332 h 524"/>
                  <a:gd name="T32" fmla="*/ 420 w 618"/>
                  <a:gd name="T33" fmla="*/ 415 h 524"/>
                  <a:gd name="T34" fmla="*/ 474 w 618"/>
                  <a:gd name="T35" fmla="*/ 492 h 524"/>
                  <a:gd name="T36" fmla="*/ 462 w 618"/>
                  <a:gd name="T37" fmla="*/ 513 h 524"/>
                  <a:gd name="T38" fmla="*/ 391 w 618"/>
                  <a:gd name="T39" fmla="*/ 506 h 524"/>
                  <a:gd name="T40" fmla="*/ 365 w 618"/>
                  <a:gd name="T41" fmla="*/ 487 h 524"/>
                  <a:gd name="T42" fmla="*/ 363 w 618"/>
                  <a:gd name="T43" fmla="*/ 451 h 524"/>
                  <a:gd name="T44" fmla="*/ 364 w 618"/>
                  <a:gd name="T45" fmla="*/ 425 h 524"/>
                  <a:gd name="T46" fmla="*/ 291 w 618"/>
                  <a:gd name="T47" fmla="*/ 340 h 524"/>
                  <a:gd name="T48" fmla="*/ 207 w 618"/>
                  <a:gd name="T49" fmla="*/ 253 h 524"/>
                  <a:gd name="T50" fmla="*/ 116 w 618"/>
                  <a:gd name="T51" fmla="*/ 166 h 524"/>
                  <a:gd name="T52" fmla="*/ 85 w 618"/>
                  <a:gd name="T53" fmla="*/ 162 h 524"/>
                  <a:gd name="T54" fmla="*/ 22 w 618"/>
                  <a:gd name="T55" fmla="*/ 178 h 524"/>
                  <a:gd name="T56" fmla="*/ 2 w 618"/>
                  <a:gd name="T57" fmla="*/ 167 h 524"/>
                  <a:gd name="T58" fmla="*/ 10 w 618"/>
                  <a:gd name="T59" fmla="*/ 143 h 524"/>
                  <a:gd name="T60" fmla="*/ 54 w 618"/>
                  <a:gd name="T61" fmla="*/ 116 h 524"/>
                  <a:gd name="T62" fmla="*/ 115 w 618"/>
                  <a:gd name="T63" fmla="*/ 72 h 524"/>
                  <a:gd name="T64" fmla="*/ 147 w 618"/>
                  <a:gd name="T65" fmla="*/ 58 h 524"/>
                  <a:gd name="T66" fmla="*/ 178 w 618"/>
                  <a:gd name="T67" fmla="*/ 76 h 524"/>
                  <a:gd name="T68" fmla="*/ 185 w 618"/>
                  <a:gd name="T69" fmla="*/ 98 h 524"/>
                  <a:gd name="T70" fmla="*/ 226 w 618"/>
                  <a:gd name="T71" fmla="*/ 108 h 524"/>
                  <a:gd name="T72" fmla="*/ 326 w 618"/>
                  <a:gd name="T73" fmla="*/ 23 h 524"/>
                  <a:gd name="T74" fmla="*/ 371 w 618"/>
                  <a:gd name="T75" fmla="*/ 3 h 524"/>
                  <a:gd name="T76" fmla="*/ 395 w 618"/>
                  <a:gd name="T77" fmla="*/ 8 h 524"/>
                  <a:gd name="T78" fmla="*/ 394 w 618"/>
                  <a:gd name="T79" fmla="*/ 34 h 524"/>
                  <a:gd name="T80" fmla="*/ 344 w 618"/>
                  <a:gd name="T81" fmla="*/ 75 h 524"/>
                  <a:gd name="T82" fmla="*/ 233 w 618"/>
                  <a:gd name="T83" fmla="*/ 138 h 524"/>
                  <a:gd name="T84" fmla="*/ 223 w 618"/>
                  <a:gd name="T85" fmla="*/ 194 h 524"/>
                  <a:gd name="T86" fmla="*/ 281 w 618"/>
                  <a:gd name="T87" fmla="*/ 272 h 524"/>
                  <a:gd name="T88" fmla="*/ 322 w 618"/>
                  <a:gd name="T89" fmla="*/ 290 h 524"/>
                  <a:gd name="T90" fmla="*/ 443 w 618"/>
                  <a:gd name="T91" fmla="*/ 260 h 524"/>
                  <a:gd name="T92" fmla="*/ 467 w 618"/>
                  <a:gd name="T93" fmla="*/ 253 h 524"/>
                  <a:gd name="T94" fmla="*/ 488 w 618"/>
                  <a:gd name="T95" fmla="*/ 266 h 524"/>
                  <a:gd name="T96" fmla="*/ 506 w 618"/>
                  <a:gd name="T97" fmla="*/ 279 h 524"/>
                  <a:gd name="T98" fmla="*/ 542 w 618"/>
                  <a:gd name="T99" fmla="*/ 267 h 524"/>
                  <a:gd name="T100" fmla="*/ 535 w 618"/>
                  <a:gd name="T101" fmla="*/ 251 h 524"/>
                  <a:gd name="T102" fmla="*/ 514 w 618"/>
                  <a:gd name="T103" fmla="*/ 236 h 524"/>
                  <a:gd name="T104" fmla="*/ 438 w 618"/>
                  <a:gd name="T105" fmla="*/ 240 h 524"/>
                  <a:gd name="T106" fmla="*/ 416 w 618"/>
                  <a:gd name="T107" fmla="*/ 250 h 524"/>
                  <a:gd name="T108" fmla="*/ 320 w 618"/>
                  <a:gd name="T109" fmla="*/ 245 h 524"/>
                  <a:gd name="T110" fmla="*/ 298 w 618"/>
                  <a:gd name="T111" fmla="*/ 229 h 524"/>
                  <a:gd name="T112" fmla="*/ 310 w 618"/>
                  <a:gd name="T113" fmla="*/ 205 h 524"/>
                  <a:gd name="T114" fmla="*/ 400 w 618"/>
                  <a:gd name="T115" fmla="*/ 174 h 524"/>
                  <a:gd name="T116" fmla="*/ 416 w 618"/>
                  <a:gd name="T117" fmla="*/ 163 h 524"/>
                  <a:gd name="T118" fmla="*/ 396 w 618"/>
                  <a:gd name="T119" fmla="*/ 147 h 524"/>
                  <a:gd name="T120" fmla="*/ 338 w 618"/>
                  <a:gd name="T121" fmla="*/ 167 h 524"/>
                  <a:gd name="T122" fmla="*/ 287 w 618"/>
                  <a:gd name="T123" fmla="*/ 184 h 524"/>
                  <a:gd name="T124" fmla="*/ 263 w 618"/>
                  <a:gd name="T125" fmla="*/ 182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8" h="524">
                    <a:moveTo>
                      <a:pt x="263" y="182"/>
                    </a:moveTo>
                    <a:cubicBezTo>
                      <a:pt x="288" y="152"/>
                      <a:pt x="305" y="121"/>
                      <a:pt x="342" y="112"/>
                    </a:cubicBezTo>
                    <a:cubicBezTo>
                      <a:pt x="349" y="110"/>
                      <a:pt x="357" y="100"/>
                      <a:pt x="359" y="92"/>
                    </a:cubicBezTo>
                    <a:cubicBezTo>
                      <a:pt x="362" y="79"/>
                      <a:pt x="368" y="74"/>
                      <a:pt x="381" y="73"/>
                    </a:cubicBezTo>
                    <a:cubicBezTo>
                      <a:pt x="395" y="72"/>
                      <a:pt x="410" y="70"/>
                      <a:pt x="424" y="69"/>
                    </a:cubicBezTo>
                    <a:cubicBezTo>
                      <a:pt x="442" y="67"/>
                      <a:pt x="450" y="76"/>
                      <a:pt x="447" y="92"/>
                    </a:cubicBezTo>
                    <a:cubicBezTo>
                      <a:pt x="442" y="118"/>
                      <a:pt x="448" y="129"/>
                      <a:pt x="472" y="138"/>
                    </a:cubicBezTo>
                    <a:cubicBezTo>
                      <a:pt x="485" y="143"/>
                      <a:pt x="495" y="146"/>
                      <a:pt x="490" y="165"/>
                    </a:cubicBezTo>
                    <a:cubicBezTo>
                      <a:pt x="489" y="171"/>
                      <a:pt x="502" y="184"/>
                      <a:pt x="511" y="189"/>
                    </a:cubicBezTo>
                    <a:cubicBezTo>
                      <a:pt x="534" y="202"/>
                      <a:pt x="559" y="211"/>
                      <a:pt x="583" y="222"/>
                    </a:cubicBezTo>
                    <a:cubicBezTo>
                      <a:pt x="617" y="238"/>
                      <a:pt x="618" y="265"/>
                      <a:pt x="614" y="286"/>
                    </a:cubicBezTo>
                    <a:cubicBezTo>
                      <a:pt x="611" y="310"/>
                      <a:pt x="587" y="328"/>
                      <a:pt x="559" y="330"/>
                    </a:cubicBezTo>
                    <a:cubicBezTo>
                      <a:pt x="531" y="331"/>
                      <a:pt x="502" y="326"/>
                      <a:pt x="476" y="332"/>
                    </a:cubicBezTo>
                    <a:cubicBezTo>
                      <a:pt x="444" y="339"/>
                      <a:pt x="420" y="338"/>
                      <a:pt x="397" y="312"/>
                    </a:cubicBezTo>
                    <a:cubicBezTo>
                      <a:pt x="390" y="303"/>
                      <a:pt x="364" y="308"/>
                      <a:pt x="348" y="312"/>
                    </a:cubicBezTo>
                    <a:cubicBezTo>
                      <a:pt x="336" y="314"/>
                      <a:pt x="339" y="325"/>
                      <a:pt x="345" y="332"/>
                    </a:cubicBezTo>
                    <a:cubicBezTo>
                      <a:pt x="370" y="360"/>
                      <a:pt x="396" y="386"/>
                      <a:pt x="420" y="415"/>
                    </a:cubicBezTo>
                    <a:cubicBezTo>
                      <a:pt x="440" y="439"/>
                      <a:pt x="457" y="466"/>
                      <a:pt x="474" y="492"/>
                    </a:cubicBezTo>
                    <a:cubicBezTo>
                      <a:pt x="481" y="503"/>
                      <a:pt x="472" y="510"/>
                      <a:pt x="462" y="513"/>
                    </a:cubicBezTo>
                    <a:cubicBezTo>
                      <a:pt x="438" y="522"/>
                      <a:pt x="413" y="524"/>
                      <a:pt x="391" y="506"/>
                    </a:cubicBezTo>
                    <a:cubicBezTo>
                      <a:pt x="382" y="500"/>
                      <a:pt x="373" y="494"/>
                      <a:pt x="365" y="487"/>
                    </a:cubicBezTo>
                    <a:cubicBezTo>
                      <a:pt x="347" y="472"/>
                      <a:pt x="349" y="470"/>
                      <a:pt x="363" y="451"/>
                    </a:cubicBezTo>
                    <a:cubicBezTo>
                      <a:pt x="367" y="445"/>
                      <a:pt x="368" y="430"/>
                      <a:pt x="364" y="425"/>
                    </a:cubicBezTo>
                    <a:cubicBezTo>
                      <a:pt x="341" y="396"/>
                      <a:pt x="316" y="368"/>
                      <a:pt x="291" y="340"/>
                    </a:cubicBezTo>
                    <a:cubicBezTo>
                      <a:pt x="264" y="311"/>
                      <a:pt x="235" y="282"/>
                      <a:pt x="207" y="253"/>
                    </a:cubicBezTo>
                    <a:cubicBezTo>
                      <a:pt x="177" y="224"/>
                      <a:pt x="146" y="195"/>
                      <a:pt x="116" y="166"/>
                    </a:cubicBezTo>
                    <a:cubicBezTo>
                      <a:pt x="107" y="157"/>
                      <a:pt x="97" y="159"/>
                      <a:pt x="85" y="162"/>
                    </a:cubicBezTo>
                    <a:cubicBezTo>
                      <a:pt x="64" y="169"/>
                      <a:pt x="43" y="174"/>
                      <a:pt x="22" y="178"/>
                    </a:cubicBezTo>
                    <a:cubicBezTo>
                      <a:pt x="15" y="178"/>
                      <a:pt x="3" y="172"/>
                      <a:pt x="2" y="167"/>
                    </a:cubicBezTo>
                    <a:cubicBezTo>
                      <a:pt x="0" y="160"/>
                      <a:pt x="4" y="148"/>
                      <a:pt x="10" y="143"/>
                    </a:cubicBezTo>
                    <a:cubicBezTo>
                      <a:pt x="23" y="132"/>
                      <a:pt x="40" y="126"/>
                      <a:pt x="54" y="116"/>
                    </a:cubicBezTo>
                    <a:cubicBezTo>
                      <a:pt x="75" y="102"/>
                      <a:pt x="94" y="86"/>
                      <a:pt x="115" y="72"/>
                    </a:cubicBezTo>
                    <a:cubicBezTo>
                      <a:pt x="125" y="65"/>
                      <a:pt x="136" y="61"/>
                      <a:pt x="147" y="58"/>
                    </a:cubicBezTo>
                    <a:cubicBezTo>
                      <a:pt x="163" y="53"/>
                      <a:pt x="173" y="61"/>
                      <a:pt x="178" y="76"/>
                    </a:cubicBezTo>
                    <a:cubicBezTo>
                      <a:pt x="180" y="83"/>
                      <a:pt x="182" y="91"/>
                      <a:pt x="185" y="98"/>
                    </a:cubicBezTo>
                    <a:cubicBezTo>
                      <a:pt x="196" y="124"/>
                      <a:pt x="204" y="126"/>
                      <a:pt x="226" y="108"/>
                    </a:cubicBezTo>
                    <a:cubicBezTo>
                      <a:pt x="259" y="79"/>
                      <a:pt x="292" y="50"/>
                      <a:pt x="326" y="23"/>
                    </a:cubicBezTo>
                    <a:cubicBezTo>
                      <a:pt x="339" y="13"/>
                      <a:pt x="355" y="7"/>
                      <a:pt x="371" y="3"/>
                    </a:cubicBezTo>
                    <a:cubicBezTo>
                      <a:pt x="378" y="0"/>
                      <a:pt x="391" y="3"/>
                      <a:pt x="395" y="8"/>
                    </a:cubicBezTo>
                    <a:cubicBezTo>
                      <a:pt x="399" y="14"/>
                      <a:pt x="399" y="29"/>
                      <a:pt x="394" y="34"/>
                    </a:cubicBezTo>
                    <a:cubicBezTo>
                      <a:pt x="379" y="49"/>
                      <a:pt x="362" y="64"/>
                      <a:pt x="344" y="75"/>
                    </a:cubicBezTo>
                    <a:cubicBezTo>
                      <a:pt x="308" y="97"/>
                      <a:pt x="270" y="116"/>
                      <a:pt x="233" y="138"/>
                    </a:cubicBezTo>
                    <a:cubicBezTo>
                      <a:pt x="204" y="156"/>
                      <a:pt x="202" y="166"/>
                      <a:pt x="223" y="194"/>
                    </a:cubicBezTo>
                    <a:cubicBezTo>
                      <a:pt x="242" y="220"/>
                      <a:pt x="262" y="246"/>
                      <a:pt x="281" y="272"/>
                    </a:cubicBezTo>
                    <a:cubicBezTo>
                      <a:pt x="292" y="286"/>
                      <a:pt x="304" y="293"/>
                      <a:pt x="322" y="290"/>
                    </a:cubicBezTo>
                    <a:cubicBezTo>
                      <a:pt x="364" y="285"/>
                      <a:pt x="406" y="283"/>
                      <a:pt x="443" y="260"/>
                    </a:cubicBezTo>
                    <a:cubicBezTo>
                      <a:pt x="450" y="256"/>
                      <a:pt x="459" y="254"/>
                      <a:pt x="467" y="253"/>
                    </a:cubicBezTo>
                    <a:cubicBezTo>
                      <a:pt x="478" y="251"/>
                      <a:pt x="484" y="254"/>
                      <a:pt x="488" y="266"/>
                    </a:cubicBezTo>
                    <a:cubicBezTo>
                      <a:pt x="490" y="272"/>
                      <a:pt x="500" y="280"/>
                      <a:pt x="506" y="279"/>
                    </a:cubicBezTo>
                    <a:cubicBezTo>
                      <a:pt x="518" y="278"/>
                      <a:pt x="530" y="272"/>
                      <a:pt x="542" y="267"/>
                    </a:cubicBezTo>
                    <a:cubicBezTo>
                      <a:pt x="540" y="262"/>
                      <a:pt x="539" y="255"/>
                      <a:pt x="535" y="251"/>
                    </a:cubicBezTo>
                    <a:cubicBezTo>
                      <a:pt x="529" y="245"/>
                      <a:pt x="521" y="241"/>
                      <a:pt x="514" y="236"/>
                    </a:cubicBezTo>
                    <a:cubicBezTo>
                      <a:pt x="483" y="211"/>
                      <a:pt x="467" y="213"/>
                      <a:pt x="438" y="240"/>
                    </a:cubicBezTo>
                    <a:cubicBezTo>
                      <a:pt x="432" y="246"/>
                      <a:pt x="423" y="250"/>
                      <a:pt x="416" y="250"/>
                    </a:cubicBezTo>
                    <a:cubicBezTo>
                      <a:pt x="384" y="250"/>
                      <a:pt x="352" y="248"/>
                      <a:pt x="320" y="245"/>
                    </a:cubicBezTo>
                    <a:cubicBezTo>
                      <a:pt x="312" y="244"/>
                      <a:pt x="300" y="236"/>
                      <a:pt x="298" y="229"/>
                    </a:cubicBezTo>
                    <a:cubicBezTo>
                      <a:pt x="296" y="222"/>
                      <a:pt x="303" y="209"/>
                      <a:pt x="310" y="205"/>
                    </a:cubicBezTo>
                    <a:cubicBezTo>
                      <a:pt x="337" y="187"/>
                      <a:pt x="364" y="168"/>
                      <a:pt x="400" y="174"/>
                    </a:cubicBezTo>
                    <a:cubicBezTo>
                      <a:pt x="405" y="175"/>
                      <a:pt x="415" y="168"/>
                      <a:pt x="416" y="163"/>
                    </a:cubicBezTo>
                    <a:cubicBezTo>
                      <a:pt x="417" y="151"/>
                      <a:pt x="408" y="144"/>
                      <a:pt x="396" y="147"/>
                    </a:cubicBezTo>
                    <a:cubicBezTo>
                      <a:pt x="376" y="153"/>
                      <a:pt x="357" y="160"/>
                      <a:pt x="338" y="167"/>
                    </a:cubicBezTo>
                    <a:cubicBezTo>
                      <a:pt x="321" y="173"/>
                      <a:pt x="304" y="179"/>
                      <a:pt x="287" y="184"/>
                    </a:cubicBezTo>
                    <a:cubicBezTo>
                      <a:pt x="281" y="186"/>
                      <a:pt x="274" y="183"/>
                      <a:pt x="263" y="1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3" name="Freeform 268"/>
              <p:cNvSpPr/>
              <p:nvPr/>
            </p:nvSpPr>
            <p:spPr bwMode="auto">
              <a:xfrm>
                <a:off x="3522663" y="4832350"/>
                <a:ext cx="2122488" cy="2349500"/>
              </a:xfrm>
              <a:custGeom>
                <a:avLst/>
                <a:gdLst>
                  <a:gd name="T0" fmla="*/ 449 w 673"/>
                  <a:gd name="T1" fmla="*/ 735 h 744"/>
                  <a:gd name="T2" fmla="*/ 383 w 673"/>
                  <a:gd name="T3" fmla="*/ 728 h 744"/>
                  <a:gd name="T4" fmla="*/ 296 w 673"/>
                  <a:gd name="T5" fmla="*/ 652 h 744"/>
                  <a:gd name="T6" fmla="*/ 166 w 673"/>
                  <a:gd name="T7" fmla="*/ 525 h 744"/>
                  <a:gd name="T8" fmla="*/ 32 w 673"/>
                  <a:gd name="T9" fmla="*/ 370 h 744"/>
                  <a:gd name="T10" fmla="*/ 8 w 673"/>
                  <a:gd name="T11" fmla="*/ 322 h 744"/>
                  <a:gd name="T12" fmla="*/ 36 w 673"/>
                  <a:gd name="T13" fmla="*/ 267 h 744"/>
                  <a:gd name="T14" fmla="*/ 68 w 673"/>
                  <a:gd name="T15" fmla="*/ 244 h 744"/>
                  <a:gd name="T16" fmla="*/ 158 w 673"/>
                  <a:gd name="T17" fmla="*/ 160 h 744"/>
                  <a:gd name="T18" fmla="*/ 210 w 673"/>
                  <a:gd name="T19" fmla="*/ 72 h 744"/>
                  <a:gd name="T20" fmla="*/ 293 w 673"/>
                  <a:gd name="T21" fmla="*/ 15 h 744"/>
                  <a:gd name="T22" fmla="*/ 405 w 673"/>
                  <a:gd name="T23" fmla="*/ 72 h 744"/>
                  <a:gd name="T24" fmla="*/ 577 w 673"/>
                  <a:gd name="T25" fmla="*/ 228 h 744"/>
                  <a:gd name="T26" fmla="*/ 639 w 673"/>
                  <a:gd name="T27" fmla="*/ 343 h 744"/>
                  <a:gd name="T28" fmla="*/ 667 w 673"/>
                  <a:gd name="T29" fmla="*/ 441 h 744"/>
                  <a:gd name="T30" fmla="*/ 646 w 673"/>
                  <a:gd name="T31" fmla="*/ 463 h 744"/>
                  <a:gd name="T32" fmla="*/ 590 w 673"/>
                  <a:gd name="T33" fmla="*/ 439 h 744"/>
                  <a:gd name="T34" fmla="*/ 596 w 673"/>
                  <a:gd name="T35" fmla="*/ 385 h 744"/>
                  <a:gd name="T36" fmla="*/ 606 w 673"/>
                  <a:gd name="T37" fmla="*/ 358 h 744"/>
                  <a:gd name="T38" fmla="*/ 554 w 673"/>
                  <a:gd name="T39" fmla="*/ 279 h 744"/>
                  <a:gd name="T40" fmla="*/ 391 w 673"/>
                  <a:gd name="T41" fmla="*/ 132 h 744"/>
                  <a:gd name="T42" fmla="*/ 331 w 673"/>
                  <a:gd name="T43" fmla="*/ 99 h 744"/>
                  <a:gd name="T44" fmla="*/ 237 w 673"/>
                  <a:gd name="T45" fmla="*/ 140 h 744"/>
                  <a:gd name="T46" fmla="*/ 127 w 673"/>
                  <a:gd name="T47" fmla="*/ 304 h 744"/>
                  <a:gd name="T48" fmla="*/ 128 w 673"/>
                  <a:gd name="T49" fmla="*/ 377 h 744"/>
                  <a:gd name="T50" fmla="*/ 235 w 673"/>
                  <a:gd name="T51" fmla="*/ 503 h 744"/>
                  <a:gd name="T52" fmla="*/ 373 w 673"/>
                  <a:gd name="T53" fmla="*/ 649 h 744"/>
                  <a:gd name="T54" fmla="*/ 436 w 673"/>
                  <a:gd name="T55" fmla="*/ 713 h 744"/>
                  <a:gd name="T56" fmla="*/ 449 w 673"/>
                  <a:gd name="T57" fmla="*/ 735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73" h="744">
                    <a:moveTo>
                      <a:pt x="449" y="735"/>
                    </a:moveTo>
                    <a:cubicBezTo>
                      <a:pt x="423" y="742"/>
                      <a:pt x="401" y="744"/>
                      <a:pt x="383" y="728"/>
                    </a:cubicBezTo>
                    <a:cubicBezTo>
                      <a:pt x="353" y="704"/>
                      <a:pt x="324" y="678"/>
                      <a:pt x="296" y="652"/>
                    </a:cubicBezTo>
                    <a:cubicBezTo>
                      <a:pt x="252" y="610"/>
                      <a:pt x="207" y="569"/>
                      <a:pt x="166" y="525"/>
                    </a:cubicBezTo>
                    <a:cubicBezTo>
                      <a:pt x="119" y="475"/>
                      <a:pt x="75" y="423"/>
                      <a:pt x="32" y="370"/>
                    </a:cubicBezTo>
                    <a:cubicBezTo>
                      <a:pt x="20" y="357"/>
                      <a:pt x="14" y="339"/>
                      <a:pt x="8" y="322"/>
                    </a:cubicBezTo>
                    <a:cubicBezTo>
                      <a:pt x="0" y="298"/>
                      <a:pt x="13" y="277"/>
                      <a:pt x="36" y="267"/>
                    </a:cubicBezTo>
                    <a:cubicBezTo>
                      <a:pt x="48" y="262"/>
                      <a:pt x="59" y="253"/>
                      <a:pt x="68" y="244"/>
                    </a:cubicBezTo>
                    <a:cubicBezTo>
                      <a:pt x="99" y="217"/>
                      <a:pt x="127" y="187"/>
                      <a:pt x="158" y="160"/>
                    </a:cubicBezTo>
                    <a:cubicBezTo>
                      <a:pt x="185" y="136"/>
                      <a:pt x="206" y="110"/>
                      <a:pt x="210" y="72"/>
                    </a:cubicBezTo>
                    <a:cubicBezTo>
                      <a:pt x="215" y="25"/>
                      <a:pt x="248" y="0"/>
                      <a:pt x="293" y="15"/>
                    </a:cubicBezTo>
                    <a:cubicBezTo>
                      <a:pt x="332" y="28"/>
                      <a:pt x="370" y="48"/>
                      <a:pt x="405" y="72"/>
                    </a:cubicBezTo>
                    <a:cubicBezTo>
                      <a:pt x="469" y="115"/>
                      <a:pt x="528" y="167"/>
                      <a:pt x="577" y="228"/>
                    </a:cubicBezTo>
                    <a:cubicBezTo>
                      <a:pt x="603" y="262"/>
                      <a:pt x="622" y="303"/>
                      <a:pt x="639" y="343"/>
                    </a:cubicBezTo>
                    <a:cubicBezTo>
                      <a:pt x="653" y="374"/>
                      <a:pt x="659" y="408"/>
                      <a:pt x="667" y="441"/>
                    </a:cubicBezTo>
                    <a:cubicBezTo>
                      <a:pt x="673" y="463"/>
                      <a:pt x="667" y="470"/>
                      <a:pt x="646" y="463"/>
                    </a:cubicBezTo>
                    <a:cubicBezTo>
                      <a:pt x="627" y="456"/>
                      <a:pt x="607" y="450"/>
                      <a:pt x="590" y="439"/>
                    </a:cubicBezTo>
                    <a:cubicBezTo>
                      <a:pt x="568" y="423"/>
                      <a:pt x="571" y="399"/>
                      <a:pt x="596" y="385"/>
                    </a:cubicBezTo>
                    <a:cubicBezTo>
                      <a:pt x="607" y="378"/>
                      <a:pt x="609" y="370"/>
                      <a:pt x="606" y="358"/>
                    </a:cubicBezTo>
                    <a:cubicBezTo>
                      <a:pt x="598" y="326"/>
                      <a:pt x="579" y="301"/>
                      <a:pt x="554" y="279"/>
                    </a:cubicBezTo>
                    <a:cubicBezTo>
                      <a:pt x="500" y="230"/>
                      <a:pt x="447" y="180"/>
                      <a:pt x="391" y="132"/>
                    </a:cubicBezTo>
                    <a:cubicBezTo>
                      <a:pt x="374" y="118"/>
                      <a:pt x="352" y="106"/>
                      <a:pt x="331" y="99"/>
                    </a:cubicBezTo>
                    <a:cubicBezTo>
                      <a:pt x="291" y="88"/>
                      <a:pt x="259" y="106"/>
                      <a:pt x="237" y="140"/>
                    </a:cubicBezTo>
                    <a:cubicBezTo>
                      <a:pt x="200" y="194"/>
                      <a:pt x="164" y="249"/>
                      <a:pt x="127" y="304"/>
                    </a:cubicBezTo>
                    <a:cubicBezTo>
                      <a:pt x="109" y="332"/>
                      <a:pt x="107" y="351"/>
                      <a:pt x="128" y="377"/>
                    </a:cubicBezTo>
                    <a:cubicBezTo>
                      <a:pt x="162" y="420"/>
                      <a:pt x="198" y="462"/>
                      <a:pt x="235" y="503"/>
                    </a:cubicBezTo>
                    <a:cubicBezTo>
                      <a:pt x="280" y="552"/>
                      <a:pt x="327" y="600"/>
                      <a:pt x="373" y="649"/>
                    </a:cubicBezTo>
                    <a:cubicBezTo>
                      <a:pt x="394" y="670"/>
                      <a:pt x="415" y="692"/>
                      <a:pt x="436" y="713"/>
                    </a:cubicBezTo>
                    <a:cubicBezTo>
                      <a:pt x="440" y="718"/>
                      <a:pt x="443" y="725"/>
                      <a:pt x="449" y="7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4" name="Freeform 269"/>
              <p:cNvSpPr>
                <a:spLocks noEditPoints="1"/>
              </p:cNvSpPr>
              <p:nvPr/>
            </p:nvSpPr>
            <p:spPr bwMode="auto">
              <a:xfrm>
                <a:off x="17684750" y="18091150"/>
                <a:ext cx="2209800" cy="1855788"/>
              </a:xfrm>
              <a:custGeom>
                <a:avLst/>
                <a:gdLst>
                  <a:gd name="T0" fmla="*/ 493 w 700"/>
                  <a:gd name="T1" fmla="*/ 436 h 588"/>
                  <a:gd name="T2" fmla="*/ 338 w 700"/>
                  <a:gd name="T3" fmla="*/ 588 h 588"/>
                  <a:gd name="T4" fmla="*/ 350 w 700"/>
                  <a:gd name="T5" fmla="*/ 571 h 588"/>
                  <a:gd name="T6" fmla="*/ 350 w 700"/>
                  <a:gd name="T7" fmla="*/ 495 h 588"/>
                  <a:gd name="T8" fmla="*/ 252 w 700"/>
                  <a:gd name="T9" fmla="*/ 391 h 588"/>
                  <a:gd name="T10" fmla="*/ 101 w 700"/>
                  <a:gd name="T11" fmla="*/ 234 h 588"/>
                  <a:gd name="T12" fmla="*/ 82 w 700"/>
                  <a:gd name="T13" fmla="*/ 219 h 588"/>
                  <a:gd name="T14" fmla="*/ 16 w 700"/>
                  <a:gd name="T15" fmla="*/ 223 h 588"/>
                  <a:gd name="T16" fmla="*/ 3 w 700"/>
                  <a:gd name="T17" fmla="*/ 234 h 588"/>
                  <a:gd name="T18" fmla="*/ 0 w 700"/>
                  <a:gd name="T19" fmla="*/ 230 h 588"/>
                  <a:gd name="T20" fmla="*/ 5 w 700"/>
                  <a:gd name="T21" fmla="*/ 220 h 588"/>
                  <a:gd name="T22" fmla="*/ 187 w 700"/>
                  <a:gd name="T23" fmla="*/ 49 h 588"/>
                  <a:gd name="T24" fmla="*/ 320 w 700"/>
                  <a:gd name="T25" fmla="*/ 19 h 588"/>
                  <a:gd name="T26" fmla="*/ 385 w 700"/>
                  <a:gd name="T27" fmla="*/ 191 h 588"/>
                  <a:gd name="T28" fmla="*/ 408 w 700"/>
                  <a:gd name="T29" fmla="*/ 235 h 588"/>
                  <a:gd name="T30" fmla="*/ 568 w 700"/>
                  <a:gd name="T31" fmla="*/ 262 h 588"/>
                  <a:gd name="T32" fmla="*/ 682 w 700"/>
                  <a:gd name="T33" fmla="*/ 241 h 588"/>
                  <a:gd name="T34" fmla="*/ 700 w 700"/>
                  <a:gd name="T35" fmla="*/ 237 h 588"/>
                  <a:gd name="T36" fmla="*/ 693 w 700"/>
                  <a:gd name="T37" fmla="*/ 250 h 588"/>
                  <a:gd name="T38" fmla="*/ 618 w 700"/>
                  <a:gd name="T39" fmla="*/ 323 h 588"/>
                  <a:gd name="T40" fmla="*/ 592 w 700"/>
                  <a:gd name="T41" fmla="*/ 331 h 588"/>
                  <a:gd name="T42" fmla="*/ 348 w 700"/>
                  <a:gd name="T43" fmla="*/ 287 h 588"/>
                  <a:gd name="T44" fmla="*/ 290 w 700"/>
                  <a:gd name="T45" fmla="*/ 317 h 588"/>
                  <a:gd name="T46" fmla="*/ 293 w 700"/>
                  <a:gd name="T47" fmla="*/ 333 h 588"/>
                  <a:gd name="T48" fmla="*/ 398 w 700"/>
                  <a:gd name="T49" fmla="*/ 442 h 588"/>
                  <a:gd name="T50" fmla="*/ 486 w 700"/>
                  <a:gd name="T51" fmla="*/ 439 h 588"/>
                  <a:gd name="T52" fmla="*/ 493 w 700"/>
                  <a:gd name="T53" fmla="*/ 436 h 588"/>
                  <a:gd name="T54" fmla="*/ 340 w 700"/>
                  <a:gd name="T55" fmla="*/ 169 h 588"/>
                  <a:gd name="T56" fmla="*/ 323 w 700"/>
                  <a:gd name="T57" fmla="*/ 126 h 588"/>
                  <a:gd name="T58" fmla="*/ 220 w 700"/>
                  <a:gd name="T59" fmla="*/ 75 h 588"/>
                  <a:gd name="T60" fmla="*/ 129 w 700"/>
                  <a:gd name="T61" fmla="*/ 141 h 588"/>
                  <a:gd name="T62" fmla="*/ 129 w 700"/>
                  <a:gd name="T63" fmla="*/ 163 h 588"/>
                  <a:gd name="T64" fmla="*/ 258 w 700"/>
                  <a:gd name="T65" fmla="*/ 294 h 588"/>
                  <a:gd name="T66" fmla="*/ 279 w 700"/>
                  <a:gd name="T67" fmla="*/ 295 h 588"/>
                  <a:gd name="T68" fmla="*/ 340 w 700"/>
                  <a:gd name="T69" fmla="*/ 169 h 5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00" h="588">
                    <a:moveTo>
                      <a:pt x="493" y="436"/>
                    </a:moveTo>
                    <a:cubicBezTo>
                      <a:pt x="493" y="450"/>
                      <a:pt x="365" y="577"/>
                      <a:pt x="338" y="588"/>
                    </a:cubicBezTo>
                    <a:cubicBezTo>
                      <a:pt x="344" y="579"/>
                      <a:pt x="347" y="575"/>
                      <a:pt x="350" y="571"/>
                    </a:cubicBezTo>
                    <a:cubicBezTo>
                      <a:pt x="376" y="542"/>
                      <a:pt x="377" y="524"/>
                      <a:pt x="350" y="495"/>
                    </a:cubicBezTo>
                    <a:cubicBezTo>
                      <a:pt x="318" y="460"/>
                      <a:pt x="285" y="425"/>
                      <a:pt x="252" y="391"/>
                    </a:cubicBezTo>
                    <a:cubicBezTo>
                      <a:pt x="201" y="338"/>
                      <a:pt x="151" y="286"/>
                      <a:pt x="101" y="234"/>
                    </a:cubicBezTo>
                    <a:cubicBezTo>
                      <a:pt x="95" y="228"/>
                      <a:pt x="88" y="224"/>
                      <a:pt x="82" y="219"/>
                    </a:cubicBezTo>
                    <a:cubicBezTo>
                      <a:pt x="58" y="201"/>
                      <a:pt x="39" y="203"/>
                      <a:pt x="16" y="223"/>
                    </a:cubicBezTo>
                    <a:cubicBezTo>
                      <a:pt x="12" y="227"/>
                      <a:pt x="8" y="230"/>
                      <a:pt x="3" y="234"/>
                    </a:cubicBezTo>
                    <a:cubicBezTo>
                      <a:pt x="2" y="233"/>
                      <a:pt x="1" y="232"/>
                      <a:pt x="0" y="230"/>
                    </a:cubicBezTo>
                    <a:cubicBezTo>
                      <a:pt x="1" y="227"/>
                      <a:pt x="2" y="222"/>
                      <a:pt x="5" y="220"/>
                    </a:cubicBezTo>
                    <a:cubicBezTo>
                      <a:pt x="65" y="163"/>
                      <a:pt x="124" y="104"/>
                      <a:pt x="187" y="49"/>
                    </a:cubicBezTo>
                    <a:cubicBezTo>
                      <a:pt x="224" y="16"/>
                      <a:pt x="270" y="0"/>
                      <a:pt x="320" y="19"/>
                    </a:cubicBezTo>
                    <a:cubicBezTo>
                      <a:pt x="382" y="43"/>
                      <a:pt x="422" y="112"/>
                      <a:pt x="385" y="191"/>
                    </a:cubicBezTo>
                    <a:cubicBezTo>
                      <a:pt x="367" y="228"/>
                      <a:pt x="368" y="228"/>
                      <a:pt x="408" y="235"/>
                    </a:cubicBezTo>
                    <a:cubicBezTo>
                      <a:pt x="461" y="244"/>
                      <a:pt x="515" y="253"/>
                      <a:pt x="568" y="262"/>
                    </a:cubicBezTo>
                    <a:cubicBezTo>
                      <a:pt x="608" y="268"/>
                      <a:pt x="647" y="267"/>
                      <a:pt x="682" y="241"/>
                    </a:cubicBezTo>
                    <a:cubicBezTo>
                      <a:pt x="686" y="238"/>
                      <a:pt x="691" y="236"/>
                      <a:pt x="700" y="237"/>
                    </a:cubicBezTo>
                    <a:cubicBezTo>
                      <a:pt x="697" y="242"/>
                      <a:pt x="696" y="247"/>
                      <a:pt x="693" y="250"/>
                    </a:cubicBezTo>
                    <a:cubicBezTo>
                      <a:pt x="668" y="275"/>
                      <a:pt x="644" y="300"/>
                      <a:pt x="618" y="323"/>
                    </a:cubicBezTo>
                    <a:cubicBezTo>
                      <a:pt x="612" y="329"/>
                      <a:pt x="600" y="332"/>
                      <a:pt x="592" y="331"/>
                    </a:cubicBezTo>
                    <a:cubicBezTo>
                      <a:pt x="511" y="317"/>
                      <a:pt x="429" y="302"/>
                      <a:pt x="348" y="287"/>
                    </a:cubicBezTo>
                    <a:cubicBezTo>
                      <a:pt x="324" y="283"/>
                      <a:pt x="299" y="295"/>
                      <a:pt x="290" y="317"/>
                    </a:cubicBezTo>
                    <a:cubicBezTo>
                      <a:pt x="288" y="321"/>
                      <a:pt x="290" y="330"/>
                      <a:pt x="293" y="333"/>
                    </a:cubicBezTo>
                    <a:cubicBezTo>
                      <a:pt x="328" y="370"/>
                      <a:pt x="364" y="405"/>
                      <a:pt x="398" y="442"/>
                    </a:cubicBezTo>
                    <a:cubicBezTo>
                      <a:pt x="423" y="469"/>
                      <a:pt x="465" y="470"/>
                      <a:pt x="486" y="439"/>
                    </a:cubicBezTo>
                    <a:cubicBezTo>
                      <a:pt x="487" y="437"/>
                      <a:pt x="489" y="437"/>
                      <a:pt x="493" y="436"/>
                    </a:cubicBezTo>
                    <a:close/>
                    <a:moveTo>
                      <a:pt x="340" y="169"/>
                    </a:moveTo>
                    <a:cubicBezTo>
                      <a:pt x="337" y="160"/>
                      <a:pt x="332" y="142"/>
                      <a:pt x="323" y="126"/>
                    </a:cubicBezTo>
                    <a:cubicBezTo>
                      <a:pt x="302" y="90"/>
                      <a:pt x="252" y="68"/>
                      <a:pt x="220" y="75"/>
                    </a:cubicBezTo>
                    <a:cubicBezTo>
                      <a:pt x="180" y="84"/>
                      <a:pt x="151" y="107"/>
                      <a:pt x="129" y="141"/>
                    </a:cubicBezTo>
                    <a:cubicBezTo>
                      <a:pt x="126" y="146"/>
                      <a:pt x="126" y="159"/>
                      <a:pt x="129" y="163"/>
                    </a:cubicBezTo>
                    <a:cubicBezTo>
                      <a:pt x="171" y="207"/>
                      <a:pt x="214" y="251"/>
                      <a:pt x="258" y="294"/>
                    </a:cubicBezTo>
                    <a:cubicBezTo>
                      <a:pt x="262" y="298"/>
                      <a:pt x="275" y="299"/>
                      <a:pt x="279" y="295"/>
                    </a:cubicBezTo>
                    <a:cubicBezTo>
                      <a:pt x="315" y="265"/>
                      <a:pt x="338" y="227"/>
                      <a:pt x="340" y="1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5" name="Freeform 270"/>
              <p:cNvSpPr/>
              <p:nvPr/>
            </p:nvSpPr>
            <p:spPr bwMode="auto">
              <a:xfrm>
                <a:off x="14298613" y="2152650"/>
                <a:ext cx="1727200" cy="1430338"/>
              </a:xfrm>
              <a:custGeom>
                <a:avLst/>
                <a:gdLst>
                  <a:gd name="T0" fmla="*/ 137 w 547"/>
                  <a:gd name="T1" fmla="*/ 133 h 453"/>
                  <a:gd name="T2" fmla="*/ 238 w 547"/>
                  <a:gd name="T3" fmla="*/ 162 h 453"/>
                  <a:gd name="T4" fmla="*/ 252 w 547"/>
                  <a:gd name="T5" fmla="*/ 168 h 453"/>
                  <a:gd name="T6" fmla="*/ 309 w 547"/>
                  <a:gd name="T7" fmla="*/ 153 h 453"/>
                  <a:gd name="T8" fmla="*/ 435 w 547"/>
                  <a:gd name="T9" fmla="*/ 31 h 453"/>
                  <a:gd name="T10" fmla="*/ 515 w 547"/>
                  <a:gd name="T11" fmla="*/ 2 h 453"/>
                  <a:gd name="T12" fmla="*/ 535 w 547"/>
                  <a:gd name="T13" fmla="*/ 35 h 453"/>
                  <a:gd name="T14" fmla="*/ 489 w 547"/>
                  <a:gd name="T15" fmla="*/ 90 h 453"/>
                  <a:gd name="T16" fmla="*/ 378 w 547"/>
                  <a:gd name="T17" fmla="*/ 196 h 453"/>
                  <a:gd name="T18" fmla="*/ 386 w 547"/>
                  <a:gd name="T19" fmla="*/ 247 h 453"/>
                  <a:gd name="T20" fmla="*/ 485 w 547"/>
                  <a:gd name="T21" fmla="*/ 287 h 453"/>
                  <a:gd name="T22" fmla="*/ 494 w 547"/>
                  <a:gd name="T23" fmla="*/ 314 h 453"/>
                  <a:gd name="T24" fmla="*/ 459 w 547"/>
                  <a:gd name="T25" fmla="*/ 344 h 453"/>
                  <a:gd name="T26" fmla="*/ 430 w 547"/>
                  <a:gd name="T27" fmla="*/ 345 h 453"/>
                  <a:gd name="T28" fmla="*/ 347 w 547"/>
                  <a:gd name="T29" fmla="*/ 302 h 453"/>
                  <a:gd name="T30" fmla="*/ 294 w 547"/>
                  <a:gd name="T31" fmla="*/ 307 h 453"/>
                  <a:gd name="T32" fmla="*/ 250 w 547"/>
                  <a:gd name="T33" fmla="*/ 348 h 453"/>
                  <a:gd name="T34" fmla="*/ 126 w 547"/>
                  <a:gd name="T35" fmla="*/ 417 h 453"/>
                  <a:gd name="T36" fmla="*/ 47 w 547"/>
                  <a:gd name="T37" fmla="*/ 445 h 453"/>
                  <a:gd name="T38" fmla="*/ 8 w 547"/>
                  <a:gd name="T39" fmla="*/ 437 h 453"/>
                  <a:gd name="T40" fmla="*/ 22 w 547"/>
                  <a:gd name="T41" fmla="*/ 404 h 453"/>
                  <a:gd name="T42" fmla="*/ 201 w 547"/>
                  <a:gd name="T43" fmla="*/ 264 h 453"/>
                  <a:gd name="T44" fmla="*/ 214 w 547"/>
                  <a:gd name="T45" fmla="*/ 243 h 453"/>
                  <a:gd name="T46" fmla="*/ 190 w 547"/>
                  <a:gd name="T47" fmla="*/ 233 h 453"/>
                  <a:gd name="T48" fmla="*/ 94 w 547"/>
                  <a:gd name="T49" fmla="*/ 203 h 453"/>
                  <a:gd name="T50" fmla="*/ 89 w 547"/>
                  <a:gd name="T51" fmla="*/ 163 h 453"/>
                  <a:gd name="T52" fmla="*/ 137 w 547"/>
                  <a:gd name="T53" fmla="*/ 133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7" h="453">
                    <a:moveTo>
                      <a:pt x="137" y="133"/>
                    </a:moveTo>
                    <a:cubicBezTo>
                      <a:pt x="173" y="143"/>
                      <a:pt x="205" y="152"/>
                      <a:pt x="238" y="162"/>
                    </a:cubicBezTo>
                    <a:cubicBezTo>
                      <a:pt x="243" y="163"/>
                      <a:pt x="247" y="166"/>
                      <a:pt x="252" y="168"/>
                    </a:cubicBezTo>
                    <a:cubicBezTo>
                      <a:pt x="285" y="181"/>
                      <a:pt x="289" y="181"/>
                      <a:pt x="309" y="153"/>
                    </a:cubicBezTo>
                    <a:cubicBezTo>
                      <a:pt x="345" y="106"/>
                      <a:pt x="385" y="64"/>
                      <a:pt x="435" y="31"/>
                    </a:cubicBezTo>
                    <a:cubicBezTo>
                      <a:pt x="459" y="15"/>
                      <a:pt x="484" y="0"/>
                      <a:pt x="515" y="2"/>
                    </a:cubicBezTo>
                    <a:cubicBezTo>
                      <a:pt x="538" y="3"/>
                      <a:pt x="547" y="16"/>
                      <a:pt x="535" y="35"/>
                    </a:cubicBezTo>
                    <a:cubicBezTo>
                      <a:pt x="522" y="55"/>
                      <a:pt x="506" y="73"/>
                      <a:pt x="489" y="90"/>
                    </a:cubicBezTo>
                    <a:cubicBezTo>
                      <a:pt x="453" y="126"/>
                      <a:pt x="415" y="160"/>
                      <a:pt x="378" y="196"/>
                    </a:cubicBezTo>
                    <a:cubicBezTo>
                      <a:pt x="352" y="223"/>
                      <a:pt x="353" y="231"/>
                      <a:pt x="386" y="247"/>
                    </a:cubicBezTo>
                    <a:cubicBezTo>
                      <a:pt x="418" y="262"/>
                      <a:pt x="452" y="274"/>
                      <a:pt x="485" y="287"/>
                    </a:cubicBezTo>
                    <a:cubicBezTo>
                      <a:pt x="502" y="293"/>
                      <a:pt x="506" y="301"/>
                      <a:pt x="494" y="314"/>
                    </a:cubicBezTo>
                    <a:cubicBezTo>
                      <a:pt x="484" y="325"/>
                      <a:pt x="472" y="336"/>
                      <a:pt x="459" y="344"/>
                    </a:cubicBezTo>
                    <a:cubicBezTo>
                      <a:pt x="451" y="348"/>
                      <a:pt x="438" y="349"/>
                      <a:pt x="430" y="345"/>
                    </a:cubicBezTo>
                    <a:cubicBezTo>
                      <a:pt x="401" y="332"/>
                      <a:pt x="374" y="317"/>
                      <a:pt x="347" y="302"/>
                    </a:cubicBezTo>
                    <a:cubicBezTo>
                      <a:pt x="320" y="287"/>
                      <a:pt x="317" y="287"/>
                      <a:pt x="294" y="307"/>
                    </a:cubicBezTo>
                    <a:cubicBezTo>
                      <a:pt x="279" y="320"/>
                      <a:pt x="265" y="334"/>
                      <a:pt x="250" y="348"/>
                    </a:cubicBezTo>
                    <a:cubicBezTo>
                      <a:pt x="214" y="381"/>
                      <a:pt x="172" y="403"/>
                      <a:pt x="126" y="417"/>
                    </a:cubicBezTo>
                    <a:cubicBezTo>
                      <a:pt x="99" y="425"/>
                      <a:pt x="73" y="436"/>
                      <a:pt x="47" y="445"/>
                    </a:cubicBezTo>
                    <a:cubicBezTo>
                      <a:pt x="32" y="451"/>
                      <a:pt x="17" y="453"/>
                      <a:pt x="8" y="437"/>
                    </a:cubicBezTo>
                    <a:cubicBezTo>
                      <a:pt x="0" y="422"/>
                      <a:pt x="11" y="413"/>
                      <a:pt x="22" y="404"/>
                    </a:cubicBezTo>
                    <a:cubicBezTo>
                      <a:pt x="82" y="357"/>
                      <a:pt x="142" y="311"/>
                      <a:pt x="201" y="264"/>
                    </a:cubicBezTo>
                    <a:cubicBezTo>
                      <a:pt x="207" y="259"/>
                      <a:pt x="210" y="250"/>
                      <a:pt x="214" y="243"/>
                    </a:cubicBezTo>
                    <a:cubicBezTo>
                      <a:pt x="206" y="240"/>
                      <a:pt x="198" y="235"/>
                      <a:pt x="190" y="233"/>
                    </a:cubicBezTo>
                    <a:cubicBezTo>
                      <a:pt x="158" y="223"/>
                      <a:pt x="125" y="216"/>
                      <a:pt x="94" y="203"/>
                    </a:cubicBezTo>
                    <a:cubicBezTo>
                      <a:pt x="72" y="194"/>
                      <a:pt x="71" y="178"/>
                      <a:pt x="89" y="163"/>
                    </a:cubicBezTo>
                    <a:cubicBezTo>
                      <a:pt x="103" y="151"/>
                      <a:pt x="120" y="143"/>
                      <a:pt x="137"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6" name="Freeform 271"/>
              <p:cNvSpPr/>
              <p:nvPr/>
            </p:nvSpPr>
            <p:spPr bwMode="auto">
              <a:xfrm>
                <a:off x="9023350" y="1411288"/>
                <a:ext cx="1192213" cy="1976438"/>
              </a:xfrm>
              <a:custGeom>
                <a:avLst/>
                <a:gdLst>
                  <a:gd name="T0" fmla="*/ 323 w 378"/>
                  <a:gd name="T1" fmla="*/ 127 h 626"/>
                  <a:gd name="T2" fmla="*/ 311 w 378"/>
                  <a:gd name="T3" fmla="*/ 170 h 626"/>
                  <a:gd name="T4" fmla="*/ 298 w 378"/>
                  <a:gd name="T5" fmla="*/ 234 h 626"/>
                  <a:gd name="T6" fmla="*/ 317 w 378"/>
                  <a:gd name="T7" fmla="*/ 273 h 626"/>
                  <a:gd name="T8" fmla="*/ 356 w 378"/>
                  <a:gd name="T9" fmla="*/ 297 h 626"/>
                  <a:gd name="T10" fmla="*/ 376 w 378"/>
                  <a:gd name="T11" fmla="*/ 312 h 626"/>
                  <a:gd name="T12" fmla="*/ 378 w 378"/>
                  <a:gd name="T13" fmla="*/ 331 h 626"/>
                  <a:gd name="T14" fmla="*/ 373 w 378"/>
                  <a:gd name="T15" fmla="*/ 356 h 626"/>
                  <a:gd name="T16" fmla="*/ 340 w 378"/>
                  <a:gd name="T17" fmla="*/ 350 h 626"/>
                  <a:gd name="T18" fmla="*/ 296 w 378"/>
                  <a:gd name="T19" fmla="*/ 297 h 626"/>
                  <a:gd name="T20" fmla="*/ 269 w 378"/>
                  <a:gd name="T21" fmla="*/ 235 h 626"/>
                  <a:gd name="T22" fmla="*/ 241 w 378"/>
                  <a:gd name="T23" fmla="*/ 224 h 626"/>
                  <a:gd name="T24" fmla="*/ 217 w 378"/>
                  <a:gd name="T25" fmla="*/ 273 h 626"/>
                  <a:gd name="T26" fmla="*/ 215 w 378"/>
                  <a:gd name="T27" fmla="*/ 382 h 626"/>
                  <a:gd name="T28" fmla="*/ 200 w 378"/>
                  <a:gd name="T29" fmla="*/ 416 h 626"/>
                  <a:gd name="T30" fmla="*/ 182 w 378"/>
                  <a:gd name="T31" fmla="*/ 423 h 626"/>
                  <a:gd name="T32" fmla="*/ 170 w 378"/>
                  <a:gd name="T33" fmla="*/ 410 h 626"/>
                  <a:gd name="T34" fmla="*/ 181 w 378"/>
                  <a:gd name="T35" fmla="*/ 363 h 626"/>
                  <a:gd name="T36" fmla="*/ 190 w 378"/>
                  <a:gd name="T37" fmla="*/ 316 h 626"/>
                  <a:gd name="T38" fmla="*/ 171 w 378"/>
                  <a:gd name="T39" fmla="*/ 310 h 626"/>
                  <a:gd name="T40" fmla="*/ 122 w 378"/>
                  <a:gd name="T41" fmla="*/ 428 h 626"/>
                  <a:gd name="T42" fmla="*/ 91 w 378"/>
                  <a:gd name="T43" fmla="*/ 573 h 626"/>
                  <a:gd name="T44" fmla="*/ 60 w 378"/>
                  <a:gd name="T45" fmla="*/ 609 h 626"/>
                  <a:gd name="T46" fmla="*/ 13 w 378"/>
                  <a:gd name="T47" fmla="*/ 596 h 626"/>
                  <a:gd name="T48" fmla="*/ 33 w 378"/>
                  <a:gd name="T49" fmla="*/ 462 h 626"/>
                  <a:gd name="T50" fmla="*/ 68 w 378"/>
                  <a:gd name="T51" fmla="*/ 406 h 626"/>
                  <a:gd name="T52" fmla="*/ 59 w 378"/>
                  <a:gd name="T53" fmla="*/ 354 h 626"/>
                  <a:gd name="T54" fmla="*/ 40 w 378"/>
                  <a:gd name="T55" fmla="*/ 291 h 626"/>
                  <a:gd name="T56" fmla="*/ 69 w 378"/>
                  <a:gd name="T57" fmla="*/ 283 h 626"/>
                  <a:gd name="T58" fmla="*/ 97 w 378"/>
                  <a:gd name="T59" fmla="*/ 316 h 626"/>
                  <a:gd name="T60" fmla="*/ 126 w 378"/>
                  <a:gd name="T61" fmla="*/ 328 h 626"/>
                  <a:gd name="T62" fmla="*/ 152 w 378"/>
                  <a:gd name="T63" fmla="*/ 297 h 626"/>
                  <a:gd name="T64" fmla="*/ 167 w 378"/>
                  <a:gd name="T65" fmla="*/ 157 h 626"/>
                  <a:gd name="T66" fmla="*/ 167 w 378"/>
                  <a:gd name="T67" fmla="*/ 121 h 626"/>
                  <a:gd name="T68" fmla="*/ 130 w 378"/>
                  <a:gd name="T69" fmla="*/ 128 h 626"/>
                  <a:gd name="T70" fmla="*/ 76 w 378"/>
                  <a:gd name="T71" fmla="*/ 177 h 626"/>
                  <a:gd name="T72" fmla="*/ 36 w 378"/>
                  <a:gd name="T73" fmla="*/ 219 h 626"/>
                  <a:gd name="T74" fmla="*/ 9 w 378"/>
                  <a:gd name="T75" fmla="*/ 207 h 626"/>
                  <a:gd name="T76" fmla="*/ 19 w 378"/>
                  <a:gd name="T77" fmla="*/ 156 h 626"/>
                  <a:gd name="T78" fmla="*/ 73 w 378"/>
                  <a:gd name="T79" fmla="*/ 43 h 626"/>
                  <a:gd name="T80" fmla="*/ 120 w 378"/>
                  <a:gd name="T81" fmla="*/ 9 h 626"/>
                  <a:gd name="T82" fmla="*/ 157 w 378"/>
                  <a:gd name="T83" fmla="*/ 34 h 626"/>
                  <a:gd name="T84" fmla="*/ 215 w 378"/>
                  <a:gd name="T85" fmla="*/ 70 h 626"/>
                  <a:gd name="T86" fmla="*/ 239 w 378"/>
                  <a:gd name="T87" fmla="*/ 70 h 626"/>
                  <a:gd name="T88" fmla="*/ 235 w 378"/>
                  <a:gd name="T89" fmla="*/ 96 h 626"/>
                  <a:gd name="T90" fmla="*/ 192 w 378"/>
                  <a:gd name="T91" fmla="*/ 175 h 626"/>
                  <a:gd name="T92" fmla="*/ 184 w 378"/>
                  <a:gd name="T93" fmla="*/ 211 h 626"/>
                  <a:gd name="T94" fmla="*/ 196 w 378"/>
                  <a:gd name="T95" fmla="*/ 235 h 626"/>
                  <a:gd name="T96" fmla="*/ 220 w 378"/>
                  <a:gd name="T97" fmla="*/ 228 h 626"/>
                  <a:gd name="T98" fmla="*/ 298 w 378"/>
                  <a:gd name="T99" fmla="*/ 145 h 626"/>
                  <a:gd name="T100" fmla="*/ 315 w 378"/>
                  <a:gd name="T101" fmla="*/ 121 h 626"/>
                  <a:gd name="T102" fmla="*/ 323 w 378"/>
                  <a:gd name="T103" fmla="*/ 12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78" h="626">
                    <a:moveTo>
                      <a:pt x="323" y="127"/>
                    </a:moveTo>
                    <a:cubicBezTo>
                      <a:pt x="332" y="145"/>
                      <a:pt x="326" y="160"/>
                      <a:pt x="311" y="170"/>
                    </a:cubicBezTo>
                    <a:cubicBezTo>
                      <a:pt x="286" y="188"/>
                      <a:pt x="284" y="208"/>
                      <a:pt x="298" y="234"/>
                    </a:cubicBezTo>
                    <a:cubicBezTo>
                      <a:pt x="305" y="247"/>
                      <a:pt x="310" y="260"/>
                      <a:pt x="317" y="273"/>
                    </a:cubicBezTo>
                    <a:cubicBezTo>
                      <a:pt x="325" y="289"/>
                      <a:pt x="337" y="300"/>
                      <a:pt x="356" y="297"/>
                    </a:cubicBezTo>
                    <a:cubicBezTo>
                      <a:pt x="368" y="295"/>
                      <a:pt x="374" y="301"/>
                      <a:pt x="376" y="312"/>
                    </a:cubicBezTo>
                    <a:cubicBezTo>
                      <a:pt x="377" y="318"/>
                      <a:pt x="378" y="325"/>
                      <a:pt x="378" y="331"/>
                    </a:cubicBezTo>
                    <a:cubicBezTo>
                      <a:pt x="377" y="340"/>
                      <a:pt x="375" y="356"/>
                      <a:pt x="373" y="356"/>
                    </a:cubicBezTo>
                    <a:cubicBezTo>
                      <a:pt x="362" y="356"/>
                      <a:pt x="347" y="357"/>
                      <a:pt x="340" y="350"/>
                    </a:cubicBezTo>
                    <a:cubicBezTo>
                      <a:pt x="323" y="334"/>
                      <a:pt x="308" y="316"/>
                      <a:pt x="296" y="297"/>
                    </a:cubicBezTo>
                    <a:cubicBezTo>
                      <a:pt x="284" y="277"/>
                      <a:pt x="277" y="256"/>
                      <a:pt x="269" y="235"/>
                    </a:cubicBezTo>
                    <a:cubicBezTo>
                      <a:pt x="263" y="220"/>
                      <a:pt x="255" y="217"/>
                      <a:pt x="241" y="224"/>
                    </a:cubicBezTo>
                    <a:cubicBezTo>
                      <a:pt x="222" y="234"/>
                      <a:pt x="216" y="249"/>
                      <a:pt x="217" y="273"/>
                    </a:cubicBezTo>
                    <a:cubicBezTo>
                      <a:pt x="217" y="309"/>
                      <a:pt x="217" y="346"/>
                      <a:pt x="215" y="382"/>
                    </a:cubicBezTo>
                    <a:cubicBezTo>
                      <a:pt x="215" y="394"/>
                      <a:pt x="207" y="406"/>
                      <a:pt x="200" y="416"/>
                    </a:cubicBezTo>
                    <a:cubicBezTo>
                      <a:pt x="197" y="421"/>
                      <a:pt x="188" y="424"/>
                      <a:pt x="182" y="423"/>
                    </a:cubicBezTo>
                    <a:cubicBezTo>
                      <a:pt x="177" y="423"/>
                      <a:pt x="169" y="414"/>
                      <a:pt x="170" y="410"/>
                    </a:cubicBezTo>
                    <a:cubicBezTo>
                      <a:pt x="172" y="394"/>
                      <a:pt x="177" y="379"/>
                      <a:pt x="181" y="363"/>
                    </a:cubicBezTo>
                    <a:cubicBezTo>
                      <a:pt x="184" y="347"/>
                      <a:pt x="190" y="332"/>
                      <a:pt x="190" y="316"/>
                    </a:cubicBezTo>
                    <a:cubicBezTo>
                      <a:pt x="190" y="302"/>
                      <a:pt x="182" y="300"/>
                      <a:pt x="171" y="310"/>
                    </a:cubicBezTo>
                    <a:cubicBezTo>
                      <a:pt x="133" y="341"/>
                      <a:pt x="119" y="380"/>
                      <a:pt x="122" y="428"/>
                    </a:cubicBezTo>
                    <a:cubicBezTo>
                      <a:pt x="125" y="479"/>
                      <a:pt x="115" y="528"/>
                      <a:pt x="91" y="573"/>
                    </a:cubicBezTo>
                    <a:cubicBezTo>
                      <a:pt x="83" y="587"/>
                      <a:pt x="72" y="599"/>
                      <a:pt x="60" y="609"/>
                    </a:cubicBezTo>
                    <a:cubicBezTo>
                      <a:pt x="42" y="626"/>
                      <a:pt x="20" y="620"/>
                      <a:pt x="13" y="596"/>
                    </a:cubicBezTo>
                    <a:cubicBezTo>
                      <a:pt x="0" y="549"/>
                      <a:pt x="1" y="503"/>
                      <a:pt x="33" y="462"/>
                    </a:cubicBezTo>
                    <a:cubicBezTo>
                      <a:pt x="47" y="444"/>
                      <a:pt x="57" y="425"/>
                      <a:pt x="68" y="406"/>
                    </a:cubicBezTo>
                    <a:cubicBezTo>
                      <a:pt x="77" y="387"/>
                      <a:pt x="77" y="369"/>
                      <a:pt x="59" y="354"/>
                    </a:cubicBezTo>
                    <a:cubicBezTo>
                      <a:pt x="40" y="337"/>
                      <a:pt x="32" y="316"/>
                      <a:pt x="40" y="291"/>
                    </a:cubicBezTo>
                    <a:cubicBezTo>
                      <a:pt x="45" y="271"/>
                      <a:pt x="54" y="268"/>
                      <a:pt x="69" y="283"/>
                    </a:cubicBezTo>
                    <a:cubicBezTo>
                      <a:pt x="79" y="293"/>
                      <a:pt x="88" y="305"/>
                      <a:pt x="97" y="316"/>
                    </a:cubicBezTo>
                    <a:cubicBezTo>
                      <a:pt x="105" y="325"/>
                      <a:pt x="113" y="334"/>
                      <a:pt x="126" y="328"/>
                    </a:cubicBezTo>
                    <a:cubicBezTo>
                      <a:pt x="140" y="322"/>
                      <a:pt x="155" y="314"/>
                      <a:pt x="152" y="297"/>
                    </a:cubicBezTo>
                    <a:cubicBezTo>
                      <a:pt x="145" y="249"/>
                      <a:pt x="157" y="203"/>
                      <a:pt x="167" y="157"/>
                    </a:cubicBezTo>
                    <a:cubicBezTo>
                      <a:pt x="170" y="146"/>
                      <a:pt x="167" y="133"/>
                      <a:pt x="167" y="121"/>
                    </a:cubicBezTo>
                    <a:cubicBezTo>
                      <a:pt x="155" y="123"/>
                      <a:pt x="139" y="121"/>
                      <a:pt x="130" y="128"/>
                    </a:cubicBezTo>
                    <a:cubicBezTo>
                      <a:pt x="110" y="142"/>
                      <a:pt x="93" y="160"/>
                      <a:pt x="76" y="177"/>
                    </a:cubicBezTo>
                    <a:cubicBezTo>
                      <a:pt x="62" y="191"/>
                      <a:pt x="50" y="206"/>
                      <a:pt x="36" y="219"/>
                    </a:cubicBezTo>
                    <a:cubicBezTo>
                      <a:pt x="23" y="231"/>
                      <a:pt x="9" y="224"/>
                      <a:pt x="9" y="207"/>
                    </a:cubicBezTo>
                    <a:cubicBezTo>
                      <a:pt x="10" y="190"/>
                      <a:pt x="13" y="172"/>
                      <a:pt x="19" y="156"/>
                    </a:cubicBezTo>
                    <a:cubicBezTo>
                      <a:pt x="35" y="118"/>
                      <a:pt x="52" y="79"/>
                      <a:pt x="73" y="43"/>
                    </a:cubicBezTo>
                    <a:cubicBezTo>
                      <a:pt x="82" y="28"/>
                      <a:pt x="102" y="16"/>
                      <a:pt x="120" y="9"/>
                    </a:cubicBezTo>
                    <a:cubicBezTo>
                      <a:pt x="140" y="0"/>
                      <a:pt x="154" y="12"/>
                      <a:pt x="157" y="34"/>
                    </a:cubicBezTo>
                    <a:cubicBezTo>
                      <a:pt x="162" y="77"/>
                      <a:pt x="174" y="84"/>
                      <a:pt x="215" y="70"/>
                    </a:cubicBezTo>
                    <a:cubicBezTo>
                      <a:pt x="222" y="68"/>
                      <a:pt x="231" y="70"/>
                      <a:pt x="239" y="70"/>
                    </a:cubicBezTo>
                    <a:cubicBezTo>
                      <a:pt x="238" y="79"/>
                      <a:pt x="239" y="89"/>
                      <a:pt x="235" y="96"/>
                    </a:cubicBezTo>
                    <a:cubicBezTo>
                      <a:pt x="222" y="122"/>
                      <a:pt x="206" y="148"/>
                      <a:pt x="192" y="175"/>
                    </a:cubicBezTo>
                    <a:cubicBezTo>
                      <a:pt x="187" y="186"/>
                      <a:pt x="184" y="199"/>
                      <a:pt x="184" y="211"/>
                    </a:cubicBezTo>
                    <a:cubicBezTo>
                      <a:pt x="184" y="219"/>
                      <a:pt x="189" y="231"/>
                      <a:pt x="196" y="235"/>
                    </a:cubicBezTo>
                    <a:cubicBezTo>
                      <a:pt x="201" y="238"/>
                      <a:pt x="214" y="233"/>
                      <a:pt x="220" y="228"/>
                    </a:cubicBezTo>
                    <a:cubicBezTo>
                      <a:pt x="247" y="201"/>
                      <a:pt x="272" y="173"/>
                      <a:pt x="298" y="145"/>
                    </a:cubicBezTo>
                    <a:cubicBezTo>
                      <a:pt x="305" y="138"/>
                      <a:pt x="309" y="129"/>
                      <a:pt x="315" y="121"/>
                    </a:cubicBezTo>
                    <a:cubicBezTo>
                      <a:pt x="318" y="123"/>
                      <a:pt x="321" y="125"/>
                      <a:pt x="323"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7" name="Freeform 272"/>
              <p:cNvSpPr/>
              <p:nvPr/>
            </p:nvSpPr>
            <p:spPr bwMode="auto">
              <a:xfrm>
                <a:off x="2481263" y="15332075"/>
                <a:ext cx="2138363" cy="2058988"/>
              </a:xfrm>
              <a:custGeom>
                <a:avLst/>
                <a:gdLst>
                  <a:gd name="T0" fmla="*/ 602 w 678"/>
                  <a:gd name="T1" fmla="*/ 334 h 652"/>
                  <a:gd name="T2" fmla="*/ 678 w 678"/>
                  <a:gd name="T3" fmla="*/ 485 h 652"/>
                  <a:gd name="T4" fmla="*/ 672 w 678"/>
                  <a:gd name="T5" fmla="*/ 488 h 652"/>
                  <a:gd name="T6" fmla="*/ 662 w 678"/>
                  <a:gd name="T7" fmla="*/ 473 h 652"/>
                  <a:gd name="T8" fmla="*/ 592 w 678"/>
                  <a:gd name="T9" fmla="*/ 452 h 652"/>
                  <a:gd name="T10" fmla="*/ 492 w 678"/>
                  <a:gd name="T11" fmla="*/ 503 h 652"/>
                  <a:gd name="T12" fmla="*/ 217 w 678"/>
                  <a:gd name="T13" fmla="*/ 644 h 652"/>
                  <a:gd name="T14" fmla="*/ 198 w 678"/>
                  <a:gd name="T15" fmla="*/ 652 h 652"/>
                  <a:gd name="T16" fmla="*/ 192 w 678"/>
                  <a:gd name="T17" fmla="*/ 647 h 652"/>
                  <a:gd name="T18" fmla="*/ 398 w 678"/>
                  <a:gd name="T19" fmla="*/ 165 h 652"/>
                  <a:gd name="T20" fmla="*/ 376 w 678"/>
                  <a:gd name="T21" fmla="*/ 171 h 652"/>
                  <a:gd name="T22" fmla="*/ 123 w 678"/>
                  <a:gd name="T23" fmla="*/ 300 h 652"/>
                  <a:gd name="T24" fmla="*/ 79 w 678"/>
                  <a:gd name="T25" fmla="*/ 391 h 652"/>
                  <a:gd name="T26" fmla="*/ 72 w 678"/>
                  <a:gd name="T27" fmla="*/ 390 h 652"/>
                  <a:gd name="T28" fmla="*/ 0 w 678"/>
                  <a:gd name="T29" fmla="*/ 254 h 652"/>
                  <a:gd name="T30" fmla="*/ 5 w 678"/>
                  <a:gd name="T31" fmla="*/ 250 h 652"/>
                  <a:gd name="T32" fmla="*/ 16 w 678"/>
                  <a:gd name="T33" fmla="*/ 261 h 652"/>
                  <a:gd name="T34" fmla="*/ 92 w 678"/>
                  <a:gd name="T35" fmla="*/ 283 h 652"/>
                  <a:gd name="T36" fmla="*/ 259 w 678"/>
                  <a:gd name="T37" fmla="*/ 200 h 652"/>
                  <a:gd name="T38" fmla="*/ 392 w 678"/>
                  <a:gd name="T39" fmla="*/ 132 h 652"/>
                  <a:gd name="T40" fmla="*/ 434 w 678"/>
                  <a:gd name="T41" fmla="*/ 35 h 652"/>
                  <a:gd name="T42" fmla="*/ 424 w 678"/>
                  <a:gd name="T43" fmla="*/ 3 h 652"/>
                  <a:gd name="T44" fmla="*/ 429 w 678"/>
                  <a:gd name="T45" fmla="*/ 0 h 652"/>
                  <a:gd name="T46" fmla="*/ 440 w 678"/>
                  <a:gd name="T47" fmla="*/ 17 h 652"/>
                  <a:gd name="T48" fmla="*/ 483 w 678"/>
                  <a:gd name="T49" fmla="*/ 105 h 652"/>
                  <a:gd name="T50" fmla="*/ 484 w 678"/>
                  <a:gd name="T51" fmla="*/ 133 h 652"/>
                  <a:gd name="T52" fmla="*/ 310 w 678"/>
                  <a:gd name="T53" fmla="*/ 536 h 652"/>
                  <a:gd name="T54" fmla="*/ 302 w 678"/>
                  <a:gd name="T55" fmla="*/ 562 h 652"/>
                  <a:gd name="T56" fmla="*/ 322 w 678"/>
                  <a:gd name="T57" fmla="*/ 558 h 652"/>
                  <a:gd name="T58" fmla="*/ 578 w 678"/>
                  <a:gd name="T59" fmla="*/ 424 h 652"/>
                  <a:gd name="T60" fmla="*/ 601 w 678"/>
                  <a:gd name="T61" fmla="*/ 350 h 652"/>
                  <a:gd name="T62" fmla="*/ 596 w 678"/>
                  <a:gd name="T63" fmla="*/ 337 h 652"/>
                  <a:gd name="T64" fmla="*/ 602 w 678"/>
                  <a:gd name="T65" fmla="*/ 334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8" h="652">
                    <a:moveTo>
                      <a:pt x="602" y="334"/>
                    </a:moveTo>
                    <a:cubicBezTo>
                      <a:pt x="627" y="384"/>
                      <a:pt x="652" y="435"/>
                      <a:pt x="678" y="485"/>
                    </a:cubicBezTo>
                    <a:cubicBezTo>
                      <a:pt x="676" y="486"/>
                      <a:pt x="674" y="487"/>
                      <a:pt x="672" y="488"/>
                    </a:cubicBezTo>
                    <a:cubicBezTo>
                      <a:pt x="669" y="483"/>
                      <a:pt x="665" y="478"/>
                      <a:pt x="662" y="473"/>
                    </a:cubicBezTo>
                    <a:cubicBezTo>
                      <a:pt x="643" y="442"/>
                      <a:pt x="625" y="436"/>
                      <a:pt x="592" y="452"/>
                    </a:cubicBezTo>
                    <a:cubicBezTo>
                      <a:pt x="558" y="468"/>
                      <a:pt x="526" y="486"/>
                      <a:pt x="492" y="503"/>
                    </a:cubicBezTo>
                    <a:cubicBezTo>
                      <a:pt x="401" y="550"/>
                      <a:pt x="309" y="597"/>
                      <a:pt x="217" y="644"/>
                    </a:cubicBezTo>
                    <a:cubicBezTo>
                      <a:pt x="211" y="647"/>
                      <a:pt x="204" y="649"/>
                      <a:pt x="198" y="652"/>
                    </a:cubicBezTo>
                    <a:cubicBezTo>
                      <a:pt x="196" y="650"/>
                      <a:pt x="194" y="649"/>
                      <a:pt x="192" y="647"/>
                    </a:cubicBezTo>
                    <a:cubicBezTo>
                      <a:pt x="260" y="488"/>
                      <a:pt x="328" y="330"/>
                      <a:pt x="398" y="165"/>
                    </a:cubicBezTo>
                    <a:cubicBezTo>
                      <a:pt x="387" y="168"/>
                      <a:pt x="381" y="169"/>
                      <a:pt x="376" y="171"/>
                    </a:cubicBezTo>
                    <a:cubicBezTo>
                      <a:pt x="291" y="214"/>
                      <a:pt x="208" y="258"/>
                      <a:pt x="123" y="300"/>
                    </a:cubicBezTo>
                    <a:cubicBezTo>
                      <a:pt x="86" y="319"/>
                      <a:pt x="54" y="339"/>
                      <a:pt x="79" y="391"/>
                    </a:cubicBezTo>
                    <a:cubicBezTo>
                      <a:pt x="76" y="391"/>
                      <a:pt x="74" y="391"/>
                      <a:pt x="72" y="390"/>
                    </a:cubicBezTo>
                    <a:cubicBezTo>
                      <a:pt x="48" y="345"/>
                      <a:pt x="24" y="300"/>
                      <a:pt x="0" y="254"/>
                    </a:cubicBezTo>
                    <a:cubicBezTo>
                      <a:pt x="2" y="253"/>
                      <a:pt x="4" y="251"/>
                      <a:pt x="5" y="250"/>
                    </a:cubicBezTo>
                    <a:cubicBezTo>
                      <a:pt x="9" y="254"/>
                      <a:pt x="14" y="257"/>
                      <a:pt x="16" y="261"/>
                    </a:cubicBezTo>
                    <a:cubicBezTo>
                      <a:pt x="40" y="296"/>
                      <a:pt x="54" y="301"/>
                      <a:pt x="92" y="283"/>
                    </a:cubicBezTo>
                    <a:cubicBezTo>
                      <a:pt x="148" y="256"/>
                      <a:pt x="204" y="228"/>
                      <a:pt x="259" y="200"/>
                    </a:cubicBezTo>
                    <a:cubicBezTo>
                      <a:pt x="304" y="178"/>
                      <a:pt x="348" y="155"/>
                      <a:pt x="392" y="132"/>
                    </a:cubicBezTo>
                    <a:cubicBezTo>
                      <a:pt x="428" y="113"/>
                      <a:pt x="445" y="74"/>
                      <a:pt x="434" y="35"/>
                    </a:cubicBezTo>
                    <a:cubicBezTo>
                      <a:pt x="431" y="24"/>
                      <a:pt x="427" y="13"/>
                      <a:pt x="424" y="3"/>
                    </a:cubicBezTo>
                    <a:cubicBezTo>
                      <a:pt x="425" y="2"/>
                      <a:pt x="427" y="1"/>
                      <a:pt x="429" y="0"/>
                    </a:cubicBezTo>
                    <a:cubicBezTo>
                      <a:pt x="432" y="6"/>
                      <a:pt x="437" y="11"/>
                      <a:pt x="440" y="17"/>
                    </a:cubicBezTo>
                    <a:cubicBezTo>
                      <a:pt x="455" y="46"/>
                      <a:pt x="470" y="75"/>
                      <a:pt x="483" y="105"/>
                    </a:cubicBezTo>
                    <a:cubicBezTo>
                      <a:pt x="487" y="113"/>
                      <a:pt x="487" y="125"/>
                      <a:pt x="484" y="133"/>
                    </a:cubicBezTo>
                    <a:cubicBezTo>
                      <a:pt x="426" y="267"/>
                      <a:pt x="368" y="401"/>
                      <a:pt x="310" y="536"/>
                    </a:cubicBezTo>
                    <a:cubicBezTo>
                      <a:pt x="307" y="543"/>
                      <a:pt x="305" y="551"/>
                      <a:pt x="302" y="562"/>
                    </a:cubicBezTo>
                    <a:cubicBezTo>
                      <a:pt x="311" y="560"/>
                      <a:pt x="317" y="561"/>
                      <a:pt x="322" y="558"/>
                    </a:cubicBezTo>
                    <a:cubicBezTo>
                      <a:pt x="407" y="514"/>
                      <a:pt x="493" y="470"/>
                      <a:pt x="578" y="424"/>
                    </a:cubicBezTo>
                    <a:cubicBezTo>
                      <a:pt x="616" y="403"/>
                      <a:pt x="618" y="391"/>
                      <a:pt x="601" y="350"/>
                    </a:cubicBezTo>
                    <a:cubicBezTo>
                      <a:pt x="599" y="346"/>
                      <a:pt x="598" y="341"/>
                      <a:pt x="596" y="337"/>
                    </a:cubicBezTo>
                    <a:cubicBezTo>
                      <a:pt x="598" y="336"/>
                      <a:pt x="600" y="335"/>
                      <a:pt x="602" y="3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8" name="Freeform 273"/>
              <p:cNvSpPr>
                <a:spLocks noEditPoints="1"/>
              </p:cNvSpPr>
              <p:nvPr/>
            </p:nvSpPr>
            <p:spPr bwMode="auto">
              <a:xfrm>
                <a:off x="1868488" y="13633450"/>
                <a:ext cx="1681163" cy="1641475"/>
              </a:xfrm>
              <a:custGeom>
                <a:avLst/>
                <a:gdLst>
                  <a:gd name="T0" fmla="*/ 531 w 533"/>
                  <a:gd name="T1" fmla="*/ 272 h 520"/>
                  <a:gd name="T2" fmla="*/ 395 w 533"/>
                  <a:gd name="T3" fmla="*/ 473 h 520"/>
                  <a:gd name="T4" fmla="*/ 159 w 533"/>
                  <a:gd name="T5" fmla="*/ 487 h 520"/>
                  <a:gd name="T6" fmla="*/ 26 w 533"/>
                  <a:gd name="T7" fmla="*/ 344 h 520"/>
                  <a:gd name="T8" fmla="*/ 53 w 533"/>
                  <a:gd name="T9" fmla="*/ 130 h 520"/>
                  <a:gd name="T10" fmla="*/ 209 w 533"/>
                  <a:gd name="T11" fmla="*/ 27 h 520"/>
                  <a:gd name="T12" fmla="*/ 465 w 533"/>
                  <a:gd name="T13" fmla="*/ 94 h 520"/>
                  <a:gd name="T14" fmla="*/ 531 w 533"/>
                  <a:gd name="T15" fmla="*/ 272 h 520"/>
                  <a:gd name="T16" fmla="*/ 321 w 533"/>
                  <a:gd name="T17" fmla="*/ 82 h 520"/>
                  <a:gd name="T18" fmla="*/ 239 w 533"/>
                  <a:gd name="T19" fmla="*/ 97 h 520"/>
                  <a:gd name="T20" fmla="*/ 67 w 533"/>
                  <a:gd name="T21" fmla="*/ 191 h 520"/>
                  <a:gd name="T22" fmla="*/ 39 w 533"/>
                  <a:gd name="T23" fmla="*/ 331 h 520"/>
                  <a:gd name="T24" fmla="*/ 161 w 533"/>
                  <a:gd name="T25" fmla="*/ 436 h 520"/>
                  <a:gd name="T26" fmla="*/ 448 w 533"/>
                  <a:gd name="T27" fmla="*/ 359 h 520"/>
                  <a:gd name="T28" fmla="*/ 448 w 533"/>
                  <a:gd name="T29" fmla="*/ 116 h 520"/>
                  <a:gd name="T30" fmla="*/ 321 w 533"/>
                  <a:gd name="T31" fmla="*/ 82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33" h="520">
                    <a:moveTo>
                      <a:pt x="531" y="272"/>
                    </a:moveTo>
                    <a:cubicBezTo>
                      <a:pt x="522" y="357"/>
                      <a:pt x="480" y="428"/>
                      <a:pt x="395" y="473"/>
                    </a:cubicBezTo>
                    <a:cubicBezTo>
                      <a:pt x="319" y="513"/>
                      <a:pt x="239" y="520"/>
                      <a:pt x="159" y="487"/>
                    </a:cubicBezTo>
                    <a:cubicBezTo>
                      <a:pt x="93" y="460"/>
                      <a:pt x="50" y="411"/>
                      <a:pt x="26" y="344"/>
                    </a:cubicBezTo>
                    <a:cubicBezTo>
                      <a:pt x="0" y="268"/>
                      <a:pt x="10" y="197"/>
                      <a:pt x="53" y="130"/>
                    </a:cubicBezTo>
                    <a:cubicBezTo>
                      <a:pt x="90" y="74"/>
                      <a:pt x="145" y="44"/>
                      <a:pt x="209" y="27"/>
                    </a:cubicBezTo>
                    <a:cubicBezTo>
                      <a:pt x="308" y="0"/>
                      <a:pt x="394" y="22"/>
                      <a:pt x="465" y="94"/>
                    </a:cubicBezTo>
                    <a:cubicBezTo>
                      <a:pt x="510" y="140"/>
                      <a:pt x="528" y="200"/>
                      <a:pt x="531" y="272"/>
                    </a:cubicBezTo>
                    <a:close/>
                    <a:moveTo>
                      <a:pt x="321" y="82"/>
                    </a:moveTo>
                    <a:cubicBezTo>
                      <a:pt x="302" y="86"/>
                      <a:pt x="270" y="90"/>
                      <a:pt x="239" y="97"/>
                    </a:cubicBezTo>
                    <a:cubicBezTo>
                      <a:pt x="174" y="113"/>
                      <a:pt x="112" y="138"/>
                      <a:pt x="67" y="191"/>
                    </a:cubicBezTo>
                    <a:cubicBezTo>
                      <a:pt x="32" y="232"/>
                      <a:pt x="21" y="280"/>
                      <a:pt x="39" y="331"/>
                    </a:cubicBezTo>
                    <a:cubicBezTo>
                      <a:pt x="59" y="388"/>
                      <a:pt x="99" y="427"/>
                      <a:pt x="161" y="436"/>
                    </a:cubicBezTo>
                    <a:cubicBezTo>
                      <a:pt x="267" y="451"/>
                      <a:pt x="363" y="420"/>
                      <a:pt x="448" y="359"/>
                    </a:cubicBezTo>
                    <a:cubicBezTo>
                      <a:pt x="533" y="298"/>
                      <a:pt x="532" y="180"/>
                      <a:pt x="448" y="116"/>
                    </a:cubicBezTo>
                    <a:cubicBezTo>
                      <a:pt x="415" y="91"/>
                      <a:pt x="375" y="84"/>
                      <a:pt x="321"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9" name="Freeform 274"/>
              <p:cNvSpPr/>
              <p:nvPr/>
            </p:nvSpPr>
            <p:spPr bwMode="auto">
              <a:xfrm>
                <a:off x="11149013" y="20742275"/>
                <a:ext cx="1695450" cy="1657350"/>
              </a:xfrm>
              <a:custGeom>
                <a:avLst/>
                <a:gdLst>
                  <a:gd name="T0" fmla="*/ 376 w 537"/>
                  <a:gd name="T1" fmla="*/ 13 h 525"/>
                  <a:gd name="T2" fmla="*/ 537 w 537"/>
                  <a:gd name="T3" fmla="*/ 19 h 525"/>
                  <a:gd name="T4" fmla="*/ 537 w 537"/>
                  <a:gd name="T5" fmla="*/ 26 h 525"/>
                  <a:gd name="T6" fmla="*/ 513 w 537"/>
                  <a:gd name="T7" fmla="*/ 28 h 525"/>
                  <a:gd name="T8" fmla="*/ 468 w 537"/>
                  <a:gd name="T9" fmla="*/ 76 h 525"/>
                  <a:gd name="T10" fmla="*/ 456 w 537"/>
                  <a:gd name="T11" fmla="*/ 460 h 525"/>
                  <a:gd name="T12" fmla="*/ 452 w 537"/>
                  <a:gd name="T13" fmla="*/ 523 h 525"/>
                  <a:gd name="T14" fmla="*/ 447 w 537"/>
                  <a:gd name="T15" fmla="*/ 525 h 525"/>
                  <a:gd name="T16" fmla="*/ 415 w 537"/>
                  <a:gd name="T17" fmla="*/ 486 h 525"/>
                  <a:gd name="T18" fmla="*/ 169 w 537"/>
                  <a:gd name="T19" fmla="*/ 161 h 525"/>
                  <a:gd name="T20" fmla="*/ 141 w 537"/>
                  <a:gd name="T21" fmla="*/ 127 h 525"/>
                  <a:gd name="T22" fmla="*/ 127 w 537"/>
                  <a:gd name="T23" fmla="*/ 119 h 525"/>
                  <a:gd name="T24" fmla="*/ 121 w 537"/>
                  <a:gd name="T25" fmla="*/ 134 h 525"/>
                  <a:gd name="T26" fmla="*/ 119 w 537"/>
                  <a:gd name="T27" fmla="*/ 256 h 525"/>
                  <a:gd name="T28" fmla="*/ 112 w 537"/>
                  <a:gd name="T29" fmla="*/ 432 h 525"/>
                  <a:gd name="T30" fmla="*/ 173 w 537"/>
                  <a:gd name="T31" fmla="*/ 500 h 525"/>
                  <a:gd name="T32" fmla="*/ 180 w 537"/>
                  <a:gd name="T33" fmla="*/ 504 h 525"/>
                  <a:gd name="T34" fmla="*/ 15 w 537"/>
                  <a:gd name="T35" fmla="*/ 504 h 525"/>
                  <a:gd name="T36" fmla="*/ 14 w 537"/>
                  <a:gd name="T37" fmla="*/ 497 h 525"/>
                  <a:gd name="T38" fmla="*/ 36 w 537"/>
                  <a:gd name="T39" fmla="*/ 495 h 525"/>
                  <a:gd name="T40" fmla="*/ 82 w 537"/>
                  <a:gd name="T41" fmla="*/ 454 h 525"/>
                  <a:gd name="T42" fmla="*/ 91 w 537"/>
                  <a:gd name="T43" fmla="*/ 299 h 525"/>
                  <a:gd name="T44" fmla="*/ 97 w 537"/>
                  <a:gd name="T45" fmla="*/ 107 h 525"/>
                  <a:gd name="T46" fmla="*/ 21 w 537"/>
                  <a:gd name="T47" fmla="*/ 14 h 525"/>
                  <a:gd name="T48" fmla="*/ 0 w 537"/>
                  <a:gd name="T49" fmla="*/ 8 h 525"/>
                  <a:gd name="T50" fmla="*/ 0 w 537"/>
                  <a:gd name="T51" fmla="*/ 2 h 525"/>
                  <a:gd name="T52" fmla="*/ 20 w 537"/>
                  <a:gd name="T53" fmla="*/ 1 h 525"/>
                  <a:gd name="T54" fmla="*/ 110 w 537"/>
                  <a:gd name="T55" fmla="*/ 5 h 525"/>
                  <a:gd name="T56" fmla="*/ 146 w 537"/>
                  <a:gd name="T57" fmla="*/ 24 h 525"/>
                  <a:gd name="T58" fmla="*/ 372 w 537"/>
                  <a:gd name="T59" fmla="*/ 324 h 525"/>
                  <a:gd name="T60" fmla="*/ 411 w 537"/>
                  <a:gd name="T61" fmla="*/ 377 h 525"/>
                  <a:gd name="T62" fmla="*/ 425 w 537"/>
                  <a:gd name="T63" fmla="*/ 385 h 525"/>
                  <a:gd name="T64" fmla="*/ 431 w 537"/>
                  <a:gd name="T65" fmla="*/ 371 h 525"/>
                  <a:gd name="T66" fmla="*/ 437 w 537"/>
                  <a:gd name="T67" fmla="*/ 74 h 525"/>
                  <a:gd name="T68" fmla="*/ 387 w 537"/>
                  <a:gd name="T69" fmla="*/ 23 h 525"/>
                  <a:gd name="T70" fmla="*/ 375 w 537"/>
                  <a:gd name="T71" fmla="*/ 19 h 525"/>
                  <a:gd name="T72" fmla="*/ 376 w 537"/>
                  <a:gd name="T73" fmla="*/ 13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37" h="525">
                    <a:moveTo>
                      <a:pt x="376" y="13"/>
                    </a:moveTo>
                    <a:cubicBezTo>
                      <a:pt x="429" y="15"/>
                      <a:pt x="483" y="17"/>
                      <a:pt x="537" y="19"/>
                    </a:cubicBezTo>
                    <a:cubicBezTo>
                      <a:pt x="537" y="22"/>
                      <a:pt x="537" y="24"/>
                      <a:pt x="537" y="26"/>
                    </a:cubicBezTo>
                    <a:cubicBezTo>
                      <a:pt x="529" y="27"/>
                      <a:pt x="521" y="28"/>
                      <a:pt x="513" y="28"/>
                    </a:cubicBezTo>
                    <a:cubicBezTo>
                      <a:pt x="484" y="31"/>
                      <a:pt x="469" y="47"/>
                      <a:pt x="468" y="76"/>
                    </a:cubicBezTo>
                    <a:cubicBezTo>
                      <a:pt x="464" y="204"/>
                      <a:pt x="460" y="332"/>
                      <a:pt x="456" y="460"/>
                    </a:cubicBezTo>
                    <a:cubicBezTo>
                      <a:pt x="455" y="481"/>
                      <a:pt x="453" y="502"/>
                      <a:pt x="452" y="523"/>
                    </a:cubicBezTo>
                    <a:cubicBezTo>
                      <a:pt x="450" y="523"/>
                      <a:pt x="448" y="524"/>
                      <a:pt x="447" y="525"/>
                    </a:cubicBezTo>
                    <a:cubicBezTo>
                      <a:pt x="436" y="512"/>
                      <a:pt x="425" y="500"/>
                      <a:pt x="415" y="486"/>
                    </a:cubicBezTo>
                    <a:cubicBezTo>
                      <a:pt x="333" y="378"/>
                      <a:pt x="251" y="269"/>
                      <a:pt x="169" y="161"/>
                    </a:cubicBezTo>
                    <a:cubicBezTo>
                      <a:pt x="160" y="149"/>
                      <a:pt x="151" y="138"/>
                      <a:pt x="141" y="127"/>
                    </a:cubicBezTo>
                    <a:cubicBezTo>
                      <a:pt x="137" y="124"/>
                      <a:pt x="132" y="122"/>
                      <a:pt x="127" y="119"/>
                    </a:cubicBezTo>
                    <a:cubicBezTo>
                      <a:pt x="125" y="124"/>
                      <a:pt x="121" y="129"/>
                      <a:pt x="121" y="134"/>
                    </a:cubicBezTo>
                    <a:cubicBezTo>
                      <a:pt x="120" y="175"/>
                      <a:pt x="120" y="216"/>
                      <a:pt x="119" y="256"/>
                    </a:cubicBezTo>
                    <a:cubicBezTo>
                      <a:pt x="117" y="315"/>
                      <a:pt x="114" y="373"/>
                      <a:pt x="112" y="432"/>
                    </a:cubicBezTo>
                    <a:cubicBezTo>
                      <a:pt x="110" y="479"/>
                      <a:pt x="129" y="504"/>
                      <a:pt x="173" y="500"/>
                    </a:cubicBezTo>
                    <a:cubicBezTo>
                      <a:pt x="174" y="500"/>
                      <a:pt x="176" y="502"/>
                      <a:pt x="180" y="504"/>
                    </a:cubicBezTo>
                    <a:cubicBezTo>
                      <a:pt x="123" y="504"/>
                      <a:pt x="69" y="504"/>
                      <a:pt x="15" y="504"/>
                    </a:cubicBezTo>
                    <a:cubicBezTo>
                      <a:pt x="14" y="501"/>
                      <a:pt x="14" y="499"/>
                      <a:pt x="14" y="497"/>
                    </a:cubicBezTo>
                    <a:cubicBezTo>
                      <a:pt x="22" y="496"/>
                      <a:pt x="29" y="496"/>
                      <a:pt x="36" y="495"/>
                    </a:cubicBezTo>
                    <a:cubicBezTo>
                      <a:pt x="64" y="493"/>
                      <a:pt x="79" y="481"/>
                      <a:pt x="82" y="454"/>
                    </a:cubicBezTo>
                    <a:cubicBezTo>
                      <a:pt x="86" y="403"/>
                      <a:pt x="89" y="351"/>
                      <a:pt x="91" y="299"/>
                    </a:cubicBezTo>
                    <a:cubicBezTo>
                      <a:pt x="93" y="235"/>
                      <a:pt x="92" y="171"/>
                      <a:pt x="97" y="107"/>
                    </a:cubicBezTo>
                    <a:cubicBezTo>
                      <a:pt x="102" y="52"/>
                      <a:pt x="63" y="24"/>
                      <a:pt x="21" y="14"/>
                    </a:cubicBezTo>
                    <a:cubicBezTo>
                      <a:pt x="14" y="12"/>
                      <a:pt x="7" y="10"/>
                      <a:pt x="0" y="8"/>
                    </a:cubicBezTo>
                    <a:cubicBezTo>
                      <a:pt x="0" y="6"/>
                      <a:pt x="0" y="4"/>
                      <a:pt x="0" y="2"/>
                    </a:cubicBezTo>
                    <a:cubicBezTo>
                      <a:pt x="7" y="1"/>
                      <a:pt x="14" y="0"/>
                      <a:pt x="20" y="1"/>
                    </a:cubicBezTo>
                    <a:cubicBezTo>
                      <a:pt x="50" y="2"/>
                      <a:pt x="80" y="4"/>
                      <a:pt x="110" y="5"/>
                    </a:cubicBezTo>
                    <a:cubicBezTo>
                      <a:pt x="126" y="5"/>
                      <a:pt x="137" y="11"/>
                      <a:pt x="146" y="24"/>
                    </a:cubicBezTo>
                    <a:cubicBezTo>
                      <a:pt x="221" y="124"/>
                      <a:pt x="297" y="224"/>
                      <a:pt x="372" y="324"/>
                    </a:cubicBezTo>
                    <a:cubicBezTo>
                      <a:pt x="385" y="342"/>
                      <a:pt x="397" y="360"/>
                      <a:pt x="411" y="377"/>
                    </a:cubicBezTo>
                    <a:cubicBezTo>
                      <a:pt x="414" y="381"/>
                      <a:pt x="421" y="383"/>
                      <a:pt x="425" y="385"/>
                    </a:cubicBezTo>
                    <a:cubicBezTo>
                      <a:pt x="427" y="381"/>
                      <a:pt x="431" y="376"/>
                      <a:pt x="431" y="371"/>
                    </a:cubicBezTo>
                    <a:cubicBezTo>
                      <a:pt x="434" y="272"/>
                      <a:pt x="437" y="173"/>
                      <a:pt x="437" y="74"/>
                    </a:cubicBezTo>
                    <a:cubicBezTo>
                      <a:pt x="437" y="37"/>
                      <a:pt x="425" y="27"/>
                      <a:pt x="387" y="23"/>
                    </a:cubicBezTo>
                    <a:cubicBezTo>
                      <a:pt x="383" y="22"/>
                      <a:pt x="379" y="21"/>
                      <a:pt x="375" y="19"/>
                    </a:cubicBezTo>
                    <a:cubicBezTo>
                      <a:pt x="375" y="17"/>
                      <a:pt x="375" y="15"/>
                      <a:pt x="376"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0" name="Freeform 275"/>
              <p:cNvSpPr/>
              <p:nvPr/>
            </p:nvSpPr>
            <p:spPr bwMode="auto">
              <a:xfrm>
                <a:off x="16198850" y="19126200"/>
                <a:ext cx="1887538" cy="1989138"/>
              </a:xfrm>
              <a:custGeom>
                <a:avLst/>
                <a:gdLst>
                  <a:gd name="T0" fmla="*/ 564 w 598"/>
                  <a:gd name="T1" fmla="*/ 297 h 630"/>
                  <a:gd name="T2" fmla="*/ 589 w 598"/>
                  <a:gd name="T3" fmla="*/ 386 h 630"/>
                  <a:gd name="T4" fmla="*/ 565 w 598"/>
                  <a:gd name="T5" fmla="*/ 444 h 630"/>
                  <a:gd name="T6" fmla="*/ 288 w 598"/>
                  <a:gd name="T7" fmla="*/ 622 h 630"/>
                  <a:gd name="T8" fmla="*/ 272 w 598"/>
                  <a:gd name="T9" fmla="*/ 630 h 630"/>
                  <a:gd name="T10" fmla="*/ 269 w 598"/>
                  <a:gd name="T11" fmla="*/ 625 h 630"/>
                  <a:gd name="T12" fmla="*/ 281 w 598"/>
                  <a:gd name="T13" fmla="*/ 613 h 630"/>
                  <a:gd name="T14" fmla="*/ 292 w 598"/>
                  <a:gd name="T15" fmla="*/ 530 h 630"/>
                  <a:gd name="T16" fmla="*/ 97 w 598"/>
                  <a:gd name="T17" fmla="*/ 233 h 630"/>
                  <a:gd name="T18" fmla="*/ 16 w 598"/>
                  <a:gd name="T19" fmla="*/ 213 h 630"/>
                  <a:gd name="T20" fmla="*/ 3 w 598"/>
                  <a:gd name="T21" fmla="*/ 217 h 630"/>
                  <a:gd name="T22" fmla="*/ 0 w 598"/>
                  <a:gd name="T23" fmla="*/ 210 h 630"/>
                  <a:gd name="T24" fmla="*/ 323 w 598"/>
                  <a:gd name="T25" fmla="*/ 0 h 630"/>
                  <a:gd name="T26" fmla="*/ 383 w 598"/>
                  <a:gd name="T27" fmla="*/ 87 h 630"/>
                  <a:gd name="T28" fmla="*/ 378 w 598"/>
                  <a:gd name="T29" fmla="*/ 92 h 630"/>
                  <a:gd name="T30" fmla="*/ 362 w 598"/>
                  <a:gd name="T31" fmla="*/ 82 h 630"/>
                  <a:gd name="T32" fmla="*/ 258 w 598"/>
                  <a:gd name="T33" fmla="*/ 71 h 630"/>
                  <a:gd name="T34" fmla="*/ 149 w 598"/>
                  <a:gd name="T35" fmla="*/ 142 h 630"/>
                  <a:gd name="T36" fmla="*/ 142 w 598"/>
                  <a:gd name="T37" fmla="*/ 174 h 630"/>
                  <a:gd name="T38" fmla="*/ 231 w 598"/>
                  <a:gd name="T39" fmla="*/ 309 h 630"/>
                  <a:gd name="T40" fmla="*/ 252 w 598"/>
                  <a:gd name="T41" fmla="*/ 316 h 630"/>
                  <a:gd name="T42" fmla="*/ 362 w 598"/>
                  <a:gd name="T43" fmla="*/ 237 h 630"/>
                  <a:gd name="T44" fmla="*/ 371 w 598"/>
                  <a:gd name="T45" fmla="*/ 179 h 630"/>
                  <a:gd name="T46" fmla="*/ 363 w 598"/>
                  <a:gd name="T47" fmla="*/ 157 h 630"/>
                  <a:gd name="T48" fmla="*/ 370 w 598"/>
                  <a:gd name="T49" fmla="*/ 153 h 630"/>
                  <a:gd name="T50" fmla="*/ 462 w 598"/>
                  <a:gd name="T51" fmla="*/ 294 h 630"/>
                  <a:gd name="T52" fmla="*/ 458 w 598"/>
                  <a:gd name="T53" fmla="*/ 298 h 630"/>
                  <a:gd name="T54" fmla="*/ 442 w 598"/>
                  <a:gd name="T55" fmla="*/ 286 h 630"/>
                  <a:gd name="T56" fmla="*/ 357 w 598"/>
                  <a:gd name="T57" fmla="*/ 277 h 630"/>
                  <a:gd name="T58" fmla="*/ 269 w 598"/>
                  <a:gd name="T59" fmla="*/ 336 h 630"/>
                  <a:gd name="T60" fmla="*/ 264 w 598"/>
                  <a:gd name="T61" fmla="*/ 359 h 630"/>
                  <a:gd name="T62" fmla="*/ 354 w 598"/>
                  <a:gd name="T63" fmla="*/ 500 h 630"/>
                  <a:gd name="T64" fmla="*/ 409 w 598"/>
                  <a:gd name="T65" fmla="*/ 514 h 630"/>
                  <a:gd name="T66" fmla="*/ 444 w 598"/>
                  <a:gd name="T67" fmla="*/ 491 h 630"/>
                  <a:gd name="T68" fmla="*/ 518 w 598"/>
                  <a:gd name="T69" fmla="*/ 443 h 630"/>
                  <a:gd name="T70" fmla="*/ 554 w 598"/>
                  <a:gd name="T71" fmla="*/ 375 h 630"/>
                  <a:gd name="T72" fmla="*/ 554 w 598"/>
                  <a:gd name="T73" fmla="*/ 310 h 630"/>
                  <a:gd name="T74" fmla="*/ 557 w 598"/>
                  <a:gd name="T75" fmla="*/ 296 h 630"/>
                  <a:gd name="T76" fmla="*/ 564 w 598"/>
                  <a:gd name="T77" fmla="*/ 297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98" h="630">
                    <a:moveTo>
                      <a:pt x="564" y="297"/>
                    </a:moveTo>
                    <a:cubicBezTo>
                      <a:pt x="572" y="326"/>
                      <a:pt x="581" y="356"/>
                      <a:pt x="589" y="386"/>
                    </a:cubicBezTo>
                    <a:cubicBezTo>
                      <a:pt x="598" y="423"/>
                      <a:pt x="597" y="423"/>
                      <a:pt x="565" y="444"/>
                    </a:cubicBezTo>
                    <a:cubicBezTo>
                      <a:pt x="473" y="503"/>
                      <a:pt x="381" y="563"/>
                      <a:pt x="288" y="622"/>
                    </a:cubicBezTo>
                    <a:cubicBezTo>
                      <a:pt x="283" y="625"/>
                      <a:pt x="277" y="627"/>
                      <a:pt x="272" y="630"/>
                    </a:cubicBezTo>
                    <a:cubicBezTo>
                      <a:pt x="271" y="628"/>
                      <a:pt x="270" y="627"/>
                      <a:pt x="269" y="625"/>
                    </a:cubicBezTo>
                    <a:cubicBezTo>
                      <a:pt x="273" y="621"/>
                      <a:pt x="276" y="617"/>
                      <a:pt x="281" y="613"/>
                    </a:cubicBezTo>
                    <a:cubicBezTo>
                      <a:pt x="312" y="584"/>
                      <a:pt x="315" y="565"/>
                      <a:pt x="292" y="530"/>
                    </a:cubicBezTo>
                    <a:cubicBezTo>
                      <a:pt x="227" y="431"/>
                      <a:pt x="162" y="332"/>
                      <a:pt x="97" y="233"/>
                    </a:cubicBezTo>
                    <a:cubicBezTo>
                      <a:pt x="70" y="193"/>
                      <a:pt x="59" y="191"/>
                      <a:pt x="16" y="213"/>
                    </a:cubicBezTo>
                    <a:cubicBezTo>
                      <a:pt x="12" y="215"/>
                      <a:pt x="7" y="215"/>
                      <a:pt x="3" y="217"/>
                    </a:cubicBezTo>
                    <a:cubicBezTo>
                      <a:pt x="2" y="214"/>
                      <a:pt x="1" y="212"/>
                      <a:pt x="0" y="210"/>
                    </a:cubicBezTo>
                    <a:cubicBezTo>
                      <a:pt x="106" y="140"/>
                      <a:pt x="213" y="71"/>
                      <a:pt x="323" y="0"/>
                    </a:cubicBezTo>
                    <a:cubicBezTo>
                      <a:pt x="343" y="29"/>
                      <a:pt x="363" y="58"/>
                      <a:pt x="383" y="87"/>
                    </a:cubicBezTo>
                    <a:cubicBezTo>
                      <a:pt x="381" y="88"/>
                      <a:pt x="380" y="90"/>
                      <a:pt x="378" y="92"/>
                    </a:cubicBezTo>
                    <a:cubicBezTo>
                      <a:pt x="373" y="88"/>
                      <a:pt x="367" y="86"/>
                      <a:pt x="362" y="82"/>
                    </a:cubicBezTo>
                    <a:cubicBezTo>
                      <a:pt x="324" y="46"/>
                      <a:pt x="301" y="43"/>
                      <a:pt x="258" y="71"/>
                    </a:cubicBezTo>
                    <a:cubicBezTo>
                      <a:pt x="222" y="95"/>
                      <a:pt x="186" y="119"/>
                      <a:pt x="149" y="142"/>
                    </a:cubicBezTo>
                    <a:cubicBezTo>
                      <a:pt x="135" y="151"/>
                      <a:pt x="132" y="159"/>
                      <a:pt x="142" y="174"/>
                    </a:cubicBezTo>
                    <a:cubicBezTo>
                      <a:pt x="172" y="219"/>
                      <a:pt x="201" y="265"/>
                      <a:pt x="231" y="309"/>
                    </a:cubicBezTo>
                    <a:cubicBezTo>
                      <a:pt x="235" y="314"/>
                      <a:pt x="248" y="319"/>
                      <a:pt x="252" y="316"/>
                    </a:cubicBezTo>
                    <a:cubicBezTo>
                      <a:pt x="290" y="291"/>
                      <a:pt x="327" y="265"/>
                      <a:pt x="362" y="237"/>
                    </a:cubicBezTo>
                    <a:cubicBezTo>
                      <a:pt x="381" y="222"/>
                      <a:pt x="381" y="200"/>
                      <a:pt x="371" y="179"/>
                    </a:cubicBezTo>
                    <a:cubicBezTo>
                      <a:pt x="368" y="172"/>
                      <a:pt x="366" y="164"/>
                      <a:pt x="363" y="157"/>
                    </a:cubicBezTo>
                    <a:cubicBezTo>
                      <a:pt x="366" y="155"/>
                      <a:pt x="368" y="154"/>
                      <a:pt x="370" y="153"/>
                    </a:cubicBezTo>
                    <a:cubicBezTo>
                      <a:pt x="401" y="200"/>
                      <a:pt x="431" y="247"/>
                      <a:pt x="462" y="294"/>
                    </a:cubicBezTo>
                    <a:cubicBezTo>
                      <a:pt x="460" y="295"/>
                      <a:pt x="459" y="297"/>
                      <a:pt x="458" y="298"/>
                    </a:cubicBezTo>
                    <a:cubicBezTo>
                      <a:pt x="453" y="294"/>
                      <a:pt x="447" y="290"/>
                      <a:pt x="442" y="286"/>
                    </a:cubicBezTo>
                    <a:cubicBezTo>
                      <a:pt x="412" y="257"/>
                      <a:pt x="392" y="254"/>
                      <a:pt x="357" y="277"/>
                    </a:cubicBezTo>
                    <a:cubicBezTo>
                      <a:pt x="327" y="296"/>
                      <a:pt x="298" y="316"/>
                      <a:pt x="269" y="336"/>
                    </a:cubicBezTo>
                    <a:cubicBezTo>
                      <a:pt x="260" y="342"/>
                      <a:pt x="257" y="349"/>
                      <a:pt x="264" y="359"/>
                    </a:cubicBezTo>
                    <a:cubicBezTo>
                      <a:pt x="294" y="406"/>
                      <a:pt x="323" y="453"/>
                      <a:pt x="354" y="500"/>
                    </a:cubicBezTo>
                    <a:cubicBezTo>
                      <a:pt x="372" y="526"/>
                      <a:pt x="381" y="528"/>
                      <a:pt x="409" y="514"/>
                    </a:cubicBezTo>
                    <a:cubicBezTo>
                      <a:pt x="422" y="508"/>
                      <a:pt x="433" y="499"/>
                      <a:pt x="444" y="491"/>
                    </a:cubicBezTo>
                    <a:cubicBezTo>
                      <a:pt x="469" y="475"/>
                      <a:pt x="494" y="460"/>
                      <a:pt x="518" y="443"/>
                    </a:cubicBezTo>
                    <a:cubicBezTo>
                      <a:pt x="542" y="427"/>
                      <a:pt x="552" y="403"/>
                      <a:pt x="554" y="375"/>
                    </a:cubicBezTo>
                    <a:cubicBezTo>
                      <a:pt x="555" y="354"/>
                      <a:pt x="553" y="332"/>
                      <a:pt x="554" y="310"/>
                    </a:cubicBezTo>
                    <a:cubicBezTo>
                      <a:pt x="554" y="306"/>
                      <a:pt x="556" y="301"/>
                      <a:pt x="557" y="296"/>
                    </a:cubicBezTo>
                    <a:cubicBezTo>
                      <a:pt x="560" y="296"/>
                      <a:pt x="562" y="296"/>
                      <a:pt x="564" y="2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1" name="Freeform 276"/>
              <p:cNvSpPr/>
              <p:nvPr/>
            </p:nvSpPr>
            <p:spPr bwMode="auto">
              <a:xfrm>
                <a:off x="19169063" y="16581438"/>
                <a:ext cx="1635125" cy="1695450"/>
              </a:xfrm>
              <a:custGeom>
                <a:avLst/>
                <a:gdLst>
                  <a:gd name="T0" fmla="*/ 119 w 518"/>
                  <a:gd name="T1" fmla="*/ 0 h 537"/>
                  <a:gd name="T2" fmla="*/ 264 w 518"/>
                  <a:gd name="T3" fmla="*/ 98 h 537"/>
                  <a:gd name="T4" fmla="*/ 262 w 518"/>
                  <a:gd name="T5" fmla="*/ 104 h 537"/>
                  <a:gd name="T6" fmla="*/ 241 w 518"/>
                  <a:gd name="T7" fmla="*/ 98 h 537"/>
                  <a:gd name="T8" fmla="*/ 109 w 518"/>
                  <a:gd name="T9" fmla="*/ 97 h 537"/>
                  <a:gd name="T10" fmla="*/ 48 w 518"/>
                  <a:gd name="T11" fmla="*/ 163 h 537"/>
                  <a:gd name="T12" fmla="*/ 85 w 518"/>
                  <a:gd name="T13" fmla="*/ 261 h 537"/>
                  <a:gd name="T14" fmla="*/ 143 w 518"/>
                  <a:gd name="T15" fmla="*/ 261 h 537"/>
                  <a:gd name="T16" fmla="*/ 271 w 518"/>
                  <a:gd name="T17" fmla="*/ 206 h 537"/>
                  <a:gd name="T18" fmla="*/ 368 w 518"/>
                  <a:gd name="T19" fmla="*/ 171 h 537"/>
                  <a:gd name="T20" fmla="*/ 516 w 518"/>
                  <a:gd name="T21" fmla="*/ 296 h 537"/>
                  <a:gd name="T22" fmla="*/ 431 w 518"/>
                  <a:gd name="T23" fmla="*/ 456 h 537"/>
                  <a:gd name="T24" fmla="*/ 408 w 518"/>
                  <a:gd name="T25" fmla="*/ 474 h 537"/>
                  <a:gd name="T26" fmla="*/ 388 w 518"/>
                  <a:gd name="T27" fmla="*/ 537 h 537"/>
                  <a:gd name="T28" fmla="*/ 249 w 518"/>
                  <a:gd name="T29" fmla="*/ 444 h 537"/>
                  <a:gd name="T30" fmla="*/ 251 w 518"/>
                  <a:gd name="T31" fmla="*/ 438 h 537"/>
                  <a:gd name="T32" fmla="*/ 267 w 518"/>
                  <a:gd name="T33" fmla="*/ 441 h 537"/>
                  <a:gd name="T34" fmla="*/ 301 w 518"/>
                  <a:gd name="T35" fmla="*/ 453 h 537"/>
                  <a:gd name="T36" fmla="*/ 479 w 518"/>
                  <a:gd name="T37" fmla="*/ 338 h 537"/>
                  <a:gd name="T38" fmla="*/ 373 w 518"/>
                  <a:gd name="T39" fmla="*/ 251 h 537"/>
                  <a:gd name="T40" fmla="*/ 250 w 518"/>
                  <a:gd name="T41" fmla="*/ 304 h 537"/>
                  <a:gd name="T42" fmla="*/ 143 w 518"/>
                  <a:gd name="T43" fmla="*/ 340 h 537"/>
                  <a:gd name="T44" fmla="*/ 18 w 518"/>
                  <a:gd name="T45" fmla="*/ 251 h 537"/>
                  <a:gd name="T46" fmla="*/ 91 w 518"/>
                  <a:gd name="T47" fmla="*/ 70 h 537"/>
                  <a:gd name="T48" fmla="*/ 108 w 518"/>
                  <a:gd name="T49" fmla="*/ 59 h 537"/>
                  <a:gd name="T50" fmla="*/ 119 w 518"/>
                  <a:gd name="T51" fmla="*/ 18 h 537"/>
                  <a:gd name="T52" fmla="*/ 114 w 518"/>
                  <a:gd name="T53" fmla="*/ 6 h 537"/>
                  <a:gd name="T54" fmla="*/ 119 w 518"/>
                  <a:gd name="T55" fmla="*/ 0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18" h="537">
                    <a:moveTo>
                      <a:pt x="119" y="0"/>
                    </a:moveTo>
                    <a:cubicBezTo>
                      <a:pt x="167" y="33"/>
                      <a:pt x="216" y="66"/>
                      <a:pt x="264" y="98"/>
                    </a:cubicBezTo>
                    <a:cubicBezTo>
                      <a:pt x="263" y="100"/>
                      <a:pt x="262" y="102"/>
                      <a:pt x="262" y="104"/>
                    </a:cubicBezTo>
                    <a:cubicBezTo>
                      <a:pt x="255" y="102"/>
                      <a:pt x="248" y="101"/>
                      <a:pt x="241" y="98"/>
                    </a:cubicBezTo>
                    <a:cubicBezTo>
                      <a:pt x="197" y="81"/>
                      <a:pt x="153" y="71"/>
                      <a:pt x="109" y="97"/>
                    </a:cubicBezTo>
                    <a:cubicBezTo>
                      <a:pt x="82" y="112"/>
                      <a:pt x="59" y="132"/>
                      <a:pt x="48" y="163"/>
                    </a:cubicBezTo>
                    <a:cubicBezTo>
                      <a:pt x="36" y="198"/>
                      <a:pt x="53" y="249"/>
                      <a:pt x="85" y="261"/>
                    </a:cubicBezTo>
                    <a:cubicBezTo>
                      <a:pt x="102" y="267"/>
                      <a:pt x="125" y="267"/>
                      <a:pt x="143" y="261"/>
                    </a:cubicBezTo>
                    <a:cubicBezTo>
                      <a:pt x="186" y="245"/>
                      <a:pt x="228" y="224"/>
                      <a:pt x="271" y="206"/>
                    </a:cubicBezTo>
                    <a:cubicBezTo>
                      <a:pt x="303" y="193"/>
                      <a:pt x="335" y="177"/>
                      <a:pt x="368" y="171"/>
                    </a:cubicBezTo>
                    <a:cubicBezTo>
                      <a:pt x="448" y="157"/>
                      <a:pt x="514" y="215"/>
                      <a:pt x="516" y="296"/>
                    </a:cubicBezTo>
                    <a:cubicBezTo>
                      <a:pt x="518" y="365"/>
                      <a:pt x="479" y="413"/>
                      <a:pt x="431" y="456"/>
                    </a:cubicBezTo>
                    <a:cubicBezTo>
                      <a:pt x="424" y="463"/>
                      <a:pt x="416" y="468"/>
                      <a:pt x="408" y="474"/>
                    </a:cubicBezTo>
                    <a:cubicBezTo>
                      <a:pt x="377" y="500"/>
                      <a:pt x="377" y="500"/>
                      <a:pt x="388" y="537"/>
                    </a:cubicBezTo>
                    <a:cubicBezTo>
                      <a:pt x="339" y="511"/>
                      <a:pt x="295" y="476"/>
                      <a:pt x="249" y="444"/>
                    </a:cubicBezTo>
                    <a:cubicBezTo>
                      <a:pt x="249" y="442"/>
                      <a:pt x="250" y="440"/>
                      <a:pt x="251" y="438"/>
                    </a:cubicBezTo>
                    <a:cubicBezTo>
                      <a:pt x="256" y="439"/>
                      <a:pt x="262" y="439"/>
                      <a:pt x="267" y="441"/>
                    </a:cubicBezTo>
                    <a:cubicBezTo>
                      <a:pt x="279" y="444"/>
                      <a:pt x="290" y="449"/>
                      <a:pt x="301" y="453"/>
                    </a:cubicBezTo>
                    <a:cubicBezTo>
                      <a:pt x="387" y="480"/>
                      <a:pt x="467" y="408"/>
                      <a:pt x="479" y="338"/>
                    </a:cubicBezTo>
                    <a:cubicBezTo>
                      <a:pt x="490" y="276"/>
                      <a:pt x="443" y="230"/>
                      <a:pt x="373" y="251"/>
                    </a:cubicBezTo>
                    <a:cubicBezTo>
                      <a:pt x="331" y="263"/>
                      <a:pt x="292" y="288"/>
                      <a:pt x="250" y="304"/>
                    </a:cubicBezTo>
                    <a:cubicBezTo>
                      <a:pt x="215" y="318"/>
                      <a:pt x="180" y="333"/>
                      <a:pt x="143" y="340"/>
                    </a:cubicBezTo>
                    <a:cubicBezTo>
                      <a:pt x="87" y="349"/>
                      <a:pt x="32" y="307"/>
                      <a:pt x="18" y="251"/>
                    </a:cubicBezTo>
                    <a:cubicBezTo>
                      <a:pt x="0" y="184"/>
                      <a:pt x="29" y="113"/>
                      <a:pt x="91" y="70"/>
                    </a:cubicBezTo>
                    <a:cubicBezTo>
                      <a:pt x="97" y="66"/>
                      <a:pt x="103" y="63"/>
                      <a:pt x="108" y="59"/>
                    </a:cubicBezTo>
                    <a:cubicBezTo>
                      <a:pt x="124" y="49"/>
                      <a:pt x="129" y="36"/>
                      <a:pt x="119" y="18"/>
                    </a:cubicBezTo>
                    <a:cubicBezTo>
                      <a:pt x="117" y="15"/>
                      <a:pt x="116" y="10"/>
                      <a:pt x="114" y="6"/>
                    </a:cubicBezTo>
                    <a:cubicBezTo>
                      <a:pt x="116" y="4"/>
                      <a:pt x="117" y="2"/>
                      <a:pt x="1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2" name="Freeform 277"/>
              <p:cNvSpPr/>
              <p:nvPr/>
            </p:nvSpPr>
            <p:spPr bwMode="auto">
              <a:xfrm>
                <a:off x="9139238" y="20345400"/>
                <a:ext cx="1717675" cy="1833563"/>
              </a:xfrm>
              <a:custGeom>
                <a:avLst/>
                <a:gdLst>
                  <a:gd name="T0" fmla="*/ 18 w 544"/>
                  <a:gd name="T1" fmla="*/ 7 h 581"/>
                  <a:gd name="T2" fmla="*/ 234 w 544"/>
                  <a:gd name="T3" fmla="*/ 61 h 581"/>
                  <a:gd name="T4" fmla="*/ 212 w 544"/>
                  <a:gd name="T5" fmla="*/ 58 h 581"/>
                  <a:gd name="T6" fmla="*/ 148 w 544"/>
                  <a:gd name="T7" fmla="*/ 97 h 581"/>
                  <a:gd name="T8" fmla="*/ 86 w 544"/>
                  <a:gd name="T9" fmla="*/ 335 h 581"/>
                  <a:gd name="T10" fmla="*/ 76 w 544"/>
                  <a:gd name="T11" fmla="*/ 432 h 581"/>
                  <a:gd name="T12" fmla="*/ 131 w 544"/>
                  <a:gd name="T13" fmla="*/ 521 h 581"/>
                  <a:gd name="T14" fmla="*/ 322 w 544"/>
                  <a:gd name="T15" fmla="*/ 509 h 581"/>
                  <a:gd name="T16" fmla="*/ 363 w 544"/>
                  <a:gd name="T17" fmla="*/ 427 h 581"/>
                  <a:gd name="T18" fmla="*/ 427 w 544"/>
                  <a:gd name="T19" fmla="*/ 161 h 581"/>
                  <a:gd name="T20" fmla="*/ 395 w 544"/>
                  <a:gd name="T21" fmla="*/ 103 h 581"/>
                  <a:gd name="T22" fmla="*/ 373 w 544"/>
                  <a:gd name="T23" fmla="*/ 91 h 581"/>
                  <a:gd name="T24" fmla="*/ 544 w 544"/>
                  <a:gd name="T25" fmla="*/ 127 h 581"/>
                  <a:gd name="T26" fmla="*/ 544 w 544"/>
                  <a:gd name="T27" fmla="*/ 134 h 581"/>
                  <a:gd name="T28" fmla="*/ 529 w 544"/>
                  <a:gd name="T29" fmla="*/ 134 h 581"/>
                  <a:gd name="T30" fmla="*/ 457 w 544"/>
                  <a:gd name="T31" fmla="*/ 184 h 581"/>
                  <a:gd name="T32" fmla="*/ 394 w 544"/>
                  <a:gd name="T33" fmla="*/ 431 h 581"/>
                  <a:gd name="T34" fmla="*/ 322 w 544"/>
                  <a:gd name="T35" fmla="*/ 549 h 581"/>
                  <a:gd name="T36" fmla="*/ 166 w 544"/>
                  <a:gd name="T37" fmla="*/ 567 h 581"/>
                  <a:gd name="T38" fmla="*/ 42 w 544"/>
                  <a:gd name="T39" fmla="*/ 500 h 581"/>
                  <a:gd name="T40" fmla="*/ 10 w 544"/>
                  <a:gd name="T41" fmla="*/ 378 h 581"/>
                  <a:gd name="T42" fmla="*/ 72 w 544"/>
                  <a:gd name="T43" fmla="*/ 107 h 581"/>
                  <a:gd name="T44" fmla="*/ 77 w 544"/>
                  <a:gd name="T45" fmla="*/ 81 h 581"/>
                  <a:gd name="T46" fmla="*/ 40 w 544"/>
                  <a:gd name="T47" fmla="*/ 15 h 581"/>
                  <a:gd name="T48" fmla="*/ 18 w 544"/>
                  <a:gd name="T49" fmla="*/ 7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44" h="581">
                    <a:moveTo>
                      <a:pt x="18" y="7"/>
                    </a:moveTo>
                    <a:cubicBezTo>
                      <a:pt x="42" y="0"/>
                      <a:pt x="222" y="45"/>
                      <a:pt x="234" y="61"/>
                    </a:cubicBezTo>
                    <a:cubicBezTo>
                      <a:pt x="224" y="60"/>
                      <a:pt x="218" y="59"/>
                      <a:pt x="212" y="58"/>
                    </a:cubicBezTo>
                    <a:cubicBezTo>
                      <a:pt x="179" y="52"/>
                      <a:pt x="156" y="65"/>
                      <a:pt x="148" y="97"/>
                    </a:cubicBezTo>
                    <a:cubicBezTo>
                      <a:pt x="127" y="176"/>
                      <a:pt x="105" y="255"/>
                      <a:pt x="86" y="335"/>
                    </a:cubicBezTo>
                    <a:cubicBezTo>
                      <a:pt x="79" y="366"/>
                      <a:pt x="74" y="400"/>
                      <a:pt x="76" y="432"/>
                    </a:cubicBezTo>
                    <a:cubicBezTo>
                      <a:pt x="77" y="470"/>
                      <a:pt x="96" y="502"/>
                      <a:pt x="131" y="521"/>
                    </a:cubicBezTo>
                    <a:cubicBezTo>
                      <a:pt x="181" y="549"/>
                      <a:pt x="271" y="554"/>
                      <a:pt x="322" y="509"/>
                    </a:cubicBezTo>
                    <a:cubicBezTo>
                      <a:pt x="347" y="487"/>
                      <a:pt x="355" y="457"/>
                      <a:pt x="363" y="427"/>
                    </a:cubicBezTo>
                    <a:cubicBezTo>
                      <a:pt x="386" y="339"/>
                      <a:pt x="406" y="250"/>
                      <a:pt x="427" y="161"/>
                    </a:cubicBezTo>
                    <a:cubicBezTo>
                      <a:pt x="435" y="127"/>
                      <a:pt x="428" y="116"/>
                      <a:pt x="395" y="103"/>
                    </a:cubicBezTo>
                    <a:cubicBezTo>
                      <a:pt x="388" y="100"/>
                      <a:pt x="380" y="98"/>
                      <a:pt x="373" y="91"/>
                    </a:cubicBezTo>
                    <a:cubicBezTo>
                      <a:pt x="432" y="97"/>
                      <a:pt x="488" y="113"/>
                      <a:pt x="544" y="127"/>
                    </a:cubicBezTo>
                    <a:cubicBezTo>
                      <a:pt x="544" y="129"/>
                      <a:pt x="544" y="132"/>
                      <a:pt x="544" y="134"/>
                    </a:cubicBezTo>
                    <a:cubicBezTo>
                      <a:pt x="539" y="134"/>
                      <a:pt x="534" y="135"/>
                      <a:pt x="529" y="134"/>
                    </a:cubicBezTo>
                    <a:cubicBezTo>
                      <a:pt x="483" y="130"/>
                      <a:pt x="468" y="140"/>
                      <a:pt x="457" y="184"/>
                    </a:cubicBezTo>
                    <a:cubicBezTo>
                      <a:pt x="436" y="266"/>
                      <a:pt x="416" y="349"/>
                      <a:pt x="394" y="431"/>
                    </a:cubicBezTo>
                    <a:cubicBezTo>
                      <a:pt x="382" y="477"/>
                      <a:pt x="365" y="521"/>
                      <a:pt x="322" y="549"/>
                    </a:cubicBezTo>
                    <a:cubicBezTo>
                      <a:pt x="272" y="580"/>
                      <a:pt x="219" y="581"/>
                      <a:pt x="166" y="567"/>
                    </a:cubicBezTo>
                    <a:cubicBezTo>
                      <a:pt x="119" y="555"/>
                      <a:pt x="73" y="540"/>
                      <a:pt x="42" y="500"/>
                    </a:cubicBezTo>
                    <a:cubicBezTo>
                      <a:pt x="14" y="464"/>
                      <a:pt x="0" y="423"/>
                      <a:pt x="10" y="378"/>
                    </a:cubicBezTo>
                    <a:cubicBezTo>
                      <a:pt x="30" y="288"/>
                      <a:pt x="51" y="197"/>
                      <a:pt x="72" y="107"/>
                    </a:cubicBezTo>
                    <a:cubicBezTo>
                      <a:pt x="74" y="98"/>
                      <a:pt x="76" y="90"/>
                      <a:pt x="77" y="81"/>
                    </a:cubicBezTo>
                    <a:cubicBezTo>
                      <a:pt x="84" y="46"/>
                      <a:pt x="74" y="27"/>
                      <a:pt x="40" y="15"/>
                    </a:cubicBezTo>
                    <a:cubicBezTo>
                      <a:pt x="34" y="13"/>
                      <a:pt x="29" y="11"/>
                      <a:pt x="18"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3" name="Freeform 278"/>
              <p:cNvSpPr/>
              <p:nvPr/>
            </p:nvSpPr>
            <p:spPr bwMode="auto">
              <a:xfrm>
                <a:off x="3925888" y="17449800"/>
                <a:ext cx="1862138" cy="1730375"/>
              </a:xfrm>
              <a:custGeom>
                <a:avLst/>
                <a:gdLst>
                  <a:gd name="T0" fmla="*/ 590 w 590"/>
                  <a:gd name="T1" fmla="*/ 232 h 548"/>
                  <a:gd name="T2" fmla="*/ 484 w 590"/>
                  <a:gd name="T3" fmla="*/ 336 h 548"/>
                  <a:gd name="T4" fmla="*/ 493 w 590"/>
                  <a:gd name="T5" fmla="*/ 316 h 548"/>
                  <a:gd name="T6" fmla="*/ 482 w 590"/>
                  <a:gd name="T7" fmla="*/ 128 h 548"/>
                  <a:gd name="T8" fmla="*/ 303 w 590"/>
                  <a:gd name="T9" fmla="*/ 54 h 548"/>
                  <a:gd name="T10" fmla="*/ 63 w 590"/>
                  <a:gd name="T11" fmla="*/ 309 h 548"/>
                  <a:gd name="T12" fmla="*/ 142 w 590"/>
                  <a:gd name="T13" fmla="*/ 469 h 548"/>
                  <a:gd name="T14" fmla="*/ 244 w 590"/>
                  <a:gd name="T15" fmla="*/ 463 h 548"/>
                  <a:gd name="T16" fmla="*/ 336 w 590"/>
                  <a:gd name="T17" fmla="*/ 380 h 548"/>
                  <a:gd name="T18" fmla="*/ 339 w 590"/>
                  <a:gd name="T19" fmla="*/ 316 h 548"/>
                  <a:gd name="T20" fmla="*/ 332 w 590"/>
                  <a:gd name="T21" fmla="*/ 305 h 548"/>
                  <a:gd name="T22" fmla="*/ 337 w 590"/>
                  <a:gd name="T23" fmla="*/ 301 h 548"/>
                  <a:gd name="T24" fmla="*/ 450 w 590"/>
                  <a:gd name="T25" fmla="*/ 437 h 548"/>
                  <a:gd name="T26" fmla="*/ 448 w 590"/>
                  <a:gd name="T27" fmla="*/ 440 h 548"/>
                  <a:gd name="T28" fmla="*/ 436 w 590"/>
                  <a:gd name="T29" fmla="*/ 433 h 548"/>
                  <a:gd name="T30" fmla="*/ 378 w 590"/>
                  <a:gd name="T31" fmla="*/ 433 h 548"/>
                  <a:gd name="T32" fmla="*/ 251 w 590"/>
                  <a:gd name="T33" fmla="*/ 537 h 548"/>
                  <a:gd name="T34" fmla="*/ 219 w 590"/>
                  <a:gd name="T35" fmla="*/ 542 h 548"/>
                  <a:gd name="T36" fmla="*/ 26 w 590"/>
                  <a:gd name="T37" fmla="*/ 320 h 548"/>
                  <a:gd name="T38" fmla="*/ 96 w 590"/>
                  <a:gd name="T39" fmla="*/ 84 h 548"/>
                  <a:gd name="T40" fmla="*/ 334 w 590"/>
                  <a:gd name="T41" fmla="*/ 12 h 548"/>
                  <a:gd name="T42" fmla="*/ 479 w 590"/>
                  <a:gd name="T43" fmla="*/ 100 h 548"/>
                  <a:gd name="T44" fmla="*/ 539 w 590"/>
                  <a:gd name="T45" fmla="*/ 211 h 548"/>
                  <a:gd name="T46" fmla="*/ 584 w 590"/>
                  <a:gd name="T47" fmla="*/ 231 h 548"/>
                  <a:gd name="T48" fmla="*/ 590 w 590"/>
                  <a:gd name="T49" fmla="*/ 232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0" h="548">
                    <a:moveTo>
                      <a:pt x="590" y="232"/>
                    </a:moveTo>
                    <a:cubicBezTo>
                      <a:pt x="556" y="266"/>
                      <a:pt x="522" y="299"/>
                      <a:pt x="484" y="336"/>
                    </a:cubicBezTo>
                    <a:cubicBezTo>
                      <a:pt x="488" y="327"/>
                      <a:pt x="490" y="321"/>
                      <a:pt x="493" y="316"/>
                    </a:cubicBezTo>
                    <a:cubicBezTo>
                      <a:pt x="527" y="251"/>
                      <a:pt x="528" y="188"/>
                      <a:pt x="482" y="128"/>
                    </a:cubicBezTo>
                    <a:cubicBezTo>
                      <a:pt x="437" y="69"/>
                      <a:pt x="380" y="41"/>
                      <a:pt x="303" y="54"/>
                    </a:cubicBezTo>
                    <a:cubicBezTo>
                      <a:pt x="181" y="75"/>
                      <a:pt x="75" y="192"/>
                      <a:pt x="63" y="309"/>
                    </a:cubicBezTo>
                    <a:cubicBezTo>
                      <a:pt x="57" y="377"/>
                      <a:pt x="86" y="431"/>
                      <a:pt x="142" y="469"/>
                    </a:cubicBezTo>
                    <a:cubicBezTo>
                      <a:pt x="193" y="504"/>
                      <a:pt x="197" y="504"/>
                      <a:pt x="244" y="463"/>
                    </a:cubicBezTo>
                    <a:cubicBezTo>
                      <a:pt x="275" y="436"/>
                      <a:pt x="307" y="410"/>
                      <a:pt x="336" y="380"/>
                    </a:cubicBezTo>
                    <a:cubicBezTo>
                      <a:pt x="358" y="357"/>
                      <a:pt x="356" y="343"/>
                      <a:pt x="339" y="316"/>
                    </a:cubicBezTo>
                    <a:cubicBezTo>
                      <a:pt x="336" y="312"/>
                      <a:pt x="334" y="308"/>
                      <a:pt x="332" y="305"/>
                    </a:cubicBezTo>
                    <a:cubicBezTo>
                      <a:pt x="334" y="304"/>
                      <a:pt x="335" y="302"/>
                      <a:pt x="337" y="301"/>
                    </a:cubicBezTo>
                    <a:cubicBezTo>
                      <a:pt x="375" y="346"/>
                      <a:pt x="412" y="391"/>
                      <a:pt x="450" y="437"/>
                    </a:cubicBezTo>
                    <a:cubicBezTo>
                      <a:pt x="449" y="438"/>
                      <a:pt x="449" y="439"/>
                      <a:pt x="448" y="440"/>
                    </a:cubicBezTo>
                    <a:cubicBezTo>
                      <a:pt x="444" y="438"/>
                      <a:pt x="440" y="436"/>
                      <a:pt x="436" y="433"/>
                    </a:cubicBezTo>
                    <a:cubicBezTo>
                      <a:pt x="414" y="415"/>
                      <a:pt x="401" y="415"/>
                      <a:pt x="378" y="433"/>
                    </a:cubicBezTo>
                    <a:cubicBezTo>
                      <a:pt x="335" y="468"/>
                      <a:pt x="293" y="502"/>
                      <a:pt x="251" y="537"/>
                    </a:cubicBezTo>
                    <a:cubicBezTo>
                      <a:pt x="240" y="547"/>
                      <a:pt x="232" y="548"/>
                      <a:pt x="219" y="542"/>
                    </a:cubicBezTo>
                    <a:cubicBezTo>
                      <a:pt x="123" y="495"/>
                      <a:pt x="54" y="423"/>
                      <a:pt x="26" y="320"/>
                    </a:cubicBezTo>
                    <a:cubicBezTo>
                      <a:pt x="0" y="230"/>
                      <a:pt x="28" y="149"/>
                      <a:pt x="96" y="84"/>
                    </a:cubicBezTo>
                    <a:cubicBezTo>
                      <a:pt x="163" y="20"/>
                      <a:pt x="245" y="0"/>
                      <a:pt x="334" y="12"/>
                    </a:cubicBezTo>
                    <a:cubicBezTo>
                      <a:pt x="394" y="20"/>
                      <a:pt x="444" y="50"/>
                      <a:pt x="479" y="100"/>
                    </a:cubicBezTo>
                    <a:cubicBezTo>
                      <a:pt x="503" y="134"/>
                      <a:pt x="521" y="173"/>
                      <a:pt x="539" y="211"/>
                    </a:cubicBezTo>
                    <a:cubicBezTo>
                      <a:pt x="553" y="239"/>
                      <a:pt x="554" y="241"/>
                      <a:pt x="584" y="231"/>
                    </a:cubicBezTo>
                    <a:cubicBezTo>
                      <a:pt x="585" y="231"/>
                      <a:pt x="587" y="232"/>
                      <a:pt x="590" y="2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4" name="Freeform 279"/>
              <p:cNvSpPr/>
              <p:nvPr/>
            </p:nvSpPr>
            <p:spPr bwMode="auto">
              <a:xfrm>
                <a:off x="14346238" y="19965988"/>
                <a:ext cx="1587500" cy="1806575"/>
              </a:xfrm>
              <a:custGeom>
                <a:avLst/>
                <a:gdLst>
                  <a:gd name="T0" fmla="*/ 0 w 503"/>
                  <a:gd name="T1" fmla="*/ 178 h 572"/>
                  <a:gd name="T2" fmla="*/ 193 w 503"/>
                  <a:gd name="T3" fmla="*/ 110 h 572"/>
                  <a:gd name="T4" fmla="*/ 196 w 503"/>
                  <a:gd name="T5" fmla="*/ 117 h 572"/>
                  <a:gd name="T6" fmla="*/ 184 w 503"/>
                  <a:gd name="T7" fmla="*/ 128 h 572"/>
                  <a:gd name="T8" fmla="*/ 170 w 503"/>
                  <a:gd name="T9" fmla="*/ 197 h 572"/>
                  <a:gd name="T10" fmla="*/ 338 w 503"/>
                  <a:gd name="T11" fmla="*/ 379 h 572"/>
                  <a:gd name="T12" fmla="*/ 393 w 503"/>
                  <a:gd name="T13" fmla="*/ 437 h 572"/>
                  <a:gd name="T14" fmla="*/ 407 w 503"/>
                  <a:gd name="T15" fmla="*/ 446 h 572"/>
                  <a:gd name="T16" fmla="*/ 414 w 503"/>
                  <a:gd name="T17" fmla="*/ 430 h 572"/>
                  <a:gd name="T18" fmla="*/ 425 w 503"/>
                  <a:gd name="T19" fmla="*/ 203 h 572"/>
                  <a:gd name="T20" fmla="*/ 430 w 503"/>
                  <a:gd name="T21" fmla="*/ 125 h 572"/>
                  <a:gd name="T22" fmla="*/ 428 w 503"/>
                  <a:gd name="T23" fmla="*/ 96 h 572"/>
                  <a:gd name="T24" fmla="*/ 382 w 503"/>
                  <a:gd name="T25" fmla="*/ 59 h 572"/>
                  <a:gd name="T26" fmla="*/ 362 w 503"/>
                  <a:gd name="T27" fmla="*/ 59 h 572"/>
                  <a:gd name="T28" fmla="*/ 360 w 503"/>
                  <a:gd name="T29" fmla="*/ 52 h 572"/>
                  <a:gd name="T30" fmla="*/ 500 w 503"/>
                  <a:gd name="T31" fmla="*/ 0 h 572"/>
                  <a:gd name="T32" fmla="*/ 503 w 503"/>
                  <a:gd name="T33" fmla="*/ 7 h 572"/>
                  <a:gd name="T34" fmla="*/ 499 w 503"/>
                  <a:gd name="T35" fmla="*/ 14 h 572"/>
                  <a:gd name="T36" fmla="*/ 463 w 503"/>
                  <a:gd name="T37" fmla="*/ 93 h 572"/>
                  <a:gd name="T38" fmla="*/ 444 w 503"/>
                  <a:gd name="T39" fmla="*/ 420 h 572"/>
                  <a:gd name="T40" fmla="*/ 434 w 503"/>
                  <a:gd name="T41" fmla="*/ 561 h 572"/>
                  <a:gd name="T42" fmla="*/ 428 w 503"/>
                  <a:gd name="T43" fmla="*/ 572 h 572"/>
                  <a:gd name="T44" fmla="*/ 413 w 503"/>
                  <a:gd name="T45" fmla="*/ 566 h 572"/>
                  <a:gd name="T46" fmla="*/ 333 w 503"/>
                  <a:gd name="T47" fmla="*/ 477 h 572"/>
                  <a:gd name="T48" fmla="*/ 216 w 503"/>
                  <a:gd name="T49" fmla="*/ 352 h 572"/>
                  <a:gd name="T50" fmla="*/ 87 w 503"/>
                  <a:gd name="T51" fmla="*/ 211 h 572"/>
                  <a:gd name="T52" fmla="*/ 19 w 503"/>
                  <a:gd name="T53" fmla="*/ 186 h 572"/>
                  <a:gd name="T54" fmla="*/ 3 w 503"/>
                  <a:gd name="T55" fmla="*/ 188 h 572"/>
                  <a:gd name="T56" fmla="*/ 0 w 503"/>
                  <a:gd name="T57" fmla="*/ 178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03" h="572">
                    <a:moveTo>
                      <a:pt x="0" y="178"/>
                    </a:moveTo>
                    <a:cubicBezTo>
                      <a:pt x="64" y="156"/>
                      <a:pt x="128" y="133"/>
                      <a:pt x="193" y="110"/>
                    </a:cubicBezTo>
                    <a:cubicBezTo>
                      <a:pt x="194" y="112"/>
                      <a:pt x="195" y="114"/>
                      <a:pt x="196" y="117"/>
                    </a:cubicBezTo>
                    <a:cubicBezTo>
                      <a:pt x="192" y="120"/>
                      <a:pt x="188" y="125"/>
                      <a:pt x="184" y="128"/>
                    </a:cubicBezTo>
                    <a:cubicBezTo>
                      <a:pt x="150" y="146"/>
                      <a:pt x="145" y="169"/>
                      <a:pt x="170" y="197"/>
                    </a:cubicBezTo>
                    <a:cubicBezTo>
                      <a:pt x="225" y="258"/>
                      <a:pt x="282" y="318"/>
                      <a:pt x="338" y="379"/>
                    </a:cubicBezTo>
                    <a:cubicBezTo>
                      <a:pt x="356" y="398"/>
                      <a:pt x="374" y="418"/>
                      <a:pt x="393" y="437"/>
                    </a:cubicBezTo>
                    <a:cubicBezTo>
                      <a:pt x="396" y="441"/>
                      <a:pt x="402" y="443"/>
                      <a:pt x="407" y="446"/>
                    </a:cubicBezTo>
                    <a:cubicBezTo>
                      <a:pt x="409" y="441"/>
                      <a:pt x="413" y="436"/>
                      <a:pt x="414" y="430"/>
                    </a:cubicBezTo>
                    <a:cubicBezTo>
                      <a:pt x="418" y="355"/>
                      <a:pt x="421" y="279"/>
                      <a:pt x="425" y="203"/>
                    </a:cubicBezTo>
                    <a:cubicBezTo>
                      <a:pt x="426" y="177"/>
                      <a:pt x="428" y="151"/>
                      <a:pt x="430" y="125"/>
                    </a:cubicBezTo>
                    <a:cubicBezTo>
                      <a:pt x="430" y="115"/>
                      <a:pt x="430" y="105"/>
                      <a:pt x="428" y="96"/>
                    </a:cubicBezTo>
                    <a:cubicBezTo>
                      <a:pt x="425" y="70"/>
                      <a:pt x="407" y="57"/>
                      <a:pt x="382" y="59"/>
                    </a:cubicBezTo>
                    <a:cubicBezTo>
                      <a:pt x="375" y="60"/>
                      <a:pt x="369" y="59"/>
                      <a:pt x="362" y="59"/>
                    </a:cubicBezTo>
                    <a:cubicBezTo>
                      <a:pt x="362" y="57"/>
                      <a:pt x="361" y="54"/>
                      <a:pt x="360" y="52"/>
                    </a:cubicBezTo>
                    <a:cubicBezTo>
                      <a:pt x="407" y="35"/>
                      <a:pt x="453" y="18"/>
                      <a:pt x="500" y="0"/>
                    </a:cubicBezTo>
                    <a:cubicBezTo>
                      <a:pt x="501" y="2"/>
                      <a:pt x="502" y="5"/>
                      <a:pt x="503" y="7"/>
                    </a:cubicBezTo>
                    <a:cubicBezTo>
                      <a:pt x="502" y="9"/>
                      <a:pt x="501" y="13"/>
                      <a:pt x="499" y="14"/>
                    </a:cubicBezTo>
                    <a:cubicBezTo>
                      <a:pt x="470" y="33"/>
                      <a:pt x="465" y="63"/>
                      <a:pt x="463" y="93"/>
                    </a:cubicBezTo>
                    <a:cubicBezTo>
                      <a:pt x="456" y="202"/>
                      <a:pt x="450" y="311"/>
                      <a:pt x="444" y="420"/>
                    </a:cubicBezTo>
                    <a:cubicBezTo>
                      <a:pt x="441" y="467"/>
                      <a:pt x="438" y="514"/>
                      <a:pt x="434" y="561"/>
                    </a:cubicBezTo>
                    <a:cubicBezTo>
                      <a:pt x="434" y="565"/>
                      <a:pt x="430" y="572"/>
                      <a:pt x="428" y="572"/>
                    </a:cubicBezTo>
                    <a:cubicBezTo>
                      <a:pt x="423" y="572"/>
                      <a:pt x="417" y="570"/>
                      <a:pt x="413" y="566"/>
                    </a:cubicBezTo>
                    <a:cubicBezTo>
                      <a:pt x="386" y="537"/>
                      <a:pt x="360" y="507"/>
                      <a:pt x="333" y="477"/>
                    </a:cubicBezTo>
                    <a:cubicBezTo>
                      <a:pt x="294" y="435"/>
                      <a:pt x="255" y="394"/>
                      <a:pt x="216" y="352"/>
                    </a:cubicBezTo>
                    <a:cubicBezTo>
                      <a:pt x="172" y="305"/>
                      <a:pt x="129" y="259"/>
                      <a:pt x="87" y="211"/>
                    </a:cubicBezTo>
                    <a:cubicBezTo>
                      <a:pt x="68" y="190"/>
                      <a:pt x="46" y="182"/>
                      <a:pt x="19" y="186"/>
                    </a:cubicBezTo>
                    <a:cubicBezTo>
                      <a:pt x="14" y="187"/>
                      <a:pt x="8" y="187"/>
                      <a:pt x="3" y="188"/>
                    </a:cubicBezTo>
                    <a:cubicBezTo>
                      <a:pt x="2" y="185"/>
                      <a:pt x="1" y="181"/>
                      <a:pt x="0" y="17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5" name="Freeform 280"/>
              <p:cNvSpPr/>
              <p:nvPr/>
            </p:nvSpPr>
            <p:spPr bwMode="auto">
              <a:xfrm>
                <a:off x="18489613" y="5738813"/>
                <a:ext cx="1417638" cy="1076325"/>
              </a:xfrm>
              <a:custGeom>
                <a:avLst/>
                <a:gdLst>
                  <a:gd name="T0" fmla="*/ 43 w 449"/>
                  <a:gd name="T1" fmla="*/ 203 h 341"/>
                  <a:gd name="T2" fmla="*/ 70 w 449"/>
                  <a:gd name="T3" fmla="*/ 240 h 341"/>
                  <a:gd name="T4" fmla="*/ 198 w 449"/>
                  <a:gd name="T5" fmla="*/ 260 h 341"/>
                  <a:gd name="T6" fmla="*/ 211 w 449"/>
                  <a:gd name="T7" fmla="*/ 189 h 341"/>
                  <a:gd name="T8" fmla="*/ 157 w 449"/>
                  <a:gd name="T9" fmla="*/ 147 h 341"/>
                  <a:gd name="T10" fmla="*/ 119 w 449"/>
                  <a:gd name="T11" fmla="*/ 98 h 341"/>
                  <a:gd name="T12" fmla="*/ 136 w 449"/>
                  <a:gd name="T13" fmla="*/ 76 h 341"/>
                  <a:gd name="T14" fmla="*/ 209 w 449"/>
                  <a:gd name="T15" fmla="*/ 117 h 341"/>
                  <a:gd name="T16" fmla="*/ 256 w 449"/>
                  <a:gd name="T17" fmla="*/ 161 h 341"/>
                  <a:gd name="T18" fmla="*/ 335 w 449"/>
                  <a:gd name="T19" fmla="*/ 143 h 341"/>
                  <a:gd name="T20" fmla="*/ 325 w 449"/>
                  <a:gd name="T21" fmla="*/ 124 h 341"/>
                  <a:gd name="T22" fmla="*/ 245 w 449"/>
                  <a:gd name="T23" fmla="*/ 66 h 341"/>
                  <a:gd name="T24" fmla="*/ 244 w 449"/>
                  <a:gd name="T25" fmla="*/ 36 h 341"/>
                  <a:gd name="T26" fmla="*/ 320 w 449"/>
                  <a:gd name="T27" fmla="*/ 34 h 341"/>
                  <a:gd name="T28" fmla="*/ 336 w 449"/>
                  <a:gd name="T29" fmla="*/ 49 h 341"/>
                  <a:gd name="T30" fmla="*/ 435 w 449"/>
                  <a:gd name="T31" fmla="*/ 145 h 341"/>
                  <a:gd name="T32" fmla="*/ 441 w 449"/>
                  <a:gd name="T33" fmla="*/ 186 h 341"/>
                  <a:gd name="T34" fmla="*/ 412 w 449"/>
                  <a:gd name="T35" fmla="*/ 208 h 341"/>
                  <a:gd name="T36" fmla="*/ 354 w 449"/>
                  <a:gd name="T37" fmla="*/ 209 h 341"/>
                  <a:gd name="T38" fmla="*/ 331 w 449"/>
                  <a:gd name="T39" fmla="*/ 222 h 341"/>
                  <a:gd name="T40" fmla="*/ 333 w 449"/>
                  <a:gd name="T41" fmla="*/ 249 h 341"/>
                  <a:gd name="T42" fmla="*/ 364 w 449"/>
                  <a:gd name="T43" fmla="*/ 288 h 341"/>
                  <a:gd name="T44" fmla="*/ 369 w 449"/>
                  <a:gd name="T45" fmla="*/ 327 h 341"/>
                  <a:gd name="T46" fmla="*/ 342 w 449"/>
                  <a:gd name="T47" fmla="*/ 340 h 341"/>
                  <a:gd name="T48" fmla="*/ 324 w 449"/>
                  <a:gd name="T49" fmla="*/ 333 h 341"/>
                  <a:gd name="T50" fmla="*/ 304 w 449"/>
                  <a:gd name="T51" fmla="*/ 311 h 341"/>
                  <a:gd name="T52" fmla="*/ 236 w 449"/>
                  <a:gd name="T53" fmla="*/ 301 h 341"/>
                  <a:gd name="T54" fmla="*/ 151 w 449"/>
                  <a:gd name="T55" fmla="*/ 329 h 341"/>
                  <a:gd name="T56" fmla="*/ 41 w 449"/>
                  <a:gd name="T57" fmla="*/ 309 h 341"/>
                  <a:gd name="T58" fmla="*/ 15 w 449"/>
                  <a:gd name="T59" fmla="*/ 252 h 341"/>
                  <a:gd name="T60" fmla="*/ 36 w 449"/>
                  <a:gd name="T61" fmla="*/ 209 h 341"/>
                  <a:gd name="T62" fmla="*/ 43 w 449"/>
                  <a:gd name="T63" fmla="*/ 203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9" h="341">
                    <a:moveTo>
                      <a:pt x="43" y="203"/>
                    </a:moveTo>
                    <a:cubicBezTo>
                      <a:pt x="53" y="217"/>
                      <a:pt x="60" y="230"/>
                      <a:pt x="70" y="240"/>
                    </a:cubicBezTo>
                    <a:cubicBezTo>
                      <a:pt x="107" y="281"/>
                      <a:pt x="152" y="278"/>
                      <a:pt x="198" y="260"/>
                    </a:cubicBezTo>
                    <a:cubicBezTo>
                      <a:pt x="242" y="244"/>
                      <a:pt x="254" y="233"/>
                      <a:pt x="211" y="189"/>
                    </a:cubicBezTo>
                    <a:cubicBezTo>
                      <a:pt x="195" y="173"/>
                      <a:pt x="176" y="159"/>
                      <a:pt x="157" y="147"/>
                    </a:cubicBezTo>
                    <a:cubicBezTo>
                      <a:pt x="138" y="135"/>
                      <a:pt x="126" y="119"/>
                      <a:pt x="119" y="98"/>
                    </a:cubicBezTo>
                    <a:cubicBezTo>
                      <a:pt x="114" y="83"/>
                      <a:pt x="120" y="76"/>
                      <a:pt x="136" y="76"/>
                    </a:cubicBezTo>
                    <a:cubicBezTo>
                      <a:pt x="167" y="78"/>
                      <a:pt x="188" y="97"/>
                      <a:pt x="209" y="117"/>
                    </a:cubicBezTo>
                    <a:cubicBezTo>
                      <a:pt x="225" y="132"/>
                      <a:pt x="240" y="147"/>
                      <a:pt x="256" y="161"/>
                    </a:cubicBezTo>
                    <a:cubicBezTo>
                      <a:pt x="281" y="181"/>
                      <a:pt x="320" y="172"/>
                      <a:pt x="335" y="143"/>
                    </a:cubicBezTo>
                    <a:cubicBezTo>
                      <a:pt x="340" y="133"/>
                      <a:pt x="335" y="126"/>
                      <a:pt x="325" y="124"/>
                    </a:cubicBezTo>
                    <a:cubicBezTo>
                      <a:pt x="291" y="115"/>
                      <a:pt x="270" y="88"/>
                      <a:pt x="245" y="66"/>
                    </a:cubicBezTo>
                    <a:cubicBezTo>
                      <a:pt x="233" y="57"/>
                      <a:pt x="234" y="49"/>
                      <a:pt x="244" y="36"/>
                    </a:cubicBezTo>
                    <a:cubicBezTo>
                      <a:pt x="273" y="0"/>
                      <a:pt x="293" y="10"/>
                      <a:pt x="320" y="34"/>
                    </a:cubicBezTo>
                    <a:cubicBezTo>
                      <a:pt x="326" y="38"/>
                      <a:pt x="331" y="44"/>
                      <a:pt x="336" y="49"/>
                    </a:cubicBezTo>
                    <a:cubicBezTo>
                      <a:pt x="369" y="81"/>
                      <a:pt x="401" y="114"/>
                      <a:pt x="435" y="145"/>
                    </a:cubicBezTo>
                    <a:cubicBezTo>
                      <a:pt x="449" y="159"/>
                      <a:pt x="446" y="171"/>
                      <a:pt x="441" y="186"/>
                    </a:cubicBezTo>
                    <a:cubicBezTo>
                      <a:pt x="436" y="201"/>
                      <a:pt x="428" y="209"/>
                      <a:pt x="412" y="208"/>
                    </a:cubicBezTo>
                    <a:cubicBezTo>
                      <a:pt x="393" y="207"/>
                      <a:pt x="373" y="207"/>
                      <a:pt x="354" y="209"/>
                    </a:cubicBezTo>
                    <a:cubicBezTo>
                      <a:pt x="346" y="210"/>
                      <a:pt x="334" y="215"/>
                      <a:pt x="331" y="222"/>
                    </a:cubicBezTo>
                    <a:cubicBezTo>
                      <a:pt x="327" y="229"/>
                      <a:pt x="328" y="242"/>
                      <a:pt x="333" y="249"/>
                    </a:cubicBezTo>
                    <a:cubicBezTo>
                      <a:pt x="341" y="263"/>
                      <a:pt x="355" y="274"/>
                      <a:pt x="364" y="288"/>
                    </a:cubicBezTo>
                    <a:cubicBezTo>
                      <a:pt x="372" y="299"/>
                      <a:pt x="379" y="314"/>
                      <a:pt x="369" y="327"/>
                    </a:cubicBezTo>
                    <a:cubicBezTo>
                      <a:pt x="363" y="334"/>
                      <a:pt x="351" y="338"/>
                      <a:pt x="342" y="340"/>
                    </a:cubicBezTo>
                    <a:cubicBezTo>
                      <a:pt x="337" y="341"/>
                      <a:pt x="329" y="337"/>
                      <a:pt x="324" y="333"/>
                    </a:cubicBezTo>
                    <a:cubicBezTo>
                      <a:pt x="317" y="327"/>
                      <a:pt x="311" y="319"/>
                      <a:pt x="304" y="311"/>
                    </a:cubicBezTo>
                    <a:cubicBezTo>
                      <a:pt x="277" y="278"/>
                      <a:pt x="271" y="268"/>
                      <a:pt x="236" y="301"/>
                    </a:cubicBezTo>
                    <a:cubicBezTo>
                      <a:pt x="212" y="322"/>
                      <a:pt x="183" y="333"/>
                      <a:pt x="151" y="329"/>
                    </a:cubicBezTo>
                    <a:cubicBezTo>
                      <a:pt x="114" y="324"/>
                      <a:pt x="77" y="318"/>
                      <a:pt x="41" y="309"/>
                    </a:cubicBezTo>
                    <a:cubicBezTo>
                      <a:pt x="5" y="300"/>
                      <a:pt x="0" y="286"/>
                      <a:pt x="15" y="252"/>
                    </a:cubicBezTo>
                    <a:cubicBezTo>
                      <a:pt x="21" y="237"/>
                      <a:pt x="29" y="223"/>
                      <a:pt x="36" y="209"/>
                    </a:cubicBezTo>
                    <a:cubicBezTo>
                      <a:pt x="37" y="207"/>
                      <a:pt x="40" y="206"/>
                      <a:pt x="43" y="2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6" name="Freeform 281"/>
              <p:cNvSpPr/>
              <p:nvPr/>
            </p:nvSpPr>
            <p:spPr bwMode="auto">
              <a:xfrm>
                <a:off x="20856575" y="11663363"/>
                <a:ext cx="1631950" cy="1673225"/>
              </a:xfrm>
              <a:custGeom>
                <a:avLst/>
                <a:gdLst>
                  <a:gd name="T0" fmla="*/ 20 w 517"/>
                  <a:gd name="T1" fmla="*/ 173 h 530"/>
                  <a:gd name="T2" fmla="*/ 31 w 517"/>
                  <a:gd name="T3" fmla="*/ 0 h 530"/>
                  <a:gd name="T4" fmla="*/ 39 w 517"/>
                  <a:gd name="T5" fmla="*/ 6 h 530"/>
                  <a:gd name="T6" fmla="*/ 105 w 517"/>
                  <a:gd name="T7" fmla="*/ 107 h 530"/>
                  <a:gd name="T8" fmla="*/ 292 w 517"/>
                  <a:gd name="T9" fmla="*/ 245 h 530"/>
                  <a:gd name="T10" fmla="*/ 312 w 517"/>
                  <a:gd name="T11" fmla="*/ 253 h 530"/>
                  <a:gd name="T12" fmla="*/ 448 w 517"/>
                  <a:gd name="T13" fmla="*/ 259 h 530"/>
                  <a:gd name="T14" fmla="*/ 505 w 517"/>
                  <a:gd name="T15" fmla="*/ 212 h 530"/>
                  <a:gd name="T16" fmla="*/ 511 w 517"/>
                  <a:gd name="T17" fmla="*/ 197 h 530"/>
                  <a:gd name="T18" fmla="*/ 517 w 517"/>
                  <a:gd name="T19" fmla="*/ 199 h 530"/>
                  <a:gd name="T20" fmla="*/ 504 w 517"/>
                  <a:gd name="T21" fmla="*/ 403 h 530"/>
                  <a:gd name="T22" fmla="*/ 496 w 517"/>
                  <a:gd name="T23" fmla="*/ 403 h 530"/>
                  <a:gd name="T24" fmla="*/ 494 w 517"/>
                  <a:gd name="T25" fmla="*/ 383 h 530"/>
                  <a:gd name="T26" fmla="*/ 451 w 517"/>
                  <a:gd name="T27" fmla="*/ 333 h 530"/>
                  <a:gd name="T28" fmla="*/ 314 w 517"/>
                  <a:gd name="T29" fmla="*/ 322 h 530"/>
                  <a:gd name="T30" fmla="*/ 292 w 517"/>
                  <a:gd name="T31" fmla="*/ 329 h 530"/>
                  <a:gd name="T32" fmla="*/ 57 w 517"/>
                  <a:gd name="T33" fmla="*/ 465 h 530"/>
                  <a:gd name="T34" fmla="*/ 10 w 517"/>
                  <a:gd name="T35" fmla="*/ 522 h 530"/>
                  <a:gd name="T36" fmla="*/ 5 w 517"/>
                  <a:gd name="T37" fmla="*/ 530 h 530"/>
                  <a:gd name="T38" fmla="*/ 0 w 517"/>
                  <a:gd name="T39" fmla="*/ 529 h 530"/>
                  <a:gd name="T40" fmla="*/ 12 w 517"/>
                  <a:gd name="T41" fmla="*/ 323 h 530"/>
                  <a:gd name="T42" fmla="*/ 19 w 517"/>
                  <a:gd name="T43" fmla="*/ 322 h 530"/>
                  <a:gd name="T44" fmla="*/ 22 w 517"/>
                  <a:gd name="T45" fmla="*/ 342 h 530"/>
                  <a:gd name="T46" fmla="*/ 72 w 517"/>
                  <a:gd name="T47" fmla="*/ 374 h 530"/>
                  <a:gd name="T48" fmla="*/ 150 w 517"/>
                  <a:gd name="T49" fmla="*/ 333 h 530"/>
                  <a:gd name="T50" fmla="*/ 256 w 517"/>
                  <a:gd name="T51" fmla="*/ 273 h 530"/>
                  <a:gd name="T52" fmla="*/ 257 w 517"/>
                  <a:gd name="T53" fmla="*/ 251 h 530"/>
                  <a:gd name="T54" fmla="*/ 103 w 517"/>
                  <a:gd name="T55" fmla="*/ 142 h 530"/>
                  <a:gd name="T56" fmla="*/ 32 w 517"/>
                  <a:gd name="T57" fmla="*/ 168 h 530"/>
                  <a:gd name="T58" fmla="*/ 28 w 517"/>
                  <a:gd name="T59" fmla="*/ 174 h 530"/>
                  <a:gd name="T60" fmla="*/ 20 w 517"/>
                  <a:gd name="T61" fmla="*/ 173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17" h="530">
                    <a:moveTo>
                      <a:pt x="20" y="173"/>
                    </a:moveTo>
                    <a:cubicBezTo>
                      <a:pt x="23" y="116"/>
                      <a:pt x="27" y="60"/>
                      <a:pt x="31" y="0"/>
                    </a:cubicBezTo>
                    <a:cubicBezTo>
                      <a:pt x="36" y="4"/>
                      <a:pt x="39" y="5"/>
                      <a:pt x="39" y="6"/>
                    </a:cubicBezTo>
                    <a:cubicBezTo>
                      <a:pt x="42" y="52"/>
                      <a:pt x="71" y="81"/>
                      <a:pt x="105" y="107"/>
                    </a:cubicBezTo>
                    <a:cubicBezTo>
                      <a:pt x="167" y="153"/>
                      <a:pt x="230" y="199"/>
                      <a:pt x="292" y="245"/>
                    </a:cubicBezTo>
                    <a:cubicBezTo>
                      <a:pt x="298" y="249"/>
                      <a:pt x="305" y="253"/>
                      <a:pt x="312" y="253"/>
                    </a:cubicBezTo>
                    <a:cubicBezTo>
                      <a:pt x="357" y="256"/>
                      <a:pt x="403" y="259"/>
                      <a:pt x="448" y="259"/>
                    </a:cubicBezTo>
                    <a:cubicBezTo>
                      <a:pt x="490" y="260"/>
                      <a:pt x="497" y="253"/>
                      <a:pt x="505" y="212"/>
                    </a:cubicBezTo>
                    <a:cubicBezTo>
                      <a:pt x="506" y="207"/>
                      <a:pt x="509" y="202"/>
                      <a:pt x="511" y="197"/>
                    </a:cubicBezTo>
                    <a:cubicBezTo>
                      <a:pt x="513" y="198"/>
                      <a:pt x="515" y="198"/>
                      <a:pt x="517" y="199"/>
                    </a:cubicBezTo>
                    <a:cubicBezTo>
                      <a:pt x="512" y="267"/>
                      <a:pt x="508" y="335"/>
                      <a:pt x="504" y="403"/>
                    </a:cubicBezTo>
                    <a:cubicBezTo>
                      <a:pt x="501" y="403"/>
                      <a:pt x="498" y="403"/>
                      <a:pt x="496" y="403"/>
                    </a:cubicBezTo>
                    <a:cubicBezTo>
                      <a:pt x="495" y="397"/>
                      <a:pt x="495" y="390"/>
                      <a:pt x="494" y="383"/>
                    </a:cubicBezTo>
                    <a:cubicBezTo>
                      <a:pt x="493" y="352"/>
                      <a:pt x="482" y="337"/>
                      <a:pt x="451" y="333"/>
                    </a:cubicBezTo>
                    <a:cubicBezTo>
                      <a:pt x="406" y="327"/>
                      <a:pt x="360" y="325"/>
                      <a:pt x="314" y="322"/>
                    </a:cubicBezTo>
                    <a:cubicBezTo>
                      <a:pt x="307" y="322"/>
                      <a:pt x="298" y="325"/>
                      <a:pt x="292" y="329"/>
                    </a:cubicBezTo>
                    <a:cubicBezTo>
                      <a:pt x="213" y="374"/>
                      <a:pt x="135" y="420"/>
                      <a:pt x="57" y="465"/>
                    </a:cubicBezTo>
                    <a:cubicBezTo>
                      <a:pt x="34" y="478"/>
                      <a:pt x="17" y="496"/>
                      <a:pt x="10" y="522"/>
                    </a:cubicBezTo>
                    <a:cubicBezTo>
                      <a:pt x="9" y="525"/>
                      <a:pt x="7" y="527"/>
                      <a:pt x="5" y="530"/>
                    </a:cubicBezTo>
                    <a:cubicBezTo>
                      <a:pt x="4" y="530"/>
                      <a:pt x="2" y="529"/>
                      <a:pt x="0" y="529"/>
                    </a:cubicBezTo>
                    <a:cubicBezTo>
                      <a:pt x="4" y="460"/>
                      <a:pt x="8" y="391"/>
                      <a:pt x="12" y="323"/>
                    </a:cubicBezTo>
                    <a:cubicBezTo>
                      <a:pt x="14" y="323"/>
                      <a:pt x="17" y="322"/>
                      <a:pt x="19" y="322"/>
                    </a:cubicBezTo>
                    <a:cubicBezTo>
                      <a:pt x="20" y="329"/>
                      <a:pt x="21" y="336"/>
                      <a:pt x="22" y="342"/>
                    </a:cubicBezTo>
                    <a:cubicBezTo>
                      <a:pt x="25" y="372"/>
                      <a:pt x="45" y="385"/>
                      <a:pt x="72" y="374"/>
                    </a:cubicBezTo>
                    <a:cubicBezTo>
                      <a:pt x="99" y="362"/>
                      <a:pt x="124" y="347"/>
                      <a:pt x="150" y="333"/>
                    </a:cubicBezTo>
                    <a:cubicBezTo>
                      <a:pt x="185" y="313"/>
                      <a:pt x="220" y="293"/>
                      <a:pt x="256" y="273"/>
                    </a:cubicBezTo>
                    <a:cubicBezTo>
                      <a:pt x="269" y="266"/>
                      <a:pt x="269" y="259"/>
                      <a:pt x="257" y="251"/>
                    </a:cubicBezTo>
                    <a:cubicBezTo>
                      <a:pt x="206" y="215"/>
                      <a:pt x="155" y="177"/>
                      <a:pt x="103" y="142"/>
                    </a:cubicBezTo>
                    <a:cubicBezTo>
                      <a:pt x="65" y="116"/>
                      <a:pt x="44" y="125"/>
                      <a:pt x="32" y="168"/>
                    </a:cubicBezTo>
                    <a:cubicBezTo>
                      <a:pt x="32" y="170"/>
                      <a:pt x="29" y="172"/>
                      <a:pt x="28" y="174"/>
                    </a:cubicBezTo>
                    <a:cubicBezTo>
                      <a:pt x="25" y="173"/>
                      <a:pt x="22" y="173"/>
                      <a:pt x="20" y="1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7" name="Freeform 282"/>
              <p:cNvSpPr/>
              <p:nvPr/>
            </p:nvSpPr>
            <p:spPr bwMode="auto">
              <a:xfrm>
                <a:off x="20402550" y="13735050"/>
                <a:ext cx="1760538" cy="1357313"/>
              </a:xfrm>
              <a:custGeom>
                <a:avLst/>
                <a:gdLst>
                  <a:gd name="T0" fmla="*/ 107 w 558"/>
                  <a:gd name="T1" fmla="*/ 429 h 430"/>
                  <a:gd name="T2" fmla="*/ 75 w 558"/>
                  <a:gd name="T3" fmla="*/ 421 h 430"/>
                  <a:gd name="T4" fmla="*/ 16 w 558"/>
                  <a:gd name="T5" fmla="*/ 402 h 430"/>
                  <a:gd name="T6" fmla="*/ 3 w 558"/>
                  <a:gd name="T7" fmla="*/ 379 h 430"/>
                  <a:gd name="T8" fmla="*/ 61 w 558"/>
                  <a:gd name="T9" fmla="*/ 165 h 430"/>
                  <a:gd name="T10" fmla="*/ 101 w 558"/>
                  <a:gd name="T11" fmla="*/ 15 h 430"/>
                  <a:gd name="T12" fmla="*/ 115 w 558"/>
                  <a:gd name="T13" fmla="*/ 1 h 430"/>
                  <a:gd name="T14" fmla="*/ 209 w 558"/>
                  <a:gd name="T15" fmla="*/ 22 h 430"/>
                  <a:gd name="T16" fmla="*/ 216 w 558"/>
                  <a:gd name="T17" fmla="*/ 29 h 430"/>
                  <a:gd name="T18" fmla="*/ 194 w 558"/>
                  <a:gd name="T19" fmla="*/ 31 h 430"/>
                  <a:gd name="T20" fmla="*/ 115 w 558"/>
                  <a:gd name="T21" fmla="*/ 76 h 430"/>
                  <a:gd name="T22" fmla="*/ 90 w 558"/>
                  <a:gd name="T23" fmla="*/ 156 h 430"/>
                  <a:gd name="T24" fmla="*/ 107 w 558"/>
                  <a:gd name="T25" fmla="*/ 178 h 430"/>
                  <a:gd name="T26" fmla="*/ 245 w 558"/>
                  <a:gd name="T27" fmla="*/ 215 h 430"/>
                  <a:gd name="T28" fmla="*/ 464 w 558"/>
                  <a:gd name="T29" fmla="*/ 271 h 430"/>
                  <a:gd name="T30" fmla="*/ 495 w 558"/>
                  <a:gd name="T31" fmla="*/ 277 h 430"/>
                  <a:gd name="T32" fmla="*/ 541 w 558"/>
                  <a:gd name="T33" fmla="*/ 245 h 430"/>
                  <a:gd name="T34" fmla="*/ 550 w 558"/>
                  <a:gd name="T35" fmla="*/ 222 h 430"/>
                  <a:gd name="T36" fmla="*/ 496 w 558"/>
                  <a:gd name="T37" fmla="*/ 430 h 430"/>
                  <a:gd name="T38" fmla="*/ 499 w 558"/>
                  <a:gd name="T39" fmla="*/ 408 h 430"/>
                  <a:gd name="T40" fmla="*/ 467 w 558"/>
                  <a:gd name="T41" fmla="*/ 347 h 430"/>
                  <a:gd name="T42" fmla="*/ 292 w 558"/>
                  <a:gd name="T43" fmla="*/ 298 h 430"/>
                  <a:gd name="T44" fmla="*/ 96 w 558"/>
                  <a:gd name="T45" fmla="*/ 245 h 430"/>
                  <a:gd name="T46" fmla="*/ 62 w 558"/>
                  <a:gd name="T47" fmla="*/ 265 h 430"/>
                  <a:gd name="T48" fmla="*/ 49 w 558"/>
                  <a:gd name="T49" fmla="*/ 328 h 430"/>
                  <a:gd name="T50" fmla="*/ 93 w 558"/>
                  <a:gd name="T51" fmla="*/ 410 h 430"/>
                  <a:gd name="T52" fmla="*/ 110 w 558"/>
                  <a:gd name="T53" fmla="*/ 421 h 430"/>
                  <a:gd name="T54" fmla="*/ 107 w 558"/>
                  <a:gd name="T55" fmla="*/ 429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58" h="430">
                    <a:moveTo>
                      <a:pt x="107" y="429"/>
                    </a:moveTo>
                    <a:cubicBezTo>
                      <a:pt x="96" y="426"/>
                      <a:pt x="86" y="424"/>
                      <a:pt x="75" y="421"/>
                    </a:cubicBezTo>
                    <a:cubicBezTo>
                      <a:pt x="55" y="415"/>
                      <a:pt x="36" y="408"/>
                      <a:pt x="16" y="402"/>
                    </a:cubicBezTo>
                    <a:cubicBezTo>
                      <a:pt x="3" y="399"/>
                      <a:pt x="0" y="393"/>
                      <a:pt x="3" y="379"/>
                    </a:cubicBezTo>
                    <a:cubicBezTo>
                      <a:pt x="23" y="308"/>
                      <a:pt x="42" y="237"/>
                      <a:pt x="61" y="165"/>
                    </a:cubicBezTo>
                    <a:cubicBezTo>
                      <a:pt x="74" y="115"/>
                      <a:pt x="87" y="65"/>
                      <a:pt x="101" y="15"/>
                    </a:cubicBezTo>
                    <a:cubicBezTo>
                      <a:pt x="103" y="9"/>
                      <a:pt x="111" y="0"/>
                      <a:pt x="115" y="1"/>
                    </a:cubicBezTo>
                    <a:cubicBezTo>
                      <a:pt x="147" y="7"/>
                      <a:pt x="178" y="14"/>
                      <a:pt x="209" y="22"/>
                    </a:cubicBezTo>
                    <a:cubicBezTo>
                      <a:pt x="210" y="22"/>
                      <a:pt x="211" y="24"/>
                      <a:pt x="216" y="29"/>
                    </a:cubicBezTo>
                    <a:cubicBezTo>
                      <a:pt x="206" y="30"/>
                      <a:pt x="200" y="32"/>
                      <a:pt x="194" y="31"/>
                    </a:cubicBezTo>
                    <a:cubicBezTo>
                      <a:pt x="157" y="29"/>
                      <a:pt x="129" y="42"/>
                      <a:pt x="115" y="76"/>
                    </a:cubicBezTo>
                    <a:cubicBezTo>
                      <a:pt x="104" y="102"/>
                      <a:pt x="98" y="129"/>
                      <a:pt x="90" y="156"/>
                    </a:cubicBezTo>
                    <a:cubicBezTo>
                      <a:pt x="86" y="170"/>
                      <a:pt x="95" y="175"/>
                      <a:pt x="107" y="178"/>
                    </a:cubicBezTo>
                    <a:cubicBezTo>
                      <a:pt x="153" y="190"/>
                      <a:pt x="199" y="203"/>
                      <a:pt x="245" y="215"/>
                    </a:cubicBezTo>
                    <a:cubicBezTo>
                      <a:pt x="318" y="234"/>
                      <a:pt x="391" y="253"/>
                      <a:pt x="464" y="271"/>
                    </a:cubicBezTo>
                    <a:cubicBezTo>
                      <a:pt x="474" y="274"/>
                      <a:pt x="484" y="276"/>
                      <a:pt x="495" y="277"/>
                    </a:cubicBezTo>
                    <a:cubicBezTo>
                      <a:pt x="520" y="278"/>
                      <a:pt x="533" y="269"/>
                      <a:pt x="541" y="245"/>
                    </a:cubicBezTo>
                    <a:cubicBezTo>
                      <a:pt x="543" y="238"/>
                      <a:pt x="546" y="231"/>
                      <a:pt x="550" y="222"/>
                    </a:cubicBezTo>
                    <a:cubicBezTo>
                      <a:pt x="558" y="240"/>
                      <a:pt x="512" y="418"/>
                      <a:pt x="496" y="430"/>
                    </a:cubicBezTo>
                    <a:cubicBezTo>
                      <a:pt x="497" y="421"/>
                      <a:pt x="498" y="414"/>
                      <a:pt x="499" y="408"/>
                    </a:cubicBezTo>
                    <a:cubicBezTo>
                      <a:pt x="507" y="376"/>
                      <a:pt x="498" y="356"/>
                      <a:pt x="467" y="347"/>
                    </a:cubicBezTo>
                    <a:cubicBezTo>
                      <a:pt x="409" y="329"/>
                      <a:pt x="351" y="314"/>
                      <a:pt x="292" y="298"/>
                    </a:cubicBezTo>
                    <a:cubicBezTo>
                      <a:pt x="227" y="280"/>
                      <a:pt x="161" y="263"/>
                      <a:pt x="96" y="245"/>
                    </a:cubicBezTo>
                    <a:cubicBezTo>
                      <a:pt x="69" y="238"/>
                      <a:pt x="68" y="239"/>
                      <a:pt x="62" y="265"/>
                    </a:cubicBezTo>
                    <a:cubicBezTo>
                      <a:pt x="58" y="286"/>
                      <a:pt x="53" y="307"/>
                      <a:pt x="49" y="328"/>
                    </a:cubicBezTo>
                    <a:cubicBezTo>
                      <a:pt x="43" y="366"/>
                      <a:pt x="58" y="393"/>
                      <a:pt x="93" y="410"/>
                    </a:cubicBezTo>
                    <a:cubicBezTo>
                      <a:pt x="99" y="413"/>
                      <a:pt x="104" y="417"/>
                      <a:pt x="110" y="421"/>
                    </a:cubicBezTo>
                    <a:cubicBezTo>
                      <a:pt x="109" y="424"/>
                      <a:pt x="108" y="426"/>
                      <a:pt x="107" y="4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8" name="Freeform 283"/>
              <p:cNvSpPr/>
              <p:nvPr/>
            </p:nvSpPr>
            <p:spPr bwMode="auto">
              <a:xfrm>
                <a:off x="1581150" y="11793538"/>
                <a:ext cx="1635125" cy="1316038"/>
              </a:xfrm>
              <a:custGeom>
                <a:avLst/>
                <a:gdLst>
                  <a:gd name="T0" fmla="*/ 16 w 518"/>
                  <a:gd name="T1" fmla="*/ 336 h 417"/>
                  <a:gd name="T2" fmla="*/ 0 w 518"/>
                  <a:gd name="T3" fmla="*/ 138 h 417"/>
                  <a:gd name="T4" fmla="*/ 4 w 518"/>
                  <a:gd name="T5" fmla="*/ 136 h 417"/>
                  <a:gd name="T6" fmla="*/ 9 w 518"/>
                  <a:gd name="T7" fmla="*/ 154 h 417"/>
                  <a:gd name="T8" fmla="*/ 63 w 518"/>
                  <a:gd name="T9" fmla="*/ 198 h 417"/>
                  <a:gd name="T10" fmla="*/ 190 w 518"/>
                  <a:gd name="T11" fmla="*/ 190 h 417"/>
                  <a:gd name="T12" fmla="*/ 392 w 518"/>
                  <a:gd name="T13" fmla="*/ 176 h 417"/>
                  <a:gd name="T14" fmla="*/ 457 w 518"/>
                  <a:gd name="T15" fmla="*/ 170 h 417"/>
                  <a:gd name="T16" fmla="*/ 474 w 518"/>
                  <a:gd name="T17" fmla="*/ 153 h 417"/>
                  <a:gd name="T18" fmla="*/ 466 w 518"/>
                  <a:gd name="T19" fmla="*/ 76 h 417"/>
                  <a:gd name="T20" fmla="*/ 397 w 518"/>
                  <a:gd name="T21" fmla="*/ 14 h 417"/>
                  <a:gd name="T22" fmla="*/ 378 w 518"/>
                  <a:gd name="T23" fmla="*/ 10 h 417"/>
                  <a:gd name="T24" fmla="*/ 378 w 518"/>
                  <a:gd name="T25" fmla="*/ 3 h 417"/>
                  <a:gd name="T26" fmla="*/ 419 w 518"/>
                  <a:gd name="T27" fmla="*/ 3 h 417"/>
                  <a:gd name="T28" fmla="*/ 470 w 518"/>
                  <a:gd name="T29" fmla="*/ 1 h 417"/>
                  <a:gd name="T30" fmla="*/ 489 w 518"/>
                  <a:gd name="T31" fmla="*/ 18 h 417"/>
                  <a:gd name="T32" fmla="*/ 517 w 518"/>
                  <a:gd name="T33" fmla="*/ 392 h 417"/>
                  <a:gd name="T34" fmla="*/ 511 w 518"/>
                  <a:gd name="T35" fmla="*/ 405 h 417"/>
                  <a:gd name="T36" fmla="*/ 413 w 518"/>
                  <a:gd name="T37" fmla="*/ 417 h 417"/>
                  <a:gd name="T38" fmla="*/ 411 w 518"/>
                  <a:gd name="T39" fmla="*/ 411 h 417"/>
                  <a:gd name="T40" fmla="*/ 428 w 518"/>
                  <a:gd name="T41" fmla="*/ 405 h 417"/>
                  <a:gd name="T42" fmla="*/ 487 w 518"/>
                  <a:gd name="T43" fmla="*/ 328 h 417"/>
                  <a:gd name="T44" fmla="*/ 481 w 518"/>
                  <a:gd name="T45" fmla="*/ 248 h 417"/>
                  <a:gd name="T46" fmla="*/ 458 w 518"/>
                  <a:gd name="T47" fmla="*/ 234 h 417"/>
                  <a:gd name="T48" fmla="*/ 304 w 518"/>
                  <a:gd name="T49" fmla="*/ 247 h 417"/>
                  <a:gd name="T50" fmla="*/ 89 w 518"/>
                  <a:gd name="T51" fmla="*/ 263 h 417"/>
                  <a:gd name="T52" fmla="*/ 77 w 518"/>
                  <a:gd name="T53" fmla="*/ 264 h 417"/>
                  <a:gd name="T54" fmla="*/ 23 w 518"/>
                  <a:gd name="T55" fmla="*/ 326 h 417"/>
                  <a:gd name="T56" fmla="*/ 22 w 518"/>
                  <a:gd name="T57" fmla="*/ 335 h 417"/>
                  <a:gd name="T58" fmla="*/ 16 w 518"/>
                  <a:gd name="T59" fmla="*/ 336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8" h="417">
                    <a:moveTo>
                      <a:pt x="16" y="336"/>
                    </a:moveTo>
                    <a:cubicBezTo>
                      <a:pt x="10" y="270"/>
                      <a:pt x="5" y="204"/>
                      <a:pt x="0" y="138"/>
                    </a:cubicBezTo>
                    <a:cubicBezTo>
                      <a:pt x="1" y="137"/>
                      <a:pt x="3" y="137"/>
                      <a:pt x="4" y="136"/>
                    </a:cubicBezTo>
                    <a:cubicBezTo>
                      <a:pt x="6" y="142"/>
                      <a:pt x="8" y="148"/>
                      <a:pt x="9" y="154"/>
                    </a:cubicBezTo>
                    <a:cubicBezTo>
                      <a:pt x="14" y="183"/>
                      <a:pt x="32" y="199"/>
                      <a:pt x="63" y="198"/>
                    </a:cubicBezTo>
                    <a:cubicBezTo>
                      <a:pt x="105" y="196"/>
                      <a:pt x="148" y="193"/>
                      <a:pt x="190" y="190"/>
                    </a:cubicBezTo>
                    <a:cubicBezTo>
                      <a:pt x="257" y="186"/>
                      <a:pt x="325" y="181"/>
                      <a:pt x="392" y="176"/>
                    </a:cubicBezTo>
                    <a:cubicBezTo>
                      <a:pt x="413" y="174"/>
                      <a:pt x="436" y="174"/>
                      <a:pt x="457" y="170"/>
                    </a:cubicBezTo>
                    <a:cubicBezTo>
                      <a:pt x="464" y="169"/>
                      <a:pt x="474" y="159"/>
                      <a:pt x="474" y="153"/>
                    </a:cubicBezTo>
                    <a:cubicBezTo>
                      <a:pt x="473" y="127"/>
                      <a:pt x="471" y="101"/>
                      <a:pt x="466" y="76"/>
                    </a:cubicBezTo>
                    <a:cubicBezTo>
                      <a:pt x="459" y="40"/>
                      <a:pt x="433" y="19"/>
                      <a:pt x="397" y="14"/>
                    </a:cubicBezTo>
                    <a:cubicBezTo>
                      <a:pt x="391" y="13"/>
                      <a:pt x="384" y="11"/>
                      <a:pt x="378" y="10"/>
                    </a:cubicBezTo>
                    <a:cubicBezTo>
                      <a:pt x="378" y="8"/>
                      <a:pt x="378" y="6"/>
                      <a:pt x="378" y="3"/>
                    </a:cubicBezTo>
                    <a:cubicBezTo>
                      <a:pt x="392" y="3"/>
                      <a:pt x="405" y="4"/>
                      <a:pt x="419" y="3"/>
                    </a:cubicBezTo>
                    <a:cubicBezTo>
                      <a:pt x="436" y="3"/>
                      <a:pt x="453" y="2"/>
                      <a:pt x="470" y="1"/>
                    </a:cubicBezTo>
                    <a:cubicBezTo>
                      <a:pt x="483" y="0"/>
                      <a:pt x="488" y="4"/>
                      <a:pt x="489" y="18"/>
                    </a:cubicBezTo>
                    <a:cubicBezTo>
                      <a:pt x="498" y="142"/>
                      <a:pt x="508" y="267"/>
                      <a:pt x="517" y="392"/>
                    </a:cubicBezTo>
                    <a:cubicBezTo>
                      <a:pt x="518" y="396"/>
                      <a:pt x="514" y="405"/>
                      <a:pt x="511" y="405"/>
                    </a:cubicBezTo>
                    <a:cubicBezTo>
                      <a:pt x="478" y="410"/>
                      <a:pt x="446" y="413"/>
                      <a:pt x="413" y="417"/>
                    </a:cubicBezTo>
                    <a:cubicBezTo>
                      <a:pt x="412" y="415"/>
                      <a:pt x="412" y="413"/>
                      <a:pt x="411" y="411"/>
                    </a:cubicBezTo>
                    <a:cubicBezTo>
                      <a:pt x="417" y="409"/>
                      <a:pt x="422" y="406"/>
                      <a:pt x="428" y="405"/>
                    </a:cubicBezTo>
                    <a:cubicBezTo>
                      <a:pt x="459" y="398"/>
                      <a:pt x="491" y="367"/>
                      <a:pt x="487" y="328"/>
                    </a:cubicBezTo>
                    <a:cubicBezTo>
                      <a:pt x="484" y="301"/>
                      <a:pt x="483" y="275"/>
                      <a:pt x="481" y="248"/>
                    </a:cubicBezTo>
                    <a:cubicBezTo>
                      <a:pt x="480" y="233"/>
                      <a:pt x="469" y="233"/>
                      <a:pt x="458" y="234"/>
                    </a:cubicBezTo>
                    <a:cubicBezTo>
                      <a:pt x="407" y="238"/>
                      <a:pt x="356" y="243"/>
                      <a:pt x="304" y="247"/>
                    </a:cubicBezTo>
                    <a:cubicBezTo>
                      <a:pt x="233" y="252"/>
                      <a:pt x="161" y="257"/>
                      <a:pt x="89" y="263"/>
                    </a:cubicBezTo>
                    <a:cubicBezTo>
                      <a:pt x="85" y="263"/>
                      <a:pt x="81" y="263"/>
                      <a:pt x="77" y="264"/>
                    </a:cubicBezTo>
                    <a:cubicBezTo>
                      <a:pt x="30" y="269"/>
                      <a:pt x="22" y="279"/>
                      <a:pt x="23" y="326"/>
                    </a:cubicBezTo>
                    <a:cubicBezTo>
                      <a:pt x="23" y="329"/>
                      <a:pt x="22" y="332"/>
                      <a:pt x="22" y="335"/>
                    </a:cubicBezTo>
                    <a:cubicBezTo>
                      <a:pt x="20" y="336"/>
                      <a:pt x="18" y="336"/>
                      <a:pt x="16" y="3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9" name="Freeform 284"/>
              <p:cNvSpPr/>
              <p:nvPr/>
            </p:nvSpPr>
            <p:spPr bwMode="auto">
              <a:xfrm>
                <a:off x="5308600" y="18726150"/>
                <a:ext cx="1625600" cy="1411288"/>
              </a:xfrm>
              <a:custGeom>
                <a:avLst/>
                <a:gdLst>
                  <a:gd name="T0" fmla="*/ 350 w 515"/>
                  <a:gd name="T1" fmla="*/ 0 h 447"/>
                  <a:gd name="T2" fmla="*/ 515 w 515"/>
                  <a:gd name="T3" fmla="*/ 133 h 447"/>
                  <a:gd name="T4" fmla="*/ 511 w 515"/>
                  <a:gd name="T5" fmla="*/ 140 h 447"/>
                  <a:gd name="T6" fmla="*/ 492 w 515"/>
                  <a:gd name="T7" fmla="*/ 129 h 447"/>
                  <a:gd name="T8" fmla="*/ 426 w 515"/>
                  <a:gd name="T9" fmla="*/ 135 h 447"/>
                  <a:gd name="T10" fmla="*/ 312 w 515"/>
                  <a:gd name="T11" fmla="*/ 274 h 447"/>
                  <a:gd name="T12" fmla="*/ 181 w 515"/>
                  <a:gd name="T13" fmla="*/ 412 h 447"/>
                  <a:gd name="T14" fmla="*/ 16 w 515"/>
                  <a:gd name="T15" fmla="*/ 387 h 447"/>
                  <a:gd name="T16" fmla="*/ 10 w 515"/>
                  <a:gd name="T17" fmla="*/ 329 h 447"/>
                  <a:gd name="T18" fmla="*/ 51 w 515"/>
                  <a:gd name="T19" fmla="*/ 308 h 447"/>
                  <a:gd name="T20" fmla="*/ 75 w 515"/>
                  <a:gd name="T21" fmla="*/ 351 h 447"/>
                  <a:gd name="T22" fmla="*/ 66 w 515"/>
                  <a:gd name="T23" fmla="*/ 383 h 447"/>
                  <a:gd name="T24" fmla="*/ 98 w 515"/>
                  <a:gd name="T25" fmla="*/ 410 h 447"/>
                  <a:gd name="T26" fmla="*/ 125 w 515"/>
                  <a:gd name="T27" fmla="*/ 391 h 447"/>
                  <a:gd name="T28" fmla="*/ 365 w 515"/>
                  <a:gd name="T29" fmla="*/ 97 h 447"/>
                  <a:gd name="T30" fmla="*/ 357 w 515"/>
                  <a:gd name="T31" fmla="*/ 21 h 447"/>
                  <a:gd name="T32" fmla="*/ 344 w 515"/>
                  <a:gd name="T33" fmla="*/ 6 h 447"/>
                  <a:gd name="T34" fmla="*/ 350 w 515"/>
                  <a:gd name="T35" fmla="*/ 0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5" h="447">
                    <a:moveTo>
                      <a:pt x="350" y="0"/>
                    </a:moveTo>
                    <a:cubicBezTo>
                      <a:pt x="405" y="44"/>
                      <a:pt x="460" y="88"/>
                      <a:pt x="515" y="133"/>
                    </a:cubicBezTo>
                    <a:cubicBezTo>
                      <a:pt x="514" y="135"/>
                      <a:pt x="512" y="137"/>
                      <a:pt x="511" y="140"/>
                    </a:cubicBezTo>
                    <a:cubicBezTo>
                      <a:pt x="504" y="136"/>
                      <a:pt x="498" y="133"/>
                      <a:pt x="492" y="129"/>
                    </a:cubicBezTo>
                    <a:cubicBezTo>
                      <a:pt x="465" y="110"/>
                      <a:pt x="448" y="110"/>
                      <a:pt x="426" y="135"/>
                    </a:cubicBezTo>
                    <a:cubicBezTo>
                      <a:pt x="387" y="180"/>
                      <a:pt x="350" y="228"/>
                      <a:pt x="312" y="274"/>
                    </a:cubicBezTo>
                    <a:cubicBezTo>
                      <a:pt x="271" y="322"/>
                      <a:pt x="235" y="376"/>
                      <a:pt x="181" y="412"/>
                    </a:cubicBezTo>
                    <a:cubicBezTo>
                      <a:pt x="130" y="446"/>
                      <a:pt x="60" y="447"/>
                      <a:pt x="16" y="387"/>
                    </a:cubicBezTo>
                    <a:cubicBezTo>
                      <a:pt x="2" y="368"/>
                      <a:pt x="0" y="349"/>
                      <a:pt x="10" y="329"/>
                    </a:cubicBezTo>
                    <a:cubicBezTo>
                      <a:pt x="18" y="312"/>
                      <a:pt x="35" y="303"/>
                      <a:pt x="51" y="308"/>
                    </a:cubicBezTo>
                    <a:cubicBezTo>
                      <a:pt x="69" y="313"/>
                      <a:pt x="79" y="331"/>
                      <a:pt x="75" y="351"/>
                    </a:cubicBezTo>
                    <a:cubicBezTo>
                      <a:pt x="73" y="362"/>
                      <a:pt x="68" y="372"/>
                      <a:pt x="66" y="383"/>
                    </a:cubicBezTo>
                    <a:cubicBezTo>
                      <a:pt x="62" y="406"/>
                      <a:pt x="77" y="419"/>
                      <a:pt x="98" y="410"/>
                    </a:cubicBezTo>
                    <a:cubicBezTo>
                      <a:pt x="108" y="406"/>
                      <a:pt x="119" y="399"/>
                      <a:pt x="125" y="391"/>
                    </a:cubicBezTo>
                    <a:cubicBezTo>
                      <a:pt x="206" y="293"/>
                      <a:pt x="286" y="196"/>
                      <a:pt x="365" y="97"/>
                    </a:cubicBezTo>
                    <a:cubicBezTo>
                      <a:pt x="389" y="67"/>
                      <a:pt x="386" y="47"/>
                      <a:pt x="357" y="21"/>
                    </a:cubicBezTo>
                    <a:cubicBezTo>
                      <a:pt x="353" y="16"/>
                      <a:pt x="349" y="11"/>
                      <a:pt x="344" y="6"/>
                    </a:cubicBezTo>
                    <a:cubicBezTo>
                      <a:pt x="346" y="4"/>
                      <a:pt x="348" y="2"/>
                      <a:pt x="35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0" name="Freeform 285"/>
              <p:cNvSpPr/>
              <p:nvPr/>
            </p:nvSpPr>
            <p:spPr bwMode="auto">
              <a:xfrm>
                <a:off x="19919950" y="15389225"/>
                <a:ext cx="1689100" cy="1316038"/>
              </a:xfrm>
              <a:custGeom>
                <a:avLst/>
                <a:gdLst>
                  <a:gd name="T0" fmla="*/ 535 w 535"/>
                  <a:gd name="T1" fmla="*/ 228 h 417"/>
                  <a:gd name="T2" fmla="*/ 440 w 535"/>
                  <a:gd name="T3" fmla="*/ 417 h 417"/>
                  <a:gd name="T4" fmla="*/ 433 w 535"/>
                  <a:gd name="T5" fmla="*/ 414 h 417"/>
                  <a:gd name="T6" fmla="*/ 441 w 535"/>
                  <a:gd name="T7" fmla="*/ 391 h 417"/>
                  <a:gd name="T8" fmla="*/ 422 w 535"/>
                  <a:gd name="T9" fmla="*/ 328 h 417"/>
                  <a:gd name="T10" fmla="*/ 289 w 535"/>
                  <a:gd name="T11" fmla="*/ 259 h 417"/>
                  <a:gd name="T12" fmla="*/ 96 w 535"/>
                  <a:gd name="T13" fmla="*/ 160 h 417"/>
                  <a:gd name="T14" fmla="*/ 15 w 535"/>
                  <a:gd name="T15" fmla="*/ 184 h 417"/>
                  <a:gd name="T16" fmla="*/ 6 w 535"/>
                  <a:gd name="T17" fmla="*/ 195 h 417"/>
                  <a:gd name="T18" fmla="*/ 0 w 535"/>
                  <a:gd name="T19" fmla="*/ 191 h 417"/>
                  <a:gd name="T20" fmla="*/ 94 w 535"/>
                  <a:gd name="T21" fmla="*/ 0 h 417"/>
                  <a:gd name="T22" fmla="*/ 102 w 535"/>
                  <a:gd name="T23" fmla="*/ 3 h 417"/>
                  <a:gd name="T24" fmla="*/ 96 w 535"/>
                  <a:gd name="T25" fmla="*/ 26 h 417"/>
                  <a:gd name="T26" fmla="*/ 122 w 535"/>
                  <a:gd name="T27" fmla="*/ 92 h 417"/>
                  <a:gd name="T28" fmla="*/ 421 w 535"/>
                  <a:gd name="T29" fmla="*/ 246 h 417"/>
                  <a:gd name="T30" fmla="*/ 447 w 535"/>
                  <a:gd name="T31" fmla="*/ 258 h 417"/>
                  <a:gd name="T32" fmla="*/ 512 w 535"/>
                  <a:gd name="T33" fmla="*/ 244 h 417"/>
                  <a:gd name="T34" fmla="*/ 530 w 535"/>
                  <a:gd name="T35" fmla="*/ 223 h 417"/>
                  <a:gd name="T36" fmla="*/ 535 w 535"/>
                  <a:gd name="T37" fmla="*/ 228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5" h="417">
                    <a:moveTo>
                      <a:pt x="535" y="228"/>
                    </a:moveTo>
                    <a:cubicBezTo>
                      <a:pt x="504" y="291"/>
                      <a:pt x="472" y="354"/>
                      <a:pt x="440" y="417"/>
                    </a:cubicBezTo>
                    <a:cubicBezTo>
                      <a:pt x="438" y="416"/>
                      <a:pt x="435" y="415"/>
                      <a:pt x="433" y="414"/>
                    </a:cubicBezTo>
                    <a:cubicBezTo>
                      <a:pt x="435" y="406"/>
                      <a:pt x="438" y="398"/>
                      <a:pt x="441" y="391"/>
                    </a:cubicBezTo>
                    <a:cubicBezTo>
                      <a:pt x="452" y="363"/>
                      <a:pt x="448" y="342"/>
                      <a:pt x="422" y="328"/>
                    </a:cubicBezTo>
                    <a:cubicBezTo>
                      <a:pt x="379" y="303"/>
                      <a:pt x="334" y="281"/>
                      <a:pt x="289" y="259"/>
                    </a:cubicBezTo>
                    <a:cubicBezTo>
                      <a:pt x="225" y="226"/>
                      <a:pt x="160" y="193"/>
                      <a:pt x="96" y="160"/>
                    </a:cubicBezTo>
                    <a:cubicBezTo>
                      <a:pt x="56" y="140"/>
                      <a:pt x="39" y="145"/>
                      <a:pt x="15" y="184"/>
                    </a:cubicBezTo>
                    <a:cubicBezTo>
                      <a:pt x="12" y="188"/>
                      <a:pt x="9" y="191"/>
                      <a:pt x="6" y="195"/>
                    </a:cubicBezTo>
                    <a:cubicBezTo>
                      <a:pt x="4" y="194"/>
                      <a:pt x="2" y="192"/>
                      <a:pt x="0" y="191"/>
                    </a:cubicBezTo>
                    <a:cubicBezTo>
                      <a:pt x="31" y="128"/>
                      <a:pt x="63" y="64"/>
                      <a:pt x="94" y="0"/>
                    </a:cubicBezTo>
                    <a:cubicBezTo>
                      <a:pt x="97" y="1"/>
                      <a:pt x="99" y="2"/>
                      <a:pt x="102" y="3"/>
                    </a:cubicBezTo>
                    <a:cubicBezTo>
                      <a:pt x="100" y="11"/>
                      <a:pt x="99" y="19"/>
                      <a:pt x="96" y="26"/>
                    </a:cubicBezTo>
                    <a:cubicBezTo>
                      <a:pt x="83" y="60"/>
                      <a:pt x="89" y="76"/>
                      <a:pt x="122" y="92"/>
                    </a:cubicBezTo>
                    <a:cubicBezTo>
                      <a:pt x="222" y="143"/>
                      <a:pt x="321" y="195"/>
                      <a:pt x="421" y="246"/>
                    </a:cubicBezTo>
                    <a:cubicBezTo>
                      <a:pt x="430" y="250"/>
                      <a:pt x="438" y="254"/>
                      <a:pt x="447" y="258"/>
                    </a:cubicBezTo>
                    <a:cubicBezTo>
                      <a:pt x="476" y="273"/>
                      <a:pt x="491" y="270"/>
                      <a:pt x="512" y="244"/>
                    </a:cubicBezTo>
                    <a:cubicBezTo>
                      <a:pt x="518" y="237"/>
                      <a:pt x="524" y="230"/>
                      <a:pt x="530" y="223"/>
                    </a:cubicBezTo>
                    <a:cubicBezTo>
                      <a:pt x="532" y="225"/>
                      <a:pt x="534" y="226"/>
                      <a:pt x="535" y="2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1" name="Freeform 286"/>
              <p:cNvSpPr/>
              <p:nvPr/>
            </p:nvSpPr>
            <p:spPr bwMode="auto">
              <a:xfrm>
                <a:off x="13220700" y="20604163"/>
                <a:ext cx="946150" cy="1679575"/>
              </a:xfrm>
              <a:custGeom>
                <a:avLst/>
                <a:gdLst>
                  <a:gd name="T0" fmla="*/ 0 w 300"/>
                  <a:gd name="T1" fmla="*/ 40 h 532"/>
                  <a:gd name="T2" fmla="*/ 205 w 300"/>
                  <a:gd name="T3" fmla="*/ 0 h 532"/>
                  <a:gd name="T4" fmla="*/ 207 w 300"/>
                  <a:gd name="T5" fmla="*/ 5 h 532"/>
                  <a:gd name="T6" fmla="*/ 199 w 300"/>
                  <a:gd name="T7" fmla="*/ 10 h 532"/>
                  <a:gd name="T8" fmla="*/ 149 w 300"/>
                  <a:gd name="T9" fmla="*/ 84 h 532"/>
                  <a:gd name="T10" fmla="*/ 222 w 300"/>
                  <a:gd name="T11" fmla="*/ 443 h 532"/>
                  <a:gd name="T12" fmla="*/ 281 w 300"/>
                  <a:gd name="T13" fmla="*/ 486 h 532"/>
                  <a:gd name="T14" fmla="*/ 300 w 300"/>
                  <a:gd name="T15" fmla="*/ 486 h 532"/>
                  <a:gd name="T16" fmla="*/ 300 w 300"/>
                  <a:gd name="T17" fmla="*/ 494 h 532"/>
                  <a:gd name="T18" fmla="*/ 100 w 300"/>
                  <a:gd name="T19" fmla="*/ 532 h 532"/>
                  <a:gd name="T20" fmla="*/ 98 w 300"/>
                  <a:gd name="T21" fmla="*/ 526 h 532"/>
                  <a:gd name="T22" fmla="*/ 117 w 300"/>
                  <a:gd name="T23" fmla="*/ 519 h 532"/>
                  <a:gd name="T24" fmla="*/ 152 w 300"/>
                  <a:gd name="T25" fmla="*/ 461 h 532"/>
                  <a:gd name="T26" fmla="*/ 112 w 300"/>
                  <a:gd name="T27" fmla="*/ 252 h 532"/>
                  <a:gd name="T28" fmla="*/ 79 w 300"/>
                  <a:gd name="T29" fmla="*/ 94 h 532"/>
                  <a:gd name="T30" fmla="*/ 15 w 300"/>
                  <a:gd name="T31" fmla="*/ 48 h 532"/>
                  <a:gd name="T32" fmla="*/ 1 w 300"/>
                  <a:gd name="T33" fmla="*/ 47 h 532"/>
                  <a:gd name="T34" fmla="*/ 0 w 300"/>
                  <a:gd name="T35" fmla="*/ 40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0" h="532">
                    <a:moveTo>
                      <a:pt x="0" y="40"/>
                    </a:moveTo>
                    <a:cubicBezTo>
                      <a:pt x="68" y="27"/>
                      <a:pt x="136" y="14"/>
                      <a:pt x="205" y="0"/>
                    </a:cubicBezTo>
                    <a:cubicBezTo>
                      <a:pt x="205" y="2"/>
                      <a:pt x="206" y="3"/>
                      <a:pt x="207" y="5"/>
                    </a:cubicBezTo>
                    <a:cubicBezTo>
                      <a:pt x="204" y="7"/>
                      <a:pt x="202" y="10"/>
                      <a:pt x="199" y="10"/>
                    </a:cubicBezTo>
                    <a:cubicBezTo>
                      <a:pt x="153" y="21"/>
                      <a:pt x="140" y="38"/>
                      <a:pt x="149" y="84"/>
                    </a:cubicBezTo>
                    <a:cubicBezTo>
                      <a:pt x="172" y="204"/>
                      <a:pt x="197" y="324"/>
                      <a:pt x="222" y="443"/>
                    </a:cubicBezTo>
                    <a:cubicBezTo>
                      <a:pt x="230" y="481"/>
                      <a:pt x="243" y="489"/>
                      <a:pt x="281" y="486"/>
                    </a:cubicBezTo>
                    <a:cubicBezTo>
                      <a:pt x="287" y="485"/>
                      <a:pt x="293" y="486"/>
                      <a:pt x="300" y="486"/>
                    </a:cubicBezTo>
                    <a:cubicBezTo>
                      <a:pt x="300" y="488"/>
                      <a:pt x="300" y="491"/>
                      <a:pt x="300" y="494"/>
                    </a:cubicBezTo>
                    <a:cubicBezTo>
                      <a:pt x="234" y="506"/>
                      <a:pt x="167" y="519"/>
                      <a:pt x="100" y="532"/>
                    </a:cubicBezTo>
                    <a:cubicBezTo>
                      <a:pt x="99" y="530"/>
                      <a:pt x="98" y="528"/>
                      <a:pt x="98" y="526"/>
                    </a:cubicBezTo>
                    <a:cubicBezTo>
                      <a:pt x="104" y="523"/>
                      <a:pt x="110" y="521"/>
                      <a:pt x="117" y="519"/>
                    </a:cubicBezTo>
                    <a:cubicBezTo>
                      <a:pt x="147" y="508"/>
                      <a:pt x="157" y="493"/>
                      <a:pt x="152" y="461"/>
                    </a:cubicBezTo>
                    <a:cubicBezTo>
                      <a:pt x="139" y="391"/>
                      <a:pt x="126" y="321"/>
                      <a:pt x="112" y="252"/>
                    </a:cubicBezTo>
                    <a:cubicBezTo>
                      <a:pt x="102" y="199"/>
                      <a:pt x="91" y="146"/>
                      <a:pt x="79" y="94"/>
                    </a:cubicBezTo>
                    <a:cubicBezTo>
                      <a:pt x="69" y="50"/>
                      <a:pt x="61" y="45"/>
                      <a:pt x="15" y="48"/>
                    </a:cubicBezTo>
                    <a:cubicBezTo>
                      <a:pt x="10" y="48"/>
                      <a:pt x="5" y="47"/>
                      <a:pt x="1" y="47"/>
                    </a:cubicBezTo>
                    <a:cubicBezTo>
                      <a:pt x="0" y="45"/>
                      <a:pt x="0" y="42"/>
                      <a:pt x="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2" name="Freeform 287"/>
              <p:cNvSpPr/>
              <p:nvPr/>
            </p:nvSpPr>
            <p:spPr bwMode="auto">
              <a:xfrm>
                <a:off x="6519863" y="19397663"/>
                <a:ext cx="1363663" cy="1692275"/>
              </a:xfrm>
              <a:custGeom>
                <a:avLst/>
                <a:gdLst>
                  <a:gd name="T0" fmla="*/ 254 w 432"/>
                  <a:gd name="T1" fmla="*/ 0 h 536"/>
                  <a:gd name="T2" fmla="*/ 432 w 432"/>
                  <a:gd name="T3" fmla="*/ 101 h 536"/>
                  <a:gd name="T4" fmla="*/ 429 w 432"/>
                  <a:gd name="T5" fmla="*/ 107 h 536"/>
                  <a:gd name="T6" fmla="*/ 402 w 432"/>
                  <a:gd name="T7" fmla="*/ 97 h 536"/>
                  <a:gd name="T8" fmla="*/ 347 w 432"/>
                  <a:gd name="T9" fmla="*/ 114 h 536"/>
                  <a:gd name="T10" fmla="*/ 246 w 432"/>
                  <a:gd name="T11" fmla="*/ 285 h 536"/>
                  <a:gd name="T12" fmla="*/ 156 w 432"/>
                  <a:gd name="T13" fmla="*/ 439 h 536"/>
                  <a:gd name="T14" fmla="*/ 174 w 432"/>
                  <a:gd name="T15" fmla="*/ 519 h 536"/>
                  <a:gd name="T16" fmla="*/ 186 w 432"/>
                  <a:gd name="T17" fmla="*/ 529 h 536"/>
                  <a:gd name="T18" fmla="*/ 182 w 432"/>
                  <a:gd name="T19" fmla="*/ 536 h 536"/>
                  <a:gd name="T20" fmla="*/ 0 w 432"/>
                  <a:gd name="T21" fmla="*/ 433 h 536"/>
                  <a:gd name="T22" fmla="*/ 3 w 432"/>
                  <a:gd name="T23" fmla="*/ 426 h 536"/>
                  <a:gd name="T24" fmla="*/ 17 w 432"/>
                  <a:gd name="T25" fmla="*/ 432 h 536"/>
                  <a:gd name="T26" fmla="*/ 92 w 432"/>
                  <a:gd name="T27" fmla="*/ 412 h 536"/>
                  <a:gd name="T28" fmla="*/ 216 w 432"/>
                  <a:gd name="T29" fmla="*/ 197 h 536"/>
                  <a:gd name="T30" fmla="*/ 269 w 432"/>
                  <a:gd name="T31" fmla="*/ 109 h 536"/>
                  <a:gd name="T32" fmla="*/ 274 w 432"/>
                  <a:gd name="T33" fmla="*/ 99 h 536"/>
                  <a:gd name="T34" fmla="*/ 256 w 432"/>
                  <a:gd name="T35" fmla="*/ 12 h 536"/>
                  <a:gd name="T36" fmla="*/ 250 w 432"/>
                  <a:gd name="T37" fmla="*/ 5 h 536"/>
                  <a:gd name="T38" fmla="*/ 254 w 432"/>
                  <a:gd name="T3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2" h="536">
                    <a:moveTo>
                      <a:pt x="254" y="0"/>
                    </a:moveTo>
                    <a:cubicBezTo>
                      <a:pt x="313" y="33"/>
                      <a:pt x="372" y="67"/>
                      <a:pt x="432" y="101"/>
                    </a:cubicBezTo>
                    <a:cubicBezTo>
                      <a:pt x="431" y="103"/>
                      <a:pt x="430" y="105"/>
                      <a:pt x="429" y="107"/>
                    </a:cubicBezTo>
                    <a:cubicBezTo>
                      <a:pt x="420" y="104"/>
                      <a:pt x="411" y="100"/>
                      <a:pt x="402" y="97"/>
                    </a:cubicBezTo>
                    <a:cubicBezTo>
                      <a:pt x="377" y="88"/>
                      <a:pt x="361" y="91"/>
                      <a:pt x="347" y="114"/>
                    </a:cubicBezTo>
                    <a:cubicBezTo>
                      <a:pt x="312" y="171"/>
                      <a:pt x="279" y="228"/>
                      <a:pt x="246" y="285"/>
                    </a:cubicBezTo>
                    <a:cubicBezTo>
                      <a:pt x="216" y="336"/>
                      <a:pt x="186" y="388"/>
                      <a:pt x="156" y="439"/>
                    </a:cubicBezTo>
                    <a:cubicBezTo>
                      <a:pt x="134" y="476"/>
                      <a:pt x="139" y="494"/>
                      <a:pt x="174" y="519"/>
                    </a:cubicBezTo>
                    <a:cubicBezTo>
                      <a:pt x="179" y="522"/>
                      <a:pt x="183" y="526"/>
                      <a:pt x="186" y="529"/>
                    </a:cubicBezTo>
                    <a:cubicBezTo>
                      <a:pt x="185" y="532"/>
                      <a:pt x="184" y="534"/>
                      <a:pt x="182" y="536"/>
                    </a:cubicBezTo>
                    <a:cubicBezTo>
                      <a:pt x="121" y="502"/>
                      <a:pt x="61" y="467"/>
                      <a:pt x="0" y="433"/>
                    </a:cubicBezTo>
                    <a:cubicBezTo>
                      <a:pt x="1" y="431"/>
                      <a:pt x="2" y="428"/>
                      <a:pt x="3" y="426"/>
                    </a:cubicBezTo>
                    <a:cubicBezTo>
                      <a:pt x="8" y="428"/>
                      <a:pt x="12" y="430"/>
                      <a:pt x="17" y="432"/>
                    </a:cubicBezTo>
                    <a:cubicBezTo>
                      <a:pt x="49" y="448"/>
                      <a:pt x="73" y="443"/>
                      <a:pt x="92" y="412"/>
                    </a:cubicBezTo>
                    <a:cubicBezTo>
                      <a:pt x="134" y="341"/>
                      <a:pt x="175" y="268"/>
                      <a:pt x="216" y="197"/>
                    </a:cubicBezTo>
                    <a:cubicBezTo>
                      <a:pt x="233" y="167"/>
                      <a:pt x="251" y="139"/>
                      <a:pt x="269" y="109"/>
                    </a:cubicBezTo>
                    <a:cubicBezTo>
                      <a:pt x="271" y="106"/>
                      <a:pt x="273" y="103"/>
                      <a:pt x="274" y="99"/>
                    </a:cubicBezTo>
                    <a:cubicBezTo>
                      <a:pt x="289" y="63"/>
                      <a:pt x="306" y="45"/>
                      <a:pt x="256" y="12"/>
                    </a:cubicBezTo>
                    <a:cubicBezTo>
                      <a:pt x="254" y="10"/>
                      <a:pt x="252" y="7"/>
                      <a:pt x="250" y="5"/>
                    </a:cubicBezTo>
                    <a:cubicBezTo>
                      <a:pt x="252" y="3"/>
                      <a:pt x="253" y="1"/>
                      <a:pt x="25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3" name="Freeform 288"/>
              <p:cNvSpPr/>
              <p:nvPr/>
            </p:nvSpPr>
            <p:spPr bwMode="auto">
              <a:xfrm>
                <a:off x="9525000" y="2625725"/>
                <a:ext cx="1044575" cy="1082675"/>
              </a:xfrm>
              <a:custGeom>
                <a:avLst/>
                <a:gdLst>
                  <a:gd name="T0" fmla="*/ 25 w 331"/>
                  <a:gd name="T1" fmla="*/ 80 h 343"/>
                  <a:gd name="T2" fmla="*/ 41 w 331"/>
                  <a:gd name="T3" fmla="*/ 124 h 343"/>
                  <a:gd name="T4" fmla="*/ 60 w 331"/>
                  <a:gd name="T5" fmla="*/ 153 h 343"/>
                  <a:gd name="T6" fmla="*/ 88 w 331"/>
                  <a:gd name="T7" fmla="*/ 136 h 343"/>
                  <a:gd name="T8" fmla="*/ 108 w 331"/>
                  <a:gd name="T9" fmla="*/ 111 h 343"/>
                  <a:gd name="T10" fmla="*/ 129 w 331"/>
                  <a:gd name="T11" fmla="*/ 79 h 343"/>
                  <a:gd name="T12" fmla="*/ 153 w 331"/>
                  <a:gd name="T13" fmla="*/ 123 h 343"/>
                  <a:gd name="T14" fmla="*/ 169 w 331"/>
                  <a:gd name="T15" fmla="*/ 142 h 343"/>
                  <a:gd name="T16" fmla="*/ 184 w 331"/>
                  <a:gd name="T17" fmla="*/ 121 h 343"/>
                  <a:gd name="T18" fmla="*/ 195 w 331"/>
                  <a:gd name="T19" fmla="*/ 52 h 343"/>
                  <a:gd name="T20" fmla="*/ 232 w 331"/>
                  <a:gd name="T21" fmla="*/ 3 h 343"/>
                  <a:gd name="T22" fmla="*/ 254 w 331"/>
                  <a:gd name="T23" fmla="*/ 5 h 343"/>
                  <a:gd name="T24" fmla="*/ 320 w 331"/>
                  <a:gd name="T25" fmla="*/ 98 h 343"/>
                  <a:gd name="T26" fmla="*/ 309 w 331"/>
                  <a:gd name="T27" fmla="*/ 294 h 343"/>
                  <a:gd name="T28" fmla="*/ 303 w 331"/>
                  <a:gd name="T29" fmla="*/ 311 h 343"/>
                  <a:gd name="T30" fmla="*/ 297 w 331"/>
                  <a:gd name="T31" fmla="*/ 310 h 343"/>
                  <a:gd name="T32" fmla="*/ 297 w 331"/>
                  <a:gd name="T33" fmla="*/ 291 h 343"/>
                  <a:gd name="T34" fmla="*/ 290 w 331"/>
                  <a:gd name="T35" fmla="*/ 140 h 343"/>
                  <a:gd name="T36" fmla="*/ 263 w 331"/>
                  <a:gd name="T37" fmla="*/ 82 h 343"/>
                  <a:gd name="T38" fmla="*/ 214 w 331"/>
                  <a:gd name="T39" fmla="*/ 89 h 343"/>
                  <a:gd name="T40" fmla="*/ 177 w 331"/>
                  <a:gd name="T41" fmla="*/ 202 h 343"/>
                  <a:gd name="T42" fmla="*/ 162 w 331"/>
                  <a:gd name="T43" fmla="*/ 236 h 343"/>
                  <a:gd name="T44" fmla="*/ 140 w 331"/>
                  <a:gd name="T45" fmla="*/ 232 h 343"/>
                  <a:gd name="T46" fmla="*/ 129 w 331"/>
                  <a:gd name="T47" fmla="*/ 199 h 343"/>
                  <a:gd name="T48" fmla="*/ 94 w 331"/>
                  <a:gd name="T49" fmla="*/ 174 h 343"/>
                  <a:gd name="T50" fmla="*/ 61 w 331"/>
                  <a:gd name="T51" fmla="*/ 207 h 343"/>
                  <a:gd name="T52" fmla="*/ 68 w 331"/>
                  <a:gd name="T53" fmla="*/ 260 h 343"/>
                  <a:gd name="T54" fmla="*/ 82 w 331"/>
                  <a:gd name="T55" fmla="*/ 324 h 343"/>
                  <a:gd name="T56" fmla="*/ 73 w 331"/>
                  <a:gd name="T57" fmla="*/ 343 h 343"/>
                  <a:gd name="T58" fmla="*/ 57 w 331"/>
                  <a:gd name="T59" fmla="*/ 332 h 343"/>
                  <a:gd name="T60" fmla="*/ 22 w 331"/>
                  <a:gd name="T61" fmla="*/ 239 h 343"/>
                  <a:gd name="T62" fmla="*/ 8 w 331"/>
                  <a:gd name="T63" fmla="*/ 156 h 343"/>
                  <a:gd name="T64" fmla="*/ 25 w 331"/>
                  <a:gd name="T65" fmla="*/ 80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1" h="343">
                    <a:moveTo>
                      <a:pt x="25" y="80"/>
                    </a:moveTo>
                    <a:cubicBezTo>
                      <a:pt x="31" y="98"/>
                      <a:pt x="35" y="112"/>
                      <a:pt x="41" y="124"/>
                    </a:cubicBezTo>
                    <a:cubicBezTo>
                      <a:pt x="46" y="135"/>
                      <a:pt x="51" y="149"/>
                      <a:pt x="60" y="153"/>
                    </a:cubicBezTo>
                    <a:cubicBezTo>
                      <a:pt x="66" y="155"/>
                      <a:pt x="80" y="143"/>
                      <a:pt x="88" y="136"/>
                    </a:cubicBezTo>
                    <a:cubicBezTo>
                      <a:pt x="96" y="129"/>
                      <a:pt x="102" y="120"/>
                      <a:pt x="108" y="111"/>
                    </a:cubicBezTo>
                    <a:cubicBezTo>
                      <a:pt x="114" y="102"/>
                      <a:pt x="119" y="93"/>
                      <a:pt x="129" y="79"/>
                    </a:cubicBezTo>
                    <a:cubicBezTo>
                      <a:pt x="138" y="97"/>
                      <a:pt x="145" y="110"/>
                      <a:pt x="153" y="123"/>
                    </a:cubicBezTo>
                    <a:cubicBezTo>
                      <a:pt x="158" y="130"/>
                      <a:pt x="164" y="136"/>
                      <a:pt x="169" y="142"/>
                    </a:cubicBezTo>
                    <a:cubicBezTo>
                      <a:pt x="175" y="135"/>
                      <a:pt x="183" y="128"/>
                      <a:pt x="184" y="121"/>
                    </a:cubicBezTo>
                    <a:cubicBezTo>
                      <a:pt x="189" y="98"/>
                      <a:pt x="193" y="75"/>
                      <a:pt x="195" y="52"/>
                    </a:cubicBezTo>
                    <a:cubicBezTo>
                      <a:pt x="198" y="27"/>
                      <a:pt x="214" y="14"/>
                      <a:pt x="232" y="3"/>
                    </a:cubicBezTo>
                    <a:cubicBezTo>
                      <a:pt x="238" y="0"/>
                      <a:pt x="248" y="2"/>
                      <a:pt x="254" y="5"/>
                    </a:cubicBezTo>
                    <a:cubicBezTo>
                      <a:pt x="290" y="26"/>
                      <a:pt x="312" y="56"/>
                      <a:pt x="320" y="98"/>
                    </a:cubicBezTo>
                    <a:cubicBezTo>
                      <a:pt x="331" y="164"/>
                      <a:pt x="322" y="229"/>
                      <a:pt x="309" y="294"/>
                    </a:cubicBezTo>
                    <a:cubicBezTo>
                      <a:pt x="308" y="300"/>
                      <a:pt x="305" y="306"/>
                      <a:pt x="303" y="311"/>
                    </a:cubicBezTo>
                    <a:cubicBezTo>
                      <a:pt x="301" y="311"/>
                      <a:pt x="299" y="311"/>
                      <a:pt x="297" y="310"/>
                    </a:cubicBezTo>
                    <a:cubicBezTo>
                      <a:pt x="297" y="304"/>
                      <a:pt x="296" y="297"/>
                      <a:pt x="297" y="291"/>
                    </a:cubicBezTo>
                    <a:cubicBezTo>
                      <a:pt x="300" y="240"/>
                      <a:pt x="306" y="189"/>
                      <a:pt x="290" y="140"/>
                    </a:cubicBezTo>
                    <a:cubicBezTo>
                      <a:pt x="284" y="120"/>
                      <a:pt x="275" y="99"/>
                      <a:pt x="263" y="82"/>
                    </a:cubicBezTo>
                    <a:cubicBezTo>
                      <a:pt x="248" y="61"/>
                      <a:pt x="223" y="66"/>
                      <a:pt x="214" y="89"/>
                    </a:cubicBezTo>
                    <a:cubicBezTo>
                      <a:pt x="200" y="126"/>
                      <a:pt x="190" y="165"/>
                      <a:pt x="177" y="202"/>
                    </a:cubicBezTo>
                    <a:cubicBezTo>
                      <a:pt x="173" y="214"/>
                      <a:pt x="168" y="226"/>
                      <a:pt x="162" y="236"/>
                    </a:cubicBezTo>
                    <a:cubicBezTo>
                      <a:pt x="153" y="250"/>
                      <a:pt x="145" y="247"/>
                      <a:pt x="140" y="232"/>
                    </a:cubicBezTo>
                    <a:cubicBezTo>
                      <a:pt x="136" y="221"/>
                      <a:pt x="133" y="210"/>
                      <a:pt x="129" y="199"/>
                    </a:cubicBezTo>
                    <a:cubicBezTo>
                      <a:pt x="122" y="183"/>
                      <a:pt x="111" y="172"/>
                      <a:pt x="94" y="174"/>
                    </a:cubicBezTo>
                    <a:cubicBezTo>
                      <a:pt x="76" y="176"/>
                      <a:pt x="62" y="189"/>
                      <a:pt x="61" y="207"/>
                    </a:cubicBezTo>
                    <a:cubicBezTo>
                      <a:pt x="61" y="224"/>
                      <a:pt x="65" y="242"/>
                      <a:pt x="68" y="260"/>
                    </a:cubicBezTo>
                    <a:cubicBezTo>
                      <a:pt x="72" y="281"/>
                      <a:pt x="78" y="302"/>
                      <a:pt x="82" y="324"/>
                    </a:cubicBezTo>
                    <a:cubicBezTo>
                      <a:pt x="82" y="330"/>
                      <a:pt x="76" y="337"/>
                      <a:pt x="73" y="343"/>
                    </a:cubicBezTo>
                    <a:cubicBezTo>
                      <a:pt x="67" y="340"/>
                      <a:pt x="59" y="337"/>
                      <a:pt x="57" y="332"/>
                    </a:cubicBezTo>
                    <a:cubicBezTo>
                      <a:pt x="44" y="301"/>
                      <a:pt x="31" y="271"/>
                      <a:pt x="22" y="239"/>
                    </a:cubicBezTo>
                    <a:cubicBezTo>
                      <a:pt x="15" y="212"/>
                      <a:pt x="12" y="184"/>
                      <a:pt x="8" y="156"/>
                    </a:cubicBezTo>
                    <a:cubicBezTo>
                      <a:pt x="5" y="132"/>
                      <a:pt x="0" y="107"/>
                      <a:pt x="25"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4" name="Freeform 289"/>
              <p:cNvSpPr/>
              <p:nvPr/>
            </p:nvSpPr>
            <p:spPr bwMode="auto">
              <a:xfrm>
                <a:off x="4459288" y="5908675"/>
                <a:ext cx="577850" cy="584200"/>
              </a:xfrm>
              <a:custGeom>
                <a:avLst/>
                <a:gdLst>
                  <a:gd name="T0" fmla="*/ 162 w 183"/>
                  <a:gd name="T1" fmla="*/ 105 h 185"/>
                  <a:gd name="T2" fmla="*/ 119 w 183"/>
                  <a:gd name="T3" fmla="*/ 93 h 185"/>
                  <a:gd name="T4" fmla="*/ 93 w 183"/>
                  <a:gd name="T5" fmla="*/ 99 h 185"/>
                  <a:gd name="T6" fmla="*/ 106 w 183"/>
                  <a:gd name="T7" fmla="*/ 118 h 185"/>
                  <a:gd name="T8" fmla="*/ 124 w 183"/>
                  <a:gd name="T9" fmla="*/ 146 h 185"/>
                  <a:gd name="T10" fmla="*/ 97 w 183"/>
                  <a:gd name="T11" fmla="*/ 174 h 185"/>
                  <a:gd name="T12" fmla="*/ 5 w 183"/>
                  <a:gd name="T13" fmla="*/ 135 h 185"/>
                  <a:gd name="T14" fmla="*/ 10 w 183"/>
                  <a:gd name="T15" fmla="*/ 91 h 185"/>
                  <a:gd name="T16" fmla="*/ 52 w 183"/>
                  <a:gd name="T17" fmla="*/ 37 h 185"/>
                  <a:gd name="T18" fmla="*/ 88 w 183"/>
                  <a:gd name="T19" fmla="*/ 17 h 185"/>
                  <a:gd name="T20" fmla="*/ 145 w 183"/>
                  <a:gd name="T21" fmla="*/ 5 h 185"/>
                  <a:gd name="T22" fmla="*/ 178 w 183"/>
                  <a:gd name="T23" fmla="*/ 25 h 185"/>
                  <a:gd name="T24" fmla="*/ 162 w 183"/>
                  <a:gd name="T25" fmla="*/ 10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5">
                    <a:moveTo>
                      <a:pt x="162" y="105"/>
                    </a:moveTo>
                    <a:cubicBezTo>
                      <a:pt x="147" y="101"/>
                      <a:pt x="133" y="95"/>
                      <a:pt x="119" y="93"/>
                    </a:cubicBezTo>
                    <a:cubicBezTo>
                      <a:pt x="111" y="92"/>
                      <a:pt x="102" y="97"/>
                      <a:pt x="93" y="99"/>
                    </a:cubicBezTo>
                    <a:cubicBezTo>
                      <a:pt x="98" y="106"/>
                      <a:pt x="101" y="114"/>
                      <a:pt x="106" y="118"/>
                    </a:cubicBezTo>
                    <a:cubicBezTo>
                      <a:pt x="116" y="126"/>
                      <a:pt x="130" y="132"/>
                      <a:pt x="124" y="146"/>
                    </a:cubicBezTo>
                    <a:cubicBezTo>
                      <a:pt x="119" y="157"/>
                      <a:pt x="109" y="170"/>
                      <a:pt x="97" y="174"/>
                    </a:cubicBezTo>
                    <a:cubicBezTo>
                      <a:pt x="70" y="185"/>
                      <a:pt x="16" y="163"/>
                      <a:pt x="5" y="135"/>
                    </a:cubicBezTo>
                    <a:cubicBezTo>
                      <a:pt x="0" y="123"/>
                      <a:pt x="3" y="103"/>
                      <a:pt x="10" y="91"/>
                    </a:cubicBezTo>
                    <a:cubicBezTo>
                      <a:pt x="21" y="71"/>
                      <a:pt x="36" y="53"/>
                      <a:pt x="52" y="37"/>
                    </a:cubicBezTo>
                    <a:cubicBezTo>
                      <a:pt x="61" y="28"/>
                      <a:pt x="75" y="21"/>
                      <a:pt x="88" y="17"/>
                    </a:cubicBezTo>
                    <a:cubicBezTo>
                      <a:pt x="107" y="11"/>
                      <a:pt x="126" y="10"/>
                      <a:pt x="145" y="5"/>
                    </a:cubicBezTo>
                    <a:cubicBezTo>
                      <a:pt x="165" y="0"/>
                      <a:pt x="173" y="5"/>
                      <a:pt x="178" y="25"/>
                    </a:cubicBezTo>
                    <a:cubicBezTo>
                      <a:pt x="183" y="46"/>
                      <a:pt x="178" y="72"/>
                      <a:pt x="162"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5" name="Freeform 290"/>
              <p:cNvSpPr/>
              <p:nvPr/>
            </p:nvSpPr>
            <p:spPr bwMode="auto">
              <a:xfrm>
                <a:off x="8580438" y="2819400"/>
                <a:ext cx="417513" cy="1454150"/>
              </a:xfrm>
              <a:custGeom>
                <a:avLst/>
                <a:gdLst>
                  <a:gd name="T0" fmla="*/ 7 w 132"/>
                  <a:gd name="T1" fmla="*/ 0 h 461"/>
                  <a:gd name="T2" fmla="*/ 16 w 132"/>
                  <a:gd name="T3" fmla="*/ 14 h 461"/>
                  <a:gd name="T4" fmla="*/ 80 w 132"/>
                  <a:gd name="T5" fmla="*/ 145 h 461"/>
                  <a:gd name="T6" fmla="*/ 87 w 132"/>
                  <a:gd name="T7" fmla="*/ 169 h 461"/>
                  <a:gd name="T8" fmla="*/ 121 w 132"/>
                  <a:gd name="T9" fmla="*/ 383 h 461"/>
                  <a:gd name="T10" fmla="*/ 131 w 132"/>
                  <a:gd name="T11" fmla="*/ 442 h 461"/>
                  <a:gd name="T12" fmla="*/ 125 w 132"/>
                  <a:gd name="T13" fmla="*/ 461 h 461"/>
                  <a:gd name="T14" fmla="*/ 107 w 132"/>
                  <a:gd name="T15" fmla="*/ 452 h 461"/>
                  <a:gd name="T16" fmla="*/ 52 w 132"/>
                  <a:gd name="T17" fmla="*/ 318 h 461"/>
                  <a:gd name="T18" fmla="*/ 3 w 132"/>
                  <a:gd name="T19" fmla="*/ 26 h 461"/>
                  <a:gd name="T20" fmla="*/ 0 w 132"/>
                  <a:gd name="T21" fmla="*/ 3 h 461"/>
                  <a:gd name="T22" fmla="*/ 7 w 132"/>
                  <a:gd name="T23" fmla="*/ 0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2" h="461">
                    <a:moveTo>
                      <a:pt x="7" y="0"/>
                    </a:moveTo>
                    <a:cubicBezTo>
                      <a:pt x="10" y="5"/>
                      <a:pt x="14" y="9"/>
                      <a:pt x="16" y="14"/>
                    </a:cubicBezTo>
                    <a:cubicBezTo>
                      <a:pt x="38" y="57"/>
                      <a:pt x="59" y="101"/>
                      <a:pt x="80" y="145"/>
                    </a:cubicBezTo>
                    <a:cubicBezTo>
                      <a:pt x="83" y="152"/>
                      <a:pt x="87" y="161"/>
                      <a:pt x="87" y="169"/>
                    </a:cubicBezTo>
                    <a:cubicBezTo>
                      <a:pt x="82" y="243"/>
                      <a:pt x="106" y="312"/>
                      <a:pt x="121" y="383"/>
                    </a:cubicBezTo>
                    <a:cubicBezTo>
                      <a:pt x="125" y="402"/>
                      <a:pt x="129" y="422"/>
                      <a:pt x="131" y="442"/>
                    </a:cubicBezTo>
                    <a:cubicBezTo>
                      <a:pt x="132" y="448"/>
                      <a:pt x="127" y="455"/>
                      <a:pt x="125" y="461"/>
                    </a:cubicBezTo>
                    <a:cubicBezTo>
                      <a:pt x="119" y="458"/>
                      <a:pt x="112" y="456"/>
                      <a:pt x="107" y="452"/>
                    </a:cubicBezTo>
                    <a:cubicBezTo>
                      <a:pt x="68" y="416"/>
                      <a:pt x="53" y="371"/>
                      <a:pt x="52" y="318"/>
                    </a:cubicBezTo>
                    <a:cubicBezTo>
                      <a:pt x="51" y="219"/>
                      <a:pt x="34" y="121"/>
                      <a:pt x="3" y="26"/>
                    </a:cubicBezTo>
                    <a:cubicBezTo>
                      <a:pt x="1" y="19"/>
                      <a:pt x="1" y="11"/>
                      <a:pt x="0" y="3"/>
                    </a:cubicBezTo>
                    <a:cubicBezTo>
                      <a:pt x="2" y="2"/>
                      <a:pt x="5" y="1"/>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6" name="Freeform 291"/>
              <p:cNvSpPr/>
              <p:nvPr/>
            </p:nvSpPr>
            <p:spPr bwMode="auto">
              <a:xfrm>
                <a:off x="10104438" y="1897063"/>
                <a:ext cx="862013" cy="423863"/>
              </a:xfrm>
              <a:custGeom>
                <a:avLst/>
                <a:gdLst>
                  <a:gd name="T0" fmla="*/ 150 w 273"/>
                  <a:gd name="T1" fmla="*/ 130 h 134"/>
                  <a:gd name="T2" fmla="*/ 33 w 273"/>
                  <a:gd name="T3" fmla="*/ 119 h 134"/>
                  <a:gd name="T4" fmla="*/ 1 w 273"/>
                  <a:gd name="T5" fmla="*/ 80 h 134"/>
                  <a:gd name="T6" fmla="*/ 37 w 273"/>
                  <a:gd name="T7" fmla="*/ 10 h 134"/>
                  <a:gd name="T8" fmla="*/ 61 w 273"/>
                  <a:gd name="T9" fmla="*/ 2 h 134"/>
                  <a:gd name="T10" fmla="*/ 77 w 273"/>
                  <a:gd name="T11" fmla="*/ 25 h 134"/>
                  <a:gd name="T12" fmla="*/ 78 w 273"/>
                  <a:gd name="T13" fmla="*/ 31 h 134"/>
                  <a:gd name="T14" fmla="*/ 139 w 273"/>
                  <a:gd name="T15" fmla="*/ 82 h 134"/>
                  <a:gd name="T16" fmla="*/ 245 w 273"/>
                  <a:gd name="T17" fmla="*/ 69 h 134"/>
                  <a:gd name="T18" fmla="*/ 270 w 273"/>
                  <a:gd name="T19" fmla="*/ 82 h 134"/>
                  <a:gd name="T20" fmla="*/ 261 w 273"/>
                  <a:gd name="T21" fmla="*/ 106 h 134"/>
                  <a:gd name="T22" fmla="*/ 150 w 273"/>
                  <a:gd name="T23" fmla="*/ 13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3" h="134">
                    <a:moveTo>
                      <a:pt x="150" y="130"/>
                    </a:moveTo>
                    <a:cubicBezTo>
                      <a:pt x="119" y="127"/>
                      <a:pt x="75" y="123"/>
                      <a:pt x="33" y="119"/>
                    </a:cubicBezTo>
                    <a:cubicBezTo>
                      <a:pt x="8" y="116"/>
                      <a:pt x="0" y="105"/>
                      <a:pt x="1" y="80"/>
                    </a:cubicBezTo>
                    <a:cubicBezTo>
                      <a:pt x="2" y="51"/>
                      <a:pt x="16" y="28"/>
                      <a:pt x="37" y="10"/>
                    </a:cubicBezTo>
                    <a:cubicBezTo>
                      <a:pt x="43" y="4"/>
                      <a:pt x="55" y="0"/>
                      <a:pt x="61" y="2"/>
                    </a:cubicBezTo>
                    <a:cubicBezTo>
                      <a:pt x="69" y="6"/>
                      <a:pt x="72" y="17"/>
                      <a:pt x="77" y="25"/>
                    </a:cubicBezTo>
                    <a:cubicBezTo>
                      <a:pt x="78" y="26"/>
                      <a:pt x="78" y="29"/>
                      <a:pt x="78" y="31"/>
                    </a:cubicBezTo>
                    <a:cubicBezTo>
                      <a:pt x="77" y="75"/>
                      <a:pt x="93" y="88"/>
                      <a:pt x="139" y="82"/>
                    </a:cubicBezTo>
                    <a:cubicBezTo>
                      <a:pt x="174" y="77"/>
                      <a:pt x="209" y="72"/>
                      <a:pt x="245" y="69"/>
                    </a:cubicBezTo>
                    <a:cubicBezTo>
                      <a:pt x="253" y="68"/>
                      <a:pt x="266" y="75"/>
                      <a:pt x="270" y="82"/>
                    </a:cubicBezTo>
                    <a:cubicBezTo>
                      <a:pt x="273" y="86"/>
                      <a:pt x="267" y="101"/>
                      <a:pt x="261" y="106"/>
                    </a:cubicBezTo>
                    <a:cubicBezTo>
                      <a:pt x="234" y="129"/>
                      <a:pt x="211" y="134"/>
                      <a:pt x="150" y="1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7" name="Freeform 292"/>
              <p:cNvSpPr/>
              <p:nvPr/>
            </p:nvSpPr>
            <p:spPr bwMode="auto">
              <a:xfrm>
                <a:off x="15268575" y="3490913"/>
                <a:ext cx="361950" cy="577850"/>
              </a:xfrm>
              <a:custGeom>
                <a:avLst/>
                <a:gdLst>
                  <a:gd name="T0" fmla="*/ 0 w 115"/>
                  <a:gd name="T1" fmla="*/ 42 h 183"/>
                  <a:gd name="T2" fmla="*/ 21 w 115"/>
                  <a:gd name="T3" fmla="*/ 6 h 183"/>
                  <a:gd name="T4" fmla="*/ 48 w 115"/>
                  <a:gd name="T5" fmla="*/ 4 h 183"/>
                  <a:gd name="T6" fmla="*/ 112 w 115"/>
                  <a:gd name="T7" fmla="*/ 94 h 183"/>
                  <a:gd name="T8" fmla="*/ 111 w 115"/>
                  <a:gd name="T9" fmla="*/ 111 h 183"/>
                  <a:gd name="T10" fmla="*/ 76 w 115"/>
                  <a:gd name="T11" fmla="*/ 169 h 183"/>
                  <a:gd name="T12" fmla="*/ 44 w 115"/>
                  <a:gd name="T13" fmla="*/ 169 h 183"/>
                  <a:gd name="T14" fmla="*/ 0 w 115"/>
                  <a:gd name="T15" fmla="*/ 42 h 1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83">
                    <a:moveTo>
                      <a:pt x="0" y="42"/>
                    </a:moveTo>
                    <a:cubicBezTo>
                      <a:pt x="4" y="34"/>
                      <a:pt x="10" y="18"/>
                      <a:pt x="21" y="6"/>
                    </a:cubicBezTo>
                    <a:cubicBezTo>
                      <a:pt x="25" y="1"/>
                      <a:pt x="45" y="0"/>
                      <a:pt x="48" y="4"/>
                    </a:cubicBezTo>
                    <a:cubicBezTo>
                      <a:pt x="71" y="33"/>
                      <a:pt x="92" y="64"/>
                      <a:pt x="112" y="94"/>
                    </a:cubicBezTo>
                    <a:cubicBezTo>
                      <a:pt x="115" y="98"/>
                      <a:pt x="113" y="106"/>
                      <a:pt x="111" y="111"/>
                    </a:cubicBezTo>
                    <a:cubicBezTo>
                      <a:pt x="100" y="131"/>
                      <a:pt x="89" y="150"/>
                      <a:pt x="76" y="169"/>
                    </a:cubicBezTo>
                    <a:cubicBezTo>
                      <a:pt x="67" y="183"/>
                      <a:pt x="55" y="183"/>
                      <a:pt x="44" y="169"/>
                    </a:cubicBezTo>
                    <a:cubicBezTo>
                      <a:pt x="18" y="134"/>
                      <a:pt x="3" y="95"/>
                      <a:pt x="0"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8" name="Freeform 293"/>
              <p:cNvSpPr/>
              <p:nvPr/>
            </p:nvSpPr>
            <p:spPr bwMode="auto">
              <a:xfrm>
                <a:off x="4213225" y="5653088"/>
                <a:ext cx="293688" cy="271463"/>
              </a:xfrm>
              <a:custGeom>
                <a:avLst/>
                <a:gdLst>
                  <a:gd name="T0" fmla="*/ 0 w 93"/>
                  <a:gd name="T1" fmla="*/ 65 h 86"/>
                  <a:gd name="T2" fmla="*/ 48 w 93"/>
                  <a:gd name="T3" fmla="*/ 1 h 86"/>
                  <a:gd name="T4" fmla="*/ 76 w 93"/>
                  <a:gd name="T5" fmla="*/ 13 h 86"/>
                  <a:gd name="T6" fmla="*/ 81 w 93"/>
                  <a:gd name="T7" fmla="*/ 45 h 86"/>
                  <a:gd name="T8" fmla="*/ 16 w 93"/>
                  <a:gd name="T9" fmla="*/ 86 h 86"/>
                  <a:gd name="T10" fmla="*/ 0 w 93"/>
                  <a:gd name="T11" fmla="*/ 65 h 86"/>
                </a:gdLst>
                <a:ahLst/>
                <a:cxnLst>
                  <a:cxn ang="0">
                    <a:pos x="T0" y="T1"/>
                  </a:cxn>
                  <a:cxn ang="0">
                    <a:pos x="T2" y="T3"/>
                  </a:cxn>
                  <a:cxn ang="0">
                    <a:pos x="T4" y="T5"/>
                  </a:cxn>
                  <a:cxn ang="0">
                    <a:pos x="T6" y="T7"/>
                  </a:cxn>
                  <a:cxn ang="0">
                    <a:pos x="T8" y="T9"/>
                  </a:cxn>
                  <a:cxn ang="0">
                    <a:pos x="T10" y="T11"/>
                  </a:cxn>
                </a:cxnLst>
                <a:rect l="0" t="0" r="r" b="b"/>
                <a:pathLst>
                  <a:path w="93" h="86">
                    <a:moveTo>
                      <a:pt x="0" y="65"/>
                    </a:moveTo>
                    <a:cubicBezTo>
                      <a:pt x="4" y="42"/>
                      <a:pt x="28" y="5"/>
                      <a:pt x="48" y="1"/>
                    </a:cubicBezTo>
                    <a:cubicBezTo>
                      <a:pt x="57" y="0"/>
                      <a:pt x="69" y="7"/>
                      <a:pt x="76" y="13"/>
                    </a:cubicBezTo>
                    <a:cubicBezTo>
                      <a:pt x="85" y="21"/>
                      <a:pt x="93" y="35"/>
                      <a:pt x="81" y="45"/>
                    </a:cubicBezTo>
                    <a:cubicBezTo>
                      <a:pt x="61" y="61"/>
                      <a:pt x="39" y="73"/>
                      <a:pt x="16" y="86"/>
                    </a:cubicBezTo>
                    <a:cubicBezTo>
                      <a:pt x="15" y="86"/>
                      <a:pt x="6" y="72"/>
                      <a:pt x="0" y="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9" name="Freeform 294"/>
              <p:cNvSpPr/>
              <p:nvPr/>
            </p:nvSpPr>
            <p:spPr bwMode="auto">
              <a:xfrm>
                <a:off x="8580438" y="2327275"/>
                <a:ext cx="188913" cy="403225"/>
              </a:xfrm>
              <a:custGeom>
                <a:avLst/>
                <a:gdLst>
                  <a:gd name="T0" fmla="*/ 0 w 60"/>
                  <a:gd name="T1" fmla="*/ 0 h 128"/>
                  <a:gd name="T2" fmla="*/ 38 w 60"/>
                  <a:gd name="T3" fmla="*/ 96 h 128"/>
                  <a:gd name="T4" fmla="*/ 15 w 60"/>
                  <a:gd name="T5" fmla="*/ 125 h 128"/>
                  <a:gd name="T6" fmla="*/ 1 w 60"/>
                  <a:gd name="T7" fmla="*/ 124 h 128"/>
                  <a:gd name="T8" fmla="*/ 0 w 60"/>
                  <a:gd name="T9" fmla="*/ 0 h 128"/>
                </a:gdLst>
                <a:ahLst/>
                <a:cxnLst>
                  <a:cxn ang="0">
                    <a:pos x="T0" y="T1"/>
                  </a:cxn>
                  <a:cxn ang="0">
                    <a:pos x="T2" y="T3"/>
                  </a:cxn>
                  <a:cxn ang="0">
                    <a:pos x="T4" y="T5"/>
                  </a:cxn>
                  <a:cxn ang="0">
                    <a:pos x="T6" y="T7"/>
                  </a:cxn>
                  <a:cxn ang="0">
                    <a:pos x="T8" y="T9"/>
                  </a:cxn>
                </a:cxnLst>
                <a:rect l="0" t="0" r="r" b="b"/>
                <a:pathLst>
                  <a:path w="60" h="128">
                    <a:moveTo>
                      <a:pt x="0" y="0"/>
                    </a:moveTo>
                    <a:cubicBezTo>
                      <a:pt x="48" y="20"/>
                      <a:pt x="60" y="55"/>
                      <a:pt x="38" y="96"/>
                    </a:cubicBezTo>
                    <a:cubicBezTo>
                      <a:pt x="31" y="107"/>
                      <a:pt x="23" y="116"/>
                      <a:pt x="15" y="125"/>
                    </a:cubicBezTo>
                    <a:cubicBezTo>
                      <a:pt x="13" y="128"/>
                      <a:pt x="1" y="125"/>
                      <a:pt x="1" y="124"/>
                    </a:cubicBezTo>
                    <a:cubicBezTo>
                      <a:pt x="0" y="83"/>
                      <a:pt x="0" y="43"/>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0" name="Freeform 295"/>
              <p:cNvSpPr/>
              <p:nvPr/>
            </p:nvSpPr>
            <p:spPr bwMode="auto">
              <a:xfrm>
                <a:off x="8489950" y="1963738"/>
                <a:ext cx="301625" cy="274638"/>
              </a:xfrm>
              <a:custGeom>
                <a:avLst/>
                <a:gdLst>
                  <a:gd name="T0" fmla="*/ 67 w 96"/>
                  <a:gd name="T1" fmla="*/ 86 h 87"/>
                  <a:gd name="T2" fmla="*/ 11 w 96"/>
                  <a:gd name="T3" fmla="*/ 55 h 87"/>
                  <a:gd name="T4" fmla="*/ 28 w 96"/>
                  <a:gd name="T5" fmla="*/ 1 h 87"/>
                  <a:gd name="T6" fmla="*/ 42 w 96"/>
                  <a:gd name="T7" fmla="*/ 7 h 87"/>
                  <a:gd name="T8" fmla="*/ 89 w 96"/>
                  <a:gd name="T9" fmla="*/ 69 h 87"/>
                  <a:gd name="T10" fmla="*/ 67 w 96"/>
                  <a:gd name="T11" fmla="*/ 86 h 87"/>
                </a:gdLst>
                <a:ahLst/>
                <a:cxnLst>
                  <a:cxn ang="0">
                    <a:pos x="T0" y="T1"/>
                  </a:cxn>
                  <a:cxn ang="0">
                    <a:pos x="T2" y="T3"/>
                  </a:cxn>
                  <a:cxn ang="0">
                    <a:pos x="T4" y="T5"/>
                  </a:cxn>
                  <a:cxn ang="0">
                    <a:pos x="T6" y="T7"/>
                  </a:cxn>
                  <a:cxn ang="0">
                    <a:pos x="T8" y="T9"/>
                  </a:cxn>
                  <a:cxn ang="0">
                    <a:pos x="T10" y="T11"/>
                  </a:cxn>
                </a:cxnLst>
                <a:rect l="0" t="0" r="r" b="b"/>
                <a:pathLst>
                  <a:path w="96" h="87">
                    <a:moveTo>
                      <a:pt x="67" y="86"/>
                    </a:moveTo>
                    <a:cubicBezTo>
                      <a:pt x="47" y="86"/>
                      <a:pt x="27" y="75"/>
                      <a:pt x="11" y="55"/>
                    </a:cubicBezTo>
                    <a:cubicBezTo>
                      <a:pt x="0" y="39"/>
                      <a:pt x="10" y="5"/>
                      <a:pt x="28" y="1"/>
                    </a:cubicBezTo>
                    <a:cubicBezTo>
                      <a:pt x="32" y="0"/>
                      <a:pt x="39" y="4"/>
                      <a:pt x="42" y="7"/>
                    </a:cubicBezTo>
                    <a:cubicBezTo>
                      <a:pt x="58" y="27"/>
                      <a:pt x="74" y="48"/>
                      <a:pt x="89" y="69"/>
                    </a:cubicBezTo>
                    <a:cubicBezTo>
                      <a:pt x="96" y="79"/>
                      <a:pt x="88" y="87"/>
                      <a:pt x="67" y="8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1" name="Freeform 299"/>
              <p:cNvSpPr>
                <a:spLocks noEditPoints="1"/>
              </p:cNvSpPr>
              <p:nvPr/>
            </p:nvSpPr>
            <p:spPr bwMode="auto">
              <a:xfrm>
                <a:off x="5599113" y="6451600"/>
                <a:ext cx="13106400" cy="12827000"/>
              </a:xfrm>
              <a:custGeom>
                <a:avLst/>
                <a:gdLst>
                  <a:gd name="T0" fmla="*/ 3830 w 4153"/>
                  <a:gd name="T1" fmla="*/ 1020 h 4063"/>
                  <a:gd name="T2" fmla="*/ 3272 w 4153"/>
                  <a:gd name="T3" fmla="*/ 104 h 4063"/>
                  <a:gd name="T4" fmla="*/ 4079 w 4153"/>
                  <a:gd name="T5" fmla="*/ 1762 h 4063"/>
                  <a:gd name="T6" fmla="*/ 3839 w 4153"/>
                  <a:gd name="T7" fmla="*/ 1429 h 4063"/>
                  <a:gd name="T8" fmla="*/ 3702 w 4153"/>
                  <a:gd name="T9" fmla="*/ 3258 h 4063"/>
                  <a:gd name="T10" fmla="*/ 2628 w 4153"/>
                  <a:gd name="T11" fmla="*/ 4005 h 4063"/>
                  <a:gd name="T12" fmla="*/ 1671 w 4153"/>
                  <a:gd name="T13" fmla="*/ 4014 h 4063"/>
                  <a:gd name="T14" fmla="*/ 950 w 4153"/>
                  <a:gd name="T15" fmla="*/ 3701 h 4063"/>
                  <a:gd name="T16" fmla="*/ 642 w 4153"/>
                  <a:gd name="T17" fmla="*/ 3517 h 4063"/>
                  <a:gd name="T18" fmla="*/ 50 w 4153"/>
                  <a:gd name="T19" fmla="*/ 1257 h 4063"/>
                  <a:gd name="T20" fmla="*/ 402 w 4153"/>
                  <a:gd name="T21" fmla="*/ 331 h 4063"/>
                  <a:gd name="T22" fmla="*/ 742 w 4153"/>
                  <a:gd name="T23" fmla="*/ 1078 h 4063"/>
                  <a:gd name="T24" fmla="*/ 299 w 4153"/>
                  <a:gd name="T25" fmla="*/ 2058 h 4063"/>
                  <a:gd name="T26" fmla="*/ 796 w 4153"/>
                  <a:gd name="T27" fmla="*/ 2767 h 4063"/>
                  <a:gd name="T28" fmla="*/ 948 w 4153"/>
                  <a:gd name="T29" fmla="*/ 1293 h 4063"/>
                  <a:gd name="T30" fmla="*/ 1112 w 4153"/>
                  <a:gd name="T31" fmla="*/ 1209 h 4063"/>
                  <a:gd name="T32" fmla="*/ 1265 w 4153"/>
                  <a:gd name="T33" fmla="*/ 1792 h 4063"/>
                  <a:gd name="T34" fmla="*/ 1043 w 4153"/>
                  <a:gd name="T35" fmla="*/ 2632 h 4063"/>
                  <a:gd name="T36" fmla="*/ 1582 w 4153"/>
                  <a:gd name="T37" fmla="*/ 2959 h 4063"/>
                  <a:gd name="T38" fmla="*/ 1697 w 4153"/>
                  <a:gd name="T39" fmla="*/ 1387 h 4063"/>
                  <a:gd name="T40" fmla="*/ 1830 w 4153"/>
                  <a:gd name="T41" fmla="*/ 971 h 4063"/>
                  <a:gd name="T42" fmla="*/ 2523 w 4153"/>
                  <a:gd name="T43" fmla="*/ 1164 h 4063"/>
                  <a:gd name="T44" fmla="*/ 2069 w 4153"/>
                  <a:gd name="T45" fmla="*/ 2559 h 4063"/>
                  <a:gd name="T46" fmla="*/ 2602 w 4153"/>
                  <a:gd name="T47" fmla="*/ 3153 h 4063"/>
                  <a:gd name="T48" fmla="*/ 2879 w 4153"/>
                  <a:gd name="T49" fmla="*/ 1339 h 4063"/>
                  <a:gd name="T50" fmla="*/ 2817 w 4153"/>
                  <a:gd name="T51" fmla="*/ 1040 h 4063"/>
                  <a:gd name="T52" fmla="*/ 3553 w 4153"/>
                  <a:gd name="T53" fmla="*/ 1111 h 4063"/>
                  <a:gd name="T54" fmla="*/ 3276 w 4153"/>
                  <a:gd name="T55" fmla="*/ 1890 h 4063"/>
                  <a:gd name="T56" fmla="*/ 3421 w 4153"/>
                  <a:gd name="T57" fmla="*/ 2531 h 4063"/>
                  <a:gd name="T58" fmla="*/ 3011 w 4153"/>
                  <a:gd name="T59" fmla="*/ 3429 h 4063"/>
                  <a:gd name="T60" fmla="*/ 3320 w 4153"/>
                  <a:gd name="T61" fmla="*/ 2608 h 4063"/>
                  <a:gd name="T62" fmla="*/ 624 w 4153"/>
                  <a:gd name="T63" fmla="*/ 2016 h 4063"/>
                  <a:gd name="T64" fmla="*/ 1122 w 4153"/>
                  <a:gd name="T65" fmla="*/ 1947 h 4063"/>
                  <a:gd name="T66" fmla="*/ 2384 w 4153"/>
                  <a:gd name="T67" fmla="*/ 3333 h 4063"/>
                  <a:gd name="T68" fmla="*/ 1991 w 4153"/>
                  <a:gd name="T69" fmla="*/ 2874 h 4063"/>
                  <a:gd name="T70" fmla="*/ 1781 w 4153"/>
                  <a:gd name="T71" fmla="*/ 2472 h 4063"/>
                  <a:gd name="T72" fmla="*/ 1787 w 4153"/>
                  <a:gd name="T73" fmla="*/ 1834 h 4063"/>
                  <a:gd name="T74" fmla="*/ 2984 w 4153"/>
                  <a:gd name="T75" fmla="*/ 2532 h 4063"/>
                  <a:gd name="T76" fmla="*/ 2800 w 4153"/>
                  <a:gd name="T77" fmla="*/ 1777 h 4063"/>
                  <a:gd name="T78" fmla="*/ 1841 w 4153"/>
                  <a:gd name="T79" fmla="*/ 1374 h 4063"/>
                  <a:gd name="T80" fmla="*/ 2328 w 4153"/>
                  <a:gd name="T81" fmla="*/ 1232 h 4063"/>
                  <a:gd name="T82" fmla="*/ 1216 w 4153"/>
                  <a:gd name="T83" fmla="*/ 1738 h 4063"/>
                  <a:gd name="T84" fmla="*/ 1209 w 4153"/>
                  <a:gd name="T85" fmla="*/ 2763 h 4063"/>
                  <a:gd name="T86" fmla="*/ 859 w 4153"/>
                  <a:gd name="T87" fmla="*/ 3209 h 4063"/>
                  <a:gd name="T88" fmla="*/ 2964 w 4153"/>
                  <a:gd name="T89" fmla="*/ 1669 h 4063"/>
                  <a:gd name="T90" fmla="*/ 3160 w 4153"/>
                  <a:gd name="T91" fmla="*/ 1247 h 4063"/>
                  <a:gd name="T92" fmla="*/ 3706 w 4153"/>
                  <a:gd name="T93" fmla="*/ 2030 h 4063"/>
                  <a:gd name="T94" fmla="*/ 3599 w 4153"/>
                  <a:gd name="T95" fmla="*/ 3139 h 4063"/>
                  <a:gd name="T96" fmla="*/ 2866 w 4153"/>
                  <a:gd name="T97" fmla="*/ 3198 h 4063"/>
                  <a:gd name="T98" fmla="*/ 1759 w 4153"/>
                  <a:gd name="T99" fmla="*/ 3179 h 4063"/>
                  <a:gd name="T100" fmla="*/ 1797 w 4153"/>
                  <a:gd name="T101" fmla="*/ 3250 h 4063"/>
                  <a:gd name="T102" fmla="*/ 1233 w 4153"/>
                  <a:gd name="T103" fmla="*/ 3404 h 4063"/>
                  <a:gd name="T104" fmla="*/ 799 w 4153"/>
                  <a:gd name="T105" fmla="*/ 3119 h 4063"/>
                  <a:gd name="T106" fmla="*/ 2940 w 4153"/>
                  <a:gd name="T107" fmla="*/ 2899 h 4063"/>
                  <a:gd name="T108" fmla="*/ 3776 w 4153"/>
                  <a:gd name="T109" fmla="*/ 1216 h 4063"/>
                  <a:gd name="T110" fmla="*/ 3873 w 4153"/>
                  <a:gd name="T111" fmla="*/ 1247 h 4063"/>
                  <a:gd name="T112" fmla="*/ 1898 w 4153"/>
                  <a:gd name="T113" fmla="*/ 3003 h 4063"/>
                  <a:gd name="T114" fmla="*/ 2369 w 4153"/>
                  <a:gd name="T115" fmla="*/ 3471 h 4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153" h="4063">
                    <a:moveTo>
                      <a:pt x="3506" y="2727"/>
                    </a:moveTo>
                    <a:cubicBezTo>
                      <a:pt x="3507" y="2719"/>
                      <a:pt x="3508" y="2710"/>
                      <a:pt x="3508" y="2701"/>
                    </a:cubicBezTo>
                    <a:cubicBezTo>
                      <a:pt x="3507" y="2555"/>
                      <a:pt x="3504" y="2408"/>
                      <a:pt x="3503" y="2262"/>
                    </a:cubicBezTo>
                    <a:cubicBezTo>
                      <a:pt x="3503" y="2141"/>
                      <a:pt x="3503" y="2020"/>
                      <a:pt x="3505" y="1900"/>
                    </a:cubicBezTo>
                    <a:cubicBezTo>
                      <a:pt x="3508" y="1761"/>
                      <a:pt x="3510" y="1623"/>
                      <a:pt x="3529" y="1485"/>
                    </a:cubicBezTo>
                    <a:cubicBezTo>
                      <a:pt x="3542" y="1384"/>
                      <a:pt x="3580" y="1293"/>
                      <a:pt x="3643" y="1213"/>
                    </a:cubicBezTo>
                    <a:cubicBezTo>
                      <a:pt x="3690" y="1153"/>
                      <a:pt x="3747" y="1106"/>
                      <a:pt x="3812" y="1068"/>
                    </a:cubicBezTo>
                    <a:cubicBezTo>
                      <a:pt x="3841" y="1052"/>
                      <a:pt x="3840" y="1052"/>
                      <a:pt x="3830" y="1020"/>
                    </a:cubicBezTo>
                    <a:cubicBezTo>
                      <a:pt x="3793" y="900"/>
                      <a:pt x="3738" y="788"/>
                      <a:pt x="3669" y="682"/>
                    </a:cubicBezTo>
                    <a:cubicBezTo>
                      <a:pt x="3627" y="618"/>
                      <a:pt x="3582" y="555"/>
                      <a:pt x="3536" y="493"/>
                    </a:cubicBezTo>
                    <a:cubicBezTo>
                      <a:pt x="3440" y="365"/>
                      <a:pt x="3334" y="245"/>
                      <a:pt x="3208" y="146"/>
                    </a:cubicBezTo>
                    <a:cubicBezTo>
                      <a:pt x="3163" y="110"/>
                      <a:pt x="3110" y="85"/>
                      <a:pt x="3061" y="55"/>
                    </a:cubicBezTo>
                    <a:cubicBezTo>
                      <a:pt x="3039" y="42"/>
                      <a:pt x="3017" y="29"/>
                      <a:pt x="2996" y="15"/>
                    </a:cubicBezTo>
                    <a:cubicBezTo>
                      <a:pt x="2993" y="13"/>
                      <a:pt x="2992" y="9"/>
                      <a:pt x="2986" y="0"/>
                    </a:cubicBezTo>
                    <a:cubicBezTo>
                      <a:pt x="3011" y="4"/>
                      <a:pt x="3031" y="6"/>
                      <a:pt x="3051" y="10"/>
                    </a:cubicBezTo>
                    <a:cubicBezTo>
                      <a:pt x="3130" y="27"/>
                      <a:pt x="3202" y="62"/>
                      <a:pt x="3272" y="104"/>
                    </a:cubicBezTo>
                    <a:cubicBezTo>
                      <a:pt x="3357" y="155"/>
                      <a:pt x="3433" y="217"/>
                      <a:pt x="3508" y="281"/>
                    </a:cubicBezTo>
                    <a:cubicBezTo>
                      <a:pt x="3639" y="394"/>
                      <a:pt x="3757" y="519"/>
                      <a:pt x="3868" y="652"/>
                    </a:cubicBezTo>
                    <a:cubicBezTo>
                      <a:pt x="3907" y="699"/>
                      <a:pt x="3945" y="748"/>
                      <a:pt x="3984" y="796"/>
                    </a:cubicBezTo>
                    <a:cubicBezTo>
                      <a:pt x="4035" y="860"/>
                      <a:pt x="4068" y="933"/>
                      <a:pt x="4096" y="1009"/>
                    </a:cubicBezTo>
                    <a:cubicBezTo>
                      <a:pt x="4120" y="1078"/>
                      <a:pt x="4140" y="1149"/>
                      <a:pt x="4149" y="1222"/>
                    </a:cubicBezTo>
                    <a:cubicBezTo>
                      <a:pt x="4153" y="1253"/>
                      <a:pt x="4148" y="1281"/>
                      <a:pt x="4140" y="1312"/>
                    </a:cubicBezTo>
                    <a:cubicBezTo>
                      <a:pt x="4123" y="1375"/>
                      <a:pt x="4108" y="1440"/>
                      <a:pt x="4100" y="1505"/>
                    </a:cubicBezTo>
                    <a:cubicBezTo>
                      <a:pt x="4090" y="1590"/>
                      <a:pt x="4088" y="1677"/>
                      <a:pt x="4079" y="1762"/>
                    </a:cubicBezTo>
                    <a:cubicBezTo>
                      <a:pt x="4071" y="1835"/>
                      <a:pt x="4046" y="1903"/>
                      <a:pt x="4007" y="1966"/>
                    </a:cubicBezTo>
                    <a:cubicBezTo>
                      <a:pt x="4003" y="1973"/>
                      <a:pt x="3994" y="1977"/>
                      <a:pt x="3987" y="1982"/>
                    </a:cubicBezTo>
                    <a:cubicBezTo>
                      <a:pt x="3983" y="1975"/>
                      <a:pt x="3975" y="1967"/>
                      <a:pt x="3975" y="1959"/>
                    </a:cubicBezTo>
                    <a:cubicBezTo>
                      <a:pt x="3974" y="1903"/>
                      <a:pt x="3974" y="1847"/>
                      <a:pt x="3975" y="1791"/>
                    </a:cubicBezTo>
                    <a:cubicBezTo>
                      <a:pt x="3976" y="1709"/>
                      <a:pt x="3980" y="1626"/>
                      <a:pt x="3981" y="1544"/>
                    </a:cubicBezTo>
                    <a:cubicBezTo>
                      <a:pt x="3981" y="1525"/>
                      <a:pt x="3975" y="1506"/>
                      <a:pt x="3970" y="1487"/>
                    </a:cubicBezTo>
                    <a:cubicBezTo>
                      <a:pt x="3957" y="1441"/>
                      <a:pt x="3922" y="1421"/>
                      <a:pt x="3879" y="1409"/>
                    </a:cubicBezTo>
                    <a:cubicBezTo>
                      <a:pt x="3861" y="1404"/>
                      <a:pt x="3850" y="1417"/>
                      <a:pt x="3839" y="1429"/>
                    </a:cubicBezTo>
                    <a:cubicBezTo>
                      <a:pt x="3798" y="1477"/>
                      <a:pt x="3788" y="1533"/>
                      <a:pt x="3793" y="1594"/>
                    </a:cubicBezTo>
                    <a:cubicBezTo>
                      <a:pt x="3804" y="1722"/>
                      <a:pt x="3842" y="1844"/>
                      <a:pt x="3877" y="1967"/>
                    </a:cubicBezTo>
                    <a:cubicBezTo>
                      <a:pt x="3915" y="2101"/>
                      <a:pt x="3957" y="2235"/>
                      <a:pt x="3997" y="2369"/>
                    </a:cubicBezTo>
                    <a:cubicBezTo>
                      <a:pt x="4017" y="2436"/>
                      <a:pt x="4031" y="2505"/>
                      <a:pt x="4033" y="2576"/>
                    </a:cubicBezTo>
                    <a:cubicBezTo>
                      <a:pt x="4035" y="2633"/>
                      <a:pt x="4015" y="2685"/>
                      <a:pt x="3999" y="2738"/>
                    </a:cubicBezTo>
                    <a:cubicBezTo>
                      <a:pt x="3977" y="2813"/>
                      <a:pt x="3953" y="2888"/>
                      <a:pt x="3922" y="2960"/>
                    </a:cubicBezTo>
                    <a:cubicBezTo>
                      <a:pt x="3898" y="3014"/>
                      <a:pt x="3866" y="3065"/>
                      <a:pt x="3831" y="3112"/>
                    </a:cubicBezTo>
                    <a:cubicBezTo>
                      <a:pt x="3792" y="3164"/>
                      <a:pt x="3745" y="3210"/>
                      <a:pt x="3702" y="3258"/>
                    </a:cubicBezTo>
                    <a:cubicBezTo>
                      <a:pt x="3675" y="3288"/>
                      <a:pt x="3650" y="3321"/>
                      <a:pt x="3621" y="3349"/>
                    </a:cubicBezTo>
                    <a:cubicBezTo>
                      <a:pt x="3552" y="3416"/>
                      <a:pt x="3484" y="3486"/>
                      <a:pt x="3408" y="3545"/>
                    </a:cubicBezTo>
                    <a:cubicBezTo>
                      <a:pt x="3328" y="3608"/>
                      <a:pt x="3242" y="3663"/>
                      <a:pt x="3154" y="3713"/>
                    </a:cubicBezTo>
                    <a:cubicBezTo>
                      <a:pt x="3041" y="3776"/>
                      <a:pt x="2920" y="3823"/>
                      <a:pt x="2791" y="3846"/>
                    </a:cubicBezTo>
                    <a:cubicBezTo>
                      <a:pt x="2750" y="3853"/>
                      <a:pt x="2739" y="3866"/>
                      <a:pt x="2734" y="3912"/>
                    </a:cubicBezTo>
                    <a:cubicBezTo>
                      <a:pt x="2732" y="3933"/>
                      <a:pt x="2731" y="3954"/>
                      <a:pt x="2726" y="3975"/>
                    </a:cubicBezTo>
                    <a:cubicBezTo>
                      <a:pt x="2715" y="4017"/>
                      <a:pt x="2686" y="4033"/>
                      <a:pt x="2644" y="4024"/>
                    </a:cubicBezTo>
                    <a:cubicBezTo>
                      <a:pt x="2634" y="4021"/>
                      <a:pt x="2627" y="4017"/>
                      <a:pt x="2628" y="4005"/>
                    </a:cubicBezTo>
                    <a:cubicBezTo>
                      <a:pt x="2630" y="3990"/>
                      <a:pt x="2631" y="3975"/>
                      <a:pt x="2634" y="3960"/>
                    </a:cubicBezTo>
                    <a:cubicBezTo>
                      <a:pt x="2637" y="3944"/>
                      <a:pt x="2642" y="3928"/>
                      <a:pt x="2645" y="3912"/>
                    </a:cubicBezTo>
                    <a:cubicBezTo>
                      <a:pt x="2650" y="3889"/>
                      <a:pt x="2647" y="3886"/>
                      <a:pt x="2623" y="3886"/>
                    </a:cubicBezTo>
                    <a:cubicBezTo>
                      <a:pt x="2556" y="3886"/>
                      <a:pt x="2489" y="3886"/>
                      <a:pt x="2423" y="3887"/>
                    </a:cubicBezTo>
                    <a:cubicBezTo>
                      <a:pt x="2280" y="3889"/>
                      <a:pt x="2137" y="3893"/>
                      <a:pt x="1995" y="3893"/>
                    </a:cubicBezTo>
                    <a:cubicBezTo>
                      <a:pt x="1909" y="3893"/>
                      <a:pt x="1823" y="3885"/>
                      <a:pt x="1738" y="3880"/>
                    </a:cubicBezTo>
                    <a:cubicBezTo>
                      <a:pt x="1717" y="3878"/>
                      <a:pt x="1706" y="3886"/>
                      <a:pt x="1700" y="3904"/>
                    </a:cubicBezTo>
                    <a:cubicBezTo>
                      <a:pt x="1691" y="3941"/>
                      <a:pt x="1682" y="3978"/>
                      <a:pt x="1671" y="4014"/>
                    </a:cubicBezTo>
                    <a:cubicBezTo>
                      <a:pt x="1662" y="4048"/>
                      <a:pt x="1644" y="4063"/>
                      <a:pt x="1619" y="4058"/>
                    </a:cubicBezTo>
                    <a:cubicBezTo>
                      <a:pt x="1607" y="4056"/>
                      <a:pt x="1595" y="4049"/>
                      <a:pt x="1584" y="4042"/>
                    </a:cubicBezTo>
                    <a:cubicBezTo>
                      <a:pt x="1580" y="4039"/>
                      <a:pt x="1580" y="4030"/>
                      <a:pt x="1581" y="4024"/>
                    </a:cubicBezTo>
                    <a:cubicBezTo>
                      <a:pt x="1590" y="3990"/>
                      <a:pt x="1600" y="3955"/>
                      <a:pt x="1610" y="3921"/>
                    </a:cubicBezTo>
                    <a:cubicBezTo>
                      <a:pt x="1618" y="3893"/>
                      <a:pt x="1611" y="3877"/>
                      <a:pt x="1582" y="3873"/>
                    </a:cubicBezTo>
                    <a:cubicBezTo>
                      <a:pt x="1536" y="3865"/>
                      <a:pt x="1489" y="3860"/>
                      <a:pt x="1442" y="3856"/>
                    </a:cubicBezTo>
                    <a:cubicBezTo>
                      <a:pt x="1362" y="3849"/>
                      <a:pt x="1283" y="3840"/>
                      <a:pt x="1206" y="3815"/>
                    </a:cubicBezTo>
                    <a:cubicBezTo>
                      <a:pt x="1117" y="3785"/>
                      <a:pt x="1031" y="3747"/>
                      <a:pt x="950" y="3701"/>
                    </a:cubicBezTo>
                    <a:cubicBezTo>
                      <a:pt x="883" y="3663"/>
                      <a:pt x="818" y="3623"/>
                      <a:pt x="753" y="3583"/>
                    </a:cubicBezTo>
                    <a:cubicBezTo>
                      <a:pt x="741" y="3577"/>
                      <a:pt x="734" y="3578"/>
                      <a:pt x="729" y="3590"/>
                    </a:cubicBezTo>
                    <a:cubicBezTo>
                      <a:pt x="722" y="3604"/>
                      <a:pt x="716" y="3619"/>
                      <a:pt x="708" y="3633"/>
                    </a:cubicBezTo>
                    <a:cubicBezTo>
                      <a:pt x="701" y="3648"/>
                      <a:pt x="693" y="3663"/>
                      <a:pt x="683" y="3676"/>
                    </a:cubicBezTo>
                    <a:cubicBezTo>
                      <a:pt x="667" y="3700"/>
                      <a:pt x="647" y="3704"/>
                      <a:pt x="622" y="3688"/>
                    </a:cubicBezTo>
                    <a:cubicBezTo>
                      <a:pt x="610" y="3680"/>
                      <a:pt x="605" y="3669"/>
                      <a:pt x="610" y="3655"/>
                    </a:cubicBezTo>
                    <a:cubicBezTo>
                      <a:pt x="622" y="3622"/>
                      <a:pt x="634" y="3588"/>
                      <a:pt x="648" y="3555"/>
                    </a:cubicBezTo>
                    <a:cubicBezTo>
                      <a:pt x="654" y="3539"/>
                      <a:pt x="654" y="3530"/>
                      <a:pt x="642" y="3517"/>
                    </a:cubicBezTo>
                    <a:cubicBezTo>
                      <a:pt x="561" y="3431"/>
                      <a:pt x="479" y="3347"/>
                      <a:pt x="402" y="3258"/>
                    </a:cubicBezTo>
                    <a:cubicBezTo>
                      <a:pt x="303" y="3143"/>
                      <a:pt x="207" y="3025"/>
                      <a:pt x="125" y="2897"/>
                    </a:cubicBezTo>
                    <a:cubicBezTo>
                      <a:pt x="48" y="2777"/>
                      <a:pt x="0" y="2646"/>
                      <a:pt x="9" y="2501"/>
                    </a:cubicBezTo>
                    <a:cubicBezTo>
                      <a:pt x="13" y="2431"/>
                      <a:pt x="26" y="2362"/>
                      <a:pt x="36" y="2293"/>
                    </a:cubicBezTo>
                    <a:cubicBezTo>
                      <a:pt x="45" y="2229"/>
                      <a:pt x="59" y="2166"/>
                      <a:pt x="65" y="2102"/>
                    </a:cubicBezTo>
                    <a:cubicBezTo>
                      <a:pt x="74" y="1999"/>
                      <a:pt x="81" y="1896"/>
                      <a:pt x="82" y="1793"/>
                    </a:cubicBezTo>
                    <a:cubicBezTo>
                      <a:pt x="83" y="1696"/>
                      <a:pt x="78" y="1600"/>
                      <a:pt x="72" y="1503"/>
                    </a:cubicBezTo>
                    <a:cubicBezTo>
                      <a:pt x="67" y="1421"/>
                      <a:pt x="57" y="1339"/>
                      <a:pt x="50" y="1257"/>
                    </a:cubicBezTo>
                    <a:cubicBezTo>
                      <a:pt x="44" y="1192"/>
                      <a:pt x="38" y="1127"/>
                      <a:pt x="37" y="1062"/>
                    </a:cubicBezTo>
                    <a:cubicBezTo>
                      <a:pt x="36" y="987"/>
                      <a:pt x="65" y="923"/>
                      <a:pt x="119" y="871"/>
                    </a:cubicBezTo>
                    <a:cubicBezTo>
                      <a:pt x="166" y="827"/>
                      <a:pt x="214" y="784"/>
                      <a:pt x="263" y="741"/>
                    </a:cubicBezTo>
                    <a:cubicBezTo>
                      <a:pt x="291" y="716"/>
                      <a:pt x="324" y="696"/>
                      <a:pt x="352" y="670"/>
                    </a:cubicBezTo>
                    <a:cubicBezTo>
                      <a:pt x="421" y="604"/>
                      <a:pt x="437" y="498"/>
                      <a:pt x="377" y="412"/>
                    </a:cubicBezTo>
                    <a:cubicBezTo>
                      <a:pt x="366" y="396"/>
                      <a:pt x="356" y="379"/>
                      <a:pt x="348" y="361"/>
                    </a:cubicBezTo>
                    <a:cubicBezTo>
                      <a:pt x="340" y="343"/>
                      <a:pt x="346" y="334"/>
                      <a:pt x="366" y="332"/>
                    </a:cubicBezTo>
                    <a:cubicBezTo>
                      <a:pt x="378" y="330"/>
                      <a:pt x="390" y="329"/>
                      <a:pt x="402" y="331"/>
                    </a:cubicBezTo>
                    <a:cubicBezTo>
                      <a:pt x="464" y="341"/>
                      <a:pt x="523" y="360"/>
                      <a:pt x="564" y="409"/>
                    </a:cubicBezTo>
                    <a:cubicBezTo>
                      <a:pt x="638" y="498"/>
                      <a:pt x="643" y="617"/>
                      <a:pt x="530" y="695"/>
                    </a:cubicBezTo>
                    <a:cubicBezTo>
                      <a:pt x="508" y="710"/>
                      <a:pt x="485" y="725"/>
                      <a:pt x="463" y="741"/>
                    </a:cubicBezTo>
                    <a:cubicBezTo>
                      <a:pt x="450" y="750"/>
                      <a:pt x="437" y="763"/>
                      <a:pt x="444" y="779"/>
                    </a:cubicBezTo>
                    <a:cubicBezTo>
                      <a:pt x="450" y="792"/>
                      <a:pt x="463" y="806"/>
                      <a:pt x="476" y="811"/>
                    </a:cubicBezTo>
                    <a:cubicBezTo>
                      <a:pt x="510" y="824"/>
                      <a:pt x="548" y="829"/>
                      <a:pt x="581" y="844"/>
                    </a:cubicBezTo>
                    <a:cubicBezTo>
                      <a:pt x="665" y="883"/>
                      <a:pt x="720" y="948"/>
                      <a:pt x="742" y="1040"/>
                    </a:cubicBezTo>
                    <a:cubicBezTo>
                      <a:pt x="744" y="1052"/>
                      <a:pt x="744" y="1065"/>
                      <a:pt x="742" y="1078"/>
                    </a:cubicBezTo>
                    <a:cubicBezTo>
                      <a:pt x="739" y="1105"/>
                      <a:pt x="718" y="1115"/>
                      <a:pt x="695" y="1102"/>
                    </a:cubicBezTo>
                    <a:cubicBezTo>
                      <a:pt x="670" y="1087"/>
                      <a:pt x="647" y="1070"/>
                      <a:pt x="623" y="1055"/>
                    </a:cubicBezTo>
                    <a:cubicBezTo>
                      <a:pt x="532" y="1001"/>
                      <a:pt x="441" y="1009"/>
                      <a:pt x="353" y="1058"/>
                    </a:cubicBezTo>
                    <a:cubicBezTo>
                      <a:pt x="308" y="1083"/>
                      <a:pt x="285" y="1123"/>
                      <a:pt x="293" y="1179"/>
                    </a:cubicBezTo>
                    <a:cubicBezTo>
                      <a:pt x="301" y="1237"/>
                      <a:pt x="301" y="1295"/>
                      <a:pt x="305" y="1353"/>
                    </a:cubicBezTo>
                    <a:cubicBezTo>
                      <a:pt x="312" y="1444"/>
                      <a:pt x="320" y="1535"/>
                      <a:pt x="326" y="1626"/>
                    </a:cubicBezTo>
                    <a:cubicBezTo>
                      <a:pt x="331" y="1714"/>
                      <a:pt x="338" y="1802"/>
                      <a:pt x="335" y="1889"/>
                    </a:cubicBezTo>
                    <a:cubicBezTo>
                      <a:pt x="332" y="1946"/>
                      <a:pt x="314" y="2003"/>
                      <a:pt x="299" y="2058"/>
                    </a:cubicBezTo>
                    <a:cubicBezTo>
                      <a:pt x="269" y="2167"/>
                      <a:pt x="240" y="2275"/>
                      <a:pt x="223" y="2387"/>
                    </a:cubicBezTo>
                    <a:cubicBezTo>
                      <a:pt x="204" y="2516"/>
                      <a:pt x="246" y="2625"/>
                      <a:pt x="327" y="2722"/>
                    </a:cubicBezTo>
                    <a:cubicBezTo>
                      <a:pt x="360" y="2761"/>
                      <a:pt x="399" y="2796"/>
                      <a:pt x="436" y="2832"/>
                    </a:cubicBezTo>
                    <a:cubicBezTo>
                      <a:pt x="460" y="2854"/>
                      <a:pt x="487" y="2864"/>
                      <a:pt x="520" y="2848"/>
                    </a:cubicBezTo>
                    <a:cubicBezTo>
                      <a:pt x="597" y="2811"/>
                      <a:pt x="679" y="2807"/>
                      <a:pt x="762" y="2805"/>
                    </a:cubicBezTo>
                    <a:cubicBezTo>
                      <a:pt x="771" y="2805"/>
                      <a:pt x="781" y="2804"/>
                      <a:pt x="789" y="2801"/>
                    </a:cubicBezTo>
                    <a:cubicBezTo>
                      <a:pt x="797" y="2798"/>
                      <a:pt x="804" y="2793"/>
                      <a:pt x="811" y="2789"/>
                    </a:cubicBezTo>
                    <a:cubicBezTo>
                      <a:pt x="806" y="2781"/>
                      <a:pt x="803" y="2771"/>
                      <a:pt x="796" y="2767"/>
                    </a:cubicBezTo>
                    <a:cubicBezTo>
                      <a:pt x="773" y="2752"/>
                      <a:pt x="748" y="2741"/>
                      <a:pt x="725" y="2726"/>
                    </a:cubicBezTo>
                    <a:cubicBezTo>
                      <a:pt x="684" y="2700"/>
                      <a:pt x="639" y="2678"/>
                      <a:pt x="602" y="2645"/>
                    </a:cubicBezTo>
                    <a:cubicBezTo>
                      <a:pt x="525" y="2576"/>
                      <a:pt x="471" y="2491"/>
                      <a:pt x="449" y="2387"/>
                    </a:cubicBezTo>
                    <a:cubicBezTo>
                      <a:pt x="429" y="2296"/>
                      <a:pt x="411" y="2205"/>
                      <a:pt x="424" y="2110"/>
                    </a:cubicBezTo>
                    <a:cubicBezTo>
                      <a:pt x="441" y="1980"/>
                      <a:pt x="468" y="1854"/>
                      <a:pt x="521" y="1733"/>
                    </a:cubicBezTo>
                    <a:cubicBezTo>
                      <a:pt x="540" y="1691"/>
                      <a:pt x="572" y="1658"/>
                      <a:pt x="605" y="1627"/>
                    </a:cubicBezTo>
                    <a:cubicBezTo>
                      <a:pt x="697" y="1538"/>
                      <a:pt x="791" y="1450"/>
                      <a:pt x="883" y="1361"/>
                    </a:cubicBezTo>
                    <a:cubicBezTo>
                      <a:pt x="906" y="1339"/>
                      <a:pt x="928" y="1316"/>
                      <a:pt x="948" y="1293"/>
                    </a:cubicBezTo>
                    <a:cubicBezTo>
                      <a:pt x="983" y="1255"/>
                      <a:pt x="974" y="1202"/>
                      <a:pt x="930" y="1174"/>
                    </a:cubicBezTo>
                    <a:cubicBezTo>
                      <a:pt x="909" y="1160"/>
                      <a:pt x="886" y="1147"/>
                      <a:pt x="866" y="1131"/>
                    </a:cubicBezTo>
                    <a:cubicBezTo>
                      <a:pt x="840" y="1108"/>
                      <a:pt x="832" y="1066"/>
                      <a:pt x="845" y="1038"/>
                    </a:cubicBezTo>
                    <a:cubicBezTo>
                      <a:pt x="853" y="1019"/>
                      <a:pt x="868" y="1010"/>
                      <a:pt x="889" y="1009"/>
                    </a:cubicBezTo>
                    <a:cubicBezTo>
                      <a:pt x="931" y="1007"/>
                      <a:pt x="967" y="1024"/>
                      <a:pt x="999" y="1050"/>
                    </a:cubicBezTo>
                    <a:cubicBezTo>
                      <a:pt x="1022" y="1068"/>
                      <a:pt x="1023" y="1099"/>
                      <a:pt x="1032" y="1125"/>
                    </a:cubicBezTo>
                    <a:cubicBezTo>
                      <a:pt x="1039" y="1147"/>
                      <a:pt x="1047" y="1170"/>
                      <a:pt x="1062" y="1186"/>
                    </a:cubicBezTo>
                    <a:cubicBezTo>
                      <a:pt x="1073" y="1199"/>
                      <a:pt x="1095" y="1208"/>
                      <a:pt x="1112" y="1209"/>
                    </a:cubicBezTo>
                    <a:cubicBezTo>
                      <a:pt x="1205" y="1212"/>
                      <a:pt x="1297" y="1211"/>
                      <a:pt x="1390" y="1213"/>
                    </a:cubicBezTo>
                    <a:cubicBezTo>
                      <a:pt x="1417" y="1214"/>
                      <a:pt x="1445" y="1216"/>
                      <a:pt x="1471" y="1222"/>
                    </a:cubicBezTo>
                    <a:cubicBezTo>
                      <a:pt x="1512" y="1233"/>
                      <a:pt x="1534" y="1272"/>
                      <a:pt x="1524" y="1305"/>
                    </a:cubicBezTo>
                    <a:cubicBezTo>
                      <a:pt x="1518" y="1326"/>
                      <a:pt x="1505" y="1337"/>
                      <a:pt x="1484" y="1338"/>
                    </a:cubicBezTo>
                    <a:cubicBezTo>
                      <a:pt x="1471" y="1339"/>
                      <a:pt x="1458" y="1339"/>
                      <a:pt x="1446" y="1339"/>
                    </a:cubicBezTo>
                    <a:cubicBezTo>
                      <a:pt x="1415" y="1340"/>
                      <a:pt x="1410" y="1344"/>
                      <a:pt x="1400" y="1374"/>
                    </a:cubicBezTo>
                    <a:cubicBezTo>
                      <a:pt x="1382" y="1429"/>
                      <a:pt x="1363" y="1485"/>
                      <a:pt x="1345" y="1540"/>
                    </a:cubicBezTo>
                    <a:cubicBezTo>
                      <a:pt x="1318" y="1624"/>
                      <a:pt x="1292" y="1708"/>
                      <a:pt x="1265" y="1792"/>
                    </a:cubicBezTo>
                    <a:cubicBezTo>
                      <a:pt x="1260" y="1810"/>
                      <a:pt x="1260" y="1826"/>
                      <a:pt x="1283" y="1833"/>
                    </a:cubicBezTo>
                    <a:cubicBezTo>
                      <a:pt x="1296" y="1838"/>
                      <a:pt x="1303" y="1848"/>
                      <a:pt x="1301" y="1863"/>
                    </a:cubicBezTo>
                    <a:cubicBezTo>
                      <a:pt x="1299" y="1874"/>
                      <a:pt x="1300" y="1884"/>
                      <a:pt x="1299" y="1895"/>
                    </a:cubicBezTo>
                    <a:cubicBezTo>
                      <a:pt x="1294" y="1924"/>
                      <a:pt x="1287" y="1930"/>
                      <a:pt x="1258" y="1934"/>
                    </a:cubicBezTo>
                    <a:cubicBezTo>
                      <a:pt x="1225" y="1939"/>
                      <a:pt x="1224" y="1940"/>
                      <a:pt x="1215" y="1972"/>
                    </a:cubicBezTo>
                    <a:cubicBezTo>
                      <a:pt x="1180" y="2097"/>
                      <a:pt x="1143" y="2223"/>
                      <a:pt x="1109" y="2349"/>
                    </a:cubicBezTo>
                    <a:cubicBezTo>
                      <a:pt x="1087" y="2430"/>
                      <a:pt x="1069" y="2511"/>
                      <a:pt x="1049" y="2593"/>
                    </a:cubicBezTo>
                    <a:cubicBezTo>
                      <a:pt x="1046" y="2606"/>
                      <a:pt x="1045" y="2619"/>
                      <a:pt x="1043" y="2632"/>
                    </a:cubicBezTo>
                    <a:cubicBezTo>
                      <a:pt x="1041" y="2657"/>
                      <a:pt x="1049" y="2668"/>
                      <a:pt x="1074" y="2668"/>
                    </a:cubicBezTo>
                    <a:cubicBezTo>
                      <a:pt x="1126" y="2669"/>
                      <a:pt x="1179" y="2668"/>
                      <a:pt x="1231" y="2669"/>
                    </a:cubicBezTo>
                    <a:cubicBezTo>
                      <a:pt x="1253" y="2669"/>
                      <a:pt x="1276" y="2671"/>
                      <a:pt x="1297" y="2676"/>
                    </a:cubicBezTo>
                    <a:cubicBezTo>
                      <a:pt x="1336" y="2686"/>
                      <a:pt x="1358" y="2715"/>
                      <a:pt x="1367" y="2753"/>
                    </a:cubicBezTo>
                    <a:cubicBezTo>
                      <a:pt x="1377" y="2796"/>
                      <a:pt x="1386" y="2839"/>
                      <a:pt x="1395" y="2882"/>
                    </a:cubicBezTo>
                    <a:cubicBezTo>
                      <a:pt x="1397" y="2893"/>
                      <a:pt x="1400" y="2904"/>
                      <a:pt x="1403" y="2914"/>
                    </a:cubicBezTo>
                    <a:cubicBezTo>
                      <a:pt x="1418" y="2957"/>
                      <a:pt x="1438" y="2971"/>
                      <a:pt x="1483" y="2969"/>
                    </a:cubicBezTo>
                    <a:cubicBezTo>
                      <a:pt x="1516" y="2967"/>
                      <a:pt x="1549" y="2963"/>
                      <a:pt x="1582" y="2959"/>
                    </a:cubicBezTo>
                    <a:cubicBezTo>
                      <a:pt x="1634" y="2951"/>
                      <a:pt x="1650" y="2928"/>
                      <a:pt x="1642" y="2876"/>
                    </a:cubicBezTo>
                    <a:cubicBezTo>
                      <a:pt x="1636" y="2840"/>
                      <a:pt x="1630" y="2805"/>
                      <a:pt x="1622" y="2770"/>
                    </a:cubicBezTo>
                    <a:cubicBezTo>
                      <a:pt x="1612" y="2719"/>
                      <a:pt x="1581" y="2678"/>
                      <a:pt x="1555" y="2634"/>
                    </a:cubicBezTo>
                    <a:cubicBezTo>
                      <a:pt x="1484" y="2515"/>
                      <a:pt x="1430" y="2388"/>
                      <a:pt x="1396" y="2253"/>
                    </a:cubicBezTo>
                    <a:cubicBezTo>
                      <a:pt x="1381" y="2195"/>
                      <a:pt x="1385" y="2136"/>
                      <a:pt x="1390" y="2078"/>
                    </a:cubicBezTo>
                    <a:cubicBezTo>
                      <a:pt x="1400" y="1982"/>
                      <a:pt x="1425" y="1890"/>
                      <a:pt x="1467" y="1802"/>
                    </a:cubicBezTo>
                    <a:cubicBezTo>
                      <a:pt x="1508" y="1716"/>
                      <a:pt x="1542" y="1627"/>
                      <a:pt x="1587" y="1543"/>
                    </a:cubicBezTo>
                    <a:cubicBezTo>
                      <a:pt x="1617" y="1488"/>
                      <a:pt x="1659" y="1439"/>
                      <a:pt x="1697" y="1387"/>
                    </a:cubicBezTo>
                    <a:cubicBezTo>
                      <a:pt x="1741" y="1327"/>
                      <a:pt x="1787" y="1268"/>
                      <a:pt x="1832" y="1209"/>
                    </a:cubicBezTo>
                    <a:cubicBezTo>
                      <a:pt x="1867" y="1164"/>
                      <a:pt x="1841" y="1125"/>
                      <a:pt x="1809" y="1099"/>
                    </a:cubicBezTo>
                    <a:cubicBezTo>
                      <a:pt x="1782" y="1077"/>
                      <a:pt x="1748" y="1074"/>
                      <a:pt x="1715" y="1067"/>
                    </a:cubicBezTo>
                    <a:cubicBezTo>
                      <a:pt x="1699" y="1063"/>
                      <a:pt x="1683" y="1060"/>
                      <a:pt x="1666" y="1057"/>
                    </a:cubicBezTo>
                    <a:cubicBezTo>
                      <a:pt x="1644" y="1052"/>
                      <a:pt x="1627" y="1038"/>
                      <a:pt x="1625" y="1016"/>
                    </a:cubicBezTo>
                    <a:cubicBezTo>
                      <a:pt x="1623" y="988"/>
                      <a:pt x="1623" y="958"/>
                      <a:pt x="1631" y="932"/>
                    </a:cubicBezTo>
                    <a:cubicBezTo>
                      <a:pt x="1644" y="892"/>
                      <a:pt x="1689" y="881"/>
                      <a:pt x="1734" y="897"/>
                    </a:cubicBezTo>
                    <a:cubicBezTo>
                      <a:pt x="1774" y="912"/>
                      <a:pt x="1806" y="936"/>
                      <a:pt x="1830" y="971"/>
                    </a:cubicBezTo>
                    <a:cubicBezTo>
                      <a:pt x="1857" y="1009"/>
                      <a:pt x="1886" y="1045"/>
                      <a:pt x="1914" y="1081"/>
                    </a:cubicBezTo>
                    <a:cubicBezTo>
                      <a:pt x="1932" y="1104"/>
                      <a:pt x="1953" y="1114"/>
                      <a:pt x="1985" y="1112"/>
                    </a:cubicBezTo>
                    <a:cubicBezTo>
                      <a:pt x="2061" y="1104"/>
                      <a:pt x="2136" y="1094"/>
                      <a:pt x="2209" y="1069"/>
                    </a:cubicBezTo>
                    <a:cubicBezTo>
                      <a:pt x="2276" y="1046"/>
                      <a:pt x="2347" y="1041"/>
                      <a:pt x="2418" y="1052"/>
                    </a:cubicBezTo>
                    <a:cubicBezTo>
                      <a:pt x="2462" y="1059"/>
                      <a:pt x="2506" y="1065"/>
                      <a:pt x="2550" y="1072"/>
                    </a:cubicBezTo>
                    <a:cubicBezTo>
                      <a:pt x="2570" y="1076"/>
                      <a:pt x="2582" y="1089"/>
                      <a:pt x="2592" y="1106"/>
                    </a:cubicBezTo>
                    <a:cubicBezTo>
                      <a:pt x="2605" y="1130"/>
                      <a:pt x="2600" y="1143"/>
                      <a:pt x="2573" y="1150"/>
                    </a:cubicBezTo>
                    <a:cubicBezTo>
                      <a:pt x="2557" y="1154"/>
                      <a:pt x="2540" y="1159"/>
                      <a:pt x="2523" y="1164"/>
                    </a:cubicBezTo>
                    <a:cubicBezTo>
                      <a:pt x="2466" y="1181"/>
                      <a:pt x="2428" y="1217"/>
                      <a:pt x="2409" y="1276"/>
                    </a:cubicBezTo>
                    <a:cubicBezTo>
                      <a:pt x="2359" y="1437"/>
                      <a:pt x="2306" y="1598"/>
                      <a:pt x="2257" y="1760"/>
                    </a:cubicBezTo>
                    <a:cubicBezTo>
                      <a:pt x="2251" y="1780"/>
                      <a:pt x="2262" y="1806"/>
                      <a:pt x="2265" y="1830"/>
                    </a:cubicBezTo>
                    <a:cubicBezTo>
                      <a:pt x="2268" y="1851"/>
                      <a:pt x="2272" y="1872"/>
                      <a:pt x="2271" y="1893"/>
                    </a:cubicBezTo>
                    <a:cubicBezTo>
                      <a:pt x="2270" y="1903"/>
                      <a:pt x="2259" y="1918"/>
                      <a:pt x="2250" y="1921"/>
                    </a:cubicBezTo>
                    <a:cubicBezTo>
                      <a:pt x="2205" y="1935"/>
                      <a:pt x="2198" y="1971"/>
                      <a:pt x="2190" y="2010"/>
                    </a:cubicBezTo>
                    <a:cubicBezTo>
                      <a:pt x="2170" y="2101"/>
                      <a:pt x="2147" y="2191"/>
                      <a:pt x="2126" y="2282"/>
                    </a:cubicBezTo>
                    <a:cubicBezTo>
                      <a:pt x="2106" y="2374"/>
                      <a:pt x="2087" y="2467"/>
                      <a:pt x="2069" y="2559"/>
                    </a:cubicBezTo>
                    <a:cubicBezTo>
                      <a:pt x="2067" y="2568"/>
                      <a:pt x="2068" y="2577"/>
                      <a:pt x="2067" y="2585"/>
                    </a:cubicBezTo>
                    <a:cubicBezTo>
                      <a:pt x="2063" y="2622"/>
                      <a:pt x="2079" y="2642"/>
                      <a:pt x="2110" y="2662"/>
                    </a:cubicBezTo>
                    <a:cubicBezTo>
                      <a:pt x="2186" y="2710"/>
                      <a:pt x="2260" y="2763"/>
                      <a:pt x="2334" y="2815"/>
                    </a:cubicBezTo>
                    <a:cubicBezTo>
                      <a:pt x="2388" y="2852"/>
                      <a:pt x="2411" y="2906"/>
                      <a:pt x="2421" y="2969"/>
                    </a:cubicBezTo>
                    <a:cubicBezTo>
                      <a:pt x="2433" y="3039"/>
                      <a:pt x="2448" y="3109"/>
                      <a:pt x="2463" y="3178"/>
                    </a:cubicBezTo>
                    <a:cubicBezTo>
                      <a:pt x="2467" y="3194"/>
                      <a:pt x="2473" y="3209"/>
                      <a:pt x="2481" y="3223"/>
                    </a:cubicBezTo>
                    <a:cubicBezTo>
                      <a:pt x="2491" y="3242"/>
                      <a:pt x="2505" y="3246"/>
                      <a:pt x="2522" y="3232"/>
                    </a:cubicBezTo>
                    <a:cubicBezTo>
                      <a:pt x="2550" y="3208"/>
                      <a:pt x="2577" y="3181"/>
                      <a:pt x="2602" y="3153"/>
                    </a:cubicBezTo>
                    <a:cubicBezTo>
                      <a:pt x="2614" y="3140"/>
                      <a:pt x="2623" y="3124"/>
                      <a:pt x="2632" y="3108"/>
                    </a:cubicBezTo>
                    <a:cubicBezTo>
                      <a:pt x="2665" y="3053"/>
                      <a:pt x="2660" y="2999"/>
                      <a:pt x="2624" y="2947"/>
                    </a:cubicBezTo>
                    <a:cubicBezTo>
                      <a:pt x="2589" y="2898"/>
                      <a:pt x="2553" y="2849"/>
                      <a:pt x="2516" y="2801"/>
                    </a:cubicBezTo>
                    <a:cubicBezTo>
                      <a:pt x="2486" y="2764"/>
                      <a:pt x="2471" y="2721"/>
                      <a:pt x="2459" y="2677"/>
                    </a:cubicBezTo>
                    <a:cubicBezTo>
                      <a:pt x="2420" y="2539"/>
                      <a:pt x="2409" y="2398"/>
                      <a:pt x="2424" y="2256"/>
                    </a:cubicBezTo>
                    <a:cubicBezTo>
                      <a:pt x="2433" y="2169"/>
                      <a:pt x="2459" y="2088"/>
                      <a:pt x="2492" y="2008"/>
                    </a:cubicBezTo>
                    <a:cubicBezTo>
                      <a:pt x="2573" y="1818"/>
                      <a:pt x="2670" y="1637"/>
                      <a:pt x="2771" y="1458"/>
                    </a:cubicBezTo>
                    <a:cubicBezTo>
                      <a:pt x="2797" y="1410"/>
                      <a:pt x="2837" y="1372"/>
                      <a:pt x="2879" y="1339"/>
                    </a:cubicBezTo>
                    <a:cubicBezTo>
                      <a:pt x="2931" y="1300"/>
                      <a:pt x="2985" y="1263"/>
                      <a:pt x="3039" y="1227"/>
                    </a:cubicBezTo>
                    <a:cubicBezTo>
                      <a:pt x="3064" y="1210"/>
                      <a:pt x="3091" y="1197"/>
                      <a:pt x="3117" y="1182"/>
                    </a:cubicBezTo>
                    <a:cubicBezTo>
                      <a:pt x="3123" y="1178"/>
                      <a:pt x="3126" y="1172"/>
                      <a:pt x="3131" y="1167"/>
                    </a:cubicBezTo>
                    <a:cubicBezTo>
                      <a:pt x="3126" y="1162"/>
                      <a:pt x="3122" y="1158"/>
                      <a:pt x="3116" y="1154"/>
                    </a:cubicBezTo>
                    <a:cubicBezTo>
                      <a:pt x="3101" y="1145"/>
                      <a:pt x="3086" y="1138"/>
                      <a:pt x="3071" y="1128"/>
                    </a:cubicBezTo>
                    <a:cubicBezTo>
                      <a:pt x="3030" y="1100"/>
                      <a:pt x="2984" y="1085"/>
                      <a:pt x="2935" y="1075"/>
                    </a:cubicBezTo>
                    <a:cubicBezTo>
                      <a:pt x="2900" y="1069"/>
                      <a:pt x="2867" y="1057"/>
                      <a:pt x="2833" y="1047"/>
                    </a:cubicBezTo>
                    <a:cubicBezTo>
                      <a:pt x="2827" y="1046"/>
                      <a:pt x="2822" y="1043"/>
                      <a:pt x="2817" y="1040"/>
                    </a:cubicBezTo>
                    <a:cubicBezTo>
                      <a:pt x="2779" y="1018"/>
                      <a:pt x="2774" y="993"/>
                      <a:pt x="2796" y="955"/>
                    </a:cubicBezTo>
                    <a:cubicBezTo>
                      <a:pt x="2819" y="918"/>
                      <a:pt x="2851" y="905"/>
                      <a:pt x="2893" y="904"/>
                    </a:cubicBezTo>
                    <a:cubicBezTo>
                      <a:pt x="2966" y="902"/>
                      <a:pt x="3026" y="930"/>
                      <a:pt x="3078" y="979"/>
                    </a:cubicBezTo>
                    <a:cubicBezTo>
                      <a:pt x="3122" y="1021"/>
                      <a:pt x="3161" y="1066"/>
                      <a:pt x="3189" y="1120"/>
                    </a:cubicBezTo>
                    <a:cubicBezTo>
                      <a:pt x="3196" y="1133"/>
                      <a:pt x="3205" y="1136"/>
                      <a:pt x="3218" y="1130"/>
                    </a:cubicBezTo>
                    <a:cubicBezTo>
                      <a:pt x="3247" y="1118"/>
                      <a:pt x="3275" y="1104"/>
                      <a:pt x="3304" y="1093"/>
                    </a:cubicBezTo>
                    <a:cubicBezTo>
                      <a:pt x="3375" y="1066"/>
                      <a:pt x="3446" y="1067"/>
                      <a:pt x="3517" y="1094"/>
                    </a:cubicBezTo>
                    <a:cubicBezTo>
                      <a:pt x="3529" y="1098"/>
                      <a:pt x="3542" y="1103"/>
                      <a:pt x="3553" y="1111"/>
                    </a:cubicBezTo>
                    <a:cubicBezTo>
                      <a:pt x="3570" y="1122"/>
                      <a:pt x="3571" y="1136"/>
                      <a:pt x="3554" y="1147"/>
                    </a:cubicBezTo>
                    <a:cubicBezTo>
                      <a:pt x="3532" y="1161"/>
                      <a:pt x="3509" y="1173"/>
                      <a:pt x="3485" y="1182"/>
                    </a:cubicBezTo>
                    <a:cubicBezTo>
                      <a:pt x="3467" y="1189"/>
                      <a:pt x="3453" y="1198"/>
                      <a:pt x="3446" y="1216"/>
                    </a:cubicBezTo>
                    <a:cubicBezTo>
                      <a:pt x="3420" y="1290"/>
                      <a:pt x="3392" y="1362"/>
                      <a:pt x="3369" y="1436"/>
                    </a:cubicBezTo>
                    <a:cubicBezTo>
                      <a:pt x="3341" y="1522"/>
                      <a:pt x="3317" y="1608"/>
                      <a:pt x="3293" y="1695"/>
                    </a:cubicBezTo>
                    <a:cubicBezTo>
                      <a:pt x="3289" y="1708"/>
                      <a:pt x="3295" y="1724"/>
                      <a:pt x="3298" y="1738"/>
                    </a:cubicBezTo>
                    <a:cubicBezTo>
                      <a:pt x="3300" y="1746"/>
                      <a:pt x="3307" y="1753"/>
                      <a:pt x="3311" y="1760"/>
                    </a:cubicBezTo>
                    <a:cubicBezTo>
                      <a:pt x="3341" y="1807"/>
                      <a:pt x="3326" y="1865"/>
                      <a:pt x="3276" y="1890"/>
                    </a:cubicBezTo>
                    <a:cubicBezTo>
                      <a:pt x="3250" y="1903"/>
                      <a:pt x="3238" y="1920"/>
                      <a:pt x="3232" y="1947"/>
                    </a:cubicBezTo>
                    <a:cubicBezTo>
                      <a:pt x="3210" y="2053"/>
                      <a:pt x="3184" y="2158"/>
                      <a:pt x="3162" y="2263"/>
                    </a:cubicBezTo>
                    <a:cubicBezTo>
                      <a:pt x="3150" y="2323"/>
                      <a:pt x="3142" y="2384"/>
                      <a:pt x="3133" y="2444"/>
                    </a:cubicBezTo>
                    <a:cubicBezTo>
                      <a:pt x="3132" y="2446"/>
                      <a:pt x="3132" y="2448"/>
                      <a:pt x="3132" y="2450"/>
                    </a:cubicBezTo>
                    <a:cubicBezTo>
                      <a:pt x="3131" y="2487"/>
                      <a:pt x="3142" y="2500"/>
                      <a:pt x="3178" y="2500"/>
                    </a:cubicBezTo>
                    <a:cubicBezTo>
                      <a:pt x="3220" y="2499"/>
                      <a:pt x="3261" y="2496"/>
                      <a:pt x="3303" y="2493"/>
                    </a:cubicBezTo>
                    <a:cubicBezTo>
                      <a:pt x="3320" y="2492"/>
                      <a:pt x="3336" y="2490"/>
                      <a:pt x="3353" y="2489"/>
                    </a:cubicBezTo>
                    <a:cubicBezTo>
                      <a:pt x="3394" y="2486"/>
                      <a:pt x="3406" y="2493"/>
                      <a:pt x="3421" y="2531"/>
                    </a:cubicBezTo>
                    <a:cubicBezTo>
                      <a:pt x="3446" y="2594"/>
                      <a:pt x="3470" y="2656"/>
                      <a:pt x="3495" y="2719"/>
                    </a:cubicBezTo>
                    <a:cubicBezTo>
                      <a:pt x="3496" y="2722"/>
                      <a:pt x="3498" y="2724"/>
                      <a:pt x="3499" y="2727"/>
                    </a:cubicBezTo>
                    <a:cubicBezTo>
                      <a:pt x="3502" y="2727"/>
                      <a:pt x="3504" y="2727"/>
                      <a:pt x="3506" y="2727"/>
                    </a:cubicBezTo>
                    <a:close/>
                    <a:moveTo>
                      <a:pt x="2894" y="3362"/>
                    </a:moveTo>
                    <a:cubicBezTo>
                      <a:pt x="2894" y="3372"/>
                      <a:pt x="2893" y="3382"/>
                      <a:pt x="2894" y="3392"/>
                    </a:cubicBezTo>
                    <a:cubicBezTo>
                      <a:pt x="2895" y="3402"/>
                      <a:pt x="2895" y="3412"/>
                      <a:pt x="2898" y="3422"/>
                    </a:cubicBezTo>
                    <a:cubicBezTo>
                      <a:pt x="2905" y="3444"/>
                      <a:pt x="2922" y="3454"/>
                      <a:pt x="2944" y="3449"/>
                    </a:cubicBezTo>
                    <a:cubicBezTo>
                      <a:pt x="2967" y="3444"/>
                      <a:pt x="2989" y="3436"/>
                      <a:pt x="3011" y="3429"/>
                    </a:cubicBezTo>
                    <a:cubicBezTo>
                      <a:pt x="3086" y="3404"/>
                      <a:pt x="3158" y="3374"/>
                      <a:pt x="3221" y="3326"/>
                    </a:cubicBezTo>
                    <a:cubicBezTo>
                      <a:pt x="3241" y="3311"/>
                      <a:pt x="3261" y="3295"/>
                      <a:pt x="3279" y="3277"/>
                    </a:cubicBezTo>
                    <a:cubicBezTo>
                      <a:pt x="3316" y="3242"/>
                      <a:pt x="3357" y="3209"/>
                      <a:pt x="3385" y="3168"/>
                    </a:cubicBezTo>
                    <a:cubicBezTo>
                      <a:pt x="3420" y="3118"/>
                      <a:pt x="3444" y="3060"/>
                      <a:pt x="3470" y="3005"/>
                    </a:cubicBezTo>
                    <a:cubicBezTo>
                      <a:pt x="3490" y="2964"/>
                      <a:pt x="3491" y="2919"/>
                      <a:pt x="3479" y="2875"/>
                    </a:cubicBezTo>
                    <a:cubicBezTo>
                      <a:pt x="3468" y="2836"/>
                      <a:pt x="3459" y="2797"/>
                      <a:pt x="3444" y="2760"/>
                    </a:cubicBezTo>
                    <a:cubicBezTo>
                      <a:pt x="3427" y="2718"/>
                      <a:pt x="3406" y="2677"/>
                      <a:pt x="3383" y="2638"/>
                    </a:cubicBezTo>
                    <a:cubicBezTo>
                      <a:pt x="3370" y="2616"/>
                      <a:pt x="3347" y="2604"/>
                      <a:pt x="3320" y="2608"/>
                    </a:cubicBezTo>
                    <a:cubicBezTo>
                      <a:pt x="3271" y="2616"/>
                      <a:pt x="3222" y="2620"/>
                      <a:pt x="3174" y="2631"/>
                    </a:cubicBezTo>
                    <a:cubicBezTo>
                      <a:pt x="3113" y="2646"/>
                      <a:pt x="3062" y="2679"/>
                      <a:pt x="3042" y="2743"/>
                    </a:cubicBezTo>
                    <a:cubicBezTo>
                      <a:pt x="3029" y="2784"/>
                      <a:pt x="3013" y="2824"/>
                      <a:pt x="3006" y="2866"/>
                    </a:cubicBezTo>
                    <a:cubicBezTo>
                      <a:pt x="2991" y="2954"/>
                      <a:pt x="2968" y="3039"/>
                      <a:pt x="2941" y="3125"/>
                    </a:cubicBezTo>
                    <a:cubicBezTo>
                      <a:pt x="2918" y="3202"/>
                      <a:pt x="2890" y="3279"/>
                      <a:pt x="2894" y="3362"/>
                    </a:cubicBezTo>
                    <a:close/>
                    <a:moveTo>
                      <a:pt x="764" y="1739"/>
                    </a:moveTo>
                    <a:cubicBezTo>
                      <a:pt x="707" y="1739"/>
                      <a:pt x="649" y="1801"/>
                      <a:pt x="643" y="1865"/>
                    </a:cubicBezTo>
                    <a:cubicBezTo>
                      <a:pt x="637" y="1915"/>
                      <a:pt x="631" y="1966"/>
                      <a:pt x="624" y="2016"/>
                    </a:cubicBezTo>
                    <a:cubicBezTo>
                      <a:pt x="605" y="2144"/>
                      <a:pt x="622" y="2266"/>
                      <a:pt x="680" y="2383"/>
                    </a:cubicBezTo>
                    <a:cubicBezTo>
                      <a:pt x="711" y="2446"/>
                      <a:pt x="755" y="2501"/>
                      <a:pt x="807" y="2548"/>
                    </a:cubicBezTo>
                    <a:cubicBezTo>
                      <a:pt x="836" y="2574"/>
                      <a:pt x="871" y="2594"/>
                      <a:pt x="907" y="2612"/>
                    </a:cubicBezTo>
                    <a:cubicBezTo>
                      <a:pt x="938" y="2628"/>
                      <a:pt x="954" y="2619"/>
                      <a:pt x="968" y="2587"/>
                    </a:cubicBezTo>
                    <a:cubicBezTo>
                      <a:pt x="975" y="2573"/>
                      <a:pt x="981" y="2558"/>
                      <a:pt x="985" y="2543"/>
                    </a:cubicBezTo>
                    <a:cubicBezTo>
                      <a:pt x="1012" y="2452"/>
                      <a:pt x="1036" y="2361"/>
                      <a:pt x="1065" y="2271"/>
                    </a:cubicBezTo>
                    <a:cubicBezTo>
                      <a:pt x="1096" y="2172"/>
                      <a:pt x="1122" y="2073"/>
                      <a:pt x="1142" y="1971"/>
                    </a:cubicBezTo>
                    <a:cubicBezTo>
                      <a:pt x="1145" y="1953"/>
                      <a:pt x="1139" y="1947"/>
                      <a:pt x="1122" y="1947"/>
                    </a:cubicBezTo>
                    <a:cubicBezTo>
                      <a:pt x="1100" y="1947"/>
                      <a:pt x="1079" y="1945"/>
                      <a:pt x="1058" y="1946"/>
                    </a:cubicBezTo>
                    <a:cubicBezTo>
                      <a:pt x="1011" y="1948"/>
                      <a:pt x="970" y="1933"/>
                      <a:pt x="938" y="1901"/>
                    </a:cubicBezTo>
                    <a:cubicBezTo>
                      <a:pt x="902" y="1864"/>
                      <a:pt x="869" y="1825"/>
                      <a:pt x="836" y="1786"/>
                    </a:cubicBezTo>
                    <a:cubicBezTo>
                      <a:pt x="816" y="1763"/>
                      <a:pt x="798" y="1738"/>
                      <a:pt x="764" y="1739"/>
                    </a:cubicBezTo>
                    <a:close/>
                    <a:moveTo>
                      <a:pt x="1964" y="3576"/>
                    </a:moveTo>
                    <a:cubicBezTo>
                      <a:pt x="2019" y="3576"/>
                      <a:pt x="2080" y="3557"/>
                      <a:pt x="2142" y="3539"/>
                    </a:cubicBezTo>
                    <a:cubicBezTo>
                      <a:pt x="2229" y="3512"/>
                      <a:pt x="2294" y="3455"/>
                      <a:pt x="2350" y="3387"/>
                    </a:cubicBezTo>
                    <a:cubicBezTo>
                      <a:pt x="2363" y="3370"/>
                      <a:pt x="2375" y="3352"/>
                      <a:pt x="2384" y="3333"/>
                    </a:cubicBezTo>
                    <a:cubicBezTo>
                      <a:pt x="2388" y="3324"/>
                      <a:pt x="2388" y="3310"/>
                      <a:pt x="2384" y="3301"/>
                    </a:cubicBezTo>
                    <a:cubicBezTo>
                      <a:pt x="2373" y="3275"/>
                      <a:pt x="2359" y="3251"/>
                      <a:pt x="2346" y="3226"/>
                    </a:cubicBezTo>
                    <a:cubicBezTo>
                      <a:pt x="2313" y="3160"/>
                      <a:pt x="2287" y="3092"/>
                      <a:pt x="2285" y="3015"/>
                    </a:cubicBezTo>
                    <a:cubicBezTo>
                      <a:pt x="2285" y="2987"/>
                      <a:pt x="2270" y="2957"/>
                      <a:pt x="2255" y="2932"/>
                    </a:cubicBezTo>
                    <a:cubicBezTo>
                      <a:pt x="2244" y="2913"/>
                      <a:pt x="2223" y="2898"/>
                      <a:pt x="2203" y="2885"/>
                    </a:cubicBezTo>
                    <a:cubicBezTo>
                      <a:pt x="2164" y="2858"/>
                      <a:pt x="2124" y="2833"/>
                      <a:pt x="2083" y="2810"/>
                    </a:cubicBezTo>
                    <a:cubicBezTo>
                      <a:pt x="2056" y="2795"/>
                      <a:pt x="2028" y="2803"/>
                      <a:pt x="2012" y="2829"/>
                    </a:cubicBezTo>
                    <a:cubicBezTo>
                      <a:pt x="2003" y="2843"/>
                      <a:pt x="1995" y="2858"/>
                      <a:pt x="1991" y="2874"/>
                    </a:cubicBezTo>
                    <a:cubicBezTo>
                      <a:pt x="1980" y="2916"/>
                      <a:pt x="1973" y="2959"/>
                      <a:pt x="1962" y="3000"/>
                    </a:cubicBezTo>
                    <a:cubicBezTo>
                      <a:pt x="1948" y="3047"/>
                      <a:pt x="1929" y="3092"/>
                      <a:pt x="1916" y="3139"/>
                    </a:cubicBezTo>
                    <a:cubicBezTo>
                      <a:pt x="1895" y="3208"/>
                      <a:pt x="1877" y="3278"/>
                      <a:pt x="1859" y="3348"/>
                    </a:cubicBezTo>
                    <a:cubicBezTo>
                      <a:pt x="1850" y="3380"/>
                      <a:pt x="1838" y="3412"/>
                      <a:pt x="1834" y="3445"/>
                    </a:cubicBezTo>
                    <a:cubicBezTo>
                      <a:pt x="1821" y="3535"/>
                      <a:pt x="1863" y="3580"/>
                      <a:pt x="1964" y="3576"/>
                    </a:cubicBezTo>
                    <a:close/>
                    <a:moveTo>
                      <a:pt x="1573" y="2026"/>
                    </a:moveTo>
                    <a:cubicBezTo>
                      <a:pt x="1581" y="2072"/>
                      <a:pt x="1583" y="2117"/>
                      <a:pt x="1596" y="2159"/>
                    </a:cubicBezTo>
                    <a:cubicBezTo>
                      <a:pt x="1633" y="2277"/>
                      <a:pt x="1687" y="2387"/>
                      <a:pt x="1781" y="2472"/>
                    </a:cubicBezTo>
                    <a:cubicBezTo>
                      <a:pt x="1825" y="2511"/>
                      <a:pt x="1872" y="2547"/>
                      <a:pt x="1928" y="2569"/>
                    </a:cubicBezTo>
                    <a:cubicBezTo>
                      <a:pt x="1958" y="2581"/>
                      <a:pt x="1971" y="2579"/>
                      <a:pt x="1983" y="2548"/>
                    </a:cubicBezTo>
                    <a:cubicBezTo>
                      <a:pt x="1994" y="2521"/>
                      <a:pt x="2002" y="2492"/>
                      <a:pt x="2010" y="2463"/>
                    </a:cubicBezTo>
                    <a:cubicBezTo>
                      <a:pt x="2048" y="2306"/>
                      <a:pt x="2080" y="2147"/>
                      <a:pt x="2098" y="1987"/>
                    </a:cubicBezTo>
                    <a:cubicBezTo>
                      <a:pt x="2101" y="1962"/>
                      <a:pt x="2095" y="1954"/>
                      <a:pt x="2070" y="1951"/>
                    </a:cubicBezTo>
                    <a:cubicBezTo>
                      <a:pt x="2039" y="1947"/>
                      <a:pt x="2007" y="1943"/>
                      <a:pt x="1975" y="1942"/>
                    </a:cubicBezTo>
                    <a:cubicBezTo>
                      <a:pt x="1931" y="1941"/>
                      <a:pt x="1893" y="1929"/>
                      <a:pt x="1860" y="1899"/>
                    </a:cubicBezTo>
                    <a:cubicBezTo>
                      <a:pt x="1836" y="1877"/>
                      <a:pt x="1812" y="1855"/>
                      <a:pt x="1787" y="1834"/>
                    </a:cubicBezTo>
                    <a:cubicBezTo>
                      <a:pt x="1754" y="1808"/>
                      <a:pt x="1720" y="1782"/>
                      <a:pt x="1685" y="1758"/>
                    </a:cubicBezTo>
                    <a:cubicBezTo>
                      <a:pt x="1667" y="1746"/>
                      <a:pt x="1647" y="1753"/>
                      <a:pt x="1636" y="1771"/>
                    </a:cubicBezTo>
                    <a:cubicBezTo>
                      <a:pt x="1623" y="1791"/>
                      <a:pt x="1608" y="1813"/>
                      <a:pt x="1604" y="1836"/>
                    </a:cubicBezTo>
                    <a:cubicBezTo>
                      <a:pt x="1591" y="1899"/>
                      <a:pt x="1583" y="1963"/>
                      <a:pt x="1573" y="2026"/>
                    </a:cubicBezTo>
                    <a:close/>
                    <a:moveTo>
                      <a:pt x="2675" y="2248"/>
                    </a:moveTo>
                    <a:cubicBezTo>
                      <a:pt x="2676" y="2329"/>
                      <a:pt x="2685" y="2382"/>
                      <a:pt x="2715" y="2429"/>
                    </a:cubicBezTo>
                    <a:cubicBezTo>
                      <a:pt x="2737" y="2464"/>
                      <a:pt x="2760" y="2499"/>
                      <a:pt x="2803" y="2512"/>
                    </a:cubicBezTo>
                    <a:cubicBezTo>
                      <a:pt x="2862" y="2531"/>
                      <a:pt x="2921" y="2541"/>
                      <a:pt x="2984" y="2532"/>
                    </a:cubicBezTo>
                    <a:cubicBezTo>
                      <a:pt x="3022" y="2527"/>
                      <a:pt x="3049" y="2508"/>
                      <a:pt x="3056" y="2469"/>
                    </a:cubicBezTo>
                    <a:cubicBezTo>
                      <a:pt x="3074" y="2377"/>
                      <a:pt x="3091" y="2285"/>
                      <a:pt x="3108" y="2193"/>
                    </a:cubicBezTo>
                    <a:cubicBezTo>
                      <a:pt x="3123" y="2104"/>
                      <a:pt x="3138" y="2016"/>
                      <a:pt x="3153" y="1927"/>
                    </a:cubicBezTo>
                    <a:cubicBezTo>
                      <a:pt x="3157" y="1906"/>
                      <a:pt x="3153" y="1903"/>
                      <a:pt x="3132" y="1906"/>
                    </a:cubicBezTo>
                    <a:cubicBezTo>
                      <a:pt x="3106" y="1910"/>
                      <a:pt x="3078" y="1919"/>
                      <a:pt x="3052" y="1905"/>
                    </a:cubicBezTo>
                    <a:cubicBezTo>
                      <a:pt x="3028" y="1892"/>
                      <a:pt x="3003" y="1878"/>
                      <a:pt x="2980" y="1863"/>
                    </a:cubicBezTo>
                    <a:cubicBezTo>
                      <a:pt x="2932" y="1833"/>
                      <a:pt x="2885" y="1801"/>
                      <a:pt x="2837" y="1770"/>
                    </a:cubicBezTo>
                    <a:cubicBezTo>
                      <a:pt x="2823" y="1760"/>
                      <a:pt x="2809" y="1761"/>
                      <a:pt x="2800" y="1777"/>
                    </a:cubicBezTo>
                    <a:cubicBezTo>
                      <a:pt x="2788" y="1797"/>
                      <a:pt x="2776" y="1817"/>
                      <a:pt x="2770" y="1839"/>
                    </a:cubicBezTo>
                    <a:cubicBezTo>
                      <a:pt x="2746" y="1922"/>
                      <a:pt x="2722" y="2004"/>
                      <a:pt x="2702" y="2087"/>
                    </a:cubicBezTo>
                    <a:cubicBezTo>
                      <a:pt x="2688" y="2149"/>
                      <a:pt x="2681" y="2212"/>
                      <a:pt x="2675" y="2248"/>
                    </a:cubicBezTo>
                    <a:close/>
                    <a:moveTo>
                      <a:pt x="2328" y="1232"/>
                    </a:moveTo>
                    <a:cubicBezTo>
                      <a:pt x="2329" y="1159"/>
                      <a:pt x="2309" y="1138"/>
                      <a:pt x="2260" y="1138"/>
                    </a:cubicBezTo>
                    <a:cubicBezTo>
                      <a:pt x="2251" y="1138"/>
                      <a:pt x="2240" y="1139"/>
                      <a:pt x="2231" y="1141"/>
                    </a:cubicBezTo>
                    <a:cubicBezTo>
                      <a:pt x="2150" y="1162"/>
                      <a:pt x="2070" y="1183"/>
                      <a:pt x="1997" y="1225"/>
                    </a:cubicBezTo>
                    <a:cubicBezTo>
                      <a:pt x="1933" y="1263"/>
                      <a:pt x="1883" y="1315"/>
                      <a:pt x="1841" y="1374"/>
                    </a:cubicBezTo>
                    <a:cubicBezTo>
                      <a:pt x="1792" y="1444"/>
                      <a:pt x="1794" y="1520"/>
                      <a:pt x="1824" y="1597"/>
                    </a:cubicBezTo>
                    <a:cubicBezTo>
                      <a:pt x="1848" y="1660"/>
                      <a:pt x="1879" y="1720"/>
                      <a:pt x="1918" y="1775"/>
                    </a:cubicBezTo>
                    <a:cubicBezTo>
                      <a:pt x="1931" y="1792"/>
                      <a:pt x="1944" y="1810"/>
                      <a:pt x="1961" y="1821"/>
                    </a:cubicBezTo>
                    <a:cubicBezTo>
                      <a:pt x="2006" y="1850"/>
                      <a:pt x="2057" y="1859"/>
                      <a:pt x="2110" y="1859"/>
                    </a:cubicBezTo>
                    <a:cubicBezTo>
                      <a:pt x="2134" y="1859"/>
                      <a:pt x="2150" y="1847"/>
                      <a:pt x="2158" y="1824"/>
                    </a:cubicBezTo>
                    <a:cubicBezTo>
                      <a:pt x="2171" y="1783"/>
                      <a:pt x="2186" y="1743"/>
                      <a:pt x="2198" y="1703"/>
                    </a:cubicBezTo>
                    <a:cubicBezTo>
                      <a:pt x="2231" y="1590"/>
                      <a:pt x="2264" y="1477"/>
                      <a:pt x="2296" y="1363"/>
                    </a:cubicBezTo>
                    <a:cubicBezTo>
                      <a:pt x="2310" y="1312"/>
                      <a:pt x="2321" y="1261"/>
                      <a:pt x="2328" y="1232"/>
                    </a:cubicBezTo>
                    <a:close/>
                    <a:moveTo>
                      <a:pt x="1294" y="1272"/>
                    </a:moveTo>
                    <a:cubicBezTo>
                      <a:pt x="1197" y="1277"/>
                      <a:pt x="1106" y="1302"/>
                      <a:pt x="1020" y="1352"/>
                    </a:cubicBezTo>
                    <a:cubicBezTo>
                      <a:pt x="947" y="1394"/>
                      <a:pt x="893" y="1447"/>
                      <a:pt x="867" y="1527"/>
                    </a:cubicBezTo>
                    <a:cubicBezTo>
                      <a:pt x="854" y="1566"/>
                      <a:pt x="851" y="1606"/>
                      <a:pt x="873" y="1643"/>
                    </a:cubicBezTo>
                    <a:cubicBezTo>
                      <a:pt x="904" y="1696"/>
                      <a:pt x="937" y="1749"/>
                      <a:pt x="973" y="1799"/>
                    </a:cubicBezTo>
                    <a:cubicBezTo>
                      <a:pt x="1024" y="1869"/>
                      <a:pt x="1088" y="1878"/>
                      <a:pt x="1162" y="1859"/>
                    </a:cubicBezTo>
                    <a:cubicBezTo>
                      <a:pt x="1187" y="1853"/>
                      <a:pt x="1199" y="1835"/>
                      <a:pt x="1203" y="1810"/>
                    </a:cubicBezTo>
                    <a:cubicBezTo>
                      <a:pt x="1207" y="1786"/>
                      <a:pt x="1209" y="1761"/>
                      <a:pt x="1216" y="1738"/>
                    </a:cubicBezTo>
                    <a:cubicBezTo>
                      <a:pt x="1235" y="1673"/>
                      <a:pt x="1257" y="1608"/>
                      <a:pt x="1278" y="1544"/>
                    </a:cubicBezTo>
                    <a:cubicBezTo>
                      <a:pt x="1303" y="1470"/>
                      <a:pt x="1332" y="1397"/>
                      <a:pt x="1345" y="1319"/>
                    </a:cubicBezTo>
                    <a:cubicBezTo>
                      <a:pt x="1351" y="1284"/>
                      <a:pt x="1342" y="1272"/>
                      <a:pt x="1307" y="1272"/>
                    </a:cubicBezTo>
                    <a:cubicBezTo>
                      <a:pt x="1303" y="1272"/>
                      <a:pt x="1299" y="1272"/>
                      <a:pt x="1294" y="1272"/>
                    </a:cubicBezTo>
                    <a:close/>
                    <a:moveTo>
                      <a:pt x="1336" y="3026"/>
                    </a:moveTo>
                    <a:cubicBezTo>
                      <a:pt x="1334" y="3011"/>
                      <a:pt x="1332" y="2996"/>
                      <a:pt x="1328" y="2981"/>
                    </a:cubicBezTo>
                    <a:cubicBezTo>
                      <a:pt x="1311" y="2918"/>
                      <a:pt x="1293" y="2856"/>
                      <a:pt x="1259" y="2799"/>
                    </a:cubicBezTo>
                    <a:cubicBezTo>
                      <a:pt x="1247" y="2780"/>
                      <a:pt x="1231" y="2766"/>
                      <a:pt x="1209" y="2763"/>
                    </a:cubicBezTo>
                    <a:cubicBezTo>
                      <a:pt x="1176" y="2758"/>
                      <a:pt x="1143" y="2754"/>
                      <a:pt x="1110" y="2751"/>
                    </a:cubicBezTo>
                    <a:cubicBezTo>
                      <a:pt x="1088" y="2749"/>
                      <a:pt x="1066" y="2749"/>
                      <a:pt x="1044" y="2751"/>
                    </a:cubicBezTo>
                    <a:cubicBezTo>
                      <a:pt x="1002" y="2756"/>
                      <a:pt x="991" y="2776"/>
                      <a:pt x="1008" y="2814"/>
                    </a:cubicBezTo>
                    <a:cubicBezTo>
                      <a:pt x="1021" y="2845"/>
                      <a:pt x="1036" y="2876"/>
                      <a:pt x="1048" y="2908"/>
                    </a:cubicBezTo>
                    <a:cubicBezTo>
                      <a:pt x="1062" y="2945"/>
                      <a:pt x="1046" y="2965"/>
                      <a:pt x="1006" y="2963"/>
                    </a:cubicBezTo>
                    <a:cubicBezTo>
                      <a:pt x="992" y="2962"/>
                      <a:pt x="977" y="2960"/>
                      <a:pt x="962" y="2958"/>
                    </a:cubicBezTo>
                    <a:cubicBezTo>
                      <a:pt x="949" y="2957"/>
                      <a:pt x="939" y="2961"/>
                      <a:pt x="935" y="2976"/>
                    </a:cubicBezTo>
                    <a:cubicBezTo>
                      <a:pt x="910" y="3053"/>
                      <a:pt x="883" y="3131"/>
                      <a:pt x="859" y="3209"/>
                    </a:cubicBezTo>
                    <a:cubicBezTo>
                      <a:pt x="849" y="3241"/>
                      <a:pt x="856" y="3257"/>
                      <a:pt x="887" y="3269"/>
                    </a:cubicBezTo>
                    <a:cubicBezTo>
                      <a:pt x="929" y="3286"/>
                      <a:pt x="965" y="3310"/>
                      <a:pt x="1000" y="3336"/>
                    </a:cubicBezTo>
                    <a:cubicBezTo>
                      <a:pt x="1014" y="3347"/>
                      <a:pt x="1037" y="3357"/>
                      <a:pt x="1051" y="3352"/>
                    </a:cubicBezTo>
                    <a:cubicBezTo>
                      <a:pt x="1080" y="3342"/>
                      <a:pt x="1111" y="3328"/>
                      <a:pt x="1131" y="3307"/>
                    </a:cubicBezTo>
                    <a:cubicBezTo>
                      <a:pt x="1186" y="3249"/>
                      <a:pt x="1236" y="3188"/>
                      <a:pt x="1285" y="3126"/>
                    </a:cubicBezTo>
                    <a:cubicBezTo>
                      <a:pt x="1309" y="3097"/>
                      <a:pt x="1335" y="3068"/>
                      <a:pt x="1336" y="3026"/>
                    </a:cubicBezTo>
                    <a:close/>
                    <a:moveTo>
                      <a:pt x="2947" y="1575"/>
                    </a:moveTo>
                    <a:cubicBezTo>
                      <a:pt x="2953" y="1607"/>
                      <a:pt x="2956" y="1639"/>
                      <a:pt x="2964" y="1669"/>
                    </a:cubicBezTo>
                    <a:cubicBezTo>
                      <a:pt x="2985" y="1752"/>
                      <a:pt x="3044" y="1800"/>
                      <a:pt x="3117" y="1810"/>
                    </a:cubicBezTo>
                    <a:cubicBezTo>
                      <a:pt x="3161" y="1815"/>
                      <a:pt x="3186" y="1800"/>
                      <a:pt x="3201" y="1760"/>
                    </a:cubicBezTo>
                    <a:cubicBezTo>
                      <a:pt x="3210" y="1736"/>
                      <a:pt x="3217" y="1711"/>
                      <a:pt x="3223" y="1687"/>
                    </a:cubicBezTo>
                    <a:cubicBezTo>
                      <a:pt x="3237" y="1627"/>
                      <a:pt x="3247" y="1567"/>
                      <a:pt x="3263" y="1508"/>
                    </a:cubicBezTo>
                    <a:cubicBezTo>
                      <a:pt x="3284" y="1430"/>
                      <a:pt x="3311" y="1354"/>
                      <a:pt x="3333" y="1277"/>
                    </a:cubicBezTo>
                    <a:cubicBezTo>
                      <a:pt x="3339" y="1254"/>
                      <a:pt x="3343" y="1228"/>
                      <a:pt x="3340" y="1204"/>
                    </a:cubicBezTo>
                    <a:cubicBezTo>
                      <a:pt x="3336" y="1162"/>
                      <a:pt x="3307" y="1147"/>
                      <a:pt x="3271" y="1169"/>
                    </a:cubicBezTo>
                    <a:cubicBezTo>
                      <a:pt x="3232" y="1192"/>
                      <a:pt x="3195" y="1218"/>
                      <a:pt x="3160" y="1247"/>
                    </a:cubicBezTo>
                    <a:cubicBezTo>
                      <a:pt x="3107" y="1292"/>
                      <a:pt x="3051" y="1334"/>
                      <a:pt x="3011" y="1393"/>
                    </a:cubicBezTo>
                    <a:cubicBezTo>
                      <a:pt x="2973" y="1448"/>
                      <a:pt x="2943" y="1505"/>
                      <a:pt x="2947" y="1575"/>
                    </a:cubicBezTo>
                    <a:close/>
                    <a:moveTo>
                      <a:pt x="3829" y="2529"/>
                    </a:moveTo>
                    <a:cubicBezTo>
                      <a:pt x="3827" y="2482"/>
                      <a:pt x="3827" y="2450"/>
                      <a:pt x="3823" y="2419"/>
                    </a:cubicBezTo>
                    <a:cubicBezTo>
                      <a:pt x="3809" y="2303"/>
                      <a:pt x="3786" y="2189"/>
                      <a:pt x="3750" y="2078"/>
                    </a:cubicBezTo>
                    <a:cubicBezTo>
                      <a:pt x="3744" y="2060"/>
                      <a:pt x="3736" y="2043"/>
                      <a:pt x="3728" y="2026"/>
                    </a:cubicBezTo>
                    <a:cubicBezTo>
                      <a:pt x="3726" y="2022"/>
                      <a:pt x="3720" y="2020"/>
                      <a:pt x="3715" y="2016"/>
                    </a:cubicBezTo>
                    <a:cubicBezTo>
                      <a:pt x="3712" y="2021"/>
                      <a:pt x="3706" y="2025"/>
                      <a:pt x="3706" y="2030"/>
                    </a:cubicBezTo>
                    <a:cubicBezTo>
                      <a:pt x="3703" y="2047"/>
                      <a:pt x="3700" y="2066"/>
                      <a:pt x="3701" y="2083"/>
                    </a:cubicBezTo>
                    <a:cubicBezTo>
                      <a:pt x="3705" y="2208"/>
                      <a:pt x="3711" y="2333"/>
                      <a:pt x="3715" y="2459"/>
                    </a:cubicBezTo>
                    <a:cubicBezTo>
                      <a:pt x="3719" y="2592"/>
                      <a:pt x="3717" y="2724"/>
                      <a:pt x="3673" y="2853"/>
                    </a:cubicBezTo>
                    <a:cubicBezTo>
                      <a:pt x="3646" y="2931"/>
                      <a:pt x="3614" y="3004"/>
                      <a:pt x="3564" y="3069"/>
                    </a:cubicBezTo>
                    <a:cubicBezTo>
                      <a:pt x="3543" y="3097"/>
                      <a:pt x="3528" y="3130"/>
                      <a:pt x="3512" y="3161"/>
                    </a:cubicBezTo>
                    <a:cubicBezTo>
                      <a:pt x="3509" y="3168"/>
                      <a:pt x="3513" y="3179"/>
                      <a:pt x="3513" y="3188"/>
                    </a:cubicBezTo>
                    <a:cubicBezTo>
                      <a:pt x="3522" y="3187"/>
                      <a:pt x="3533" y="3189"/>
                      <a:pt x="3539" y="3185"/>
                    </a:cubicBezTo>
                    <a:cubicBezTo>
                      <a:pt x="3560" y="3171"/>
                      <a:pt x="3582" y="3157"/>
                      <a:pt x="3599" y="3139"/>
                    </a:cubicBezTo>
                    <a:cubicBezTo>
                      <a:pt x="3631" y="3105"/>
                      <a:pt x="3658" y="3067"/>
                      <a:pt x="3688" y="3032"/>
                    </a:cubicBezTo>
                    <a:cubicBezTo>
                      <a:pt x="3758" y="2951"/>
                      <a:pt x="3799" y="2857"/>
                      <a:pt x="3812" y="2753"/>
                    </a:cubicBezTo>
                    <a:cubicBezTo>
                      <a:pt x="3823" y="2674"/>
                      <a:pt x="3825" y="2594"/>
                      <a:pt x="3829" y="2529"/>
                    </a:cubicBezTo>
                    <a:close/>
                    <a:moveTo>
                      <a:pt x="2724" y="3537"/>
                    </a:moveTo>
                    <a:cubicBezTo>
                      <a:pt x="2752" y="3542"/>
                      <a:pt x="2769" y="3527"/>
                      <a:pt x="2779" y="3505"/>
                    </a:cubicBezTo>
                    <a:cubicBezTo>
                      <a:pt x="2793" y="3477"/>
                      <a:pt x="2804" y="3448"/>
                      <a:pt x="2812" y="3418"/>
                    </a:cubicBezTo>
                    <a:cubicBezTo>
                      <a:pt x="2828" y="3357"/>
                      <a:pt x="2842" y="3295"/>
                      <a:pt x="2856" y="3234"/>
                    </a:cubicBezTo>
                    <a:cubicBezTo>
                      <a:pt x="2859" y="3222"/>
                      <a:pt x="2864" y="3210"/>
                      <a:pt x="2866" y="3198"/>
                    </a:cubicBezTo>
                    <a:cubicBezTo>
                      <a:pt x="2870" y="3174"/>
                      <a:pt x="2880" y="3146"/>
                      <a:pt x="2855" y="3129"/>
                    </a:cubicBezTo>
                    <a:cubicBezTo>
                      <a:pt x="2829" y="3112"/>
                      <a:pt x="2804" y="3127"/>
                      <a:pt x="2782" y="3143"/>
                    </a:cubicBezTo>
                    <a:cubicBezTo>
                      <a:pt x="2726" y="3183"/>
                      <a:pt x="2671" y="3224"/>
                      <a:pt x="2615" y="3263"/>
                    </a:cubicBezTo>
                    <a:cubicBezTo>
                      <a:pt x="2592" y="3279"/>
                      <a:pt x="2575" y="3299"/>
                      <a:pt x="2560" y="3322"/>
                    </a:cubicBezTo>
                    <a:cubicBezTo>
                      <a:pt x="2530" y="3367"/>
                      <a:pt x="2544" y="3453"/>
                      <a:pt x="2580" y="3483"/>
                    </a:cubicBezTo>
                    <a:cubicBezTo>
                      <a:pt x="2623" y="3518"/>
                      <a:pt x="2672" y="3531"/>
                      <a:pt x="2724" y="3537"/>
                    </a:cubicBezTo>
                    <a:close/>
                    <a:moveTo>
                      <a:pt x="1797" y="3250"/>
                    </a:moveTo>
                    <a:cubicBezTo>
                      <a:pt x="1797" y="3216"/>
                      <a:pt x="1787" y="3196"/>
                      <a:pt x="1759" y="3179"/>
                    </a:cubicBezTo>
                    <a:cubicBezTo>
                      <a:pt x="1693" y="3138"/>
                      <a:pt x="1626" y="3101"/>
                      <a:pt x="1553" y="3073"/>
                    </a:cubicBezTo>
                    <a:cubicBezTo>
                      <a:pt x="1529" y="3064"/>
                      <a:pt x="1518" y="3067"/>
                      <a:pt x="1496" y="3091"/>
                    </a:cubicBezTo>
                    <a:cubicBezTo>
                      <a:pt x="1482" y="3105"/>
                      <a:pt x="1484" y="3123"/>
                      <a:pt x="1491" y="3139"/>
                    </a:cubicBezTo>
                    <a:cubicBezTo>
                      <a:pt x="1518" y="3200"/>
                      <a:pt x="1546" y="3260"/>
                      <a:pt x="1572" y="3321"/>
                    </a:cubicBezTo>
                    <a:cubicBezTo>
                      <a:pt x="1590" y="3365"/>
                      <a:pt x="1604" y="3410"/>
                      <a:pt x="1624" y="3453"/>
                    </a:cubicBezTo>
                    <a:cubicBezTo>
                      <a:pt x="1632" y="3471"/>
                      <a:pt x="1648" y="3488"/>
                      <a:pt x="1665" y="3499"/>
                    </a:cubicBezTo>
                    <a:cubicBezTo>
                      <a:pt x="1685" y="3513"/>
                      <a:pt x="1726" y="3500"/>
                      <a:pt x="1740" y="3472"/>
                    </a:cubicBezTo>
                    <a:cubicBezTo>
                      <a:pt x="1774" y="3402"/>
                      <a:pt x="1794" y="3328"/>
                      <a:pt x="1797" y="3250"/>
                    </a:cubicBezTo>
                    <a:close/>
                    <a:moveTo>
                      <a:pt x="1439" y="3502"/>
                    </a:moveTo>
                    <a:cubicBezTo>
                      <a:pt x="1439" y="3502"/>
                      <a:pt x="1439" y="3501"/>
                      <a:pt x="1439" y="3501"/>
                    </a:cubicBezTo>
                    <a:cubicBezTo>
                      <a:pt x="1452" y="3501"/>
                      <a:pt x="1466" y="3501"/>
                      <a:pt x="1479" y="3501"/>
                    </a:cubicBezTo>
                    <a:cubicBezTo>
                      <a:pt x="1518" y="3498"/>
                      <a:pt x="1528" y="3476"/>
                      <a:pt x="1510" y="3442"/>
                    </a:cubicBezTo>
                    <a:cubicBezTo>
                      <a:pt x="1488" y="3402"/>
                      <a:pt x="1469" y="3359"/>
                      <a:pt x="1449" y="3317"/>
                    </a:cubicBezTo>
                    <a:cubicBezTo>
                      <a:pt x="1437" y="3291"/>
                      <a:pt x="1426" y="3264"/>
                      <a:pt x="1412" y="3238"/>
                    </a:cubicBezTo>
                    <a:cubicBezTo>
                      <a:pt x="1396" y="3207"/>
                      <a:pt x="1384" y="3205"/>
                      <a:pt x="1354" y="3226"/>
                    </a:cubicBezTo>
                    <a:cubicBezTo>
                      <a:pt x="1292" y="3270"/>
                      <a:pt x="1258" y="3334"/>
                      <a:pt x="1233" y="3404"/>
                    </a:cubicBezTo>
                    <a:cubicBezTo>
                      <a:pt x="1216" y="3451"/>
                      <a:pt x="1245" y="3478"/>
                      <a:pt x="1284" y="3484"/>
                    </a:cubicBezTo>
                    <a:cubicBezTo>
                      <a:pt x="1336" y="3490"/>
                      <a:pt x="1388" y="3496"/>
                      <a:pt x="1439" y="3502"/>
                    </a:cubicBezTo>
                    <a:close/>
                    <a:moveTo>
                      <a:pt x="630" y="2889"/>
                    </a:moveTo>
                    <a:cubicBezTo>
                      <a:pt x="612" y="2893"/>
                      <a:pt x="592" y="2897"/>
                      <a:pt x="573" y="2904"/>
                    </a:cubicBezTo>
                    <a:cubicBezTo>
                      <a:pt x="556" y="2910"/>
                      <a:pt x="551" y="2925"/>
                      <a:pt x="559" y="2941"/>
                    </a:cubicBezTo>
                    <a:cubicBezTo>
                      <a:pt x="582" y="2990"/>
                      <a:pt x="598" y="3042"/>
                      <a:pt x="638" y="3081"/>
                    </a:cubicBezTo>
                    <a:cubicBezTo>
                      <a:pt x="668" y="3109"/>
                      <a:pt x="699" y="3137"/>
                      <a:pt x="741" y="3147"/>
                    </a:cubicBezTo>
                    <a:cubicBezTo>
                      <a:pt x="774" y="3156"/>
                      <a:pt x="787" y="3152"/>
                      <a:pt x="799" y="3119"/>
                    </a:cubicBezTo>
                    <a:cubicBezTo>
                      <a:pt x="820" y="3065"/>
                      <a:pt x="836" y="3008"/>
                      <a:pt x="853" y="2952"/>
                    </a:cubicBezTo>
                    <a:cubicBezTo>
                      <a:pt x="859" y="2934"/>
                      <a:pt x="848" y="2919"/>
                      <a:pt x="829" y="2916"/>
                    </a:cubicBezTo>
                    <a:cubicBezTo>
                      <a:pt x="764" y="2907"/>
                      <a:pt x="699" y="2898"/>
                      <a:pt x="630" y="2889"/>
                    </a:cubicBezTo>
                    <a:close/>
                    <a:moveTo>
                      <a:pt x="2886" y="2651"/>
                    </a:moveTo>
                    <a:cubicBezTo>
                      <a:pt x="2818" y="2653"/>
                      <a:pt x="2750" y="2716"/>
                      <a:pt x="2753" y="2783"/>
                    </a:cubicBezTo>
                    <a:cubicBezTo>
                      <a:pt x="2757" y="2859"/>
                      <a:pt x="2796" y="2922"/>
                      <a:pt x="2846" y="2979"/>
                    </a:cubicBezTo>
                    <a:cubicBezTo>
                      <a:pt x="2856" y="2991"/>
                      <a:pt x="2871" y="2992"/>
                      <a:pt x="2884" y="2981"/>
                    </a:cubicBezTo>
                    <a:cubicBezTo>
                      <a:pt x="2910" y="2959"/>
                      <a:pt x="2932" y="2934"/>
                      <a:pt x="2940" y="2899"/>
                    </a:cubicBezTo>
                    <a:cubicBezTo>
                      <a:pt x="2944" y="2880"/>
                      <a:pt x="2949" y="2862"/>
                      <a:pt x="2953" y="2843"/>
                    </a:cubicBezTo>
                    <a:cubicBezTo>
                      <a:pt x="2960" y="2804"/>
                      <a:pt x="2968" y="2765"/>
                      <a:pt x="2973" y="2725"/>
                    </a:cubicBezTo>
                    <a:cubicBezTo>
                      <a:pt x="2976" y="2699"/>
                      <a:pt x="2966" y="2676"/>
                      <a:pt x="2939" y="2666"/>
                    </a:cubicBezTo>
                    <a:cubicBezTo>
                      <a:pt x="2922" y="2660"/>
                      <a:pt x="2903" y="2656"/>
                      <a:pt x="2886" y="2651"/>
                    </a:cubicBezTo>
                    <a:close/>
                    <a:moveTo>
                      <a:pt x="3873" y="1247"/>
                    </a:moveTo>
                    <a:cubicBezTo>
                      <a:pt x="3872" y="1243"/>
                      <a:pt x="3872" y="1239"/>
                      <a:pt x="3871" y="1234"/>
                    </a:cubicBezTo>
                    <a:cubicBezTo>
                      <a:pt x="3866" y="1190"/>
                      <a:pt x="3833" y="1175"/>
                      <a:pt x="3796" y="1199"/>
                    </a:cubicBezTo>
                    <a:cubicBezTo>
                      <a:pt x="3788" y="1204"/>
                      <a:pt x="3781" y="1210"/>
                      <a:pt x="3776" y="1216"/>
                    </a:cubicBezTo>
                    <a:cubicBezTo>
                      <a:pt x="3716" y="1282"/>
                      <a:pt x="3670" y="1355"/>
                      <a:pt x="3636" y="1437"/>
                    </a:cubicBezTo>
                    <a:cubicBezTo>
                      <a:pt x="3622" y="1472"/>
                      <a:pt x="3628" y="1507"/>
                      <a:pt x="3639" y="1541"/>
                    </a:cubicBezTo>
                    <a:cubicBezTo>
                      <a:pt x="3641" y="1548"/>
                      <a:pt x="3650" y="1557"/>
                      <a:pt x="3657" y="1558"/>
                    </a:cubicBezTo>
                    <a:cubicBezTo>
                      <a:pt x="3665" y="1559"/>
                      <a:pt x="3675" y="1552"/>
                      <a:pt x="3680" y="1545"/>
                    </a:cubicBezTo>
                    <a:cubicBezTo>
                      <a:pt x="3686" y="1539"/>
                      <a:pt x="3688" y="1529"/>
                      <a:pt x="3690" y="1520"/>
                    </a:cubicBezTo>
                    <a:cubicBezTo>
                      <a:pt x="3700" y="1477"/>
                      <a:pt x="3723" y="1443"/>
                      <a:pt x="3757" y="1415"/>
                    </a:cubicBezTo>
                    <a:cubicBezTo>
                      <a:pt x="3782" y="1394"/>
                      <a:pt x="3806" y="1372"/>
                      <a:pt x="3828" y="1348"/>
                    </a:cubicBezTo>
                    <a:cubicBezTo>
                      <a:pt x="3854" y="1320"/>
                      <a:pt x="3871" y="1287"/>
                      <a:pt x="3873" y="1247"/>
                    </a:cubicBezTo>
                    <a:close/>
                    <a:moveTo>
                      <a:pt x="1947" y="2792"/>
                    </a:moveTo>
                    <a:cubicBezTo>
                      <a:pt x="1944" y="2786"/>
                      <a:pt x="1943" y="2774"/>
                      <a:pt x="1936" y="2769"/>
                    </a:cubicBezTo>
                    <a:cubicBezTo>
                      <a:pt x="1907" y="2746"/>
                      <a:pt x="1876" y="2723"/>
                      <a:pt x="1844" y="2702"/>
                    </a:cubicBezTo>
                    <a:cubicBezTo>
                      <a:pt x="1832" y="2694"/>
                      <a:pt x="1816" y="2696"/>
                      <a:pt x="1813" y="2713"/>
                    </a:cubicBezTo>
                    <a:cubicBezTo>
                      <a:pt x="1809" y="2739"/>
                      <a:pt x="1806" y="2765"/>
                      <a:pt x="1808" y="2791"/>
                    </a:cubicBezTo>
                    <a:cubicBezTo>
                      <a:pt x="1812" y="2831"/>
                      <a:pt x="1819" y="2871"/>
                      <a:pt x="1827" y="2911"/>
                    </a:cubicBezTo>
                    <a:cubicBezTo>
                      <a:pt x="1834" y="2942"/>
                      <a:pt x="1841" y="2973"/>
                      <a:pt x="1853" y="3002"/>
                    </a:cubicBezTo>
                    <a:cubicBezTo>
                      <a:pt x="1863" y="3027"/>
                      <a:pt x="1885" y="3026"/>
                      <a:pt x="1898" y="3003"/>
                    </a:cubicBezTo>
                    <a:cubicBezTo>
                      <a:pt x="1905" y="2991"/>
                      <a:pt x="1910" y="2977"/>
                      <a:pt x="1913" y="2962"/>
                    </a:cubicBezTo>
                    <a:cubicBezTo>
                      <a:pt x="1923" y="2915"/>
                      <a:pt x="1932" y="2867"/>
                      <a:pt x="1941" y="2820"/>
                    </a:cubicBezTo>
                    <a:cubicBezTo>
                      <a:pt x="1942" y="2812"/>
                      <a:pt x="1944" y="2804"/>
                      <a:pt x="1947" y="2792"/>
                    </a:cubicBezTo>
                    <a:close/>
                    <a:moveTo>
                      <a:pt x="2347" y="3588"/>
                    </a:moveTo>
                    <a:cubicBezTo>
                      <a:pt x="2363" y="3583"/>
                      <a:pt x="2385" y="3575"/>
                      <a:pt x="2409" y="3569"/>
                    </a:cubicBezTo>
                    <a:cubicBezTo>
                      <a:pt x="2447" y="3560"/>
                      <a:pt x="2463" y="3533"/>
                      <a:pt x="2470" y="3497"/>
                    </a:cubicBezTo>
                    <a:cubicBezTo>
                      <a:pt x="2474" y="3473"/>
                      <a:pt x="2461" y="3454"/>
                      <a:pt x="2438" y="3451"/>
                    </a:cubicBezTo>
                    <a:cubicBezTo>
                      <a:pt x="2412" y="3448"/>
                      <a:pt x="2387" y="3452"/>
                      <a:pt x="2369" y="3471"/>
                    </a:cubicBezTo>
                    <a:cubicBezTo>
                      <a:pt x="2349" y="3493"/>
                      <a:pt x="2329" y="3517"/>
                      <a:pt x="2312" y="3542"/>
                    </a:cubicBezTo>
                    <a:cubicBezTo>
                      <a:pt x="2294" y="3570"/>
                      <a:pt x="2306" y="3588"/>
                      <a:pt x="2347" y="35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2" name="Freeform 300"/>
              <p:cNvSpPr>
                <a:spLocks noEditPoints="1"/>
              </p:cNvSpPr>
              <p:nvPr/>
            </p:nvSpPr>
            <p:spPr bwMode="auto">
              <a:xfrm>
                <a:off x="10404475" y="5016500"/>
                <a:ext cx="1404938" cy="1328738"/>
              </a:xfrm>
              <a:custGeom>
                <a:avLst/>
                <a:gdLst>
                  <a:gd name="T0" fmla="*/ 63 w 445"/>
                  <a:gd name="T1" fmla="*/ 347 h 421"/>
                  <a:gd name="T2" fmla="*/ 156 w 445"/>
                  <a:gd name="T3" fmla="*/ 324 h 421"/>
                  <a:gd name="T4" fmla="*/ 169 w 445"/>
                  <a:gd name="T5" fmla="*/ 328 h 421"/>
                  <a:gd name="T6" fmla="*/ 294 w 445"/>
                  <a:gd name="T7" fmla="*/ 337 h 421"/>
                  <a:gd name="T8" fmla="*/ 326 w 445"/>
                  <a:gd name="T9" fmla="*/ 235 h 421"/>
                  <a:gd name="T10" fmla="*/ 302 w 445"/>
                  <a:gd name="T11" fmla="*/ 233 h 421"/>
                  <a:gd name="T12" fmla="*/ 191 w 445"/>
                  <a:gd name="T13" fmla="*/ 270 h 421"/>
                  <a:gd name="T14" fmla="*/ 72 w 445"/>
                  <a:gd name="T15" fmla="*/ 243 h 421"/>
                  <a:gd name="T16" fmla="*/ 55 w 445"/>
                  <a:gd name="T17" fmla="*/ 65 h 421"/>
                  <a:gd name="T18" fmla="*/ 212 w 445"/>
                  <a:gd name="T19" fmla="*/ 1 h 421"/>
                  <a:gd name="T20" fmla="*/ 318 w 445"/>
                  <a:gd name="T21" fmla="*/ 11 h 421"/>
                  <a:gd name="T22" fmla="*/ 419 w 445"/>
                  <a:gd name="T23" fmla="*/ 110 h 421"/>
                  <a:gd name="T24" fmla="*/ 426 w 445"/>
                  <a:gd name="T25" fmla="*/ 292 h 421"/>
                  <a:gd name="T26" fmla="*/ 367 w 445"/>
                  <a:gd name="T27" fmla="*/ 367 h 421"/>
                  <a:gd name="T28" fmla="*/ 167 w 445"/>
                  <a:gd name="T29" fmla="*/ 414 h 421"/>
                  <a:gd name="T30" fmla="*/ 75 w 445"/>
                  <a:gd name="T31" fmla="*/ 367 h 421"/>
                  <a:gd name="T32" fmla="*/ 63 w 445"/>
                  <a:gd name="T33" fmla="*/ 347 h 421"/>
                  <a:gd name="T34" fmla="*/ 211 w 445"/>
                  <a:gd name="T35" fmla="*/ 219 h 421"/>
                  <a:gd name="T36" fmla="*/ 301 w 445"/>
                  <a:gd name="T37" fmla="*/ 125 h 421"/>
                  <a:gd name="T38" fmla="*/ 198 w 445"/>
                  <a:gd name="T39" fmla="*/ 58 h 421"/>
                  <a:gd name="T40" fmla="*/ 130 w 445"/>
                  <a:gd name="T41" fmla="*/ 108 h 421"/>
                  <a:gd name="T42" fmla="*/ 211 w 445"/>
                  <a:gd name="T43" fmla="*/ 219 h 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5" h="421">
                    <a:moveTo>
                      <a:pt x="63" y="347"/>
                    </a:moveTo>
                    <a:cubicBezTo>
                      <a:pt x="96" y="339"/>
                      <a:pt x="126" y="331"/>
                      <a:pt x="156" y="324"/>
                    </a:cubicBezTo>
                    <a:cubicBezTo>
                      <a:pt x="160" y="323"/>
                      <a:pt x="166" y="325"/>
                      <a:pt x="169" y="328"/>
                    </a:cubicBezTo>
                    <a:cubicBezTo>
                      <a:pt x="206" y="365"/>
                      <a:pt x="252" y="369"/>
                      <a:pt x="294" y="337"/>
                    </a:cubicBezTo>
                    <a:cubicBezTo>
                      <a:pt x="319" y="317"/>
                      <a:pt x="336" y="267"/>
                      <a:pt x="326" y="235"/>
                    </a:cubicBezTo>
                    <a:cubicBezTo>
                      <a:pt x="320" y="219"/>
                      <a:pt x="310" y="227"/>
                      <a:pt x="302" y="233"/>
                    </a:cubicBezTo>
                    <a:cubicBezTo>
                      <a:pt x="269" y="257"/>
                      <a:pt x="232" y="269"/>
                      <a:pt x="191" y="270"/>
                    </a:cubicBezTo>
                    <a:cubicBezTo>
                      <a:pt x="149" y="271"/>
                      <a:pt x="110" y="263"/>
                      <a:pt x="72" y="243"/>
                    </a:cubicBezTo>
                    <a:cubicBezTo>
                      <a:pt x="15" y="212"/>
                      <a:pt x="0" y="117"/>
                      <a:pt x="55" y="65"/>
                    </a:cubicBezTo>
                    <a:cubicBezTo>
                      <a:pt x="99" y="23"/>
                      <a:pt x="152" y="2"/>
                      <a:pt x="212" y="1"/>
                    </a:cubicBezTo>
                    <a:cubicBezTo>
                      <a:pt x="247" y="0"/>
                      <a:pt x="284" y="2"/>
                      <a:pt x="318" y="11"/>
                    </a:cubicBezTo>
                    <a:cubicBezTo>
                      <a:pt x="369" y="24"/>
                      <a:pt x="402" y="60"/>
                      <a:pt x="419" y="110"/>
                    </a:cubicBezTo>
                    <a:cubicBezTo>
                      <a:pt x="440" y="170"/>
                      <a:pt x="445" y="231"/>
                      <a:pt x="426" y="292"/>
                    </a:cubicBezTo>
                    <a:cubicBezTo>
                      <a:pt x="417" y="325"/>
                      <a:pt x="394" y="349"/>
                      <a:pt x="367" y="367"/>
                    </a:cubicBezTo>
                    <a:cubicBezTo>
                      <a:pt x="306" y="408"/>
                      <a:pt x="238" y="421"/>
                      <a:pt x="167" y="414"/>
                    </a:cubicBezTo>
                    <a:cubicBezTo>
                      <a:pt x="131" y="410"/>
                      <a:pt x="98" y="396"/>
                      <a:pt x="75" y="367"/>
                    </a:cubicBezTo>
                    <a:cubicBezTo>
                      <a:pt x="70" y="362"/>
                      <a:pt x="67" y="355"/>
                      <a:pt x="63" y="347"/>
                    </a:cubicBezTo>
                    <a:close/>
                    <a:moveTo>
                      <a:pt x="211" y="219"/>
                    </a:moveTo>
                    <a:cubicBezTo>
                      <a:pt x="269" y="219"/>
                      <a:pt x="312" y="185"/>
                      <a:pt x="301" y="125"/>
                    </a:cubicBezTo>
                    <a:cubicBezTo>
                      <a:pt x="293" y="79"/>
                      <a:pt x="247" y="49"/>
                      <a:pt x="198" y="58"/>
                    </a:cubicBezTo>
                    <a:cubicBezTo>
                      <a:pt x="167" y="64"/>
                      <a:pt x="140" y="76"/>
                      <a:pt x="130" y="108"/>
                    </a:cubicBezTo>
                    <a:cubicBezTo>
                      <a:pt x="114" y="158"/>
                      <a:pt x="143" y="220"/>
                      <a:pt x="211" y="2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3" name="Freeform 301"/>
              <p:cNvSpPr>
                <a:spLocks noEditPoints="1"/>
              </p:cNvSpPr>
              <p:nvPr/>
            </p:nvSpPr>
            <p:spPr bwMode="auto">
              <a:xfrm>
                <a:off x="12115800" y="4956175"/>
                <a:ext cx="1274763" cy="1331913"/>
              </a:xfrm>
              <a:custGeom>
                <a:avLst/>
                <a:gdLst>
                  <a:gd name="T0" fmla="*/ 404 w 404"/>
                  <a:gd name="T1" fmla="*/ 197 h 422"/>
                  <a:gd name="T2" fmla="*/ 377 w 404"/>
                  <a:gd name="T3" fmla="*/ 317 h 422"/>
                  <a:gd name="T4" fmla="*/ 241 w 404"/>
                  <a:gd name="T5" fmla="*/ 417 h 422"/>
                  <a:gd name="T6" fmla="*/ 83 w 404"/>
                  <a:gd name="T7" fmla="*/ 388 h 422"/>
                  <a:gd name="T8" fmla="*/ 9 w 404"/>
                  <a:gd name="T9" fmla="*/ 287 h 422"/>
                  <a:gd name="T10" fmla="*/ 29 w 404"/>
                  <a:gd name="T11" fmla="*/ 97 h 422"/>
                  <a:gd name="T12" fmla="*/ 158 w 404"/>
                  <a:gd name="T13" fmla="*/ 4 h 422"/>
                  <a:gd name="T14" fmla="*/ 306 w 404"/>
                  <a:gd name="T15" fmla="*/ 27 h 422"/>
                  <a:gd name="T16" fmla="*/ 398 w 404"/>
                  <a:gd name="T17" fmla="*/ 164 h 422"/>
                  <a:gd name="T18" fmla="*/ 398 w 404"/>
                  <a:gd name="T19" fmla="*/ 196 h 422"/>
                  <a:gd name="T20" fmla="*/ 404 w 404"/>
                  <a:gd name="T21" fmla="*/ 197 h 422"/>
                  <a:gd name="T22" fmla="*/ 290 w 404"/>
                  <a:gd name="T23" fmla="*/ 174 h 422"/>
                  <a:gd name="T24" fmla="*/ 285 w 404"/>
                  <a:gd name="T25" fmla="*/ 173 h 422"/>
                  <a:gd name="T26" fmla="*/ 285 w 404"/>
                  <a:gd name="T27" fmla="*/ 141 h 422"/>
                  <a:gd name="T28" fmla="*/ 207 w 404"/>
                  <a:gd name="T29" fmla="*/ 61 h 422"/>
                  <a:gd name="T30" fmla="*/ 136 w 404"/>
                  <a:gd name="T31" fmla="*/ 119 h 422"/>
                  <a:gd name="T32" fmla="*/ 114 w 404"/>
                  <a:gd name="T33" fmla="*/ 242 h 422"/>
                  <a:gd name="T34" fmla="*/ 123 w 404"/>
                  <a:gd name="T35" fmla="*/ 310 h 422"/>
                  <a:gd name="T36" fmla="*/ 192 w 404"/>
                  <a:gd name="T37" fmla="*/ 362 h 422"/>
                  <a:gd name="T38" fmla="*/ 264 w 404"/>
                  <a:gd name="T39" fmla="*/ 308 h 422"/>
                  <a:gd name="T40" fmla="*/ 290 w 404"/>
                  <a:gd name="T41" fmla="*/ 174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04" h="422">
                    <a:moveTo>
                      <a:pt x="404" y="197"/>
                    </a:moveTo>
                    <a:cubicBezTo>
                      <a:pt x="396" y="237"/>
                      <a:pt x="390" y="278"/>
                      <a:pt x="377" y="317"/>
                    </a:cubicBezTo>
                    <a:cubicBezTo>
                      <a:pt x="356" y="381"/>
                      <a:pt x="305" y="411"/>
                      <a:pt x="241" y="417"/>
                    </a:cubicBezTo>
                    <a:cubicBezTo>
                      <a:pt x="186" y="422"/>
                      <a:pt x="132" y="416"/>
                      <a:pt x="83" y="388"/>
                    </a:cubicBezTo>
                    <a:cubicBezTo>
                      <a:pt x="44" y="365"/>
                      <a:pt x="16" y="333"/>
                      <a:pt x="9" y="287"/>
                    </a:cubicBezTo>
                    <a:cubicBezTo>
                      <a:pt x="0" y="222"/>
                      <a:pt x="2" y="158"/>
                      <a:pt x="29" y="97"/>
                    </a:cubicBezTo>
                    <a:cubicBezTo>
                      <a:pt x="54" y="41"/>
                      <a:pt x="97" y="10"/>
                      <a:pt x="158" y="4"/>
                    </a:cubicBezTo>
                    <a:cubicBezTo>
                      <a:pt x="209" y="0"/>
                      <a:pt x="260" y="6"/>
                      <a:pt x="306" y="27"/>
                    </a:cubicBezTo>
                    <a:cubicBezTo>
                      <a:pt x="365" y="53"/>
                      <a:pt x="392" y="102"/>
                      <a:pt x="398" y="164"/>
                    </a:cubicBezTo>
                    <a:cubicBezTo>
                      <a:pt x="399" y="174"/>
                      <a:pt x="398" y="185"/>
                      <a:pt x="398" y="196"/>
                    </a:cubicBezTo>
                    <a:cubicBezTo>
                      <a:pt x="400" y="196"/>
                      <a:pt x="402" y="197"/>
                      <a:pt x="404" y="197"/>
                    </a:cubicBezTo>
                    <a:close/>
                    <a:moveTo>
                      <a:pt x="290" y="174"/>
                    </a:moveTo>
                    <a:cubicBezTo>
                      <a:pt x="288" y="174"/>
                      <a:pt x="287" y="173"/>
                      <a:pt x="285" y="173"/>
                    </a:cubicBezTo>
                    <a:cubicBezTo>
                      <a:pt x="285" y="162"/>
                      <a:pt x="287" y="151"/>
                      <a:pt x="285" y="141"/>
                    </a:cubicBezTo>
                    <a:cubicBezTo>
                      <a:pt x="275" y="88"/>
                      <a:pt x="259" y="67"/>
                      <a:pt x="207" y="61"/>
                    </a:cubicBezTo>
                    <a:cubicBezTo>
                      <a:pt x="174" y="57"/>
                      <a:pt x="147" y="78"/>
                      <a:pt x="136" y="119"/>
                    </a:cubicBezTo>
                    <a:cubicBezTo>
                      <a:pt x="126" y="159"/>
                      <a:pt x="119" y="201"/>
                      <a:pt x="114" y="242"/>
                    </a:cubicBezTo>
                    <a:cubicBezTo>
                      <a:pt x="112" y="264"/>
                      <a:pt x="116" y="289"/>
                      <a:pt x="123" y="310"/>
                    </a:cubicBezTo>
                    <a:cubicBezTo>
                      <a:pt x="133" y="346"/>
                      <a:pt x="157" y="362"/>
                      <a:pt x="192" y="362"/>
                    </a:cubicBezTo>
                    <a:cubicBezTo>
                      <a:pt x="231" y="362"/>
                      <a:pt x="254" y="347"/>
                      <a:pt x="264" y="308"/>
                    </a:cubicBezTo>
                    <a:cubicBezTo>
                      <a:pt x="275" y="264"/>
                      <a:pt x="281" y="219"/>
                      <a:pt x="290" y="1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4" name="Freeform 302"/>
              <p:cNvSpPr/>
              <p:nvPr/>
            </p:nvSpPr>
            <p:spPr bwMode="auto">
              <a:xfrm>
                <a:off x="13735050" y="5173663"/>
                <a:ext cx="1406525" cy="1404938"/>
              </a:xfrm>
              <a:custGeom>
                <a:avLst/>
                <a:gdLst>
                  <a:gd name="T0" fmla="*/ 289 w 446"/>
                  <a:gd name="T1" fmla="*/ 170 h 445"/>
                  <a:gd name="T2" fmla="*/ 266 w 446"/>
                  <a:gd name="T3" fmla="*/ 156 h 445"/>
                  <a:gd name="T4" fmla="*/ 61 w 446"/>
                  <a:gd name="T5" fmla="*/ 74 h 445"/>
                  <a:gd name="T6" fmla="*/ 50 w 446"/>
                  <a:gd name="T7" fmla="*/ 47 h 445"/>
                  <a:gd name="T8" fmla="*/ 112 w 446"/>
                  <a:gd name="T9" fmla="*/ 17 h 445"/>
                  <a:gd name="T10" fmla="*/ 425 w 446"/>
                  <a:gd name="T11" fmla="*/ 139 h 445"/>
                  <a:gd name="T12" fmla="*/ 439 w 446"/>
                  <a:gd name="T13" fmla="*/ 171 h 445"/>
                  <a:gd name="T14" fmla="*/ 393 w 446"/>
                  <a:gd name="T15" fmla="*/ 209 h 445"/>
                  <a:gd name="T16" fmla="*/ 150 w 446"/>
                  <a:gd name="T17" fmla="*/ 375 h 445"/>
                  <a:gd name="T18" fmla="*/ 108 w 446"/>
                  <a:gd name="T19" fmla="*/ 436 h 445"/>
                  <a:gd name="T20" fmla="*/ 90 w 446"/>
                  <a:gd name="T21" fmla="*/ 443 h 445"/>
                  <a:gd name="T22" fmla="*/ 12 w 446"/>
                  <a:gd name="T23" fmla="*/ 414 h 445"/>
                  <a:gd name="T24" fmla="*/ 8 w 446"/>
                  <a:gd name="T25" fmla="*/ 395 h 445"/>
                  <a:gd name="T26" fmla="*/ 86 w 446"/>
                  <a:gd name="T27" fmla="*/ 290 h 445"/>
                  <a:gd name="T28" fmla="*/ 256 w 446"/>
                  <a:gd name="T29" fmla="*/ 184 h 445"/>
                  <a:gd name="T30" fmla="*/ 289 w 446"/>
                  <a:gd name="T31" fmla="*/ 17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6" h="445">
                    <a:moveTo>
                      <a:pt x="289" y="170"/>
                    </a:moveTo>
                    <a:cubicBezTo>
                      <a:pt x="279" y="163"/>
                      <a:pt x="273" y="159"/>
                      <a:pt x="266" y="156"/>
                    </a:cubicBezTo>
                    <a:cubicBezTo>
                      <a:pt x="198" y="128"/>
                      <a:pt x="129" y="100"/>
                      <a:pt x="61" y="74"/>
                    </a:cubicBezTo>
                    <a:cubicBezTo>
                      <a:pt x="45" y="68"/>
                      <a:pt x="44" y="61"/>
                      <a:pt x="50" y="47"/>
                    </a:cubicBezTo>
                    <a:cubicBezTo>
                      <a:pt x="69" y="1"/>
                      <a:pt x="68" y="0"/>
                      <a:pt x="112" y="17"/>
                    </a:cubicBezTo>
                    <a:cubicBezTo>
                      <a:pt x="217" y="57"/>
                      <a:pt x="321" y="98"/>
                      <a:pt x="425" y="139"/>
                    </a:cubicBezTo>
                    <a:cubicBezTo>
                      <a:pt x="442" y="145"/>
                      <a:pt x="446" y="153"/>
                      <a:pt x="439" y="171"/>
                    </a:cubicBezTo>
                    <a:cubicBezTo>
                      <a:pt x="430" y="194"/>
                      <a:pt x="415" y="201"/>
                      <a:pt x="393" y="209"/>
                    </a:cubicBezTo>
                    <a:cubicBezTo>
                      <a:pt x="298" y="242"/>
                      <a:pt x="212" y="291"/>
                      <a:pt x="150" y="375"/>
                    </a:cubicBezTo>
                    <a:cubicBezTo>
                      <a:pt x="135" y="394"/>
                      <a:pt x="123" y="416"/>
                      <a:pt x="108" y="436"/>
                    </a:cubicBezTo>
                    <a:cubicBezTo>
                      <a:pt x="105" y="440"/>
                      <a:pt x="95" y="445"/>
                      <a:pt x="90" y="443"/>
                    </a:cubicBezTo>
                    <a:cubicBezTo>
                      <a:pt x="63" y="434"/>
                      <a:pt x="38" y="424"/>
                      <a:pt x="12" y="414"/>
                    </a:cubicBezTo>
                    <a:cubicBezTo>
                      <a:pt x="0" y="409"/>
                      <a:pt x="3" y="401"/>
                      <a:pt x="8" y="395"/>
                    </a:cubicBezTo>
                    <a:cubicBezTo>
                      <a:pt x="33" y="359"/>
                      <a:pt x="57" y="322"/>
                      <a:pt x="86" y="290"/>
                    </a:cubicBezTo>
                    <a:cubicBezTo>
                      <a:pt x="133" y="240"/>
                      <a:pt x="195" y="213"/>
                      <a:pt x="256" y="184"/>
                    </a:cubicBezTo>
                    <a:cubicBezTo>
                      <a:pt x="265" y="180"/>
                      <a:pt x="275" y="176"/>
                      <a:pt x="289" y="1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5" name="Freeform 303"/>
              <p:cNvSpPr/>
              <p:nvPr/>
            </p:nvSpPr>
            <p:spPr bwMode="auto">
              <a:xfrm>
                <a:off x="9001125" y="5387975"/>
                <a:ext cx="1150938" cy="1317625"/>
              </a:xfrm>
              <a:custGeom>
                <a:avLst/>
                <a:gdLst>
                  <a:gd name="T0" fmla="*/ 267 w 365"/>
                  <a:gd name="T1" fmla="*/ 417 h 417"/>
                  <a:gd name="T2" fmla="*/ 144 w 365"/>
                  <a:gd name="T3" fmla="*/ 145 h 417"/>
                  <a:gd name="T4" fmla="*/ 83 w 365"/>
                  <a:gd name="T5" fmla="*/ 210 h 417"/>
                  <a:gd name="T6" fmla="*/ 41 w 365"/>
                  <a:gd name="T7" fmla="*/ 247 h 417"/>
                  <a:gd name="T8" fmla="*/ 20 w 365"/>
                  <a:gd name="T9" fmla="*/ 242 h 417"/>
                  <a:gd name="T10" fmla="*/ 31 w 365"/>
                  <a:gd name="T11" fmla="*/ 177 h 417"/>
                  <a:gd name="T12" fmla="*/ 118 w 365"/>
                  <a:gd name="T13" fmla="*/ 46 h 417"/>
                  <a:gd name="T14" fmla="*/ 127 w 365"/>
                  <a:gd name="T15" fmla="*/ 34 h 417"/>
                  <a:gd name="T16" fmla="*/ 204 w 365"/>
                  <a:gd name="T17" fmla="*/ 0 h 417"/>
                  <a:gd name="T18" fmla="*/ 239 w 365"/>
                  <a:gd name="T19" fmla="*/ 82 h 417"/>
                  <a:gd name="T20" fmla="*/ 317 w 365"/>
                  <a:gd name="T21" fmla="*/ 259 h 417"/>
                  <a:gd name="T22" fmla="*/ 360 w 365"/>
                  <a:gd name="T23" fmla="*/ 358 h 417"/>
                  <a:gd name="T24" fmla="*/ 351 w 365"/>
                  <a:gd name="T25" fmla="*/ 379 h 417"/>
                  <a:gd name="T26" fmla="*/ 267 w 365"/>
                  <a:gd name="T27" fmla="*/ 417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5" h="417">
                    <a:moveTo>
                      <a:pt x="267" y="417"/>
                    </a:moveTo>
                    <a:cubicBezTo>
                      <a:pt x="226" y="326"/>
                      <a:pt x="186" y="237"/>
                      <a:pt x="144" y="145"/>
                    </a:cubicBezTo>
                    <a:cubicBezTo>
                      <a:pt x="121" y="170"/>
                      <a:pt x="102" y="190"/>
                      <a:pt x="83" y="210"/>
                    </a:cubicBezTo>
                    <a:cubicBezTo>
                      <a:pt x="70" y="223"/>
                      <a:pt x="55" y="235"/>
                      <a:pt x="41" y="247"/>
                    </a:cubicBezTo>
                    <a:cubicBezTo>
                      <a:pt x="32" y="255"/>
                      <a:pt x="26" y="254"/>
                      <a:pt x="20" y="242"/>
                    </a:cubicBezTo>
                    <a:cubicBezTo>
                      <a:pt x="0" y="205"/>
                      <a:pt x="1" y="206"/>
                      <a:pt x="31" y="177"/>
                    </a:cubicBezTo>
                    <a:cubicBezTo>
                      <a:pt x="69" y="140"/>
                      <a:pt x="105" y="101"/>
                      <a:pt x="118" y="46"/>
                    </a:cubicBezTo>
                    <a:cubicBezTo>
                      <a:pt x="119" y="42"/>
                      <a:pt x="123" y="36"/>
                      <a:pt x="127" y="34"/>
                    </a:cubicBezTo>
                    <a:cubicBezTo>
                      <a:pt x="151" y="23"/>
                      <a:pt x="176" y="12"/>
                      <a:pt x="204" y="0"/>
                    </a:cubicBezTo>
                    <a:cubicBezTo>
                      <a:pt x="216" y="28"/>
                      <a:pt x="227" y="55"/>
                      <a:pt x="239" y="82"/>
                    </a:cubicBezTo>
                    <a:cubicBezTo>
                      <a:pt x="265" y="141"/>
                      <a:pt x="291" y="200"/>
                      <a:pt x="317" y="259"/>
                    </a:cubicBezTo>
                    <a:cubicBezTo>
                      <a:pt x="331" y="292"/>
                      <a:pt x="345" y="325"/>
                      <a:pt x="360" y="358"/>
                    </a:cubicBezTo>
                    <a:cubicBezTo>
                      <a:pt x="365" y="369"/>
                      <a:pt x="362" y="374"/>
                      <a:pt x="351" y="379"/>
                    </a:cubicBezTo>
                    <a:cubicBezTo>
                      <a:pt x="323" y="390"/>
                      <a:pt x="297" y="404"/>
                      <a:pt x="267" y="4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490" name="组合 489"/>
            <p:cNvGrpSpPr/>
            <p:nvPr/>
          </p:nvGrpSpPr>
          <p:grpSpPr>
            <a:xfrm>
              <a:off x="20527775" y="821505"/>
              <a:ext cx="17705388" cy="6132513"/>
              <a:chOff x="14597063" y="723900"/>
              <a:chExt cx="17705388" cy="6132513"/>
            </a:xfrm>
            <a:grpFill/>
          </p:grpSpPr>
          <p:sp>
            <p:nvSpPr>
              <p:cNvPr id="491" name="Freeform 328"/>
              <p:cNvSpPr/>
              <p:nvPr/>
            </p:nvSpPr>
            <p:spPr bwMode="auto">
              <a:xfrm>
                <a:off x="14597063" y="1244600"/>
                <a:ext cx="2686050" cy="3573463"/>
              </a:xfrm>
              <a:custGeom>
                <a:avLst/>
                <a:gdLst>
                  <a:gd name="T0" fmla="*/ 6 w 851"/>
                  <a:gd name="T1" fmla="*/ 718 h 1131"/>
                  <a:gd name="T2" fmla="*/ 7 w 851"/>
                  <a:gd name="T3" fmla="*/ 423 h 1131"/>
                  <a:gd name="T4" fmla="*/ 18 w 851"/>
                  <a:gd name="T5" fmla="*/ 246 h 1131"/>
                  <a:gd name="T6" fmla="*/ 62 w 851"/>
                  <a:gd name="T7" fmla="*/ 80 h 1131"/>
                  <a:gd name="T8" fmla="*/ 141 w 851"/>
                  <a:gd name="T9" fmla="*/ 24 h 1131"/>
                  <a:gd name="T10" fmla="*/ 183 w 851"/>
                  <a:gd name="T11" fmla="*/ 25 h 1131"/>
                  <a:gd name="T12" fmla="*/ 204 w 851"/>
                  <a:gd name="T13" fmla="*/ 39 h 1131"/>
                  <a:gd name="T14" fmla="*/ 222 w 851"/>
                  <a:gd name="T15" fmla="*/ 54 h 1131"/>
                  <a:gd name="T16" fmla="*/ 320 w 851"/>
                  <a:gd name="T17" fmla="*/ 71 h 1131"/>
                  <a:gd name="T18" fmla="*/ 493 w 851"/>
                  <a:gd name="T19" fmla="*/ 68 h 1131"/>
                  <a:gd name="T20" fmla="*/ 580 w 851"/>
                  <a:gd name="T21" fmla="*/ 49 h 1131"/>
                  <a:gd name="T22" fmla="*/ 617 w 851"/>
                  <a:gd name="T23" fmla="*/ 18 h 1131"/>
                  <a:gd name="T24" fmla="*/ 626 w 851"/>
                  <a:gd name="T25" fmla="*/ 9 h 1131"/>
                  <a:gd name="T26" fmla="*/ 729 w 851"/>
                  <a:gd name="T27" fmla="*/ 24 h 1131"/>
                  <a:gd name="T28" fmla="*/ 791 w 851"/>
                  <a:gd name="T29" fmla="*/ 97 h 1131"/>
                  <a:gd name="T30" fmla="*/ 828 w 851"/>
                  <a:gd name="T31" fmla="*/ 195 h 1131"/>
                  <a:gd name="T32" fmla="*/ 848 w 851"/>
                  <a:gd name="T33" fmla="*/ 326 h 1131"/>
                  <a:gd name="T34" fmla="*/ 846 w 851"/>
                  <a:gd name="T35" fmla="*/ 596 h 1131"/>
                  <a:gd name="T36" fmla="*/ 824 w 851"/>
                  <a:gd name="T37" fmla="*/ 777 h 1131"/>
                  <a:gd name="T38" fmla="*/ 824 w 851"/>
                  <a:gd name="T39" fmla="*/ 783 h 1131"/>
                  <a:gd name="T40" fmla="*/ 795 w 851"/>
                  <a:gd name="T41" fmla="*/ 863 h 1131"/>
                  <a:gd name="T42" fmla="*/ 748 w 851"/>
                  <a:gd name="T43" fmla="*/ 956 h 1131"/>
                  <a:gd name="T44" fmla="*/ 653 w 851"/>
                  <a:gd name="T45" fmla="*/ 1098 h 1131"/>
                  <a:gd name="T46" fmla="*/ 646 w 851"/>
                  <a:gd name="T47" fmla="*/ 1105 h 1131"/>
                  <a:gd name="T48" fmla="*/ 615 w 851"/>
                  <a:gd name="T49" fmla="*/ 1096 h 1131"/>
                  <a:gd name="T50" fmla="*/ 592 w 851"/>
                  <a:gd name="T51" fmla="*/ 1014 h 1131"/>
                  <a:gd name="T52" fmla="*/ 574 w 851"/>
                  <a:gd name="T53" fmla="*/ 911 h 1131"/>
                  <a:gd name="T54" fmla="*/ 618 w 851"/>
                  <a:gd name="T55" fmla="*/ 874 h 1131"/>
                  <a:gd name="T56" fmla="*/ 656 w 851"/>
                  <a:gd name="T57" fmla="*/ 877 h 1131"/>
                  <a:gd name="T58" fmla="*/ 707 w 851"/>
                  <a:gd name="T59" fmla="*/ 833 h 1131"/>
                  <a:gd name="T60" fmla="*/ 723 w 851"/>
                  <a:gd name="T61" fmla="*/ 751 h 1131"/>
                  <a:gd name="T62" fmla="*/ 738 w 851"/>
                  <a:gd name="T63" fmla="*/ 607 h 1131"/>
                  <a:gd name="T64" fmla="*/ 733 w 851"/>
                  <a:gd name="T65" fmla="*/ 409 h 1131"/>
                  <a:gd name="T66" fmla="*/ 702 w 851"/>
                  <a:gd name="T67" fmla="*/ 253 h 1131"/>
                  <a:gd name="T68" fmla="*/ 656 w 851"/>
                  <a:gd name="T69" fmla="*/ 172 h 1131"/>
                  <a:gd name="T70" fmla="*/ 630 w 851"/>
                  <a:gd name="T71" fmla="*/ 162 h 1131"/>
                  <a:gd name="T72" fmla="*/ 463 w 851"/>
                  <a:gd name="T73" fmla="*/ 196 h 1131"/>
                  <a:gd name="T74" fmla="*/ 274 w 851"/>
                  <a:gd name="T75" fmla="*/ 215 h 1131"/>
                  <a:gd name="T76" fmla="*/ 205 w 851"/>
                  <a:gd name="T77" fmla="*/ 257 h 1131"/>
                  <a:gd name="T78" fmla="*/ 141 w 851"/>
                  <a:gd name="T79" fmla="*/ 458 h 1131"/>
                  <a:gd name="T80" fmla="*/ 111 w 851"/>
                  <a:gd name="T81" fmla="*/ 883 h 1131"/>
                  <a:gd name="T82" fmla="*/ 101 w 851"/>
                  <a:gd name="T83" fmla="*/ 1080 h 1131"/>
                  <a:gd name="T84" fmla="*/ 101 w 851"/>
                  <a:gd name="T85" fmla="*/ 1112 h 1131"/>
                  <a:gd name="T86" fmla="*/ 84 w 851"/>
                  <a:gd name="T87" fmla="*/ 1126 h 1131"/>
                  <a:gd name="T88" fmla="*/ 29 w 851"/>
                  <a:gd name="T89" fmla="*/ 1092 h 1131"/>
                  <a:gd name="T90" fmla="*/ 1 w 851"/>
                  <a:gd name="T91" fmla="*/ 1007 h 1131"/>
                  <a:gd name="T92" fmla="*/ 1 w 851"/>
                  <a:gd name="T93" fmla="*/ 718 h 1131"/>
                  <a:gd name="T94" fmla="*/ 6 w 851"/>
                  <a:gd name="T95" fmla="*/ 718 h 1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1" h="1131">
                    <a:moveTo>
                      <a:pt x="6" y="718"/>
                    </a:moveTo>
                    <a:cubicBezTo>
                      <a:pt x="6" y="620"/>
                      <a:pt x="5" y="521"/>
                      <a:pt x="7" y="423"/>
                    </a:cubicBezTo>
                    <a:cubicBezTo>
                      <a:pt x="8" y="364"/>
                      <a:pt x="11" y="305"/>
                      <a:pt x="18" y="246"/>
                    </a:cubicBezTo>
                    <a:cubicBezTo>
                      <a:pt x="25" y="189"/>
                      <a:pt x="34" y="131"/>
                      <a:pt x="62" y="80"/>
                    </a:cubicBezTo>
                    <a:cubicBezTo>
                      <a:pt x="79" y="51"/>
                      <a:pt x="105" y="27"/>
                      <a:pt x="141" y="24"/>
                    </a:cubicBezTo>
                    <a:cubicBezTo>
                      <a:pt x="155" y="22"/>
                      <a:pt x="170" y="22"/>
                      <a:pt x="183" y="25"/>
                    </a:cubicBezTo>
                    <a:cubicBezTo>
                      <a:pt x="191" y="26"/>
                      <a:pt x="197" y="34"/>
                      <a:pt x="204" y="39"/>
                    </a:cubicBezTo>
                    <a:cubicBezTo>
                      <a:pt x="210" y="44"/>
                      <a:pt x="215" y="52"/>
                      <a:pt x="222" y="54"/>
                    </a:cubicBezTo>
                    <a:cubicBezTo>
                      <a:pt x="253" y="67"/>
                      <a:pt x="287" y="71"/>
                      <a:pt x="320" y="71"/>
                    </a:cubicBezTo>
                    <a:cubicBezTo>
                      <a:pt x="378" y="71"/>
                      <a:pt x="435" y="71"/>
                      <a:pt x="493" y="68"/>
                    </a:cubicBezTo>
                    <a:cubicBezTo>
                      <a:pt x="522" y="66"/>
                      <a:pt x="551" y="57"/>
                      <a:pt x="580" y="49"/>
                    </a:cubicBezTo>
                    <a:cubicBezTo>
                      <a:pt x="597" y="45"/>
                      <a:pt x="609" y="34"/>
                      <a:pt x="617" y="18"/>
                    </a:cubicBezTo>
                    <a:cubicBezTo>
                      <a:pt x="619" y="14"/>
                      <a:pt x="623" y="9"/>
                      <a:pt x="626" y="9"/>
                    </a:cubicBezTo>
                    <a:cubicBezTo>
                      <a:pt x="661" y="8"/>
                      <a:pt x="697" y="0"/>
                      <a:pt x="729" y="24"/>
                    </a:cubicBezTo>
                    <a:cubicBezTo>
                      <a:pt x="755" y="43"/>
                      <a:pt x="775" y="69"/>
                      <a:pt x="791" y="97"/>
                    </a:cubicBezTo>
                    <a:cubicBezTo>
                      <a:pt x="809" y="128"/>
                      <a:pt x="821" y="161"/>
                      <a:pt x="828" y="195"/>
                    </a:cubicBezTo>
                    <a:cubicBezTo>
                      <a:pt x="837" y="238"/>
                      <a:pt x="847" y="282"/>
                      <a:pt x="848" y="326"/>
                    </a:cubicBezTo>
                    <a:cubicBezTo>
                      <a:pt x="851" y="416"/>
                      <a:pt x="850" y="506"/>
                      <a:pt x="846" y="596"/>
                    </a:cubicBezTo>
                    <a:cubicBezTo>
                      <a:pt x="843" y="656"/>
                      <a:pt x="832" y="717"/>
                      <a:pt x="824" y="777"/>
                    </a:cubicBezTo>
                    <a:cubicBezTo>
                      <a:pt x="824" y="779"/>
                      <a:pt x="824" y="781"/>
                      <a:pt x="824" y="783"/>
                    </a:cubicBezTo>
                    <a:cubicBezTo>
                      <a:pt x="825" y="813"/>
                      <a:pt x="809" y="837"/>
                      <a:pt x="795" y="863"/>
                    </a:cubicBezTo>
                    <a:cubicBezTo>
                      <a:pt x="778" y="893"/>
                      <a:pt x="764" y="925"/>
                      <a:pt x="748" y="956"/>
                    </a:cubicBezTo>
                    <a:cubicBezTo>
                      <a:pt x="721" y="1006"/>
                      <a:pt x="693" y="1056"/>
                      <a:pt x="653" y="1098"/>
                    </a:cubicBezTo>
                    <a:cubicBezTo>
                      <a:pt x="651" y="1100"/>
                      <a:pt x="649" y="1103"/>
                      <a:pt x="646" y="1105"/>
                    </a:cubicBezTo>
                    <a:cubicBezTo>
                      <a:pt x="628" y="1121"/>
                      <a:pt x="621" y="1118"/>
                      <a:pt x="615" y="1096"/>
                    </a:cubicBezTo>
                    <a:cubicBezTo>
                      <a:pt x="608" y="1068"/>
                      <a:pt x="598" y="1041"/>
                      <a:pt x="592" y="1014"/>
                    </a:cubicBezTo>
                    <a:cubicBezTo>
                      <a:pt x="584" y="980"/>
                      <a:pt x="571" y="947"/>
                      <a:pt x="574" y="911"/>
                    </a:cubicBezTo>
                    <a:cubicBezTo>
                      <a:pt x="575" y="884"/>
                      <a:pt x="590" y="870"/>
                      <a:pt x="618" y="874"/>
                    </a:cubicBezTo>
                    <a:cubicBezTo>
                      <a:pt x="631" y="875"/>
                      <a:pt x="643" y="877"/>
                      <a:pt x="656" y="877"/>
                    </a:cubicBezTo>
                    <a:cubicBezTo>
                      <a:pt x="687" y="878"/>
                      <a:pt x="702" y="864"/>
                      <a:pt x="707" y="833"/>
                    </a:cubicBezTo>
                    <a:cubicBezTo>
                      <a:pt x="711" y="806"/>
                      <a:pt x="720" y="779"/>
                      <a:pt x="723" y="751"/>
                    </a:cubicBezTo>
                    <a:cubicBezTo>
                      <a:pt x="730" y="703"/>
                      <a:pt x="737" y="655"/>
                      <a:pt x="738" y="607"/>
                    </a:cubicBezTo>
                    <a:cubicBezTo>
                      <a:pt x="740" y="541"/>
                      <a:pt x="740" y="475"/>
                      <a:pt x="733" y="409"/>
                    </a:cubicBezTo>
                    <a:cubicBezTo>
                      <a:pt x="728" y="356"/>
                      <a:pt x="715" y="304"/>
                      <a:pt x="702" y="253"/>
                    </a:cubicBezTo>
                    <a:cubicBezTo>
                      <a:pt x="694" y="223"/>
                      <a:pt x="679" y="194"/>
                      <a:pt x="656" y="172"/>
                    </a:cubicBezTo>
                    <a:cubicBezTo>
                      <a:pt x="650" y="166"/>
                      <a:pt x="638" y="161"/>
                      <a:pt x="630" y="162"/>
                    </a:cubicBezTo>
                    <a:cubicBezTo>
                      <a:pt x="574" y="172"/>
                      <a:pt x="519" y="185"/>
                      <a:pt x="463" y="196"/>
                    </a:cubicBezTo>
                    <a:cubicBezTo>
                      <a:pt x="401" y="208"/>
                      <a:pt x="338" y="222"/>
                      <a:pt x="274" y="215"/>
                    </a:cubicBezTo>
                    <a:cubicBezTo>
                      <a:pt x="239" y="211"/>
                      <a:pt x="220" y="231"/>
                      <a:pt x="205" y="257"/>
                    </a:cubicBezTo>
                    <a:cubicBezTo>
                      <a:pt x="167" y="318"/>
                      <a:pt x="153" y="388"/>
                      <a:pt x="141" y="458"/>
                    </a:cubicBezTo>
                    <a:cubicBezTo>
                      <a:pt x="119" y="599"/>
                      <a:pt x="115" y="741"/>
                      <a:pt x="111" y="883"/>
                    </a:cubicBezTo>
                    <a:cubicBezTo>
                      <a:pt x="109" y="948"/>
                      <a:pt x="105" y="1014"/>
                      <a:pt x="101" y="1080"/>
                    </a:cubicBezTo>
                    <a:cubicBezTo>
                      <a:pt x="101" y="1091"/>
                      <a:pt x="101" y="1101"/>
                      <a:pt x="101" y="1112"/>
                    </a:cubicBezTo>
                    <a:cubicBezTo>
                      <a:pt x="101" y="1123"/>
                      <a:pt x="95" y="1131"/>
                      <a:pt x="84" y="1126"/>
                    </a:cubicBezTo>
                    <a:cubicBezTo>
                      <a:pt x="65" y="1116"/>
                      <a:pt x="46" y="1106"/>
                      <a:pt x="29" y="1092"/>
                    </a:cubicBezTo>
                    <a:cubicBezTo>
                      <a:pt x="2" y="1071"/>
                      <a:pt x="0" y="1041"/>
                      <a:pt x="1" y="1007"/>
                    </a:cubicBezTo>
                    <a:cubicBezTo>
                      <a:pt x="3" y="911"/>
                      <a:pt x="1" y="815"/>
                      <a:pt x="1" y="718"/>
                    </a:cubicBezTo>
                    <a:cubicBezTo>
                      <a:pt x="3" y="718"/>
                      <a:pt x="5" y="718"/>
                      <a:pt x="6" y="7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2" name="Freeform 329"/>
              <p:cNvSpPr/>
              <p:nvPr/>
            </p:nvSpPr>
            <p:spPr bwMode="auto">
              <a:xfrm>
                <a:off x="28744863" y="723900"/>
                <a:ext cx="3021013" cy="2482850"/>
              </a:xfrm>
              <a:custGeom>
                <a:avLst/>
                <a:gdLst>
                  <a:gd name="T0" fmla="*/ 178 w 957"/>
                  <a:gd name="T1" fmla="*/ 115 h 786"/>
                  <a:gd name="T2" fmla="*/ 221 w 957"/>
                  <a:gd name="T3" fmla="*/ 52 h 786"/>
                  <a:gd name="T4" fmla="*/ 250 w 957"/>
                  <a:gd name="T5" fmla="*/ 156 h 786"/>
                  <a:gd name="T6" fmla="*/ 222 w 957"/>
                  <a:gd name="T7" fmla="*/ 478 h 786"/>
                  <a:gd name="T8" fmla="*/ 439 w 957"/>
                  <a:gd name="T9" fmla="*/ 498 h 786"/>
                  <a:gd name="T10" fmla="*/ 614 w 957"/>
                  <a:gd name="T11" fmla="*/ 305 h 786"/>
                  <a:gd name="T12" fmla="*/ 703 w 957"/>
                  <a:gd name="T13" fmla="*/ 159 h 786"/>
                  <a:gd name="T14" fmla="*/ 678 w 957"/>
                  <a:gd name="T15" fmla="*/ 126 h 786"/>
                  <a:gd name="T16" fmla="*/ 590 w 957"/>
                  <a:gd name="T17" fmla="*/ 146 h 786"/>
                  <a:gd name="T18" fmla="*/ 555 w 957"/>
                  <a:gd name="T19" fmla="*/ 224 h 786"/>
                  <a:gd name="T20" fmla="*/ 449 w 957"/>
                  <a:gd name="T21" fmla="*/ 415 h 786"/>
                  <a:gd name="T22" fmla="*/ 407 w 957"/>
                  <a:gd name="T23" fmla="*/ 414 h 786"/>
                  <a:gd name="T24" fmla="*/ 441 w 957"/>
                  <a:gd name="T25" fmla="*/ 254 h 786"/>
                  <a:gd name="T26" fmla="*/ 438 w 957"/>
                  <a:gd name="T27" fmla="*/ 175 h 786"/>
                  <a:gd name="T28" fmla="*/ 355 w 957"/>
                  <a:gd name="T29" fmla="*/ 330 h 786"/>
                  <a:gd name="T30" fmla="*/ 333 w 957"/>
                  <a:gd name="T31" fmla="*/ 414 h 786"/>
                  <a:gd name="T32" fmla="*/ 289 w 957"/>
                  <a:gd name="T33" fmla="*/ 321 h 786"/>
                  <a:gd name="T34" fmla="*/ 295 w 957"/>
                  <a:gd name="T35" fmla="*/ 186 h 786"/>
                  <a:gd name="T36" fmla="*/ 293 w 957"/>
                  <a:gd name="T37" fmla="*/ 158 h 786"/>
                  <a:gd name="T38" fmla="*/ 324 w 957"/>
                  <a:gd name="T39" fmla="*/ 91 h 786"/>
                  <a:gd name="T40" fmla="*/ 399 w 957"/>
                  <a:gd name="T41" fmla="*/ 72 h 786"/>
                  <a:gd name="T42" fmla="*/ 420 w 957"/>
                  <a:gd name="T43" fmla="*/ 118 h 786"/>
                  <a:gd name="T44" fmla="*/ 472 w 957"/>
                  <a:gd name="T45" fmla="*/ 87 h 786"/>
                  <a:gd name="T46" fmla="*/ 528 w 957"/>
                  <a:gd name="T47" fmla="*/ 74 h 786"/>
                  <a:gd name="T48" fmla="*/ 545 w 957"/>
                  <a:gd name="T49" fmla="*/ 118 h 786"/>
                  <a:gd name="T50" fmla="*/ 682 w 957"/>
                  <a:gd name="T51" fmla="*/ 23 h 786"/>
                  <a:gd name="T52" fmla="*/ 799 w 957"/>
                  <a:gd name="T53" fmla="*/ 41 h 786"/>
                  <a:gd name="T54" fmla="*/ 711 w 957"/>
                  <a:gd name="T55" fmla="*/ 289 h 786"/>
                  <a:gd name="T56" fmla="*/ 557 w 957"/>
                  <a:gd name="T57" fmla="*/ 452 h 786"/>
                  <a:gd name="T58" fmla="*/ 626 w 957"/>
                  <a:gd name="T59" fmla="*/ 476 h 786"/>
                  <a:gd name="T60" fmla="*/ 893 w 957"/>
                  <a:gd name="T61" fmla="*/ 449 h 786"/>
                  <a:gd name="T62" fmla="*/ 949 w 957"/>
                  <a:gd name="T63" fmla="*/ 482 h 786"/>
                  <a:gd name="T64" fmla="*/ 880 w 957"/>
                  <a:gd name="T65" fmla="*/ 592 h 786"/>
                  <a:gd name="T66" fmla="*/ 749 w 957"/>
                  <a:gd name="T67" fmla="*/ 615 h 786"/>
                  <a:gd name="T68" fmla="*/ 738 w 957"/>
                  <a:gd name="T69" fmla="*/ 543 h 786"/>
                  <a:gd name="T70" fmla="*/ 549 w 957"/>
                  <a:gd name="T71" fmla="*/ 561 h 786"/>
                  <a:gd name="T72" fmla="*/ 359 w 957"/>
                  <a:gd name="T73" fmla="*/ 578 h 786"/>
                  <a:gd name="T74" fmla="*/ 123 w 957"/>
                  <a:gd name="T75" fmla="*/ 627 h 786"/>
                  <a:gd name="T76" fmla="*/ 33 w 957"/>
                  <a:gd name="T77" fmla="*/ 777 h 786"/>
                  <a:gd name="T78" fmla="*/ 0 w 957"/>
                  <a:gd name="T79" fmla="*/ 745 h 786"/>
                  <a:gd name="T80" fmla="*/ 5 w 957"/>
                  <a:gd name="T81" fmla="*/ 600 h 786"/>
                  <a:gd name="T82" fmla="*/ 16 w 957"/>
                  <a:gd name="T83" fmla="*/ 444 h 786"/>
                  <a:gd name="T84" fmla="*/ 124 w 957"/>
                  <a:gd name="T85" fmla="*/ 457 h 786"/>
                  <a:gd name="T86" fmla="*/ 177 w 957"/>
                  <a:gd name="T87" fmla="*/ 306 h 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57" h="786">
                    <a:moveTo>
                      <a:pt x="170" y="306"/>
                    </a:moveTo>
                    <a:cubicBezTo>
                      <a:pt x="172" y="242"/>
                      <a:pt x="173" y="178"/>
                      <a:pt x="178" y="115"/>
                    </a:cubicBezTo>
                    <a:cubicBezTo>
                      <a:pt x="179" y="97"/>
                      <a:pt x="186" y="80"/>
                      <a:pt x="195" y="64"/>
                    </a:cubicBezTo>
                    <a:cubicBezTo>
                      <a:pt x="199" y="57"/>
                      <a:pt x="212" y="52"/>
                      <a:pt x="221" y="52"/>
                    </a:cubicBezTo>
                    <a:cubicBezTo>
                      <a:pt x="234" y="53"/>
                      <a:pt x="244" y="63"/>
                      <a:pt x="245" y="76"/>
                    </a:cubicBezTo>
                    <a:cubicBezTo>
                      <a:pt x="248" y="102"/>
                      <a:pt x="252" y="130"/>
                      <a:pt x="250" y="156"/>
                    </a:cubicBezTo>
                    <a:cubicBezTo>
                      <a:pt x="245" y="232"/>
                      <a:pt x="237" y="308"/>
                      <a:pt x="230" y="385"/>
                    </a:cubicBezTo>
                    <a:cubicBezTo>
                      <a:pt x="227" y="416"/>
                      <a:pt x="225" y="447"/>
                      <a:pt x="222" y="478"/>
                    </a:cubicBezTo>
                    <a:cubicBezTo>
                      <a:pt x="221" y="493"/>
                      <a:pt x="228" y="501"/>
                      <a:pt x="241" y="504"/>
                    </a:cubicBezTo>
                    <a:cubicBezTo>
                      <a:pt x="308" y="519"/>
                      <a:pt x="374" y="523"/>
                      <a:pt x="439" y="498"/>
                    </a:cubicBezTo>
                    <a:cubicBezTo>
                      <a:pt x="485" y="479"/>
                      <a:pt x="522" y="447"/>
                      <a:pt x="548" y="404"/>
                    </a:cubicBezTo>
                    <a:cubicBezTo>
                      <a:pt x="569" y="371"/>
                      <a:pt x="592" y="338"/>
                      <a:pt x="614" y="305"/>
                    </a:cubicBezTo>
                    <a:cubicBezTo>
                      <a:pt x="636" y="271"/>
                      <a:pt x="659" y="236"/>
                      <a:pt x="680" y="202"/>
                    </a:cubicBezTo>
                    <a:cubicBezTo>
                      <a:pt x="689" y="188"/>
                      <a:pt x="698" y="174"/>
                      <a:pt x="703" y="159"/>
                    </a:cubicBezTo>
                    <a:cubicBezTo>
                      <a:pt x="707" y="150"/>
                      <a:pt x="707" y="137"/>
                      <a:pt x="703" y="130"/>
                    </a:cubicBezTo>
                    <a:cubicBezTo>
                      <a:pt x="701" y="125"/>
                      <a:pt x="687" y="125"/>
                      <a:pt x="678" y="126"/>
                    </a:cubicBezTo>
                    <a:cubicBezTo>
                      <a:pt x="665" y="126"/>
                      <a:pt x="652" y="126"/>
                      <a:pt x="640" y="129"/>
                    </a:cubicBezTo>
                    <a:cubicBezTo>
                      <a:pt x="623" y="133"/>
                      <a:pt x="606" y="139"/>
                      <a:pt x="590" y="146"/>
                    </a:cubicBezTo>
                    <a:cubicBezTo>
                      <a:pt x="571" y="155"/>
                      <a:pt x="564" y="175"/>
                      <a:pt x="559" y="194"/>
                    </a:cubicBezTo>
                    <a:cubicBezTo>
                      <a:pt x="556" y="204"/>
                      <a:pt x="555" y="214"/>
                      <a:pt x="555" y="224"/>
                    </a:cubicBezTo>
                    <a:cubicBezTo>
                      <a:pt x="557" y="264"/>
                      <a:pt x="536" y="295"/>
                      <a:pt x="518" y="327"/>
                    </a:cubicBezTo>
                    <a:cubicBezTo>
                      <a:pt x="500" y="361"/>
                      <a:pt x="476" y="389"/>
                      <a:pt x="449" y="415"/>
                    </a:cubicBezTo>
                    <a:cubicBezTo>
                      <a:pt x="445" y="420"/>
                      <a:pt x="440" y="424"/>
                      <a:pt x="434" y="428"/>
                    </a:cubicBezTo>
                    <a:cubicBezTo>
                      <a:pt x="418" y="438"/>
                      <a:pt x="406" y="433"/>
                      <a:pt x="407" y="414"/>
                    </a:cubicBezTo>
                    <a:cubicBezTo>
                      <a:pt x="408" y="385"/>
                      <a:pt x="412" y="356"/>
                      <a:pt x="418" y="328"/>
                    </a:cubicBezTo>
                    <a:cubicBezTo>
                      <a:pt x="424" y="303"/>
                      <a:pt x="433" y="278"/>
                      <a:pt x="441" y="254"/>
                    </a:cubicBezTo>
                    <a:cubicBezTo>
                      <a:pt x="444" y="244"/>
                      <a:pt x="447" y="235"/>
                      <a:pt x="452" y="226"/>
                    </a:cubicBezTo>
                    <a:cubicBezTo>
                      <a:pt x="460" y="209"/>
                      <a:pt x="455" y="186"/>
                      <a:pt x="438" y="175"/>
                    </a:cubicBezTo>
                    <a:cubicBezTo>
                      <a:pt x="431" y="170"/>
                      <a:pt x="418" y="176"/>
                      <a:pt x="412" y="185"/>
                    </a:cubicBezTo>
                    <a:cubicBezTo>
                      <a:pt x="382" y="229"/>
                      <a:pt x="369" y="280"/>
                      <a:pt x="355" y="330"/>
                    </a:cubicBezTo>
                    <a:cubicBezTo>
                      <a:pt x="351" y="345"/>
                      <a:pt x="351" y="362"/>
                      <a:pt x="352" y="378"/>
                    </a:cubicBezTo>
                    <a:cubicBezTo>
                      <a:pt x="352" y="393"/>
                      <a:pt x="344" y="404"/>
                      <a:pt x="333" y="414"/>
                    </a:cubicBezTo>
                    <a:cubicBezTo>
                      <a:pt x="326" y="421"/>
                      <a:pt x="317" y="421"/>
                      <a:pt x="310" y="413"/>
                    </a:cubicBezTo>
                    <a:cubicBezTo>
                      <a:pt x="289" y="385"/>
                      <a:pt x="276" y="356"/>
                      <a:pt x="289" y="321"/>
                    </a:cubicBezTo>
                    <a:cubicBezTo>
                      <a:pt x="301" y="288"/>
                      <a:pt x="313" y="256"/>
                      <a:pt x="321" y="222"/>
                    </a:cubicBezTo>
                    <a:cubicBezTo>
                      <a:pt x="329" y="194"/>
                      <a:pt x="323" y="188"/>
                      <a:pt x="295" y="186"/>
                    </a:cubicBezTo>
                    <a:cubicBezTo>
                      <a:pt x="286" y="185"/>
                      <a:pt x="280" y="182"/>
                      <a:pt x="279" y="173"/>
                    </a:cubicBezTo>
                    <a:cubicBezTo>
                      <a:pt x="279" y="163"/>
                      <a:pt x="284" y="159"/>
                      <a:pt x="293" y="158"/>
                    </a:cubicBezTo>
                    <a:cubicBezTo>
                      <a:pt x="307" y="158"/>
                      <a:pt x="311" y="149"/>
                      <a:pt x="314" y="137"/>
                    </a:cubicBezTo>
                    <a:cubicBezTo>
                      <a:pt x="316" y="122"/>
                      <a:pt x="319" y="106"/>
                      <a:pt x="324" y="91"/>
                    </a:cubicBezTo>
                    <a:cubicBezTo>
                      <a:pt x="333" y="61"/>
                      <a:pt x="358" y="48"/>
                      <a:pt x="387" y="57"/>
                    </a:cubicBezTo>
                    <a:cubicBezTo>
                      <a:pt x="392" y="59"/>
                      <a:pt x="397" y="66"/>
                      <a:pt x="399" y="72"/>
                    </a:cubicBezTo>
                    <a:cubicBezTo>
                      <a:pt x="401" y="81"/>
                      <a:pt x="401" y="91"/>
                      <a:pt x="402" y="101"/>
                    </a:cubicBezTo>
                    <a:cubicBezTo>
                      <a:pt x="402" y="114"/>
                      <a:pt x="409" y="118"/>
                      <a:pt x="420" y="118"/>
                    </a:cubicBezTo>
                    <a:cubicBezTo>
                      <a:pt x="424" y="118"/>
                      <a:pt x="429" y="118"/>
                      <a:pt x="433" y="118"/>
                    </a:cubicBezTo>
                    <a:cubicBezTo>
                      <a:pt x="464" y="117"/>
                      <a:pt x="464" y="117"/>
                      <a:pt x="472" y="87"/>
                    </a:cubicBezTo>
                    <a:cubicBezTo>
                      <a:pt x="477" y="68"/>
                      <a:pt x="501" y="54"/>
                      <a:pt x="519" y="60"/>
                    </a:cubicBezTo>
                    <a:cubicBezTo>
                      <a:pt x="523" y="62"/>
                      <a:pt x="527" y="69"/>
                      <a:pt x="528" y="74"/>
                    </a:cubicBezTo>
                    <a:cubicBezTo>
                      <a:pt x="529" y="83"/>
                      <a:pt x="528" y="92"/>
                      <a:pt x="527" y="101"/>
                    </a:cubicBezTo>
                    <a:cubicBezTo>
                      <a:pt x="527" y="113"/>
                      <a:pt x="532" y="118"/>
                      <a:pt x="545" y="118"/>
                    </a:cubicBezTo>
                    <a:cubicBezTo>
                      <a:pt x="576" y="117"/>
                      <a:pt x="598" y="99"/>
                      <a:pt x="620" y="81"/>
                    </a:cubicBezTo>
                    <a:cubicBezTo>
                      <a:pt x="641" y="62"/>
                      <a:pt x="660" y="40"/>
                      <a:pt x="682" y="23"/>
                    </a:cubicBezTo>
                    <a:cubicBezTo>
                      <a:pt x="710" y="0"/>
                      <a:pt x="753" y="0"/>
                      <a:pt x="783" y="20"/>
                    </a:cubicBezTo>
                    <a:cubicBezTo>
                      <a:pt x="790" y="25"/>
                      <a:pt x="795" y="34"/>
                      <a:pt x="799" y="41"/>
                    </a:cubicBezTo>
                    <a:cubicBezTo>
                      <a:pt x="816" y="71"/>
                      <a:pt x="823" y="101"/>
                      <a:pt x="814" y="136"/>
                    </a:cubicBezTo>
                    <a:cubicBezTo>
                      <a:pt x="797" y="200"/>
                      <a:pt x="755" y="245"/>
                      <a:pt x="711" y="289"/>
                    </a:cubicBezTo>
                    <a:cubicBezTo>
                      <a:pt x="669" y="330"/>
                      <a:pt x="626" y="370"/>
                      <a:pt x="585" y="412"/>
                    </a:cubicBezTo>
                    <a:cubicBezTo>
                      <a:pt x="574" y="423"/>
                      <a:pt x="564" y="437"/>
                      <a:pt x="557" y="452"/>
                    </a:cubicBezTo>
                    <a:cubicBezTo>
                      <a:pt x="551" y="463"/>
                      <a:pt x="557" y="473"/>
                      <a:pt x="570" y="474"/>
                    </a:cubicBezTo>
                    <a:cubicBezTo>
                      <a:pt x="589" y="476"/>
                      <a:pt x="608" y="477"/>
                      <a:pt x="626" y="476"/>
                    </a:cubicBezTo>
                    <a:cubicBezTo>
                      <a:pt x="657" y="474"/>
                      <a:pt x="688" y="470"/>
                      <a:pt x="719" y="467"/>
                    </a:cubicBezTo>
                    <a:cubicBezTo>
                      <a:pt x="777" y="461"/>
                      <a:pt x="835" y="454"/>
                      <a:pt x="893" y="449"/>
                    </a:cubicBezTo>
                    <a:cubicBezTo>
                      <a:pt x="909" y="448"/>
                      <a:pt x="925" y="449"/>
                      <a:pt x="941" y="450"/>
                    </a:cubicBezTo>
                    <a:cubicBezTo>
                      <a:pt x="954" y="452"/>
                      <a:pt x="957" y="465"/>
                      <a:pt x="949" y="482"/>
                    </a:cubicBezTo>
                    <a:cubicBezTo>
                      <a:pt x="941" y="499"/>
                      <a:pt x="934" y="517"/>
                      <a:pt x="924" y="533"/>
                    </a:cubicBezTo>
                    <a:cubicBezTo>
                      <a:pt x="911" y="553"/>
                      <a:pt x="898" y="576"/>
                      <a:pt x="880" y="592"/>
                    </a:cubicBezTo>
                    <a:cubicBezTo>
                      <a:pt x="848" y="623"/>
                      <a:pt x="805" y="629"/>
                      <a:pt x="762" y="631"/>
                    </a:cubicBezTo>
                    <a:cubicBezTo>
                      <a:pt x="752" y="631"/>
                      <a:pt x="747" y="624"/>
                      <a:pt x="749" y="615"/>
                    </a:cubicBezTo>
                    <a:cubicBezTo>
                      <a:pt x="751" y="604"/>
                      <a:pt x="753" y="593"/>
                      <a:pt x="758" y="584"/>
                    </a:cubicBezTo>
                    <a:cubicBezTo>
                      <a:pt x="770" y="562"/>
                      <a:pt x="763" y="544"/>
                      <a:pt x="738" y="543"/>
                    </a:cubicBezTo>
                    <a:cubicBezTo>
                      <a:pt x="697" y="542"/>
                      <a:pt x="657" y="541"/>
                      <a:pt x="617" y="544"/>
                    </a:cubicBezTo>
                    <a:cubicBezTo>
                      <a:pt x="594" y="546"/>
                      <a:pt x="572" y="557"/>
                      <a:pt x="549" y="561"/>
                    </a:cubicBezTo>
                    <a:cubicBezTo>
                      <a:pt x="508" y="566"/>
                      <a:pt x="467" y="569"/>
                      <a:pt x="426" y="573"/>
                    </a:cubicBezTo>
                    <a:cubicBezTo>
                      <a:pt x="404" y="575"/>
                      <a:pt x="381" y="577"/>
                      <a:pt x="359" y="578"/>
                    </a:cubicBezTo>
                    <a:cubicBezTo>
                      <a:pt x="311" y="581"/>
                      <a:pt x="262" y="581"/>
                      <a:pt x="214" y="586"/>
                    </a:cubicBezTo>
                    <a:cubicBezTo>
                      <a:pt x="179" y="589"/>
                      <a:pt x="144" y="597"/>
                      <a:pt x="123" y="627"/>
                    </a:cubicBezTo>
                    <a:cubicBezTo>
                      <a:pt x="111" y="642"/>
                      <a:pt x="109" y="664"/>
                      <a:pt x="101" y="682"/>
                    </a:cubicBezTo>
                    <a:cubicBezTo>
                      <a:pt x="85" y="719"/>
                      <a:pt x="67" y="754"/>
                      <a:pt x="33" y="777"/>
                    </a:cubicBezTo>
                    <a:cubicBezTo>
                      <a:pt x="20" y="786"/>
                      <a:pt x="11" y="785"/>
                      <a:pt x="5" y="770"/>
                    </a:cubicBezTo>
                    <a:cubicBezTo>
                      <a:pt x="1" y="763"/>
                      <a:pt x="0" y="754"/>
                      <a:pt x="0" y="745"/>
                    </a:cubicBezTo>
                    <a:cubicBezTo>
                      <a:pt x="2" y="717"/>
                      <a:pt x="4" y="688"/>
                      <a:pt x="5" y="659"/>
                    </a:cubicBezTo>
                    <a:cubicBezTo>
                      <a:pt x="6" y="639"/>
                      <a:pt x="5" y="620"/>
                      <a:pt x="5" y="600"/>
                    </a:cubicBezTo>
                    <a:cubicBezTo>
                      <a:pt x="5" y="561"/>
                      <a:pt x="3" y="521"/>
                      <a:pt x="4" y="482"/>
                    </a:cubicBezTo>
                    <a:cubicBezTo>
                      <a:pt x="5" y="469"/>
                      <a:pt x="10" y="456"/>
                      <a:pt x="16" y="444"/>
                    </a:cubicBezTo>
                    <a:cubicBezTo>
                      <a:pt x="22" y="432"/>
                      <a:pt x="42" y="429"/>
                      <a:pt x="56" y="435"/>
                    </a:cubicBezTo>
                    <a:cubicBezTo>
                      <a:pt x="79" y="443"/>
                      <a:pt x="101" y="452"/>
                      <a:pt x="124" y="457"/>
                    </a:cubicBezTo>
                    <a:cubicBezTo>
                      <a:pt x="153" y="463"/>
                      <a:pt x="162" y="456"/>
                      <a:pt x="165" y="427"/>
                    </a:cubicBezTo>
                    <a:cubicBezTo>
                      <a:pt x="170" y="387"/>
                      <a:pt x="173" y="347"/>
                      <a:pt x="177" y="306"/>
                    </a:cubicBezTo>
                    <a:cubicBezTo>
                      <a:pt x="175" y="306"/>
                      <a:pt x="172" y="306"/>
                      <a:pt x="170" y="3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3" name="Freeform 330"/>
              <p:cNvSpPr/>
              <p:nvPr/>
            </p:nvSpPr>
            <p:spPr bwMode="auto">
              <a:xfrm>
                <a:off x="24461788" y="1122363"/>
                <a:ext cx="2281238" cy="3598863"/>
              </a:xfrm>
              <a:custGeom>
                <a:avLst/>
                <a:gdLst>
                  <a:gd name="T0" fmla="*/ 559 w 723"/>
                  <a:gd name="T1" fmla="*/ 617 h 1139"/>
                  <a:gd name="T2" fmla="*/ 471 w 723"/>
                  <a:gd name="T3" fmla="*/ 617 h 1139"/>
                  <a:gd name="T4" fmla="*/ 431 w 723"/>
                  <a:gd name="T5" fmla="*/ 653 h 1139"/>
                  <a:gd name="T6" fmla="*/ 403 w 723"/>
                  <a:gd name="T7" fmla="*/ 787 h 1139"/>
                  <a:gd name="T8" fmla="*/ 336 w 723"/>
                  <a:gd name="T9" fmla="*/ 911 h 1139"/>
                  <a:gd name="T10" fmla="*/ 265 w 723"/>
                  <a:gd name="T11" fmla="*/ 1011 h 1139"/>
                  <a:gd name="T12" fmla="*/ 167 w 723"/>
                  <a:gd name="T13" fmla="*/ 1129 h 1139"/>
                  <a:gd name="T14" fmla="*/ 132 w 723"/>
                  <a:gd name="T15" fmla="*/ 1130 h 1139"/>
                  <a:gd name="T16" fmla="*/ 114 w 723"/>
                  <a:gd name="T17" fmla="*/ 1060 h 1139"/>
                  <a:gd name="T18" fmla="*/ 154 w 723"/>
                  <a:gd name="T19" fmla="*/ 962 h 1139"/>
                  <a:gd name="T20" fmla="*/ 220 w 723"/>
                  <a:gd name="T21" fmla="*/ 823 h 1139"/>
                  <a:gd name="T22" fmla="*/ 293 w 723"/>
                  <a:gd name="T23" fmla="*/ 668 h 1139"/>
                  <a:gd name="T24" fmla="*/ 270 w 723"/>
                  <a:gd name="T25" fmla="*/ 633 h 1139"/>
                  <a:gd name="T26" fmla="*/ 223 w 723"/>
                  <a:gd name="T27" fmla="*/ 644 h 1139"/>
                  <a:gd name="T28" fmla="*/ 145 w 723"/>
                  <a:gd name="T29" fmla="*/ 687 h 1139"/>
                  <a:gd name="T30" fmla="*/ 130 w 723"/>
                  <a:gd name="T31" fmla="*/ 693 h 1139"/>
                  <a:gd name="T32" fmla="*/ 33 w 723"/>
                  <a:gd name="T33" fmla="*/ 703 h 1139"/>
                  <a:gd name="T34" fmla="*/ 1 w 723"/>
                  <a:gd name="T35" fmla="*/ 669 h 1139"/>
                  <a:gd name="T36" fmla="*/ 31 w 723"/>
                  <a:gd name="T37" fmla="*/ 597 h 1139"/>
                  <a:gd name="T38" fmla="*/ 75 w 723"/>
                  <a:gd name="T39" fmla="*/ 546 h 1139"/>
                  <a:gd name="T40" fmla="*/ 174 w 723"/>
                  <a:gd name="T41" fmla="*/ 507 h 1139"/>
                  <a:gd name="T42" fmla="*/ 270 w 723"/>
                  <a:gd name="T43" fmla="*/ 507 h 1139"/>
                  <a:gd name="T44" fmla="*/ 330 w 723"/>
                  <a:gd name="T45" fmla="*/ 455 h 1139"/>
                  <a:gd name="T46" fmla="*/ 345 w 723"/>
                  <a:gd name="T47" fmla="*/ 318 h 1139"/>
                  <a:gd name="T48" fmla="*/ 363 w 723"/>
                  <a:gd name="T49" fmla="*/ 255 h 1139"/>
                  <a:gd name="T50" fmla="*/ 402 w 723"/>
                  <a:gd name="T51" fmla="*/ 165 h 1139"/>
                  <a:gd name="T52" fmla="*/ 452 w 723"/>
                  <a:gd name="T53" fmla="*/ 79 h 1139"/>
                  <a:gd name="T54" fmla="*/ 477 w 723"/>
                  <a:gd name="T55" fmla="*/ 39 h 1139"/>
                  <a:gd name="T56" fmla="*/ 542 w 723"/>
                  <a:gd name="T57" fmla="*/ 6 h 1139"/>
                  <a:gd name="T58" fmla="*/ 565 w 723"/>
                  <a:gd name="T59" fmla="*/ 29 h 1139"/>
                  <a:gd name="T60" fmla="*/ 567 w 723"/>
                  <a:gd name="T61" fmla="*/ 60 h 1139"/>
                  <a:gd name="T62" fmla="*/ 534 w 723"/>
                  <a:gd name="T63" fmla="*/ 194 h 1139"/>
                  <a:gd name="T64" fmla="*/ 501 w 723"/>
                  <a:gd name="T65" fmla="*/ 299 h 1139"/>
                  <a:gd name="T66" fmla="*/ 464 w 723"/>
                  <a:gd name="T67" fmla="*/ 418 h 1139"/>
                  <a:gd name="T68" fmla="*/ 459 w 723"/>
                  <a:gd name="T69" fmla="*/ 501 h 1139"/>
                  <a:gd name="T70" fmla="*/ 485 w 723"/>
                  <a:gd name="T71" fmla="*/ 521 h 1139"/>
                  <a:gd name="T72" fmla="*/ 597 w 723"/>
                  <a:gd name="T73" fmla="*/ 517 h 1139"/>
                  <a:gd name="T74" fmla="*/ 649 w 723"/>
                  <a:gd name="T75" fmla="*/ 484 h 1139"/>
                  <a:gd name="T76" fmla="*/ 692 w 723"/>
                  <a:gd name="T77" fmla="*/ 462 h 1139"/>
                  <a:gd name="T78" fmla="*/ 721 w 723"/>
                  <a:gd name="T79" fmla="*/ 490 h 1139"/>
                  <a:gd name="T80" fmla="*/ 715 w 723"/>
                  <a:gd name="T81" fmla="*/ 523 h 1139"/>
                  <a:gd name="T82" fmla="*/ 699 w 723"/>
                  <a:gd name="T83" fmla="*/ 590 h 1139"/>
                  <a:gd name="T84" fmla="*/ 655 w 723"/>
                  <a:gd name="T85" fmla="*/ 617 h 1139"/>
                  <a:gd name="T86" fmla="*/ 559 w 723"/>
                  <a:gd name="T87" fmla="*/ 618 h 1139"/>
                  <a:gd name="T88" fmla="*/ 559 w 723"/>
                  <a:gd name="T89" fmla="*/ 61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23" h="1139">
                    <a:moveTo>
                      <a:pt x="559" y="617"/>
                    </a:moveTo>
                    <a:cubicBezTo>
                      <a:pt x="530" y="617"/>
                      <a:pt x="500" y="617"/>
                      <a:pt x="471" y="617"/>
                    </a:cubicBezTo>
                    <a:cubicBezTo>
                      <a:pt x="445" y="617"/>
                      <a:pt x="432" y="627"/>
                      <a:pt x="431" y="653"/>
                    </a:cubicBezTo>
                    <a:cubicBezTo>
                      <a:pt x="430" y="700"/>
                      <a:pt x="413" y="742"/>
                      <a:pt x="403" y="787"/>
                    </a:cubicBezTo>
                    <a:cubicBezTo>
                      <a:pt x="393" y="836"/>
                      <a:pt x="364" y="873"/>
                      <a:pt x="336" y="911"/>
                    </a:cubicBezTo>
                    <a:cubicBezTo>
                      <a:pt x="312" y="944"/>
                      <a:pt x="289" y="978"/>
                      <a:pt x="265" y="1011"/>
                    </a:cubicBezTo>
                    <a:cubicBezTo>
                      <a:pt x="235" y="1052"/>
                      <a:pt x="206" y="1095"/>
                      <a:pt x="167" y="1129"/>
                    </a:cubicBezTo>
                    <a:cubicBezTo>
                      <a:pt x="155" y="1139"/>
                      <a:pt x="144" y="1139"/>
                      <a:pt x="132" y="1130"/>
                    </a:cubicBezTo>
                    <a:cubicBezTo>
                      <a:pt x="109" y="1112"/>
                      <a:pt x="102" y="1089"/>
                      <a:pt x="114" y="1060"/>
                    </a:cubicBezTo>
                    <a:cubicBezTo>
                      <a:pt x="127" y="1027"/>
                      <a:pt x="140" y="994"/>
                      <a:pt x="154" y="962"/>
                    </a:cubicBezTo>
                    <a:cubicBezTo>
                      <a:pt x="175" y="915"/>
                      <a:pt x="198" y="869"/>
                      <a:pt x="220" y="823"/>
                    </a:cubicBezTo>
                    <a:cubicBezTo>
                      <a:pt x="244" y="771"/>
                      <a:pt x="269" y="720"/>
                      <a:pt x="293" y="668"/>
                    </a:cubicBezTo>
                    <a:cubicBezTo>
                      <a:pt x="304" y="643"/>
                      <a:pt x="297" y="631"/>
                      <a:pt x="270" y="633"/>
                    </a:cubicBezTo>
                    <a:cubicBezTo>
                      <a:pt x="254" y="634"/>
                      <a:pt x="237" y="638"/>
                      <a:pt x="223" y="644"/>
                    </a:cubicBezTo>
                    <a:cubicBezTo>
                      <a:pt x="196" y="657"/>
                      <a:pt x="171" y="673"/>
                      <a:pt x="145" y="687"/>
                    </a:cubicBezTo>
                    <a:cubicBezTo>
                      <a:pt x="140" y="690"/>
                      <a:pt x="135" y="693"/>
                      <a:pt x="130" y="693"/>
                    </a:cubicBezTo>
                    <a:cubicBezTo>
                      <a:pt x="98" y="697"/>
                      <a:pt x="65" y="701"/>
                      <a:pt x="33" y="703"/>
                    </a:cubicBezTo>
                    <a:cubicBezTo>
                      <a:pt x="8" y="704"/>
                      <a:pt x="0" y="694"/>
                      <a:pt x="1" y="669"/>
                    </a:cubicBezTo>
                    <a:cubicBezTo>
                      <a:pt x="3" y="642"/>
                      <a:pt x="14" y="618"/>
                      <a:pt x="31" y="597"/>
                    </a:cubicBezTo>
                    <a:cubicBezTo>
                      <a:pt x="45" y="579"/>
                      <a:pt x="58" y="559"/>
                      <a:pt x="75" y="546"/>
                    </a:cubicBezTo>
                    <a:cubicBezTo>
                      <a:pt x="104" y="524"/>
                      <a:pt x="137" y="509"/>
                      <a:pt x="174" y="507"/>
                    </a:cubicBezTo>
                    <a:cubicBezTo>
                      <a:pt x="206" y="506"/>
                      <a:pt x="238" y="506"/>
                      <a:pt x="270" y="507"/>
                    </a:cubicBezTo>
                    <a:cubicBezTo>
                      <a:pt x="306" y="509"/>
                      <a:pt x="325" y="490"/>
                      <a:pt x="330" y="455"/>
                    </a:cubicBezTo>
                    <a:cubicBezTo>
                      <a:pt x="337" y="409"/>
                      <a:pt x="339" y="363"/>
                      <a:pt x="345" y="318"/>
                    </a:cubicBezTo>
                    <a:cubicBezTo>
                      <a:pt x="348" y="296"/>
                      <a:pt x="355" y="275"/>
                      <a:pt x="363" y="255"/>
                    </a:cubicBezTo>
                    <a:cubicBezTo>
                      <a:pt x="374" y="224"/>
                      <a:pt x="387" y="194"/>
                      <a:pt x="402" y="165"/>
                    </a:cubicBezTo>
                    <a:cubicBezTo>
                      <a:pt x="417" y="136"/>
                      <a:pt x="435" y="108"/>
                      <a:pt x="452" y="79"/>
                    </a:cubicBezTo>
                    <a:cubicBezTo>
                      <a:pt x="460" y="65"/>
                      <a:pt x="470" y="53"/>
                      <a:pt x="477" y="39"/>
                    </a:cubicBezTo>
                    <a:cubicBezTo>
                      <a:pt x="487" y="19"/>
                      <a:pt x="521" y="0"/>
                      <a:pt x="542" y="6"/>
                    </a:cubicBezTo>
                    <a:cubicBezTo>
                      <a:pt x="552" y="9"/>
                      <a:pt x="561" y="20"/>
                      <a:pt x="565" y="29"/>
                    </a:cubicBezTo>
                    <a:cubicBezTo>
                      <a:pt x="569" y="38"/>
                      <a:pt x="568" y="50"/>
                      <a:pt x="567" y="60"/>
                    </a:cubicBezTo>
                    <a:cubicBezTo>
                      <a:pt x="563" y="106"/>
                      <a:pt x="550" y="151"/>
                      <a:pt x="534" y="194"/>
                    </a:cubicBezTo>
                    <a:cubicBezTo>
                      <a:pt x="521" y="229"/>
                      <a:pt x="512" y="264"/>
                      <a:pt x="501" y="299"/>
                    </a:cubicBezTo>
                    <a:cubicBezTo>
                      <a:pt x="488" y="339"/>
                      <a:pt x="473" y="377"/>
                      <a:pt x="464" y="418"/>
                    </a:cubicBezTo>
                    <a:cubicBezTo>
                      <a:pt x="458" y="444"/>
                      <a:pt x="459" y="473"/>
                      <a:pt x="459" y="501"/>
                    </a:cubicBezTo>
                    <a:cubicBezTo>
                      <a:pt x="459" y="515"/>
                      <a:pt x="472" y="521"/>
                      <a:pt x="485" y="521"/>
                    </a:cubicBezTo>
                    <a:cubicBezTo>
                      <a:pt x="523" y="521"/>
                      <a:pt x="561" y="523"/>
                      <a:pt x="597" y="517"/>
                    </a:cubicBezTo>
                    <a:cubicBezTo>
                      <a:pt x="616" y="514"/>
                      <a:pt x="632" y="495"/>
                      <a:pt x="649" y="484"/>
                    </a:cubicBezTo>
                    <a:cubicBezTo>
                      <a:pt x="663" y="475"/>
                      <a:pt x="677" y="466"/>
                      <a:pt x="692" y="462"/>
                    </a:cubicBezTo>
                    <a:cubicBezTo>
                      <a:pt x="711" y="457"/>
                      <a:pt x="723" y="470"/>
                      <a:pt x="721" y="490"/>
                    </a:cubicBezTo>
                    <a:cubicBezTo>
                      <a:pt x="720" y="501"/>
                      <a:pt x="717" y="512"/>
                      <a:pt x="715" y="523"/>
                    </a:cubicBezTo>
                    <a:cubicBezTo>
                      <a:pt x="710" y="545"/>
                      <a:pt x="706" y="568"/>
                      <a:pt x="699" y="590"/>
                    </a:cubicBezTo>
                    <a:cubicBezTo>
                      <a:pt x="692" y="610"/>
                      <a:pt x="674" y="616"/>
                      <a:pt x="655" y="617"/>
                    </a:cubicBezTo>
                    <a:cubicBezTo>
                      <a:pt x="623" y="619"/>
                      <a:pt x="591" y="618"/>
                      <a:pt x="559" y="618"/>
                    </a:cubicBezTo>
                    <a:cubicBezTo>
                      <a:pt x="559" y="617"/>
                      <a:pt x="559" y="617"/>
                      <a:pt x="559" y="6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4" name="Freeform 331"/>
              <p:cNvSpPr/>
              <p:nvPr/>
            </p:nvSpPr>
            <p:spPr bwMode="auto">
              <a:xfrm>
                <a:off x="19643726" y="739775"/>
                <a:ext cx="2436813" cy="2928938"/>
              </a:xfrm>
              <a:custGeom>
                <a:avLst/>
                <a:gdLst>
                  <a:gd name="T0" fmla="*/ 675 w 772"/>
                  <a:gd name="T1" fmla="*/ 157 h 927"/>
                  <a:gd name="T2" fmla="*/ 653 w 772"/>
                  <a:gd name="T3" fmla="*/ 242 h 927"/>
                  <a:gd name="T4" fmla="*/ 496 w 772"/>
                  <a:gd name="T5" fmla="*/ 369 h 927"/>
                  <a:gd name="T6" fmla="*/ 537 w 772"/>
                  <a:gd name="T7" fmla="*/ 429 h 927"/>
                  <a:gd name="T8" fmla="*/ 736 w 772"/>
                  <a:gd name="T9" fmla="*/ 311 h 927"/>
                  <a:gd name="T10" fmla="*/ 768 w 772"/>
                  <a:gd name="T11" fmla="*/ 338 h 927"/>
                  <a:gd name="T12" fmla="*/ 678 w 772"/>
                  <a:gd name="T13" fmla="*/ 419 h 927"/>
                  <a:gd name="T14" fmla="*/ 664 w 772"/>
                  <a:gd name="T15" fmla="*/ 520 h 927"/>
                  <a:gd name="T16" fmla="*/ 708 w 772"/>
                  <a:gd name="T17" fmla="*/ 624 h 927"/>
                  <a:gd name="T18" fmla="*/ 735 w 772"/>
                  <a:gd name="T19" fmla="*/ 722 h 927"/>
                  <a:gd name="T20" fmla="*/ 638 w 772"/>
                  <a:gd name="T21" fmla="*/ 677 h 927"/>
                  <a:gd name="T22" fmla="*/ 612 w 772"/>
                  <a:gd name="T23" fmla="*/ 461 h 927"/>
                  <a:gd name="T24" fmla="*/ 532 w 772"/>
                  <a:gd name="T25" fmla="*/ 491 h 927"/>
                  <a:gd name="T26" fmla="*/ 454 w 772"/>
                  <a:gd name="T27" fmla="*/ 662 h 927"/>
                  <a:gd name="T28" fmla="*/ 383 w 772"/>
                  <a:gd name="T29" fmla="*/ 731 h 927"/>
                  <a:gd name="T30" fmla="*/ 425 w 772"/>
                  <a:gd name="T31" fmla="*/ 600 h 927"/>
                  <a:gd name="T32" fmla="*/ 432 w 772"/>
                  <a:gd name="T33" fmla="*/ 512 h 927"/>
                  <a:gd name="T34" fmla="*/ 294 w 772"/>
                  <a:gd name="T35" fmla="*/ 662 h 927"/>
                  <a:gd name="T36" fmla="*/ 194 w 772"/>
                  <a:gd name="T37" fmla="*/ 836 h 927"/>
                  <a:gd name="T38" fmla="*/ 25 w 772"/>
                  <a:gd name="T39" fmla="*/ 919 h 927"/>
                  <a:gd name="T40" fmla="*/ 9 w 772"/>
                  <a:gd name="T41" fmla="*/ 839 h 927"/>
                  <a:gd name="T42" fmla="*/ 214 w 772"/>
                  <a:gd name="T43" fmla="*/ 602 h 927"/>
                  <a:gd name="T44" fmla="*/ 229 w 772"/>
                  <a:gd name="T45" fmla="*/ 517 h 927"/>
                  <a:gd name="T46" fmla="*/ 250 w 772"/>
                  <a:gd name="T47" fmla="*/ 377 h 927"/>
                  <a:gd name="T48" fmla="*/ 296 w 772"/>
                  <a:gd name="T49" fmla="*/ 429 h 927"/>
                  <a:gd name="T50" fmla="*/ 373 w 772"/>
                  <a:gd name="T51" fmla="*/ 515 h 927"/>
                  <a:gd name="T52" fmla="*/ 449 w 772"/>
                  <a:gd name="T53" fmla="*/ 363 h 927"/>
                  <a:gd name="T54" fmla="*/ 537 w 772"/>
                  <a:gd name="T55" fmla="*/ 217 h 927"/>
                  <a:gd name="T56" fmla="*/ 419 w 772"/>
                  <a:gd name="T57" fmla="*/ 215 h 927"/>
                  <a:gd name="T58" fmla="*/ 331 w 772"/>
                  <a:gd name="T59" fmla="*/ 277 h 927"/>
                  <a:gd name="T60" fmla="*/ 239 w 772"/>
                  <a:gd name="T61" fmla="*/ 269 h 927"/>
                  <a:gd name="T62" fmla="*/ 423 w 772"/>
                  <a:gd name="T63" fmla="*/ 37 h 927"/>
                  <a:gd name="T64" fmla="*/ 584 w 772"/>
                  <a:gd name="T65" fmla="*/ 42 h 927"/>
                  <a:gd name="T66" fmla="*/ 579 w 772"/>
                  <a:gd name="T67" fmla="*/ 147 h 927"/>
                  <a:gd name="T68" fmla="*/ 645 w 772"/>
                  <a:gd name="T69" fmla="*/ 157 h 9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2" h="927">
                    <a:moveTo>
                      <a:pt x="645" y="157"/>
                    </a:moveTo>
                    <a:cubicBezTo>
                      <a:pt x="655" y="157"/>
                      <a:pt x="665" y="157"/>
                      <a:pt x="675" y="157"/>
                    </a:cubicBezTo>
                    <a:cubicBezTo>
                      <a:pt x="687" y="156"/>
                      <a:pt x="692" y="161"/>
                      <a:pt x="691" y="174"/>
                    </a:cubicBezTo>
                    <a:cubicBezTo>
                      <a:pt x="689" y="203"/>
                      <a:pt x="673" y="225"/>
                      <a:pt x="653" y="242"/>
                    </a:cubicBezTo>
                    <a:cubicBezTo>
                      <a:pt x="627" y="264"/>
                      <a:pt x="596" y="281"/>
                      <a:pt x="569" y="302"/>
                    </a:cubicBezTo>
                    <a:cubicBezTo>
                      <a:pt x="543" y="323"/>
                      <a:pt x="518" y="345"/>
                      <a:pt x="496" y="369"/>
                    </a:cubicBezTo>
                    <a:cubicBezTo>
                      <a:pt x="478" y="388"/>
                      <a:pt x="483" y="413"/>
                      <a:pt x="503" y="428"/>
                    </a:cubicBezTo>
                    <a:cubicBezTo>
                      <a:pt x="514" y="437"/>
                      <a:pt x="526" y="434"/>
                      <a:pt x="537" y="429"/>
                    </a:cubicBezTo>
                    <a:cubicBezTo>
                      <a:pt x="593" y="405"/>
                      <a:pt x="646" y="374"/>
                      <a:pt x="695" y="337"/>
                    </a:cubicBezTo>
                    <a:cubicBezTo>
                      <a:pt x="708" y="327"/>
                      <a:pt x="722" y="318"/>
                      <a:pt x="736" y="311"/>
                    </a:cubicBezTo>
                    <a:cubicBezTo>
                      <a:pt x="743" y="308"/>
                      <a:pt x="755" y="308"/>
                      <a:pt x="761" y="311"/>
                    </a:cubicBezTo>
                    <a:cubicBezTo>
                      <a:pt x="769" y="316"/>
                      <a:pt x="772" y="326"/>
                      <a:pt x="768" y="338"/>
                    </a:cubicBezTo>
                    <a:cubicBezTo>
                      <a:pt x="756" y="369"/>
                      <a:pt x="740" y="395"/>
                      <a:pt x="705" y="406"/>
                    </a:cubicBezTo>
                    <a:cubicBezTo>
                      <a:pt x="696" y="409"/>
                      <a:pt x="686" y="413"/>
                      <a:pt x="678" y="419"/>
                    </a:cubicBezTo>
                    <a:cubicBezTo>
                      <a:pt x="672" y="423"/>
                      <a:pt x="666" y="431"/>
                      <a:pt x="666" y="438"/>
                    </a:cubicBezTo>
                    <a:cubicBezTo>
                      <a:pt x="664" y="465"/>
                      <a:pt x="663" y="492"/>
                      <a:pt x="664" y="520"/>
                    </a:cubicBezTo>
                    <a:cubicBezTo>
                      <a:pt x="665" y="539"/>
                      <a:pt x="672" y="558"/>
                      <a:pt x="674" y="577"/>
                    </a:cubicBezTo>
                    <a:cubicBezTo>
                      <a:pt x="676" y="599"/>
                      <a:pt x="693" y="611"/>
                      <a:pt x="708" y="624"/>
                    </a:cubicBezTo>
                    <a:cubicBezTo>
                      <a:pt x="714" y="631"/>
                      <a:pt x="722" y="636"/>
                      <a:pt x="730" y="641"/>
                    </a:cubicBezTo>
                    <a:cubicBezTo>
                      <a:pt x="762" y="662"/>
                      <a:pt x="752" y="702"/>
                      <a:pt x="735" y="722"/>
                    </a:cubicBezTo>
                    <a:cubicBezTo>
                      <a:pt x="724" y="735"/>
                      <a:pt x="690" y="739"/>
                      <a:pt x="675" y="730"/>
                    </a:cubicBezTo>
                    <a:cubicBezTo>
                      <a:pt x="655" y="717"/>
                      <a:pt x="645" y="700"/>
                      <a:pt x="638" y="677"/>
                    </a:cubicBezTo>
                    <a:cubicBezTo>
                      <a:pt x="619" y="614"/>
                      <a:pt x="622" y="550"/>
                      <a:pt x="618" y="486"/>
                    </a:cubicBezTo>
                    <a:cubicBezTo>
                      <a:pt x="617" y="478"/>
                      <a:pt x="615" y="469"/>
                      <a:pt x="612" y="461"/>
                    </a:cubicBezTo>
                    <a:cubicBezTo>
                      <a:pt x="604" y="436"/>
                      <a:pt x="587" y="436"/>
                      <a:pt x="566" y="452"/>
                    </a:cubicBezTo>
                    <a:cubicBezTo>
                      <a:pt x="553" y="462"/>
                      <a:pt x="541" y="476"/>
                      <a:pt x="532" y="491"/>
                    </a:cubicBezTo>
                    <a:cubicBezTo>
                      <a:pt x="512" y="522"/>
                      <a:pt x="493" y="552"/>
                      <a:pt x="483" y="589"/>
                    </a:cubicBezTo>
                    <a:cubicBezTo>
                      <a:pt x="476" y="614"/>
                      <a:pt x="466" y="639"/>
                      <a:pt x="454" y="662"/>
                    </a:cubicBezTo>
                    <a:cubicBezTo>
                      <a:pt x="444" y="685"/>
                      <a:pt x="432" y="708"/>
                      <a:pt x="411" y="723"/>
                    </a:cubicBezTo>
                    <a:cubicBezTo>
                      <a:pt x="403" y="728"/>
                      <a:pt x="392" y="732"/>
                      <a:pt x="383" y="731"/>
                    </a:cubicBezTo>
                    <a:cubicBezTo>
                      <a:pt x="363" y="729"/>
                      <a:pt x="357" y="712"/>
                      <a:pt x="363" y="690"/>
                    </a:cubicBezTo>
                    <a:cubicBezTo>
                      <a:pt x="373" y="652"/>
                      <a:pt x="396" y="625"/>
                      <a:pt x="425" y="600"/>
                    </a:cubicBezTo>
                    <a:cubicBezTo>
                      <a:pt x="445" y="582"/>
                      <a:pt x="465" y="561"/>
                      <a:pt x="460" y="529"/>
                    </a:cubicBezTo>
                    <a:cubicBezTo>
                      <a:pt x="457" y="513"/>
                      <a:pt x="446" y="506"/>
                      <a:pt x="432" y="512"/>
                    </a:cubicBezTo>
                    <a:cubicBezTo>
                      <a:pt x="391" y="531"/>
                      <a:pt x="356" y="558"/>
                      <a:pt x="330" y="595"/>
                    </a:cubicBezTo>
                    <a:cubicBezTo>
                      <a:pt x="316" y="616"/>
                      <a:pt x="306" y="640"/>
                      <a:pt x="294" y="662"/>
                    </a:cubicBezTo>
                    <a:cubicBezTo>
                      <a:pt x="277" y="694"/>
                      <a:pt x="259" y="725"/>
                      <a:pt x="241" y="756"/>
                    </a:cubicBezTo>
                    <a:cubicBezTo>
                      <a:pt x="225" y="783"/>
                      <a:pt x="210" y="810"/>
                      <a:pt x="194" y="836"/>
                    </a:cubicBezTo>
                    <a:cubicBezTo>
                      <a:pt x="174" y="868"/>
                      <a:pt x="151" y="897"/>
                      <a:pt x="118" y="913"/>
                    </a:cubicBezTo>
                    <a:cubicBezTo>
                      <a:pt x="89" y="927"/>
                      <a:pt x="57" y="926"/>
                      <a:pt x="25" y="919"/>
                    </a:cubicBezTo>
                    <a:cubicBezTo>
                      <a:pt x="23" y="919"/>
                      <a:pt x="19" y="916"/>
                      <a:pt x="19" y="914"/>
                    </a:cubicBezTo>
                    <a:cubicBezTo>
                      <a:pt x="10" y="890"/>
                      <a:pt x="0" y="868"/>
                      <a:pt x="9" y="839"/>
                    </a:cubicBezTo>
                    <a:cubicBezTo>
                      <a:pt x="26" y="787"/>
                      <a:pt x="64" y="754"/>
                      <a:pt x="101" y="719"/>
                    </a:cubicBezTo>
                    <a:cubicBezTo>
                      <a:pt x="141" y="681"/>
                      <a:pt x="183" y="647"/>
                      <a:pt x="214" y="602"/>
                    </a:cubicBezTo>
                    <a:cubicBezTo>
                      <a:pt x="222" y="591"/>
                      <a:pt x="229" y="579"/>
                      <a:pt x="234" y="567"/>
                    </a:cubicBezTo>
                    <a:cubicBezTo>
                      <a:pt x="240" y="550"/>
                      <a:pt x="241" y="533"/>
                      <a:pt x="229" y="517"/>
                    </a:cubicBezTo>
                    <a:cubicBezTo>
                      <a:pt x="206" y="487"/>
                      <a:pt x="207" y="438"/>
                      <a:pt x="229" y="407"/>
                    </a:cubicBezTo>
                    <a:cubicBezTo>
                      <a:pt x="236" y="397"/>
                      <a:pt x="241" y="385"/>
                      <a:pt x="250" y="377"/>
                    </a:cubicBezTo>
                    <a:cubicBezTo>
                      <a:pt x="260" y="367"/>
                      <a:pt x="273" y="370"/>
                      <a:pt x="279" y="383"/>
                    </a:cubicBezTo>
                    <a:cubicBezTo>
                      <a:pt x="286" y="398"/>
                      <a:pt x="290" y="414"/>
                      <a:pt x="296" y="429"/>
                    </a:cubicBezTo>
                    <a:cubicBezTo>
                      <a:pt x="305" y="454"/>
                      <a:pt x="315" y="478"/>
                      <a:pt x="326" y="502"/>
                    </a:cubicBezTo>
                    <a:cubicBezTo>
                      <a:pt x="334" y="518"/>
                      <a:pt x="355" y="520"/>
                      <a:pt x="373" y="515"/>
                    </a:cubicBezTo>
                    <a:cubicBezTo>
                      <a:pt x="396" y="507"/>
                      <a:pt x="402" y="491"/>
                      <a:pt x="403" y="470"/>
                    </a:cubicBezTo>
                    <a:cubicBezTo>
                      <a:pt x="405" y="429"/>
                      <a:pt x="424" y="395"/>
                      <a:pt x="449" y="363"/>
                    </a:cubicBezTo>
                    <a:cubicBezTo>
                      <a:pt x="477" y="327"/>
                      <a:pt x="503" y="290"/>
                      <a:pt x="528" y="252"/>
                    </a:cubicBezTo>
                    <a:cubicBezTo>
                      <a:pt x="535" y="243"/>
                      <a:pt x="536" y="229"/>
                      <a:pt x="537" y="217"/>
                    </a:cubicBezTo>
                    <a:cubicBezTo>
                      <a:pt x="540" y="193"/>
                      <a:pt x="518" y="178"/>
                      <a:pt x="489" y="185"/>
                    </a:cubicBezTo>
                    <a:cubicBezTo>
                      <a:pt x="465" y="192"/>
                      <a:pt x="441" y="202"/>
                      <a:pt x="419" y="215"/>
                    </a:cubicBezTo>
                    <a:cubicBezTo>
                      <a:pt x="401" y="225"/>
                      <a:pt x="386" y="241"/>
                      <a:pt x="369" y="254"/>
                    </a:cubicBezTo>
                    <a:cubicBezTo>
                      <a:pt x="357" y="263"/>
                      <a:pt x="344" y="271"/>
                      <a:pt x="331" y="277"/>
                    </a:cubicBezTo>
                    <a:cubicBezTo>
                      <a:pt x="312" y="286"/>
                      <a:pt x="292" y="293"/>
                      <a:pt x="272" y="298"/>
                    </a:cubicBezTo>
                    <a:cubicBezTo>
                      <a:pt x="250" y="305"/>
                      <a:pt x="235" y="292"/>
                      <a:pt x="239" y="269"/>
                    </a:cubicBezTo>
                    <a:cubicBezTo>
                      <a:pt x="243" y="236"/>
                      <a:pt x="256" y="206"/>
                      <a:pt x="275" y="178"/>
                    </a:cubicBezTo>
                    <a:cubicBezTo>
                      <a:pt x="315" y="121"/>
                      <a:pt x="366" y="76"/>
                      <a:pt x="423" y="37"/>
                    </a:cubicBezTo>
                    <a:cubicBezTo>
                      <a:pt x="468" y="6"/>
                      <a:pt x="518" y="0"/>
                      <a:pt x="570" y="6"/>
                    </a:cubicBezTo>
                    <a:cubicBezTo>
                      <a:pt x="592" y="8"/>
                      <a:pt x="597" y="23"/>
                      <a:pt x="584" y="42"/>
                    </a:cubicBezTo>
                    <a:cubicBezTo>
                      <a:pt x="570" y="61"/>
                      <a:pt x="558" y="81"/>
                      <a:pt x="555" y="105"/>
                    </a:cubicBezTo>
                    <a:cubicBezTo>
                      <a:pt x="553" y="126"/>
                      <a:pt x="559" y="141"/>
                      <a:pt x="579" y="147"/>
                    </a:cubicBezTo>
                    <a:cubicBezTo>
                      <a:pt x="600" y="153"/>
                      <a:pt x="622" y="156"/>
                      <a:pt x="644" y="160"/>
                    </a:cubicBezTo>
                    <a:cubicBezTo>
                      <a:pt x="644" y="159"/>
                      <a:pt x="645" y="158"/>
                      <a:pt x="645" y="1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5" name="Freeform 332"/>
              <p:cNvSpPr/>
              <p:nvPr/>
            </p:nvSpPr>
            <p:spPr bwMode="auto">
              <a:xfrm>
                <a:off x="29325888" y="2820988"/>
                <a:ext cx="1906588" cy="2347913"/>
              </a:xfrm>
              <a:custGeom>
                <a:avLst/>
                <a:gdLst>
                  <a:gd name="T0" fmla="*/ 517 w 604"/>
                  <a:gd name="T1" fmla="*/ 362 h 743"/>
                  <a:gd name="T2" fmla="*/ 480 w 604"/>
                  <a:gd name="T3" fmla="*/ 362 h 743"/>
                  <a:gd name="T4" fmla="*/ 443 w 604"/>
                  <a:gd name="T5" fmla="*/ 375 h 743"/>
                  <a:gd name="T6" fmla="*/ 431 w 604"/>
                  <a:gd name="T7" fmla="*/ 397 h 743"/>
                  <a:gd name="T8" fmla="*/ 408 w 604"/>
                  <a:gd name="T9" fmla="*/ 481 h 743"/>
                  <a:gd name="T10" fmla="*/ 391 w 604"/>
                  <a:gd name="T11" fmla="*/ 523 h 743"/>
                  <a:gd name="T12" fmla="*/ 299 w 604"/>
                  <a:gd name="T13" fmla="*/ 680 h 743"/>
                  <a:gd name="T14" fmla="*/ 207 w 604"/>
                  <a:gd name="T15" fmla="*/ 740 h 743"/>
                  <a:gd name="T16" fmla="*/ 154 w 604"/>
                  <a:gd name="T17" fmla="*/ 725 h 743"/>
                  <a:gd name="T18" fmla="*/ 108 w 604"/>
                  <a:gd name="T19" fmla="*/ 671 h 743"/>
                  <a:gd name="T20" fmla="*/ 107 w 604"/>
                  <a:gd name="T21" fmla="*/ 668 h 743"/>
                  <a:gd name="T22" fmla="*/ 98 w 604"/>
                  <a:gd name="T23" fmla="*/ 635 h 743"/>
                  <a:gd name="T24" fmla="*/ 143 w 604"/>
                  <a:gd name="T25" fmla="*/ 617 h 743"/>
                  <a:gd name="T26" fmla="*/ 208 w 604"/>
                  <a:gd name="T27" fmla="*/ 617 h 743"/>
                  <a:gd name="T28" fmla="*/ 284 w 604"/>
                  <a:gd name="T29" fmla="*/ 567 h 743"/>
                  <a:gd name="T30" fmla="*/ 327 w 604"/>
                  <a:gd name="T31" fmla="*/ 489 h 743"/>
                  <a:gd name="T32" fmla="*/ 343 w 604"/>
                  <a:gd name="T33" fmla="*/ 412 h 743"/>
                  <a:gd name="T34" fmla="*/ 272 w 604"/>
                  <a:gd name="T35" fmla="*/ 367 h 743"/>
                  <a:gd name="T36" fmla="*/ 174 w 604"/>
                  <a:gd name="T37" fmla="*/ 418 h 743"/>
                  <a:gd name="T38" fmla="*/ 144 w 604"/>
                  <a:gd name="T39" fmla="*/ 424 h 743"/>
                  <a:gd name="T40" fmla="*/ 59 w 604"/>
                  <a:gd name="T41" fmla="*/ 418 h 743"/>
                  <a:gd name="T42" fmla="*/ 18 w 604"/>
                  <a:gd name="T43" fmla="*/ 403 h 743"/>
                  <a:gd name="T44" fmla="*/ 14 w 604"/>
                  <a:gd name="T45" fmla="*/ 362 h 743"/>
                  <a:gd name="T46" fmla="*/ 69 w 604"/>
                  <a:gd name="T47" fmla="*/ 324 h 743"/>
                  <a:gd name="T48" fmla="*/ 143 w 604"/>
                  <a:gd name="T49" fmla="*/ 297 h 743"/>
                  <a:gd name="T50" fmla="*/ 235 w 604"/>
                  <a:gd name="T51" fmla="*/ 288 h 743"/>
                  <a:gd name="T52" fmla="*/ 333 w 604"/>
                  <a:gd name="T53" fmla="*/ 194 h 743"/>
                  <a:gd name="T54" fmla="*/ 333 w 604"/>
                  <a:gd name="T55" fmla="*/ 170 h 743"/>
                  <a:gd name="T56" fmla="*/ 316 w 604"/>
                  <a:gd name="T57" fmla="*/ 141 h 743"/>
                  <a:gd name="T58" fmla="*/ 278 w 604"/>
                  <a:gd name="T59" fmla="*/ 147 h 743"/>
                  <a:gd name="T60" fmla="*/ 262 w 604"/>
                  <a:gd name="T61" fmla="*/ 163 h 743"/>
                  <a:gd name="T62" fmla="*/ 167 w 604"/>
                  <a:gd name="T63" fmla="*/ 200 h 743"/>
                  <a:gd name="T64" fmla="*/ 113 w 604"/>
                  <a:gd name="T65" fmla="*/ 197 h 743"/>
                  <a:gd name="T66" fmla="*/ 96 w 604"/>
                  <a:gd name="T67" fmla="*/ 180 h 743"/>
                  <a:gd name="T68" fmla="*/ 124 w 604"/>
                  <a:gd name="T69" fmla="*/ 89 h 743"/>
                  <a:gd name="T70" fmla="*/ 194 w 604"/>
                  <a:gd name="T71" fmla="*/ 56 h 743"/>
                  <a:gd name="T72" fmla="*/ 339 w 604"/>
                  <a:gd name="T73" fmla="*/ 40 h 743"/>
                  <a:gd name="T74" fmla="*/ 406 w 604"/>
                  <a:gd name="T75" fmla="*/ 14 h 743"/>
                  <a:gd name="T76" fmla="*/ 456 w 604"/>
                  <a:gd name="T77" fmla="*/ 20 h 743"/>
                  <a:gd name="T78" fmla="*/ 493 w 604"/>
                  <a:gd name="T79" fmla="*/ 107 h 743"/>
                  <a:gd name="T80" fmla="*/ 467 w 604"/>
                  <a:gd name="T81" fmla="*/ 154 h 743"/>
                  <a:gd name="T82" fmla="*/ 406 w 604"/>
                  <a:gd name="T83" fmla="*/ 218 h 743"/>
                  <a:gd name="T84" fmla="*/ 422 w 604"/>
                  <a:gd name="T85" fmla="*/ 263 h 743"/>
                  <a:gd name="T86" fmla="*/ 527 w 604"/>
                  <a:gd name="T87" fmla="*/ 277 h 743"/>
                  <a:gd name="T88" fmla="*/ 578 w 604"/>
                  <a:gd name="T89" fmla="*/ 285 h 743"/>
                  <a:gd name="T90" fmla="*/ 601 w 604"/>
                  <a:gd name="T91" fmla="*/ 322 h 743"/>
                  <a:gd name="T92" fmla="*/ 565 w 604"/>
                  <a:gd name="T93" fmla="*/ 362 h 743"/>
                  <a:gd name="T94" fmla="*/ 517 w 604"/>
                  <a:gd name="T95" fmla="*/ 362 h 743"/>
                  <a:gd name="T96" fmla="*/ 517 w 604"/>
                  <a:gd name="T97" fmla="*/ 362 h 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04" h="743">
                    <a:moveTo>
                      <a:pt x="517" y="362"/>
                    </a:moveTo>
                    <a:cubicBezTo>
                      <a:pt x="505" y="362"/>
                      <a:pt x="492" y="360"/>
                      <a:pt x="480" y="362"/>
                    </a:cubicBezTo>
                    <a:cubicBezTo>
                      <a:pt x="467" y="365"/>
                      <a:pt x="455" y="370"/>
                      <a:pt x="443" y="375"/>
                    </a:cubicBezTo>
                    <a:cubicBezTo>
                      <a:pt x="433" y="379"/>
                      <a:pt x="433" y="388"/>
                      <a:pt x="431" y="397"/>
                    </a:cubicBezTo>
                    <a:cubicBezTo>
                      <a:pt x="424" y="426"/>
                      <a:pt x="416" y="454"/>
                      <a:pt x="408" y="481"/>
                    </a:cubicBezTo>
                    <a:cubicBezTo>
                      <a:pt x="403" y="496"/>
                      <a:pt x="396" y="509"/>
                      <a:pt x="391" y="523"/>
                    </a:cubicBezTo>
                    <a:cubicBezTo>
                      <a:pt x="369" y="580"/>
                      <a:pt x="337" y="632"/>
                      <a:pt x="299" y="680"/>
                    </a:cubicBezTo>
                    <a:cubicBezTo>
                      <a:pt x="276" y="710"/>
                      <a:pt x="245" y="733"/>
                      <a:pt x="207" y="740"/>
                    </a:cubicBezTo>
                    <a:cubicBezTo>
                      <a:pt x="190" y="743"/>
                      <a:pt x="170" y="734"/>
                      <a:pt x="154" y="725"/>
                    </a:cubicBezTo>
                    <a:cubicBezTo>
                      <a:pt x="133" y="713"/>
                      <a:pt x="119" y="692"/>
                      <a:pt x="108" y="671"/>
                    </a:cubicBezTo>
                    <a:cubicBezTo>
                      <a:pt x="108" y="670"/>
                      <a:pt x="108" y="669"/>
                      <a:pt x="107" y="668"/>
                    </a:cubicBezTo>
                    <a:cubicBezTo>
                      <a:pt x="100" y="658"/>
                      <a:pt x="88" y="647"/>
                      <a:pt x="98" y="635"/>
                    </a:cubicBezTo>
                    <a:cubicBezTo>
                      <a:pt x="109" y="623"/>
                      <a:pt x="125" y="616"/>
                      <a:pt x="143" y="617"/>
                    </a:cubicBezTo>
                    <a:cubicBezTo>
                      <a:pt x="165" y="618"/>
                      <a:pt x="187" y="618"/>
                      <a:pt x="208" y="617"/>
                    </a:cubicBezTo>
                    <a:cubicBezTo>
                      <a:pt x="243" y="615"/>
                      <a:pt x="266" y="593"/>
                      <a:pt x="284" y="567"/>
                    </a:cubicBezTo>
                    <a:cubicBezTo>
                      <a:pt x="301" y="543"/>
                      <a:pt x="316" y="516"/>
                      <a:pt x="327" y="489"/>
                    </a:cubicBezTo>
                    <a:cubicBezTo>
                      <a:pt x="336" y="465"/>
                      <a:pt x="341" y="438"/>
                      <a:pt x="343" y="412"/>
                    </a:cubicBezTo>
                    <a:cubicBezTo>
                      <a:pt x="347" y="367"/>
                      <a:pt x="311" y="346"/>
                      <a:pt x="272" y="367"/>
                    </a:cubicBezTo>
                    <a:cubicBezTo>
                      <a:pt x="239" y="384"/>
                      <a:pt x="207" y="401"/>
                      <a:pt x="174" y="418"/>
                    </a:cubicBezTo>
                    <a:cubicBezTo>
                      <a:pt x="165" y="422"/>
                      <a:pt x="154" y="424"/>
                      <a:pt x="144" y="424"/>
                    </a:cubicBezTo>
                    <a:cubicBezTo>
                      <a:pt x="115" y="423"/>
                      <a:pt x="87" y="422"/>
                      <a:pt x="59" y="418"/>
                    </a:cubicBezTo>
                    <a:cubicBezTo>
                      <a:pt x="45" y="417"/>
                      <a:pt x="31" y="410"/>
                      <a:pt x="18" y="403"/>
                    </a:cubicBezTo>
                    <a:cubicBezTo>
                      <a:pt x="3" y="395"/>
                      <a:pt x="0" y="374"/>
                      <a:pt x="14" y="362"/>
                    </a:cubicBezTo>
                    <a:cubicBezTo>
                      <a:pt x="31" y="347"/>
                      <a:pt x="49" y="333"/>
                      <a:pt x="69" y="324"/>
                    </a:cubicBezTo>
                    <a:cubicBezTo>
                      <a:pt x="92" y="312"/>
                      <a:pt x="117" y="302"/>
                      <a:pt x="143" y="297"/>
                    </a:cubicBezTo>
                    <a:cubicBezTo>
                      <a:pt x="173" y="291"/>
                      <a:pt x="204" y="287"/>
                      <a:pt x="235" y="288"/>
                    </a:cubicBezTo>
                    <a:cubicBezTo>
                      <a:pt x="288" y="290"/>
                      <a:pt x="335" y="247"/>
                      <a:pt x="333" y="194"/>
                    </a:cubicBezTo>
                    <a:cubicBezTo>
                      <a:pt x="333" y="186"/>
                      <a:pt x="333" y="178"/>
                      <a:pt x="333" y="170"/>
                    </a:cubicBezTo>
                    <a:cubicBezTo>
                      <a:pt x="333" y="158"/>
                      <a:pt x="329" y="146"/>
                      <a:pt x="316" y="141"/>
                    </a:cubicBezTo>
                    <a:cubicBezTo>
                      <a:pt x="303" y="137"/>
                      <a:pt x="289" y="137"/>
                      <a:pt x="278" y="147"/>
                    </a:cubicBezTo>
                    <a:cubicBezTo>
                      <a:pt x="272" y="152"/>
                      <a:pt x="267" y="158"/>
                      <a:pt x="262" y="163"/>
                    </a:cubicBezTo>
                    <a:cubicBezTo>
                      <a:pt x="235" y="187"/>
                      <a:pt x="204" y="202"/>
                      <a:pt x="167" y="200"/>
                    </a:cubicBezTo>
                    <a:cubicBezTo>
                      <a:pt x="149" y="199"/>
                      <a:pt x="131" y="197"/>
                      <a:pt x="113" y="197"/>
                    </a:cubicBezTo>
                    <a:cubicBezTo>
                      <a:pt x="102" y="196"/>
                      <a:pt x="97" y="191"/>
                      <a:pt x="96" y="180"/>
                    </a:cubicBezTo>
                    <a:cubicBezTo>
                      <a:pt x="94" y="146"/>
                      <a:pt x="101" y="115"/>
                      <a:pt x="124" y="89"/>
                    </a:cubicBezTo>
                    <a:cubicBezTo>
                      <a:pt x="142" y="68"/>
                      <a:pt x="168" y="59"/>
                      <a:pt x="194" y="56"/>
                    </a:cubicBezTo>
                    <a:cubicBezTo>
                      <a:pt x="242" y="50"/>
                      <a:pt x="291" y="48"/>
                      <a:pt x="339" y="40"/>
                    </a:cubicBezTo>
                    <a:cubicBezTo>
                      <a:pt x="362" y="37"/>
                      <a:pt x="385" y="26"/>
                      <a:pt x="406" y="14"/>
                    </a:cubicBezTo>
                    <a:cubicBezTo>
                      <a:pt x="429" y="1"/>
                      <a:pt x="438" y="0"/>
                      <a:pt x="456" y="20"/>
                    </a:cubicBezTo>
                    <a:cubicBezTo>
                      <a:pt x="479" y="44"/>
                      <a:pt x="493" y="72"/>
                      <a:pt x="493" y="107"/>
                    </a:cubicBezTo>
                    <a:cubicBezTo>
                      <a:pt x="493" y="128"/>
                      <a:pt x="480" y="141"/>
                      <a:pt x="467" y="154"/>
                    </a:cubicBezTo>
                    <a:cubicBezTo>
                      <a:pt x="447" y="175"/>
                      <a:pt x="425" y="196"/>
                      <a:pt x="406" y="218"/>
                    </a:cubicBezTo>
                    <a:cubicBezTo>
                      <a:pt x="392" y="235"/>
                      <a:pt x="400" y="260"/>
                      <a:pt x="422" y="263"/>
                    </a:cubicBezTo>
                    <a:cubicBezTo>
                      <a:pt x="457" y="269"/>
                      <a:pt x="492" y="272"/>
                      <a:pt x="527" y="277"/>
                    </a:cubicBezTo>
                    <a:cubicBezTo>
                      <a:pt x="544" y="279"/>
                      <a:pt x="562" y="280"/>
                      <a:pt x="578" y="285"/>
                    </a:cubicBezTo>
                    <a:cubicBezTo>
                      <a:pt x="598" y="292"/>
                      <a:pt x="604" y="303"/>
                      <a:pt x="601" y="322"/>
                    </a:cubicBezTo>
                    <a:cubicBezTo>
                      <a:pt x="598" y="344"/>
                      <a:pt x="584" y="360"/>
                      <a:pt x="565" y="362"/>
                    </a:cubicBezTo>
                    <a:cubicBezTo>
                      <a:pt x="549" y="363"/>
                      <a:pt x="533" y="362"/>
                      <a:pt x="517" y="362"/>
                    </a:cubicBezTo>
                    <a:cubicBezTo>
                      <a:pt x="517" y="362"/>
                      <a:pt x="517" y="362"/>
                      <a:pt x="517" y="3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6" name="Freeform 333"/>
              <p:cNvSpPr/>
              <p:nvPr/>
            </p:nvSpPr>
            <p:spPr bwMode="auto">
              <a:xfrm>
                <a:off x="20386676" y="3190875"/>
                <a:ext cx="1798638" cy="1776413"/>
              </a:xfrm>
              <a:custGeom>
                <a:avLst/>
                <a:gdLst>
                  <a:gd name="T0" fmla="*/ 0 w 570"/>
                  <a:gd name="T1" fmla="*/ 339 h 562"/>
                  <a:gd name="T2" fmla="*/ 22 w 570"/>
                  <a:gd name="T3" fmla="*/ 169 h 562"/>
                  <a:gd name="T4" fmla="*/ 64 w 570"/>
                  <a:gd name="T5" fmla="*/ 34 h 562"/>
                  <a:gd name="T6" fmla="*/ 84 w 570"/>
                  <a:gd name="T7" fmla="*/ 8 h 562"/>
                  <a:gd name="T8" fmla="*/ 109 w 570"/>
                  <a:gd name="T9" fmla="*/ 3 h 562"/>
                  <a:gd name="T10" fmla="*/ 119 w 570"/>
                  <a:gd name="T11" fmla="*/ 25 h 562"/>
                  <a:gd name="T12" fmla="*/ 117 w 570"/>
                  <a:gd name="T13" fmla="*/ 125 h 562"/>
                  <a:gd name="T14" fmla="*/ 144 w 570"/>
                  <a:gd name="T15" fmla="*/ 147 h 562"/>
                  <a:gd name="T16" fmla="*/ 188 w 570"/>
                  <a:gd name="T17" fmla="*/ 124 h 562"/>
                  <a:gd name="T18" fmla="*/ 249 w 570"/>
                  <a:gd name="T19" fmla="*/ 73 h 562"/>
                  <a:gd name="T20" fmla="*/ 267 w 570"/>
                  <a:gd name="T21" fmla="*/ 66 h 562"/>
                  <a:gd name="T22" fmla="*/ 281 w 570"/>
                  <a:gd name="T23" fmla="*/ 85 h 562"/>
                  <a:gd name="T24" fmla="*/ 283 w 570"/>
                  <a:gd name="T25" fmla="*/ 142 h 562"/>
                  <a:gd name="T26" fmla="*/ 292 w 570"/>
                  <a:gd name="T27" fmla="*/ 176 h 562"/>
                  <a:gd name="T28" fmla="*/ 318 w 570"/>
                  <a:gd name="T29" fmla="*/ 181 h 562"/>
                  <a:gd name="T30" fmla="*/ 327 w 570"/>
                  <a:gd name="T31" fmla="*/ 172 h 562"/>
                  <a:gd name="T32" fmla="*/ 372 w 570"/>
                  <a:gd name="T33" fmla="*/ 90 h 562"/>
                  <a:gd name="T34" fmla="*/ 437 w 570"/>
                  <a:gd name="T35" fmla="*/ 18 h 562"/>
                  <a:gd name="T36" fmla="*/ 496 w 570"/>
                  <a:gd name="T37" fmla="*/ 21 h 562"/>
                  <a:gd name="T38" fmla="*/ 559 w 570"/>
                  <a:gd name="T39" fmla="*/ 121 h 562"/>
                  <a:gd name="T40" fmla="*/ 556 w 570"/>
                  <a:gd name="T41" fmla="*/ 275 h 562"/>
                  <a:gd name="T42" fmla="*/ 522 w 570"/>
                  <a:gd name="T43" fmla="*/ 366 h 562"/>
                  <a:gd name="T44" fmla="*/ 500 w 570"/>
                  <a:gd name="T45" fmla="*/ 414 h 562"/>
                  <a:gd name="T46" fmla="*/ 467 w 570"/>
                  <a:gd name="T47" fmla="*/ 473 h 562"/>
                  <a:gd name="T48" fmla="*/ 427 w 570"/>
                  <a:gd name="T49" fmla="*/ 531 h 562"/>
                  <a:gd name="T50" fmla="*/ 392 w 570"/>
                  <a:gd name="T51" fmla="*/ 560 h 562"/>
                  <a:gd name="T52" fmla="*/ 374 w 570"/>
                  <a:gd name="T53" fmla="*/ 559 h 562"/>
                  <a:gd name="T54" fmla="*/ 370 w 570"/>
                  <a:gd name="T55" fmla="*/ 540 h 562"/>
                  <a:gd name="T56" fmla="*/ 388 w 570"/>
                  <a:gd name="T57" fmla="*/ 493 h 562"/>
                  <a:gd name="T58" fmla="*/ 431 w 570"/>
                  <a:gd name="T59" fmla="*/ 396 h 562"/>
                  <a:gd name="T60" fmla="*/ 469 w 570"/>
                  <a:gd name="T61" fmla="*/ 300 h 562"/>
                  <a:gd name="T62" fmla="*/ 485 w 570"/>
                  <a:gd name="T63" fmla="*/ 197 h 562"/>
                  <a:gd name="T64" fmla="*/ 459 w 570"/>
                  <a:gd name="T65" fmla="*/ 133 h 562"/>
                  <a:gd name="T66" fmla="*/ 400 w 570"/>
                  <a:gd name="T67" fmla="*/ 134 h 562"/>
                  <a:gd name="T68" fmla="*/ 327 w 570"/>
                  <a:gd name="T69" fmla="*/ 227 h 562"/>
                  <a:gd name="T70" fmla="*/ 275 w 570"/>
                  <a:gd name="T71" fmla="*/ 304 h 562"/>
                  <a:gd name="T72" fmla="*/ 223 w 570"/>
                  <a:gd name="T73" fmla="*/ 369 h 562"/>
                  <a:gd name="T74" fmla="*/ 217 w 570"/>
                  <a:gd name="T75" fmla="*/ 376 h 562"/>
                  <a:gd name="T76" fmla="*/ 191 w 570"/>
                  <a:gd name="T77" fmla="*/ 368 h 562"/>
                  <a:gd name="T78" fmla="*/ 190 w 570"/>
                  <a:gd name="T79" fmla="*/ 304 h 562"/>
                  <a:gd name="T80" fmla="*/ 188 w 570"/>
                  <a:gd name="T81" fmla="*/ 231 h 562"/>
                  <a:gd name="T82" fmla="*/ 169 w 570"/>
                  <a:gd name="T83" fmla="*/ 193 h 562"/>
                  <a:gd name="T84" fmla="*/ 118 w 570"/>
                  <a:gd name="T85" fmla="*/ 196 h 562"/>
                  <a:gd name="T86" fmla="*/ 92 w 570"/>
                  <a:gd name="T87" fmla="*/ 253 h 562"/>
                  <a:gd name="T88" fmla="*/ 72 w 570"/>
                  <a:gd name="T89" fmla="*/ 424 h 562"/>
                  <a:gd name="T90" fmla="*/ 65 w 570"/>
                  <a:gd name="T91" fmla="*/ 455 h 562"/>
                  <a:gd name="T92" fmla="*/ 15 w 570"/>
                  <a:gd name="T93" fmla="*/ 458 h 562"/>
                  <a:gd name="T94" fmla="*/ 1 w 570"/>
                  <a:gd name="T95" fmla="*/ 395 h 562"/>
                  <a:gd name="T96" fmla="*/ 1 w 570"/>
                  <a:gd name="T97" fmla="*/ 340 h 562"/>
                  <a:gd name="T98" fmla="*/ 0 w 570"/>
                  <a:gd name="T99" fmla="*/ 339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70" h="562">
                    <a:moveTo>
                      <a:pt x="0" y="339"/>
                    </a:moveTo>
                    <a:cubicBezTo>
                      <a:pt x="7" y="282"/>
                      <a:pt x="11" y="225"/>
                      <a:pt x="22" y="169"/>
                    </a:cubicBezTo>
                    <a:cubicBezTo>
                      <a:pt x="32" y="123"/>
                      <a:pt x="49" y="78"/>
                      <a:pt x="64" y="34"/>
                    </a:cubicBezTo>
                    <a:cubicBezTo>
                      <a:pt x="67" y="24"/>
                      <a:pt x="75" y="14"/>
                      <a:pt x="84" y="8"/>
                    </a:cubicBezTo>
                    <a:cubicBezTo>
                      <a:pt x="90" y="3"/>
                      <a:pt x="102" y="0"/>
                      <a:pt x="109" y="3"/>
                    </a:cubicBezTo>
                    <a:cubicBezTo>
                      <a:pt x="115" y="6"/>
                      <a:pt x="119" y="17"/>
                      <a:pt x="119" y="25"/>
                    </a:cubicBezTo>
                    <a:cubicBezTo>
                      <a:pt x="120" y="58"/>
                      <a:pt x="118" y="92"/>
                      <a:pt x="117" y="125"/>
                    </a:cubicBezTo>
                    <a:cubicBezTo>
                      <a:pt x="117" y="143"/>
                      <a:pt x="126" y="152"/>
                      <a:pt x="144" y="147"/>
                    </a:cubicBezTo>
                    <a:cubicBezTo>
                      <a:pt x="159" y="142"/>
                      <a:pt x="174" y="133"/>
                      <a:pt x="188" y="124"/>
                    </a:cubicBezTo>
                    <a:cubicBezTo>
                      <a:pt x="209" y="108"/>
                      <a:pt x="228" y="89"/>
                      <a:pt x="249" y="73"/>
                    </a:cubicBezTo>
                    <a:cubicBezTo>
                      <a:pt x="254" y="69"/>
                      <a:pt x="263" y="64"/>
                      <a:pt x="267" y="66"/>
                    </a:cubicBezTo>
                    <a:cubicBezTo>
                      <a:pt x="274" y="69"/>
                      <a:pt x="280" y="78"/>
                      <a:pt x="281" y="85"/>
                    </a:cubicBezTo>
                    <a:cubicBezTo>
                      <a:pt x="283" y="104"/>
                      <a:pt x="281" y="123"/>
                      <a:pt x="283" y="142"/>
                    </a:cubicBezTo>
                    <a:cubicBezTo>
                      <a:pt x="284" y="154"/>
                      <a:pt x="288" y="165"/>
                      <a:pt x="292" y="176"/>
                    </a:cubicBezTo>
                    <a:cubicBezTo>
                      <a:pt x="297" y="189"/>
                      <a:pt x="307" y="189"/>
                      <a:pt x="318" y="181"/>
                    </a:cubicBezTo>
                    <a:cubicBezTo>
                      <a:pt x="321" y="179"/>
                      <a:pt x="324" y="175"/>
                      <a:pt x="327" y="172"/>
                    </a:cubicBezTo>
                    <a:cubicBezTo>
                      <a:pt x="347" y="147"/>
                      <a:pt x="361" y="120"/>
                      <a:pt x="372" y="90"/>
                    </a:cubicBezTo>
                    <a:cubicBezTo>
                      <a:pt x="383" y="57"/>
                      <a:pt x="407" y="33"/>
                      <a:pt x="437" y="18"/>
                    </a:cubicBezTo>
                    <a:cubicBezTo>
                      <a:pt x="455" y="9"/>
                      <a:pt x="476" y="10"/>
                      <a:pt x="496" y="21"/>
                    </a:cubicBezTo>
                    <a:cubicBezTo>
                      <a:pt x="535" y="43"/>
                      <a:pt x="550" y="81"/>
                      <a:pt x="559" y="121"/>
                    </a:cubicBezTo>
                    <a:cubicBezTo>
                      <a:pt x="570" y="172"/>
                      <a:pt x="565" y="224"/>
                      <a:pt x="556" y="275"/>
                    </a:cubicBezTo>
                    <a:cubicBezTo>
                      <a:pt x="550" y="306"/>
                      <a:pt x="534" y="336"/>
                      <a:pt x="522" y="366"/>
                    </a:cubicBezTo>
                    <a:cubicBezTo>
                      <a:pt x="515" y="382"/>
                      <a:pt x="508" y="398"/>
                      <a:pt x="500" y="414"/>
                    </a:cubicBezTo>
                    <a:cubicBezTo>
                      <a:pt x="490" y="434"/>
                      <a:pt x="479" y="454"/>
                      <a:pt x="467" y="473"/>
                    </a:cubicBezTo>
                    <a:cubicBezTo>
                      <a:pt x="455" y="493"/>
                      <a:pt x="442" y="513"/>
                      <a:pt x="427" y="531"/>
                    </a:cubicBezTo>
                    <a:cubicBezTo>
                      <a:pt x="418" y="542"/>
                      <a:pt x="404" y="551"/>
                      <a:pt x="392" y="560"/>
                    </a:cubicBezTo>
                    <a:cubicBezTo>
                      <a:pt x="388" y="562"/>
                      <a:pt x="377" y="562"/>
                      <a:pt x="374" y="559"/>
                    </a:cubicBezTo>
                    <a:cubicBezTo>
                      <a:pt x="371" y="555"/>
                      <a:pt x="369" y="546"/>
                      <a:pt x="370" y="540"/>
                    </a:cubicBezTo>
                    <a:cubicBezTo>
                      <a:pt x="375" y="524"/>
                      <a:pt x="382" y="509"/>
                      <a:pt x="388" y="493"/>
                    </a:cubicBezTo>
                    <a:cubicBezTo>
                      <a:pt x="402" y="461"/>
                      <a:pt x="417" y="429"/>
                      <a:pt x="431" y="396"/>
                    </a:cubicBezTo>
                    <a:cubicBezTo>
                      <a:pt x="444" y="364"/>
                      <a:pt x="460" y="333"/>
                      <a:pt x="469" y="300"/>
                    </a:cubicBezTo>
                    <a:cubicBezTo>
                      <a:pt x="478" y="267"/>
                      <a:pt x="493" y="233"/>
                      <a:pt x="485" y="197"/>
                    </a:cubicBezTo>
                    <a:cubicBezTo>
                      <a:pt x="480" y="175"/>
                      <a:pt x="471" y="153"/>
                      <a:pt x="459" y="133"/>
                    </a:cubicBezTo>
                    <a:cubicBezTo>
                      <a:pt x="447" y="113"/>
                      <a:pt x="422" y="117"/>
                      <a:pt x="400" y="134"/>
                    </a:cubicBezTo>
                    <a:cubicBezTo>
                      <a:pt x="368" y="159"/>
                      <a:pt x="349" y="194"/>
                      <a:pt x="327" y="227"/>
                    </a:cubicBezTo>
                    <a:cubicBezTo>
                      <a:pt x="310" y="253"/>
                      <a:pt x="293" y="278"/>
                      <a:pt x="275" y="304"/>
                    </a:cubicBezTo>
                    <a:cubicBezTo>
                      <a:pt x="258" y="326"/>
                      <a:pt x="240" y="347"/>
                      <a:pt x="223" y="369"/>
                    </a:cubicBezTo>
                    <a:cubicBezTo>
                      <a:pt x="221" y="372"/>
                      <a:pt x="219" y="374"/>
                      <a:pt x="217" y="376"/>
                    </a:cubicBezTo>
                    <a:cubicBezTo>
                      <a:pt x="202" y="389"/>
                      <a:pt x="193" y="387"/>
                      <a:pt x="191" y="368"/>
                    </a:cubicBezTo>
                    <a:cubicBezTo>
                      <a:pt x="188" y="347"/>
                      <a:pt x="191" y="325"/>
                      <a:pt x="190" y="304"/>
                    </a:cubicBezTo>
                    <a:cubicBezTo>
                      <a:pt x="190" y="279"/>
                      <a:pt x="191" y="255"/>
                      <a:pt x="188" y="231"/>
                    </a:cubicBezTo>
                    <a:cubicBezTo>
                      <a:pt x="186" y="217"/>
                      <a:pt x="178" y="203"/>
                      <a:pt x="169" y="193"/>
                    </a:cubicBezTo>
                    <a:cubicBezTo>
                      <a:pt x="154" y="175"/>
                      <a:pt x="131" y="177"/>
                      <a:pt x="118" y="196"/>
                    </a:cubicBezTo>
                    <a:cubicBezTo>
                      <a:pt x="107" y="214"/>
                      <a:pt x="97" y="233"/>
                      <a:pt x="92" y="253"/>
                    </a:cubicBezTo>
                    <a:cubicBezTo>
                      <a:pt x="78" y="309"/>
                      <a:pt x="71" y="366"/>
                      <a:pt x="72" y="424"/>
                    </a:cubicBezTo>
                    <a:cubicBezTo>
                      <a:pt x="72" y="434"/>
                      <a:pt x="69" y="446"/>
                      <a:pt x="65" y="455"/>
                    </a:cubicBezTo>
                    <a:cubicBezTo>
                      <a:pt x="55" y="476"/>
                      <a:pt x="30" y="476"/>
                      <a:pt x="15" y="458"/>
                    </a:cubicBezTo>
                    <a:cubicBezTo>
                      <a:pt x="0" y="439"/>
                      <a:pt x="3" y="417"/>
                      <a:pt x="1" y="395"/>
                    </a:cubicBezTo>
                    <a:cubicBezTo>
                      <a:pt x="0" y="377"/>
                      <a:pt x="1" y="358"/>
                      <a:pt x="1" y="340"/>
                    </a:cubicBezTo>
                    <a:cubicBezTo>
                      <a:pt x="0" y="339"/>
                      <a:pt x="0" y="339"/>
                      <a:pt x="0" y="3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7" name="Freeform 334"/>
              <p:cNvSpPr/>
              <p:nvPr/>
            </p:nvSpPr>
            <p:spPr bwMode="auto">
              <a:xfrm>
                <a:off x="21866226" y="2000250"/>
                <a:ext cx="1481138" cy="1171575"/>
              </a:xfrm>
              <a:custGeom>
                <a:avLst/>
                <a:gdLst>
                  <a:gd name="T0" fmla="*/ 344 w 469"/>
                  <a:gd name="T1" fmla="*/ 371 h 371"/>
                  <a:gd name="T2" fmla="*/ 260 w 469"/>
                  <a:gd name="T3" fmla="*/ 349 h 371"/>
                  <a:gd name="T4" fmla="*/ 205 w 469"/>
                  <a:gd name="T5" fmla="*/ 327 h 371"/>
                  <a:gd name="T6" fmla="*/ 179 w 469"/>
                  <a:gd name="T7" fmla="*/ 311 h 371"/>
                  <a:gd name="T8" fmla="*/ 95 w 469"/>
                  <a:gd name="T9" fmla="*/ 249 h 371"/>
                  <a:gd name="T10" fmla="*/ 40 w 469"/>
                  <a:gd name="T11" fmla="*/ 197 h 371"/>
                  <a:gd name="T12" fmla="*/ 3 w 469"/>
                  <a:gd name="T13" fmla="*/ 139 h 371"/>
                  <a:gd name="T14" fmla="*/ 13 w 469"/>
                  <a:gd name="T15" fmla="*/ 102 h 371"/>
                  <a:gd name="T16" fmla="*/ 113 w 469"/>
                  <a:gd name="T17" fmla="*/ 17 h 371"/>
                  <a:gd name="T18" fmla="*/ 173 w 469"/>
                  <a:gd name="T19" fmla="*/ 29 h 371"/>
                  <a:gd name="T20" fmla="*/ 188 w 469"/>
                  <a:gd name="T21" fmla="*/ 51 h 371"/>
                  <a:gd name="T22" fmla="*/ 186 w 469"/>
                  <a:gd name="T23" fmla="*/ 79 h 371"/>
                  <a:gd name="T24" fmla="*/ 149 w 469"/>
                  <a:gd name="T25" fmla="*/ 119 h 371"/>
                  <a:gd name="T26" fmla="*/ 154 w 469"/>
                  <a:gd name="T27" fmla="*/ 154 h 371"/>
                  <a:gd name="T28" fmla="*/ 224 w 469"/>
                  <a:gd name="T29" fmla="*/ 182 h 371"/>
                  <a:gd name="T30" fmla="*/ 278 w 469"/>
                  <a:gd name="T31" fmla="*/ 200 h 371"/>
                  <a:gd name="T32" fmla="*/ 372 w 469"/>
                  <a:gd name="T33" fmla="*/ 228 h 371"/>
                  <a:gd name="T34" fmla="*/ 441 w 469"/>
                  <a:gd name="T35" fmla="*/ 252 h 371"/>
                  <a:gd name="T36" fmla="*/ 454 w 469"/>
                  <a:gd name="T37" fmla="*/ 310 h 371"/>
                  <a:gd name="T38" fmla="*/ 344 w 469"/>
                  <a:gd name="T39" fmla="*/ 371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9" h="371">
                    <a:moveTo>
                      <a:pt x="344" y="371"/>
                    </a:moveTo>
                    <a:cubicBezTo>
                      <a:pt x="320" y="365"/>
                      <a:pt x="290" y="358"/>
                      <a:pt x="260" y="349"/>
                    </a:cubicBezTo>
                    <a:cubicBezTo>
                      <a:pt x="242" y="343"/>
                      <a:pt x="223" y="335"/>
                      <a:pt x="205" y="327"/>
                    </a:cubicBezTo>
                    <a:cubicBezTo>
                      <a:pt x="196" y="323"/>
                      <a:pt x="187" y="317"/>
                      <a:pt x="179" y="311"/>
                    </a:cubicBezTo>
                    <a:cubicBezTo>
                      <a:pt x="151" y="291"/>
                      <a:pt x="122" y="271"/>
                      <a:pt x="95" y="249"/>
                    </a:cubicBezTo>
                    <a:cubicBezTo>
                      <a:pt x="76" y="233"/>
                      <a:pt x="57" y="216"/>
                      <a:pt x="40" y="197"/>
                    </a:cubicBezTo>
                    <a:cubicBezTo>
                      <a:pt x="25" y="180"/>
                      <a:pt x="8" y="163"/>
                      <a:pt x="3" y="139"/>
                    </a:cubicBezTo>
                    <a:cubicBezTo>
                      <a:pt x="0" y="125"/>
                      <a:pt x="2" y="113"/>
                      <a:pt x="13" y="102"/>
                    </a:cubicBezTo>
                    <a:cubicBezTo>
                      <a:pt x="44" y="71"/>
                      <a:pt x="75" y="40"/>
                      <a:pt x="113" y="17"/>
                    </a:cubicBezTo>
                    <a:cubicBezTo>
                      <a:pt x="141" y="0"/>
                      <a:pt x="153" y="2"/>
                      <a:pt x="173" y="29"/>
                    </a:cubicBezTo>
                    <a:cubicBezTo>
                      <a:pt x="178" y="37"/>
                      <a:pt x="183" y="44"/>
                      <a:pt x="188" y="51"/>
                    </a:cubicBezTo>
                    <a:cubicBezTo>
                      <a:pt x="194" y="61"/>
                      <a:pt x="195" y="70"/>
                      <a:pt x="186" y="79"/>
                    </a:cubicBezTo>
                    <a:cubicBezTo>
                      <a:pt x="173" y="92"/>
                      <a:pt x="161" y="106"/>
                      <a:pt x="149" y="119"/>
                    </a:cubicBezTo>
                    <a:cubicBezTo>
                      <a:pt x="136" y="133"/>
                      <a:pt x="137" y="146"/>
                      <a:pt x="154" y="154"/>
                    </a:cubicBezTo>
                    <a:cubicBezTo>
                      <a:pt x="177" y="165"/>
                      <a:pt x="201" y="173"/>
                      <a:pt x="224" y="182"/>
                    </a:cubicBezTo>
                    <a:cubicBezTo>
                      <a:pt x="242" y="189"/>
                      <a:pt x="260" y="194"/>
                      <a:pt x="278" y="200"/>
                    </a:cubicBezTo>
                    <a:cubicBezTo>
                      <a:pt x="309" y="210"/>
                      <a:pt x="341" y="218"/>
                      <a:pt x="372" y="228"/>
                    </a:cubicBezTo>
                    <a:cubicBezTo>
                      <a:pt x="395" y="235"/>
                      <a:pt x="419" y="241"/>
                      <a:pt x="441" y="252"/>
                    </a:cubicBezTo>
                    <a:cubicBezTo>
                      <a:pt x="469" y="266"/>
                      <a:pt x="466" y="288"/>
                      <a:pt x="454" y="310"/>
                    </a:cubicBezTo>
                    <a:cubicBezTo>
                      <a:pt x="432" y="351"/>
                      <a:pt x="394" y="366"/>
                      <a:pt x="344" y="3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8" name="Freeform 335"/>
              <p:cNvSpPr/>
              <p:nvPr/>
            </p:nvSpPr>
            <p:spPr bwMode="auto">
              <a:xfrm>
                <a:off x="15187613" y="3021013"/>
                <a:ext cx="1230313" cy="877888"/>
              </a:xfrm>
              <a:custGeom>
                <a:avLst/>
                <a:gdLst>
                  <a:gd name="T0" fmla="*/ 163 w 390"/>
                  <a:gd name="T1" fmla="*/ 194 h 278"/>
                  <a:gd name="T2" fmla="*/ 147 w 390"/>
                  <a:gd name="T3" fmla="*/ 255 h 278"/>
                  <a:gd name="T4" fmla="*/ 101 w 390"/>
                  <a:gd name="T5" fmla="*/ 267 h 278"/>
                  <a:gd name="T6" fmla="*/ 33 w 390"/>
                  <a:gd name="T7" fmla="*/ 192 h 278"/>
                  <a:gd name="T8" fmla="*/ 15 w 390"/>
                  <a:gd name="T9" fmla="*/ 156 h 278"/>
                  <a:gd name="T10" fmla="*/ 28 w 390"/>
                  <a:gd name="T11" fmla="*/ 63 h 278"/>
                  <a:gd name="T12" fmla="*/ 67 w 390"/>
                  <a:gd name="T13" fmla="*/ 22 h 278"/>
                  <a:gd name="T14" fmla="*/ 158 w 390"/>
                  <a:gd name="T15" fmla="*/ 0 h 278"/>
                  <a:gd name="T16" fmla="*/ 226 w 390"/>
                  <a:gd name="T17" fmla="*/ 9 h 278"/>
                  <a:gd name="T18" fmla="*/ 288 w 390"/>
                  <a:gd name="T19" fmla="*/ 34 h 278"/>
                  <a:gd name="T20" fmla="*/ 358 w 390"/>
                  <a:gd name="T21" fmla="*/ 83 h 278"/>
                  <a:gd name="T22" fmla="*/ 382 w 390"/>
                  <a:gd name="T23" fmla="*/ 168 h 278"/>
                  <a:gd name="T24" fmla="*/ 356 w 390"/>
                  <a:gd name="T25" fmla="*/ 207 h 278"/>
                  <a:gd name="T26" fmla="*/ 287 w 390"/>
                  <a:gd name="T27" fmla="*/ 252 h 278"/>
                  <a:gd name="T28" fmla="*/ 225 w 390"/>
                  <a:gd name="T29" fmla="*/ 223 h 278"/>
                  <a:gd name="T30" fmla="*/ 209 w 390"/>
                  <a:gd name="T31" fmla="*/ 162 h 278"/>
                  <a:gd name="T32" fmla="*/ 184 w 390"/>
                  <a:gd name="T33" fmla="*/ 139 h 278"/>
                  <a:gd name="T34" fmla="*/ 162 w 390"/>
                  <a:gd name="T35" fmla="*/ 161 h 278"/>
                  <a:gd name="T36" fmla="*/ 159 w 390"/>
                  <a:gd name="T37" fmla="*/ 192 h 278"/>
                  <a:gd name="T38" fmla="*/ 163 w 390"/>
                  <a:gd name="T39" fmla="*/ 19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90" h="278">
                    <a:moveTo>
                      <a:pt x="163" y="194"/>
                    </a:moveTo>
                    <a:cubicBezTo>
                      <a:pt x="158" y="214"/>
                      <a:pt x="153" y="235"/>
                      <a:pt x="147" y="255"/>
                    </a:cubicBezTo>
                    <a:cubicBezTo>
                      <a:pt x="141" y="272"/>
                      <a:pt x="117" y="278"/>
                      <a:pt x="101" y="267"/>
                    </a:cubicBezTo>
                    <a:cubicBezTo>
                      <a:pt x="71" y="249"/>
                      <a:pt x="48" y="224"/>
                      <a:pt x="33" y="192"/>
                    </a:cubicBezTo>
                    <a:cubicBezTo>
                      <a:pt x="27" y="180"/>
                      <a:pt x="20" y="168"/>
                      <a:pt x="15" y="156"/>
                    </a:cubicBezTo>
                    <a:cubicBezTo>
                      <a:pt x="0" y="123"/>
                      <a:pt x="11" y="91"/>
                      <a:pt x="28" y="63"/>
                    </a:cubicBezTo>
                    <a:cubicBezTo>
                      <a:pt x="37" y="47"/>
                      <a:pt x="51" y="32"/>
                      <a:pt x="67" y="22"/>
                    </a:cubicBezTo>
                    <a:cubicBezTo>
                      <a:pt x="94" y="4"/>
                      <a:pt x="126" y="0"/>
                      <a:pt x="158" y="0"/>
                    </a:cubicBezTo>
                    <a:cubicBezTo>
                      <a:pt x="181" y="0"/>
                      <a:pt x="204" y="3"/>
                      <a:pt x="226" y="9"/>
                    </a:cubicBezTo>
                    <a:cubicBezTo>
                      <a:pt x="247" y="15"/>
                      <a:pt x="267" y="27"/>
                      <a:pt x="288" y="34"/>
                    </a:cubicBezTo>
                    <a:cubicBezTo>
                      <a:pt x="316" y="43"/>
                      <a:pt x="337" y="62"/>
                      <a:pt x="358" y="83"/>
                    </a:cubicBezTo>
                    <a:cubicBezTo>
                      <a:pt x="382" y="107"/>
                      <a:pt x="390" y="136"/>
                      <a:pt x="382" y="168"/>
                    </a:cubicBezTo>
                    <a:cubicBezTo>
                      <a:pt x="378" y="182"/>
                      <a:pt x="368" y="198"/>
                      <a:pt x="356" y="207"/>
                    </a:cubicBezTo>
                    <a:cubicBezTo>
                      <a:pt x="335" y="225"/>
                      <a:pt x="312" y="241"/>
                      <a:pt x="287" y="252"/>
                    </a:cubicBezTo>
                    <a:cubicBezTo>
                      <a:pt x="255" y="267"/>
                      <a:pt x="238" y="255"/>
                      <a:pt x="225" y="223"/>
                    </a:cubicBezTo>
                    <a:cubicBezTo>
                      <a:pt x="218" y="204"/>
                      <a:pt x="214" y="182"/>
                      <a:pt x="209" y="162"/>
                    </a:cubicBezTo>
                    <a:cubicBezTo>
                      <a:pt x="205" y="149"/>
                      <a:pt x="198" y="139"/>
                      <a:pt x="184" y="139"/>
                    </a:cubicBezTo>
                    <a:cubicBezTo>
                      <a:pt x="170" y="139"/>
                      <a:pt x="164" y="149"/>
                      <a:pt x="162" y="161"/>
                    </a:cubicBezTo>
                    <a:cubicBezTo>
                      <a:pt x="160" y="172"/>
                      <a:pt x="160" y="182"/>
                      <a:pt x="159" y="192"/>
                    </a:cubicBezTo>
                    <a:cubicBezTo>
                      <a:pt x="160" y="193"/>
                      <a:pt x="162" y="193"/>
                      <a:pt x="163" y="19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9" name="Freeform 336"/>
              <p:cNvSpPr/>
              <p:nvPr/>
            </p:nvSpPr>
            <p:spPr bwMode="auto">
              <a:xfrm>
                <a:off x="18707101" y="2466975"/>
                <a:ext cx="646113" cy="2657475"/>
              </a:xfrm>
              <a:custGeom>
                <a:avLst/>
                <a:gdLst>
                  <a:gd name="T0" fmla="*/ 205 w 205"/>
                  <a:gd name="T1" fmla="*/ 138 h 841"/>
                  <a:gd name="T2" fmla="*/ 191 w 205"/>
                  <a:gd name="T3" fmla="*/ 371 h 841"/>
                  <a:gd name="T4" fmla="*/ 161 w 205"/>
                  <a:gd name="T5" fmla="*/ 459 h 841"/>
                  <a:gd name="T6" fmla="*/ 148 w 205"/>
                  <a:gd name="T7" fmla="*/ 518 h 841"/>
                  <a:gd name="T8" fmla="*/ 134 w 205"/>
                  <a:gd name="T9" fmla="*/ 719 h 841"/>
                  <a:gd name="T10" fmla="*/ 103 w 205"/>
                  <a:gd name="T11" fmla="*/ 818 h 841"/>
                  <a:gd name="T12" fmla="*/ 62 w 205"/>
                  <a:gd name="T13" fmla="*/ 824 h 841"/>
                  <a:gd name="T14" fmla="*/ 14 w 205"/>
                  <a:gd name="T15" fmla="*/ 727 h 841"/>
                  <a:gd name="T16" fmla="*/ 9 w 205"/>
                  <a:gd name="T17" fmla="*/ 643 h 841"/>
                  <a:gd name="T18" fmla="*/ 46 w 205"/>
                  <a:gd name="T19" fmla="*/ 539 h 841"/>
                  <a:gd name="T20" fmla="*/ 63 w 205"/>
                  <a:gd name="T21" fmla="*/ 493 h 841"/>
                  <a:gd name="T22" fmla="*/ 104 w 205"/>
                  <a:gd name="T23" fmla="*/ 376 h 841"/>
                  <a:gd name="T24" fmla="*/ 120 w 205"/>
                  <a:gd name="T25" fmla="*/ 319 h 841"/>
                  <a:gd name="T26" fmla="*/ 139 w 205"/>
                  <a:gd name="T27" fmla="*/ 219 h 841"/>
                  <a:gd name="T28" fmla="*/ 156 w 205"/>
                  <a:gd name="T29" fmla="*/ 25 h 841"/>
                  <a:gd name="T30" fmla="*/ 185 w 205"/>
                  <a:gd name="T31" fmla="*/ 4 h 841"/>
                  <a:gd name="T32" fmla="*/ 199 w 205"/>
                  <a:gd name="T33" fmla="*/ 22 h 841"/>
                  <a:gd name="T34" fmla="*/ 199 w 205"/>
                  <a:gd name="T35" fmla="*/ 137 h 841"/>
                  <a:gd name="T36" fmla="*/ 205 w 205"/>
                  <a:gd name="T37" fmla="*/ 138 h 8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841">
                    <a:moveTo>
                      <a:pt x="205" y="138"/>
                    </a:moveTo>
                    <a:cubicBezTo>
                      <a:pt x="201" y="215"/>
                      <a:pt x="198" y="293"/>
                      <a:pt x="191" y="371"/>
                    </a:cubicBezTo>
                    <a:cubicBezTo>
                      <a:pt x="188" y="402"/>
                      <a:pt x="178" y="432"/>
                      <a:pt x="161" y="459"/>
                    </a:cubicBezTo>
                    <a:cubicBezTo>
                      <a:pt x="150" y="478"/>
                      <a:pt x="149" y="498"/>
                      <a:pt x="148" y="518"/>
                    </a:cubicBezTo>
                    <a:cubicBezTo>
                      <a:pt x="143" y="585"/>
                      <a:pt x="141" y="653"/>
                      <a:pt x="134" y="719"/>
                    </a:cubicBezTo>
                    <a:cubicBezTo>
                      <a:pt x="130" y="753"/>
                      <a:pt x="121" y="788"/>
                      <a:pt x="103" y="818"/>
                    </a:cubicBezTo>
                    <a:cubicBezTo>
                      <a:pt x="89" y="841"/>
                      <a:pt x="77" y="840"/>
                      <a:pt x="62" y="824"/>
                    </a:cubicBezTo>
                    <a:cubicBezTo>
                      <a:pt x="35" y="797"/>
                      <a:pt x="22" y="764"/>
                      <a:pt x="14" y="727"/>
                    </a:cubicBezTo>
                    <a:cubicBezTo>
                      <a:pt x="8" y="699"/>
                      <a:pt x="0" y="671"/>
                      <a:pt x="9" y="643"/>
                    </a:cubicBezTo>
                    <a:cubicBezTo>
                      <a:pt x="21" y="608"/>
                      <a:pt x="34" y="574"/>
                      <a:pt x="46" y="539"/>
                    </a:cubicBezTo>
                    <a:cubicBezTo>
                      <a:pt x="52" y="524"/>
                      <a:pt x="57" y="508"/>
                      <a:pt x="63" y="493"/>
                    </a:cubicBezTo>
                    <a:cubicBezTo>
                      <a:pt x="76" y="454"/>
                      <a:pt x="91" y="415"/>
                      <a:pt x="104" y="376"/>
                    </a:cubicBezTo>
                    <a:cubicBezTo>
                      <a:pt x="110" y="357"/>
                      <a:pt x="116" y="338"/>
                      <a:pt x="120" y="319"/>
                    </a:cubicBezTo>
                    <a:cubicBezTo>
                      <a:pt x="127" y="285"/>
                      <a:pt x="133" y="252"/>
                      <a:pt x="139" y="219"/>
                    </a:cubicBezTo>
                    <a:cubicBezTo>
                      <a:pt x="153" y="155"/>
                      <a:pt x="154" y="90"/>
                      <a:pt x="156" y="25"/>
                    </a:cubicBezTo>
                    <a:cubicBezTo>
                      <a:pt x="157" y="4"/>
                      <a:pt x="164" y="0"/>
                      <a:pt x="185" y="4"/>
                    </a:cubicBezTo>
                    <a:cubicBezTo>
                      <a:pt x="195" y="7"/>
                      <a:pt x="199" y="12"/>
                      <a:pt x="199" y="22"/>
                    </a:cubicBezTo>
                    <a:cubicBezTo>
                      <a:pt x="199" y="61"/>
                      <a:pt x="199" y="99"/>
                      <a:pt x="199" y="137"/>
                    </a:cubicBezTo>
                    <a:cubicBezTo>
                      <a:pt x="201" y="138"/>
                      <a:pt x="203" y="138"/>
                      <a:pt x="205" y="1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0" name="Freeform 337"/>
              <p:cNvSpPr>
                <a:spLocks noEditPoints="1"/>
              </p:cNvSpPr>
              <p:nvPr/>
            </p:nvSpPr>
            <p:spPr bwMode="auto">
              <a:xfrm>
                <a:off x="27182763" y="5532438"/>
                <a:ext cx="1095375" cy="1263650"/>
              </a:xfrm>
              <a:custGeom>
                <a:avLst/>
                <a:gdLst>
                  <a:gd name="T0" fmla="*/ 153 w 347"/>
                  <a:gd name="T1" fmla="*/ 398 h 400"/>
                  <a:gd name="T2" fmla="*/ 1 w 347"/>
                  <a:gd name="T3" fmla="*/ 398 h 400"/>
                  <a:gd name="T4" fmla="*/ 0 w 347"/>
                  <a:gd name="T5" fmla="*/ 395 h 400"/>
                  <a:gd name="T6" fmla="*/ 10 w 347"/>
                  <a:gd name="T7" fmla="*/ 390 h 400"/>
                  <a:gd name="T8" fmla="*/ 41 w 347"/>
                  <a:gd name="T9" fmla="*/ 351 h 400"/>
                  <a:gd name="T10" fmla="*/ 42 w 347"/>
                  <a:gd name="T11" fmla="*/ 236 h 400"/>
                  <a:gd name="T12" fmla="*/ 42 w 347"/>
                  <a:gd name="T13" fmla="*/ 58 h 400"/>
                  <a:gd name="T14" fmla="*/ 22 w 347"/>
                  <a:gd name="T15" fmla="*/ 14 h 400"/>
                  <a:gd name="T16" fmla="*/ 18 w 347"/>
                  <a:gd name="T17" fmla="*/ 10 h 400"/>
                  <a:gd name="T18" fmla="*/ 17 w 347"/>
                  <a:gd name="T19" fmla="*/ 4 h 400"/>
                  <a:gd name="T20" fmla="*/ 28 w 347"/>
                  <a:gd name="T21" fmla="*/ 1 h 400"/>
                  <a:gd name="T22" fmla="*/ 173 w 347"/>
                  <a:gd name="T23" fmla="*/ 2 h 400"/>
                  <a:gd name="T24" fmla="*/ 249 w 347"/>
                  <a:gd name="T25" fmla="*/ 17 h 400"/>
                  <a:gd name="T26" fmla="*/ 297 w 347"/>
                  <a:gd name="T27" fmla="*/ 133 h 400"/>
                  <a:gd name="T28" fmla="*/ 242 w 347"/>
                  <a:gd name="T29" fmla="*/ 201 h 400"/>
                  <a:gd name="T30" fmla="*/ 236 w 347"/>
                  <a:gd name="T31" fmla="*/ 232 h 400"/>
                  <a:gd name="T32" fmla="*/ 279 w 347"/>
                  <a:gd name="T33" fmla="*/ 303 h 400"/>
                  <a:gd name="T34" fmla="*/ 308 w 347"/>
                  <a:gd name="T35" fmla="*/ 353 h 400"/>
                  <a:gd name="T36" fmla="*/ 347 w 347"/>
                  <a:gd name="T37" fmla="*/ 398 h 400"/>
                  <a:gd name="T38" fmla="*/ 321 w 347"/>
                  <a:gd name="T39" fmla="*/ 400 h 400"/>
                  <a:gd name="T40" fmla="*/ 263 w 347"/>
                  <a:gd name="T41" fmla="*/ 399 h 400"/>
                  <a:gd name="T42" fmla="*/ 245 w 347"/>
                  <a:gd name="T43" fmla="*/ 388 h 400"/>
                  <a:gd name="T44" fmla="*/ 209 w 347"/>
                  <a:gd name="T45" fmla="*/ 328 h 400"/>
                  <a:gd name="T46" fmla="*/ 156 w 347"/>
                  <a:gd name="T47" fmla="*/ 238 h 400"/>
                  <a:gd name="T48" fmla="*/ 150 w 347"/>
                  <a:gd name="T49" fmla="*/ 229 h 400"/>
                  <a:gd name="T50" fmla="*/ 123 w 347"/>
                  <a:gd name="T51" fmla="*/ 216 h 400"/>
                  <a:gd name="T52" fmla="*/ 113 w 347"/>
                  <a:gd name="T53" fmla="*/ 242 h 400"/>
                  <a:gd name="T54" fmla="*/ 113 w 347"/>
                  <a:gd name="T55" fmla="*/ 341 h 400"/>
                  <a:gd name="T56" fmla="*/ 118 w 347"/>
                  <a:gd name="T57" fmla="*/ 370 h 400"/>
                  <a:gd name="T58" fmla="*/ 145 w 347"/>
                  <a:gd name="T59" fmla="*/ 390 h 400"/>
                  <a:gd name="T60" fmla="*/ 153 w 347"/>
                  <a:gd name="T61" fmla="*/ 394 h 400"/>
                  <a:gd name="T62" fmla="*/ 153 w 347"/>
                  <a:gd name="T63" fmla="*/ 398 h 400"/>
                  <a:gd name="T64" fmla="*/ 112 w 347"/>
                  <a:gd name="T65" fmla="*/ 108 h 400"/>
                  <a:gd name="T66" fmla="*/ 112 w 347"/>
                  <a:gd name="T67" fmla="*/ 108 h 400"/>
                  <a:gd name="T68" fmla="*/ 112 w 347"/>
                  <a:gd name="T69" fmla="*/ 180 h 400"/>
                  <a:gd name="T70" fmla="*/ 126 w 347"/>
                  <a:gd name="T71" fmla="*/ 197 h 400"/>
                  <a:gd name="T72" fmla="*/ 171 w 347"/>
                  <a:gd name="T73" fmla="*/ 196 h 400"/>
                  <a:gd name="T74" fmla="*/ 217 w 347"/>
                  <a:gd name="T75" fmla="*/ 154 h 400"/>
                  <a:gd name="T76" fmla="*/ 219 w 347"/>
                  <a:gd name="T77" fmla="*/ 70 h 400"/>
                  <a:gd name="T78" fmla="*/ 175 w 347"/>
                  <a:gd name="T79" fmla="*/ 23 h 400"/>
                  <a:gd name="T80" fmla="*/ 129 w 347"/>
                  <a:gd name="T81" fmla="*/ 19 h 400"/>
                  <a:gd name="T82" fmla="*/ 112 w 347"/>
                  <a:gd name="T83" fmla="*/ 38 h 400"/>
                  <a:gd name="T84" fmla="*/ 112 w 347"/>
                  <a:gd name="T85" fmla="*/ 108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47" h="400">
                    <a:moveTo>
                      <a:pt x="153" y="398"/>
                    </a:moveTo>
                    <a:cubicBezTo>
                      <a:pt x="102" y="398"/>
                      <a:pt x="51" y="398"/>
                      <a:pt x="1" y="398"/>
                    </a:cubicBezTo>
                    <a:cubicBezTo>
                      <a:pt x="0" y="397"/>
                      <a:pt x="0" y="396"/>
                      <a:pt x="0" y="395"/>
                    </a:cubicBezTo>
                    <a:cubicBezTo>
                      <a:pt x="3" y="393"/>
                      <a:pt x="6" y="391"/>
                      <a:pt x="10" y="390"/>
                    </a:cubicBezTo>
                    <a:cubicBezTo>
                      <a:pt x="33" y="384"/>
                      <a:pt x="41" y="375"/>
                      <a:pt x="41" y="351"/>
                    </a:cubicBezTo>
                    <a:cubicBezTo>
                      <a:pt x="42" y="313"/>
                      <a:pt x="42" y="274"/>
                      <a:pt x="42" y="236"/>
                    </a:cubicBezTo>
                    <a:cubicBezTo>
                      <a:pt x="42" y="176"/>
                      <a:pt x="42" y="117"/>
                      <a:pt x="42" y="58"/>
                    </a:cubicBezTo>
                    <a:cubicBezTo>
                      <a:pt x="42" y="40"/>
                      <a:pt x="43" y="22"/>
                      <a:pt x="22" y="14"/>
                    </a:cubicBezTo>
                    <a:cubicBezTo>
                      <a:pt x="20" y="14"/>
                      <a:pt x="19" y="11"/>
                      <a:pt x="18" y="10"/>
                    </a:cubicBezTo>
                    <a:cubicBezTo>
                      <a:pt x="17" y="8"/>
                      <a:pt x="17" y="7"/>
                      <a:pt x="17" y="4"/>
                    </a:cubicBezTo>
                    <a:cubicBezTo>
                      <a:pt x="21" y="3"/>
                      <a:pt x="24" y="1"/>
                      <a:pt x="28" y="1"/>
                    </a:cubicBezTo>
                    <a:cubicBezTo>
                      <a:pt x="76" y="1"/>
                      <a:pt x="125" y="0"/>
                      <a:pt x="173" y="2"/>
                    </a:cubicBezTo>
                    <a:cubicBezTo>
                      <a:pt x="199" y="3"/>
                      <a:pt x="224" y="5"/>
                      <a:pt x="249" y="17"/>
                    </a:cubicBezTo>
                    <a:cubicBezTo>
                      <a:pt x="287" y="35"/>
                      <a:pt x="309" y="94"/>
                      <a:pt x="297" y="133"/>
                    </a:cubicBezTo>
                    <a:cubicBezTo>
                      <a:pt x="288" y="163"/>
                      <a:pt x="274" y="188"/>
                      <a:pt x="242" y="201"/>
                    </a:cubicBezTo>
                    <a:cubicBezTo>
                      <a:pt x="226" y="207"/>
                      <a:pt x="226" y="218"/>
                      <a:pt x="236" y="232"/>
                    </a:cubicBezTo>
                    <a:cubicBezTo>
                      <a:pt x="251" y="255"/>
                      <a:pt x="265" y="279"/>
                      <a:pt x="279" y="303"/>
                    </a:cubicBezTo>
                    <a:cubicBezTo>
                      <a:pt x="289" y="319"/>
                      <a:pt x="297" y="337"/>
                      <a:pt x="308" y="353"/>
                    </a:cubicBezTo>
                    <a:cubicBezTo>
                      <a:pt x="319" y="368"/>
                      <a:pt x="332" y="381"/>
                      <a:pt x="347" y="398"/>
                    </a:cubicBezTo>
                    <a:cubicBezTo>
                      <a:pt x="338" y="399"/>
                      <a:pt x="329" y="400"/>
                      <a:pt x="321" y="400"/>
                    </a:cubicBezTo>
                    <a:cubicBezTo>
                      <a:pt x="302" y="400"/>
                      <a:pt x="282" y="398"/>
                      <a:pt x="263" y="399"/>
                    </a:cubicBezTo>
                    <a:cubicBezTo>
                      <a:pt x="254" y="399"/>
                      <a:pt x="249" y="396"/>
                      <a:pt x="245" y="388"/>
                    </a:cubicBezTo>
                    <a:cubicBezTo>
                      <a:pt x="233" y="368"/>
                      <a:pt x="221" y="348"/>
                      <a:pt x="209" y="328"/>
                    </a:cubicBezTo>
                    <a:cubicBezTo>
                      <a:pt x="191" y="298"/>
                      <a:pt x="173" y="268"/>
                      <a:pt x="156" y="238"/>
                    </a:cubicBezTo>
                    <a:cubicBezTo>
                      <a:pt x="154" y="235"/>
                      <a:pt x="153" y="232"/>
                      <a:pt x="150" y="229"/>
                    </a:cubicBezTo>
                    <a:cubicBezTo>
                      <a:pt x="143" y="221"/>
                      <a:pt x="137" y="211"/>
                      <a:pt x="123" y="216"/>
                    </a:cubicBezTo>
                    <a:cubicBezTo>
                      <a:pt x="110" y="221"/>
                      <a:pt x="113" y="232"/>
                      <a:pt x="113" y="242"/>
                    </a:cubicBezTo>
                    <a:cubicBezTo>
                      <a:pt x="113" y="275"/>
                      <a:pt x="112" y="308"/>
                      <a:pt x="113" y="341"/>
                    </a:cubicBezTo>
                    <a:cubicBezTo>
                      <a:pt x="113" y="351"/>
                      <a:pt x="115" y="361"/>
                      <a:pt x="118" y="370"/>
                    </a:cubicBezTo>
                    <a:cubicBezTo>
                      <a:pt x="123" y="382"/>
                      <a:pt x="132" y="390"/>
                      <a:pt x="145" y="390"/>
                    </a:cubicBezTo>
                    <a:cubicBezTo>
                      <a:pt x="148" y="390"/>
                      <a:pt x="151" y="392"/>
                      <a:pt x="153" y="394"/>
                    </a:cubicBezTo>
                    <a:cubicBezTo>
                      <a:pt x="153" y="395"/>
                      <a:pt x="153" y="397"/>
                      <a:pt x="153" y="398"/>
                    </a:cubicBezTo>
                    <a:close/>
                    <a:moveTo>
                      <a:pt x="112" y="108"/>
                    </a:moveTo>
                    <a:cubicBezTo>
                      <a:pt x="112" y="108"/>
                      <a:pt x="112" y="108"/>
                      <a:pt x="112" y="108"/>
                    </a:cubicBezTo>
                    <a:cubicBezTo>
                      <a:pt x="112" y="132"/>
                      <a:pt x="112" y="156"/>
                      <a:pt x="112" y="180"/>
                    </a:cubicBezTo>
                    <a:cubicBezTo>
                      <a:pt x="112" y="191"/>
                      <a:pt x="116" y="197"/>
                      <a:pt x="126" y="197"/>
                    </a:cubicBezTo>
                    <a:cubicBezTo>
                      <a:pt x="141" y="198"/>
                      <a:pt x="157" y="200"/>
                      <a:pt x="171" y="196"/>
                    </a:cubicBezTo>
                    <a:cubicBezTo>
                      <a:pt x="193" y="191"/>
                      <a:pt x="209" y="178"/>
                      <a:pt x="217" y="154"/>
                    </a:cubicBezTo>
                    <a:cubicBezTo>
                      <a:pt x="225" y="126"/>
                      <a:pt x="226" y="99"/>
                      <a:pt x="219" y="70"/>
                    </a:cubicBezTo>
                    <a:cubicBezTo>
                      <a:pt x="213" y="46"/>
                      <a:pt x="199" y="28"/>
                      <a:pt x="175" y="23"/>
                    </a:cubicBezTo>
                    <a:cubicBezTo>
                      <a:pt x="160" y="19"/>
                      <a:pt x="144" y="20"/>
                      <a:pt x="129" y="19"/>
                    </a:cubicBezTo>
                    <a:cubicBezTo>
                      <a:pt x="116" y="19"/>
                      <a:pt x="111" y="25"/>
                      <a:pt x="112" y="38"/>
                    </a:cubicBezTo>
                    <a:cubicBezTo>
                      <a:pt x="112" y="61"/>
                      <a:pt x="112" y="85"/>
                      <a:pt x="112" y="10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1" name="Freeform 338"/>
              <p:cNvSpPr>
                <a:spLocks noEditPoints="1"/>
              </p:cNvSpPr>
              <p:nvPr/>
            </p:nvSpPr>
            <p:spPr bwMode="auto">
              <a:xfrm>
                <a:off x="15778163" y="5497513"/>
                <a:ext cx="1138238" cy="1358900"/>
              </a:xfrm>
              <a:custGeom>
                <a:avLst/>
                <a:gdLst>
                  <a:gd name="T0" fmla="*/ 179 w 361"/>
                  <a:gd name="T1" fmla="*/ 0 h 430"/>
                  <a:gd name="T2" fmla="*/ 309 w 361"/>
                  <a:gd name="T3" fmla="*/ 67 h 430"/>
                  <a:gd name="T4" fmla="*/ 348 w 361"/>
                  <a:gd name="T5" fmla="*/ 148 h 430"/>
                  <a:gd name="T6" fmla="*/ 342 w 361"/>
                  <a:gd name="T7" fmla="*/ 290 h 430"/>
                  <a:gd name="T8" fmla="*/ 311 w 361"/>
                  <a:gd name="T9" fmla="*/ 350 h 430"/>
                  <a:gd name="T10" fmla="*/ 121 w 361"/>
                  <a:gd name="T11" fmla="*/ 409 h 430"/>
                  <a:gd name="T12" fmla="*/ 35 w 361"/>
                  <a:gd name="T13" fmla="*/ 337 h 430"/>
                  <a:gd name="T14" fmla="*/ 6 w 361"/>
                  <a:gd name="T15" fmla="*/ 171 h 430"/>
                  <a:gd name="T16" fmla="*/ 37 w 361"/>
                  <a:gd name="T17" fmla="*/ 81 h 430"/>
                  <a:gd name="T18" fmla="*/ 118 w 361"/>
                  <a:gd name="T19" fmla="*/ 16 h 430"/>
                  <a:gd name="T20" fmla="*/ 179 w 361"/>
                  <a:gd name="T21" fmla="*/ 0 h 430"/>
                  <a:gd name="T22" fmla="*/ 275 w 361"/>
                  <a:gd name="T23" fmla="*/ 226 h 430"/>
                  <a:gd name="T24" fmla="*/ 265 w 361"/>
                  <a:gd name="T25" fmla="*/ 126 h 430"/>
                  <a:gd name="T26" fmla="*/ 226 w 361"/>
                  <a:gd name="T27" fmla="*/ 39 h 430"/>
                  <a:gd name="T28" fmla="*/ 166 w 361"/>
                  <a:gd name="T29" fmla="*/ 22 h 430"/>
                  <a:gd name="T30" fmla="*/ 94 w 361"/>
                  <a:gd name="T31" fmla="*/ 111 h 430"/>
                  <a:gd name="T32" fmla="*/ 86 w 361"/>
                  <a:gd name="T33" fmla="*/ 182 h 430"/>
                  <a:gd name="T34" fmla="*/ 92 w 361"/>
                  <a:gd name="T35" fmla="*/ 289 h 430"/>
                  <a:gd name="T36" fmla="*/ 112 w 361"/>
                  <a:gd name="T37" fmla="*/ 357 h 430"/>
                  <a:gd name="T38" fmla="*/ 180 w 361"/>
                  <a:gd name="T39" fmla="*/ 400 h 430"/>
                  <a:gd name="T40" fmla="*/ 256 w 361"/>
                  <a:gd name="T41" fmla="*/ 333 h 430"/>
                  <a:gd name="T42" fmla="*/ 275 w 361"/>
                  <a:gd name="T43" fmla="*/ 226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1" h="430">
                    <a:moveTo>
                      <a:pt x="179" y="0"/>
                    </a:moveTo>
                    <a:cubicBezTo>
                      <a:pt x="233" y="4"/>
                      <a:pt x="277" y="27"/>
                      <a:pt x="309" y="67"/>
                    </a:cubicBezTo>
                    <a:cubicBezTo>
                      <a:pt x="327" y="90"/>
                      <a:pt x="339" y="118"/>
                      <a:pt x="348" y="148"/>
                    </a:cubicBezTo>
                    <a:cubicBezTo>
                      <a:pt x="361" y="197"/>
                      <a:pt x="353" y="243"/>
                      <a:pt x="342" y="290"/>
                    </a:cubicBezTo>
                    <a:cubicBezTo>
                      <a:pt x="338" y="311"/>
                      <a:pt x="323" y="331"/>
                      <a:pt x="311" y="350"/>
                    </a:cubicBezTo>
                    <a:cubicBezTo>
                      <a:pt x="264" y="419"/>
                      <a:pt x="186" y="430"/>
                      <a:pt x="121" y="409"/>
                    </a:cubicBezTo>
                    <a:cubicBezTo>
                      <a:pt x="84" y="397"/>
                      <a:pt x="55" y="372"/>
                      <a:pt x="35" y="337"/>
                    </a:cubicBezTo>
                    <a:cubicBezTo>
                      <a:pt x="5" y="284"/>
                      <a:pt x="0" y="230"/>
                      <a:pt x="6" y="171"/>
                    </a:cubicBezTo>
                    <a:cubicBezTo>
                      <a:pt x="9" y="138"/>
                      <a:pt x="20" y="108"/>
                      <a:pt x="37" y="81"/>
                    </a:cubicBezTo>
                    <a:cubicBezTo>
                      <a:pt x="57" y="51"/>
                      <a:pt x="83" y="27"/>
                      <a:pt x="118" y="16"/>
                    </a:cubicBezTo>
                    <a:cubicBezTo>
                      <a:pt x="138" y="10"/>
                      <a:pt x="159" y="5"/>
                      <a:pt x="179" y="0"/>
                    </a:cubicBezTo>
                    <a:close/>
                    <a:moveTo>
                      <a:pt x="275" y="226"/>
                    </a:moveTo>
                    <a:cubicBezTo>
                      <a:pt x="271" y="186"/>
                      <a:pt x="271" y="156"/>
                      <a:pt x="265" y="126"/>
                    </a:cubicBezTo>
                    <a:cubicBezTo>
                      <a:pt x="259" y="95"/>
                      <a:pt x="255" y="61"/>
                      <a:pt x="226" y="39"/>
                    </a:cubicBezTo>
                    <a:cubicBezTo>
                      <a:pt x="209" y="27"/>
                      <a:pt x="190" y="16"/>
                      <a:pt x="166" y="22"/>
                    </a:cubicBezTo>
                    <a:cubicBezTo>
                      <a:pt x="120" y="34"/>
                      <a:pt x="105" y="72"/>
                      <a:pt x="94" y="111"/>
                    </a:cubicBezTo>
                    <a:cubicBezTo>
                      <a:pt x="88" y="134"/>
                      <a:pt x="89" y="159"/>
                      <a:pt x="86" y="182"/>
                    </a:cubicBezTo>
                    <a:cubicBezTo>
                      <a:pt x="80" y="218"/>
                      <a:pt x="85" y="254"/>
                      <a:pt x="92" y="289"/>
                    </a:cubicBezTo>
                    <a:cubicBezTo>
                      <a:pt x="97" y="312"/>
                      <a:pt x="102" y="336"/>
                      <a:pt x="112" y="357"/>
                    </a:cubicBezTo>
                    <a:cubicBezTo>
                      <a:pt x="125" y="384"/>
                      <a:pt x="148" y="400"/>
                      <a:pt x="180" y="400"/>
                    </a:cubicBezTo>
                    <a:cubicBezTo>
                      <a:pt x="216" y="399"/>
                      <a:pt x="247" y="374"/>
                      <a:pt x="256" y="333"/>
                    </a:cubicBezTo>
                    <a:cubicBezTo>
                      <a:pt x="264" y="295"/>
                      <a:pt x="270" y="256"/>
                      <a:pt x="275" y="2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2" name="Freeform 339"/>
              <p:cNvSpPr/>
              <p:nvPr/>
            </p:nvSpPr>
            <p:spPr bwMode="auto">
              <a:xfrm>
                <a:off x="18349913" y="5472113"/>
                <a:ext cx="1152525" cy="1371600"/>
              </a:xfrm>
              <a:custGeom>
                <a:avLst/>
                <a:gdLst>
                  <a:gd name="T0" fmla="*/ 329 w 365"/>
                  <a:gd name="T1" fmla="*/ 140 h 434"/>
                  <a:gd name="T2" fmla="*/ 312 w 365"/>
                  <a:gd name="T3" fmla="*/ 120 h 434"/>
                  <a:gd name="T4" fmla="*/ 294 w 365"/>
                  <a:gd name="T5" fmla="*/ 82 h 434"/>
                  <a:gd name="T6" fmla="*/ 251 w 365"/>
                  <a:gd name="T7" fmla="*/ 43 h 434"/>
                  <a:gd name="T8" fmla="*/ 139 w 365"/>
                  <a:gd name="T9" fmla="*/ 51 h 434"/>
                  <a:gd name="T10" fmla="*/ 115 w 365"/>
                  <a:gd name="T11" fmla="*/ 84 h 434"/>
                  <a:gd name="T12" fmla="*/ 90 w 365"/>
                  <a:gd name="T13" fmla="*/ 280 h 434"/>
                  <a:gd name="T14" fmla="*/ 120 w 365"/>
                  <a:gd name="T15" fmla="*/ 370 h 434"/>
                  <a:gd name="T16" fmla="*/ 214 w 365"/>
                  <a:gd name="T17" fmla="*/ 407 h 434"/>
                  <a:gd name="T18" fmla="*/ 236 w 365"/>
                  <a:gd name="T19" fmla="*/ 403 h 434"/>
                  <a:gd name="T20" fmla="*/ 253 w 365"/>
                  <a:gd name="T21" fmla="*/ 383 h 434"/>
                  <a:gd name="T22" fmla="*/ 252 w 365"/>
                  <a:gd name="T23" fmla="*/ 287 h 434"/>
                  <a:gd name="T24" fmla="*/ 242 w 365"/>
                  <a:gd name="T25" fmla="*/ 272 h 434"/>
                  <a:gd name="T26" fmla="*/ 226 w 365"/>
                  <a:gd name="T27" fmla="*/ 256 h 434"/>
                  <a:gd name="T28" fmla="*/ 227 w 365"/>
                  <a:gd name="T29" fmla="*/ 252 h 434"/>
                  <a:gd name="T30" fmla="*/ 365 w 365"/>
                  <a:gd name="T31" fmla="*/ 252 h 434"/>
                  <a:gd name="T32" fmla="*/ 340 w 365"/>
                  <a:gd name="T33" fmla="*/ 273 h 434"/>
                  <a:gd name="T34" fmla="*/ 327 w 365"/>
                  <a:gd name="T35" fmla="*/ 305 h 434"/>
                  <a:gd name="T36" fmla="*/ 329 w 365"/>
                  <a:gd name="T37" fmla="*/ 372 h 434"/>
                  <a:gd name="T38" fmla="*/ 311 w 365"/>
                  <a:gd name="T39" fmla="*/ 401 h 434"/>
                  <a:gd name="T40" fmla="*/ 145 w 365"/>
                  <a:gd name="T41" fmla="*/ 421 h 434"/>
                  <a:gd name="T42" fmla="*/ 30 w 365"/>
                  <a:gd name="T43" fmla="*/ 330 h 434"/>
                  <a:gd name="T44" fmla="*/ 4 w 365"/>
                  <a:gd name="T45" fmla="*/ 203 h 434"/>
                  <a:gd name="T46" fmla="*/ 67 w 365"/>
                  <a:gd name="T47" fmla="*/ 61 h 434"/>
                  <a:gd name="T48" fmla="*/ 232 w 365"/>
                  <a:gd name="T49" fmla="*/ 14 h 434"/>
                  <a:gd name="T50" fmla="*/ 282 w 365"/>
                  <a:gd name="T51" fmla="*/ 36 h 434"/>
                  <a:gd name="T52" fmla="*/ 311 w 365"/>
                  <a:gd name="T53" fmla="*/ 32 h 434"/>
                  <a:gd name="T54" fmla="*/ 322 w 365"/>
                  <a:gd name="T55" fmla="*/ 25 h 434"/>
                  <a:gd name="T56" fmla="*/ 327 w 365"/>
                  <a:gd name="T57" fmla="*/ 37 h 434"/>
                  <a:gd name="T58" fmla="*/ 329 w 365"/>
                  <a:gd name="T59" fmla="*/ 105 h 434"/>
                  <a:gd name="T60" fmla="*/ 333 w 365"/>
                  <a:gd name="T61" fmla="*/ 137 h 434"/>
                  <a:gd name="T62" fmla="*/ 329 w 365"/>
                  <a:gd name="T63" fmla="*/ 14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5" h="434">
                    <a:moveTo>
                      <a:pt x="329" y="140"/>
                    </a:moveTo>
                    <a:cubicBezTo>
                      <a:pt x="323" y="133"/>
                      <a:pt x="316" y="127"/>
                      <a:pt x="312" y="120"/>
                    </a:cubicBezTo>
                    <a:cubicBezTo>
                      <a:pt x="306" y="108"/>
                      <a:pt x="303" y="92"/>
                      <a:pt x="294" y="82"/>
                    </a:cubicBezTo>
                    <a:cubicBezTo>
                      <a:pt x="282" y="67"/>
                      <a:pt x="267" y="52"/>
                      <a:pt x="251" y="43"/>
                    </a:cubicBezTo>
                    <a:cubicBezTo>
                      <a:pt x="213" y="23"/>
                      <a:pt x="174" y="23"/>
                      <a:pt x="139" y="51"/>
                    </a:cubicBezTo>
                    <a:cubicBezTo>
                      <a:pt x="129" y="60"/>
                      <a:pt x="122" y="72"/>
                      <a:pt x="115" y="84"/>
                    </a:cubicBezTo>
                    <a:cubicBezTo>
                      <a:pt x="81" y="146"/>
                      <a:pt x="84" y="213"/>
                      <a:pt x="90" y="280"/>
                    </a:cubicBezTo>
                    <a:cubicBezTo>
                      <a:pt x="93" y="311"/>
                      <a:pt x="100" y="344"/>
                      <a:pt x="120" y="370"/>
                    </a:cubicBezTo>
                    <a:cubicBezTo>
                      <a:pt x="143" y="401"/>
                      <a:pt x="176" y="411"/>
                      <a:pt x="214" y="407"/>
                    </a:cubicBezTo>
                    <a:cubicBezTo>
                      <a:pt x="221" y="407"/>
                      <a:pt x="229" y="405"/>
                      <a:pt x="236" y="403"/>
                    </a:cubicBezTo>
                    <a:cubicBezTo>
                      <a:pt x="247" y="401"/>
                      <a:pt x="253" y="394"/>
                      <a:pt x="253" y="383"/>
                    </a:cubicBezTo>
                    <a:cubicBezTo>
                      <a:pt x="253" y="351"/>
                      <a:pt x="253" y="319"/>
                      <a:pt x="252" y="287"/>
                    </a:cubicBezTo>
                    <a:cubicBezTo>
                      <a:pt x="252" y="282"/>
                      <a:pt x="246" y="276"/>
                      <a:pt x="242" y="272"/>
                    </a:cubicBezTo>
                    <a:cubicBezTo>
                      <a:pt x="237" y="266"/>
                      <a:pt x="231" y="261"/>
                      <a:pt x="226" y="256"/>
                    </a:cubicBezTo>
                    <a:cubicBezTo>
                      <a:pt x="226" y="254"/>
                      <a:pt x="227" y="253"/>
                      <a:pt x="227" y="252"/>
                    </a:cubicBezTo>
                    <a:cubicBezTo>
                      <a:pt x="272" y="252"/>
                      <a:pt x="316" y="252"/>
                      <a:pt x="365" y="252"/>
                    </a:cubicBezTo>
                    <a:cubicBezTo>
                      <a:pt x="354" y="260"/>
                      <a:pt x="347" y="266"/>
                      <a:pt x="340" y="273"/>
                    </a:cubicBezTo>
                    <a:cubicBezTo>
                      <a:pt x="330" y="281"/>
                      <a:pt x="326" y="292"/>
                      <a:pt x="327" y="305"/>
                    </a:cubicBezTo>
                    <a:cubicBezTo>
                      <a:pt x="328" y="327"/>
                      <a:pt x="328" y="350"/>
                      <a:pt x="329" y="372"/>
                    </a:cubicBezTo>
                    <a:cubicBezTo>
                      <a:pt x="331" y="387"/>
                      <a:pt x="324" y="396"/>
                      <a:pt x="311" y="401"/>
                    </a:cubicBezTo>
                    <a:cubicBezTo>
                      <a:pt x="258" y="424"/>
                      <a:pt x="202" y="434"/>
                      <a:pt x="145" y="421"/>
                    </a:cubicBezTo>
                    <a:cubicBezTo>
                      <a:pt x="94" y="409"/>
                      <a:pt x="54" y="378"/>
                      <a:pt x="30" y="330"/>
                    </a:cubicBezTo>
                    <a:cubicBezTo>
                      <a:pt x="9" y="291"/>
                      <a:pt x="0" y="248"/>
                      <a:pt x="4" y="203"/>
                    </a:cubicBezTo>
                    <a:cubicBezTo>
                      <a:pt x="8" y="149"/>
                      <a:pt x="28" y="99"/>
                      <a:pt x="67" y="61"/>
                    </a:cubicBezTo>
                    <a:cubicBezTo>
                      <a:pt x="112" y="17"/>
                      <a:pt x="169" y="0"/>
                      <a:pt x="232" y="14"/>
                    </a:cubicBezTo>
                    <a:cubicBezTo>
                      <a:pt x="249" y="18"/>
                      <a:pt x="266" y="27"/>
                      <a:pt x="282" y="36"/>
                    </a:cubicBezTo>
                    <a:cubicBezTo>
                      <a:pt x="295" y="43"/>
                      <a:pt x="302" y="43"/>
                      <a:pt x="311" y="32"/>
                    </a:cubicBezTo>
                    <a:cubicBezTo>
                      <a:pt x="314" y="29"/>
                      <a:pt x="318" y="28"/>
                      <a:pt x="322" y="25"/>
                    </a:cubicBezTo>
                    <a:cubicBezTo>
                      <a:pt x="324" y="29"/>
                      <a:pt x="327" y="33"/>
                      <a:pt x="327" y="37"/>
                    </a:cubicBezTo>
                    <a:cubicBezTo>
                      <a:pt x="328" y="60"/>
                      <a:pt x="328" y="83"/>
                      <a:pt x="329" y="105"/>
                    </a:cubicBezTo>
                    <a:cubicBezTo>
                      <a:pt x="330" y="116"/>
                      <a:pt x="332" y="127"/>
                      <a:pt x="333" y="137"/>
                    </a:cubicBezTo>
                    <a:cubicBezTo>
                      <a:pt x="332" y="138"/>
                      <a:pt x="330" y="139"/>
                      <a:pt x="329" y="1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3" name="Freeform 340"/>
              <p:cNvSpPr/>
              <p:nvPr/>
            </p:nvSpPr>
            <p:spPr bwMode="auto">
              <a:xfrm>
                <a:off x="26036588" y="5532438"/>
                <a:ext cx="927100" cy="1263650"/>
              </a:xfrm>
              <a:custGeom>
                <a:avLst/>
                <a:gdLst>
                  <a:gd name="T0" fmla="*/ 294 w 294"/>
                  <a:gd name="T1" fmla="*/ 290 h 400"/>
                  <a:gd name="T2" fmla="*/ 293 w 294"/>
                  <a:gd name="T3" fmla="*/ 307 h 400"/>
                  <a:gd name="T4" fmla="*/ 283 w 294"/>
                  <a:gd name="T5" fmla="*/ 376 h 400"/>
                  <a:gd name="T6" fmla="*/ 261 w 294"/>
                  <a:gd name="T7" fmla="*/ 398 h 400"/>
                  <a:gd name="T8" fmla="*/ 61 w 294"/>
                  <a:gd name="T9" fmla="*/ 398 h 400"/>
                  <a:gd name="T10" fmla="*/ 32 w 294"/>
                  <a:gd name="T11" fmla="*/ 400 h 400"/>
                  <a:gd name="T12" fmla="*/ 1 w 294"/>
                  <a:gd name="T13" fmla="*/ 400 h 400"/>
                  <a:gd name="T14" fmla="*/ 0 w 294"/>
                  <a:gd name="T15" fmla="*/ 394 h 400"/>
                  <a:gd name="T16" fmla="*/ 11 w 294"/>
                  <a:gd name="T17" fmla="*/ 390 h 400"/>
                  <a:gd name="T18" fmla="*/ 39 w 294"/>
                  <a:gd name="T19" fmla="*/ 356 h 400"/>
                  <a:gd name="T20" fmla="*/ 39 w 294"/>
                  <a:gd name="T21" fmla="*/ 126 h 400"/>
                  <a:gd name="T22" fmla="*/ 39 w 294"/>
                  <a:gd name="T23" fmla="*/ 61 h 400"/>
                  <a:gd name="T24" fmla="*/ 23 w 294"/>
                  <a:gd name="T25" fmla="*/ 14 h 400"/>
                  <a:gd name="T26" fmla="*/ 21 w 294"/>
                  <a:gd name="T27" fmla="*/ 8 h 400"/>
                  <a:gd name="T28" fmla="*/ 21 w 294"/>
                  <a:gd name="T29" fmla="*/ 3 h 400"/>
                  <a:gd name="T30" fmla="*/ 39 w 294"/>
                  <a:gd name="T31" fmla="*/ 2 h 400"/>
                  <a:gd name="T32" fmla="*/ 220 w 294"/>
                  <a:gd name="T33" fmla="*/ 2 h 400"/>
                  <a:gd name="T34" fmla="*/ 255 w 294"/>
                  <a:gd name="T35" fmla="*/ 2 h 400"/>
                  <a:gd name="T36" fmla="*/ 268 w 294"/>
                  <a:gd name="T37" fmla="*/ 16 h 400"/>
                  <a:gd name="T38" fmla="*/ 269 w 294"/>
                  <a:gd name="T39" fmla="*/ 87 h 400"/>
                  <a:gd name="T40" fmla="*/ 266 w 294"/>
                  <a:gd name="T41" fmla="*/ 102 h 400"/>
                  <a:gd name="T42" fmla="*/ 262 w 294"/>
                  <a:gd name="T43" fmla="*/ 102 h 400"/>
                  <a:gd name="T44" fmla="*/ 257 w 294"/>
                  <a:gd name="T45" fmla="*/ 89 h 400"/>
                  <a:gd name="T46" fmla="*/ 175 w 294"/>
                  <a:gd name="T47" fmla="*/ 20 h 400"/>
                  <a:gd name="T48" fmla="*/ 136 w 294"/>
                  <a:gd name="T49" fmla="*/ 19 h 400"/>
                  <a:gd name="T50" fmla="*/ 115 w 294"/>
                  <a:gd name="T51" fmla="*/ 41 h 400"/>
                  <a:gd name="T52" fmla="*/ 117 w 294"/>
                  <a:gd name="T53" fmla="*/ 133 h 400"/>
                  <a:gd name="T54" fmla="*/ 116 w 294"/>
                  <a:gd name="T55" fmla="*/ 152 h 400"/>
                  <a:gd name="T56" fmla="*/ 125 w 294"/>
                  <a:gd name="T57" fmla="*/ 185 h 400"/>
                  <a:gd name="T58" fmla="*/ 165 w 294"/>
                  <a:gd name="T59" fmla="*/ 173 h 400"/>
                  <a:gd name="T60" fmla="*/ 183 w 294"/>
                  <a:gd name="T61" fmla="*/ 131 h 400"/>
                  <a:gd name="T62" fmla="*/ 188 w 294"/>
                  <a:gd name="T63" fmla="*/ 109 h 400"/>
                  <a:gd name="T64" fmla="*/ 190 w 294"/>
                  <a:gd name="T65" fmla="*/ 280 h 400"/>
                  <a:gd name="T66" fmla="*/ 183 w 294"/>
                  <a:gd name="T67" fmla="*/ 261 h 400"/>
                  <a:gd name="T68" fmla="*/ 170 w 294"/>
                  <a:gd name="T69" fmla="*/ 228 h 400"/>
                  <a:gd name="T70" fmla="*/ 130 w 294"/>
                  <a:gd name="T71" fmla="*/ 209 h 400"/>
                  <a:gd name="T72" fmla="*/ 115 w 294"/>
                  <a:gd name="T73" fmla="*/ 227 h 400"/>
                  <a:gd name="T74" fmla="*/ 115 w 294"/>
                  <a:gd name="T75" fmla="*/ 344 h 400"/>
                  <a:gd name="T76" fmla="*/ 151 w 294"/>
                  <a:gd name="T77" fmla="*/ 379 h 400"/>
                  <a:gd name="T78" fmla="*/ 203 w 294"/>
                  <a:gd name="T79" fmla="*/ 376 h 400"/>
                  <a:gd name="T80" fmla="*/ 270 w 294"/>
                  <a:gd name="T81" fmla="*/ 324 h 400"/>
                  <a:gd name="T82" fmla="*/ 289 w 294"/>
                  <a:gd name="T83" fmla="*/ 288 h 400"/>
                  <a:gd name="T84" fmla="*/ 294 w 294"/>
                  <a:gd name="T85" fmla="*/ 29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94" h="400">
                    <a:moveTo>
                      <a:pt x="294" y="290"/>
                    </a:moveTo>
                    <a:cubicBezTo>
                      <a:pt x="294" y="296"/>
                      <a:pt x="293" y="301"/>
                      <a:pt x="293" y="307"/>
                    </a:cubicBezTo>
                    <a:cubicBezTo>
                      <a:pt x="289" y="330"/>
                      <a:pt x="285" y="353"/>
                      <a:pt x="283" y="376"/>
                    </a:cubicBezTo>
                    <a:cubicBezTo>
                      <a:pt x="281" y="396"/>
                      <a:pt x="280" y="398"/>
                      <a:pt x="261" y="398"/>
                    </a:cubicBezTo>
                    <a:cubicBezTo>
                      <a:pt x="194" y="398"/>
                      <a:pt x="128" y="398"/>
                      <a:pt x="61" y="398"/>
                    </a:cubicBezTo>
                    <a:cubicBezTo>
                      <a:pt x="52" y="398"/>
                      <a:pt x="42" y="399"/>
                      <a:pt x="32" y="400"/>
                    </a:cubicBezTo>
                    <a:cubicBezTo>
                      <a:pt x="21" y="400"/>
                      <a:pt x="11" y="400"/>
                      <a:pt x="1" y="400"/>
                    </a:cubicBezTo>
                    <a:cubicBezTo>
                      <a:pt x="1" y="398"/>
                      <a:pt x="1" y="396"/>
                      <a:pt x="0" y="394"/>
                    </a:cubicBezTo>
                    <a:cubicBezTo>
                      <a:pt x="4" y="393"/>
                      <a:pt x="8" y="391"/>
                      <a:pt x="11" y="390"/>
                    </a:cubicBezTo>
                    <a:cubicBezTo>
                      <a:pt x="29" y="386"/>
                      <a:pt x="39" y="375"/>
                      <a:pt x="39" y="356"/>
                    </a:cubicBezTo>
                    <a:cubicBezTo>
                      <a:pt x="39" y="279"/>
                      <a:pt x="39" y="202"/>
                      <a:pt x="39" y="126"/>
                    </a:cubicBezTo>
                    <a:cubicBezTo>
                      <a:pt x="39" y="104"/>
                      <a:pt x="38" y="83"/>
                      <a:pt x="39" y="61"/>
                    </a:cubicBezTo>
                    <a:cubicBezTo>
                      <a:pt x="40" y="43"/>
                      <a:pt x="39" y="26"/>
                      <a:pt x="23" y="14"/>
                    </a:cubicBezTo>
                    <a:cubicBezTo>
                      <a:pt x="22" y="12"/>
                      <a:pt x="21" y="10"/>
                      <a:pt x="21" y="8"/>
                    </a:cubicBezTo>
                    <a:cubicBezTo>
                      <a:pt x="20" y="8"/>
                      <a:pt x="21" y="6"/>
                      <a:pt x="21" y="3"/>
                    </a:cubicBezTo>
                    <a:cubicBezTo>
                      <a:pt x="27" y="3"/>
                      <a:pt x="33" y="2"/>
                      <a:pt x="39" y="2"/>
                    </a:cubicBezTo>
                    <a:cubicBezTo>
                      <a:pt x="100" y="2"/>
                      <a:pt x="160" y="2"/>
                      <a:pt x="220" y="2"/>
                    </a:cubicBezTo>
                    <a:cubicBezTo>
                      <a:pt x="232" y="2"/>
                      <a:pt x="244" y="0"/>
                      <a:pt x="255" y="2"/>
                    </a:cubicBezTo>
                    <a:cubicBezTo>
                      <a:pt x="260" y="3"/>
                      <a:pt x="268" y="10"/>
                      <a:pt x="268" y="16"/>
                    </a:cubicBezTo>
                    <a:cubicBezTo>
                      <a:pt x="270" y="40"/>
                      <a:pt x="270" y="64"/>
                      <a:pt x="269" y="87"/>
                    </a:cubicBezTo>
                    <a:cubicBezTo>
                      <a:pt x="269" y="92"/>
                      <a:pt x="267" y="97"/>
                      <a:pt x="266" y="102"/>
                    </a:cubicBezTo>
                    <a:cubicBezTo>
                      <a:pt x="264" y="102"/>
                      <a:pt x="263" y="102"/>
                      <a:pt x="262" y="102"/>
                    </a:cubicBezTo>
                    <a:cubicBezTo>
                      <a:pt x="260" y="97"/>
                      <a:pt x="258" y="93"/>
                      <a:pt x="257" y="89"/>
                    </a:cubicBezTo>
                    <a:cubicBezTo>
                      <a:pt x="250" y="38"/>
                      <a:pt x="211" y="20"/>
                      <a:pt x="175" y="20"/>
                    </a:cubicBezTo>
                    <a:cubicBezTo>
                      <a:pt x="162" y="20"/>
                      <a:pt x="149" y="19"/>
                      <a:pt x="136" y="19"/>
                    </a:cubicBezTo>
                    <a:cubicBezTo>
                      <a:pt x="120" y="19"/>
                      <a:pt x="115" y="25"/>
                      <a:pt x="115" y="41"/>
                    </a:cubicBezTo>
                    <a:cubicBezTo>
                      <a:pt x="115" y="72"/>
                      <a:pt x="116" y="102"/>
                      <a:pt x="117" y="133"/>
                    </a:cubicBezTo>
                    <a:cubicBezTo>
                      <a:pt x="117" y="139"/>
                      <a:pt x="117" y="146"/>
                      <a:pt x="116" y="152"/>
                    </a:cubicBezTo>
                    <a:cubicBezTo>
                      <a:pt x="114" y="164"/>
                      <a:pt x="111" y="177"/>
                      <a:pt x="125" y="185"/>
                    </a:cubicBezTo>
                    <a:cubicBezTo>
                      <a:pt x="135" y="190"/>
                      <a:pt x="157" y="183"/>
                      <a:pt x="165" y="173"/>
                    </a:cubicBezTo>
                    <a:cubicBezTo>
                      <a:pt x="175" y="161"/>
                      <a:pt x="185" y="148"/>
                      <a:pt x="183" y="131"/>
                    </a:cubicBezTo>
                    <a:cubicBezTo>
                      <a:pt x="183" y="124"/>
                      <a:pt x="186" y="118"/>
                      <a:pt x="188" y="109"/>
                    </a:cubicBezTo>
                    <a:cubicBezTo>
                      <a:pt x="198" y="123"/>
                      <a:pt x="199" y="257"/>
                      <a:pt x="190" y="280"/>
                    </a:cubicBezTo>
                    <a:cubicBezTo>
                      <a:pt x="187" y="272"/>
                      <a:pt x="185" y="266"/>
                      <a:pt x="183" y="261"/>
                    </a:cubicBezTo>
                    <a:cubicBezTo>
                      <a:pt x="179" y="250"/>
                      <a:pt x="175" y="239"/>
                      <a:pt x="170" y="228"/>
                    </a:cubicBezTo>
                    <a:cubicBezTo>
                      <a:pt x="163" y="210"/>
                      <a:pt x="146" y="208"/>
                      <a:pt x="130" y="209"/>
                    </a:cubicBezTo>
                    <a:cubicBezTo>
                      <a:pt x="119" y="209"/>
                      <a:pt x="115" y="216"/>
                      <a:pt x="115" y="227"/>
                    </a:cubicBezTo>
                    <a:cubicBezTo>
                      <a:pt x="115" y="266"/>
                      <a:pt x="115" y="305"/>
                      <a:pt x="115" y="344"/>
                    </a:cubicBezTo>
                    <a:cubicBezTo>
                      <a:pt x="115" y="369"/>
                      <a:pt x="126" y="380"/>
                      <a:pt x="151" y="379"/>
                    </a:cubicBezTo>
                    <a:cubicBezTo>
                      <a:pt x="168" y="378"/>
                      <a:pt x="186" y="377"/>
                      <a:pt x="203" y="376"/>
                    </a:cubicBezTo>
                    <a:cubicBezTo>
                      <a:pt x="236" y="373"/>
                      <a:pt x="256" y="353"/>
                      <a:pt x="270" y="324"/>
                    </a:cubicBezTo>
                    <a:cubicBezTo>
                      <a:pt x="276" y="312"/>
                      <a:pt x="283" y="300"/>
                      <a:pt x="289" y="288"/>
                    </a:cubicBezTo>
                    <a:cubicBezTo>
                      <a:pt x="291" y="289"/>
                      <a:pt x="292" y="289"/>
                      <a:pt x="294" y="29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4" name="Freeform 341"/>
              <p:cNvSpPr/>
              <p:nvPr/>
            </p:nvSpPr>
            <p:spPr bwMode="auto">
              <a:xfrm>
                <a:off x="26228676" y="3602038"/>
                <a:ext cx="763588" cy="925513"/>
              </a:xfrm>
              <a:custGeom>
                <a:avLst/>
                <a:gdLst>
                  <a:gd name="T0" fmla="*/ 3 w 242"/>
                  <a:gd name="T1" fmla="*/ 56 h 293"/>
                  <a:gd name="T2" fmla="*/ 30 w 242"/>
                  <a:gd name="T3" fmla="*/ 8 h 293"/>
                  <a:gd name="T4" fmla="*/ 56 w 242"/>
                  <a:gd name="T5" fmla="*/ 3 h 293"/>
                  <a:gd name="T6" fmla="*/ 122 w 242"/>
                  <a:gd name="T7" fmla="*/ 37 h 293"/>
                  <a:gd name="T8" fmla="*/ 205 w 242"/>
                  <a:gd name="T9" fmla="*/ 91 h 293"/>
                  <a:gd name="T10" fmla="*/ 238 w 242"/>
                  <a:gd name="T11" fmla="*/ 137 h 293"/>
                  <a:gd name="T12" fmla="*/ 237 w 242"/>
                  <a:gd name="T13" fmla="*/ 255 h 293"/>
                  <a:gd name="T14" fmla="*/ 235 w 242"/>
                  <a:gd name="T15" fmla="*/ 268 h 293"/>
                  <a:gd name="T16" fmla="*/ 200 w 242"/>
                  <a:gd name="T17" fmla="*/ 286 h 293"/>
                  <a:gd name="T18" fmla="*/ 149 w 242"/>
                  <a:gd name="T19" fmla="*/ 265 h 293"/>
                  <a:gd name="T20" fmla="*/ 81 w 242"/>
                  <a:gd name="T21" fmla="*/ 217 h 293"/>
                  <a:gd name="T22" fmla="*/ 31 w 242"/>
                  <a:gd name="T23" fmla="*/ 159 h 293"/>
                  <a:gd name="T24" fmla="*/ 3 w 242"/>
                  <a:gd name="T25" fmla="*/ 56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2" h="293">
                    <a:moveTo>
                      <a:pt x="3" y="56"/>
                    </a:moveTo>
                    <a:cubicBezTo>
                      <a:pt x="0" y="37"/>
                      <a:pt x="9" y="18"/>
                      <a:pt x="30" y="8"/>
                    </a:cubicBezTo>
                    <a:cubicBezTo>
                      <a:pt x="37" y="4"/>
                      <a:pt x="49" y="0"/>
                      <a:pt x="56" y="3"/>
                    </a:cubicBezTo>
                    <a:cubicBezTo>
                      <a:pt x="79" y="11"/>
                      <a:pt x="102" y="21"/>
                      <a:pt x="122" y="37"/>
                    </a:cubicBezTo>
                    <a:cubicBezTo>
                      <a:pt x="148" y="57"/>
                      <a:pt x="176" y="75"/>
                      <a:pt x="205" y="91"/>
                    </a:cubicBezTo>
                    <a:cubicBezTo>
                      <a:pt x="225" y="102"/>
                      <a:pt x="236" y="113"/>
                      <a:pt x="238" y="137"/>
                    </a:cubicBezTo>
                    <a:cubicBezTo>
                      <a:pt x="242" y="177"/>
                      <a:pt x="240" y="216"/>
                      <a:pt x="237" y="255"/>
                    </a:cubicBezTo>
                    <a:cubicBezTo>
                      <a:pt x="237" y="259"/>
                      <a:pt x="236" y="264"/>
                      <a:pt x="235" y="268"/>
                    </a:cubicBezTo>
                    <a:cubicBezTo>
                      <a:pt x="230" y="286"/>
                      <a:pt x="217" y="293"/>
                      <a:pt x="200" y="286"/>
                    </a:cubicBezTo>
                    <a:cubicBezTo>
                      <a:pt x="183" y="279"/>
                      <a:pt x="166" y="272"/>
                      <a:pt x="149" y="265"/>
                    </a:cubicBezTo>
                    <a:cubicBezTo>
                      <a:pt x="123" y="254"/>
                      <a:pt x="101" y="236"/>
                      <a:pt x="81" y="217"/>
                    </a:cubicBezTo>
                    <a:cubicBezTo>
                      <a:pt x="63" y="199"/>
                      <a:pt x="45" y="180"/>
                      <a:pt x="31" y="159"/>
                    </a:cubicBezTo>
                    <a:cubicBezTo>
                      <a:pt x="11" y="130"/>
                      <a:pt x="2" y="96"/>
                      <a:pt x="3"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5" name="Freeform 342"/>
              <p:cNvSpPr/>
              <p:nvPr/>
            </p:nvSpPr>
            <p:spPr bwMode="auto">
              <a:xfrm>
                <a:off x="22829838" y="5529263"/>
                <a:ext cx="1022350" cy="1260475"/>
              </a:xfrm>
              <a:custGeom>
                <a:avLst/>
                <a:gdLst>
                  <a:gd name="T0" fmla="*/ 95 w 324"/>
                  <a:gd name="T1" fmla="*/ 399 h 399"/>
                  <a:gd name="T2" fmla="*/ 0 w 324"/>
                  <a:gd name="T3" fmla="*/ 399 h 399"/>
                  <a:gd name="T4" fmla="*/ 0 w 324"/>
                  <a:gd name="T5" fmla="*/ 396 h 399"/>
                  <a:gd name="T6" fmla="*/ 21 w 324"/>
                  <a:gd name="T7" fmla="*/ 385 h 399"/>
                  <a:gd name="T8" fmla="*/ 41 w 324"/>
                  <a:gd name="T9" fmla="*/ 342 h 399"/>
                  <a:gd name="T10" fmla="*/ 42 w 324"/>
                  <a:gd name="T11" fmla="*/ 186 h 399"/>
                  <a:gd name="T12" fmla="*/ 45 w 324"/>
                  <a:gd name="T13" fmla="*/ 71 h 399"/>
                  <a:gd name="T14" fmla="*/ 21 w 324"/>
                  <a:gd name="T15" fmla="*/ 21 h 399"/>
                  <a:gd name="T16" fmla="*/ 11 w 324"/>
                  <a:gd name="T17" fmla="*/ 6 h 399"/>
                  <a:gd name="T18" fmla="*/ 27 w 324"/>
                  <a:gd name="T19" fmla="*/ 2 h 399"/>
                  <a:gd name="T20" fmla="*/ 82 w 324"/>
                  <a:gd name="T21" fmla="*/ 2 h 399"/>
                  <a:gd name="T22" fmla="*/ 125 w 324"/>
                  <a:gd name="T23" fmla="*/ 26 h 399"/>
                  <a:gd name="T24" fmla="*/ 160 w 324"/>
                  <a:gd name="T25" fmla="*/ 80 h 399"/>
                  <a:gd name="T26" fmla="*/ 240 w 324"/>
                  <a:gd name="T27" fmla="*/ 198 h 399"/>
                  <a:gd name="T28" fmla="*/ 257 w 324"/>
                  <a:gd name="T29" fmla="*/ 226 h 399"/>
                  <a:gd name="T30" fmla="*/ 268 w 324"/>
                  <a:gd name="T31" fmla="*/ 236 h 399"/>
                  <a:gd name="T32" fmla="*/ 283 w 324"/>
                  <a:gd name="T33" fmla="*/ 224 h 399"/>
                  <a:gd name="T34" fmla="*/ 284 w 324"/>
                  <a:gd name="T35" fmla="*/ 202 h 399"/>
                  <a:gd name="T36" fmla="*/ 280 w 324"/>
                  <a:gd name="T37" fmla="*/ 92 h 399"/>
                  <a:gd name="T38" fmla="*/ 272 w 324"/>
                  <a:gd name="T39" fmla="*/ 31 h 399"/>
                  <a:gd name="T40" fmla="*/ 258 w 324"/>
                  <a:gd name="T41" fmla="*/ 18 h 399"/>
                  <a:gd name="T42" fmla="*/ 254 w 324"/>
                  <a:gd name="T43" fmla="*/ 7 h 399"/>
                  <a:gd name="T44" fmla="*/ 264 w 324"/>
                  <a:gd name="T45" fmla="*/ 3 h 399"/>
                  <a:gd name="T46" fmla="*/ 312 w 324"/>
                  <a:gd name="T47" fmla="*/ 0 h 399"/>
                  <a:gd name="T48" fmla="*/ 322 w 324"/>
                  <a:gd name="T49" fmla="*/ 5 h 399"/>
                  <a:gd name="T50" fmla="*/ 319 w 324"/>
                  <a:gd name="T51" fmla="*/ 15 h 399"/>
                  <a:gd name="T52" fmla="*/ 294 w 324"/>
                  <a:gd name="T53" fmla="*/ 78 h 399"/>
                  <a:gd name="T54" fmla="*/ 295 w 324"/>
                  <a:gd name="T55" fmla="*/ 181 h 399"/>
                  <a:gd name="T56" fmla="*/ 295 w 324"/>
                  <a:gd name="T57" fmla="*/ 198 h 399"/>
                  <a:gd name="T58" fmla="*/ 293 w 324"/>
                  <a:gd name="T59" fmla="*/ 233 h 399"/>
                  <a:gd name="T60" fmla="*/ 291 w 324"/>
                  <a:gd name="T61" fmla="*/ 286 h 399"/>
                  <a:gd name="T62" fmla="*/ 295 w 324"/>
                  <a:gd name="T63" fmla="*/ 386 h 399"/>
                  <a:gd name="T64" fmla="*/ 290 w 324"/>
                  <a:gd name="T65" fmla="*/ 399 h 399"/>
                  <a:gd name="T66" fmla="*/ 276 w 324"/>
                  <a:gd name="T67" fmla="*/ 393 h 399"/>
                  <a:gd name="T68" fmla="*/ 247 w 324"/>
                  <a:gd name="T69" fmla="*/ 348 h 399"/>
                  <a:gd name="T70" fmla="*/ 192 w 324"/>
                  <a:gd name="T71" fmla="*/ 265 h 399"/>
                  <a:gd name="T72" fmla="*/ 112 w 324"/>
                  <a:gd name="T73" fmla="*/ 148 h 399"/>
                  <a:gd name="T74" fmla="*/ 76 w 324"/>
                  <a:gd name="T75" fmla="*/ 95 h 399"/>
                  <a:gd name="T76" fmla="*/ 55 w 324"/>
                  <a:gd name="T77" fmla="*/ 87 h 399"/>
                  <a:gd name="T78" fmla="*/ 51 w 324"/>
                  <a:gd name="T79" fmla="*/ 111 h 399"/>
                  <a:gd name="T80" fmla="*/ 56 w 324"/>
                  <a:gd name="T81" fmla="*/ 139 h 399"/>
                  <a:gd name="T82" fmla="*/ 56 w 324"/>
                  <a:gd name="T83" fmla="*/ 180 h 399"/>
                  <a:gd name="T84" fmla="*/ 56 w 324"/>
                  <a:gd name="T85" fmla="*/ 181 h 399"/>
                  <a:gd name="T86" fmla="*/ 56 w 324"/>
                  <a:gd name="T87" fmla="*/ 303 h 399"/>
                  <a:gd name="T88" fmla="*/ 59 w 324"/>
                  <a:gd name="T89" fmla="*/ 354 h 399"/>
                  <a:gd name="T90" fmla="*/ 89 w 324"/>
                  <a:gd name="T91" fmla="*/ 391 h 399"/>
                  <a:gd name="T92" fmla="*/ 96 w 324"/>
                  <a:gd name="T93" fmla="*/ 396 h 399"/>
                  <a:gd name="T94" fmla="*/ 95 w 324"/>
                  <a:gd name="T95" fmla="*/ 399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4" h="399">
                    <a:moveTo>
                      <a:pt x="95" y="399"/>
                    </a:moveTo>
                    <a:cubicBezTo>
                      <a:pt x="63" y="399"/>
                      <a:pt x="32" y="399"/>
                      <a:pt x="0" y="399"/>
                    </a:cubicBezTo>
                    <a:cubicBezTo>
                      <a:pt x="0" y="398"/>
                      <a:pt x="0" y="397"/>
                      <a:pt x="0" y="396"/>
                    </a:cubicBezTo>
                    <a:cubicBezTo>
                      <a:pt x="7" y="392"/>
                      <a:pt x="14" y="389"/>
                      <a:pt x="21" y="385"/>
                    </a:cubicBezTo>
                    <a:cubicBezTo>
                      <a:pt x="38" y="376"/>
                      <a:pt x="41" y="359"/>
                      <a:pt x="41" y="342"/>
                    </a:cubicBezTo>
                    <a:cubicBezTo>
                      <a:pt x="41" y="290"/>
                      <a:pt x="41" y="238"/>
                      <a:pt x="42" y="186"/>
                    </a:cubicBezTo>
                    <a:cubicBezTo>
                      <a:pt x="43" y="147"/>
                      <a:pt x="44" y="109"/>
                      <a:pt x="45" y="71"/>
                    </a:cubicBezTo>
                    <a:cubicBezTo>
                      <a:pt x="45" y="50"/>
                      <a:pt x="41" y="32"/>
                      <a:pt x="21" y="21"/>
                    </a:cubicBezTo>
                    <a:cubicBezTo>
                      <a:pt x="16" y="18"/>
                      <a:pt x="14" y="11"/>
                      <a:pt x="11" y="6"/>
                    </a:cubicBezTo>
                    <a:cubicBezTo>
                      <a:pt x="16" y="5"/>
                      <a:pt x="22" y="2"/>
                      <a:pt x="27" y="2"/>
                    </a:cubicBezTo>
                    <a:cubicBezTo>
                      <a:pt x="46" y="1"/>
                      <a:pt x="64" y="2"/>
                      <a:pt x="82" y="2"/>
                    </a:cubicBezTo>
                    <a:cubicBezTo>
                      <a:pt x="101" y="2"/>
                      <a:pt x="115" y="7"/>
                      <a:pt x="125" y="26"/>
                    </a:cubicBezTo>
                    <a:cubicBezTo>
                      <a:pt x="134" y="45"/>
                      <a:pt x="148" y="62"/>
                      <a:pt x="160" y="80"/>
                    </a:cubicBezTo>
                    <a:cubicBezTo>
                      <a:pt x="187" y="119"/>
                      <a:pt x="214" y="158"/>
                      <a:pt x="240" y="198"/>
                    </a:cubicBezTo>
                    <a:cubicBezTo>
                      <a:pt x="246" y="207"/>
                      <a:pt x="251" y="217"/>
                      <a:pt x="257" y="226"/>
                    </a:cubicBezTo>
                    <a:cubicBezTo>
                      <a:pt x="260" y="230"/>
                      <a:pt x="266" y="237"/>
                      <a:pt x="268" y="236"/>
                    </a:cubicBezTo>
                    <a:cubicBezTo>
                      <a:pt x="274" y="234"/>
                      <a:pt x="281" y="229"/>
                      <a:pt x="283" y="224"/>
                    </a:cubicBezTo>
                    <a:cubicBezTo>
                      <a:pt x="286" y="217"/>
                      <a:pt x="284" y="209"/>
                      <a:pt x="284" y="202"/>
                    </a:cubicBezTo>
                    <a:cubicBezTo>
                      <a:pt x="283" y="165"/>
                      <a:pt x="282" y="128"/>
                      <a:pt x="280" y="92"/>
                    </a:cubicBezTo>
                    <a:cubicBezTo>
                      <a:pt x="279" y="71"/>
                      <a:pt x="276" y="51"/>
                      <a:pt x="272" y="31"/>
                    </a:cubicBezTo>
                    <a:cubicBezTo>
                      <a:pt x="271" y="26"/>
                      <a:pt x="262" y="23"/>
                      <a:pt x="258" y="18"/>
                    </a:cubicBezTo>
                    <a:cubicBezTo>
                      <a:pt x="256" y="15"/>
                      <a:pt x="254" y="11"/>
                      <a:pt x="254" y="7"/>
                    </a:cubicBezTo>
                    <a:cubicBezTo>
                      <a:pt x="254" y="5"/>
                      <a:pt x="260" y="3"/>
                      <a:pt x="264" y="3"/>
                    </a:cubicBezTo>
                    <a:cubicBezTo>
                      <a:pt x="280" y="1"/>
                      <a:pt x="296" y="1"/>
                      <a:pt x="312" y="0"/>
                    </a:cubicBezTo>
                    <a:cubicBezTo>
                      <a:pt x="315" y="0"/>
                      <a:pt x="320" y="3"/>
                      <a:pt x="322" y="5"/>
                    </a:cubicBezTo>
                    <a:cubicBezTo>
                      <a:pt x="324" y="7"/>
                      <a:pt x="321" y="14"/>
                      <a:pt x="319" y="15"/>
                    </a:cubicBezTo>
                    <a:cubicBezTo>
                      <a:pt x="288" y="28"/>
                      <a:pt x="295" y="55"/>
                      <a:pt x="294" y="78"/>
                    </a:cubicBezTo>
                    <a:cubicBezTo>
                      <a:pt x="293" y="113"/>
                      <a:pt x="294" y="147"/>
                      <a:pt x="295" y="181"/>
                    </a:cubicBezTo>
                    <a:cubicBezTo>
                      <a:pt x="295" y="187"/>
                      <a:pt x="295" y="192"/>
                      <a:pt x="295" y="198"/>
                    </a:cubicBezTo>
                    <a:cubicBezTo>
                      <a:pt x="294" y="209"/>
                      <a:pt x="293" y="221"/>
                      <a:pt x="293" y="233"/>
                    </a:cubicBezTo>
                    <a:cubicBezTo>
                      <a:pt x="292" y="251"/>
                      <a:pt x="291" y="269"/>
                      <a:pt x="291" y="286"/>
                    </a:cubicBezTo>
                    <a:cubicBezTo>
                      <a:pt x="292" y="320"/>
                      <a:pt x="294" y="353"/>
                      <a:pt x="295" y="386"/>
                    </a:cubicBezTo>
                    <a:cubicBezTo>
                      <a:pt x="296" y="391"/>
                      <a:pt x="292" y="395"/>
                      <a:pt x="290" y="399"/>
                    </a:cubicBezTo>
                    <a:cubicBezTo>
                      <a:pt x="286" y="397"/>
                      <a:pt x="279" y="396"/>
                      <a:pt x="276" y="393"/>
                    </a:cubicBezTo>
                    <a:cubicBezTo>
                      <a:pt x="266" y="378"/>
                      <a:pt x="257" y="363"/>
                      <a:pt x="247" y="348"/>
                    </a:cubicBezTo>
                    <a:cubicBezTo>
                      <a:pt x="229" y="320"/>
                      <a:pt x="211" y="292"/>
                      <a:pt x="192" y="265"/>
                    </a:cubicBezTo>
                    <a:cubicBezTo>
                      <a:pt x="165" y="226"/>
                      <a:pt x="138" y="187"/>
                      <a:pt x="112" y="148"/>
                    </a:cubicBezTo>
                    <a:cubicBezTo>
                      <a:pt x="100" y="130"/>
                      <a:pt x="89" y="112"/>
                      <a:pt x="76" y="95"/>
                    </a:cubicBezTo>
                    <a:cubicBezTo>
                      <a:pt x="72" y="89"/>
                      <a:pt x="60" y="85"/>
                      <a:pt x="55" y="87"/>
                    </a:cubicBezTo>
                    <a:cubicBezTo>
                      <a:pt x="46" y="91"/>
                      <a:pt x="47" y="101"/>
                      <a:pt x="51" y="111"/>
                    </a:cubicBezTo>
                    <a:cubicBezTo>
                      <a:pt x="55" y="119"/>
                      <a:pt x="55" y="130"/>
                      <a:pt x="56" y="139"/>
                    </a:cubicBezTo>
                    <a:cubicBezTo>
                      <a:pt x="56" y="153"/>
                      <a:pt x="56" y="166"/>
                      <a:pt x="56" y="180"/>
                    </a:cubicBezTo>
                    <a:cubicBezTo>
                      <a:pt x="56" y="180"/>
                      <a:pt x="56" y="181"/>
                      <a:pt x="56" y="181"/>
                    </a:cubicBezTo>
                    <a:cubicBezTo>
                      <a:pt x="56" y="222"/>
                      <a:pt x="55" y="263"/>
                      <a:pt x="56" y="303"/>
                    </a:cubicBezTo>
                    <a:cubicBezTo>
                      <a:pt x="56" y="320"/>
                      <a:pt x="57" y="337"/>
                      <a:pt x="59" y="354"/>
                    </a:cubicBezTo>
                    <a:cubicBezTo>
                      <a:pt x="62" y="372"/>
                      <a:pt x="73" y="383"/>
                      <a:pt x="89" y="391"/>
                    </a:cubicBezTo>
                    <a:cubicBezTo>
                      <a:pt x="91" y="392"/>
                      <a:pt x="93" y="394"/>
                      <a:pt x="96" y="396"/>
                    </a:cubicBezTo>
                    <a:cubicBezTo>
                      <a:pt x="95" y="397"/>
                      <a:pt x="95" y="398"/>
                      <a:pt x="95" y="3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6" name="Freeform 343"/>
              <p:cNvSpPr/>
              <p:nvPr/>
            </p:nvSpPr>
            <p:spPr bwMode="auto">
              <a:xfrm>
                <a:off x="17087851" y="5532438"/>
                <a:ext cx="1022350" cy="1270000"/>
              </a:xfrm>
              <a:custGeom>
                <a:avLst/>
                <a:gdLst>
                  <a:gd name="T0" fmla="*/ 255 w 324"/>
                  <a:gd name="T1" fmla="*/ 1 h 402"/>
                  <a:gd name="T2" fmla="*/ 314 w 324"/>
                  <a:gd name="T3" fmla="*/ 2 h 402"/>
                  <a:gd name="T4" fmla="*/ 317 w 324"/>
                  <a:gd name="T5" fmla="*/ 15 h 402"/>
                  <a:gd name="T6" fmla="*/ 297 w 324"/>
                  <a:gd name="T7" fmla="*/ 72 h 402"/>
                  <a:gd name="T8" fmla="*/ 295 w 324"/>
                  <a:gd name="T9" fmla="*/ 361 h 402"/>
                  <a:gd name="T10" fmla="*/ 297 w 324"/>
                  <a:gd name="T11" fmla="*/ 382 h 402"/>
                  <a:gd name="T12" fmla="*/ 294 w 324"/>
                  <a:gd name="T13" fmla="*/ 402 h 402"/>
                  <a:gd name="T14" fmla="*/ 289 w 324"/>
                  <a:gd name="T15" fmla="*/ 402 h 402"/>
                  <a:gd name="T16" fmla="*/ 278 w 324"/>
                  <a:gd name="T17" fmla="*/ 388 h 402"/>
                  <a:gd name="T18" fmla="*/ 180 w 324"/>
                  <a:gd name="T19" fmla="*/ 244 h 402"/>
                  <a:gd name="T20" fmla="*/ 91 w 324"/>
                  <a:gd name="T21" fmla="*/ 112 h 402"/>
                  <a:gd name="T22" fmla="*/ 75 w 324"/>
                  <a:gd name="T23" fmla="*/ 89 h 402"/>
                  <a:gd name="T24" fmla="*/ 67 w 324"/>
                  <a:gd name="T25" fmla="*/ 84 h 402"/>
                  <a:gd name="T26" fmla="*/ 61 w 324"/>
                  <a:gd name="T27" fmla="*/ 92 h 402"/>
                  <a:gd name="T28" fmla="*/ 60 w 324"/>
                  <a:gd name="T29" fmla="*/ 105 h 402"/>
                  <a:gd name="T30" fmla="*/ 60 w 324"/>
                  <a:gd name="T31" fmla="*/ 330 h 402"/>
                  <a:gd name="T32" fmla="*/ 102 w 324"/>
                  <a:gd name="T33" fmla="*/ 393 h 402"/>
                  <a:gd name="T34" fmla="*/ 100 w 324"/>
                  <a:gd name="T35" fmla="*/ 397 h 402"/>
                  <a:gd name="T36" fmla="*/ 0 w 324"/>
                  <a:gd name="T37" fmla="*/ 397 h 402"/>
                  <a:gd name="T38" fmla="*/ 10 w 324"/>
                  <a:gd name="T39" fmla="*/ 390 h 402"/>
                  <a:gd name="T40" fmla="*/ 47 w 324"/>
                  <a:gd name="T41" fmla="*/ 340 h 402"/>
                  <a:gd name="T42" fmla="*/ 47 w 324"/>
                  <a:gd name="T43" fmla="*/ 166 h 402"/>
                  <a:gd name="T44" fmla="*/ 48 w 324"/>
                  <a:gd name="T45" fmla="*/ 63 h 402"/>
                  <a:gd name="T46" fmla="*/ 23 w 324"/>
                  <a:gd name="T47" fmla="*/ 19 h 402"/>
                  <a:gd name="T48" fmla="*/ 14 w 324"/>
                  <a:gd name="T49" fmla="*/ 7 h 402"/>
                  <a:gd name="T50" fmla="*/ 27 w 324"/>
                  <a:gd name="T51" fmla="*/ 2 h 402"/>
                  <a:gd name="T52" fmla="*/ 104 w 324"/>
                  <a:gd name="T53" fmla="*/ 4 h 402"/>
                  <a:gd name="T54" fmla="*/ 120 w 324"/>
                  <a:gd name="T55" fmla="*/ 13 h 402"/>
                  <a:gd name="T56" fmla="*/ 155 w 324"/>
                  <a:gd name="T57" fmla="*/ 67 h 402"/>
                  <a:gd name="T58" fmla="*/ 221 w 324"/>
                  <a:gd name="T59" fmla="*/ 165 h 402"/>
                  <a:gd name="T60" fmla="*/ 268 w 324"/>
                  <a:gd name="T61" fmla="*/ 235 h 402"/>
                  <a:gd name="T62" fmla="*/ 276 w 324"/>
                  <a:gd name="T63" fmla="*/ 240 h 402"/>
                  <a:gd name="T64" fmla="*/ 282 w 324"/>
                  <a:gd name="T65" fmla="*/ 232 h 402"/>
                  <a:gd name="T66" fmla="*/ 283 w 324"/>
                  <a:gd name="T67" fmla="*/ 216 h 402"/>
                  <a:gd name="T68" fmla="*/ 283 w 324"/>
                  <a:gd name="T69" fmla="*/ 70 h 402"/>
                  <a:gd name="T70" fmla="*/ 261 w 324"/>
                  <a:gd name="T71" fmla="*/ 15 h 402"/>
                  <a:gd name="T72" fmla="*/ 256 w 324"/>
                  <a:gd name="T73" fmla="*/ 9 h 402"/>
                  <a:gd name="T74" fmla="*/ 255 w 324"/>
                  <a:gd name="T75" fmla="*/ 1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4" h="402">
                    <a:moveTo>
                      <a:pt x="255" y="1"/>
                    </a:moveTo>
                    <a:cubicBezTo>
                      <a:pt x="276" y="1"/>
                      <a:pt x="295" y="0"/>
                      <a:pt x="314" y="2"/>
                    </a:cubicBezTo>
                    <a:cubicBezTo>
                      <a:pt x="324" y="2"/>
                      <a:pt x="324" y="12"/>
                      <a:pt x="317" y="15"/>
                    </a:cubicBezTo>
                    <a:cubicBezTo>
                      <a:pt x="290" y="27"/>
                      <a:pt x="297" y="52"/>
                      <a:pt x="297" y="72"/>
                    </a:cubicBezTo>
                    <a:cubicBezTo>
                      <a:pt x="295" y="168"/>
                      <a:pt x="296" y="265"/>
                      <a:pt x="295" y="361"/>
                    </a:cubicBezTo>
                    <a:cubicBezTo>
                      <a:pt x="295" y="368"/>
                      <a:pt x="297" y="375"/>
                      <a:pt x="297" y="382"/>
                    </a:cubicBezTo>
                    <a:cubicBezTo>
                      <a:pt x="297" y="389"/>
                      <a:pt x="295" y="395"/>
                      <a:pt x="294" y="402"/>
                    </a:cubicBezTo>
                    <a:cubicBezTo>
                      <a:pt x="292" y="402"/>
                      <a:pt x="290" y="402"/>
                      <a:pt x="289" y="402"/>
                    </a:cubicBezTo>
                    <a:cubicBezTo>
                      <a:pt x="285" y="398"/>
                      <a:pt x="282" y="393"/>
                      <a:pt x="278" y="388"/>
                    </a:cubicBezTo>
                    <a:cubicBezTo>
                      <a:pt x="246" y="340"/>
                      <a:pt x="213" y="292"/>
                      <a:pt x="180" y="244"/>
                    </a:cubicBezTo>
                    <a:cubicBezTo>
                      <a:pt x="151" y="200"/>
                      <a:pt x="121" y="156"/>
                      <a:pt x="91" y="112"/>
                    </a:cubicBezTo>
                    <a:cubicBezTo>
                      <a:pt x="86" y="104"/>
                      <a:pt x="81" y="96"/>
                      <a:pt x="75" y="89"/>
                    </a:cubicBezTo>
                    <a:cubicBezTo>
                      <a:pt x="74" y="87"/>
                      <a:pt x="70" y="84"/>
                      <a:pt x="67" y="84"/>
                    </a:cubicBezTo>
                    <a:cubicBezTo>
                      <a:pt x="65" y="85"/>
                      <a:pt x="62" y="89"/>
                      <a:pt x="61" y="92"/>
                    </a:cubicBezTo>
                    <a:cubicBezTo>
                      <a:pt x="60" y="96"/>
                      <a:pt x="60" y="101"/>
                      <a:pt x="60" y="105"/>
                    </a:cubicBezTo>
                    <a:cubicBezTo>
                      <a:pt x="60" y="180"/>
                      <a:pt x="61" y="255"/>
                      <a:pt x="60" y="330"/>
                    </a:cubicBezTo>
                    <a:cubicBezTo>
                      <a:pt x="60" y="361"/>
                      <a:pt x="67" y="385"/>
                      <a:pt x="102" y="393"/>
                    </a:cubicBezTo>
                    <a:cubicBezTo>
                      <a:pt x="101" y="395"/>
                      <a:pt x="101" y="396"/>
                      <a:pt x="100" y="397"/>
                    </a:cubicBezTo>
                    <a:cubicBezTo>
                      <a:pt x="68" y="397"/>
                      <a:pt x="36" y="397"/>
                      <a:pt x="0" y="397"/>
                    </a:cubicBezTo>
                    <a:cubicBezTo>
                      <a:pt x="5" y="393"/>
                      <a:pt x="8" y="391"/>
                      <a:pt x="10" y="390"/>
                    </a:cubicBezTo>
                    <a:cubicBezTo>
                      <a:pt x="35" y="381"/>
                      <a:pt x="46" y="367"/>
                      <a:pt x="47" y="340"/>
                    </a:cubicBezTo>
                    <a:cubicBezTo>
                      <a:pt x="47" y="282"/>
                      <a:pt x="46" y="224"/>
                      <a:pt x="47" y="166"/>
                    </a:cubicBezTo>
                    <a:cubicBezTo>
                      <a:pt x="47" y="132"/>
                      <a:pt x="48" y="97"/>
                      <a:pt x="48" y="63"/>
                    </a:cubicBezTo>
                    <a:cubicBezTo>
                      <a:pt x="49" y="43"/>
                      <a:pt x="41" y="28"/>
                      <a:pt x="23" y="19"/>
                    </a:cubicBezTo>
                    <a:cubicBezTo>
                      <a:pt x="19" y="17"/>
                      <a:pt x="17" y="11"/>
                      <a:pt x="14" y="7"/>
                    </a:cubicBezTo>
                    <a:cubicBezTo>
                      <a:pt x="18" y="5"/>
                      <a:pt x="23" y="1"/>
                      <a:pt x="27" y="2"/>
                    </a:cubicBezTo>
                    <a:cubicBezTo>
                      <a:pt x="53" y="2"/>
                      <a:pt x="79" y="2"/>
                      <a:pt x="104" y="4"/>
                    </a:cubicBezTo>
                    <a:cubicBezTo>
                      <a:pt x="110" y="4"/>
                      <a:pt x="116" y="9"/>
                      <a:pt x="120" y="13"/>
                    </a:cubicBezTo>
                    <a:cubicBezTo>
                      <a:pt x="132" y="31"/>
                      <a:pt x="143" y="49"/>
                      <a:pt x="155" y="67"/>
                    </a:cubicBezTo>
                    <a:cubicBezTo>
                      <a:pt x="177" y="99"/>
                      <a:pt x="199" y="132"/>
                      <a:pt x="221" y="165"/>
                    </a:cubicBezTo>
                    <a:cubicBezTo>
                      <a:pt x="236" y="188"/>
                      <a:pt x="252" y="212"/>
                      <a:pt x="268" y="235"/>
                    </a:cubicBezTo>
                    <a:cubicBezTo>
                      <a:pt x="269" y="238"/>
                      <a:pt x="274" y="241"/>
                      <a:pt x="276" y="240"/>
                    </a:cubicBezTo>
                    <a:cubicBezTo>
                      <a:pt x="279" y="239"/>
                      <a:pt x="282" y="235"/>
                      <a:pt x="282" y="232"/>
                    </a:cubicBezTo>
                    <a:cubicBezTo>
                      <a:pt x="284" y="227"/>
                      <a:pt x="283" y="221"/>
                      <a:pt x="283" y="216"/>
                    </a:cubicBezTo>
                    <a:cubicBezTo>
                      <a:pt x="283" y="167"/>
                      <a:pt x="283" y="119"/>
                      <a:pt x="283" y="70"/>
                    </a:cubicBezTo>
                    <a:cubicBezTo>
                      <a:pt x="283" y="49"/>
                      <a:pt x="282" y="28"/>
                      <a:pt x="261" y="15"/>
                    </a:cubicBezTo>
                    <a:cubicBezTo>
                      <a:pt x="259" y="14"/>
                      <a:pt x="257" y="11"/>
                      <a:pt x="256" y="9"/>
                    </a:cubicBezTo>
                    <a:cubicBezTo>
                      <a:pt x="256" y="8"/>
                      <a:pt x="256" y="6"/>
                      <a:pt x="25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7" name="Freeform 344"/>
              <p:cNvSpPr/>
              <p:nvPr/>
            </p:nvSpPr>
            <p:spPr bwMode="auto">
              <a:xfrm>
                <a:off x="21639213" y="5532438"/>
                <a:ext cx="962025" cy="1282700"/>
              </a:xfrm>
              <a:custGeom>
                <a:avLst/>
                <a:gdLst>
                  <a:gd name="T0" fmla="*/ 229 w 305"/>
                  <a:gd name="T1" fmla="*/ 1 h 406"/>
                  <a:gd name="T2" fmla="*/ 294 w 305"/>
                  <a:gd name="T3" fmla="*/ 2 h 406"/>
                  <a:gd name="T4" fmla="*/ 296 w 305"/>
                  <a:gd name="T5" fmla="*/ 16 h 406"/>
                  <a:gd name="T6" fmla="*/ 278 w 305"/>
                  <a:gd name="T7" fmla="*/ 63 h 406"/>
                  <a:gd name="T8" fmla="*/ 277 w 305"/>
                  <a:gd name="T9" fmla="*/ 266 h 406"/>
                  <a:gd name="T10" fmla="*/ 264 w 305"/>
                  <a:gd name="T11" fmla="*/ 340 h 406"/>
                  <a:gd name="T12" fmla="*/ 188 w 305"/>
                  <a:gd name="T13" fmla="*/ 403 h 406"/>
                  <a:gd name="T14" fmla="*/ 113 w 305"/>
                  <a:gd name="T15" fmla="*/ 403 h 406"/>
                  <a:gd name="T16" fmla="*/ 32 w 305"/>
                  <a:gd name="T17" fmla="*/ 319 h 406"/>
                  <a:gd name="T18" fmla="*/ 27 w 305"/>
                  <a:gd name="T19" fmla="*/ 111 h 406"/>
                  <a:gd name="T20" fmla="*/ 26 w 305"/>
                  <a:gd name="T21" fmla="*/ 52 h 406"/>
                  <a:gd name="T22" fmla="*/ 0 w 305"/>
                  <a:gd name="T23" fmla="*/ 4 h 406"/>
                  <a:gd name="T24" fmla="*/ 3 w 305"/>
                  <a:gd name="T25" fmla="*/ 1 h 406"/>
                  <a:gd name="T26" fmla="*/ 107 w 305"/>
                  <a:gd name="T27" fmla="*/ 2 h 406"/>
                  <a:gd name="T28" fmla="*/ 120 w 305"/>
                  <a:gd name="T29" fmla="*/ 7 h 406"/>
                  <a:gd name="T30" fmla="*/ 113 w 305"/>
                  <a:gd name="T31" fmla="*/ 19 h 406"/>
                  <a:gd name="T32" fmla="*/ 102 w 305"/>
                  <a:gd name="T33" fmla="*/ 39 h 406"/>
                  <a:gd name="T34" fmla="*/ 103 w 305"/>
                  <a:gd name="T35" fmla="*/ 318 h 406"/>
                  <a:gd name="T36" fmla="*/ 175 w 305"/>
                  <a:gd name="T37" fmla="*/ 383 h 406"/>
                  <a:gd name="T38" fmla="*/ 250 w 305"/>
                  <a:gd name="T39" fmla="*/ 321 h 406"/>
                  <a:gd name="T40" fmla="*/ 260 w 305"/>
                  <a:gd name="T41" fmla="*/ 236 h 406"/>
                  <a:gd name="T42" fmla="*/ 260 w 305"/>
                  <a:gd name="T43" fmla="*/ 68 h 406"/>
                  <a:gd name="T44" fmla="*/ 257 w 305"/>
                  <a:gd name="T45" fmla="*/ 40 h 406"/>
                  <a:gd name="T46" fmla="*/ 238 w 305"/>
                  <a:gd name="T47" fmla="*/ 14 h 406"/>
                  <a:gd name="T48" fmla="*/ 227 w 305"/>
                  <a:gd name="T49" fmla="*/ 5 h 406"/>
                  <a:gd name="T50" fmla="*/ 229 w 305"/>
                  <a:gd name="T51" fmla="*/ 1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5" h="406">
                    <a:moveTo>
                      <a:pt x="229" y="1"/>
                    </a:moveTo>
                    <a:cubicBezTo>
                      <a:pt x="251" y="1"/>
                      <a:pt x="273" y="0"/>
                      <a:pt x="294" y="2"/>
                    </a:cubicBezTo>
                    <a:cubicBezTo>
                      <a:pt x="305" y="3"/>
                      <a:pt x="301" y="13"/>
                      <a:pt x="296" y="16"/>
                    </a:cubicBezTo>
                    <a:cubicBezTo>
                      <a:pt x="277" y="27"/>
                      <a:pt x="279" y="45"/>
                      <a:pt x="278" y="63"/>
                    </a:cubicBezTo>
                    <a:cubicBezTo>
                      <a:pt x="278" y="131"/>
                      <a:pt x="279" y="199"/>
                      <a:pt x="277" y="266"/>
                    </a:cubicBezTo>
                    <a:cubicBezTo>
                      <a:pt x="277" y="291"/>
                      <a:pt x="273" y="317"/>
                      <a:pt x="264" y="340"/>
                    </a:cubicBezTo>
                    <a:cubicBezTo>
                      <a:pt x="250" y="372"/>
                      <a:pt x="225" y="398"/>
                      <a:pt x="188" y="403"/>
                    </a:cubicBezTo>
                    <a:cubicBezTo>
                      <a:pt x="163" y="406"/>
                      <a:pt x="138" y="405"/>
                      <a:pt x="113" y="403"/>
                    </a:cubicBezTo>
                    <a:cubicBezTo>
                      <a:pt x="75" y="400"/>
                      <a:pt x="33" y="359"/>
                      <a:pt x="32" y="319"/>
                    </a:cubicBezTo>
                    <a:cubicBezTo>
                      <a:pt x="29" y="250"/>
                      <a:pt x="28" y="180"/>
                      <a:pt x="27" y="111"/>
                    </a:cubicBezTo>
                    <a:cubicBezTo>
                      <a:pt x="26" y="91"/>
                      <a:pt x="27" y="71"/>
                      <a:pt x="26" y="52"/>
                    </a:cubicBezTo>
                    <a:cubicBezTo>
                      <a:pt x="25" y="32"/>
                      <a:pt x="17" y="15"/>
                      <a:pt x="0" y="4"/>
                    </a:cubicBezTo>
                    <a:cubicBezTo>
                      <a:pt x="2" y="2"/>
                      <a:pt x="2" y="1"/>
                      <a:pt x="3" y="1"/>
                    </a:cubicBezTo>
                    <a:cubicBezTo>
                      <a:pt x="38" y="1"/>
                      <a:pt x="73" y="1"/>
                      <a:pt x="107" y="2"/>
                    </a:cubicBezTo>
                    <a:cubicBezTo>
                      <a:pt x="112" y="2"/>
                      <a:pt x="116" y="5"/>
                      <a:pt x="120" y="7"/>
                    </a:cubicBezTo>
                    <a:cubicBezTo>
                      <a:pt x="118" y="11"/>
                      <a:pt x="115" y="15"/>
                      <a:pt x="113" y="19"/>
                    </a:cubicBezTo>
                    <a:cubicBezTo>
                      <a:pt x="109" y="26"/>
                      <a:pt x="102" y="32"/>
                      <a:pt x="102" y="39"/>
                    </a:cubicBezTo>
                    <a:cubicBezTo>
                      <a:pt x="102" y="132"/>
                      <a:pt x="103" y="225"/>
                      <a:pt x="103" y="318"/>
                    </a:cubicBezTo>
                    <a:cubicBezTo>
                      <a:pt x="103" y="356"/>
                      <a:pt x="140" y="384"/>
                      <a:pt x="175" y="383"/>
                    </a:cubicBezTo>
                    <a:cubicBezTo>
                      <a:pt x="206" y="383"/>
                      <a:pt x="245" y="351"/>
                      <a:pt x="250" y="321"/>
                    </a:cubicBezTo>
                    <a:cubicBezTo>
                      <a:pt x="255" y="293"/>
                      <a:pt x="259" y="264"/>
                      <a:pt x="260" y="236"/>
                    </a:cubicBezTo>
                    <a:cubicBezTo>
                      <a:pt x="261" y="180"/>
                      <a:pt x="260" y="124"/>
                      <a:pt x="260" y="68"/>
                    </a:cubicBezTo>
                    <a:cubicBezTo>
                      <a:pt x="260" y="59"/>
                      <a:pt x="258" y="49"/>
                      <a:pt x="257" y="40"/>
                    </a:cubicBezTo>
                    <a:cubicBezTo>
                      <a:pt x="255" y="28"/>
                      <a:pt x="250" y="20"/>
                      <a:pt x="238" y="14"/>
                    </a:cubicBezTo>
                    <a:cubicBezTo>
                      <a:pt x="234" y="13"/>
                      <a:pt x="231" y="8"/>
                      <a:pt x="227" y="5"/>
                    </a:cubicBezTo>
                    <a:cubicBezTo>
                      <a:pt x="228" y="3"/>
                      <a:pt x="229" y="2"/>
                      <a:pt x="22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8" name="Freeform 345"/>
              <p:cNvSpPr/>
              <p:nvPr/>
            </p:nvSpPr>
            <p:spPr bwMode="auto">
              <a:xfrm>
                <a:off x="28457526" y="5462588"/>
                <a:ext cx="741363" cy="1374775"/>
              </a:xfrm>
              <a:custGeom>
                <a:avLst/>
                <a:gdLst>
                  <a:gd name="T0" fmla="*/ 11 w 235"/>
                  <a:gd name="T1" fmla="*/ 291 h 435"/>
                  <a:gd name="T2" fmla="*/ 16 w 235"/>
                  <a:gd name="T3" fmla="*/ 314 h 435"/>
                  <a:gd name="T4" fmla="*/ 43 w 235"/>
                  <a:gd name="T5" fmla="*/ 373 h 435"/>
                  <a:gd name="T6" fmla="*/ 119 w 235"/>
                  <a:gd name="T7" fmla="*/ 412 h 435"/>
                  <a:gd name="T8" fmla="*/ 175 w 235"/>
                  <a:gd name="T9" fmla="*/ 378 h 435"/>
                  <a:gd name="T10" fmla="*/ 170 w 235"/>
                  <a:gd name="T11" fmla="*/ 315 h 435"/>
                  <a:gd name="T12" fmla="*/ 109 w 235"/>
                  <a:gd name="T13" fmla="*/ 264 h 435"/>
                  <a:gd name="T14" fmla="*/ 27 w 235"/>
                  <a:gd name="T15" fmla="*/ 200 h 435"/>
                  <a:gd name="T16" fmla="*/ 6 w 235"/>
                  <a:gd name="T17" fmla="*/ 156 h 435"/>
                  <a:gd name="T18" fmla="*/ 21 w 235"/>
                  <a:gd name="T19" fmla="*/ 58 h 435"/>
                  <a:gd name="T20" fmla="*/ 148 w 235"/>
                  <a:gd name="T21" fmla="*/ 24 h 435"/>
                  <a:gd name="T22" fmla="*/ 174 w 235"/>
                  <a:gd name="T23" fmla="*/ 38 h 435"/>
                  <a:gd name="T24" fmla="*/ 202 w 235"/>
                  <a:gd name="T25" fmla="*/ 31 h 435"/>
                  <a:gd name="T26" fmla="*/ 201 w 235"/>
                  <a:gd name="T27" fmla="*/ 121 h 435"/>
                  <a:gd name="T28" fmla="*/ 183 w 235"/>
                  <a:gd name="T29" fmla="*/ 79 h 435"/>
                  <a:gd name="T30" fmla="*/ 114 w 235"/>
                  <a:gd name="T31" fmla="*/ 31 h 435"/>
                  <a:gd name="T32" fmla="*/ 52 w 235"/>
                  <a:gd name="T33" fmla="*/ 69 h 435"/>
                  <a:gd name="T34" fmla="*/ 68 w 235"/>
                  <a:gd name="T35" fmla="*/ 128 h 435"/>
                  <a:gd name="T36" fmla="*/ 155 w 235"/>
                  <a:gd name="T37" fmla="*/ 188 h 435"/>
                  <a:gd name="T38" fmla="*/ 233 w 235"/>
                  <a:gd name="T39" fmla="*/ 312 h 435"/>
                  <a:gd name="T40" fmla="*/ 166 w 235"/>
                  <a:gd name="T41" fmla="*/ 419 h 435"/>
                  <a:gd name="T42" fmla="*/ 61 w 235"/>
                  <a:gd name="T43" fmla="*/ 414 h 435"/>
                  <a:gd name="T44" fmla="*/ 15 w 235"/>
                  <a:gd name="T45" fmla="*/ 417 h 435"/>
                  <a:gd name="T46" fmla="*/ 3 w 235"/>
                  <a:gd name="T47" fmla="*/ 413 h 435"/>
                  <a:gd name="T48" fmla="*/ 3 w 235"/>
                  <a:gd name="T49" fmla="*/ 300 h 435"/>
                  <a:gd name="T50" fmla="*/ 11 w 235"/>
                  <a:gd name="T51" fmla="*/ 291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35" h="435">
                    <a:moveTo>
                      <a:pt x="11" y="291"/>
                    </a:moveTo>
                    <a:cubicBezTo>
                      <a:pt x="13" y="302"/>
                      <a:pt x="14" y="308"/>
                      <a:pt x="16" y="314"/>
                    </a:cubicBezTo>
                    <a:cubicBezTo>
                      <a:pt x="24" y="334"/>
                      <a:pt x="30" y="357"/>
                      <a:pt x="43" y="373"/>
                    </a:cubicBezTo>
                    <a:cubicBezTo>
                      <a:pt x="62" y="396"/>
                      <a:pt x="86" y="412"/>
                      <a:pt x="119" y="412"/>
                    </a:cubicBezTo>
                    <a:cubicBezTo>
                      <a:pt x="146" y="412"/>
                      <a:pt x="165" y="400"/>
                      <a:pt x="175" y="378"/>
                    </a:cubicBezTo>
                    <a:cubicBezTo>
                      <a:pt x="185" y="357"/>
                      <a:pt x="183" y="336"/>
                      <a:pt x="170" y="315"/>
                    </a:cubicBezTo>
                    <a:cubicBezTo>
                      <a:pt x="155" y="291"/>
                      <a:pt x="131" y="279"/>
                      <a:pt x="109" y="264"/>
                    </a:cubicBezTo>
                    <a:cubicBezTo>
                      <a:pt x="79" y="246"/>
                      <a:pt x="49" y="228"/>
                      <a:pt x="27" y="200"/>
                    </a:cubicBezTo>
                    <a:cubicBezTo>
                      <a:pt x="17" y="187"/>
                      <a:pt x="9" y="172"/>
                      <a:pt x="6" y="156"/>
                    </a:cubicBezTo>
                    <a:cubicBezTo>
                      <a:pt x="0" y="122"/>
                      <a:pt x="1" y="89"/>
                      <a:pt x="21" y="58"/>
                    </a:cubicBezTo>
                    <a:cubicBezTo>
                      <a:pt x="46" y="17"/>
                      <a:pt x="106" y="0"/>
                      <a:pt x="148" y="24"/>
                    </a:cubicBezTo>
                    <a:cubicBezTo>
                      <a:pt x="157" y="29"/>
                      <a:pt x="166" y="33"/>
                      <a:pt x="174" y="38"/>
                    </a:cubicBezTo>
                    <a:cubicBezTo>
                      <a:pt x="187" y="47"/>
                      <a:pt x="194" y="36"/>
                      <a:pt x="202" y="31"/>
                    </a:cubicBezTo>
                    <a:cubicBezTo>
                      <a:pt x="212" y="44"/>
                      <a:pt x="211" y="113"/>
                      <a:pt x="201" y="121"/>
                    </a:cubicBezTo>
                    <a:cubicBezTo>
                      <a:pt x="195" y="107"/>
                      <a:pt x="191" y="92"/>
                      <a:pt x="183" y="79"/>
                    </a:cubicBezTo>
                    <a:cubicBezTo>
                      <a:pt x="168" y="52"/>
                      <a:pt x="143" y="38"/>
                      <a:pt x="114" y="31"/>
                    </a:cubicBezTo>
                    <a:cubicBezTo>
                      <a:pt x="95" y="26"/>
                      <a:pt x="66" y="39"/>
                      <a:pt x="52" y="69"/>
                    </a:cubicBezTo>
                    <a:cubicBezTo>
                      <a:pt x="44" y="87"/>
                      <a:pt x="50" y="114"/>
                      <a:pt x="68" y="128"/>
                    </a:cubicBezTo>
                    <a:cubicBezTo>
                      <a:pt x="95" y="151"/>
                      <a:pt x="125" y="169"/>
                      <a:pt x="155" y="188"/>
                    </a:cubicBezTo>
                    <a:cubicBezTo>
                      <a:pt x="200" y="218"/>
                      <a:pt x="235" y="254"/>
                      <a:pt x="233" y="312"/>
                    </a:cubicBezTo>
                    <a:cubicBezTo>
                      <a:pt x="230" y="359"/>
                      <a:pt x="210" y="400"/>
                      <a:pt x="166" y="419"/>
                    </a:cubicBezTo>
                    <a:cubicBezTo>
                      <a:pt x="133" y="434"/>
                      <a:pt x="95" y="435"/>
                      <a:pt x="61" y="414"/>
                    </a:cubicBezTo>
                    <a:cubicBezTo>
                      <a:pt x="45" y="404"/>
                      <a:pt x="30" y="404"/>
                      <a:pt x="15" y="417"/>
                    </a:cubicBezTo>
                    <a:cubicBezTo>
                      <a:pt x="9" y="421"/>
                      <a:pt x="3" y="421"/>
                      <a:pt x="3" y="413"/>
                    </a:cubicBezTo>
                    <a:cubicBezTo>
                      <a:pt x="3" y="376"/>
                      <a:pt x="3" y="338"/>
                      <a:pt x="3" y="300"/>
                    </a:cubicBezTo>
                    <a:cubicBezTo>
                      <a:pt x="4" y="298"/>
                      <a:pt x="6" y="297"/>
                      <a:pt x="11" y="2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9" name="Freeform 346"/>
              <p:cNvSpPr/>
              <p:nvPr/>
            </p:nvSpPr>
            <p:spPr bwMode="auto">
              <a:xfrm>
                <a:off x="31280101" y="5532438"/>
                <a:ext cx="1022350" cy="1257300"/>
              </a:xfrm>
              <a:custGeom>
                <a:avLst/>
                <a:gdLst>
                  <a:gd name="T0" fmla="*/ 240 w 324"/>
                  <a:gd name="T1" fmla="*/ 398 h 398"/>
                  <a:gd name="T2" fmla="*/ 81 w 324"/>
                  <a:gd name="T3" fmla="*/ 398 h 398"/>
                  <a:gd name="T4" fmla="*/ 81 w 324"/>
                  <a:gd name="T5" fmla="*/ 394 h 398"/>
                  <a:gd name="T6" fmla="*/ 91 w 324"/>
                  <a:gd name="T7" fmla="*/ 392 h 398"/>
                  <a:gd name="T8" fmla="*/ 124 w 324"/>
                  <a:gd name="T9" fmla="*/ 356 h 398"/>
                  <a:gd name="T10" fmla="*/ 123 w 324"/>
                  <a:gd name="T11" fmla="*/ 253 h 398"/>
                  <a:gd name="T12" fmla="*/ 105 w 324"/>
                  <a:gd name="T13" fmla="*/ 209 h 398"/>
                  <a:gd name="T14" fmla="*/ 79 w 324"/>
                  <a:gd name="T15" fmla="*/ 154 h 398"/>
                  <a:gd name="T16" fmla="*/ 23 w 324"/>
                  <a:gd name="T17" fmla="*/ 36 h 398"/>
                  <a:gd name="T18" fmla="*/ 6 w 324"/>
                  <a:gd name="T19" fmla="*/ 18 h 398"/>
                  <a:gd name="T20" fmla="*/ 0 w 324"/>
                  <a:gd name="T21" fmla="*/ 4 h 398"/>
                  <a:gd name="T22" fmla="*/ 13 w 324"/>
                  <a:gd name="T23" fmla="*/ 0 h 398"/>
                  <a:gd name="T24" fmla="*/ 103 w 324"/>
                  <a:gd name="T25" fmla="*/ 1 h 398"/>
                  <a:gd name="T26" fmla="*/ 118 w 324"/>
                  <a:gd name="T27" fmla="*/ 5 h 398"/>
                  <a:gd name="T28" fmla="*/ 112 w 324"/>
                  <a:gd name="T29" fmla="*/ 19 h 398"/>
                  <a:gd name="T30" fmla="*/ 111 w 324"/>
                  <a:gd name="T31" fmla="*/ 44 h 398"/>
                  <a:gd name="T32" fmla="*/ 134 w 324"/>
                  <a:gd name="T33" fmla="*/ 95 h 398"/>
                  <a:gd name="T34" fmla="*/ 172 w 324"/>
                  <a:gd name="T35" fmla="*/ 179 h 398"/>
                  <a:gd name="T36" fmla="*/ 182 w 324"/>
                  <a:gd name="T37" fmla="*/ 203 h 398"/>
                  <a:gd name="T38" fmla="*/ 195 w 324"/>
                  <a:gd name="T39" fmla="*/ 204 h 398"/>
                  <a:gd name="T40" fmla="*/ 226 w 324"/>
                  <a:gd name="T41" fmla="*/ 144 h 398"/>
                  <a:gd name="T42" fmla="*/ 245 w 324"/>
                  <a:gd name="T43" fmla="*/ 107 h 398"/>
                  <a:gd name="T44" fmla="*/ 273 w 324"/>
                  <a:gd name="T45" fmla="*/ 43 h 398"/>
                  <a:gd name="T46" fmla="*/ 264 w 324"/>
                  <a:gd name="T47" fmla="*/ 16 h 398"/>
                  <a:gd name="T48" fmla="*/ 258 w 324"/>
                  <a:gd name="T49" fmla="*/ 3 h 398"/>
                  <a:gd name="T50" fmla="*/ 272 w 324"/>
                  <a:gd name="T51" fmla="*/ 0 h 398"/>
                  <a:gd name="T52" fmla="*/ 310 w 324"/>
                  <a:gd name="T53" fmla="*/ 1 h 398"/>
                  <a:gd name="T54" fmla="*/ 324 w 324"/>
                  <a:gd name="T55" fmla="*/ 7 h 398"/>
                  <a:gd name="T56" fmla="*/ 316 w 324"/>
                  <a:gd name="T57" fmla="*/ 18 h 398"/>
                  <a:gd name="T58" fmla="*/ 289 w 324"/>
                  <a:gd name="T59" fmla="*/ 55 h 398"/>
                  <a:gd name="T60" fmla="*/ 255 w 324"/>
                  <a:gd name="T61" fmla="*/ 122 h 398"/>
                  <a:gd name="T62" fmla="*/ 200 w 324"/>
                  <a:gd name="T63" fmla="*/ 228 h 398"/>
                  <a:gd name="T64" fmla="*/ 197 w 324"/>
                  <a:gd name="T65" fmla="*/ 243 h 398"/>
                  <a:gd name="T66" fmla="*/ 196 w 324"/>
                  <a:gd name="T67" fmla="*/ 340 h 398"/>
                  <a:gd name="T68" fmla="*/ 237 w 324"/>
                  <a:gd name="T69" fmla="*/ 392 h 398"/>
                  <a:gd name="T70" fmla="*/ 240 w 324"/>
                  <a:gd name="T71" fmla="*/ 394 h 398"/>
                  <a:gd name="T72" fmla="*/ 240 w 324"/>
                  <a:gd name="T73" fmla="*/ 398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24" h="398">
                    <a:moveTo>
                      <a:pt x="240" y="398"/>
                    </a:moveTo>
                    <a:cubicBezTo>
                      <a:pt x="187" y="398"/>
                      <a:pt x="134" y="398"/>
                      <a:pt x="81" y="398"/>
                    </a:cubicBezTo>
                    <a:cubicBezTo>
                      <a:pt x="81" y="397"/>
                      <a:pt x="81" y="396"/>
                      <a:pt x="81" y="394"/>
                    </a:cubicBezTo>
                    <a:cubicBezTo>
                      <a:pt x="84" y="394"/>
                      <a:pt x="88" y="392"/>
                      <a:pt x="91" y="392"/>
                    </a:cubicBezTo>
                    <a:cubicBezTo>
                      <a:pt x="108" y="389"/>
                      <a:pt x="123" y="373"/>
                      <a:pt x="124" y="356"/>
                    </a:cubicBezTo>
                    <a:cubicBezTo>
                      <a:pt x="124" y="322"/>
                      <a:pt x="125" y="287"/>
                      <a:pt x="123" y="253"/>
                    </a:cubicBezTo>
                    <a:cubicBezTo>
                      <a:pt x="122" y="238"/>
                      <a:pt x="112" y="224"/>
                      <a:pt x="105" y="209"/>
                    </a:cubicBezTo>
                    <a:cubicBezTo>
                      <a:pt x="97" y="191"/>
                      <a:pt x="88" y="173"/>
                      <a:pt x="79" y="154"/>
                    </a:cubicBezTo>
                    <a:cubicBezTo>
                      <a:pt x="60" y="115"/>
                      <a:pt x="42" y="75"/>
                      <a:pt x="23" y="36"/>
                    </a:cubicBezTo>
                    <a:cubicBezTo>
                      <a:pt x="19" y="29"/>
                      <a:pt x="11" y="24"/>
                      <a:pt x="6" y="18"/>
                    </a:cubicBezTo>
                    <a:cubicBezTo>
                      <a:pt x="3" y="14"/>
                      <a:pt x="2" y="8"/>
                      <a:pt x="0" y="4"/>
                    </a:cubicBezTo>
                    <a:cubicBezTo>
                      <a:pt x="4" y="2"/>
                      <a:pt x="9" y="0"/>
                      <a:pt x="13" y="0"/>
                    </a:cubicBezTo>
                    <a:cubicBezTo>
                      <a:pt x="43" y="0"/>
                      <a:pt x="73" y="1"/>
                      <a:pt x="103" y="1"/>
                    </a:cubicBezTo>
                    <a:cubicBezTo>
                      <a:pt x="108" y="2"/>
                      <a:pt x="113" y="4"/>
                      <a:pt x="118" y="5"/>
                    </a:cubicBezTo>
                    <a:cubicBezTo>
                      <a:pt x="116" y="10"/>
                      <a:pt x="113" y="14"/>
                      <a:pt x="112" y="19"/>
                    </a:cubicBezTo>
                    <a:cubicBezTo>
                      <a:pt x="111" y="27"/>
                      <a:pt x="108" y="37"/>
                      <a:pt x="111" y="44"/>
                    </a:cubicBezTo>
                    <a:cubicBezTo>
                      <a:pt x="117" y="62"/>
                      <a:pt x="127" y="78"/>
                      <a:pt x="134" y="95"/>
                    </a:cubicBezTo>
                    <a:cubicBezTo>
                      <a:pt x="147" y="123"/>
                      <a:pt x="159" y="151"/>
                      <a:pt x="172" y="179"/>
                    </a:cubicBezTo>
                    <a:cubicBezTo>
                      <a:pt x="175" y="187"/>
                      <a:pt x="178" y="195"/>
                      <a:pt x="182" y="203"/>
                    </a:cubicBezTo>
                    <a:cubicBezTo>
                      <a:pt x="185" y="210"/>
                      <a:pt x="190" y="212"/>
                      <a:pt x="195" y="204"/>
                    </a:cubicBezTo>
                    <a:cubicBezTo>
                      <a:pt x="206" y="184"/>
                      <a:pt x="216" y="164"/>
                      <a:pt x="226" y="144"/>
                    </a:cubicBezTo>
                    <a:cubicBezTo>
                      <a:pt x="233" y="132"/>
                      <a:pt x="239" y="120"/>
                      <a:pt x="245" y="107"/>
                    </a:cubicBezTo>
                    <a:cubicBezTo>
                      <a:pt x="254" y="86"/>
                      <a:pt x="264" y="65"/>
                      <a:pt x="273" y="43"/>
                    </a:cubicBezTo>
                    <a:cubicBezTo>
                      <a:pt x="277" y="32"/>
                      <a:pt x="275" y="23"/>
                      <a:pt x="264" y="16"/>
                    </a:cubicBezTo>
                    <a:cubicBezTo>
                      <a:pt x="261" y="14"/>
                      <a:pt x="260" y="7"/>
                      <a:pt x="258" y="3"/>
                    </a:cubicBezTo>
                    <a:cubicBezTo>
                      <a:pt x="263" y="2"/>
                      <a:pt x="267" y="0"/>
                      <a:pt x="272" y="0"/>
                    </a:cubicBezTo>
                    <a:cubicBezTo>
                      <a:pt x="284" y="0"/>
                      <a:pt x="297" y="0"/>
                      <a:pt x="310" y="1"/>
                    </a:cubicBezTo>
                    <a:cubicBezTo>
                      <a:pt x="315" y="2"/>
                      <a:pt x="320" y="5"/>
                      <a:pt x="324" y="7"/>
                    </a:cubicBezTo>
                    <a:cubicBezTo>
                      <a:pt x="322" y="11"/>
                      <a:pt x="320" y="17"/>
                      <a:pt x="316" y="18"/>
                    </a:cubicBezTo>
                    <a:cubicBezTo>
                      <a:pt x="299" y="25"/>
                      <a:pt x="297" y="42"/>
                      <a:pt x="289" y="55"/>
                    </a:cubicBezTo>
                    <a:cubicBezTo>
                      <a:pt x="276" y="76"/>
                      <a:pt x="267" y="100"/>
                      <a:pt x="255" y="122"/>
                    </a:cubicBezTo>
                    <a:cubicBezTo>
                      <a:pt x="237" y="158"/>
                      <a:pt x="218" y="193"/>
                      <a:pt x="200" y="228"/>
                    </a:cubicBezTo>
                    <a:cubicBezTo>
                      <a:pt x="198" y="232"/>
                      <a:pt x="197" y="238"/>
                      <a:pt x="197" y="243"/>
                    </a:cubicBezTo>
                    <a:cubicBezTo>
                      <a:pt x="196" y="275"/>
                      <a:pt x="196" y="307"/>
                      <a:pt x="196" y="340"/>
                    </a:cubicBezTo>
                    <a:cubicBezTo>
                      <a:pt x="196" y="374"/>
                      <a:pt x="203" y="383"/>
                      <a:pt x="237" y="392"/>
                    </a:cubicBezTo>
                    <a:cubicBezTo>
                      <a:pt x="238" y="392"/>
                      <a:pt x="239" y="393"/>
                      <a:pt x="240" y="394"/>
                    </a:cubicBezTo>
                    <a:cubicBezTo>
                      <a:pt x="240" y="395"/>
                      <a:pt x="240" y="397"/>
                      <a:pt x="240" y="39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0" name="Freeform 347"/>
              <p:cNvSpPr/>
              <p:nvPr/>
            </p:nvSpPr>
            <p:spPr bwMode="auto">
              <a:xfrm>
                <a:off x="30108526" y="5535613"/>
                <a:ext cx="952500" cy="1254125"/>
              </a:xfrm>
              <a:custGeom>
                <a:avLst/>
                <a:gdLst>
                  <a:gd name="T0" fmla="*/ 9 w 302"/>
                  <a:gd name="T1" fmla="*/ 76 h 397"/>
                  <a:gd name="T2" fmla="*/ 7 w 302"/>
                  <a:gd name="T3" fmla="*/ 9 h 397"/>
                  <a:gd name="T4" fmla="*/ 22 w 302"/>
                  <a:gd name="T5" fmla="*/ 0 h 397"/>
                  <a:gd name="T6" fmla="*/ 284 w 302"/>
                  <a:gd name="T7" fmla="*/ 1 h 397"/>
                  <a:gd name="T8" fmla="*/ 302 w 302"/>
                  <a:gd name="T9" fmla="*/ 16 h 397"/>
                  <a:gd name="T10" fmla="*/ 302 w 302"/>
                  <a:gd name="T11" fmla="*/ 78 h 397"/>
                  <a:gd name="T12" fmla="*/ 299 w 302"/>
                  <a:gd name="T13" fmla="*/ 95 h 397"/>
                  <a:gd name="T14" fmla="*/ 294 w 302"/>
                  <a:gd name="T15" fmla="*/ 95 h 397"/>
                  <a:gd name="T16" fmla="*/ 289 w 302"/>
                  <a:gd name="T17" fmla="*/ 83 h 397"/>
                  <a:gd name="T18" fmla="*/ 271 w 302"/>
                  <a:gd name="T19" fmla="*/ 39 h 397"/>
                  <a:gd name="T20" fmla="*/ 210 w 302"/>
                  <a:gd name="T21" fmla="*/ 18 h 397"/>
                  <a:gd name="T22" fmla="*/ 187 w 302"/>
                  <a:gd name="T23" fmla="*/ 42 h 397"/>
                  <a:gd name="T24" fmla="*/ 189 w 302"/>
                  <a:gd name="T25" fmla="*/ 347 h 397"/>
                  <a:gd name="T26" fmla="*/ 200 w 302"/>
                  <a:gd name="T27" fmla="*/ 378 h 397"/>
                  <a:gd name="T28" fmla="*/ 227 w 302"/>
                  <a:gd name="T29" fmla="*/ 397 h 397"/>
                  <a:gd name="T30" fmla="*/ 75 w 302"/>
                  <a:gd name="T31" fmla="*/ 397 h 397"/>
                  <a:gd name="T32" fmla="*/ 74 w 302"/>
                  <a:gd name="T33" fmla="*/ 393 h 397"/>
                  <a:gd name="T34" fmla="*/ 83 w 302"/>
                  <a:gd name="T35" fmla="*/ 390 h 397"/>
                  <a:gd name="T36" fmla="*/ 114 w 302"/>
                  <a:gd name="T37" fmla="*/ 357 h 397"/>
                  <a:gd name="T38" fmla="*/ 114 w 302"/>
                  <a:gd name="T39" fmla="*/ 336 h 397"/>
                  <a:gd name="T40" fmla="*/ 114 w 302"/>
                  <a:gd name="T41" fmla="*/ 78 h 397"/>
                  <a:gd name="T42" fmla="*/ 114 w 302"/>
                  <a:gd name="T43" fmla="*/ 36 h 397"/>
                  <a:gd name="T44" fmla="*/ 104 w 302"/>
                  <a:gd name="T45" fmla="*/ 20 h 397"/>
                  <a:gd name="T46" fmla="*/ 37 w 302"/>
                  <a:gd name="T47" fmla="*/ 35 h 397"/>
                  <a:gd name="T48" fmla="*/ 22 w 302"/>
                  <a:gd name="T49" fmla="*/ 61 h 397"/>
                  <a:gd name="T50" fmla="*/ 14 w 302"/>
                  <a:gd name="T51" fmla="*/ 78 h 397"/>
                  <a:gd name="T52" fmla="*/ 9 w 302"/>
                  <a:gd name="T53" fmla="*/ 76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02" h="397">
                    <a:moveTo>
                      <a:pt x="9" y="76"/>
                    </a:moveTo>
                    <a:cubicBezTo>
                      <a:pt x="0" y="54"/>
                      <a:pt x="5" y="31"/>
                      <a:pt x="7" y="9"/>
                    </a:cubicBezTo>
                    <a:cubicBezTo>
                      <a:pt x="7" y="5"/>
                      <a:pt x="17" y="0"/>
                      <a:pt x="22" y="0"/>
                    </a:cubicBezTo>
                    <a:cubicBezTo>
                      <a:pt x="109" y="0"/>
                      <a:pt x="197" y="0"/>
                      <a:pt x="284" y="1"/>
                    </a:cubicBezTo>
                    <a:cubicBezTo>
                      <a:pt x="294" y="1"/>
                      <a:pt x="302" y="4"/>
                      <a:pt x="302" y="16"/>
                    </a:cubicBezTo>
                    <a:cubicBezTo>
                      <a:pt x="302" y="37"/>
                      <a:pt x="302" y="57"/>
                      <a:pt x="302" y="78"/>
                    </a:cubicBezTo>
                    <a:cubicBezTo>
                      <a:pt x="302" y="83"/>
                      <a:pt x="300" y="89"/>
                      <a:pt x="299" y="95"/>
                    </a:cubicBezTo>
                    <a:cubicBezTo>
                      <a:pt x="297" y="95"/>
                      <a:pt x="296" y="95"/>
                      <a:pt x="294" y="95"/>
                    </a:cubicBezTo>
                    <a:cubicBezTo>
                      <a:pt x="292" y="91"/>
                      <a:pt x="291" y="87"/>
                      <a:pt x="289" y="83"/>
                    </a:cubicBezTo>
                    <a:cubicBezTo>
                      <a:pt x="283" y="68"/>
                      <a:pt x="280" y="52"/>
                      <a:pt x="271" y="39"/>
                    </a:cubicBezTo>
                    <a:cubicBezTo>
                      <a:pt x="257" y="18"/>
                      <a:pt x="233" y="18"/>
                      <a:pt x="210" y="18"/>
                    </a:cubicBezTo>
                    <a:cubicBezTo>
                      <a:pt x="193" y="18"/>
                      <a:pt x="187" y="24"/>
                      <a:pt x="187" y="42"/>
                    </a:cubicBezTo>
                    <a:cubicBezTo>
                      <a:pt x="187" y="144"/>
                      <a:pt x="188" y="245"/>
                      <a:pt x="189" y="347"/>
                    </a:cubicBezTo>
                    <a:cubicBezTo>
                      <a:pt x="189" y="358"/>
                      <a:pt x="194" y="369"/>
                      <a:pt x="200" y="378"/>
                    </a:cubicBezTo>
                    <a:cubicBezTo>
                      <a:pt x="205" y="385"/>
                      <a:pt x="216" y="389"/>
                      <a:pt x="227" y="397"/>
                    </a:cubicBezTo>
                    <a:cubicBezTo>
                      <a:pt x="175" y="397"/>
                      <a:pt x="125" y="397"/>
                      <a:pt x="75" y="397"/>
                    </a:cubicBezTo>
                    <a:cubicBezTo>
                      <a:pt x="74" y="396"/>
                      <a:pt x="74" y="395"/>
                      <a:pt x="74" y="393"/>
                    </a:cubicBezTo>
                    <a:cubicBezTo>
                      <a:pt x="77" y="392"/>
                      <a:pt x="80" y="391"/>
                      <a:pt x="83" y="390"/>
                    </a:cubicBezTo>
                    <a:cubicBezTo>
                      <a:pt x="100" y="387"/>
                      <a:pt x="112" y="375"/>
                      <a:pt x="114" y="357"/>
                    </a:cubicBezTo>
                    <a:cubicBezTo>
                      <a:pt x="114" y="350"/>
                      <a:pt x="114" y="343"/>
                      <a:pt x="114" y="336"/>
                    </a:cubicBezTo>
                    <a:cubicBezTo>
                      <a:pt x="114" y="250"/>
                      <a:pt x="114" y="164"/>
                      <a:pt x="114" y="78"/>
                    </a:cubicBezTo>
                    <a:cubicBezTo>
                      <a:pt x="114" y="64"/>
                      <a:pt x="116" y="50"/>
                      <a:pt x="114" y="36"/>
                    </a:cubicBezTo>
                    <a:cubicBezTo>
                      <a:pt x="114" y="30"/>
                      <a:pt x="108" y="20"/>
                      <a:pt x="104" y="20"/>
                    </a:cubicBezTo>
                    <a:cubicBezTo>
                      <a:pt x="80" y="19"/>
                      <a:pt x="55" y="14"/>
                      <a:pt x="37" y="35"/>
                    </a:cubicBezTo>
                    <a:cubicBezTo>
                      <a:pt x="31" y="42"/>
                      <a:pt x="27" y="52"/>
                      <a:pt x="22" y="61"/>
                    </a:cubicBezTo>
                    <a:cubicBezTo>
                      <a:pt x="19" y="66"/>
                      <a:pt x="17" y="72"/>
                      <a:pt x="14" y="78"/>
                    </a:cubicBezTo>
                    <a:cubicBezTo>
                      <a:pt x="13" y="77"/>
                      <a:pt x="11" y="77"/>
                      <a:pt x="9"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1" name="Freeform 348"/>
              <p:cNvSpPr/>
              <p:nvPr/>
            </p:nvSpPr>
            <p:spPr bwMode="auto">
              <a:xfrm>
                <a:off x="14644688" y="5535613"/>
                <a:ext cx="955675" cy="1250950"/>
              </a:xfrm>
              <a:custGeom>
                <a:avLst/>
                <a:gdLst>
                  <a:gd name="T0" fmla="*/ 75 w 303"/>
                  <a:gd name="T1" fmla="*/ 393 h 396"/>
                  <a:gd name="T2" fmla="*/ 81 w 303"/>
                  <a:gd name="T3" fmla="*/ 389 h 396"/>
                  <a:gd name="T4" fmla="*/ 115 w 303"/>
                  <a:gd name="T5" fmla="*/ 342 h 396"/>
                  <a:gd name="T6" fmla="*/ 116 w 303"/>
                  <a:gd name="T7" fmla="*/ 150 h 396"/>
                  <a:gd name="T8" fmla="*/ 116 w 303"/>
                  <a:gd name="T9" fmla="*/ 42 h 396"/>
                  <a:gd name="T10" fmla="*/ 92 w 303"/>
                  <a:gd name="T11" fmla="*/ 19 h 396"/>
                  <a:gd name="T12" fmla="*/ 44 w 303"/>
                  <a:gd name="T13" fmla="*/ 29 h 396"/>
                  <a:gd name="T14" fmla="*/ 13 w 303"/>
                  <a:gd name="T15" fmla="*/ 78 h 396"/>
                  <a:gd name="T16" fmla="*/ 8 w 303"/>
                  <a:gd name="T17" fmla="*/ 93 h 396"/>
                  <a:gd name="T18" fmla="*/ 4 w 303"/>
                  <a:gd name="T19" fmla="*/ 93 h 396"/>
                  <a:gd name="T20" fmla="*/ 0 w 303"/>
                  <a:gd name="T21" fmla="*/ 79 h 396"/>
                  <a:gd name="T22" fmla="*/ 1 w 303"/>
                  <a:gd name="T23" fmla="*/ 16 h 396"/>
                  <a:gd name="T24" fmla="*/ 12 w 303"/>
                  <a:gd name="T25" fmla="*/ 3 h 396"/>
                  <a:gd name="T26" fmla="*/ 33 w 303"/>
                  <a:gd name="T27" fmla="*/ 1 h 396"/>
                  <a:gd name="T28" fmla="*/ 273 w 303"/>
                  <a:gd name="T29" fmla="*/ 0 h 396"/>
                  <a:gd name="T30" fmla="*/ 301 w 303"/>
                  <a:gd name="T31" fmla="*/ 29 h 396"/>
                  <a:gd name="T32" fmla="*/ 303 w 303"/>
                  <a:gd name="T33" fmla="*/ 80 h 396"/>
                  <a:gd name="T34" fmla="*/ 298 w 303"/>
                  <a:gd name="T35" fmla="*/ 92 h 396"/>
                  <a:gd name="T36" fmla="*/ 280 w 303"/>
                  <a:gd name="T37" fmla="*/ 57 h 396"/>
                  <a:gd name="T38" fmla="*/ 196 w 303"/>
                  <a:gd name="T39" fmla="*/ 21 h 396"/>
                  <a:gd name="T40" fmla="*/ 187 w 303"/>
                  <a:gd name="T41" fmla="*/ 36 h 396"/>
                  <a:gd name="T42" fmla="*/ 188 w 303"/>
                  <a:gd name="T43" fmla="*/ 346 h 396"/>
                  <a:gd name="T44" fmla="*/ 225 w 303"/>
                  <a:gd name="T45" fmla="*/ 393 h 396"/>
                  <a:gd name="T46" fmla="*/ 224 w 303"/>
                  <a:gd name="T47" fmla="*/ 396 h 396"/>
                  <a:gd name="T48" fmla="*/ 76 w 303"/>
                  <a:gd name="T49" fmla="*/ 396 h 396"/>
                  <a:gd name="T50" fmla="*/ 75 w 303"/>
                  <a:gd name="T51" fmla="*/ 393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3" h="396">
                    <a:moveTo>
                      <a:pt x="75" y="393"/>
                    </a:moveTo>
                    <a:cubicBezTo>
                      <a:pt x="77" y="392"/>
                      <a:pt x="79" y="390"/>
                      <a:pt x="81" y="389"/>
                    </a:cubicBezTo>
                    <a:cubicBezTo>
                      <a:pt x="108" y="381"/>
                      <a:pt x="115" y="371"/>
                      <a:pt x="115" y="342"/>
                    </a:cubicBezTo>
                    <a:cubicBezTo>
                      <a:pt x="116" y="278"/>
                      <a:pt x="116" y="214"/>
                      <a:pt x="116" y="150"/>
                    </a:cubicBezTo>
                    <a:cubicBezTo>
                      <a:pt x="116" y="114"/>
                      <a:pt x="116" y="78"/>
                      <a:pt x="116" y="42"/>
                    </a:cubicBezTo>
                    <a:cubicBezTo>
                      <a:pt x="116" y="22"/>
                      <a:pt x="113" y="18"/>
                      <a:pt x="92" y="19"/>
                    </a:cubicBezTo>
                    <a:cubicBezTo>
                      <a:pt x="76" y="20"/>
                      <a:pt x="59" y="23"/>
                      <a:pt x="44" y="29"/>
                    </a:cubicBezTo>
                    <a:cubicBezTo>
                      <a:pt x="24" y="38"/>
                      <a:pt x="21" y="61"/>
                      <a:pt x="13" y="78"/>
                    </a:cubicBezTo>
                    <a:cubicBezTo>
                      <a:pt x="11" y="83"/>
                      <a:pt x="10" y="88"/>
                      <a:pt x="8" y="93"/>
                    </a:cubicBezTo>
                    <a:cubicBezTo>
                      <a:pt x="7" y="93"/>
                      <a:pt x="5" y="93"/>
                      <a:pt x="4" y="93"/>
                    </a:cubicBezTo>
                    <a:cubicBezTo>
                      <a:pt x="3" y="89"/>
                      <a:pt x="0" y="84"/>
                      <a:pt x="0" y="79"/>
                    </a:cubicBezTo>
                    <a:cubicBezTo>
                      <a:pt x="0" y="58"/>
                      <a:pt x="0" y="37"/>
                      <a:pt x="1" y="16"/>
                    </a:cubicBezTo>
                    <a:cubicBezTo>
                      <a:pt x="2" y="11"/>
                      <a:pt x="7" y="5"/>
                      <a:pt x="12" y="3"/>
                    </a:cubicBezTo>
                    <a:cubicBezTo>
                      <a:pt x="18" y="0"/>
                      <a:pt x="26" y="1"/>
                      <a:pt x="33" y="1"/>
                    </a:cubicBezTo>
                    <a:cubicBezTo>
                      <a:pt x="113" y="0"/>
                      <a:pt x="193" y="0"/>
                      <a:pt x="273" y="0"/>
                    </a:cubicBezTo>
                    <a:cubicBezTo>
                      <a:pt x="296" y="0"/>
                      <a:pt x="301" y="5"/>
                      <a:pt x="301" y="29"/>
                    </a:cubicBezTo>
                    <a:cubicBezTo>
                      <a:pt x="302" y="46"/>
                      <a:pt x="303" y="63"/>
                      <a:pt x="303" y="80"/>
                    </a:cubicBezTo>
                    <a:cubicBezTo>
                      <a:pt x="303" y="84"/>
                      <a:pt x="302" y="88"/>
                      <a:pt x="298" y="92"/>
                    </a:cubicBezTo>
                    <a:cubicBezTo>
                      <a:pt x="292" y="81"/>
                      <a:pt x="284" y="70"/>
                      <a:pt x="280" y="57"/>
                    </a:cubicBezTo>
                    <a:cubicBezTo>
                      <a:pt x="268" y="24"/>
                      <a:pt x="229" y="7"/>
                      <a:pt x="196" y="21"/>
                    </a:cubicBezTo>
                    <a:cubicBezTo>
                      <a:pt x="192" y="23"/>
                      <a:pt x="187" y="31"/>
                      <a:pt x="187" y="36"/>
                    </a:cubicBezTo>
                    <a:cubicBezTo>
                      <a:pt x="187" y="140"/>
                      <a:pt x="187" y="243"/>
                      <a:pt x="188" y="346"/>
                    </a:cubicBezTo>
                    <a:cubicBezTo>
                      <a:pt x="188" y="371"/>
                      <a:pt x="199" y="388"/>
                      <a:pt x="225" y="393"/>
                    </a:cubicBezTo>
                    <a:cubicBezTo>
                      <a:pt x="225" y="394"/>
                      <a:pt x="225" y="395"/>
                      <a:pt x="224" y="396"/>
                    </a:cubicBezTo>
                    <a:cubicBezTo>
                      <a:pt x="175" y="396"/>
                      <a:pt x="126" y="396"/>
                      <a:pt x="76" y="396"/>
                    </a:cubicBezTo>
                    <a:cubicBezTo>
                      <a:pt x="76" y="395"/>
                      <a:pt x="76" y="394"/>
                      <a:pt x="75" y="3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2" name="Freeform 349"/>
              <p:cNvSpPr/>
              <p:nvPr/>
            </p:nvSpPr>
            <p:spPr bwMode="auto">
              <a:xfrm>
                <a:off x="24791988" y="5532438"/>
                <a:ext cx="1046163" cy="1270000"/>
              </a:xfrm>
              <a:custGeom>
                <a:avLst/>
                <a:gdLst>
                  <a:gd name="T0" fmla="*/ 115 w 331"/>
                  <a:gd name="T1" fmla="*/ 2 h 402"/>
                  <a:gd name="T2" fmla="*/ 111 w 331"/>
                  <a:gd name="T3" fmla="*/ 13 h 402"/>
                  <a:gd name="T4" fmla="*/ 106 w 331"/>
                  <a:gd name="T5" fmla="*/ 54 h 402"/>
                  <a:gd name="T6" fmla="*/ 144 w 331"/>
                  <a:gd name="T7" fmla="*/ 155 h 402"/>
                  <a:gd name="T8" fmla="*/ 165 w 331"/>
                  <a:gd name="T9" fmla="*/ 218 h 402"/>
                  <a:gd name="T10" fmla="*/ 179 w 331"/>
                  <a:gd name="T11" fmla="*/ 262 h 402"/>
                  <a:gd name="T12" fmla="*/ 189 w 331"/>
                  <a:gd name="T13" fmla="*/ 270 h 402"/>
                  <a:gd name="T14" fmla="*/ 205 w 331"/>
                  <a:gd name="T15" fmla="*/ 258 h 402"/>
                  <a:gd name="T16" fmla="*/ 225 w 331"/>
                  <a:gd name="T17" fmla="*/ 194 h 402"/>
                  <a:gd name="T18" fmla="*/ 246 w 331"/>
                  <a:gd name="T19" fmla="*/ 144 h 402"/>
                  <a:gd name="T20" fmla="*/ 266 w 331"/>
                  <a:gd name="T21" fmla="*/ 88 h 402"/>
                  <a:gd name="T22" fmla="*/ 275 w 331"/>
                  <a:gd name="T23" fmla="*/ 64 h 402"/>
                  <a:gd name="T24" fmla="*/ 265 w 331"/>
                  <a:gd name="T25" fmla="*/ 18 h 402"/>
                  <a:gd name="T26" fmla="*/ 258 w 331"/>
                  <a:gd name="T27" fmla="*/ 5 h 402"/>
                  <a:gd name="T28" fmla="*/ 270 w 331"/>
                  <a:gd name="T29" fmla="*/ 1 h 402"/>
                  <a:gd name="T30" fmla="*/ 320 w 331"/>
                  <a:gd name="T31" fmla="*/ 1 h 402"/>
                  <a:gd name="T32" fmla="*/ 330 w 331"/>
                  <a:gd name="T33" fmla="*/ 7 h 402"/>
                  <a:gd name="T34" fmla="*/ 325 w 331"/>
                  <a:gd name="T35" fmla="*/ 17 h 402"/>
                  <a:gd name="T36" fmla="*/ 301 w 331"/>
                  <a:gd name="T37" fmla="*/ 46 h 402"/>
                  <a:gd name="T38" fmla="*/ 281 w 331"/>
                  <a:gd name="T39" fmla="*/ 94 h 402"/>
                  <a:gd name="T40" fmla="*/ 257 w 331"/>
                  <a:gd name="T41" fmla="*/ 152 h 402"/>
                  <a:gd name="T42" fmla="*/ 237 w 331"/>
                  <a:gd name="T43" fmla="*/ 208 h 402"/>
                  <a:gd name="T44" fmla="*/ 219 w 331"/>
                  <a:gd name="T45" fmla="*/ 259 h 402"/>
                  <a:gd name="T46" fmla="*/ 182 w 331"/>
                  <a:gd name="T47" fmla="*/ 349 h 402"/>
                  <a:gd name="T48" fmla="*/ 166 w 331"/>
                  <a:gd name="T49" fmla="*/ 393 h 402"/>
                  <a:gd name="T50" fmla="*/ 157 w 331"/>
                  <a:gd name="T51" fmla="*/ 402 h 402"/>
                  <a:gd name="T52" fmla="*/ 150 w 331"/>
                  <a:gd name="T53" fmla="*/ 392 h 402"/>
                  <a:gd name="T54" fmla="*/ 95 w 331"/>
                  <a:gd name="T55" fmla="*/ 241 h 402"/>
                  <a:gd name="T56" fmla="*/ 59 w 331"/>
                  <a:gd name="T57" fmla="*/ 136 h 402"/>
                  <a:gd name="T58" fmla="*/ 17 w 331"/>
                  <a:gd name="T59" fmla="*/ 29 h 402"/>
                  <a:gd name="T60" fmla="*/ 6 w 331"/>
                  <a:gd name="T61" fmla="*/ 18 h 402"/>
                  <a:gd name="T62" fmla="*/ 0 w 331"/>
                  <a:gd name="T63" fmla="*/ 6 h 402"/>
                  <a:gd name="T64" fmla="*/ 11 w 331"/>
                  <a:gd name="T65" fmla="*/ 0 h 402"/>
                  <a:gd name="T66" fmla="*/ 72 w 331"/>
                  <a:gd name="T67" fmla="*/ 2 h 402"/>
                  <a:gd name="T68" fmla="*/ 115 w 331"/>
                  <a:gd name="T69" fmla="*/ 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31" h="402">
                    <a:moveTo>
                      <a:pt x="115" y="2"/>
                    </a:moveTo>
                    <a:cubicBezTo>
                      <a:pt x="113" y="8"/>
                      <a:pt x="112" y="11"/>
                      <a:pt x="111" y="13"/>
                    </a:cubicBezTo>
                    <a:cubicBezTo>
                      <a:pt x="98" y="26"/>
                      <a:pt x="101" y="40"/>
                      <a:pt x="106" y="54"/>
                    </a:cubicBezTo>
                    <a:cubicBezTo>
                      <a:pt x="118" y="88"/>
                      <a:pt x="132" y="121"/>
                      <a:pt x="144" y="155"/>
                    </a:cubicBezTo>
                    <a:cubicBezTo>
                      <a:pt x="152" y="176"/>
                      <a:pt x="158" y="197"/>
                      <a:pt x="165" y="218"/>
                    </a:cubicBezTo>
                    <a:cubicBezTo>
                      <a:pt x="170" y="232"/>
                      <a:pt x="174" y="247"/>
                      <a:pt x="179" y="262"/>
                    </a:cubicBezTo>
                    <a:cubicBezTo>
                      <a:pt x="181" y="265"/>
                      <a:pt x="187" y="271"/>
                      <a:pt x="189" y="270"/>
                    </a:cubicBezTo>
                    <a:cubicBezTo>
                      <a:pt x="195" y="267"/>
                      <a:pt x="203" y="263"/>
                      <a:pt x="205" y="258"/>
                    </a:cubicBezTo>
                    <a:cubicBezTo>
                      <a:pt x="213" y="237"/>
                      <a:pt x="218" y="215"/>
                      <a:pt x="225" y="194"/>
                    </a:cubicBezTo>
                    <a:cubicBezTo>
                      <a:pt x="231" y="177"/>
                      <a:pt x="240" y="161"/>
                      <a:pt x="246" y="144"/>
                    </a:cubicBezTo>
                    <a:cubicBezTo>
                      <a:pt x="253" y="125"/>
                      <a:pt x="260" y="106"/>
                      <a:pt x="266" y="88"/>
                    </a:cubicBezTo>
                    <a:cubicBezTo>
                      <a:pt x="269" y="80"/>
                      <a:pt x="271" y="72"/>
                      <a:pt x="275" y="64"/>
                    </a:cubicBezTo>
                    <a:cubicBezTo>
                      <a:pt x="283" y="44"/>
                      <a:pt x="281" y="33"/>
                      <a:pt x="265" y="18"/>
                    </a:cubicBezTo>
                    <a:cubicBezTo>
                      <a:pt x="262" y="14"/>
                      <a:pt x="261" y="9"/>
                      <a:pt x="258" y="5"/>
                    </a:cubicBezTo>
                    <a:cubicBezTo>
                      <a:pt x="262" y="4"/>
                      <a:pt x="266" y="1"/>
                      <a:pt x="270" y="1"/>
                    </a:cubicBezTo>
                    <a:cubicBezTo>
                      <a:pt x="287" y="1"/>
                      <a:pt x="303" y="1"/>
                      <a:pt x="320" y="1"/>
                    </a:cubicBezTo>
                    <a:cubicBezTo>
                      <a:pt x="324" y="1"/>
                      <a:pt x="328" y="4"/>
                      <a:pt x="330" y="7"/>
                    </a:cubicBezTo>
                    <a:cubicBezTo>
                      <a:pt x="331" y="9"/>
                      <a:pt x="328" y="14"/>
                      <a:pt x="325" y="17"/>
                    </a:cubicBezTo>
                    <a:cubicBezTo>
                      <a:pt x="317" y="27"/>
                      <a:pt x="307" y="35"/>
                      <a:pt x="301" y="46"/>
                    </a:cubicBezTo>
                    <a:cubicBezTo>
                      <a:pt x="293" y="61"/>
                      <a:pt x="288" y="78"/>
                      <a:pt x="281" y="94"/>
                    </a:cubicBezTo>
                    <a:cubicBezTo>
                      <a:pt x="273" y="113"/>
                      <a:pt x="265" y="133"/>
                      <a:pt x="257" y="152"/>
                    </a:cubicBezTo>
                    <a:cubicBezTo>
                      <a:pt x="250" y="171"/>
                      <a:pt x="243" y="189"/>
                      <a:pt x="237" y="208"/>
                    </a:cubicBezTo>
                    <a:cubicBezTo>
                      <a:pt x="231" y="225"/>
                      <a:pt x="226" y="242"/>
                      <a:pt x="219" y="259"/>
                    </a:cubicBezTo>
                    <a:cubicBezTo>
                      <a:pt x="207" y="289"/>
                      <a:pt x="194" y="319"/>
                      <a:pt x="182" y="349"/>
                    </a:cubicBezTo>
                    <a:cubicBezTo>
                      <a:pt x="176" y="364"/>
                      <a:pt x="172" y="379"/>
                      <a:pt x="166" y="393"/>
                    </a:cubicBezTo>
                    <a:cubicBezTo>
                      <a:pt x="165" y="397"/>
                      <a:pt x="160" y="399"/>
                      <a:pt x="157" y="402"/>
                    </a:cubicBezTo>
                    <a:cubicBezTo>
                      <a:pt x="155" y="399"/>
                      <a:pt x="151" y="396"/>
                      <a:pt x="150" y="392"/>
                    </a:cubicBezTo>
                    <a:cubicBezTo>
                      <a:pt x="131" y="342"/>
                      <a:pt x="113" y="291"/>
                      <a:pt x="95" y="241"/>
                    </a:cubicBezTo>
                    <a:cubicBezTo>
                      <a:pt x="83" y="206"/>
                      <a:pt x="72" y="170"/>
                      <a:pt x="59" y="136"/>
                    </a:cubicBezTo>
                    <a:cubicBezTo>
                      <a:pt x="46" y="100"/>
                      <a:pt x="32" y="64"/>
                      <a:pt x="17" y="29"/>
                    </a:cubicBezTo>
                    <a:cubicBezTo>
                      <a:pt x="15" y="24"/>
                      <a:pt x="9" y="22"/>
                      <a:pt x="6" y="18"/>
                    </a:cubicBezTo>
                    <a:cubicBezTo>
                      <a:pt x="3" y="15"/>
                      <a:pt x="0" y="10"/>
                      <a:pt x="0" y="6"/>
                    </a:cubicBezTo>
                    <a:cubicBezTo>
                      <a:pt x="1" y="4"/>
                      <a:pt x="7" y="0"/>
                      <a:pt x="11" y="0"/>
                    </a:cubicBezTo>
                    <a:cubicBezTo>
                      <a:pt x="31" y="1"/>
                      <a:pt x="52" y="2"/>
                      <a:pt x="72" y="2"/>
                    </a:cubicBezTo>
                    <a:cubicBezTo>
                      <a:pt x="86" y="3"/>
                      <a:pt x="99" y="2"/>
                      <a:pt x="11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3" name="Freeform 350"/>
              <p:cNvSpPr/>
              <p:nvPr/>
            </p:nvSpPr>
            <p:spPr bwMode="auto">
              <a:xfrm>
                <a:off x="19624676" y="5535613"/>
                <a:ext cx="714375" cy="1298575"/>
              </a:xfrm>
              <a:custGeom>
                <a:avLst/>
                <a:gdLst>
                  <a:gd name="T0" fmla="*/ 226 w 226"/>
                  <a:gd name="T1" fmla="*/ 0 h 411"/>
                  <a:gd name="T2" fmla="*/ 211 w 226"/>
                  <a:gd name="T3" fmla="*/ 19 h 411"/>
                  <a:gd name="T4" fmla="*/ 199 w 226"/>
                  <a:gd name="T5" fmla="*/ 47 h 411"/>
                  <a:gd name="T6" fmla="*/ 198 w 226"/>
                  <a:gd name="T7" fmla="*/ 294 h 411"/>
                  <a:gd name="T8" fmla="*/ 184 w 226"/>
                  <a:gd name="T9" fmla="*/ 358 h 411"/>
                  <a:gd name="T10" fmla="*/ 135 w 226"/>
                  <a:gd name="T11" fmla="*/ 399 h 411"/>
                  <a:gd name="T12" fmla="*/ 40 w 226"/>
                  <a:gd name="T13" fmla="*/ 387 h 411"/>
                  <a:gd name="T14" fmla="*/ 11 w 226"/>
                  <a:gd name="T15" fmla="*/ 303 h 411"/>
                  <a:gd name="T16" fmla="*/ 53 w 226"/>
                  <a:gd name="T17" fmla="*/ 284 h 411"/>
                  <a:gd name="T18" fmla="*/ 71 w 226"/>
                  <a:gd name="T19" fmla="*/ 326 h 411"/>
                  <a:gd name="T20" fmla="*/ 60 w 226"/>
                  <a:gd name="T21" fmla="*/ 355 h 411"/>
                  <a:gd name="T22" fmla="*/ 74 w 226"/>
                  <a:gd name="T23" fmla="*/ 384 h 411"/>
                  <a:gd name="T24" fmla="*/ 123 w 226"/>
                  <a:gd name="T25" fmla="*/ 354 h 411"/>
                  <a:gd name="T26" fmla="*/ 126 w 226"/>
                  <a:gd name="T27" fmla="*/ 276 h 411"/>
                  <a:gd name="T28" fmla="*/ 126 w 226"/>
                  <a:gd name="T29" fmla="*/ 68 h 411"/>
                  <a:gd name="T30" fmla="*/ 111 w 226"/>
                  <a:gd name="T31" fmla="*/ 16 h 411"/>
                  <a:gd name="T32" fmla="*/ 109 w 226"/>
                  <a:gd name="T33" fmla="*/ 5 h 411"/>
                  <a:gd name="T34" fmla="*/ 120 w 226"/>
                  <a:gd name="T35" fmla="*/ 1 h 411"/>
                  <a:gd name="T36" fmla="*/ 226 w 226"/>
                  <a:gd name="T37" fmla="*/ 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6" h="411">
                    <a:moveTo>
                      <a:pt x="226" y="0"/>
                    </a:moveTo>
                    <a:cubicBezTo>
                      <a:pt x="220" y="8"/>
                      <a:pt x="217" y="15"/>
                      <a:pt x="211" y="19"/>
                    </a:cubicBezTo>
                    <a:cubicBezTo>
                      <a:pt x="200" y="26"/>
                      <a:pt x="199" y="36"/>
                      <a:pt x="199" y="47"/>
                    </a:cubicBezTo>
                    <a:cubicBezTo>
                      <a:pt x="198" y="129"/>
                      <a:pt x="198" y="212"/>
                      <a:pt x="198" y="294"/>
                    </a:cubicBezTo>
                    <a:cubicBezTo>
                      <a:pt x="198" y="316"/>
                      <a:pt x="195" y="338"/>
                      <a:pt x="184" y="358"/>
                    </a:cubicBezTo>
                    <a:cubicBezTo>
                      <a:pt x="173" y="378"/>
                      <a:pt x="156" y="393"/>
                      <a:pt x="135" y="399"/>
                    </a:cubicBezTo>
                    <a:cubicBezTo>
                      <a:pt x="102" y="408"/>
                      <a:pt x="68" y="411"/>
                      <a:pt x="40" y="387"/>
                    </a:cubicBezTo>
                    <a:cubicBezTo>
                      <a:pt x="12" y="362"/>
                      <a:pt x="0" y="337"/>
                      <a:pt x="11" y="303"/>
                    </a:cubicBezTo>
                    <a:cubicBezTo>
                      <a:pt x="17" y="285"/>
                      <a:pt x="34" y="277"/>
                      <a:pt x="53" y="284"/>
                    </a:cubicBezTo>
                    <a:cubicBezTo>
                      <a:pt x="67" y="288"/>
                      <a:pt x="77" y="312"/>
                      <a:pt x="71" y="326"/>
                    </a:cubicBezTo>
                    <a:cubicBezTo>
                      <a:pt x="67" y="336"/>
                      <a:pt x="63" y="345"/>
                      <a:pt x="60" y="355"/>
                    </a:cubicBezTo>
                    <a:cubicBezTo>
                      <a:pt x="56" y="368"/>
                      <a:pt x="61" y="379"/>
                      <a:pt x="74" y="384"/>
                    </a:cubicBezTo>
                    <a:cubicBezTo>
                      <a:pt x="97" y="393"/>
                      <a:pt x="121" y="380"/>
                      <a:pt x="123" y="354"/>
                    </a:cubicBezTo>
                    <a:cubicBezTo>
                      <a:pt x="126" y="328"/>
                      <a:pt x="126" y="302"/>
                      <a:pt x="126" y="276"/>
                    </a:cubicBezTo>
                    <a:cubicBezTo>
                      <a:pt x="126" y="207"/>
                      <a:pt x="127" y="138"/>
                      <a:pt x="126" y="68"/>
                    </a:cubicBezTo>
                    <a:cubicBezTo>
                      <a:pt x="126" y="50"/>
                      <a:pt x="129" y="30"/>
                      <a:pt x="111" y="16"/>
                    </a:cubicBezTo>
                    <a:cubicBezTo>
                      <a:pt x="109" y="14"/>
                      <a:pt x="107" y="7"/>
                      <a:pt x="109" y="5"/>
                    </a:cubicBezTo>
                    <a:cubicBezTo>
                      <a:pt x="111" y="3"/>
                      <a:pt x="116" y="1"/>
                      <a:pt x="120" y="1"/>
                    </a:cubicBezTo>
                    <a:cubicBezTo>
                      <a:pt x="154" y="0"/>
                      <a:pt x="188" y="0"/>
                      <a:pt x="2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4" name="Freeform 351"/>
              <p:cNvSpPr/>
              <p:nvPr/>
            </p:nvSpPr>
            <p:spPr bwMode="auto">
              <a:xfrm>
                <a:off x="24085551" y="5535613"/>
                <a:ext cx="501650" cy="1254125"/>
              </a:xfrm>
              <a:custGeom>
                <a:avLst/>
                <a:gdLst>
                  <a:gd name="T0" fmla="*/ 135 w 159"/>
                  <a:gd name="T1" fmla="*/ 3 h 397"/>
                  <a:gd name="T2" fmla="*/ 135 w 159"/>
                  <a:gd name="T3" fmla="*/ 7 h 397"/>
                  <a:gd name="T4" fmla="*/ 115 w 159"/>
                  <a:gd name="T5" fmla="*/ 81 h 397"/>
                  <a:gd name="T6" fmla="*/ 115 w 159"/>
                  <a:gd name="T7" fmla="*/ 331 h 397"/>
                  <a:gd name="T8" fmla="*/ 116 w 159"/>
                  <a:gd name="T9" fmla="*/ 355 h 397"/>
                  <a:gd name="T10" fmla="*/ 152 w 159"/>
                  <a:gd name="T11" fmla="*/ 390 h 397"/>
                  <a:gd name="T12" fmla="*/ 159 w 159"/>
                  <a:gd name="T13" fmla="*/ 393 h 397"/>
                  <a:gd name="T14" fmla="*/ 159 w 159"/>
                  <a:gd name="T15" fmla="*/ 397 h 397"/>
                  <a:gd name="T16" fmla="*/ 0 w 159"/>
                  <a:gd name="T17" fmla="*/ 397 h 397"/>
                  <a:gd name="T18" fmla="*/ 1 w 159"/>
                  <a:gd name="T19" fmla="*/ 393 h 397"/>
                  <a:gd name="T20" fmla="*/ 39 w 159"/>
                  <a:gd name="T21" fmla="*/ 342 h 397"/>
                  <a:gd name="T22" fmla="*/ 39 w 159"/>
                  <a:gd name="T23" fmla="*/ 122 h 397"/>
                  <a:gd name="T24" fmla="*/ 39 w 159"/>
                  <a:gd name="T25" fmla="*/ 45 h 397"/>
                  <a:gd name="T26" fmla="*/ 26 w 159"/>
                  <a:gd name="T27" fmla="*/ 16 h 397"/>
                  <a:gd name="T28" fmla="*/ 20 w 159"/>
                  <a:gd name="T29" fmla="*/ 5 h 397"/>
                  <a:gd name="T30" fmla="*/ 30 w 159"/>
                  <a:gd name="T31" fmla="*/ 1 h 397"/>
                  <a:gd name="T32" fmla="*/ 122 w 159"/>
                  <a:gd name="T33" fmla="*/ 0 h 397"/>
                  <a:gd name="T34" fmla="*/ 135 w 159"/>
                  <a:gd name="T35" fmla="*/ 3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397">
                    <a:moveTo>
                      <a:pt x="135" y="3"/>
                    </a:moveTo>
                    <a:cubicBezTo>
                      <a:pt x="135" y="5"/>
                      <a:pt x="135" y="7"/>
                      <a:pt x="135" y="7"/>
                    </a:cubicBezTo>
                    <a:cubicBezTo>
                      <a:pt x="112" y="28"/>
                      <a:pt x="116" y="55"/>
                      <a:pt x="115" y="81"/>
                    </a:cubicBezTo>
                    <a:cubicBezTo>
                      <a:pt x="114" y="164"/>
                      <a:pt x="115" y="248"/>
                      <a:pt x="115" y="331"/>
                    </a:cubicBezTo>
                    <a:cubicBezTo>
                      <a:pt x="115" y="339"/>
                      <a:pt x="115" y="347"/>
                      <a:pt x="116" y="355"/>
                    </a:cubicBezTo>
                    <a:cubicBezTo>
                      <a:pt x="121" y="379"/>
                      <a:pt x="128" y="386"/>
                      <a:pt x="152" y="390"/>
                    </a:cubicBezTo>
                    <a:cubicBezTo>
                      <a:pt x="154" y="391"/>
                      <a:pt x="157" y="392"/>
                      <a:pt x="159" y="393"/>
                    </a:cubicBezTo>
                    <a:cubicBezTo>
                      <a:pt x="159" y="395"/>
                      <a:pt x="159" y="396"/>
                      <a:pt x="159" y="397"/>
                    </a:cubicBezTo>
                    <a:cubicBezTo>
                      <a:pt x="106" y="397"/>
                      <a:pt x="53" y="397"/>
                      <a:pt x="0" y="397"/>
                    </a:cubicBezTo>
                    <a:cubicBezTo>
                      <a:pt x="1" y="394"/>
                      <a:pt x="1" y="393"/>
                      <a:pt x="1" y="393"/>
                    </a:cubicBezTo>
                    <a:cubicBezTo>
                      <a:pt x="33" y="384"/>
                      <a:pt x="39" y="376"/>
                      <a:pt x="39" y="342"/>
                    </a:cubicBezTo>
                    <a:cubicBezTo>
                      <a:pt x="40" y="269"/>
                      <a:pt x="40" y="195"/>
                      <a:pt x="39" y="122"/>
                    </a:cubicBezTo>
                    <a:cubicBezTo>
                      <a:pt x="39" y="96"/>
                      <a:pt x="39" y="71"/>
                      <a:pt x="39" y="45"/>
                    </a:cubicBezTo>
                    <a:cubicBezTo>
                      <a:pt x="39" y="33"/>
                      <a:pt x="38" y="23"/>
                      <a:pt x="26" y="16"/>
                    </a:cubicBezTo>
                    <a:cubicBezTo>
                      <a:pt x="23" y="15"/>
                      <a:pt x="22" y="9"/>
                      <a:pt x="20" y="5"/>
                    </a:cubicBezTo>
                    <a:cubicBezTo>
                      <a:pt x="23" y="4"/>
                      <a:pt x="27" y="1"/>
                      <a:pt x="30" y="1"/>
                    </a:cubicBezTo>
                    <a:cubicBezTo>
                      <a:pt x="61" y="0"/>
                      <a:pt x="91" y="0"/>
                      <a:pt x="122" y="0"/>
                    </a:cubicBezTo>
                    <a:cubicBezTo>
                      <a:pt x="126" y="0"/>
                      <a:pt x="131" y="2"/>
                      <a:pt x="13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5" name="Freeform 352"/>
              <p:cNvSpPr/>
              <p:nvPr/>
            </p:nvSpPr>
            <p:spPr bwMode="auto">
              <a:xfrm>
                <a:off x="20572413" y="5535613"/>
                <a:ext cx="476250" cy="1263650"/>
              </a:xfrm>
              <a:custGeom>
                <a:avLst/>
                <a:gdLst>
                  <a:gd name="T0" fmla="*/ 142 w 151"/>
                  <a:gd name="T1" fmla="*/ 0 h 400"/>
                  <a:gd name="T2" fmla="*/ 130 w 151"/>
                  <a:gd name="T3" fmla="*/ 15 h 400"/>
                  <a:gd name="T4" fmla="*/ 116 w 151"/>
                  <a:gd name="T5" fmla="*/ 46 h 400"/>
                  <a:gd name="T6" fmla="*/ 115 w 151"/>
                  <a:gd name="T7" fmla="*/ 346 h 400"/>
                  <a:gd name="T8" fmla="*/ 151 w 151"/>
                  <a:gd name="T9" fmla="*/ 392 h 400"/>
                  <a:gd name="T10" fmla="*/ 0 w 151"/>
                  <a:gd name="T11" fmla="*/ 395 h 400"/>
                  <a:gd name="T12" fmla="*/ 6 w 151"/>
                  <a:gd name="T13" fmla="*/ 390 h 400"/>
                  <a:gd name="T14" fmla="*/ 40 w 151"/>
                  <a:gd name="T15" fmla="*/ 341 h 400"/>
                  <a:gd name="T16" fmla="*/ 39 w 151"/>
                  <a:gd name="T17" fmla="*/ 92 h 400"/>
                  <a:gd name="T18" fmla="*/ 39 w 151"/>
                  <a:gd name="T19" fmla="*/ 51 h 400"/>
                  <a:gd name="T20" fmla="*/ 19 w 151"/>
                  <a:gd name="T21" fmla="*/ 9 h 400"/>
                  <a:gd name="T22" fmla="*/ 10 w 151"/>
                  <a:gd name="T23" fmla="*/ 0 h 400"/>
                  <a:gd name="T24" fmla="*/ 142 w 151"/>
                  <a:gd name="T25" fmla="*/ 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1" h="400">
                    <a:moveTo>
                      <a:pt x="142" y="0"/>
                    </a:moveTo>
                    <a:cubicBezTo>
                      <a:pt x="138" y="5"/>
                      <a:pt x="135" y="12"/>
                      <a:pt x="130" y="15"/>
                    </a:cubicBezTo>
                    <a:cubicBezTo>
                      <a:pt x="117" y="22"/>
                      <a:pt x="116" y="33"/>
                      <a:pt x="116" y="46"/>
                    </a:cubicBezTo>
                    <a:cubicBezTo>
                      <a:pt x="116" y="146"/>
                      <a:pt x="116" y="246"/>
                      <a:pt x="115" y="346"/>
                    </a:cubicBezTo>
                    <a:cubicBezTo>
                      <a:pt x="115" y="371"/>
                      <a:pt x="126" y="386"/>
                      <a:pt x="151" y="392"/>
                    </a:cubicBezTo>
                    <a:cubicBezTo>
                      <a:pt x="143" y="399"/>
                      <a:pt x="12" y="400"/>
                      <a:pt x="0" y="395"/>
                    </a:cubicBezTo>
                    <a:cubicBezTo>
                      <a:pt x="3" y="393"/>
                      <a:pt x="4" y="391"/>
                      <a:pt x="6" y="390"/>
                    </a:cubicBezTo>
                    <a:cubicBezTo>
                      <a:pt x="31" y="381"/>
                      <a:pt x="40" y="368"/>
                      <a:pt x="40" y="341"/>
                    </a:cubicBezTo>
                    <a:cubicBezTo>
                      <a:pt x="40" y="258"/>
                      <a:pt x="40" y="175"/>
                      <a:pt x="39" y="92"/>
                    </a:cubicBezTo>
                    <a:cubicBezTo>
                      <a:pt x="39" y="78"/>
                      <a:pt x="39" y="65"/>
                      <a:pt x="39" y="51"/>
                    </a:cubicBezTo>
                    <a:cubicBezTo>
                      <a:pt x="39" y="34"/>
                      <a:pt x="33" y="20"/>
                      <a:pt x="19" y="9"/>
                    </a:cubicBezTo>
                    <a:cubicBezTo>
                      <a:pt x="16" y="7"/>
                      <a:pt x="13" y="3"/>
                      <a:pt x="10" y="0"/>
                    </a:cubicBezTo>
                    <a:cubicBezTo>
                      <a:pt x="54" y="0"/>
                      <a:pt x="97" y="0"/>
                      <a:pt x="14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6" name="Freeform 353"/>
              <p:cNvSpPr/>
              <p:nvPr/>
            </p:nvSpPr>
            <p:spPr bwMode="auto">
              <a:xfrm>
                <a:off x="29410026" y="5535613"/>
                <a:ext cx="471488" cy="1254125"/>
              </a:xfrm>
              <a:custGeom>
                <a:avLst/>
                <a:gdLst>
                  <a:gd name="T0" fmla="*/ 149 w 149"/>
                  <a:gd name="T1" fmla="*/ 397 h 397"/>
                  <a:gd name="T2" fmla="*/ 0 w 149"/>
                  <a:gd name="T3" fmla="*/ 397 h 397"/>
                  <a:gd name="T4" fmla="*/ 0 w 149"/>
                  <a:gd name="T5" fmla="*/ 395 h 397"/>
                  <a:gd name="T6" fmla="*/ 27 w 149"/>
                  <a:gd name="T7" fmla="*/ 381 h 397"/>
                  <a:gd name="T8" fmla="*/ 41 w 149"/>
                  <a:gd name="T9" fmla="*/ 348 h 397"/>
                  <a:gd name="T10" fmla="*/ 40 w 149"/>
                  <a:gd name="T11" fmla="*/ 66 h 397"/>
                  <a:gd name="T12" fmla="*/ 40 w 149"/>
                  <a:gd name="T13" fmla="*/ 42 h 397"/>
                  <a:gd name="T14" fmla="*/ 28 w 149"/>
                  <a:gd name="T15" fmla="*/ 17 h 397"/>
                  <a:gd name="T16" fmla="*/ 21 w 149"/>
                  <a:gd name="T17" fmla="*/ 6 h 397"/>
                  <a:gd name="T18" fmla="*/ 32 w 149"/>
                  <a:gd name="T19" fmla="*/ 1 h 397"/>
                  <a:gd name="T20" fmla="*/ 121 w 149"/>
                  <a:gd name="T21" fmla="*/ 1 h 397"/>
                  <a:gd name="T22" fmla="*/ 132 w 149"/>
                  <a:gd name="T23" fmla="*/ 6 h 397"/>
                  <a:gd name="T24" fmla="*/ 127 w 149"/>
                  <a:gd name="T25" fmla="*/ 18 h 397"/>
                  <a:gd name="T26" fmla="*/ 113 w 149"/>
                  <a:gd name="T27" fmla="*/ 57 h 397"/>
                  <a:gd name="T28" fmla="*/ 114 w 149"/>
                  <a:gd name="T29" fmla="*/ 348 h 397"/>
                  <a:gd name="T30" fmla="*/ 143 w 149"/>
                  <a:gd name="T31" fmla="*/ 390 h 397"/>
                  <a:gd name="T32" fmla="*/ 149 w 149"/>
                  <a:gd name="T33" fmla="*/ 393 h 397"/>
                  <a:gd name="T34" fmla="*/ 149 w 149"/>
                  <a:gd name="T35" fmla="*/ 397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397">
                    <a:moveTo>
                      <a:pt x="149" y="397"/>
                    </a:moveTo>
                    <a:cubicBezTo>
                      <a:pt x="99" y="397"/>
                      <a:pt x="50" y="397"/>
                      <a:pt x="0" y="397"/>
                    </a:cubicBezTo>
                    <a:cubicBezTo>
                      <a:pt x="0" y="396"/>
                      <a:pt x="0" y="395"/>
                      <a:pt x="0" y="395"/>
                    </a:cubicBezTo>
                    <a:cubicBezTo>
                      <a:pt x="9" y="390"/>
                      <a:pt x="19" y="386"/>
                      <a:pt x="27" y="381"/>
                    </a:cubicBezTo>
                    <a:cubicBezTo>
                      <a:pt x="37" y="373"/>
                      <a:pt x="41" y="361"/>
                      <a:pt x="41" y="348"/>
                    </a:cubicBezTo>
                    <a:cubicBezTo>
                      <a:pt x="41" y="254"/>
                      <a:pt x="40" y="160"/>
                      <a:pt x="40" y="66"/>
                    </a:cubicBezTo>
                    <a:cubicBezTo>
                      <a:pt x="40" y="58"/>
                      <a:pt x="40" y="50"/>
                      <a:pt x="40" y="42"/>
                    </a:cubicBezTo>
                    <a:cubicBezTo>
                      <a:pt x="41" y="31"/>
                      <a:pt x="39" y="22"/>
                      <a:pt x="28" y="17"/>
                    </a:cubicBezTo>
                    <a:cubicBezTo>
                      <a:pt x="25" y="15"/>
                      <a:pt x="24" y="10"/>
                      <a:pt x="21" y="6"/>
                    </a:cubicBezTo>
                    <a:cubicBezTo>
                      <a:pt x="25" y="4"/>
                      <a:pt x="29" y="1"/>
                      <a:pt x="32" y="1"/>
                    </a:cubicBezTo>
                    <a:cubicBezTo>
                      <a:pt x="62" y="0"/>
                      <a:pt x="91" y="0"/>
                      <a:pt x="121" y="1"/>
                    </a:cubicBezTo>
                    <a:cubicBezTo>
                      <a:pt x="125" y="1"/>
                      <a:pt x="131" y="3"/>
                      <a:pt x="132" y="6"/>
                    </a:cubicBezTo>
                    <a:cubicBezTo>
                      <a:pt x="133" y="9"/>
                      <a:pt x="130" y="15"/>
                      <a:pt x="127" y="18"/>
                    </a:cubicBezTo>
                    <a:cubicBezTo>
                      <a:pt x="116" y="28"/>
                      <a:pt x="113" y="42"/>
                      <a:pt x="113" y="57"/>
                    </a:cubicBezTo>
                    <a:cubicBezTo>
                      <a:pt x="113" y="154"/>
                      <a:pt x="113" y="251"/>
                      <a:pt x="114" y="348"/>
                    </a:cubicBezTo>
                    <a:cubicBezTo>
                      <a:pt x="114" y="370"/>
                      <a:pt x="123" y="382"/>
                      <a:pt x="143" y="390"/>
                    </a:cubicBezTo>
                    <a:cubicBezTo>
                      <a:pt x="145" y="391"/>
                      <a:pt x="147" y="392"/>
                      <a:pt x="149" y="393"/>
                    </a:cubicBezTo>
                    <a:cubicBezTo>
                      <a:pt x="149" y="395"/>
                      <a:pt x="149" y="396"/>
                      <a:pt x="149" y="3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7" name="Freeform 354"/>
              <p:cNvSpPr/>
              <p:nvPr/>
            </p:nvSpPr>
            <p:spPr bwMode="auto">
              <a:xfrm>
                <a:off x="19546888" y="1008063"/>
                <a:ext cx="457200" cy="641350"/>
              </a:xfrm>
              <a:custGeom>
                <a:avLst/>
                <a:gdLst>
                  <a:gd name="T0" fmla="*/ 4 w 145"/>
                  <a:gd name="T1" fmla="*/ 87 h 203"/>
                  <a:gd name="T2" fmla="*/ 44 w 145"/>
                  <a:gd name="T3" fmla="*/ 14 h 203"/>
                  <a:gd name="T4" fmla="*/ 110 w 145"/>
                  <a:gd name="T5" fmla="*/ 29 h 203"/>
                  <a:gd name="T6" fmla="*/ 111 w 145"/>
                  <a:gd name="T7" fmla="*/ 42 h 203"/>
                  <a:gd name="T8" fmla="*/ 129 w 145"/>
                  <a:gd name="T9" fmla="*/ 140 h 203"/>
                  <a:gd name="T10" fmla="*/ 141 w 145"/>
                  <a:gd name="T11" fmla="*/ 174 h 203"/>
                  <a:gd name="T12" fmla="*/ 119 w 145"/>
                  <a:gd name="T13" fmla="*/ 200 h 203"/>
                  <a:gd name="T14" fmla="*/ 46 w 145"/>
                  <a:gd name="T15" fmla="*/ 170 h 203"/>
                  <a:gd name="T16" fmla="*/ 15 w 145"/>
                  <a:gd name="T17" fmla="*/ 133 h 203"/>
                  <a:gd name="T18" fmla="*/ 0 w 145"/>
                  <a:gd name="T19" fmla="*/ 88 h 203"/>
                  <a:gd name="T20" fmla="*/ 4 w 145"/>
                  <a:gd name="T21" fmla="*/ 87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5" h="203">
                    <a:moveTo>
                      <a:pt x="4" y="87"/>
                    </a:moveTo>
                    <a:cubicBezTo>
                      <a:pt x="1" y="54"/>
                      <a:pt x="21" y="32"/>
                      <a:pt x="44" y="14"/>
                    </a:cubicBezTo>
                    <a:cubicBezTo>
                      <a:pt x="61" y="0"/>
                      <a:pt x="104" y="11"/>
                      <a:pt x="110" y="29"/>
                    </a:cubicBezTo>
                    <a:cubicBezTo>
                      <a:pt x="112" y="33"/>
                      <a:pt x="113" y="38"/>
                      <a:pt x="111" y="42"/>
                    </a:cubicBezTo>
                    <a:cubicBezTo>
                      <a:pt x="97" y="78"/>
                      <a:pt x="114" y="109"/>
                      <a:pt x="129" y="140"/>
                    </a:cubicBezTo>
                    <a:cubicBezTo>
                      <a:pt x="134" y="151"/>
                      <a:pt x="138" y="162"/>
                      <a:pt x="141" y="174"/>
                    </a:cubicBezTo>
                    <a:cubicBezTo>
                      <a:pt x="145" y="190"/>
                      <a:pt x="136" y="203"/>
                      <a:pt x="119" y="200"/>
                    </a:cubicBezTo>
                    <a:cubicBezTo>
                      <a:pt x="93" y="194"/>
                      <a:pt x="66" y="190"/>
                      <a:pt x="46" y="170"/>
                    </a:cubicBezTo>
                    <a:cubicBezTo>
                      <a:pt x="34" y="159"/>
                      <a:pt x="19" y="151"/>
                      <a:pt x="15" y="133"/>
                    </a:cubicBezTo>
                    <a:cubicBezTo>
                      <a:pt x="11" y="118"/>
                      <a:pt x="5" y="103"/>
                      <a:pt x="0" y="88"/>
                    </a:cubicBezTo>
                    <a:cubicBezTo>
                      <a:pt x="1" y="88"/>
                      <a:pt x="3" y="88"/>
                      <a:pt x="4"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8" name="Freeform 355"/>
              <p:cNvSpPr/>
              <p:nvPr/>
            </p:nvSpPr>
            <p:spPr bwMode="auto">
              <a:xfrm>
                <a:off x="19319876" y="1646238"/>
                <a:ext cx="422275" cy="676275"/>
              </a:xfrm>
              <a:custGeom>
                <a:avLst/>
                <a:gdLst>
                  <a:gd name="T0" fmla="*/ 131 w 134"/>
                  <a:gd name="T1" fmla="*/ 91 h 214"/>
                  <a:gd name="T2" fmla="*/ 110 w 134"/>
                  <a:gd name="T3" fmla="*/ 158 h 214"/>
                  <a:gd name="T4" fmla="*/ 35 w 134"/>
                  <a:gd name="T5" fmla="*/ 212 h 214"/>
                  <a:gd name="T6" fmla="*/ 7 w 134"/>
                  <a:gd name="T7" fmla="*/ 207 h 214"/>
                  <a:gd name="T8" fmla="*/ 2 w 134"/>
                  <a:gd name="T9" fmla="*/ 183 h 214"/>
                  <a:gd name="T10" fmla="*/ 23 w 134"/>
                  <a:gd name="T11" fmla="*/ 144 h 214"/>
                  <a:gd name="T12" fmla="*/ 34 w 134"/>
                  <a:gd name="T13" fmla="*/ 115 h 214"/>
                  <a:gd name="T14" fmla="*/ 45 w 134"/>
                  <a:gd name="T15" fmla="*/ 16 h 214"/>
                  <a:gd name="T16" fmla="*/ 59 w 134"/>
                  <a:gd name="T17" fmla="*/ 2 h 214"/>
                  <a:gd name="T18" fmla="*/ 109 w 134"/>
                  <a:gd name="T19" fmla="*/ 21 h 214"/>
                  <a:gd name="T20" fmla="*/ 130 w 134"/>
                  <a:gd name="T21" fmla="*/ 70 h 214"/>
                  <a:gd name="T22" fmla="*/ 131 w 134"/>
                  <a:gd name="T23" fmla="*/ 9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4" h="214">
                    <a:moveTo>
                      <a:pt x="131" y="91"/>
                    </a:moveTo>
                    <a:cubicBezTo>
                      <a:pt x="134" y="116"/>
                      <a:pt x="123" y="137"/>
                      <a:pt x="110" y="158"/>
                    </a:cubicBezTo>
                    <a:cubicBezTo>
                      <a:pt x="92" y="186"/>
                      <a:pt x="66" y="204"/>
                      <a:pt x="35" y="212"/>
                    </a:cubicBezTo>
                    <a:cubicBezTo>
                      <a:pt x="26" y="214"/>
                      <a:pt x="14" y="212"/>
                      <a:pt x="7" y="207"/>
                    </a:cubicBezTo>
                    <a:cubicBezTo>
                      <a:pt x="2" y="203"/>
                      <a:pt x="0" y="190"/>
                      <a:pt x="2" y="183"/>
                    </a:cubicBezTo>
                    <a:cubicBezTo>
                      <a:pt x="7" y="170"/>
                      <a:pt x="16" y="157"/>
                      <a:pt x="23" y="144"/>
                    </a:cubicBezTo>
                    <a:cubicBezTo>
                      <a:pt x="27" y="135"/>
                      <a:pt x="32" y="125"/>
                      <a:pt x="34" y="115"/>
                    </a:cubicBezTo>
                    <a:cubicBezTo>
                      <a:pt x="41" y="82"/>
                      <a:pt x="50" y="50"/>
                      <a:pt x="45" y="16"/>
                    </a:cubicBezTo>
                    <a:cubicBezTo>
                      <a:pt x="43" y="6"/>
                      <a:pt x="50" y="0"/>
                      <a:pt x="59" y="2"/>
                    </a:cubicBezTo>
                    <a:cubicBezTo>
                      <a:pt x="76" y="7"/>
                      <a:pt x="97" y="9"/>
                      <a:pt x="109" y="21"/>
                    </a:cubicBezTo>
                    <a:cubicBezTo>
                      <a:pt x="121" y="32"/>
                      <a:pt x="124" y="53"/>
                      <a:pt x="130" y="70"/>
                    </a:cubicBezTo>
                    <a:cubicBezTo>
                      <a:pt x="132" y="76"/>
                      <a:pt x="131" y="84"/>
                      <a:pt x="131" y="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9" name="Freeform 356"/>
              <p:cNvSpPr/>
              <p:nvPr/>
            </p:nvSpPr>
            <p:spPr bwMode="auto">
              <a:xfrm>
                <a:off x="15503526" y="2252663"/>
                <a:ext cx="639763" cy="319088"/>
              </a:xfrm>
              <a:custGeom>
                <a:avLst/>
                <a:gdLst>
                  <a:gd name="T0" fmla="*/ 85 w 203"/>
                  <a:gd name="T1" fmla="*/ 97 h 101"/>
                  <a:gd name="T2" fmla="*/ 25 w 203"/>
                  <a:gd name="T3" fmla="*/ 97 h 101"/>
                  <a:gd name="T4" fmla="*/ 7 w 203"/>
                  <a:gd name="T5" fmla="*/ 81 h 101"/>
                  <a:gd name="T6" fmla="*/ 50 w 203"/>
                  <a:gd name="T7" fmla="*/ 12 h 101"/>
                  <a:gd name="T8" fmla="*/ 165 w 203"/>
                  <a:gd name="T9" fmla="*/ 7 h 101"/>
                  <a:gd name="T10" fmla="*/ 202 w 203"/>
                  <a:gd name="T11" fmla="*/ 50 h 101"/>
                  <a:gd name="T12" fmla="*/ 171 w 203"/>
                  <a:gd name="T13" fmla="*/ 91 h 101"/>
                  <a:gd name="T14" fmla="*/ 85 w 203"/>
                  <a:gd name="T15" fmla="*/ 101 h 101"/>
                  <a:gd name="T16" fmla="*/ 85 w 203"/>
                  <a:gd name="T17" fmla="*/ 9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 h="101">
                    <a:moveTo>
                      <a:pt x="85" y="97"/>
                    </a:moveTo>
                    <a:cubicBezTo>
                      <a:pt x="65" y="97"/>
                      <a:pt x="45" y="97"/>
                      <a:pt x="25" y="97"/>
                    </a:cubicBezTo>
                    <a:cubicBezTo>
                      <a:pt x="15" y="97"/>
                      <a:pt x="8" y="91"/>
                      <a:pt x="7" y="81"/>
                    </a:cubicBezTo>
                    <a:cubicBezTo>
                      <a:pt x="0" y="47"/>
                      <a:pt x="8" y="17"/>
                      <a:pt x="50" y="12"/>
                    </a:cubicBezTo>
                    <a:cubicBezTo>
                      <a:pt x="88" y="7"/>
                      <a:pt x="126" y="0"/>
                      <a:pt x="165" y="7"/>
                    </a:cubicBezTo>
                    <a:cubicBezTo>
                      <a:pt x="195" y="13"/>
                      <a:pt x="201" y="19"/>
                      <a:pt x="202" y="50"/>
                    </a:cubicBezTo>
                    <a:cubicBezTo>
                      <a:pt x="203" y="77"/>
                      <a:pt x="198" y="86"/>
                      <a:pt x="171" y="91"/>
                    </a:cubicBezTo>
                    <a:cubicBezTo>
                      <a:pt x="143" y="96"/>
                      <a:pt x="114" y="98"/>
                      <a:pt x="85" y="101"/>
                    </a:cubicBezTo>
                    <a:cubicBezTo>
                      <a:pt x="85" y="100"/>
                      <a:pt x="85" y="99"/>
                      <a:pt x="85" y="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4" name="文本框 3">
            <a:extLst>
              <a:ext uri="{FF2B5EF4-FFF2-40B4-BE49-F238E27FC236}">
                <a16:creationId xmlns:a16="http://schemas.microsoft.com/office/drawing/2014/main" id="{312008CE-F213-F453-1D2E-2CF0A264D938}"/>
              </a:ext>
            </a:extLst>
          </p:cNvPr>
          <p:cNvSpPr txBox="1"/>
          <p:nvPr/>
        </p:nvSpPr>
        <p:spPr>
          <a:xfrm>
            <a:off x="5291138" y="3128358"/>
            <a:ext cx="1604328" cy="461665"/>
          </a:xfrm>
          <a:prstGeom prst="rect">
            <a:avLst/>
          </a:prstGeom>
          <a:noFill/>
        </p:spPr>
        <p:txBody>
          <a:bodyPr wrap="square" rtlCol="0">
            <a:spAutoFit/>
          </a:bodyPr>
          <a:lstStyle/>
          <a:p>
            <a:pPr algn="just"/>
            <a:r>
              <a:rPr lang="zh-CN" altLang="en-US" sz="2400" b="1" dirty="0">
                <a:solidFill>
                  <a:srgbClr val="005A8A"/>
                </a:solidFill>
                <a:latin typeface="微软雅黑" panose="020B0503020204020204" pitchFamily="34" charset="-122"/>
                <a:ea typeface="微软雅黑" panose="020B0503020204020204" pitchFamily="34" charset="-122"/>
                <a:sym typeface="字魂105号-简雅黑" panose="00000500000000000000" pitchFamily="2" charset="-122"/>
              </a:rPr>
              <a:t>研究内容</a:t>
            </a:r>
            <a:endParaRPr lang="zh-CN" altLang="zh-CN" sz="2400" dirty="0">
              <a:solidFill>
                <a:srgbClr val="005A8A"/>
              </a:solidFill>
              <a:latin typeface="微软雅黑" panose="020B0503020204020204" charset="-122"/>
              <a:ea typeface="微软雅黑" panose="020B0503020204020204" charset="-122"/>
            </a:endParaRPr>
          </a:p>
        </p:txBody>
      </p:sp>
      <p:sp>
        <p:nvSpPr>
          <p:cNvPr id="85" name="文本框 84">
            <a:extLst>
              <a:ext uri="{FF2B5EF4-FFF2-40B4-BE49-F238E27FC236}">
                <a16:creationId xmlns:a16="http://schemas.microsoft.com/office/drawing/2014/main" id="{FC4C88BC-B3DD-449B-B925-7042DD1282C7}"/>
              </a:ext>
            </a:extLst>
          </p:cNvPr>
          <p:cNvSpPr txBox="1"/>
          <p:nvPr/>
        </p:nvSpPr>
        <p:spPr>
          <a:xfrm>
            <a:off x="5291138" y="2362948"/>
            <a:ext cx="2027505" cy="461665"/>
          </a:xfrm>
          <a:prstGeom prst="rect">
            <a:avLst/>
          </a:prstGeom>
          <a:noFill/>
          <a:ln>
            <a:solidFill>
              <a:schemeClr val="bg1"/>
            </a:solidFill>
          </a:ln>
        </p:spPr>
        <p:txBody>
          <a:bodyPr wrap="square" rtlCol="0">
            <a:spAutoFit/>
          </a:bodyPr>
          <a:lstStyle/>
          <a:p>
            <a:pPr algn="just"/>
            <a:r>
              <a:rPr lang="zh-CN" altLang="en-US" sz="2400" b="1" dirty="0">
                <a:solidFill>
                  <a:srgbClr val="005A8A"/>
                </a:solidFill>
                <a:latin typeface="微软雅黑" panose="020B0503020204020204" pitchFamily="34" charset="-122"/>
                <a:ea typeface="微软雅黑" panose="020B0503020204020204" pitchFamily="34" charset="-122"/>
                <a:sym typeface="字魂105号-简雅黑" panose="00000500000000000000" pitchFamily="2" charset="-122"/>
              </a:rPr>
              <a:t>文献综述</a:t>
            </a:r>
            <a:endParaRPr lang="zh-CN" altLang="zh-CN" sz="2400" dirty="0">
              <a:solidFill>
                <a:srgbClr val="005A8A"/>
              </a:solidFill>
              <a:latin typeface="微软雅黑" panose="020B0503020204020204" charset="-122"/>
              <a:ea typeface="微软雅黑" panose="020B0503020204020204" charset="-122"/>
            </a:endParaRPr>
          </a:p>
        </p:txBody>
      </p:sp>
      <p:sp>
        <p:nvSpPr>
          <p:cNvPr id="81" name="文本框 80">
            <a:extLst>
              <a:ext uri="{FF2B5EF4-FFF2-40B4-BE49-F238E27FC236}">
                <a16:creationId xmlns:a16="http://schemas.microsoft.com/office/drawing/2014/main" id="{5753449D-6419-4343-ABA8-FC56B40F111A}"/>
              </a:ext>
            </a:extLst>
          </p:cNvPr>
          <p:cNvSpPr txBox="1"/>
          <p:nvPr/>
        </p:nvSpPr>
        <p:spPr>
          <a:xfrm>
            <a:off x="5291138" y="3893768"/>
            <a:ext cx="1604328" cy="461665"/>
          </a:xfrm>
          <a:prstGeom prst="rect">
            <a:avLst/>
          </a:prstGeom>
          <a:noFill/>
        </p:spPr>
        <p:txBody>
          <a:bodyPr wrap="square" rtlCol="0">
            <a:spAutoFit/>
          </a:bodyPr>
          <a:lstStyle/>
          <a:p>
            <a:pPr algn="just"/>
            <a:r>
              <a:rPr lang="zh-CN" altLang="en-US" sz="2400" b="1" dirty="0">
                <a:solidFill>
                  <a:srgbClr val="005A8A"/>
                </a:solidFill>
                <a:latin typeface="微软雅黑" panose="020B0503020204020204" pitchFamily="34" charset="-122"/>
                <a:ea typeface="微软雅黑" panose="020B0503020204020204" pitchFamily="34" charset="-122"/>
                <a:sym typeface="字魂105号-简雅黑" panose="00000500000000000000" pitchFamily="2" charset="-122"/>
              </a:rPr>
              <a:t>技术路线</a:t>
            </a:r>
            <a:endParaRPr lang="zh-CN" altLang="zh-CN" sz="2400" dirty="0">
              <a:solidFill>
                <a:srgbClr val="005A8A"/>
              </a:solidFill>
              <a:latin typeface="微软雅黑" panose="020B0503020204020204" charset="-122"/>
              <a:ea typeface="微软雅黑" panose="020B0503020204020204" charset="-122"/>
            </a:endParaRPr>
          </a:p>
        </p:txBody>
      </p:sp>
      <p:sp>
        <p:nvSpPr>
          <p:cNvPr id="82" name="文本框 81">
            <a:extLst>
              <a:ext uri="{FF2B5EF4-FFF2-40B4-BE49-F238E27FC236}">
                <a16:creationId xmlns:a16="http://schemas.microsoft.com/office/drawing/2014/main" id="{0813CD11-66E0-4274-A29F-533183F46209}"/>
              </a:ext>
            </a:extLst>
          </p:cNvPr>
          <p:cNvSpPr txBox="1"/>
          <p:nvPr/>
        </p:nvSpPr>
        <p:spPr>
          <a:xfrm>
            <a:off x="4195066" y="3808274"/>
            <a:ext cx="994708" cy="645160"/>
          </a:xfrm>
          <a:prstGeom prst="rect">
            <a:avLst/>
          </a:prstGeom>
          <a:noFill/>
        </p:spPr>
        <p:txBody>
          <a:bodyPr wrap="square" rtlCol="0">
            <a:spAutoFit/>
          </a:bodyPr>
          <a:lstStyle/>
          <a:p>
            <a:pPr algn="l"/>
            <a:r>
              <a:rPr lang="en-US" altLang="zh-CN" sz="3600" dirty="0">
                <a:solidFill>
                  <a:srgbClr val="2159A5"/>
                </a:solidFill>
                <a:latin typeface="微软雅黑" panose="020B0503020204020204" charset="-122"/>
                <a:ea typeface="微软雅黑" panose="020B0503020204020204" charset="-122"/>
              </a:rPr>
              <a:t>04</a:t>
            </a:r>
          </a:p>
        </p:txBody>
      </p:sp>
      <p:sp>
        <p:nvSpPr>
          <p:cNvPr id="83" name="文本框 82">
            <a:extLst>
              <a:ext uri="{FF2B5EF4-FFF2-40B4-BE49-F238E27FC236}">
                <a16:creationId xmlns:a16="http://schemas.microsoft.com/office/drawing/2014/main" id="{5D2780D1-1B13-4D8F-A6CE-1BBC6B507009}"/>
              </a:ext>
            </a:extLst>
          </p:cNvPr>
          <p:cNvSpPr txBox="1"/>
          <p:nvPr/>
        </p:nvSpPr>
        <p:spPr>
          <a:xfrm>
            <a:off x="5291138" y="4659178"/>
            <a:ext cx="1604328" cy="461665"/>
          </a:xfrm>
          <a:prstGeom prst="rect">
            <a:avLst/>
          </a:prstGeom>
          <a:noFill/>
        </p:spPr>
        <p:txBody>
          <a:bodyPr wrap="square" rtlCol="0">
            <a:spAutoFit/>
          </a:bodyPr>
          <a:lstStyle/>
          <a:p>
            <a:pPr algn="just"/>
            <a:r>
              <a:rPr lang="zh-CN" altLang="en-US" sz="2400" b="1" dirty="0">
                <a:solidFill>
                  <a:srgbClr val="005A8A"/>
                </a:solidFill>
                <a:latin typeface="微软雅黑" panose="020B0503020204020204" pitchFamily="34" charset="-122"/>
                <a:ea typeface="微软雅黑" panose="020B0503020204020204" pitchFamily="34" charset="-122"/>
                <a:sym typeface="字魂105号-简雅黑" panose="00000500000000000000" pitchFamily="2" charset="-122"/>
              </a:rPr>
              <a:t>工作计划</a:t>
            </a:r>
            <a:endParaRPr lang="zh-CN" altLang="zh-CN" sz="2400" dirty="0">
              <a:solidFill>
                <a:srgbClr val="005A8A"/>
              </a:solidFill>
              <a:latin typeface="微软雅黑" panose="020B0503020204020204" charset="-122"/>
              <a:ea typeface="微软雅黑" panose="020B0503020204020204" charset="-122"/>
            </a:endParaRPr>
          </a:p>
        </p:txBody>
      </p:sp>
      <p:sp>
        <p:nvSpPr>
          <p:cNvPr id="84" name="文本框 83">
            <a:extLst>
              <a:ext uri="{FF2B5EF4-FFF2-40B4-BE49-F238E27FC236}">
                <a16:creationId xmlns:a16="http://schemas.microsoft.com/office/drawing/2014/main" id="{899AF432-E2FF-47B1-B182-0CD77EEA73C9}"/>
              </a:ext>
            </a:extLst>
          </p:cNvPr>
          <p:cNvSpPr txBox="1"/>
          <p:nvPr/>
        </p:nvSpPr>
        <p:spPr>
          <a:xfrm>
            <a:off x="4195066" y="4567430"/>
            <a:ext cx="994708" cy="645160"/>
          </a:xfrm>
          <a:prstGeom prst="rect">
            <a:avLst/>
          </a:prstGeom>
          <a:noFill/>
        </p:spPr>
        <p:txBody>
          <a:bodyPr wrap="square" rtlCol="0">
            <a:spAutoFit/>
          </a:bodyPr>
          <a:lstStyle/>
          <a:p>
            <a:pPr algn="l"/>
            <a:r>
              <a:rPr lang="en-US" altLang="zh-CN" sz="3600" dirty="0">
                <a:solidFill>
                  <a:srgbClr val="2159A5"/>
                </a:solidFill>
                <a:latin typeface="微软雅黑" panose="020B0503020204020204" charset="-122"/>
                <a:ea typeface="微软雅黑" panose="020B0503020204020204" charset="-122"/>
              </a:rPr>
              <a:t>05</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0C800E5-A1B3-4306-BC1E-9FCC4A76230D}"/>
              </a:ext>
            </a:extLst>
          </p:cNvPr>
          <p:cNvSpPr/>
          <p:nvPr/>
        </p:nvSpPr>
        <p:spPr>
          <a:xfrm>
            <a:off x="-22934" y="0"/>
            <a:ext cx="12214934" cy="361696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highlight>
                <a:srgbClr val="FFFF00"/>
              </a:highlight>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a:extLst>
              <a:ext uri="{FF2B5EF4-FFF2-40B4-BE49-F238E27FC236}">
                <a16:creationId xmlns:a16="http://schemas.microsoft.com/office/drawing/2014/main" id="{986DBED7-A45E-41D4-BE4B-6F506990CE4E}"/>
              </a:ext>
            </a:extLst>
          </p:cNvPr>
          <p:cNvSpPr/>
          <p:nvPr/>
        </p:nvSpPr>
        <p:spPr>
          <a:xfrm>
            <a:off x="2953706" y="2922322"/>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rgbClr val="005A8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a:extLst>
              <a:ext uri="{FF2B5EF4-FFF2-40B4-BE49-F238E27FC236}">
                <a16:creationId xmlns:a16="http://schemas.microsoft.com/office/drawing/2014/main" id="{964112A8-51B9-42E0-A937-1FF3959A6007}"/>
              </a:ext>
            </a:extLst>
          </p:cNvPr>
          <p:cNvSpPr/>
          <p:nvPr/>
        </p:nvSpPr>
        <p:spPr>
          <a:xfrm>
            <a:off x="4516170" y="3273471"/>
            <a:ext cx="3159659" cy="646331"/>
          </a:xfrm>
          <a:prstGeom prst="rect">
            <a:avLst/>
          </a:prstGeom>
        </p:spPr>
        <p:txBody>
          <a:bodyPr wrap="square">
            <a:spAutoFit/>
          </a:bodyPr>
          <a:lstStyle/>
          <a:p>
            <a:pPr>
              <a:defRPr/>
            </a:pPr>
            <a:r>
              <a:rPr lang="zh-CN" altLang="en-US" sz="3600" b="1" dirty="0">
                <a:solidFill>
                  <a:prstClr val="black"/>
                </a:solidFill>
                <a:latin typeface="微软雅黑" panose="020B0503020204020204" pitchFamily="34" charset="-122"/>
                <a:ea typeface="微软雅黑" panose="020B0503020204020204" pitchFamily="34" charset="-122"/>
                <a:sym typeface="字魂105号-简雅黑" panose="00000500000000000000" pitchFamily="2" charset="-122"/>
              </a:rPr>
              <a:t>一、研究背景</a:t>
            </a:r>
            <a:endParaRPr kumimoji="0" lang="zh-CN" altLang="en-US" sz="3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字魂105号-简雅黑" panose="00000500000000000000" pitchFamily="2" charset="-122"/>
            </a:endParaRPr>
          </a:p>
        </p:txBody>
      </p:sp>
      <p:pic>
        <p:nvPicPr>
          <p:cNvPr id="7" name="图片 6"/>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4142030" y="754120"/>
            <a:ext cx="1308810" cy="1308810"/>
          </a:xfrm>
          <a:prstGeom prst="rect">
            <a:avLst/>
          </a:prstGeom>
        </p:spPr>
      </p:pic>
      <p:pic>
        <p:nvPicPr>
          <p:cNvPr id="8" name="图片 7"/>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5677420" y="968390"/>
            <a:ext cx="2434110" cy="840090"/>
          </a:xfrm>
          <a:prstGeom prst="rect">
            <a:avLst/>
          </a:prstGeom>
        </p:spPr>
      </p:pic>
    </p:spTree>
    <p:extLst>
      <p:ext uri="{BB962C8B-B14F-4D97-AF65-F5344CB8AC3E}">
        <p14:creationId xmlns:p14="http://schemas.microsoft.com/office/powerpoint/2010/main" val="14940628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a:extLst>
              <a:ext uri="{FF2B5EF4-FFF2-40B4-BE49-F238E27FC236}">
                <a16:creationId xmlns:a16="http://schemas.microsoft.com/office/drawing/2014/main" id="{55359C3E-DBA0-4D85-81E7-F99D8C4B227C}"/>
              </a:ext>
            </a:extLst>
          </p:cNvPr>
          <p:cNvCxnSpPr>
            <a:cxnSpLocks/>
          </p:cNvCxnSpPr>
          <p:nvPr/>
        </p:nvCxnSpPr>
        <p:spPr>
          <a:xfrm>
            <a:off x="5780339" y="1689684"/>
            <a:ext cx="13294" cy="4894296"/>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BAC5E0D5-E5CA-4885-B8CA-0D097EFFFE6D}"/>
              </a:ext>
            </a:extLst>
          </p:cNvPr>
          <p:cNvSpPr txBox="1"/>
          <p:nvPr/>
        </p:nvSpPr>
        <p:spPr>
          <a:xfrm>
            <a:off x="482119" y="1747587"/>
            <a:ext cx="5158512" cy="1910908"/>
          </a:xfrm>
          <a:prstGeom prst="rect">
            <a:avLst/>
          </a:prstGeom>
          <a:noFill/>
        </p:spPr>
        <p:txBody>
          <a:bodyPr wrap="square">
            <a:spAutoFit/>
          </a:bodyPr>
          <a:lstStyle/>
          <a:p>
            <a:pPr marL="285750" indent="-285750" algn="just">
              <a:lnSpc>
                <a:spcPct val="125000"/>
              </a:lnSpc>
              <a:buFont typeface="Wingdings" panose="05000000000000000000" pitchFamily="2" charset="2"/>
              <a:buChar char="p"/>
            </a:pPr>
            <a:r>
              <a:rPr lang="zh-CN" altLang="en-US" sz="1600" dirty="0">
                <a:solidFill>
                  <a:srgbClr val="2F5597"/>
                </a:solidFill>
                <a:latin typeface="Microsoft YaHei" panose="020B0503020204020204" pitchFamily="34" charset="-122"/>
                <a:ea typeface="Microsoft YaHei" panose="020B0503020204020204" pitchFamily="34" charset="-122"/>
              </a:rPr>
              <a:t>我国</a:t>
            </a:r>
            <a:r>
              <a:rPr lang="en-US" altLang="zh-CN" sz="1600" dirty="0">
                <a:solidFill>
                  <a:srgbClr val="2F5597"/>
                </a:solidFill>
                <a:latin typeface="Microsoft YaHei" panose="020B0503020204020204" pitchFamily="34" charset="-122"/>
                <a:ea typeface="Microsoft YaHei" panose="020B0503020204020204" pitchFamily="34" charset="-122"/>
              </a:rPr>
              <a:t>《“</a:t>
            </a:r>
            <a:r>
              <a:rPr lang="zh-CN" altLang="en-US" sz="1600" dirty="0">
                <a:solidFill>
                  <a:srgbClr val="2F5597"/>
                </a:solidFill>
                <a:latin typeface="Microsoft YaHei" panose="020B0503020204020204" pitchFamily="34" charset="-122"/>
                <a:ea typeface="Microsoft YaHei" panose="020B0503020204020204" pitchFamily="34" charset="-122"/>
              </a:rPr>
              <a:t>十四五”智能制造发展规划</a:t>
            </a:r>
            <a:r>
              <a:rPr lang="en-US" altLang="zh-CN" sz="1600" dirty="0">
                <a:solidFill>
                  <a:srgbClr val="2F5597"/>
                </a:solidFill>
                <a:latin typeface="Microsoft YaHei" panose="020B0503020204020204" pitchFamily="34" charset="-122"/>
                <a:ea typeface="Microsoft YaHei" panose="020B0503020204020204" pitchFamily="34" charset="-122"/>
              </a:rPr>
              <a:t>》</a:t>
            </a:r>
            <a:r>
              <a:rPr lang="zh-CN" altLang="en-US" sz="1600" dirty="0">
                <a:solidFill>
                  <a:srgbClr val="2F5597"/>
                </a:solidFill>
                <a:latin typeface="Microsoft YaHei" panose="020B0503020204020204" pitchFamily="34" charset="-122"/>
                <a:ea typeface="Microsoft YaHei" panose="020B0503020204020204" pitchFamily="34" charset="-122"/>
              </a:rPr>
              <a:t>和</a:t>
            </a:r>
            <a:r>
              <a:rPr lang="en-US" altLang="zh-CN" sz="1600" dirty="0">
                <a:solidFill>
                  <a:srgbClr val="2F5597"/>
                </a:solidFill>
                <a:latin typeface="Microsoft YaHei" panose="020B0503020204020204" pitchFamily="34" charset="-122"/>
                <a:ea typeface="Microsoft YaHei" panose="020B0503020204020204" pitchFamily="34" charset="-122"/>
              </a:rPr>
              <a:t>《“</a:t>
            </a:r>
            <a:r>
              <a:rPr lang="zh-CN" altLang="en-US" sz="1600" dirty="0">
                <a:solidFill>
                  <a:srgbClr val="2F5597"/>
                </a:solidFill>
                <a:latin typeface="Microsoft YaHei" panose="020B0503020204020204" pitchFamily="34" charset="-122"/>
                <a:ea typeface="Microsoft YaHei" panose="020B0503020204020204" pitchFamily="34" charset="-122"/>
              </a:rPr>
              <a:t>十四五”国家安全生产规划</a:t>
            </a:r>
            <a:r>
              <a:rPr lang="en-US" altLang="zh-CN" sz="1600" dirty="0">
                <a:solidFill>
                  <a:srgbClr val="2F5597"/>
                </a:solidFill>
                <a:latin typeface="Microsoft YaHei" panose="020B0503020204020204" pitchFamily="34" charset="-122"/>
                <a:ea typeface="Microsoft YaHei" panose="020B0503020204020204" pitchFamily="34" charset="-122"/>
              </a:rPr>
              <a:t>》</a:t>
            </a:r>
            <a:r>
              <a:rPr lang="zh-CN" altLang="en-US" sz="1600" dirty="0">
                <a:solidFill>
                  <a:srgbClr val="2F5597"/>
                </a:solidFill>
                <a:latin typeface="Microsoft YaHei" panose="020B0503020204020204" pitchFamily="34" charset="-122"/>
                <a:ea typeface="Microsoft YaHei" panose="020B0503020204020204" pitchFamily="34" charset="-122"/>
              </a:rPr>
              <a:t>明确提出要“统筹好发展和安全两件大事”，推动制造业向高效与安全并重的方向发展。制造运营中的“高效生产”是生产调度追求的主体目标，而设备的“安全运行”则由设备管理加以保障。</a:t>
            </a:r>
            <a:endParaRPr lang="en-US" altLang="zh-CN" sz="1600" dirty="0">
              <a:solidFill>
                <a:srgbClr val="2F5597"/>
              </a:solidFill>
              <a:latin typeface="Microsoft YaHei" panose="020B0503020204020204" pitchFamily="34" charset="-122"/>
              <a:ea typeface="Microsoft YaHei" panose="020B0503020204020204" pitchFamily="34" charset="-122"/>
            </a:endParaRPr>
          </a:p>
        </p:txBody>
      </p:sp>
      <p:sp>
        <p:nvSpPr>
          <p:cNvPr id="23" name="文本框 22">
            <a:extLst>
              <a:ext uri="{FF2B5EF4-FFF2-40B4-BE49-F238E27FC236}">
                <a16:creationId xmlns:a16="http://schemas.microsoft.com/office/drawing/2014/main" id="{D021C59F-1FAC-4D16-9261-ED7A409FD3C0}"/>
              </a:ext>
            </a:extLst>
          </p:cNvPr>
          <p:cNvSpPr txBox="1"/>
          <p:nvPr/>
        </p:nvSpPr>
        <p:spPr>
          <a:xfrm>
            <a:off x="5807900" y="1747587"/>
            <a:ext cx="5158512" cy="1603131"/>
          </a:xfrm>
          <a:prstGeom prst="rect">
            <a:avLst/>
          </a:prstGeom>
          <a:noFill/>
        </p:spPr>
        <p:txBody>
          <a:bodyPr wrap="square">
            <a:spAutoFit/>
          </a:bodyPr>
          <a:lstStyle/>
          <a:p>
            <a:pPr marL="285750" indent="-285750" algn="just">
              <a:lnSpc>
                <a:spcPct val="125000"/>
              </a:lnSpc>
              <a:buFont typeface="Wingdings" panose="05000000000000000000" pitchFamily="2" charset="2"/>
              <a:buChar char="p"/>
            </a:pPr>
            <a:r>
              <a:rPr lang="zh-CN" altLang="en-US" sz="1600" dirty="0">
                <a:solidFill>
                  <a:srgbClr val="2F5597"/>
                </a:solidFill>
                <a:latin typeface="Microsoft YaHei" panose="020B0503020204020204" pitchFamily="34" charset="-122"/>
                <a:ea typeface="Microsoft YaHei" panose="020B0503020204020204" pitchFamily="34" charset="-122"/>
              </a:rPr>
              <a:t>在智能制造背景下，生产调度和预防性设备维护计划是提升制造过程生产效率和可靠性的两大关键活动</a:t>
            </a:r>
          </a:p>
          <a:p>
            <a:pPr marL="285750" indent="-285750" algn="just">
              <a:lnSpc>
                <a:spcPct val="125000"/>
              </a:lnSpc>
              <a:buFont typeface="Wingdings" panose="05000000000000000000" pitchFamily="2" charset="2"/>
              <a:buChar char="p"/>
            </a:pPr>
            <a:r>
              <a:rPr lang="zh-CN" altLang="en-US" sz="1600" dirty="0">
                <a:solidFill>
                  <a:srgbClr val="2F5597"/>
                </a:solidFill>
                <a:latin typeface="Microsoft YaHei" panose="020B0503020204020204" pitchFamily="34" charset="-122"/>
                <a:ea typeface="Microsoft YaHei" panose="020B0503020204020204" pitchFamily="34" charset="-122"/>
              </a:rPr>
              <a:t>生产调度（追求效率、成本）与设备维护（保障安全、可靠）二者深度耦合：生产负荷影响设备退化，设备状态又制约生产执行。</a:t>
            </a:r>
            <a:endParaRPr lang="en-US" altLang="zh-CN" sz="1600" dirty="0">
              <a:solidFill>
                <a:srgbClr val="2F5597"/>
              </a:solidFill>
              <a:latin typeface="Microsoft YaHei" panose="020B0503020204020204" pitchFamily="34" charset="-122"/>
              <a:ea typeface="Microsoft YaHei" panose="020B0503020204020204" pitchFamily="34" charset="-122"/>
            </a:endParaRPr>
          </a:p>
        </p:txBody>
      </p:sp>
      <p:sp>
        <p:nvSpPr>
          <p:cNvPr id="31" name="AutoShape 2" descr="工业4.0前面的1.0 2.0 3.0具体是什么?工业4.0将给我们的生活带来了什么变化?_法库传媒网">
            <a:extLst>
              <a:ext uri="{FF2B5EF4-FFF2-40B4-BE49-F238E27FC236}">
                <a16:creationId xmlns:a16="http://schemas.microsoft.com/office/drawing/2014/main" id="{E33E0732-C737-45F8-B368-BDEC0D9B814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AutoShape 4" descr="工业4.0前面的1.0 2.0 3.0具体是什么?工业4.0将给我们的生活带来了什么变化?_法库传媒网">
            <a:extLst>
              <a:ext uri="{FF2B5EF4-FFF2-40B4-BE49-F238E27FC236}">
                <a16:creationId xmlns:a16="http://schemas.microsoft.com/office/drawing/2014/main" id="{A4AD2D61-A961-4FB1-B30C-783534E8CA12}"/>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8" name="图片 27"/>
          <p:cNvPicPr>
            <a:picLocks noChangeAspect="1"/>
          </p:cNvPicPr>
          <p:nvPr/>
        </p:nvPicPr>
        <p:blipFill>
          <a:blip r:embed="rId3"/>
          <a:stretch>
            <a:fillRect/>
          </a:stretch>
        </p:blipFill>
        <p:spPr>
          <a:xfrm>
            <a:off x="11300792" y="166376"/>
            <a:ext cx="674131" cy="674131"/>
          </a:xfrm>
          <a:prstGeom prst="rect">
            <a:avLst/>
          </a:prstGeom>
        </p:spPr>
      </p:pic>
      <p:cxnSp>
        <p:nvCxnSpPr>
          <p:cNvPr id="7" name="直接连接符 3">
            <a:extLst>
              <a:ext uri="{FF2B5EF4-FFF2-40B4-BE49-F238E27FC236}">
                <a16:creationId xmlns:a16="http://schemas.microsoft.com/office/drawing/2014/main" id="{BBBC9128-9103-485C-9395-11FF750F1C5D}"/>
              </a:ext>
            </a:extLst>
          </p:cNvPr>
          <p:cNvCxnSpPr>
            <a:cxnSpLocks/>
          </p:cNvCxnSpPr>
          <p:nvPr/>
        </p:nvCxnSpPr>
        <p:spPr>
          <a:xfrm>
            <a:off x="0" y="815333"/>
            <a:ext cx="11105147" cy="0"/>
          </a:xfrm>
          <a:prstGeom prst="line">
            <a:avLst/>
          </a:prstGeom>
          <a:ln w="76200">
            <a:solidFill>
              <a:srgbClr val="0054A6"/>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A78EEBB9-FFFA-4080-83A2-78122037D209}"/>
              </a:ext>
            </a:extLst>
          </p:cNvPr>
          <p:cNvSpPr/>
          <p:nvPr/>
        </p:nvSpPr>
        <p:spPr>
          <a:xfrm>
            <a:off x="0" y="181976"/>
            <a:ext cx="3068053" cy="558709"/>
          </a:xfrm>
          <a:prstGeom prst="rect">
            <a:avLst/>
          </a:prstGeom>
          <a:solidFill>
            <a:srgbClr val="2F5597"/>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黑体" panose="02010609060101010101" pitchFamily="49" charset="-122"/>
                <a:ea typeface="黑体" panose="02010609060101010101" pitchFamily="49" charset="-122"/>
              </a:rPr>
              <a:t>研究背景</a:t>
            </a:r>
          </a:p>
        </p:txBody>
      </p:sp>
      <p:pic>
        <p:nvPicPr>
          <p:cNvPr id="1030" name="Picture 6" descr="工业4.0前面的1.0 2.0 3.0具体是什么?工业4.0将给我们的生活带来了什么变化?_法库传媒网">
            <a:extLst>
              <a:ext uri="{FF2B5EF4-FFF2-40B4-BE49-F238E27FC236}">
                <a16:creationId xmlns:a16="http://schemas.microsoft.com/office/drawing/2014/main" id="{59993B25-3D0B-4524-95DE-9F21AE0385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882" y="3918546"/>
            <a:ext cx="2206759" cy="199887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十四五规划是哪一年到哪一年？_酷知经验网">
            <a:extLst>
              <a:ext uri="{FF2B5EF4-FFF2-40B4-BE49-F238E27FC236}">
                <a16:creationId xmlns:a16="http://schemas.microsoft.com/office/drawing/2014/main" id="{E026EC83-0F78-4CF7-8061-D4D5AB48D91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14939" y="3918546"/>
            <a:ext cx="2309803" cy="1998877"/>
          </a:xfrm>
          <a:prstGeom prst="rect">
            <a:avLst/>
          </a:prstGeom>
          <a:noFill/>
          <a:extLst>
            <a:ext uri="{909E8E84-426E-40DD-AFC4-6F175D3DCCD1}">
              <a14:hiddenFill xmlns:a14="http://schemas.microsoft.com/office/drawing/2010/main">
                <a:solidFill>
                  <a:srgbClr val="FFFFFF"/>
                </a:solidFill>
              </a14:hiddenFill>
            </a:ext>
          </a:extLst>
        </p:spPr>
      </p:pic>
      <p:sp>
        <p:nvSpPr>
          <p:cNvPr id="37" name="矩形: 圆角 36">
            <a:extLst>
              <a:ext uri="{FF2B5EF4-FFF2-40B4-BE49-F238E27FC236}">
                <a16:creationId xmlns:a16="http://schemas.microsoft.com/office/drawing/2014/main" id="{92C85771-9695-4BC1-8979-36DF6778B7B4}"/>
              </a:ext>
            </a:extLst>
          </p:cNvPr>
          <p:cNvSpPr/>
          <p:nvPr/>
        </p:nvSpPr>
        <p:spPr>
          <a:xfrm>
            <a:off x="0" y="845440"/>
            <a:ext cx="3430534" cy="419133"/>
          </a:xfrm>
          <a:prstGeom prst="roundRect">
            <a:avLst>
              <a:gd name="adj" fmla="val 9331"/>
            </a:avLst>
          </a:prstGeom>
          <a:solidFill>
            <a:srgbClr val="3B5E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设备维护与生产调度</a:t>
            </a:r>
          </a:p>
        </p:txBody>
      </p:sp>
      <p:pic>
        <p:nvPicPr>
          <p:cNvPr id="4" name="图片 3">
            <a:extLst>
              <a:ext uri="{FF2B5EF4-FFF2-40B4-BE49-F238E27FC236}">
                <a16:creationId xmlns:a16="http://schemas.microsoft.com/office/drawing/2014/main" id="{4D84380E-3013-498C-A21E-5DEA000DE6A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92454" y="3429000"/>
            <a:ext cx="4707754" cy="3138503"/>
          </a:xfrm>
          <a:prstGeom prst="rect">
            <a:avLst/>
          </a:prstGeom>
        </p:spPr>
      </p:pic>
    </p:spTree>
    <p:extLst>
      <p:ext uri="{BB962C8B-B14F-4D97-AF65-F5344CB8AC3E}">
        <p14:creationId xmlns:p14="http://schemas.microsoft.com/office/powerpoint/2010/main" val="26048224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p:cNvPicPr>
            <a:picLocks noChangeAspect="1"/>
          </p:cNvPicPr>
          <p:nvPr/>
        </p:nvPicPr>
        <p:blipFill>
          <a:blip r:embed="rId3"/>
          <a:stretch>
            <a:fillRect/>
          </a:stretch>
        </p:blipFill>
        <p:spPr>
          <a:xfrm>
            <a:off x="11300792" y="166376"/>
            <a:ext cx="674131" cy="674131"/>
          </a:xfrm>
          <a:prstGeom prst="rect">
            <a:avLst/>
          </a:prstGeom>
        </p:spPr>
      </p:pic>
      <p:cxnSp>
        <p:nvCxnSpPr>
          <p:cNvPr id="7" name="直接连接符 3">
            <a:extLst>
              <a:ext uri="{FF2B5EF4-FFF2-40B4-BE49-F238E27FC236}">
                <a16:creationId xmlns:a16="http://schemas.microsoft.com/office/drawing/2014/main" id="{BBBC9128-9103-485C-9395-11FF750F1C5D}"/>
              </a:ext>
            </a:extLst>
          </p:cNvPr>
          <p:cNvCxnSpPr>
            <a:cxnSpLocks/>
          </p:cNvCxnSpPr>
          <p:nvPr/>
        </p:nvCxnSpPr>
        <p:spPr>
          <a:xfrm>
            <a:off x="0" y="815333"/>
            <a:ext cx="11105147" cy="0"/>
          </a:xfrm>
          <a:prstGeom prst="line">
            <a:avLst/>
          </a:prstGeom>
          <a:ln w="76200">
            <a:solidFill>
              <a:srgbClr val="0054A6"/>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A78EEBB9-FFFA-4080-83A2-78122037D209}"/>
              </a:ext>
            </a:extLst>
          </p:cNvPr>
          <p:cNvSpPr/>
          <p:nvPr/>
        </p:nvSpPr>
        <p:spPr>
          <a:xfrm>
            <a:off x="0" y="181976"/>
            <a:ext cx="3068053" cy="558709"/>
          </a:xfrm>
          <a:prstGeom prst="rect">
            <a:avLst/>
          </a:prstGeom>
          <a:solidFill>
            <a:srgbClr val="2F5597"/>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黑体" panose="02010609060101010101" pitchFamily="49" charset="-122"/>
                <a:ea typeface="黑体" panose="02010609060101010101" pitchFamily="49" charset="-122"/>
              </a:rPr>
              <a:t>研究背景</a:t>
            </a:r>
          </a:p>
        </p:txBody>
      </p:sp>
      <p:sp>
        <p:nvSpPr>
          <p:cNvPr id="19" name="矩形: 圆角 18">
            <a:extLst>
              <a:ext uri="{FF2B5EF4-FFF2-40B4-BE49-F238E27FC236}">
                <a16:creationId xmlns:a16="http://schemas.microsoft.com/office/drawing/2014/main" id="{11469AC8-9FA3-4579-AE08-6168053B5449}"/>
              </a:ext>
            </a:extLst>
          </p:cNvPr>
          <p:cNvSpPr/>
          <p:nvPr/>
        </p:nvSpPr>
        <p:spPr>
          <a:xfrm>
            <a:off x="0" y="845440"/>
            <a:ext cx="3430534" cy="419133"/>
          </a:xfrm>
          <a:prstGeom prst="roundRect">
            <a:avLst>
              <a:gd name="adj" fmla="val 9331"/>
            </a:avLst>
          </a:prstGeom>
          <a:solidFill>
            <a:srgbClr val="3B5E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设备维护与生产调度</a:t>
            </a:r>
          </a:p>
        </p:txBody>
      </p:sp>
      <p:sp>
        <p:nvSpPr>
          <p:cNvPr id="20" name="文本框 19">
            <a:extLst>
              <a:ext uri="{FF2B5EF4-FFF2-40B4-BE49-F238E27FC236}">
                <a16:creationId xmlns:a16="http://schemas.microsoft.com/office/drawing/2014/main" id="{8BDD27A6-5AFA-41F7-A114-15B0BE4B71FC}"/>
              </a:ext>
            </a:extLst>
          </p:cNvPr>
          <p:cNvSpPr txBox="1"/>
          <p:nvPr/>
        </p:nvSpPr>
        <p:spPr>
          <a:xfrm>
            <a:off x="863251" y="2162173"/>
            <a:ext cx="6098720" cy="923330"/>
          </a:xfrm>
          <a:prstGeom prst="rect">
            <a:avLst/>
          </a:prstGeom>
          <a:noFill/>
        </p:spPr>
        <p:txBody>
          <a:bodyPr wrap="square">
            <a:spAutoFit/>
          </a:bodyPr>
          <a:lstStyle/>
          <a:p>
            <a:pPr algn="just"/>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设备维护在确保工业设备、军事装备</a:t>
            </a:r>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等</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系统</a:t>
            </a:r>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的</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正常运行以及系统安全性和可靠性</a:t>
            </a:r>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中</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发挥着重要作用，是设备管理的重要组成部分</a:t>
            </a:r>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。而</a:t>
            </a:r>
            <a:r>
              <a:rPr lang="en-US" altLang="zh-CN" sz="1800" b="1"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RUL</a:t>
            </a:r>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是设备健康的关键指标。</a:t>
            </a:r>
            <a:endParaRPr lang="zh-CN" altLang="en-US" dirty="0">
              <a:latin typeface="微软雅黑" panose="020B0503020204020204" pitchFamily="34" charset="-122"/>
              <a:ea typeface="微软雅黑" panose="020B0503020204020204" pitchFamily="34" charset="-122"/>
            </a:endParaRPr>
          </a:p>
        </p:txBody>
      </p:sp>
      <p:sp>
        <p:nvSpPr>
          <p:cNvPr id="25" name="箭头: 右 24">
            <a:extLst>
              <a:ext uri="{FF2B5EF4-FFF2-40B4-BE49-F238E27FC236}">
                <a16:creationId xmlns:a16="http://schemas.microsoft.com/office/drawing/2014/main" id="{9BF3418E-8AD9-4188-9E95-9CF85454B99A}"/>
              </a:ext>
            </a:extLst>
          </p:cNvPr>
          <p:cNvSpPr/>
          <p:nvPr/>
        </p:nvSpPr>
        <p:spPr>
          <a:xfrm>
            <a:off x="7410320" y="2390627"/>
            <a:ext cx="865414" cy="338555"/>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AF481803-0610-4A34-B417-3BFDF6B1F43A}"/>
              </a:ext>
            </a:extLst>
          </p:cNvPr>
          <p:cNvSpPr txBox="1"/>
          <p:nvPr/>
        </p:nvSpPr>
        <p:spPr>
          <a:xfrm>
            <a:off x="863251" y="3403674"/>
            <a:ext cx="6098720" cy="1200329"/>
          </a:xfrm>
          <a:prstGeom prst="rect">
            <a:avLst/>
          </a:prstGeom>
          <a:noFill/>
        </p:spPr>
        <p:txBody>
          <a:bodyPr wrap="square">
            <a:spAutoFit/>
          </a:bodyPr>
          <a:lstStyle/>
          <a:p>
            <a:pPr algn="just"/>
            <a:r>
              <a:rPr lang="zh-CN" altLang="zh-CN" sz="1800" b="1"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预测性维护</a:t>
            </a: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在全生命周期中监测设备的运行状态和环境，从而提前确定合理的维护方案，并且根据寿命变化动态更新维护计划。</a:t>
            </a:r>
            <a:r>
              <a:rPr lang="zh-CN" alt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对</a:t>
            </a: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降低维护成本，避免灾难性故障的发生</a:t>
            </a:r>
            <a:r>
              <a:rPr lang="zh-CN" alt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，具有重要作用。</a:t>
            </a:r>
            <a:endParaRPr lang="zh-CN" altLang="en-US" dirty="0">
              <a:latin typeface="微软雅黑" panose="020B0503020204020204" pitchFamily="34" charset="-122"/>
              <a:ea typeface="微软雅黑" panose="020B0503020204020204" pitchFamily="34" charset="-122"/>
            </a:endParaRPr>
          </a:p>
        </p:txBody>
      </p:sp>
      <p:sp>
        <p:nvSpPr>
          <p:cNvPr id="34" name="矩形 33">
            <a:extLst>
              <a:ext uri="{FF2B5EF4-FFF2-40B4-BE49-F238E27FC236}">
                <a16:creationId xmlns:a16="http://schemas.microsoft.com/office/drawing/2014/main" id="{2572143A-D5A0-42C1-82B4-2F98891D45DC}"/>
              </a:ext>
            </a:extLst>
          </p:cNvPr>
          <p:cNvSpPr/>
          <p:nvPr/>
        </p:nvSpPr>
        <p:spPr>
          <a:xfrm>
            <a:off x="8724082" y="2236738"/>
            <a:ext cx="2147979" cy="646331"/>
          </a:xfrm>
          <a:prstGeom prst="rect">
            <a:avLst/>
          </a:prstGeom>
          <a:solidFill>
            <a:schemeClr val="bg1"/>
          </a:solidFill>
          <a:ln w="19050">
            <a:solidFill>
              <a:schemeClr val="tx1"/>
            </a:solidFill>
            <a:prstDash val="solid"/>
          </a:ln>
          <a:effectLst>
            <a:outerShdw blurRad="50800" dist="38100" dir="2700000" algn="tl" rotWithShape="0">
              <a:prstClr val="black">
                <a:alpha val="40000"/>
              </a:prstClr>
            </a:outerShdw>
          </a:effectLst>
        </p:spPr>
        <p:txBody>
          <a:bodyPr wrap="square">
            <a:spAutoFit/>
          </a:bodyPr>
          <a:lstStyle/>
          <a:p>
            <a:pPr algn="just"/>
            <a:r>
              <a:rPr lang="zh-CN" altLang="en-US" dirty="0">
                <a:latin typeface="Calibri" panose="020F0502020204030204" pitchFamily="34" charset="0"/>
                <a:ea typeface="宋体" panose="02010600030101010101" pitchFamily="2" charset="-122"/>
                <a:cs typeface="Times New Roman" panose="02020603050405020304" pitchFamily="18" charset="0"/>
              </a:rPr>
              <a:t>研究</a:t>
            </a:r>
            <a:r>
              <a:rPr lang="zh-CN" altLang="en-US"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准确有效的</a:t>
            </a:r>
            <a:r>
              <a:rPr lang="en-US" altLang="zh-CN"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RUL</a:t>
            </a:r>
            <a:r>
              <a:rPr lang="zh-CN" altLang="en-US"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预测</a:t>
            </a:r>
            <a:r>
              <a:rPr lang="zh-CN" altLang="en-US" dirty="0">
                <a:latin typeface="Calibri" panose="020F0502020204030204" pitchFamily="34" charset="0"/>
                <a:ea typeface="宋体" panose="02010600030101010101" pitchFamily="2" charset="-122"/>
                <a:cs typeface="Times New Roman" panose="02020603050405020304" pitchFamily="18" charset="0"/>
              </a:rPr>
              <a:t>的必要性</a:t>
            </a:r>
          </a:p>
        </p:txBody>
      </p:sp>
      <p:sp>
        <p:nvSpPr>
          <p:cNvPr id="35" name="箭头: 右 34">
            <a:extLst>
              <a:ext uri="{FF2B5EF4-FFF2-40B4-BE49-F238E27FC236}">
                <a16:creationId xmlns:a16="http://schemas.microsoft.com/office/drawing/2014/main" id="{AE5E06C8-8E7F-4370-AF53-39AAE86222A8}"/>
              </a:ext>
            </a:extLst>
          </p:cNvPr>
          <p:cNvSpPr/>
          <p:nvPr/>
        </p:nvSpPr>
        <p:spPr>
          <a:xfrm>
            <a:off x="7410320" y="3834563"/>
            <a:ext cx="865414" cy="338555"/>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37" name="箭头: 右 36">
            <a:extLst>
              <a:ext uri="{FF2B5EF4-FFF2-40B4-BE49-F238E27FC236}">
                <a16:creationId xmlns:a16="http://schemas.microsoft.com/office/drawing/2014/main" id="{3EA9740E-F609-46CC-97D1-63B8E95FB31E}"/>
              </a:ext>
            </a:extLst>
          </p:cNvPr>
          <p:cNvSpPr/>
          <p:nvPr/>
        </p:nvSpPr>
        <p:spPr>
          <a:xfrm>
            <a:off x="7410320" y="5365304"/>
            <a:ext cx="865414" cy="338555"/>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E3705E85-1BBE-4767-BD85-03F5DC8C4AD5}"/>
              </a:ext>
            </a:extLst>
          </p:cNvPr>
          <p:cNvSpPr/>
          <p:nvPr/>
        </p:nvSpPr>
        <p:spPr>
          <a:xfrm>
            <a:off x="8724083" y="3680674"/>
            <a:ext cx="2147978" cy="646331"/>
          </a:xfrm>
          <a:prstGeom prst="rect">
            <a:avLst/>
          </a:prstGeom>
          <a:solidFill>
            <a:schemeClr val="bg1"/>
          </a:solidFill>
          <a:ln w="19050">
            <a:solidFill>
              <a:schemeClr val="tx1"/>
            </a:solidFill>
            <a:prstDash val="solid"/>
          </a:ln>
          <a:effectLst>
            <a:outerShdw blurRad="50800" dist="38100" dir="2700000" algn="tl" rotWithShape="0">
              <a:prstClr val="black">
                <a:alpha val="40000"/>
              </a:prstClr>
            </a:outerShdw>
          </a:effectLst>
        </p:spPr>
        <p:txBody>
          <a:bodyPr wrap="square">
            <a:spAutoFit/>
          </a:bodyPr>
          <a:lstStyle/>
          <a:p>
            <a:pPr algn="just"/>
            <a:r>
              <a:rPr lang="zh-CN" altLang="en-US" dirty="0">
                <a:latin typeface="Calibri" panose="020F0502020204030204" pitchFamily="34" charset="0"/>
                <a:ea typeface="宋体" panose="02010600030101010101" pitchFamily="2" charset="-122"/>
                <a:cs typeface="Times New Roman" panose="02020603050405020304" pitchFamily="18" charset="0"/>
              </a:rPr>
              <a:t>研究</a:t>
            </a:r>
            <a:r>
              <a:rPr lang="zh-CN" altLang="en-US" b="1" kern="100" dirty="0">
                <a:solidFill>
                  <a:srgbClr val="C00000"/>
                </a:solidFill>
                <a:latin typeface="Times New Roman" panose="02020603050405020304" pitchFamily="18" charset="0"/>
                <a:ea typeface="宋体" panose="02010600030101010101" pitchFamily="2" charset="-122"/>
              </a:rPr>
              <a:t>预测维护</a:t>
            </a:r>
            <a:r>
              <a:rPr lang="zh-CN" altLang="en-US" dirty="0">
                <a:latin typeface="Calibri" panose="020F0502020204030204" pitchFamily="34" charset="0"/>
                <a:ea typeface="宋体" panose="02010600030101010101" pitchFamily="2" charset="-122"/>
                <a:cs typeface="Times New Roman" panose="02020603050405020304" pitchFamily="18" charset="0"/>
              </a:rPr>
              <a:t>的必要性</a:t>
            </a:r>
          </a:p>
        </p:txBody>
      </p:sp>
      <p:sp>
        <p:nvSpPr>
          <p:cNvPr id="39" name="文本框 38">
            <a:extLst>
              <a:ext uri="{FF2B5EF4-FFF2-40B4-BE49-F238E27FC236}">
                <a16:creationId xmlns:a16="http://schemas.microsoft.com/office/drawing/2014/main" id="{985ED9F5-91AE-4578-BBEF-D6BB5800BBDA}"/>
              </a:ext>
            </a:extLst>
          </p:cNvPr>
          <p:cNvSpPr txBox="1"/>
          <p:nvPr/>
        </p:nvSpPr>
        <p:spPr>
          <a:xfrm>
            <a:off x="863251" y="4934418"/>
            <a:ext cx="6098720" cy="1200329"/>
          </a:xfrm>
          <a:prstGeom prst="rect">
            <a:avLst/>
          </a:prstGeom>
          <a:noFill/>
        </p:spPr>
        <p:txBody>
          <a:bodyPr wrap="square">
            <a:spAutoFit/>
          </a:bodyPr>
          <a:lstStyle/>
          <a:p>
            <a:pPr algn="just"/>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在智能制造系统中，研究</a:t>
            </a:r>
            <a:r>
              <a:rPr lang="zh-CN" altLang="zh-CN"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维护与调度协同</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的必要性源于二者在传统分治决策模式下难以调和的根本性矛盾。</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忽视两者的协同优化可能导致生产中断、设备过早损坏以及生产效率降低。</a:t>
            </a:r>
          </a:p>
        </p:txBody>
      </p:sp>
      <p:sp>
        <p:nvSpPr>
          <p:cNvPr id="41" name="矩形 40">
            <a:extLst>
              <a:ext uri="{FF2B5EF4-FFF2-40B4-BE49-F238E27FC236}">
                <a16:creationId xmlns:a16="http://schemas.microsoft.com/office/drawing/2014/main" id="{D8BA46DA-D9FD-4C22-AC40-83AF4A1AC3D1}"/>
              </a:ext>
            </a:extLst>
          </p:cNvPr>
          <p:cNvSpPr/>
          <p:nvPr/>
        </p:nvSpPr>
        <p:spPr>
          <a:xfrm>
            <a:off x="8724083" y="5211415"/>
            <a:ext cx="2147978" cy="646331"/>
          </a:xfrm>
          <a:prstGeom prst="rect">
            <a:avLst/>
          </a:prstGeom>
          <a:solidFill>
            <a:schemeClr val="bg1"/>
          </a:solidFill>
          <a:ln w="19050">
            <a:solidFill>
              <a:schemeClr val="tx1"/>
            </a:solidFill>
            <a:prstDash val="solid"/>
          </a:ln>
          <a:effectLst>
            <a:outerShdw blurRad="50800" dist="38100" dir="2700000" algn="tl" rotWithShape="0">
              <a:prstClr val="black">
                <a:alpha val="40000"/>
              </a:prstClr>
            </a:outerShdw>
          </a:effectLst>
        </p:spPr>
        <p:txBody>
          <a:bodyPr wrap="square">
            <a:spAutoFit/>
          </a:bodyPr>
          <a:lstStyle/>
          <a:p>
            <a:pPr algn="just"/>
            <a:r>
              <a:rPr lang="zh-CN" altLang="en-US" dirty="0">
                <a:latin typeface="Calibri" panose="020F0502020204030204" pitchFamily="34" charset="0"/>
                <a:ea typeface="宋体" panose="02010600030101010101" pitchFamily="2" charset="-122"/>
                <a:cs typeface="Times New Roman" panose="02020603050405020304" pitchFamily="18" charset="0"/>
              </a:rPr>
              <a:t>研究</a:t>
            </a:r>
            <a:r>
              <a:rPr lang="zh-CN" altLang="en-US" b="1" kern="100" dirty="0">
                <a:solidFill>
                  <a:srgbClr val="C00000"/>
                </a:solidFill>
                <a:latin typeface="Times New Roman" panose="02020603050405020304" pitchFamily="18" charset="0"/>
                <a:ea typeface="宋体" panose="02010600030101010101" pitchFamily="2" charset="-122"/>
              </a:rPr>
              <a:t>维护与调度协同</a:t>
            </a:r>
            <a:r>
              <a:rPr lang="zh-CN" altLang="en-US" dirty="0">
                <a:latin typeface="Calibri" panose="020F0502020204030204" pitchFamily="34" charset="0"/>
                <a:ea typeface="宋体" panose="02010600030101010101" pitchFamily="2" charset="-122"/>
                <a:cs typeface="Times New Roman" panose="02020603050405020304" pitchFamily="18" charset="0"/>
              </a:rPr>
              <a:t>的必要性</a:t>
            </a:r>
          </a:p>
        </p:txBody>
      </p:sp>
      <p:sp>
        <p:nvSpPr>
          <p:cNvPr id="5" name="流程图: 可选过程 4">
            <a:extLst>
              <a:ext uri="{FF2B5EF4-FFF2-40B4-BE49-F238E27FC236}">
                <a16:creationId xmlns:a16="http://schemas.microsoft.com/office/drawing/2014/main" id="{39AE5865-E0BA-4379-8B9E-968898C43E94}"/>
              </a:ext>
            </a:extLst>
          </p:cNvPr>
          <p:cNvSpPr/>
          <p:nvPr/>
        </p:nvSpPr>
        <p:spPr>
          <a:xfrm>
            <a:off x="863251" y="2032000"/>
            <a:ext cx="6098720" cy="1123936"/>
          </a:xfrm>
          <a:prstGeom prst="flowChartAlternateProcess">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2" name="流程图: 可选过程 41">
            <a:extLst>
              <a:ext uri="{FF2B5EF4-FFF2-40B4-BE49-F238E27FC236}">
                <a16:creationId xmlns:a16="http://schemas.microsoft.com/office/drawing/2014/main" id="{B958DBB5-30AF-46A3-AD56-EE168E6F470D}"/>
              </a:ext>
            </a:extLst>
          </p:cNvPr>
          <p:cNvSpPr/>
          <p:nvPr/>
        </p:nvSpPr>
        <p:spPr>
          <a:xfrm>
            <a:off x="863251" y="3327734"/>
            <a:ext cx="6098720" cy="1352215"/>
          </a:xfrm>
          <a:prstGeom prst="flowChartAlternateProcess">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3" name="流程图: 可选过程 42">
            <a:extLst>
              <a:ext uri="{FF2B5EF4-FFF2-40B4-BE49-F238E27FC236}">
                <a16:creationId xmlns:a16="http://schemas.microsoft.com/office/drawing/2014/main" id="{904887EF-59A9-4425-BDAF-CD969B4AF40E}"/>
              </a:ext>
            </a:extLst>
          </p:cNvPr>
          <p:cNvSpPr/>
          <p:nvPr/>
        </p:nvSpPr>
        <p:spPr>
          <a:xfrm>
            <a:off x="863251" y="4858476"/>
            <a:ext cx="6098720" cy="1352215"/>
          </a:xfrm>
          <a:prstGeom prst="flowChartAlternateProcess">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619243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0C800E5-A1B3-4306-BC1E-9FCC4A76230D}"/>
              </a:ext>
            </a:extLst>
          </p:cNvPr>
          <p:cNvSpPr/>
          <p:nvPr/>
        </p:nvSpPr>
        <p:spPr>
          <a:xfrm>
            <a:off x="-22934" y="0"/>
            <a:ext cx="12214934" cy="361696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highlight>
                <a:srgbClr val="FFFF00"/>
              </a:highlight>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a:extLst>
              <a:ext uri="{FF2B5EF4-FFF2-40B4-BE49-F238E27FC236}">
                <a16:creationId xmlns:a16="http://schemas.microsoft.com/office/drawing/2014/main" id="{986DBED7-A45E-41D4-BE4B-6F506990CE4E}"/>
              </a:ext>
            </a:extLst>
          </p:cNvPr>
          <p:cNvSpPr/>
          <p:nvPr/>
        </p:nvSpPr>
        <p:spPr>
          <a:xfrm>
            <a:off x="2953706" y="2922322"/>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rgbClr val="005A8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a:extLst>
              <a:ext uri="{FF2B5EF4-FFF2-40B4-BE49-F238E27FC236}">
                <a16:creationId xmlns:a16="http://schemas.microsoft.com/office/drawing/2014/main" id="{964112A8-51B9-42E0-A937-1FF3959A6007}"/>
              </a:ext>
            </a:extLst>
          </p:cNvPr>
          <p:cNvSpPr/>
          <p:nvPr/>
        </p:nvSpPr>
        <p:spPr>
          <a:xfrm>
            <a:off x="4516170" y="3273471"/>
            <a:ext cx="3159659" cy="646331"/>
          </a:xfrm>
          <a:prstGeom prst="rect">
            <a:avLst/>
          </a:prstGeom>
        </p:spPr>
        <p:txBody>
          <a:bodyPr wrap="square">
            <a:spAutoFit/>
          </a:bodyPr>
          <a:lstStyle/>
          <a:p>
            <a:pPr>
              <a:defRPr/>
            </a:pPr>
            <a:r>
              <a:rPr lang="zh-CN" altLang="en-US" sz="3600" b="1" dirty="0">
                <a:solidFill>
                  <a:prstClr val="black"/>
                </a:solidFill>
                <a:latin typeface="微软雅黑" panose="020B0503020204020204" pitchFamily="34" charset="-122"/>
                <a:ea typeface="微软雅黑" panose="020B0503020204020204" pitchFamily="34" charset="-122"/>
                <a:sym typeface="字魂105号-简雅黑" panose="00000500000000000000" pitchFamily="2" charset="-122"/>
              </a:rPr>
              <a:t>二、文献综述</a:t>
            </a:r>
            <a:endParaRPr kumimoji="0" lang="zh-CN" altLang="en-US" sz="3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字魂105号-简雅黑" panose="00000500000000000000" pitchFamily="2" charset="-122"/>
            </a:endParaRPr>
          </a:p>
        </p:txBody>
      </p:sp>
      <p:pic>
        <p:nvPicPr>
          <p:cNvPr id="7" name="图片 6"/>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4142030" y="754120"/>
            <a:ext cx="1308810" cy="1308810"/>
          </a:xfrm>
          <a:prstGeom prst="rect">
            <a:avLst/>
          </a:prstGeom>
        </p:spPr>
      </p:pic>
      <p:pic>
        <p:nvPicPr>
          <p:cNvPr id="8" name="图片 7"/>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5677420" y="968390"/>
            <a:ext cx="2434110" cy="840090"/>
          </a:xfrm>
          <a:prstGeom prst="rect">
            <a:avLst/>
          </a:prstGeom>
        </p:spPr>
      </p:pic>
    </p:spTree>
    <p:extLst>
      <p:ext uri="{BB962C8B-B14F-4D97-AF65-F5344CB8AC3E}">
        <p14:creationId xmlns:p14="http://schemas.microsoft.com/office/powerpoint/2010/main" val="15026836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p:cNvPicPr>
            <a:picLocks noChangeAspect="1"/>
          </p:cNvPicPr>
          <p:nvPr/>
        </p:nvPicPr>
        <p:blipFill>
          <a:blip r:embed="rId4"/>
          <a:stretch>
            <a:fillRect/>
          </a:stretch>
        </p:blipFill>
        <p:spPr>
          <a:xfrm>
            <a:off x="11300792" y="166376"/>
            <a:ext cx="674131" cy="674131"/>
          </a:xfrm>
          <a:prstGeom prst="rect">
            <a:avLst/>
          </a:prstGeom>
        </p:spPr>
      </p:pic>
      <p:cxnSp>
        <p:nvCxnSpPr>
          <p:cNvPr id="7" name="直接连接符 3">
            <a:extLst>
              <a:ext uri="{FF2B5EF4-FFF2-40B4-BE49-F238E27FC236}">
                <a16:creationId xmlns:a16="http://schemas.microsoft.com/office/drawing/2014/main" id="{BBBC9128-9103-485C-9395-11FF750F1C5D}"/>
              </a:ext>
            </a:extLst>
          </p:cNvPr>
          <p:cNvCxnSpPr>
            <a:cxnSpLocks/>
          </p:cNvCxnSpPr>
          <p:nvPr/>
        </p:nvCxnSpPr>
        <p:spPr>
          <a:xfrm>
            <a:off x="0" y="815333"/>
            <a:ext cx="11105147" cy="0"/>
          </a:xfrm>
          <a:prstGeom prst="line">
            <a:avLst/>
          </a:prstGeom>
          <a:ln w="76200">
            <a:solidFill>
              <a:srgbClr val="0054A6"/>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A78EEBB9-FFFA-4080-83A2-78122037D209}"/>
              </a:ext>
            </a:extLst>
          </p:cNvPr>
          <p:cNvSpPr/>
          <p:nvPr/>
        </p:nvSpPr>
        <p:spPr>
          <a:xfrm>
            <a:off x="0" y="181976"/>
            <a:ext cx="3068053" cy="558709"/>
          </a:xfrm>
          <a:prstGeom prst="rect">
            <a:avLst/>
          </a:prstGeom>
          <a:solidFill>
            <a:srgbClr val="2F5597"/>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黑体" panose="02010609060101010101" pitchFamily="49" charset="-122"/>
                <a:ea typeface="黑体" panose="02010609060101010101" pitchFamily="49" charset="-122"/>
              </a:rPr>
              <a:t>文献综述</a:t>
            </a:r>
          </a:p>
        </p:txBody>
      </p:sp>
      <p:graphicFrame>
        <p:nvGraphicFramePr>
          <p:cNvPr id="5" name="表格 4">
            <a:extLst>
              <a:ext uri="{FF2B5EF4-FFF2-40B4-BE49-F238E27FC236}">
                <a16:creationId xmlns:a16="http://schemas.microsoft.com/office/drawing/2014/main" id="{73E53E17-1015-4C37-A28D-08E9FE48E8A7}"/>
              </a:ext>
            </a:extLst>
          </p:cNvPr>
          <p:cNvGraphicFramePr>
            <a:graphicFrameLocks noGrp="1"/>
          </p:cNvGraphicFramePr>
          <p:nvPr>
            <p:custDataLst>
              <p:tags r:id="rId1"/>
            </p:custDataLst>
            <p:extLst>
              <p:ext uri="{D42A27DB-BD31-4B8C-83A1-F6EECF244321}">
                <p14:modId xmlns:p14="http://schemas.microsoft.com/office/powerpoint/2010/main" val="2398852749"/>
              </p:ext>
            </p:extLst>
          </p:nvPr>
        </p:nvGraphicFramePr>
        <p:xfrm>
          <a:off x="179842" y="1416975"/>
          <a:ext cx="11458015" cy="4906959"/>
        </p:xfrm>
        <a:graphic>
          <a:graphicData uri="http://schemas.openxmlformats.org/drawingml/2006/table">
            <a:tbl>
              <a:tblPr firstRow="1" bandRow="1">
                <a:tableStyleId>{5C22544A-7EE6-4342-B048-85BDC9FD1C3A}</a:tableStyleId>
              </a:tblPr>
              <a:tblGrid>
                <a:gridCol w="1272988">
                  <a:extLst>
                    <a:ext uri="{9D8B030D-6E8A-4147-A177-3AD203B41FA5}">
                      <a16:colId xmlns:a16="http://schemas.microsoft.com/office/drawing/2014/main" val="1170755200"/>
                    </a:ext>
                  </a:extLst>
                </a:gridCol>
                <a:gridCol w="1452282">
                  <a:extLst>
                    <a:ext uri="{9D8B030D-6E8A-4147-A177-3AD203B41FA5}">
                      <a16:colId xmlns:a16="http://schemas.microsoft.com/office/drawing/2014/main" val="3666768616"/>
                    </a:ext>
                  </a:extLst>
                </a:gridCol>
                <a:gridCol w="1452282">
                  <a:extLst>
                    <a:ext uri="{9D8B030D-6E8A-4147-A177-3AD203B41FA5}">
                      <a16:colId xmlns:a16="http://schemas.microsoft.com/office/drawing/2014/main" val="3011478283"/>
                    </a:ext>
                  </a:extLst>
                </a:gridCol>
                <a:gridCol w="2975163">
                  <a:extLst>
                    <a:ext uri="{9D8B030D-6E8A-4147-A177-3AD203B41FA5}">
                      <a16:colId xmlns:a16="http://schemas.microsoft.com/office/drawing/2014/main" val="20000"/>
                    </a:ext>
                  </a:extLst>
                </a:gridCol>
                <a:gridCol w="2270760">
                  <a:extLst>
                    <a:ext uri="{9D8B030D-6E8A-4147-A177-3AD203B41FA5}">
                      <a16:colId xmlns:a16="http://schemas.microsoft.com/office/drawing/2014/main" val="20004"/>
                    </a:ext>
                  </a:extLst>
                </a:gridCol>
                <a:gridCol w="2034540">
                  <a:extLst>
                    <a:ext uri="{9D8B030D-6E8A-4147-A177-3AD203B41FA5}">
                      <a16:colId xmlns:a16="http://schemas.microsoft.com/office/drawing/2014/main" val="3218387426"/>
                    </a:ext>
                  </a:extLst>
                </a:gridCol>
              </a:tblGrid>
              <a:tr h="3813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1"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分类</a:t>
                      </a:r>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1"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所用模型</a:t>
                      </a:r>
                    </a:p>
                  </a:txBody>
                  <a:tcPr/>
                </a:tc>
                <a:tc h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1"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简介</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1"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优势</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1"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缺点</a:t>
                      </a:r>
                    </a:p>
                  </a:txBody>
                  <a:tcPr/>
                </a:tc>
                <a:extLst>
                  <a:ext uri="{0D108BD9-81ED-4DB2-BD59-A6C34878D82A}">
                    <a16:rowId xmlns:a16="http://schemas.microsoft.com/office/drawing/2014/main" val="10000"/>
                  </a:ext>
                </a:extLst>
              </a:tr>
              <a:tr h="299595">
                <a:tc rowSpan="4">
                  <a:txBody>
                    <a:bodyPr/>
                    <a:lstStyle/>
                    <a:p>
                      <a:pPr marL="0" algn="ctr" defTabSz="914400" rtl="0" eaLnBrk="1" latinLnBrk="0" hangingPunct="1">
                        <a:buClrTx/>
                        <a:buSzTx/>
                        <a:buFontTx/>
                      </a:pPr>
                      <a:r>
                        <a:rPr lang="zh-CN" altLang="en-US" sz="14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基于模型</a:t>
                      </a:r>
                    </a:p>
                  </a:txBody>
                  <a:tcPr anchor="ctr"/>
                </a:tc>
                <a:tc gridSpan="2">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裂纹扩展模型</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hMerge="1">
                  <a:txBody>
                    <a:bodyPr/>
                    <a:lstStyle/>
                    <a:p>
                      <a:endParaRPr lang="zh-CN" altLang="en-US"/>
                    </a:p>
                  </a:txBody>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根据</a:t>
                      </a:r>
                      <a:r>
                        <a:rPr lang="zh-CN"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数学公式或物理模型，结合状态检测数据来描述设备劣化趋势过程</a:t>
                      </a:r>
                      <a:endPar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rowSpan="4">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具有较高的解释性，能够清晰地反映系统的物理退化过程，适合需要高可信度的场景</a:t>
                      </a:r>
                    </a:p>
                  </a:txBody>
                  <a:tcPr anchor="ctr"/>
                </a:tc>
                <a:tc rowSpan="4">
                  <a:txBody>
                    <a:bodyPr/>
                    <a:lstStyle/>
                    <a:p>
                      <a:pPr marL="0" indent="0" algn="ctr" defTabSz="914400" rtl="0" eaLnBrk="1" latinLnBrk="0" hangingPunct="1">
                        <a:buClrTx/>
                        <a:buSzTx/>
                        <a:buFontTx/>
                        <a:buNone/>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模型构建需要大量的先验知识，且难以适应多工作条件下的变化。</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algn="ctr" defTabSz="914400" rtl="0" eaLnBrk="1" latinLnBrk="0" hangingPunct="1">
                        <a:buClrTx/>
                        <a:buSzTx/>
                        <a:buFontTx/>
                        <a:buNone/>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对噪声和不确定性的鲁棒性较差</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extLst>
                  <a:ext uri="{0D108BD9-81ED-4DB2-BD59-A6C34878D82A}">
                    <a16:rowId xmlns:a16="http://schemas.microsoft.com/office/drawing/2014/main" val="10001"/>
                  </a:ext>
                </a:extLst>
              </a:tr>
              <a:tr h="299595">
                <a:tc vMerge="1">
                  <a:txBody>
                    <a:bodyPr/>
                    <a:lstStyle/>
                    <a:p>
                      <a:endParaRPr lang="zh-CN" altLang="en-US" dirty="0"/>
                    </a:p>
                  </a:txBody>
                  <a:tcPr anchor="ctr"/>
                </a:tc>
                <a:tc gridSpan="2">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损伤扩展模型</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hMerge="1">
                  <a:txBody>
                    <a:bodyPr/>
                    <a:lstStyle/>
                    <a:p>
                      <a:endParaRPr lang="zh-CN" altLang="en-US"/>
                    </a:p>
                  </a:txBody>
                  <a:tcPr/>
                </a:tc>
                <a:tc vMerge="1">
                  <a:txBody>
                    <a:bodyPr/>
                    <a:lstStyle/>
                    <a:p>
                      <a:pPr marL="0" algn="ctr" defTabSz="914400" rtl="0" eaLnBrk="1" latinLnBrk="0" hangingPunct="1"/>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Prescriptive equipment maintenance: a framework</a:t>
                      </a:r>
                      <a:endPar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extLst>
                  <a:ext uri="{0D108BD9-81ED-4DB2-BD59-A6C34878D82A}">
                    <a16:rowId xmlns:a16="http://schemas.microsoft.com/office/drawing/2014/main" val="10002"/>
                  </a:ext>
                </a:extLst>
              </a:tr>
              <a:tr h="336271">
                <a:tc vMerge="1">
                  <a:txBody>
                    <a:bodyPr/>
                    <a:lstStyle/>
                    <a:p>
                      <a:endParaRPr lang="zh-CN" altLang="en-US" dirty="0"/>
                    </a:p>
                  </a:txBody>
                  <a:tcPr anchor="ctr"/>
                </a:tc>
                <a:tc gridSpan="2">
                  <a:txBody>
                    <a:bodyPr/>
                    <a:lstStyle/>
                    <a:p>
                      <a:pPr marL="0" algn="ctr" defTabSz="914400" rtl="0" eaLnBrk="1" latinLnBrk="0" hangingPunct="1">
                        <a:buClrTx/>
                        <a:buSzTx/>
                        <a:buFontTx/>
                      </a:pP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Pseudo-Two-Dimensional</a:t>
                      </a: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模型</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hMerge="1">
                  <a:txBody>
                    <a:bodyPr/>
                    <a:lstStyle/>
                    <a:p>
                      <a:endParaRPr lang="zh-CN" altLang="en-US"/>
                    </a:p>
                  </a:txBody>
                  <a:tcPr/>
                </a:tc>
                <a:tc vMerge="1">
                  <a:txBody>
                    <a:bodyPr/>
                    <a:lstStyle/>
                    <a:p>
                      <a:pPr marL="0" algn="ctr" defTabSz="914400" rtl="0" eaLnBrk="1" latinLnBrk="0" hangingPunct="1"/>
                      <a:r>
                        <a:rPr lang="en-US" altLang="zh-CN" sz="1400" b="0" i="0" dirty="0">
                          <a:solidFill>
                            <a:srgbClr val="222222"/>
                          </a:solidFill>
                          <a:effectLst/>
                          <a:latin typeface="Arial" panose="020B0604020202020204" pitchFamily="34" charset="0"/>
                        </a:rPr>
                        <a:t>A review of remaining useful life prediction approaches for mechanical equipment</a:t>
                      </a:r>
                      <a:endPar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extLst>
                  <a:ext uri="{0D108BD9-81ED-4DB2-BD59-A6C34878D82A}">
                    <a16:rowId xmlns:a16="http://schemas.microsoft.com/office/drawing/2014/main" val="3574190317"/>
                  </a:ext>
                </a:extLst>
              </a:tr>
              <a:tr h="299595">
                <a:tc vMerge="1">
                  <a:txBody>
                    <a:bodyPr/>
                    <a:lstStyle/>
                    <a:p>
                      <a:pPr marL="0" algn="ctr" defTabSz="914400" rtl="0" eaLnBrk="1" latinLnBrk="0" hangingPunct="1">
                        <a:buClrTx/>
                        <a:buSzTx/>
                        <a:buFontTx/>
                      </a:pPr>
                      <a:endPar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gridSpan="2">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经验退化模型</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hMerge="1">
                  <a:txBody>
                    <a:bodyPr/>
                    <a:lstStyle/>
                    <a:p>
                      <a:endParaRPr lang="zh-CN" altLang="en-US"/>
                    </a:p>
                  </a:txBody>
                  <a:tcPr/>
                </a:tc>
                <a:tc vMerge="1">
                  <a:txBody>
                    <a:bodyPr/>
                    <a:lstStyle/>
                    <a:p>
                      <a:pPr marL="0" algn="ctr" defTabSz="914400" rtl="0" eaLnBrk="1" latinLnBrk="0" hangingPunct="1"/>
                      <a:r>
                        <a:rPr lang="en-US" altLang="zh-CN" sz="1400" b="0" i="0" dirty="0">
                          <a:solidFill>
                            <a:srgbClr val="222222"/>
                          </a:solidFill>
                          <a:effectLst/>
                          <a:latin typeface="Arial" panose="020B0604020202020204" pitchFamily="34" charset="0"/>
                        </a:rPr>
                        <a:t>Non-deterministic predictions of fatigue life using in-situ diagnostics and prognostics</a:t>
                      </a:r>
                      <a:endPar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extLst>
                  <a:ext uri="{0D108BD9-81ED-4DB2-BD59-A6C34878D82A}">
                    <a16:rowId xmlns:a16="http://schemas.microsoft.com/office/drawing/2014/main" val="10003"/>
                  </a:ext>
                </a:extLst>
              </a:tr>
              <a:tr h="299595">
                <a:tc rowSpan="6">
                  <a:txBody>
                    <a:bodyPr/>
                    <a:lstStyle/>
                    <a:p>
                      <a:pPr marL="0" algn="ctr" defTabSz="914400" rtl="0" eaLnBrk="1" latinLnBrk="0" hangingPunct="1">
                        <a:buClrTx/>
                        <a:buSzTx/>
                        <a:buFontTx/>
                      </a:pPr>
                      <a:r>
                        <a:rPr lang="zh-CN" altLang="en-US" sz="14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数据驱动</a:t>
                      </a:r>
                      <a:endParaRPr lang="en-US" altLang="zh-CN" sz="14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传统机器学习</a:t>
                      </a:r>
                    </a:p>
                  </a:txBody>
                  <a:tcPr anchor="ctr"/>
                </a:tc>
                <a:tc>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线性回归</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利用经验知识建立统计模型，根据监测数据确定模型参数</a:t>
                      </a:r>
                    </a:p>
                  </a:txBody>
                  <a:tcPr anchor="ct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易实现，解释性强</a:t>
                      </a:r>
                    </a:p>
                  </a:txBody>
                  <a:tcPr anchor="ct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泛化性差，更新成本高</a:t>
                      </a:r>
                    </a:p>
                  </a:txBody>
                  <a:tcPr anchor="ctr"/>
                </a:tc>
                <a:extLst>
                  <a:ext uri="{0D108BD9-81ED-4DB2-BD59-A6C34878D82A}">
                    <a16:rowId xmlns:a16="http://schemas.microsoft.com/office/drawing/2014/main" val="10004"/>
                  </a:ext>
                </a:extLst>
              </a:tr>
              <a:tr h="299595">
                <a:tc vMerge="1">
                  <a:txBody>
                    <a:bodyPr/>
                    <a:lstStyle/>
                    <a:p>
                      <a:endParaRPr lang="zh-CN" altLang="en-US"/>
                    </a:p>
                  </a:txBody>
                  <a:tcPr/>
                </a:tc>
                <a:tc vMerge="1">
                  <a:txBody>
                    <a:bodyPr/>
                    <a:lstStyle/>
                    <a:p>
                      <a:endParaRPr lang="zh-CN" altLang="en-US"/>
                    </a:p>
                  </a:txBody>
                  <a:tcPr/>
                </a:tc>
                <a:tc>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支持向量机</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486517805"/>
                  </a:ext>
                </a:extLst>
              </a:tr>
              <a:tr h="449392">
                <a:tc vMerge="1">
                  <a:txBody>
                    <a:bodyPr/>
                    <a:lstStyle/>
                    <a:p>
                      <a:endParaRPr lang="zh-CN" altLang="en-US"/>
                    </a:p>
                  </a:txBody>
                  <a:tcPr/>
                </a:tc>
                <a:tc vMerge="1">
                  <a:txBody>
                    <a:bodyPr/>
                    <a:lstStyle/>
                    <a:p>
                      <a:endParaRPr lang="zh-CN" altLang="en-US"/>
                    </a:p>
                  </a:txBody>
                  <a:tcPr/>
                </a:tc>
                <a:tc>
                  <a:txBody>
                    <a:bodyPr/>
                    <a:lstStyle/>
                    <a:p>
                      <a:pPr marL="0" algn="ctr" defTabSz="914400" rtl="0" eaLnBrk="1" latinLnBrk="0" hangingPunct="1">
                        <a:buClrTx/>
                        <a:buSzTx/>
                        <a:buFontTx/>
                      </a:pPr>
                      <a:r>
                        <a:rPr lang="en-US" altLang="zh-CN" sz="12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Auto Regressive Integrated Moving</a:t>
                      </a:r>
                    </a:p>
                  </a:txBody>
                  <a:tcPr anchor="ctr"/>
                </a:tc>
                <a:tc vMerge="1">
                  <a:txBody>
                    <a:bodyPr/>
                    <a:lstStyle/>
                    <a:p>
                      <a:endParaRPr lang="zh-CN" altLang="en-US"/>
                    </a:p>
                  </a:txBody>
                  <a:tcPr/>
                </a:tc>
                <a:tc vMerge="1">
                  <a:txBody>
                    <a:bodyPr/>
                    <a:lstStyle/>
                    <a:p>
                      <a:endParaRPr lang="zh-CN" altLang="en-US"/>
                    </a:p>
                  </a:txBody>
                  <a:tcPr/>
                </a:tc>
                <a:tc vMerge="1">
                  <a:txBody>
                    <a:bodyPr/>
                    <a:lstStyle/>
                    <a:p>
                      <a:endParaRPr lang="zh-CN" altLang="en-US" dirty="0"/>
                    </a:p>
                  </a:txBody>
                  <a:tcPr/>
                </a:tc>
                <a:extLst>
                  <a:ext uri="{0D108BD9-81ED-4DB2-BD59-A6C34878D82A}">
                    <a16:rowId xmlns:a16="http://schemas.microsoft.com/office/drawing/2014/main" val="1864453118"/>
                  </a:ext>
                </a:extLst>
              </a:tr>
              <a:tr h="299595">
                <a:tc vMerge="1">
                  <a:txBody>
                    <a:bodyPr/>
                    <a:lstStyle/>
                    <a:p>
                      <a:pPr marL="0" algn="ctr" defTabSz="914400" rtl="0" eaLnBrk="1" latinLnBrk="0" hangingPunct="1">
                        <a:buClrTx/>
                        <a:buSzTx/>
                        <a:buFontTx/>
                      </a:pPr>
                      <a:r>
                        <a:rPr lang="zh-CN" altLang="en-US" sz="14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数据驱动</a:t>
                      </a:r>
                      <a:endParaRPr lang="en-US" altLang="zh-CN" sz="14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rowSpan="3">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深度学习</a:t>
                      </a:r>
                    </a:p>
                  </a:txBody>
                  <a:tcPr anchor="ctr"/>
                </a:tc>
                <a:tc>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卷积神经网络</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rowSpan="3">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利用设备的运行数据挖掘设备的退化规律</a:t>
                      </a:r>
                    </a:p>
                  </a:txBody>
                  <a:tcPr anchor="ctr"/>
                </a:tc>
                <a:tc rowSpan="3">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机理复杂或未知的系统，可以有较高准确性</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rowSpan="3">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依赖大量数据，数数据驱动模型输出点估计，缺乏可靠的不确定性量化</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extLst>
                  <a:ext uri="{0D108BD9-81ED-4DB2-BD59-A6C34878D82A}">
                    <a16:rowId xmlns:a16="http://schemas.microsoft.com/office/drawing/2014/main" val="1092691178"/>
                  </a:ext>
                </a:extLst>
              </a:tr>
              <a:tr h="299595">
                <a:tc vMerge="1">
                  <a:txBody>
                    <a:bodyPr/>
                    <a:lstStyle/>
                    <a:p>
                      <a:endParaRPr lang="zh-CN" altLang="en-US"/>
                    </a:p>
                  </a:txBody>
                  <a:tcPr/>
                </a:tc>
                <a:tc vMerge="1">
                  <a:txBody>
                    <a:bodyPr/>
                    <a:lstStyle/>
                    <a:p>
                      <a:endParaRPr lang="zh-CN" altLang="en-US"/>
                    </a:p>
                  </a:txBody>
                  <a:tcPr/>
                </a:tc>
                <a:tc>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循环神经网络</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105252731"/>
                  </a:ext>
                </a:extLst>
              </a:tr>
              <a:tr h="329554">
                <a:tc vMerge="1">
                  <a:txBody>
                    <a:bodyPr/>
                    <a:lstStyle/>
                    <a:p>
                      <a:endParaRPr lang="zh-CN" altLang="en-US"/>
                    </a:p>
                  </a:txBody>
                  <a:tcPr/>
                </a:tc>
                <a:tc vMerge="1">
                  <a:txBody>
                    <a:bodyPr/>
                    <a:lstStyle/>
                    <a:p>
                      <a:endParaRPr lang="zh-CN" altLang="en-US"/>
                    </a:p>
                  </a:txBody>
                  <a:tcPr/>
                </a:tc>
                <a:tc>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自动编码器</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938816636"/>
                  </a:ext>
                </a:extLst>
              </a:tr>
              <a:tr h="623885">
                <a:tc rowSpan="2">
                  <a:txBody>
                    <a:bodyPr/>
                    <a:lstStyle/>
                    <a:p>
                      <a:pPr marL="0" algn="ctr" defTabSz="914400" rtl="0" eaLnBrk="1" latinLnBrk="0" hangingPunct="1">
                        <a:buClrTx/>
                        <a:buSzTx/>
                        <a:buFontTx/>
                      </a:pPr>
                      <a:r>
                        <a:rPr lang="zh-CN" altLang="en-US" sz="14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数据知识驱动方法</a:t>
                      </a:r>
                      <a:endParaRPr lang="en-US" altLang="zh-CN" sz="14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gridSpan="2">
                  <a:txBody>
                    <a:bodyPr/>
                    <a:lstStyle/>
                    <a:p>
                      <a:pPr marL="0" algn="ctr" defTabSz="914400" rtl="0" eaLnBrk="1" latinLnBrk="0" hangingPunct="1">
                        <a:buClrTx/>
                        <a:buSzTx/>
                        <a:buFontTx/>
                      </a:pP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PINN</a:t>
                      </a: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物理信息神经网络</a:t>
                      </a:r>
                    </a:p>
                  </a:txBody>
                  <a:tcPr anchor="ctr"/>
                </a:tc>
                <a:tc hMerge="1">
                  <a:txBody>
                    <a:bodyPr/>
                    <a:lstStyle/>
                    <a:p>
                      <a:pPr marL="0" algn="ctr" defTabSz="914400" rtl="0" eaLnBrk="1" latinLnBrk="0" hangingPunct="1">
                        <a:buClrTx/>
                        <a:buSzTx/>
                        <a:buFontTx/>
                      </a:pPr>
                      <a:endPar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利用知识、信息和数据，结合基于模型和基于数据方法预测设备寿命</a:t>
                      </a: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结合多种方法优势，能降低单种方法局限性；</a:t>
                      </a:r>
                      <a:r>
                        <a:rPr lang="zh-CN"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兼顾机理与数据优势</a:t>
                      </a:r>
                      <a:endPar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需要一定经验和实验验证，建模难度和计算量增加</a:t>
                      </a:r>
                    </a:p>
                  </a:txBody>
                  <a:tcPr anchor="ctr"/>
                </a:tc>
                <a:extLst>
                  <a:ext uri="{0D108BD9-81ED-4DB2-BD59-A6C34878D82A}">
                    <a16:rowId xmlns:a16="http://schemas.microsoft.com/office/drawing/2014/main" val="827968195"/>
                  </a:ext>
                </a:extLst>
              </a:tr>
              <a:tr h="639414">
                <a:tc vMerge="1">
                  <a:txBody>
                    <a:bodyPr/>
                    <a:lstStyle/>
                    <a:p>
                      <a:pPr marL="0" algn="ctr" defTabSz="914400" rtl="0" eaLnBrk="1" latinLnBrk="0" hangingPunct="1">
                        <a:buClrTx/>
                        <a:buSzTx/>
                        <a:buFontTx/>
                      </a:pPr>
                      <a:endPar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gridSpan="2">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小波包变换</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+CNN</a:t>
                      </a:r>
                    </a:p>
                  </a:txBody>
                  <a:tcPr anchor="ctr"/>
                </a:tc>
                <a:tc hMerge="1">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基于深度神经网络的</a:t>
                      </a:r>
                      <a:r>
                        <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RUL</a:t>
                      </a:r>
                      <a:r>
                        <a:rPr lang="zh-CN" altLang="en-US"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点估计</a:t>
                      </a:r>
                      <a:endPar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vMerge="1">
                  <a:txBody>
                    <a:bodyPr/>
                    <a:lstStyle/>
                    <a:p>
                      <a:pPr marL="0" algn="ctr" defTabSz="914400" rtl="0" eaLnBrk="1" latinLnBrk="0" hangingPunct="1">
                        <a:buClrTx/>
                        <a:buSzTx/>
                        <a:buFontTx/>
                      </a:pPr>
                      <a:endPar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vMerge="1">
                  <a:txBody>
                    <a:bodyPr/>
                    <a:lstStyle/>
                    <a:p>
                      <a:pPr algn="l"/>
                      <a:endParaRPr lang="en-US" altLang="zh-CN" sz="1400" kern="1200" dirty="0">
                        <a:solidFill>
                          <a:schemeClr val="tx1"/>
                        </a:solidFill>
                        <a:latin typeface="宋体" panose="02010600030101010101" pitchFamily="2" charset="-122"/>
                        <a:ea typeface="宋体" panose="02010600030101010101" pitchFamily="2" charset="-122"/>
                        <a:cs typeface="+mn-cs"/>
                      </a:endParaRPr>
                    </a:p>
                  </a:txBody>
                  <a:tcPr anchor="ctr"/>
                </a:tc>
                <a:tc vMerge="1">
                  <a:txBody>
                    <a:bodyPr/>
                    <a:lstStyle/>
                    <a:p>
                      <a:pPr algn="l"/>
                      <a:endParaRPr lang="en-US" altLang="zh-CN" sz="1400" kern="1200" dirty="0">
                        <a:solidFill>
                          <a:schemeClr val="tx1"/>
                        </a:solidFill>
                        <a:latin typeface="宋体" panose="02010600030101010101" pitchFamily="2" charset="-122"/>
                        <a:ea typeface="宋体" panose="02010600030101010101" pitchFamily="2" charset="-122"/>
                        <a:cs typeface="+mn-cs"/>
                      </a:endParaRPr>
                    </a:p>
                  </a:txBody>
                  <a:tcPr anchor="ctr"/>
                </a:tc>
                <a:extLst>
                  <a:ext uri="{0D108BD9-81ED-4DB2-BD59-A6C34878D82A}">
                    <a16:rowId xmlns:a16="http://schemas.microsoft.com/office/drawing/2014/main" val="634991767"/>
                  </a:ext>
                </a:extLst>
              </a:tr>
            </a:tbl>
          </a:graphicData>
        </a:graphic>
      </p:graphicFrame>
      <p:sp>
        <p:nvSpPr>
          <p:cNvPr id="6" name="矩形: 圆角 5">
            <a:extLst>
              <a:ext uri="{FF2B5EF4-FFF2-40B4-BE49-F238E27FC236}">
                <a16:creationId xmlns:a16="http://schemas.microsoft.com/office/drawing/2014/main" id="{97AC64CE-9B64-45E8-B756-F8B13276C3B5}"/>
              </a:ext>
            </a:extLst>
          </p:cNvPr>
          <p:cNvSpPr/>
          <p:nvPr/>
        </p:nvSpPr>
        <p:spPr>
          <a:xfrm>
            <a:off x="0" y="845440"/>
            <a:ext cx="3550920" cy="419133"/>
          </a:xfrm>
          <a:prstGeom prst="roundRect">
            <a:avLst>
              <a:gd name="adj" fmla="val 9331"/>
            </a:avLst>
          </a:prstGeom>
          <a:solidFill>
            <a:srgbClr val="3B5E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文献综述</a:t>
            </a:r>
            <a:r>
              <a:rPr kumimoji="0" lang="en-US" altLang="zh-CN"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r>
              <a:rPr lang="zh-CN" altLang="en-US" sz="2000" b="1" dirty="0">
                <a:solidFill>
                  <a:prstClr val="white"/>
                </a:solidFill>
                <a:latin typeface="等线" panose="02010600030101010101" charset="-122"/>
                <a:ea typeface="等线" panose="02010600030101010101" charset="-122"/>
              </a:rPr>
              <a:t>剩余使用寿命预测</a:t>
            </a:r>
            <a:endParaRPr kumimoji="0" lang="zh-CN" altLang="en-US"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7266226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p:cNvPicPr>
            <a:picLocks noChangeAspect="1"/>
          </p:cNvPicPr>
          <p:nvPr/>
        </p:nvPicPr>
        <p:blipFill>
          <a:blip r:embed="rId4"/>
          <a:stretch>
            <a:fillRect/>
          </a:stretch>
        </p:blipFill>
        <p:spPr>
          <a:xfrm>
            <a:off x="11300792" y="166376"/>
            <a:ext cx="674131" cy="674131"/>
          </a:xfrm>
          <a:prstGeom prst="rect">
            <a:avLst/>
          </a:prstGeom>
        </p:spPr>
      </p:pic>
      <p:cxnSp>
        <p:nvCxnSpPr>
          <p:cNvPr id="7" name="直接连接符 3">
            <a:extLst>
              <a:ext uri="{FF2B5EF4-FFF2-40B4-BE49-F238E27FC236}">
                <a16:creationId xmlns:a16="http://schemas.microsoft.com/office/drawing/2014/main" id="{BBBC9128-9103-485C-9395-11FF750F1C5D}"/>
              </a:ext>
            </a:extLst>
          </p:cNvPr>
          <p:cNvCxnSpPr>
            <a:cxnSpLocks/>
          </p:cNvCxnSpPr>
          <p:nvPr/>
        </p:nvCxnSpPr>
        <p:spPr>
          <a:xfrm>
            <a:off x="0" y="815333"/>
            <a:ext cx="11105147" cy="0"/>
          </a:xfrm>
          <a:prstGeom prst="line">
            <a:avLst/>
          </a:prstGeom>
          <a:ln w="76200">
            <a:solidFill>
              <a:srgbClr val="0054A6"/>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A78EEBB9-FFFA-4080-83A2-78122037D209}"/>
              </a:ext>
            </a:extLst>
          </p:cNvPr>
          <p:cNvSpPr/>
          <p:nvPr/>
        </p:nvSpPr>
        <p:spPr>
          <a:xfrm>
            <a:off x="0" y="181976"/>
            <a:ext cx="3068053" cy="558709"/>
          </a:xfrm>
          <a:prstGeom prst="rect">
            <a:avLst/>
          </a:prstGeom>
          <a:solidFill>
            <a:srgbClr val="2F5597"/>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黑体" panose="02010609060101010101" pitchFamily="49" charset="-122"/>
                <a:ea typeface="黑体" panose="02010609060101010101" pitchFamily="49" charset="-122"/>
              </a:rPr>
              <a:t>文献综述</a:t>
            </a:r>
          </a:p>
        </p:txBody>
      </p:sp>
      <p:graphicFrame>
        <p:nvGraphicFramePr>
          <p:cNvPr id="5" name="表格 4">
            <a:extLst>
              <a:ext uri="{FF2B5EF4-FFF2-40B4-BE49-F238E27FC236}">
                <a16:creationId xmlns:a16="http://schemas.microsoft.com/office/drawing/2014/main" id="{73E53E17-1015-4C37-A28D-08E9FE48E8A7}"/>
              </a:ext>
            </a:extLst>
          </p:cNvPr>
          <p:cNvGraphicFramePr>
            <a:graphicFrameLocks noGrp="1"/>
          </p:cNvGraphicFramePr>
          <p:nvPr>
            <p:custDataLst>
              <p:tags r:id="rId1"/>
            </p:custDataLst>
            <p:extLst>
              <p:ext uri="{D42A27DB-BD31-4B8C-83A1-F6EECF244321}">
                <p14:modId xmlns:p14="http://schemas.microsoft.com/office/powerpoint/2010/main" val="2265825910"/>
              </p:ext>
            </p:extLst>
          </p:nvPr>
        </p:nvGraphicFramePr>
        <p:xfrm>
          <a:off x="124385" y="1339222"/>
          <a:ext cx="11943229" cy="4703445"/>
        </p:xfrm>
        <a:graphic>
          <a:graphicData uri="http://schemas.openxmlformats.org/drawingml/2006/table">
            <a:tbl>
              <a:tblPr firstRow="1" bandRow="1">
                <a:tableStyleId>{5C22544A-7EE6-4342-B048-85BDC9FD1C3A}</a:tableStyleId>
              </a:tblPr>
              <a:tblGrid>
                <a:gridCol w="1272988">
                  <a:extLst>
                    <a:ext uri="{9D8B030D-6E8A-4147-A177-3AD203B41FA5}">
                      <a16:colId xmlns:a16="http://schemas.microsoft.com/office/drawing/2014/main" val="1170755200"/>
                    </a:ext>
                  </a:extLst>
                </a:gridCol>
                <a:gridCol w="2904564">
                  <a:extLst>
                    <a:ext uri="{9D8B030D-6E8A-4147-A177-3AD203B41FA5}">
                      <a16:colId xmlns:a16="http://schemas.microsoft.com/office/drawing/2014/main" val="3666768616"/>
                    </a:ext>
                  </a:extLst>
                </a:gridCol>
                <a:gridCol w="1748118">
                  <a:extLst>
                    <a:ext uri="{9D8B030D-6E8A-4147-A177-3AD203B41FA5}">
                      <a16:colId xmlns:a16="http://schemas.microsoft.com/office/drawing/2014/main" val="20000"/>
                    </a:ext>
                  </a:extLst>
                </a:gridCol>
                <a:gridCol w="3287532">
                  <a:extLst>
                    <a:ext uri="{9D8B030D-6E8A-4147-A177-3AD203B41FA5}">
                      <a16:colId xmlns:a16="http://schemas.microsoft.com/office/drawing/2014/main" val="20002"/>
                    </a:ext>
                  </a:extLst>
                </a:gridCol>
                <a:gridCol w="1399710">
                  <a:extLst>
                    <a:ext uri="{9D8B030D-6E8A-4147-A177-3AD203B41FA5}">
                      <a16:colId xmlns:a16="http://schemas.microsoft.com/office/drawing/2014/main" val="20004"/>
                    </a:ext>
                  </a:extLst>
                </a:gridCol>
                <a:gridCol w="1330317">
                  <a:extLst>
                    <a:ext uri="{9D8B030D-6E8A-4147-A177-3AD203B41FA5}">
                      <a16:colId xmlns:a16="http://schemas.microsoft.com/office/drawing/2014/main" val="3218387426"/>
                    </a:ext>
                  </a:extLst>
                </a:gridCol>
              </a:tblGrid>
              <a:tr h="4140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60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设备退化预测方式</a:t>
                      </a:r>
                    </a:p>
                  </a:txBody>
                  <a:tcPr/>
                </a:tc>
                <a:tc>
                  <a:txBody>
                    <a:bodyPr/>
                    <a:lstStyle/>
                    <a:p>
                      <a:pPr algn="ctr"/>
                      <a:r>
                        <a:rPr kumimoji="1" lang="zh-CN" altLang="en-US" sz="160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代表性研究</a:t>
                      </a:r>
                    </a:p>
                  </a:txBody>
                  <a:tcPr/>
                </a:tc>
                <a:tc>
                  <a:txBody>
                    <a:bodyPr/>
                    <a:lstStyle/>
                    <a:p>
                      <a:pPr marL="0" algn="ctr" defTabSz="914400" rtl="0" eaLnBrk="1" latinLnBrk="0" hangingPunct="1"/>
                      <a:r>
                        <a:rPr kumimoji="1" lang="zh-CN" altLang="en-US" sz="1600" b="1"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维护决策方法</a:t>
                      </a:r>
                    </a:p>
                  </a:txBody>
                  <a:tcPr/>
                </a:tc>
                <a:tc>
                  <a:txBody>
                    <a:bodyPr/>
                    <a:lstStyle/>
                    <a:p>
                      <a:pPr marL="0" algn="ctr" defTabSz="914400" rtl="0" eaLnBrk="1" latinLnBrk="0" hangingPunct="1"/>
                      <a:r>
                        <a:rPr kumimoji="1" lang="zh-CN" altLang="en-US" sz="1600" b="1"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优势</a:t>
                      </a:r>
                    </a:p>
                  </a:txBody>
                  <a:tcPr/>
                </a:tc>
                <a:tc>
                  <a:txBody>
                    <a:bodyPr/>
                    <a:lstStyle/>
                    <a:p>
                      <a:pPr marL="0" algn="ctr" defTabSz="914400" rtl="0" eaLnBrk="1" latinLnBrk="0" hangingPunct="1"/>
                      <a:r>
                        <a:rPr kumimoji="1" lang="zh-CN" altLang="en-US" sz="1600" b="1"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缺点</a:t>
                      </a:r>
                    </a:p>
                  </a:txBody>
                  <a:tcPr/>
                </a:tc>
                <a:extLst>
                  <a:ext uri="{0D108BD9-81ED-4DB2-BD59-A6C34878D82A}">
                    <a16:rowId xmlns:a16="http://schemas.microsoft.com/office/drawing/2014/main" val="10000"/>
                  </a:ext>
                </a:extLst>
              </a:tr>
              <a:tr h="0">
                <a:tc rowSpan="5">
                  <a:txBody>
                    <a:bodyPr/>
                    <a:lstStyle/>
                    <a:p>
                      <a:pPr marL="0" algn="ctr" defTabSz="914400" rtl="0" eaLnBrk="1" latinLnBrk="0" hangingPunct="1">
                        <a:buClrTx/>
                        <a:buSzTx/>
                        <a:buFontTx/>
                      </a:pPr>
                      <a:r>
                        <a:rPr lang="zh-CN" altLang="en-US" sz="14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随机退化模型</a:t>
                      </a:r>
                    </a:p>
                  </a:txBody>
                  <a:tcPr anchor="ctr"/>
                </a:tc>
                <a:tc rowSpan="3">
                  <a:txBody>
                    <a:bodyPr/>
                    <a:lstStyle/>
                    <a:p>
                      <a:pPr marL="0" algn="ctr" defTabSz="914400" rtl="0" eaLnBrk="1" latinLnBrk="0" hangingPunct="1">
                        <a:buClrTx/>
                        <a:buSzTx/>
                        <a:buFontTx/>
                      </a:pP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Gamma</a:t>
                      </a: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随机过程退化</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algn="ctr" defTabSz="914400" rtl="0" eaLnBrk="1" latinLnBrk="0" hangingPunct="1"/>
                      <a:r>
                        <a:rPr lang="en-US" altLang="zh-CN" sz="1400" kern="12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Caballé</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et al. (2015)</a:t>
                      </a:r>
                    </a:p>
                  </a:txBody>
                  <a:tcPr anchor="ctr"/>
                </a:tc>
                <a:tc>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数值优化来寻找最优的检查间隔和维护窗口</a:t>
                      </a:r>
                    </a:p>
                  </a:txBody>
                  <a:tcPr anchor="ctr"/>
                </a:tc>
                <a:tc rowSpan="5">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模型行为可解释，对数据要求较低，可以严谨量化不确定性</a:t>
                      </a:r>
                    </a:p>
                  </a:txBody>
                  <a:tcPr anchor="ctr"/>
                </a:tc>
                <a:tc rowSpan="5">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依赖准确的退化模型假设，面对非线性退化，预测将严重失真</a:t>
                      </a:r>
                    </a:p>
                  </a:txBody>
                  <a:tcPr anchor="ctr"/>
                </a:tc>
                <a:extLst>
                  <a:ext uri="{0D108BD9-81ED-4DB2-BD59-A6C34878D82A}">
                    <a16:rowId xmlns:a16="http://schemas.microsoft.com/office/drawing/2014/main" val="10001"/>
                  </a:ext>
                </a:extLst>
              </a:tr>
              <a:tr h="574675">
                <a:tc vMerge="1">
                  <a:txBody>
                    <a:bodyPr/>
                    <a:lstStyle/>
                    <a:p>
                      <a:endParaRPr lang="zh-CN" altLang="en-US"/>
                    </a:p>
                  </a:txBody>
                  <a:tcPr/>
                </a:tc>
                <a:tc vMerge="1">
                  <a:txBody>
                    <a:bodyPr/>
                    <a:lstStyle/>
                    <a:p>
                      <a:pPr marL="0" algn="ctr" defTabSz="914400" rtl="0" eaLnBrk="1" latinLnBrk="0" hangingPunct="1">
                        <a:buClrTx/>
                        <a:buSzTx/>
                        <a:buFontTx/>
                      </a:pPr>
                      <a:endPar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a:txBody>
                    <a:bodyPr/>
                    <a:lstStyle/>
                    <a:p>
                      <a:pPr marL="0" algn="ctr" defTabSz="914400" rtl="0" eaLnBrk="1" latinLnBrk="0" hangingPunct="1"/>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Lee &amp; </a:t>
                      </a:r>
                      <a:r>
                        <a:rPr lang="en-US" altLang="zh-CN" sz="1400" kern="12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Mitici</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(2022)</a:t>
                      </a:r>
                    </a:p>
                  </a:txBody>
                  <a:tcPr anchor="ctr"/>
                </a:tc>
                <a:tc>
                  <a:txBody>
                    <a:bodyPr/>
                    <a:lstStyle/>
                    <a:p>
                      <a:pPr marL="0" algn="ctr" defTabSz="914400" rtl="0" eaLnBrk="1" latinLnBrk="0" hangingPunct="1">
                        <a:buClrTx/>
                        <a:buSzTx/>
                        <a:buFontTx/>
                      </a:pP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Gamma</a:t>
                      </a: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过程来建模单调磨损退化，利用线性回归的方式拟合</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RUL</a:t>
                      </a: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，基于</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RUL</a:t>
                      </a: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阈值采取维护决策</a:t>
                      </a:r>
                    </a:p>
                  </a:txBody>
                  <a:tcPr anchor="ct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extLst>
                  <a:ext uri="{0D108BD9-81ED-4DB2-BD59-A6C34878D82A}">
                    <a16:rowId xmlns:a16="http://schemas.microsoft.com/office/drawing/2014/main" val="10002"/>
                  </a:ext>
                </a:extLst>
              </a:tr>
              <a:tr h="574675">
                <a:tc vMerge="1">
                  <a:txBody>
                    <a:bodyPr/>
                    <a:lstStyle/>
                    <a:p>
                      <a:endParaRPr lang="zh-CN" altLang="en-US"/>
                    </a:p>
                  </a:txBody>
                  <a:tcPr/>
                </a:tc>
                <a:tc vMerge="1">
                  <a:txBody>
                    <a:bodyPr/>
                    <a:lstStyle/>
                    <a:p>
                      <a:pPr marL="0" algn="ctr" defTabSz="914400" rtl="0" eaLnBrk="1" latinLnBrk="0" hangingPunct="1"/>
                      <a:endPar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a:txBody>
                    <a:bodyPr/>
                    <a:lstStyle/>
                    <a:p>
                      <a:pPr marL="0" algn="ctr" defTabSz="914400" rtl="0" eaLnBrk="1" latinLnBrk="0" hangingPunct="1"/>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Do et al.,(2019)</a:t>
                      </a:r>
                    </a:p>
                  </a:txBody>
                  <a:tcPr anchor="ctr"/>
                </a:tc>
                <a:tc>
                  <a:txBody>
                    <a:bodyPr/>
                    <a:lstStyle/>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基于自身状态的阈值与利用对其他组件的维护行动时的机会性联合维护决策</a:t>
                      </a:r>
                    </a:p>
                  </a:txBody>
                  <a:tcPr anchor="ct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extLst>
                  <a:ext uri="{0D108BD9-81ED-4DB2-BD59-A6C34878D82A}">
                    <a16:rowId xmlns:a16="http://schemas.microsoft.com/office/drawing/2014/main" val="3574190317"/>
                  </a:ext>
                </a:extLst>
              </a:tr>
              <a:tr h="575310">
                <a:tc vMerge="1">
                  <a:txBody>
                    <a:bodyPr/>
                    <a:lstStyle/>
                    <a:p>
                      <a:pPr marL="0" algn="ctr" defTabSz="914400" rtl="0" eaLnBrk="1" latinLnBrk="0" hangingPunct="1">
                        <a:buClrTx/>
                        <a:buSzTx/>
                        <a:buFontTx/>
                      </a:pPr>
                      <a:endPar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a:txBody>
                    <a:bodyPr/>
                    <a:lstStyle/>
                    <a:p>
                      <a:pPr marL="0" algn="ctr" defTabSz="914400" rtl="0" eaLnBrk="1" latinLnBrk="0" hangingPunct="1">
                        <a:buClrTx/>
                        <a:buSzTx/>
                        <a:buFontTx/>
                      </a:pP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Wiener</a:t>
                      </a: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随机过程及其变体</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algn="ctr" defTabSz="914400" rtl="0" eaLnBrk="1" latinLnBrk="0" hangingPunct="1"/>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Zhang et al. (2018)</a:t>
                      </a:r>
                    </a:p>
                  </a:txBody>
                  <a:tcPr anchor="ctr"/>
                </a:tc>
                <a:tc>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系统退化建模为</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Wiener</a:t>
                      </a: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过程，设定预防性维护阈值，基于阈值维护</a:t>
                      </a:r>
                    </a:p>
                  </a:txBody>
                  <a:tcPr anchor="ct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extLst>
                  <a:ext uri="{0D108BD9-81ED-4DB2-BD59-A6C34878D82A}">
                    <a16:rowId xmlns:a16="http://schemas.microsoft.com/office/drawing/2014/main" val="10003"/>
                  </a:ext>
                </a:extLst>
              </a:tr>
              <a:tr h="574675">
                <a:tc vMerge="1">
                  <a:txBody>
                    <a:bodyPr/>
                    <a:lstStyle/>
                    <a:p>
                      <a:pPr marL="0" algn="ctr" defTabSz="914400" rtl="0" eaLnBrk="1" latinLnBrk="0" hangingPunct="1">
                        <a:buClrTx/>
                        <a:buSzTx/>
                        <a:buFontTx/>
                      </a:pPr>
                      <a:endPar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马尔可夫退化过程</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algn="ctr" defTabSz="914400" rtl="0" eaLnBrk="1" latinLnBrk="0" hangingPunct="1"/>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Zhao &amp; </a:t>
                      </a:r>
                      <a:r>
                        <a:rPr lang="en-US" altLang="zh-CN" sz="1400" kern="12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Smidts</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(2023)</a:t>
                      </a:r>
                    </a:p>
                  </a:txBody>
                  <a:tcPr anchor="ctr"/>
                </a:tc>
                <a:tc>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建模为离散多状态马尔可夫退化过程，故障转移概率确定，利用强化学习</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R-learning</a:t>
                      </a: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算法实现维护决策</a:t>
                      </a:r>
                    </a:p>
                  </a:txBody>
                  <a:tcPr anchor="ct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extLst>
                  <a:ext uri="{0D108BD9-81ED-4DB2-BD59-A6C34878D82A}">
                    <a16:rowId xmlns:a16="http://schemas.microsoft.com/office/drawing/2014/main" val="10004"/>
                  </a:ext>
                </a:extLst>
              </a:tr>
              <a:tr h="422275">
                <a:tc rowSpan="2">
                  <a:txBody>
                    <a:bodyPr/>
                    <a:lstStyle/>
                    <a:p>
                      <a:pPr marL="0" algn="ctr" defTabSz="914400" rtl="0" eaLnBrk="1" latinLnBrk="0" hangingPunct="1">
                        <a:buClrTx/>
                        <a:buSzTx/>
                        <a:buFontTx/>
                      </a:pPr>
                      <a:r>
                        <a:rPr lang="zh-CN" altLang="en-US" sz="14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数据驱动的预测模型</a:t>
                      </a:r>
                      <a:endParaRPr lang="en-US" altLang="zh-CN" sz="14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基于</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Paris </a:t>
                      </a: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模型物理模型的</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RUL</a:t>
                      </a: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估计</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algn="ctr" defTabSz="914400" rtl="0" eaLnBrk="1" latinLnBrk="0" hangingPunct="1">
                        <a:buClrTx/>
                        <a:buSzTx/>
                        <a:buFontTx/>
                      </a:pP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Wang et al. (2018)</a:t>
                      </a:r>
                    </a:p>
                  </a:txBody>
                  <a:tcPr anchor="ctr"/>
                </a:tc>
                <a:tc>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基于预测的未来可靠性阈值实现维护决策</a:t>
                      </a:r>
                    </a:p>
                  </a:txBody>
                  <a:tcPr anchor="ctr"/>
                </a:tc>
                <a:tc rowSpan="2">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无需先验模型，合机理复杂或未知的系统，可以有较高准确性</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rowSpan="2">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依赖大量数据，数数据驱动模型输出点估计，缺乏可靠的不确定性量化</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extLst>
                  <a:ext uri="{0D108BD9-81ED-4DB2-BD59-A6C34878D82A}">
                    <a16:rowId xmlns:a16="http://schemas.microsoft.com/office/drawing/2014/main" val="1092691178"/>
                  </a:ext>
                </a:extLst>
              </a:tr>
              <a:tr h="422275">
                <a:tc vMerge="1">
                  <a:txBody>
                    <a:bodyPr/>
                    <a:lstStyle/>
                    <a:p>
                      <a:pPr marL="0" algn="ctr" defTabSz="914400" rtl="0" eaLnBrk="1" latinLnBrk="0" hangingPunct="1">
                        <a:buClrTx/>
                        <a:buSzTx/>
                        <a:buFontTx/>
                      </a:pPr>
                      <a:endPar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基于深度神经网络的</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RUL</a:t>
                      </a: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点估计</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algn="ctr" defTabSz="914400" rtl="0" eaLnBrk="1" latinLnBrk="0" hangingPunct="1">
                        <a:buClrTx/>
                        <a:buSzTx/>
                        <a:buFontTx/>
                      </a:pPr>
                      <a:r>
                        <a:rPr lang="da-DK"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de Pater et al. (2022)</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algn="ctr" defTabSz="914400" rtl="0" eaLnBrk="1" latinLnBrk="0" hangingPunct="1">
                        <a:buClrTx/>
                        <a:buSzTx/>
                        <a:buFontTx/>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获得数据驱动 </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RUL </a:t>
                      </a: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预测，基于数值预测，触发警报并指定维护操作</a:t>
                      </a:r>
                    </a:p>
                  </a:txBody>
                  <a:tcPr anchor="ctr"/>
                </a:tc>
                <a:tc vMerge="1">
                  <a:txBody>
                    <a:bodyPr/>
                    <a:lstStyle/>
                    <a:p>
                      <a:pPr algn="l"/>
                      <a:endParaRPr lang="en-US" altLang="zh-CN" sz="1400" kern="1200" dirty="0">
                        <a:solidFill>
                          <a:schemeClr val="tx1"/>
                        </a:solidFill>
                        <a:latin typeface="宋体" panose="02010600030101010101" pitchFamily="2" charset="-122"/>
                        <a:ea typeface="宋体" panose="02010600030101010101" pitchFamily="2" charset="-122"/>
                        <a:cs typeface="+mn-cs"/>
                      </a:endParaRPr>
                    </a:p>
                  </a:txBody>
                  <a:tcPr anchor="ctr"/>
                </a:tc>
                <a:tc vMerge="1">
                  <a:txBody>
                    <a:bodyPr/>
                    <a:lstStyle/>
                    <a:p>
                      <a:pPr algn="l"/>
                      <a:endParaRPr lang="en-US" altLang="zh-CN" sz="1400" kern="1200" dirty="0">
                        <a:solidFill>
                          <a:schemeClr val="tx1"/>
                        </a:solidFill>
                        <a:latin typeface="宋体" panose="02010600030101010101" pitchFamily="2" charset="-122"/>
                        <a:ea typeface="宋体" panose="02010600030101010101" pitchFamily="2" charset="-122"/>
                        <a:cs typeface="+mn-cs"/>
                      </a:endParaRPr>
                    </a:p>
                  </a:txBody>
                  <a:tcPr anchor="ctr"/>
                </a:tc>
                <a:extLst>
                  <a:ext uri="{0D108BD9-81ED-4DB2-BD59-A6C34878D82A}">
                    <a16:rowId xmlns:a16="http://schemas.microsoft.com/office/drawing/2014/main" val="827968195"/>
                  </a:ext>
                </a:extLst>
              </a:tr>
            </a:tbl>
          </a:graphicData>
        </a:graphic>
      </p:graphicFrame>
      <p:sp>
        <p:nvSpPr>
          <p:cNvPr id="6" name="矩形: 圆角 5">
            <a:extLst>
              <a:ext uri="{FF2B5EF4-FFF2-40B4-BE49-F238E27FC236}">
                <a16:creationId xmlns:a16="http://schemas.microsoft.com/office/drawing/2014/main" id="{97AC64CE-9B64-45E8-B756-F8B13276C3B5}"/>
              </a:ext>
            </a:extLst>
          </p:cNvPr>
          <p:cNvSpPr/>
          <p:nvPr/>
        </p:nvSpPr>
        <p:spPr>
          <a:xfrm>
            <a:off x="0" y="845440"/>
            <a:ext cx="3430534" cy="419133"/>
          </a:xfrm>
          <a:prstGeom prst="roundRect">
            <a:avLst>
              <a:gd name="adj" fmla="val 9331"/>
            </a:avLst>
          </a:prstGeom>
          <a:solidFill>
            <a:srgbClr val="3B5E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文献综述</a:t>
            </a:r>
            <a:r>
              <a:rPr kumimoji="0" lang="en-US" altLang="zh-CN"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r>
              <a:rPr kumimoji="0" lang="zh-CN" altLang="en-US"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预测性维护决策</a:t>
            </a:r>
          </a:p>
        </p:txBody>
      </p:sp>
    </p:spTree>
    <p:extLst>
      <p:ext uri="{BB962C8B-B14F-4D97-AF65-F5344CB8AC3E}">
        <p14:creationId xmlns:p14="http://schemas.microsoft.com/office/powerpoint/2010/main" val="22395092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p:cNvPicPr>
            <a:picLocks noChangeAspect="1"/>
          </p:cNvPicPr>
          <p:nvPr/>
        </p:nvPicPr>
        <p:blipFill>
          <a:blip r:embed="rId4"/>
          <a:stretch>
            <a:fillRect/>
          </a:stretch>
        </p:blipFill>
        <p:spPr>
          <a:xfrm>
            <a:off x="11300792" y="166376"/>
            <a:ext cx="674131" cy="674131"/>
          </a:xfrm>
          <a:prstGeom prst="rect">
            <a:avLst/>
          </a:prstGeom>
        </p:spPr>
      </p:pic>
      <p:cxnSp>
        <p:nvCxnSpPr>
          <p:cNvPr id="7" name="直接连接符 3">
            <a:extLst>
              <a:ext uri="{FF2B5EF4-FFF2-40B4-BE49-F238E27FC236}">
                <a16:creationId xmlns:a16="http://schemas.microsoft.com/office/drawing/2014/main" id="{BBBC9128-9103-485C-9395-11FF750F1C5D}"/>
              </a:ext>
            </a:extLst>
          </p:cNvPr>
          <p:cNvCxnSpPr>
            <a:cxnSpLocks/>
          </p:cNvCxnSpPr>
          <p:nvPr/>
        </p:nvCxnSpPr>
        <p:spPr>
          <a:xfrm>
            <a:off x="0" y="815333"/>
            <a:ext cx="11105147" cy="0"/>
          </a:xfrm>
          <a:prstGeom prst="line">
            <a:avLst/>
          </a:prstGeom>
          <a:ln w="76200">
            <a:solidFill>
              <a:srgbClr val="0054A6"/>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A78EEBB9-FFFA-4080-83A2-78122037D209}"/>
              </a:ext>
            </a:extLst>
          </p:cNvPr>
          <p:cNvSpPr/>
          <p:nvPr/>
        </p:nvSpPr>
        <p:spPr>
          <a:xfrm>
            <a:off x="0" y="181976"/>
            <a:ext cx="3068053" cy="558709"/>
          </a:xfrm>
          <a:prstGeom prst="rect">
            <a:avLst/>
          </a:prstGeom>
          <a:solidFill>
            <a:srgbClr val="2F5597"/>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黑体" panose="02010609060101010101" pitchFamily="49" charset="-122"/>
                <a:ea typeface="黑体" panose="02010609060101010101" pitchFamily="49" charset="-122"/>
              </a:rPr>
              <a:t>文献综述</a:t>
            </a:r>
          </a:p>
        </p:txBody>
      </p:sp>
      <p:graphicFrame>
        <p:nvGraphicFramePr>
          <p:cNvPr id="5" name="表格 4">
            <a:extLst>
              <a:ext uri="{FF2B5EF4-FFF2-40B4-BE49-F238E27FC236}">
                <a16:creationId xmlns:a16="http://schemas.microsoft.com/office/drawing/2014/main" id="{73E53E17-1015-4C37-A28D-08E9FE48E8A7}"/>
              </a:ext>
            </a:extLst>
          </p:cNvPr>
          <p:cNvGraphicFramePr>
            <a:graphicFrameLocks noGrp="1"/>
          </p:cNvGraphicFramePr>
          <p:nvPr>
            <p:custDataLst>
              <p:tags r:id="rId1"/>
            </p:custDataLst>
            <p:extLst>
              <p:ext uri="{D42A27DB-BD31-4B8C-83A1-F6EECF244321}">
                <p14:modId xmlns:p14="http://schemas.microsoft.com/office/powerpoint/2010/main" val="1733898683"/>
              </p:ext>
            </p:extLst>
          </p:nvPr>
        </p:nvGraphicFramePr>
        <p:xfrm>
          <a:off x="134679" y="1339222"/>
          <a:ext cx="11932935" cy="4703445"/>
        </p:xfrm>
        <a:graphic>
          <a:graphicData uri="http://schemas.openxmlformats.org/drawingml/2006/table">
            <a:tbl>
              <a:tblPr firstRow="1" bandRow="1">
                <a:tableStyleId>{5C22544A-7EE6-4342-B048-85BDC9FD1C3A}</a:tableStyleId>
              </a:tblPr>
              <a:tblGrid>
                <a:gridCol w="1262694">
                  <a:extLst>
                    <a:ext uri="{9D8B030D-6E8A-4147-A177-3AD203B41FA5}">
                      <a16:colId xmlns:a16="http://schemas.microsoft.com/office/drawing/2014/main" val="1170755200"/>
                    </a:ext>
                  </a:extLst>
                </a:gridCol>
                <a:gridCol w="2912357">
                  <a:extLst>
                    <a:ext uri="{9D8B030D-6E8A-4147-A177-3AD203B41FA5}">
                      <a16:colId xmlns:a16="http://schemas.microsoft.com/office/drawing/2014/main" val="3666768616"/>
                    </a:ext>
                  </a:extLst>
                </a:gridCol>
                <a:gridCol w="1740325">
                  <a:extLst>
                    <a:ext uri="{9D8B030D-6E8A-4147-A177-3AD203B41FA5}">
                      <a16:colId xmlns:a16="http://schemas.microsoft.com/office/drawing/2014/main" val="20000"/>
                    </a:ext>
                  </a:extLst>
                </a:gridCol>
                <a:gridCol w="3287532">
                  <a:extLst>
                    <a:ext uri="{9D8B030D-6E8A-4147-A177-3AD203B41FA5}">
                      <a16:colId xmlns:a16="http://schemas.microsoft.com/office/drawing/2014/main" val="20002"/>
                    </a:ext>
                  </a:extLst>
                </a:gridCol>
                <a:gridCol w="1399710">
                  <a:extLst>
                    <a:ext uri="{9D8B030D-6E8A-4147-A177-3AD203B41FA5}">
                      <a16:colId xmlns:a16="http://schemas.microsoft.com/office/drawing/2014/main" val="20004"/>
                    </a:ext>
                  </a:extLst>
                </a:gridCol>
                <a:gridCol w="1330317">
                  <a:extLst>
                    <a:ext uri="{9D8B030D-6E8A-4147-A177-3AD203B41FA5}">
                      <a16:colId xmlns:a16="http://schemas.microsoft.com/office/drawing/2014/main" val="3218387426"/>
                    </a:ext>
                  </a:extLst>
                </a:gridCol>
              </a:tblGrid>
              <a:tr h="4140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600" kern="1200" dirty="0">
                        <a:solidFill>
                          <a:schemeClr val="bg1"/>
                        </a:solidFill>
                        <a:latin typeface="Microsoft YaHei" panose="020B0503020204020204" pitchFamily="34" charset="-122"/>
                        <a:ea typeface="Microsoft YaHei" panose="020B0503020204020204" pitchFamily="34" charset="-122"/>
                        <a:cs typeface="+mn-cs"/>
                      </a:endParaRPr>
                    </a:p>
                  </a:txBody>
                  <a:tcPr>
                    <a:solidFill>
                      <a:schemeClr val="accent1">
                        <a:alpha val="52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kern="1200" dirty="0">
                          <a:solidFill>
                            <a:schemeClr val="bg1"/>
                          </a:solidFill>
                          <a:latin typeface="Microsoft YaHei" panose="020B0503020204020204" pitchFamily="34" charset="-122"/>
                          <a:ea typeface="Microsoft YaHei" panose="020B0503020204020204" pitchFamily="34" charset="-122"/>
                          <a:cs typeface="+mn-cs"/>
                        </a:rPr>
                        <a:t>设备退化预测方式</a:t>
                      </a:r>
                    </a:p>
                  </a:txBody>
                  <a:tcPr>
                    <a:solidFill>
                      <a:schemeClr val="accent1">
                        <a:alpha val="52000"/>
                      </a:schemeClr>
                    </a:solidFill>
                  </a:tcPr>
                </a:tc>
                <a:tc>
                  <a:txBody>
                    <a:bodyPr/>
                    <a:lstStyle/>
                    <a:p>
                      <a:pPr algn="ctr"/>
                      <a:r>
                        <a:rPr kumimoji="1" lang="zh-CN" altLang="en-US" sz="1600" kern="1200" dirty="0">
                          <a:solidFill>
                            <a:schemeClr val="bg1"/>
                          </a:solidFill>
                          <a:latin typeface="Microsoft YaHei" panose="020B0503020204020204" pitchFamily="34" charset="-122"/>
                          <a:ea typeface="Microsoft YaHei" panose="020B0503020204020204" pitchFamily="34" charset="-122"/>
                          <a:cs typeface="+mn-cs"/>
                        </a:rPr>
                        <a:t>代表性研究</a:t>
                      </a:r>
                    </a:p>
                  </a:txBody>
                  <a:tcPr>
                    <a:solidFill>
                      <a:schemeClr val="accent1">
                        <a:alpha val="52000"/>
                      </a:schemeClr>
                    </a:solidFill>
                  </a:tcPr>
                </a:tc>
                <a:tc>
                  <a:txBody>
                    <a:bodyPr/>
                    <a:lstStyle/>
                    <a:p>
                      <a:pPr marL="0" algn="ctr" defTabSz="914400" rtl="0" eaLnBrk="1" latinLnBrk="0" hangingPunct="1"/>
                      <a:r>
                        <a:rPr kumimoji="1" lang="zh-CN" altLang="en-US" sz="1600" b="1" kern="1200" dirty="0">
                          <a:solidFill>
                            <a:schemeClr val="bg1"/>
                          </a:solidFill>
                          <a:latin typeface="Microsoft YaHei" panose="020B0503020204020204" pitchFamily="34" charset="-122"/>
                          <a:ea typeface="Microsoft YaHei" panose="020B0503020204020204" pitchFamily="34" charset="-122"/>
                          <a:cs typeface="+mn-cs"/>
                        </a:rPr>
                        <a:t>维护决策方法</a:t>
                      </a:r>
                    </a:p>
                  </a:txBody>
                  <a:tcPr>
                    <a:solidFill>
                      <a:schemeClr val="accent1">
                        <a:alpha val="52000"/>
                      </a:schemeClr>
                    </a:solidFill>
                  </a:tcPr>
                </a:tc>
                <a:tc>
                  <a:txBody>
                    <a:bodyPr/>
                    <a:lstStyle/>
                    <a:p>
                      <a:pPr marL="0" algn="ctr" defTabSz="914400" rtl="0" eaLnBrk="1" latinLnBrk="0" hangingPunct="1"/>
                      <a:r>
                        <a:rPr kumimoji="1" lang="zh-CN" altLang="en-US" sz="1600" b="1" kern="1200" dirty="0">
                          <a:solidFill>
                            <a:schemeClr val="bg1"/>
                          </a:solidFill>
                          <a:latin typeface="Microsoft YaHei" panose="020B0503020204020204" pitchFamily="34" charset="-122"/>
                          <a:ea typeface="Microsoft YaHei" panose="020B0503020204020204" pitchFamily="34" charset="-122"/>
                          <a:cs typeface="+mn-cs"/>
                        </a:rPr>
                        <a:t>优势</a:t>
                      </a:r>
                    </a:p>
                  </a:txBody>
                  <a:tcPr>
                    <a:solidFill>
                      <a:schemeClr val="accent1">
                        <a:alpha val="52000"/>
                      </a:schemeClr>
                    </a:solidFill>
                  </a:tcPr>
                </a:tc>
                <a:tc>
                  <a:txBody>
                    <a:bodyPr/>
                    <a:lstStyle/>
                    <a:p>
                      <a:pPr marL="0" algn="ctr" defTabSz="914400" rtl="0" eaLnBrk="1" latinLnBrk="0" hangingPunct="1"/>
                      <a:r>
                        <a:rPr kumimoji="1" lang="zh-CN" altLang="en-US" sz="1600" b="1" kern="1200" dirty="0">
                          <a:solidFill>
                            <a:schemeClr val="bg1"/>
                          </a:solidFill>
                          <a:latin typeface="Microsoft YaHei" panose="020B0503020204020204" pitchFamily="34" charset="-122"/>
                          <a:ea typeface="Microsoft YaHei" panose="020B0503020204020204" pitchFamily="34" charset="-122"/>
                          <a:cs typeface="+mn-cs"/>
                        </a:rPr>
                        <a:t>缺点</a:t>
                      </a:r>
                    </a:p>
                  </a:txBody>
                  <a:tcPr>
                    <a:solidFill>
                      <a:schemeClr val="accent1">
                        <a:alpha val="52000"/>
                      </a:schemeClr>
                    </a:solidFill>
                  </a:tcPr>
                </a:tc>
                <a:extLst>
                  <a:ext uri="{0D108BD9-81ED-4DB2-BD59-A6C34878D82A}">
                    <a16:rowId xmlns:a16="http://schemas.microsoft.com/office/drawing/2014/main" val="10000"/>
                  </a:ext>
                </a:extLst>
              </a:tr>
              <a:tr h="0">
                <a:tc rowSpan="5">
                  <a:txBody>
                    <a:bodyPr/>
                    <a:lstStyle/>
                    <a:p>
                      <a:pPr marL="0" algn="ctr" defTabSz="914400" rtl="0" eaLnBrk="1" latinLnBrk="0" hangingPunct="1">
                        <a:buClrTx/>
                        <a:buSzTx/>
                        <a:buFontTx/>
                      </a:pPr>
                      <a:r>
                        <a:rPr lang="zh-CN" altLang="en-US" sz="1400" b="1"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随机退化模型</a:t>
                      </a:r>
                    </a:p>
                  </a:txBody>
                  <a:tcPr anchor="ctr">
                    <a:solidFill>
                      <a:schemeClr val="accent1">
                        <a:tint val="40000"/>
                        <a:alpha val="52000"/>
                      </a:schemeClr>
                    </a:solidFill>
                  </a:tcPr>
                </a:tc>
                <a:tc rowSpan="3">
                  <a:txBody>
                    <a:bodyPr/>
                    <a:lstStyle/>
                    <a:p>
                      <a:pPr marL="0" algn="ctr" defTabSz="914400" rtl="0" eaLnBrk="1" latinLnBrk="0" hangingPunct="1">
                        <a:buClrTx/>
                        <a:buSzTx/>
                        <a:buFontTx/>
                      </a:pP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Gamma</a:t>
                      </a: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随机过程退化</a:t>
                      </a:r>
                      <a:endPar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solidFill>
                      <a:schemeClr val="accent1">
                        <a:tint val="40000"/>
                        <a:alpha val="52000"/>
                      </a:schemeClr>
                    </a:solidFill>
                  </a:tcPr>
                </a:tc>
                <a:tc>
                  <a:txBody>
                    <a:bodyPr/>
                    <a:lstStyle/>
                    <a:p>
                      <a:pPr marL="0" algn="ctr" defTabSz="914400" rtl="0" eaLnBrk="1" latinLnBrk="0" hangingPunct="1">
                        <a:buClrTx/>
                        <a:buSzTx/>
                        <a:buFontTx/>
                      </a:pPr>
                      <a:r>
                        <a:rPr lang="en-US" altLang="zh-CN" sz="1400" b="0" kern="1200" dirty="0" err="1">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Caballé</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 et al. (2015)</a:t>
                      </a:r>
                    </a:p>
                  </a:txBody>
                  <a:tcPr anchor="ctr">
                    <a:solidFill>
                      <a:schemeClr val="accent1">
                        <a:tint val="40000"/>
                        <a:alpha val="52000"/>
                      </a:schemeClr>
                    </a:solidFill>
                  </a:tcP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数值优化来寻找最优的检查间隔和维护窗口</a:t>
                      </a:r>
                    </a:p>
                  </a:txBody>
                  <a:tcPr anchor="ctr">
                    <a:solidFill>
                      <a:schemeClr val="accent1">
                        <a:tint val="40000"/>
                        <a:alpha val="52000"/>
                      </a:schemeClr>
                    </a:solidFill>
                  </a:tcPr>
                </a:tc>
                <a:tc rowSpan="5">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模型行为可解释，对数据要求较低，可以严谨量化不确定性</a:t>
                      </a:r>
                    </a:p>
                  </a:txBody>
                  <a:tcPr anchor="ctr">
                    <a:solidFill>
                      <a:schemeClr val="accent1">
                        <a:tint val="40000"/>
                        <a:alpha val="52000"/>
                      </a:schemeClr>
                    </a:solidFill>
                  </a:tcPr>
                </a:tc>
                <a:tc rowSpan="5">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依赖准确的退化模型假设，面对非线性退化，预测将严重失真</a:t>
                      </a:r>
                    </a:p>
                  </a:txBody>
                  <a:tcPr anchor="ctr">
                    <a:solidFill>
                      <a:schemeClr val="accent1">
                        <a:tint val="40000"/>
                        <a:alpha val="52000"/>
                      </a:schemeClr>
                    </a:solidFill>
                  </a:tcPr>
                </a:tc>
                <a:extLst>
                  <a:ext uri="{0D108BD9-81ED-4DB2-BD59-A6C34878D82A}">
                    <a16:rowId xmlns:a16="http://schemas.microsoft.com/office/drawing/2014/main" val="10001"/>
                  </a:ext>
                </a:extLst>
              </a:tr>
              <a:tr h="574675">
                <a:tc vMerge="1">
                  <a:txBody>
                    <a:bodyPr/>
                    <a:lstStyle/>
                    <a:p>
                      <a:endParaRPr lang="zh-CN" altLang="en-US"/>
                    </a:p>
                  </a:txBody>
                  <a:tcPr/>
                </a:tc>
                <a:tc vMerge="1">
                  <a:txBody>
                    <a:bodyPr/>
                    <a:lstStyle/>
                    <a:p>
                      <a:pPr marL="0" algn="ctr" defTabSz="914400" rtl="0" eaLnBrk="1" latinLnBrk="0" hangingPunct="1">
                        <a:buClrTx/>
                        <a:buSzTx/>
                        <a:buFontTx/>
                      </a:pPr>
                      <a:endPar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a:txBody>
                    <a:bodyPr/>
                    <a:lstStyle/>
                    <a:p>
                      <a:pPr marL="0" algn="ctr" defTabSz="914400" rtl="0" eaLnBrk="1" latinLnBrk="0" hangingPunct="1">
                        <a:buClrTx/>
                        <a:buSzTx/>
                        <a:buFontTx/>
                      </a:pP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Lee &amp; </a:t>
                      </a:r>
                      <a:r>
                        <a:rPr lang="en-US" altLang="zh-CN" sz="1400" b="0" kern="1200" dirty="0" err="1">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Mitici</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 (2022)</a:t>
                      </a:r>
                    </a:p>
                  </a:txBody>
                  <a:tcPr anchor="ctr">
                    <a:solidFill>
                      <a:schemeClr val="accent1">
                        <a:tint val="20000"/>
                        <a:alpha val="52000"/>
                      </a:schemeClr>
                    </a:solidFill>
                  </a:tcPr>
                </a:tc>
                <a:tc>
                  <a:txBody>
                    <a:bodyPr/>
                    <a:lstStyle/>
                    <a:p>
                      <a:pPr marL="0" algn="ctr" defTabSz="914400" rtl="0" eaLnBrk="1" latinLnBrk="0" hangingPunct="1">
                        <a:buClrTx/>
                        <a:buSzTx/>
                        <a:buFontTx/>
                      </a:pP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Gamma</a:t>
                      </a: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过程来建模单调磨损退化，利用线性回归的方式拟合</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RUL</a:t>
                      </a: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，基于</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RUL</a:t>
                      </a: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阈值采取维护决策</a:t>
                      </a:r>
                    </a:p>
                  </a:txBody>
                  <a:tcPr anchor="ctr">
                    <a:solidFill>
                      <a:schemeClr val="accent1">
                        <a:tint val="20000"/>
                        <a:alpha val="52000"/>
                      </a:schemeClr>
                    </a:solidFill>
                  </a:tcP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extLst>
                  <a:ext uri="{0D108BD9-81ED-4DB2-BD59-A6C34878D82A}">
                    <a16:rowId xmlns:a16="http://schemas.microsoft.com/office/drawing/2014/main" val="10002"/>
                  </a:ext>
                </a:extLst>
              </a:tr>
              <a:tr h="574675">
                <a:tc vMerge="1">
                  <a:txBody>
                    <a:bodyPr/>
                    <a:lstStyle/>
                    <a:p>
                      <a:endParaRPr lang="zh-CN" altLang="en-US"/>
                    </a:p>
                  </a:txBody>
                  <a:tcPr/>
                </a:tc>
                <a:tc vMerge="1">
                  <a:txBody>
                    <a:bodyPr/>
                    <a:lstStyle/>
                    <a:p>
                      <a:pPr marL="0" algn="ctr" defTabSz="914400" rtl="0" eaLnBrk="1" latinLnBrk="0" hangingPunct="1"/>
                      <a:endPar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a:txBody>
                    <a:bodyPr/>
                    <a:lstStyle/>
                    <a:p>
                      <a:pPr marL="0" algn="ctr" defTabSz="914400" rtl="0" eaLnBrk="1" latinLnBrk="0" hangingPunct="1">
                        <a:buClrTx/>
                        <a:buSzTx/>
                        <a:buFontTx/>
                      </a:pP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Do et al.,(2019)</a:t>
                      </a:r>
                    </a:p>
                  </a:txBody>
                  <a:tcPr anchor="ctr">
                    <a:solidFill>
                      <a:schemeClr val="accent1">
                        <a:tint val="40000"/>
                        <a:alpha val="52000"/>
                      </a:schemeClr>
                    </a:solidFill>
                  </a:tcP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基于自身状态的阈值与利用对其他组件的维护行动时的机会性联合维护决策</a:t>
                      </a:r>
                    </a:p>
                  </a:txBody>
                  <a:tcPr anchor="ctr">
                    <a:solidFill>
                      <a:schemeClr val="accent1">
                        <a:tint val="40000"/>
                        <a:alpha val="52000"/>
                      </a:schemeClr>
                    </a:solidFill>
                  </a:tcP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extLst>
                  <a:ext uri="{0D108BD9-81ED-4DB2-BD59-A6C34878D82A}">
                    <a16:rowId xmlns:a16="http://schemas.microsoft.com/office/drawing/2014/main" val="3574190317"/>
                  </a:ext>
                </a:extLst>
              </a:tr>
              <a:tr h="575310">
                <a:tc vMerge="1">
                  <a:txBody>
                    <a:bodyPr/>
                    <a:lstStyle/>
                    <a:p>
                      <a:pPr marL="0" algn="ctr" defTabSz="914400" rtl="0" eaLnBrk="1" latinLnBrk="0" hangingPunct="1">
                        <a:buClrTx/>
                        <a:buSzTx/>
                        <a:buFontTx/>
                      </a:pPr>
                      <a:endPar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a:txBody>
                    <a:bodyPr/>
                    <a:lstStyle/>
                    <a:p>
                      <a:pPr marL="0" algn="ctr" defTabSz="914400" rtl="0" eaLnBrk="1" latinLnBrk="0" hangingPunct="1">
                        <a:buClrTx/>
                        <a:buSzTx/>
                        <a:buFontTx/>
                      </a:pP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Wiener</a:t>
                      </a: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随机过程及其变体</a:t>
                      </a:r>
                      <a:endPar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solidFill>
                      <a:schemeClr val="accent1">
                        <a:tint val="20000"/>
                        <a:alpha val="52000"/>
                      </a:schemeClr>
                    </a:solidFill>
                  </a:tcPr>
                </a:tc>
                <a:tc>
                  <a:txBody>
                    <a:bodyPr/>
                    <a:lstStyle/>
                    <a:p>
                      <a:pPr marL="0" algn="ctr" defTabSz="914400" rtl="0" eaLnBrk="1" latinLnBrk="0" hangingPunct="1">
                        <a:buClrTx/>
                        <a:buSzTx/>
                        <a:buFontTx/>
                      </a:pP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Zhang et al. (2018)</a:t>
                      </a:r>
                    </a:p>
                  </a:txBody>
                  <a:tcPr anchor="ctr">
                    <a:solidFill>
                      <a:schemeClr val="accent1">
                        <a:tint val="20000"/>
                        <a:alpha val="52000"/>
                      </a:schemeClr>
                    </a:solidFill>
                  </a:tcP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系统退化建模为</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Wiener</a:t>
                      </a: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过程，设定预防性维护阈值，基于阈值维护</a:t>
                      </a:r>
                    </a:p>
                  </a:txBody>
                  <a:tcPr anchor="ctr">
                    <a:solidFill>
                      <a:schemeClr val="accent1">
                        <a:tint val="20000"/>
                        <a:alpha val="52000"/>
                      </a:schemeClr>
                    </a:solidFill>
                  </a:tcP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extLst>
                  <a:ext uri="{0D108BD9-81ED-4DB2-BD59-A6C34878D82A}">
                    <a16:rowId xmlns:a16="http://schemas.microsoft.com/office/drawing/2014/main" val="10003"/>
                  </a:ext>
                </a:extLst>
              </a:tr>
              <a:tr h="574675">
                <a:tc vMerge="1">
                  <a:txBody>
                    <a:bodyPr/>
                    <a:lstStyle/>
                    <a:p>
                      <a:pPr marL="0" algn="ctr" defTabSz="914400" rtl="0" eaLnBrk="1" latinLnBrk="0" hangingPunct="1">
                        <a:buClrTx/>
                        <a:buSzTx/>
                        <a:buFontTx/>
                      </a:pPr>
                      <a:endPar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马尔可夫退化过程</a:t>
                      </a:r>
                      <a:endPar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solidFill>
                      <a:schemeClr val="accent1">
                        <a:tint val="40000"/>
                        <a:alpha val="52000"/>
                      </a:schemeClr>
                    </a:solidFill>
                  </a:tcPr>
                </a:tc>
                <a:tc>
                  <a:txBody>
                    <a:bodyPr/>
                    <a:lstStyle/>
                    <a:p>
                      <a:pPr marL="0" algn="ctr" defTabSz="914400" rtl="0" eaLnBrk="1" latinLnBrk="0" hangingPunct="1">
                        <a:buClrTx/>
                        <a:buSzTx/>
                        <a:buFontTx/>
                      </a:pP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Zhao &amp; </a:t>
                      </a:r>
                      <a:r>
                        <a:rPr lang="en-US" altLang="zh-CN" sz="1400" b="0" kern="1200" dirty="0" err="1">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Smidts</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 (2023)</a:t>
                      </a:r>
                    </a:p>
                  </a:txBody>
                  <a:tcPr anchor="ctr">
                    <a:solidFill>
                      <a:schemeClr val="accent1">
                        <a:tint val="40000"/>
                        <a:alpha val="52000"/>
                      </a:schemeClr>
                    </a:solidFill>
                  </a:tcP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建模为离散多状态马尔可夫退化过程，故障转移概率确定，利用强化学习</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R-learning</a:t>
                      </a: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算法实现维护决策</a:t>
                      </a:r>
                    </a:p>
                  </a:txBody>
                  <a:tcPr anchor="ctr">
                    <a:solidFill>
                      <a:schemeClr val="accent1">
                        <a:tint val="40000"/>
                        <a:alpha val="52000"/>
                      </a:schemeClr>
                    </a:solidFill>
                  </a:tcP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tc vMerge="1">
                  <a:txBody>
                    <a:bodyPr/>
                    <a:lstStyle/>
                    <a:p>
                      <a:pPr algn="l"/>
                      <a:endParaRPr lang="zh-CN" altLang="en-US" sz="1400" kern="1200" dirty="0">
                        <a:solidFill>
                          <a:schemeClr val="tx1"/>
                        </a:solidFill>
                        <a:latin typeface="宋体" panose="02010600030101010101" pitchFamily="2" charset="-122"/>
                        <a:ea typeface="宋体" panose="02010600030101010101" pitchFamily="2" charset="-122"/>
                        <a:cs typeface="+mn-cs"/>
                      </a:endParaRPr>
                    </a:p>
                  </a:txBody>
                  <a:tcPr anchor="ctr"/>
                </a:tc>
                <a:extLst>
                  <a:ext uri="{0D108BD9-81ED-4DB2-BD59-A6C34878D82A}">
                    <a16:rowId xmlns:a16="http://schemas.microsoft.com/office/drawing/2014/main" val="10004"/>
                  </a:ext>
                </a:extLst>
              </a:tr>
              <a:tr h="422275">
                <a:tc rowSpan="2">
                  <a:txBody>
                    <a:bodyPr/>
                    <a:lstStyle/>
                    <a:p>
                      <a:pPr marL="0" algn="ctr" defTabSz="914400" rtl="0" eaLnBrk="1" latinLnBrk="0" hangingPunct="1">
                        <a:buClrTx/>
                        <a:buSzTx/>
                        <a:buFontTx/>
                      </a:pPr>
                      <a:r>
                        <a:rPr lang="zh-CN" altLang="en-US" sz="1400" b="1"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数据驱动的预测模型</a:t>
                      </a:r>
                      <a:endParaRPr lang="en-US" altLang="zh-CN" sz="1400" b="1"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solidFill>
                      <a:schemeClr val="accent1">
                        <a:tint val="20000"/>
                        <a:alpha val="52000"/>
                      </a:schemeClr>
                    </a:solidFill>
                  </a:tcP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基于</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Paris </a:t>
                      </a: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模型物理模型的</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RUL</a:t>
                      </a: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估计</a:t>
                      </a:r>
                      <a:endPar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solidFill>
                      <a:schemeClr val="accent1">
                        <a:tint val="20000"/>
                        <a:alpha val="52000"/>
                      </a:schemeClr>
                    </a:solidFill>
                  </a:tcPr>
                </a:tc>
                <a:tc>
                  <a:txBody>
                    <a:bodyPr/>
                    <a:lstStyle/>
                    <a:p>
                      <a:pPr marL="0" algn="ctr" defTabSz="914400" rtl="0" eaLnBrk="1" latinLnBrk="0" hangingPunct="1">
                        <a:buClrTx/>
                        <a:buSzTx/>
                        <a:buFontTx/>
                      </a:pP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Wang et al. (2018)</a:t>
                      </a:r>
                    </a:p>
                  </a:txBody>
                  <a:tcPr anchor="ctr">
                    <a:solidFill>
                      <a:schemeClr val="accent1">
                        <a:tint val="20000"/>
                        <a:alpha val="52000"/>
                      </a:schemeClr>
                    </a:solidFill>
                  </a:tcP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基于预测的未来可靠性阈值实现维护决策</a:t>
                      </a:r>
                    </a:p>
                  </a:txBody>
                  <a:tcPr anchor="ctr">
                    <a:solidFill>
                      <a:schemeClr val="accent1">
                        <a:tint val="20000"/>
                        <a:alpha val="52000"/>
                      </a:schemeClr>
                    </a:solidFill>
                  </a:tcPr>
                </a:tc>
                <a:tc rowSpan="2">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无需先验模型，合机理复杂或未知的系统，可以有较高准确性</a:t>
                      </a:r>
                      <a:endPar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solidFill>
                      <a:schemeClr val="accent1">
                        <a:tint val="20000"/>
                        <a:alpha val="52000"/>
                      </a:schemeClr>
                    </a:solidFill>
                  </a:tcPr>
                </a:tc>
                <a:tc rowSpan="2">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依赖大量数据，数数据驱动模型输出点估计，缺乏可靠的不确定性量化</a:t>
                      </a:r>
                      <a:endPar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solidFill>
                      <a:schemeClr val="accent1">
                        <a:tint val="20000"/>
                        <a:alpha val="52000"/>
                      </a:schemeClr>
                    </a:solidFill>
                  </a:tcPr>
                </a:tc>
                <a:extLst>
                  <a:ext uri="{0D108BD9-81ED-4DB2-BD59-A6C34878D82A}">
                    <a16:rowId xmlns:a16="http://schemas.microsoft.com/office/drawing/2014/main" val="1092691178"/>
                  </a:ext>
                </a:extLst>
              </a:tr>
              <a:tr h="422275">
                <a:tc vMerge="1">
                  <a:txBody>
                    <a:bodyPr/>
                    <a:lstStyle/>
                    <a:p>
                      <a:pPr marL="0" algn="ctr" defTabSz="914400" rtl="0" eaLnBrk="1" latinLnBrk="0" hangingPunct="1">
                        <a:buClrTx/>
                        <a:buSzTx/>
                        <a:buFontTx/>
                      </a:pPr>
                      <a:endPar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基于深度神经网络的</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RUL</a:t>
                      </a: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点估计</a:t>
                      </a:r>
                      <a:endPar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solidFill>
                      <a:schemeClr val="accent1">
                        <a:tint val="40000"/>
                        <a:alpha val="52000"/>
                      </a:schemeClr>
                    </a:solidFill>
                  </a:tcPr>
                </a:tc>
                <a:tc>
                  <a:txBody>
                    <a:bodyPr/>
                    <a:lstStyle/>
                    <a:p>
                      <a:pPr marL="0" algn="ctr" defTabSz="914400" rtl="0" eaLnBrk="1" latinLnBrk="0" hangingPunct="1">
                        <a:buClrTx/>
                        <a:buSzTx/>
                        <a:buFontTx/>
                      </a:pPr>
                      <a:r>
                        <a:rPr lang="da-DK"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de Pater et al. (2022)</a:t>
                      </a:r>
                      <a:endPar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solidFill>
                      <a:schemeClr val="accent1">
                        <a:tint val="40000"/>
                        <a:alpha val="52000"/>
                      </a:schemeClr>
                    </a:solidFill>
                  </a:tcP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获得数据驱动 </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RUL </a:t>
                      </a: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预测，基于数值预测，触发警报并指定维护操作</a:t>
                      </a:r>
                    </a:p>
                  </a:txBody>
                  <a:tcPr anchor="ctr">
                    <a:solidFill>
                      <a:schemeClr val="accent1">
                        <a:tint val="40000"/>
                        <a:alpha val="52000"/>
                      </a:schemeClr>
                    </a:solidFill>
                  </a:tcPr>
                </a:tc>
                <a:tc vMerge="1">
                  <a:txBody>
                    <a:bodyPr/>
                    <a:lstStyle/>
                    <a:p>
                      <a:pPr algn="l"/>
                      <a:endParaRPr lang="en-US" altLang="zh-CN" sz="1400" kern="1200" dirty="0">
                        <a:solidFill>
                          <a:schemeClr val="tx1"/>
                        </a:solidFill>
                        <a:latin typeface="宋体" panose="02010600030101010101" pitchFamily="2" charset="-122"/>
                        <a:ea typeface="宋体" panose="02010600030101010101" pitchFamily="2" charset="-122"/>
                        <a:cs typeface="+mn-cs"/>
                      </a:endParaRPr>
                    </a:p>
                  </a:txBody>
                  <a:tcPr anchor="ctr"/>
                </a:tc>
                <a:tc vMerge="1">
                  <a:txBody>
                    <a:bodyPr/>
                    <a:lstStyle/>
                    <a:p>
                      <a:pPr algn="l"/>
                      <a:endParaRPr lang="en-US" altLang="zh-CN" sz="1400" kern="1200" dirty="0">
                        <a:solidFill>
                          <a:schemeClr val="tx1"/>
                        </a:solidFill>
                        <a:latin typeface="宋体" panose="02010600030101010101" pitchFamily="2" charset="-122"/>
                        <a:ea typeface="宋体" panose="02010600030101010101" pitchFamily="2" charset="-122"/>
                        <a:cs typeface="+mn-cs"/>
                      </a:endParaRPr>
                    </a:p>
                  </a:txBody>
                  <a:tcPr anchor="ctr"/>
                </a:tc>
                <a:extLst>
                  <a:ext uri="{0D108BD9-81ED-4DB2-BD59-A6C34878D82A}">
                    <a16:rowId xmlns:a16="http://schemas.microsoft.com/office/drawing/2014/main" val="827968195"/>
                  </a:ext>
                </a:extLst>
              </a:tr>
            </a:tbl>
          </a:graphicData>
        </a:graphic>
      </p:graphicFrame>
      <p:sp>
        <p:nvSpPr>
          <p:cNvPr id="6" name="矩形: 圆角 5">
            <a:extLst>
              <a:ext uri="{FF2B5EF4-FFF2-40B4-BE49-F238E27FC236}">
                <a16:creationId xmlns:a16="http://schemas.microsoft.com/office/drawing/2014/main" id="{97AC64CE-9B64-45E8-B756-F8B13276C3B5}"/>
              </a:ext>
            </a:extLst>
          </p:cNvPr>
          <p:cNvSpPr/>
          <p:nvPr/>
        </p:nvSpPr>
        <p:spPr>
          <a:xfrm>
            <a:off x="0" y="845440"/>
            <a:ext cx="3430534" cy="419133"/>
          </a:xfrm>
          <a:prstGeom prst="roundRect">
            <a:avLst>
              <a:gd name="adj" fmla="val 9331"/>
            </a:avLst>
          </a:prstGeom>
          <a:solidFill>
            <a:srgbClr val="3B5E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文献综述</a:t>
            </a:r>
            <a:r>
              <a:rPr kumimoji="0" lang="en-US" altLang="zh-CN"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r>
              <a:rPr kumimoji="0" lang="zh-CN" altLang="en-US"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预测性维护决策</a:t>
            </a:r>
          </a:p>
        </p:txBody>
      </p:sp>
      <p:sp>
        <p:nvSpPr>
          <p:cNvPr id="2" name="矩形 1">
            <a:extLst>
              <a:ext uri="{FF2B5EF4-FFF2-40B4-BE49-F238E27FC236}">
                <a16:creationId xmlns:a16="http://schemas.microsoft.com/office/drawing/2014/main" id="{2FD934F1-33BD-4534-9041-E9EBC02A4988}"/>
              </a:ext>
            </a:extLst>
          </p:cNvPr>
          <p:cNvSpPr/>
          <p:nvPr/>
        </p:nvSpPr>
        <p:spPr>
          <a:xfrm>
            <a:off x="141611" y="4944140"/>
            <a:ext cx="11932935" cy="173188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14">
            <a:extLst>
              <a:ext uri="{FF2B5EF4-FFF2-40B4-BE49-F238E27FC236}">
                <a16:creationId xmlns:a16="http://schemas.microsoft.com/office/drawing/2014/main" id="{5FFF08EF-4DE5-43FE-B0A6-E6D540C916B0}"/>
              </a:ext>
            </a:extLst>
          </p:cNvPr>
          <p:cNvSpPr/>
          <p:nvPr/>
        </p:nvSpPr>
        <p:spPr>
          <a:xfrm>
            <a:off x="241236" y="5033845"/>
            <a:ext cx="11733687" cy="1554272"/>
          </a:xfrm>
          <a:prstGeom prst="rect">
            <a:avLst/>
          </a:prstGeom>
          <a:noFill/>
          <a:ln w="38100">
            <a:solidFill>
              <a:srgbClr val="C00000"/>
            </a:solidFill>
          </a:ln>
          <a:effectLst/>
        </p:spPr>
        <p:txBody>
          <a:bodyPr wrap="square" anchor="ctr">
            <a:spAutoFit/>
          </a:bodyPr>
          <a:lstStyle/>
          <a:p>
            <a:pPr marL="342900" indent="-342900" algn="just">
              <a:buFont typeface="Wingdings" panose="05000000000000000000" pitchFamily="2" charset="2"/>
              <a:buChar char="Ø"/>
            </a:pPr>
            <a:r>
              <a:rPr lang="zh-CN" altLang="en-US" sz="1900" b="1" dirty="0">
                <a:solidFill>
                  <a:srgbClr val="C00000"/>
                </a:solidFill>
                <a:latin typeface="微软雅黑" panose="020B0503020204020204" charset="-122"/>
                <a:ea typeface="微软雅黑" panose="020B0503020204020204" charset="-122"/>
              </a:rPr>
              <a:t>维护决策方式局限：</a:t>
            </a:r>
            <a:r>
              <a:rPr lang="zh-CN" altLang="en-US" sz="1900" b="1" dirty="0">
                <a:solidFill>
                  <a:srgbClr val="000F82"/>
                </a:solidFill>
                <a:latin typeface="微软雅黑" panose="020B0503020204020204" charset="-122"/>
                <a:ea typeface="微软雅黑" panose="020B0503020204020204" charset="-122"/>
              </a:rPr>
              <a:t>设备运维策略逐渐由传统的基于时间的定期维护策略到基于状态的维护转变，预测性维护在运维策略中有待深入研究。而现阶段的预测性维护大量使用</a:t>
            </a:r>
            <a:r>
              <a:rPr lang="en-US" altLang="zh-CN" sz="1900" b="1" dirty="0">
                <a:solidFill>
                  <a:srgbClr val="000F82"/>
                </a:solidFill>
                <a:latin typeface="微软雅黑" panose="020B0503020204020204" charset="-122"/>
                <a:ea typeface="微软雅黑" panose="020B0503020204020204" charset="-122"/>
              </a:rPr>
              <a:t>RUL</a:t>
            </a:r>
            <a:r>
              <a:rPr lang="zh-CN" altLang="en-US" sz="1900" b="1" dirty="0">
                <a:solidFill>
                  <a:srgbClr val="000F82"/>
                </a:solidFill>
                <a:latin typeface="微软雅黑" panose="020B0503020204020204" charset="-122"/>
                <a:ea typeface="微软雅黑" panose="020B0503020204020204" charset="-122"/>
              </a:rPr>
              <a:t>阈值维护，</a:t>
            </a:r>
            <a:r>
              <a:rPr lang="zh-CN" altLang="zh-CN" sz="1900" b="1" dirty="0">
                <a:solidFill>
                  <a:srgbClr val="000F82"/>
                </a:solidFill>
                <a:latin typeface="微软雅黑" panose="020B0503020204020204" charset="-122"/>
                <a:ea typeface="微软雅黑" panose="020B0503020204020204" charset="-122"/>
              </a:rPr>
              <a:t>忽视了</a:t>
            </a:r>
            <a:r>
              <a:rPr lang="en-US" altLang="zh-CN" sz="1900" b="1" dirty="0">
                <a:solidFill>
                  <a:srgbClr val="000F82"/>
                </a:solidFill>
                <a:latin typeface="微软雅黑" panose="020B0503020204020204" charset="-122"/>
                <a:ea typeface="微软雅黑" panose="020B0503020204020204" charset="-122"/>
              </a:rPr>
              <a:t>RUL</a:t>
            </a:r>
            <a:r>
              <a:rPr lang="zh-CN" altLang="zh-CN" sz="1900" b="1" dirty="0">
                <a:solidFill>
                  <a:srgbClr val="000F82"/>
                </a:solidFill>
                <a:latin typeface="微软雅黑" panose="020B0503020204020204" charset="-122"/>
                <a:ea typeface="微软雅黑" panose="020B0503020204020204" charset="-122"/>
              </a:rPr>
              <a:t>预测本身固有的不确定性以及维护成本</a:t>
            </a:r>
            <a:r>
              <a:rPr lang="zh-CN" altLang="en-US" sz="1900" b="1" dirty="0">
                <a:solidFill>
                  <a:srgbClr val="000F82"/>
                </a:solidFill>
                <a:latin typeface="微软雅黑" panose="020B0503020204020204" charset="-122"/>
                <a:ea typeface="微软雅黑" panose="020B0503020204020204" charset="-122"/>
              </a:rPr>
              <a:t>等约束</a:t>
            </a:r>
            <a:endParaRPr lang="en-US" altLang="zh-CN" sz="1900" b="1" dirty="0">
              <a:solidFill>
                <a:srgbClr val="000F82"/>
              </a:solidFill>
              <a:latin typeface="微软雅黑" panose="020B0503020204020204" charset="-122"/>
              <a:ea typeface="微软雅黑" panose="020B0503020204020204" charset="-122"/>
            </a:endParaRPr>
          </a:p>
          <a:p>
            <a:pPr marL="342900" indent="-342900" algn="just">
              <a:buFont typeface="Wingdings" panose="05000000000000000000" pitchFamily="2" charset="2"/>
              <a:buChar char="Ø"/>
            </a:pPr>
            <a:r>
              <a:rPr lang="zh-CN" altLang="en-US" sz="1900" b="1" dirty="0">
                <a:solidFill>
                  <a:srgbClr val="C00000"/>
                </a:solidFill>
                <a:latin typeface="微软雅黑" panose="020B0503020204020204" charset="-122"/>
                <a:ea typeface="微软雅黑" panose="020B0503020204020204" charset="-122"/>
              </a:rPr>
              <a:t>设备预测方式局限</a:t>
            </a:r>
            <a:r>
              <a:rPr lang="zh-CN" altLang="en-US" sz="1900" b="1" dirty="0">
                <a:solidFill>
                  <a:srgbClr val="000F82"/>
                </a:solidFill>
                <a:latin typeface="微软雅黑" panose="020B0503020204020204" charset="-122"/>
                <a:ea typeface="微软雅黑" panose="020B0503020204020204" charset="-122"/>
              </a:rPr>
              <a:t>：</a:t>
            </a:r>
            <a:r>
              <a:rPr lang="zh-CN" altLang="zh-CN" sz="1900" b="1" dirty="0">
                <a:solidFill>
                  <a:srgbClr val="000F82"/>
                </a:solidFill>
                <a:latin typeface="微软雅黑" panose="020B0503020204020204" charset="-122"/>
                <a:ea typeface="微软雅黑" panose="020B0503020204020204" charset="-122"/>
              </a:rPr>
              <a:t>多数研究将设备退化过程简化为已知参数的随机过程（如</a:t>
            </a:r>
            <a:r>
              <a:rPr lang="en-US" altLang="zh-CN" sz="1900" b="1" dirty="0">
                <a:solidFill>
                  <a:srgbClr val="000F82"/>
                </a:solidFill>
                <a:latin typeface="微软雅黑" panose="020B0503020204020204" charset="-122"/>
                <a:ea typeface="微软雅黑" panose="020B0503020204020204" charset="-122"/>
              </a:rPr>
              <a:t>Gamma</a:t>
            </a:r>
            <a:r>
              <a:rPr lang="zh-CN" altLang="zh-CN" sz="1900" b="1" dirty="0">
                <a:solidFill>
                  <a:srgbClr val="000F82"/>
                </a:solidFill>
                <a:latin typeface="微软雅黑" panose="020B0503020204020204" charset="-122"/>
                <a:ea typeface="微软雅黑" panose="020B0503020204020204" charset="-122"/>
              </a:rPr>
              <a:t>过程、维纳过程），依赖强假设而缺乏对真实退化数据的自适应学习能力</a:t>
            </a:r>
            <a:endParaRPr lang="en-US" altLang="zh-CN" sz="1900" b="1" dirty="0">
              <a:solidFill>
                <a:srgbClr val="000F82"/>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34776129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p:cNvPicPr>
            <a:picLocks noChangeAspect="1"/>
          </p:cNvPicPr>
          <p:nvPr/>
        </p:nvPicPr>
        <p:blipFill>
          <a:blip r:embed="rId4"/>
          <a:stretch>
            <a:fillRect/>
          </a:stretch>
        </p:blipFill>
        <p:spPr>
          <a:xfrm>
            <a:off x="11300792" y="166376"/>
            <a:ext cx="674131" cy="674131"/>
          </a:xfrm>
          <a:prstGeom prst="rect">
            <a:avLst/>
          </a:prstGeom>
        </p:spPr>
      </p:pic>
      <p:cxnSp>
        <p:nvCxnSpPr>
          <p:cNvPr id="7" name="直接连接符 3">
            <a:extLst>
              <a:ext uri="{FF2B5EF4-FFF2-40B4-BE49-F238E27FC236}">
                <a16:creationId xmlns:a16="http://schemas.microsoft.com/office/drawing/2014/main" id="{BBBC9128-9103-485C-9395-11FF750F1C5D}"/>
              </a:ext>
            </a:extLst>
          </p:cNvPr>
          <p:cNvCxnSpPr>
            <a:cxnSpLocks/>
          </p:cNvCxnSpPr>
          <p:nvPr/>
        </p:nvCxnSpPr>
        <p:spPr>
          <a:xfrm>
            <a:off x="0" y="835438"/>
            <a:ext cx="11105147" cy="0"/>
          </a:xfrm>
          <a:prstGeom prst="line">
            <a:avLst/>
          </a:prstGeom>
          <a:ln w="76200">
            <a:solidFill>
              <a:srgbClr val="0054A6"/>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A78EEBB9-FFFA-4080-83A2-78122037D209}"/>
              </a:ext>
            </a:extLst>
          </p:cNvPr>
          <p:cNvSpPr/>
          <p:nvPr/>
        </p:nvSpPr>
        <p:spPr>
          <a:xfrm>
            <a:off x="0" y="181976"/>
            <a:ext cx="3068053" cy="558709"/>
          </a:xfrm>
          <a:prstGeom prst="rect">
            <a:avLst/>
          </a:prstGeom>
          <a:solidFill>
            <a:srgbClr val="2F5597"/>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黑体" panose="02010609060101010101" pitchFamily="49" charset="-122"/>
                <a:ea typeface="黑体" panose="02010609060101010101" pitchFamily="49" charset="-122"/>
              </a:rPr>
              <a:t>文献综述</a:t>
            </a:r>
          </a:p>
        </p:txBody>
      </p:sp>
      <p:graphicFrame>
        <p:nvGraphicFramePr>
          <p:cNvPr id="5" name="表格 4">
            <a:extLst>
              <a:ext uri="{FF2B5EF4-FFF2-40B4-BE49-F238E27FC236}">
                <a16:creationId xmlns:a16="http://schemas.microsoft.com/office/drawing/2014/main" id="{73E53E17-1015-4C37-A28D-08E9FE48E8A7}"/>
              </a:ext>
            </a:extLst>
          </p:cNvPr>
          <p:cNvGraphicFramePr>
            <a:graphicFrameLocks noGrp="1"/>
          </p:cNvGraphicFramePr>
          <p:nvPr>
            <p:custDataLst>
              <p:tags r:id="rId1"/>
            </p:custDataLst>
            <p:extLst>
              <p:ext uri="{D42A27DB-BD31-4B8C-83A1-F6EECF244321}">
                <p14:modId xmlns:p14="http://schemas.microsoft.com/office/powerpoint/2010/main" val="2420075541"/>
              </p:ext>
            </p:extLst>
          </p:nvPr>
        </p:nvGraphicFramePr>
        <p:xfrm>
          <a:off x="110465" y="1392671"/>
          <a:ext cx="11748051" cy="4025434"/>
        </p:xfrm>
        <a:graphic>
          <a:graphicData uri="http://schemas.openxmlformats.org/drawingml/2006/table">
            <a:tbl>
              <a:tblPr firstRow="1" bandRow="1">
                <a:tableStyleId>{5C22544A-7EE6-4342-B048-85BDC9FD1C3A}</a:tableStyleId>
              </a:tblPr>
              <a:tblGrid>
                <a:gridCol w="1238676">
                  <a:extLst>
                    <a:ext uri="{9D8B030D-6E8A-4147-A177-3AD203B41FA5}">
                      <a16:colId xmlns:a16="http://schemas.microsoft.com/office/drawing/2014/main" val="20000"/>
                    </a:ext>
                  </a:extLst>
                </a:gridCol>
                <a:gridCol w="1332186">
                  <a:extLst>
                    <a:ext uri="{9D8B030D-6E8A-4147-A177-3AD203B41FA5}">
                      <a16:colId xmlns:a16="http://schemas.microsoft.com/office/drawing/2014/main" val="20002"/>
                    </a:ext>
                  </a:extLst>
                </a:gridCol>
                <a:gridCol w="2672655">
                  <a:extLst>
                    <a:ext uri="{9D8B030D-6E8A-4147-A177-3AD203B41FA5}">
                      <a16:colId xmlns:a16="http://schemas.microsoft.com/office/drawing/2014/main" val="20003"/>
                    </a:ext>
                  </a:extLst>
                </a:gridCol>
                <a:gridCol w="6504534">
                  <a:extLst>
                    <a:ext uri="{9D8B030D-6E8A-4147-A177-3AD203B41FA5}">
                      <a16:colId xmlns:a16="http://schemas.microsoft.com/office/drawing/2014/main" val="20004"/>
                    </a:ext>
                  </a:extLst>
                </a:gridCol>
              </a:tblGrid>
              <a:tr h="414020">
                <a:tc>
                  <a:txBody>
                    <a:bodyPr/>
                    <a:lstStyle/>
                    <a:p>
                      <a:pPr algn="ctr"/>
                      <a:r>
                        <a:rPr kumimoji="1" lang="zh-CN" altLang="en-US" sz="140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代表性研究</a:t>
                      </a:r>
                    </a:p>
                  </a:txBody>
                  <a:tcPr anchor="ctr"/>
                </a:tc>
                <a:tc>
                  <a:txBody>
                    <a:bodyPr/>
                    <a:lstStyle/>
                    <a:p>
                      <a:pPr marL="0" algn="ctr" defTabSz="914400" rtl="0" eaLnBrk="1" latinLnBrk="0" hangingPunct="1"/>
                      <a:r>
                        <a:rPr kumimoji="1" lang="zh-CN" altLang="en-US" sz="1400" b="1"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协同方法</a:t>
                      </a:r>
                    </a:p>
                  </a:txBody>
                  <a:tcPr anchor="ctr"/>
                </a:tc>
                <a:tc>
                  <a:txBody>
                    <a:bodyPr/>
                    <a:lstStyle/>
                    <a:p>
                      <a:pPr marL="0" algn="ctr" defTabSz="914400" rtl="0" eaLnBrk="1" latinLnBrk="0" hangingPunct="1"/>
                      <a:r>
                        <a:rPr kumimoji="1" lang="zh-CN" altLang="en-US" sz="1400" b="1"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优化目标</a:t>
                      </a:r>
                    </a:p>
                  </a:txBody>
                  <a:tcPr anchor="ctr"/>
                </a:tc>
                <a:tc>
                  <a:txBody>
                    <a:bodyPr/>
                    <a:lstStyle/>
                    <a:p>
                      <a:pPr marL="0" algn="ctr" defTabSz="914400" rtl="0" eaLnBrk="1" latinLnBrk="0" hangingPunct="1"/>
                      <a:r>
                        <a:rPr kumimoji="1" lang="zh-CN" altLang="en-US" sz="1400" b="1"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协同策略</a:t>
                      </a:r>
                    </a:p>
                  </a:txBody>
                  <a:tcPr anchor="ctr"/>
                </a:tc>
                <a:extLst>
                  <a:ext uri="{0D108BD9-81ED-4DB2-BD59-A6C34878D82A}">
                    <a16:rowId xmlns:a16="http://schemas.microsoft.com/office/drawing/2014/main" val="10000"/>
                  </a:ext>
                </a:extLst>
              </a:tr>
              <a:tr h="574675">
                <a:tc>
                  <a:txBody>
                    <a:bodyPr/>
                    <a:lstStyle/>
                    <a:p>
                      <a:pPr marL="0" algn="ctr" defTabSz="914400" rtl="0" eaLnBrk="1" latinLnBrk="0" hangingPunct="1"/>
                      <a:r>
                        <a:rPr lang="en-US" altLang="zh-CN" sz="1400" kern="12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Boufellouh</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&amp; </a:t>
                      </a:r>
                      <a:r>
                        <a:rPr lang="en-US" altLang="zh-CN" sz="1400" kern="12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Belkaid</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(2020) </a:t>
                      </a:r>
                    </a:p>
                  </a:txBody>
                  <a:tcPr anchor="ctr"/>
                </a:tc>
                <a:tc>
                  <a:txBody>
                    <a:bodyPr/>
                    <a:lstStyle/>
                    <a:p>
                      <a:pPr marL="0" algn="ctr" defTabSz="914400" rtl="0" eaLnBrk="1" latinLnBrk="0" hangingPunct="1"/>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NSGA-II+BOPSO</a:t>
                      </a: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算法</a:t>
                      </a:r>
                    </a:p>
                  </a:txBody>
                  <a:tcPr anchor="ctr"/>
                </a:tc>
                <a:tc>
                  <a:txBody>
                    <a:bodyPr/>
                    <a:lstStyle/>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最小化制造周期，</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最小化总成本</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以最小化制造周期和总生产成本为目标，利用</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NSGA-II+BOPSO</a:t>
                      </a: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算法实现双目标优化</a:t>
                      </a:r>
                    </a:p>
                  </a:txBody>
                  <a:tcPr anchor="ctr"/>
                </a:tc>
                <a:extLst>
                  <a:ext uri="{0D108BD9-81ED-4DB2-BD59-A6C34878D82A}">
                    <a16:rowId xmlns:a16="http://schemas.microsoft.com/office/drawing/2014/main" val="10002"/>
                  </a:ext>
                </a:extLst>
              </a:tr>
              <a:tr h="575310">
                <a:tc>
                  <a:txBody>
                    <a:bodyPr/>
                    <a:lstStyle/>
                    <a:p>
                      <a:pPr marL="0" algn="ctr" defTabSz="914400" rtl="0" eaLnBrk="1" latinLnBrk="0" hangingPunct="1"/>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Zhang et al.(2024)</a:t>
                      </a:r>
                    </a:p>
                  </a:txBody>
                  <a:tcPr anchor="ctr"/>
                </a:tc>
                <a:tc>
                  <a:txBody>
                    <a:bodyPr/>
                    <a:lstStyle/>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值迭代算法</a:t>
                      </a:r>
                    </a:p>
                  </a:txBody>
                  <a:tcPr anchor="ctr"/>
                </a:tc>
                <a:tc>
                  <a:txBody>
                    <a:bodyPr/>
                    <a:lstStyle/>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最小化总折扣成本</a:t>
                      </a:r>
                    </a:p>
                  </a:txBody>
                  <a:tcPr anchor="ctr"/>
                </a:tc>
                <a:tc>
                  <a:txBody>
                    <a:bodyPr/>
                    <a:lstStyle/>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以离散时间马尔可夫链描述单台设备的退化过程</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基于状态的维护与基于状态的生产决策协同，构建马尔可夫决策过程框架</a:t>
                      </a:r>
                    </a:p>
                  </a:txBody>
                  <a:tcPr anchor="ctr"/>
                </a:tc>
                <a:extLst>
                  <a:ext uri="{0D108BD9-81ED-4DB2-BD59-A6C34878D82A}">
                    <a16:rowId xmlns:a16="http://schemas.microsoft.com/office/drawing/2014/main" val="10003"/>
                  </a:ext>
                </a:extLst>
              </a:tr>
              <a:tr h="422275">
                <a:tc>
                  <a:txBody>
                    <a:bodyPr/>
                    <a:lstStyle/>
                    <a:p>
                      <a:pPr marL="0" algn="ctr" defTabSz="914400" rtl="0" eaLnBrk="1" latinLnBrk="0" hangingPunct="1"/>
                      <a:r>
                        <a:rPr lang="en-US" altLang="zh-CN" sz="1400" kern="12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Bencheikh</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et al. (2023)</a:t>
                      </a:r>
                    </a:p>
                  </a:txBody>
                  <a:tcPr anchor="ctr"/>
                </a:tc>
                <a:tc>
                  <a:txBody>
                    <a:bodyPr/>
                    <a:lstStyle/>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多智能体系统 </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SCEMP</a:t>
                      </a:r>
                      <a:endPar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最小化维护成本</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最小化生产系统整体效率</a:t>
                      </a:r>
                    </a:p>
                  </a:txBody>
                  <a:tcPr anchor="ctr"/>
                </a:tc>
                <a:tc>
                  <a:txBody>
                    <a:bodyPr/>
                    <a:lstStyle/>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生产智能体安排生产任务，根据故障阈值通过黑板环境调用维护智能体</a:t>
                      </a:r>
                    </a:p>
                  </a:txBody>
                  <a:tcPr anchor="ctr"/>
                </a:tc>
                <a:extLst>
                  <a:ext uri="{0D108BD9-81ED-4DB2-BD59-A6C34878D82A}">
                    <a16:rowId xmlns:a16="http://schemas.microsoft.com/office/drawing/2014/main" val="10005"/>
                  </a:ext>
                </a:extLst>
              </a:tr>
              <a:tr h="527452">
                <a:tc>
                  <a:txBody>
                    <a:bodyPr/>
                    <a:lstStyle/>
                    <a:p>
                      <a:pPr marL="0" algn="ctr" defTabSz="914400" rtl="0" eaLnBrk="1" latinLnBrk="0" hangingPunct="1"/>
                      <a:r>
                        <a:rPr lang="en-US" altLang="zh-CN" sz="1400" kern="12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Ghaleb</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et al. (2021)</a:t>
                      </a:r>
                    </a:p>
                  </a:txBody>
                  <a:tcPr anchor="ctr"/>
                </a:tc>
                <a:tc>
                  <a:txBody>
                    <a:bodyPr/>
                    <a:lstStyle/>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改进混合遗传算法</a:t>
                      </a:r>
                    </a:p>
                  </a:txBody>
                  <a:tcPr anchor="ctr"/>
                </a:tc>
                <a:tc>
                  <a:txBody>
                    <a:bodyPr/>
                    <a:lstStyle/>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最小化预期总系统成本</a:t>
                      </a:r>
                    </a:p>
                  </a:txBody>
                  <a:tcPr anchor="ctr"/>
                </a:tc>
                <a:tc>
                  <a:txBody>
                    <a:bodyPr/>
                    <a:lstStyle/>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将机器可靠性建模为多状态系统，利用连续时间马尔可夫链描述机器退化过程，退化程度超过阈值决定是否进行 </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CBM</a:t>
                      </a:r>
                    </a:p>
                  </a:txBody>
                  <a:tcPr anchor="ctr"/>
                </a:tc>
                <a:extLst>
                  <a:ext uri="{0D108BD9-81ED-4DB2-BD59-A6C34878D82A}">
                    <a16:rowId xmlns:a16="http://schemas.microsoft.com/office/drawing/2014/main" val="1092691178"/>
                  </a:ext>
                </a:extLst>
              </a:tr>
              <a:tr h="5274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Yang et al. (2022)</a:t>
                      </a:r>
                    </a:p>
                    <a:p>
                      <a:pPr marL="0" algn="ctr" defTabSz="914400" rtl="0" eaLnBrk="1" latinLnBrk="0" hangingPunct="1"/>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强化学习方法</a:t>
                      </a:r>
                    </a:p>
                  </a:txBody>
                  <a:tcPr anchor="ctr"/>
                </a:tc>
                <a:tc>
                  <a:txBody>
                    <a:bodyPr/>
                    <a:lstStyle/>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最小化预防性维护成本、故障修复成本、生产延迟成本</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最大化生产系统的可用性</a:t>
                      </a:r>
                    </a:p>
                  </a:txBody>
                  <a:tcPr anchor="ctr"/>
                </a:tc>
                <a:tc>
                  <a:txBody>
                    <a:bodyPr/>
                    <a:lstStyle/>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将生产系统视为马尔可夫决策过程，利用单一智能体实现对多状态生产系统的预防性维护和生产调度的联合优化</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extLst>
                  <a:ext uri="{0D108BD9-81ED-4DB2-BD59-A6C34878D82A}">
                    <a16:rowId xmlns:a16="http://schemas.microsoft.com/office/drawing/2014/main" val="2298632574"/>
                  </a:ext>
                </a:extLst>
              </a:tr>
              <a:tr h="527452">
                <a:tc>
                  <a:txBody>
                    <a:bodyPr/>
                    <a:lstStyle/>
                    <a:p>
                      <a:pPr marL="0" algn="ctr" defTabSz="914400" rtl="0" eaLnBrk="1" latinLnBrk="0" hangingPunct="1"/>
                      <a:r>
                        <a:rPr lang="en-US" altLang="zh-CN" sz="1400" b="0" i="0" u="none" strike="noStrike" kern="1200" baseline="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Chen et al.(2024)</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深度强化学习</a:t>
                      </a:r>
                      <a:r>
                        <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PPO</a:t>
                      </a:r>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算法</a:t>
                      </a:r>
                    </a:p>
                  </a:txBody>
                  <a:tcPr anchor="ctr"/>
                </a:tc>
                <a:tc>
                  <a:txBody>
                    <a:bodyPr/>
                    <a:lstStyle/>
                    <a:p>
                      <a:pPr marL="0" algn="ctr" defTabSz="914400" rtl="0" eaLnBrk="1" latinLnBrk="0" hangingPunct="1"/>
                      <a:r>
                        <a:rPr lang="zh-CN" altLang="en-US" sz="1400" b="0" i="0" kern="120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rPr>
                        <a:t>最小化作业延迟成本与维护成本总和</a:t>
                      </a:r>
                      <a:endParaRPr lang="en-US" altLang="zh-CN" sz="1400" b="0" i="0" kern="120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algn="ctr" defTabSz="914400" rtl="0" eaLnBrk="1" latinLnBrk="0" hangingPunct="1"/>
                      <a:r>
                        <a:rPr lang="zh-CN" altLang="en-US"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将设备退化状态作为马尔可夫决策框架的观测状态，单智能体决策空间包含维护和调度动作，实现协同决策</a:t>
                      </a:r>
                      <a:endParaRPr lang="en-US" altLang="zh-CN" sz="140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extLst>
                  <a:ext uri="{0D108BD9-81ED-4DB2-BD59-A6C34878D82A}">
                    <a16:rowId xmlns:a16="http://schemas.microsoft.com/office/drawing/2014/main" val="2432558957"/>
                  </a:ext>
                </a:extLst>
              </a:tr>
            </a:tbl>
          </a:graphicData>
        </a:graphic>
      </p:graphicFrame>
      <p:sp>
        <p:nvSpPr>
          <p:cNvPr id="6" name="矩形: 圆角 5">
            <a:extLst>
              <a:ext uri="{FF2B5EF4-FFF2-40B4-BE49-F238E27FC236}">
                <a16:creationId xmlns:a16="http://schemas.microsoft.com/office/drawing/2014/main" id="{97AC64CE-9B64-45E8-B756-F8B13276C3B5}"/>
              </a:ext>
            </a:extLst>
          </p:cNvPr>
          <p:cNvSpPr/>
          <p:nvPr/>
        </p:nvSpPr>
        <p:spPr>
          <a:xfrm>
            <a:off x="1879" y="883061"/>
            <a:ext cx="3459340" cy="393416"/>
          </a:xfrm>
          <a:prstGeom prst="roundRect">
            <a:avLst>
              <a:gd name="adj" fmla="val 9331"/>
            </a:avLst>
          </a:prstGeom>
          <a:solidFill>
            <a:srgbClr val="3B5E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文献综述</a:t>
            </a:r>
            <a:r>
              <a:rPr kumimoji="0" lang="en-US" altLang="zh-CN"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r>
              <a:rPr lang="zh-CN" altLang="en-US" sz="2000" b="1" dirty="0">
                <a:solidFill>
                  <a:prstClr val="white"/>
                </a:solidFill>
                <a:latin typeface="等线" panose="02010600030101010101" charset="-122"/>
                <a:ea typeface="等线" panose="02010600030101010101" charset="-122"/>
              </a:rPr>
              <a:t>维护与调度协同</a:t>
            </a:r>
            <a:endParaRPr kumimoji="0" lang="zh-CN" altLang="en-US"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21298402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p:cNvPicPr>
            <a:picLocks noChangeAspect="1"/>
          </p:cNvPicPr>
          <p:nvPr/>
        </p:nvPicPr>
        <p:blipFill>
          <a:blip r:embed="rId4"/>
          <a:stretch>
            <a:fillRect/>
          </a:stretch>
        </p:blipFill>
        <p:spPr>
          <a:xfrm>
            <a:off x="11300792" y="166376"/>
            <a:ext cx="674131" cy="674131"/>
          </a:xfrm>
          <a:prstGeom prst="rect">
            <a:avLst/>
          </a:prstGeom>
        </p:spPr>
      </p:pic>
      <p:cxnSp>
        <p:nvCxnSpPr>
          <p:cNvPr id="7" name="直接连接符 3">
            <a:extLst>
              <a:ext uri="{FF2B5EF4-FFF2-40B4-BE49-F238E27FC236}">
                <a16:creationId xmlns:a16="http://schemas.microsoft.com/office/drawing/2014/main" id="{BBBC9128-9103-485C-9395-11FF750F1C5D}"/>
              </a:ext>
            </a:extLst>
          </p:cNvPr>
          <p:cNvCxnSpPr>
            <a:cxnSpLocks/>
          </p:cNvCxnSpPr>
          <p:nvPr/>
        </p:nvCxnSpPr>
        <p:spPr>
          <a:xfrm>
            <a:off x="0" y="835438"/>
            <a:ext cx="11105147" cy="0"/>
          </a:xfrm>
          <a:prstGeom prst="line">
            <a:avLst/>
          </a:prstGeom>
          <a:ln w="76200">
            <a:solidFill>
              <a:srgbClr val="0054A6"/>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A78EEBB9-FFFA-4080-83A2-78122037D209}"/>
              </a:ext>
            </a:extLst>
          </p:cNvPr>
          <p:cNvSpPr/>
          <p:nvPr/>
        </p:nvSpPr>
        <p:spPr>
          <a:xfrm>
            <a:off x="0" y="181976"/>
            <a:ext cx="3068053" cy="558709"/>
          </a:xfrm>
          <a:prstGeom prst="rect">
            <a:avLst/>
          </a:prstGeom>
          <a:solidFill>
            <a:srgbClr val="2F5597"/>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黑体" panose="02010609060101010101" pitchFamily="49" charset="-122"/>
                <a:ea typeface="黑体" panose="02010609060101010101" pitchFamily="49" charset="-122"/>
              </a:rPr>
              <a:t>文献综述</a:t>
            </a:r>
          </a:p>
        </p:txBody>
      </p:sp>
      <p:graphicFrame>
        <p:nvGraphicFramePr>
          <p:cNvPr id="5" name="表格 4">
            <a:extLst>
              <a:ext uri="{FF2B5EF4-FFF2-40B4-BE49-F238E27FC236}">
                <a16:creationId xmlns:a16="http://schemas.microsoft.com/office/drawing/2014/main" id="{73E53E17-1015-4C37-A28D-08E9FE48E8A7}"/>
              </a:ext>
            </a:extLst>
          </p:cNvPr>
          <p:cNvGraphicFramePr>
            <a:graphicFrameLocks noGrp="1"/>
          </p:cNvGraphicFramePr>
          <p:nvPr>
            <p:custDataLst>
              <p:tags r:id="rId1"/>
            </p:custDataLst>
            <p:extLst>
              <p:ext uri="{D42A27DB-BD31-4B8C-83A1-F6EECF244321}">
                <p14:modId xmlns:p14="http://schemas.microsoft.com/office/powerpoint/2010/main" val="446682976"/>
              </p:ext>
            </p:extLst>
          </p:nvPr>
        </p:nvGraphicFramePr>
        <p:xfrm>
          <a:off x="127591" y="1392671"/>
          <a:ext cx="11730925" cy="4025434"/>
        </p:xfrm>
        <a:graphic>
          <a:graphicData uri="http://schemas.openxmlformats.org/drawingml/2006/table">
            <a:tbl>
              <a:tblPr firstRow="1" bandRow="1">
                <a:tableStyleId>{5C22544A-7EE6-4342-B048-85BDC9FD1C3A}</a:tableStyleId>
              </a:tblPr>
              <a:tblGrid>
                <a:gridCol w="1221550">
                  <a:extLst>
                    <a:ext uri="{9D8B030D-6E8A-4147-A177-3AD203B41FA5}">
                      <a16:colId xmlns:a16="http://schemas.microsoft.com/office/drawing/2014/main" val="20000"/>
                    </a:ext>
                  </a:extLst>
                </a:gridCol>
                <a:gridCol w="1332186">
                  <a:extLst>
                    <a:ext uri="{9D8B030D-6E8A-4147-A177-3AD203B41FA5}">
                      <a16:colId xmlns:a16="http://schemas.microsoft.com/office/drawing/2014/main" val="20002"/>
                    </a:ext>
                  </a:extLst>
                </a:gridCol>
                <a:gridCol w="2672655">
                  <a:extLst>
                    <a:ext uri="{9D8B030D-6E8A-4147-A177-3AD203B41FA5}">
                      <a16:colId xmlns:a16="http://schemas.microsoft.com/office/drawing/2014/main" val="20003"/>
                    </a:ext>
                  </a:extLst>
                </a:gridCol>
                <a:gridCol w="6504534">
                  <a:extLst>
                    <a:ext uri="{9D8B030D-6E8A-4147-A177-3AD203B41FA5}">
                      <a16:colId xmlns:a16="http://schemas.microsoft.com/office/drawing/2014/main" val="20004"/>
                    </a:ext>
                  </a:extLst>
                </a:gridCol>
              </a:tblGrid>
              <a:tr h="414020">
                <a:tc>
                  <a:txBody>
                    <a:bodyPr/>
                    <a:lstStyle/>
                    <a:p>
                      <a:pPr algn="ctr"/>
                      <a:r>
                        <a:rPr kumimoji="1" lang="zh-CN" altLang="en-US" sz="1400" kern="12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代表性研究</a:t>
                      </a:r>
                    </a:p>
                  </a:txBody>
                  <a:tcPr anchor="ctr">
                    <a:solidFill>
                      <a:schemeClr val="accent1">
                        <a:alpha val="70000"/>
                      </a:schemeClr>
                    </a:solidFill>
                  </a:tcPr>
                </a:tc>
                <a:tc>
                  <a:txBody>
                    <a:bodyPr/>
                    <a:lstStyle/>
                    <a:p>
                      <a:pPr marL="0" algn="ctr" defTabSz="914400" rtl="0" eaLnBrk="1" latinLnBrk="0" hangingPunct="1"/>
                      <a:r>
                        <a:rPr kumimoji="1" lang="zh-CN" altLang="en-US" sz="1400" b="1" kern="12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协同方法</a:t>
                      </a:r>
                    </a:p>
                  </a:txBody>
                  <a:tcPr anchor="ctr">
                    <a:solidFill>
                      <a:schemeClr val="accent1">
                        <a:alpha val="70000"/>
                      </a:schemeClr>
                    </a:solidFill>
                  </a:tcPr>
                </a:tc>
                <a:tc>
                  <a:txBody>
                    <a:bodyPr/>
                    <a:lstStyle/>
                    <a:p>
                      <a:pPr marL="0" algn="ctr" defTabSz="914400" rtl="0" eaLnBrk="1" latinLnBrk="0" hangingPunct="1"/>
                      <a:r>
                        <a:rPr kumimoji="1" lang="zh-CN" altLang="en-US" sz="1400" b="1" kern="12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优化目标</a:t>
                      </a:r>
                    </a:p>
                  </a:txBody>
                  <a:tcPr anchor="ctr">
                    <a:solidFill>
                      <a:schemeClr val="accent1">
                        <a:alpha val="70000"/>
                      </a:schemeClr>
                    </a:solidFill>
                  </a:tcPr>
                </a:tc>
                <a:tc>
                  <a:txBody>
                    <a:bodyPr/>
                    <a:lstStyle/>
                    <a:p>
                      <a:pPr marL="0" algn="ctr" defTabSz="914400" rtl="0" eaLnBrk="1" latinLnBrk="0" hangingPunct="1"/>
                      <a:r>
                        <a:rPr kumimoji="1" lang="zh-CN" altLang="en-US" sz="1400" b="1" kern="12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协同策略</a:t>
                      </a:r>
                    </a:p>
                  </a:txBody>
                  <a:tcPr anchor="ctr">
                    <a:solidFill>
                      <a:schemeClr val="accent1">
                        <a:alpha val="70000"/>
                      </a:schemeClr>
                    </a:solidFill>
                  </a:tcPr>
                </a:tc>
                <a:extLst>
                  <a:ext uri="{0D108BD9-81ED-4DB2-BD59-A6C34878D82A}">
                    <a16:rowId xmlns:a16="http://schemas.microsoft.com/office/drawing/2014/main" val="10000"/>
                  </a:ext>
                </a:extLst>
              </a:tr>
              <a:tr h="574675">
                <a:tc>
                  <a:txBody>
                    <a:bodyPr/>
                    <a:lstStyle/>
                    <a:p>
                      <a:pPr marL="0" algn="ctr" defTabSz="914400" rtl="0" eaLnBrk="1" latinLnBrk="0" hangingPunct="1">
                        <a:buClrTx/>
                        <a:buSzTx/>
                        <a:buFontTx/>
                      </a:pPr>
                      <a:r>
                        <a:rPr lang="en-US" altLang="zh-CN" sz="1400" b="0" kern="1200" dirty="0" err="1">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Boufellouh</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 &amp; </a:t>
                      </a:r>
                      <a:r>
                        <a:rPr lang="en-US" altLang="zh-CN" sz="1400" b="0" kern="1200" dirty="0" err="1">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Belkaid</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 (2020) </a:t>
                      </a:r>
                    </a:p>
                  </a:txBody>
                  <a:tcPr anchor="ctr"/>
                </a:tc>
                <a:tc>
                  <a:txBody>
                    <a:bodyPr/>
                    <a:lstStyle/>
                    <a:p>
                      <a:pPr marL="0" algn="ctr" defTabSz="914400" rtl="0" eaLnBrk="1" latinLnBrk="0" hangingPunct="1">
                        <a:buClrTx/>
                        <a:buSzTx/>
                        <a:buFontTx/>
                      </a:pP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NSGA-II+BOPSO</a:t>
                      </a: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算法</a:t>
                      </a:r>
                    </a:p>
                  </a:txBody>
                  <a:tcPr anchor="ct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最小化制造周期，</a:t>
                      </a:r>
                      <a:endPar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最小化总成本</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以最小化制造周期和总生产成本为目标，利用</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NSGA-II+BOPSO</a:t>
                      </a: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算法实现双目标优化</a:t>
                      </a:r>
                    </a:p>
                  </a:txBody>
                  <a:tcPr anchor="ctr"/>
                </a:tc>
                <a:extLst>
                  <a:ext uri="{0D108BD9-81ED-4DB2-BD59-A6C34878D82A}">
                    <a16:rowId xmlns:a16="http://schemas.microsoft.com/office/drawing/2014/main" val="10002"/>
                  </a:ext>
                </a:extLst>
              </a:tr>
              <a:tr h="575310">
                <a:tc>
                  <a:txBody>
                    <a:bodyPr/>
                    <a:lstStyle/>
                    <a:p>
                      <a:pPr marL="0" algn="ctr" defTabSz="914400" rtl="0" eaLnBrk="1" latinLnBrk="0" hangingPunct="1">
                        <a:buClrTx/>
                        <a:buSzTx/>
                        <a:buFontTx/>
                      </a:pP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Zhang et al.(2024)</a:t>
                      </a:r>
                    </a:p>
                  </a:txBody>
                  <a:tcPr anchor="ct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值迭代算法</a:t>
                      </a:r>
                    </a:p>
                  </a:txBody>
                  <a:tcPr anchor="ct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最小化总折扣成本</a:t>
                      </a:r>
                    </a:p>
                  </a:txBody>
                  <a:tcPr anchor="ct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以离散时间马尔可夫链描述单台设备的退化过程</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基于状态的维护与基于状态的生产决策协同，构建马尔可夫决策过程框架</a:t>
                      </a:r>
                    </a:p>
                  </a:txBody>
                  <a:tcPr anchor="ctr"/>
                </a:tc>
                <a:extLst>
                  <a:ext uri="{0D108BD9-81ED-4DB2-BD59-A6C34878D82A}">
                    <a16:rowId xmlns:a16="http://schemas.microsoft.com/office/drawing/2014/main" val="10003"/>
                  </a:ext>
                </a:extLst>
              </a:tr>
              <a:tr h="422275">
                <a:tc>
                  <a:txBody>
                    <a:bodyPr/>
                    <a:lstStyle/>
                    <a:p>
                      <a:pPr marL="0" algn="ctr" defTabSz="914400" rtl="0" eaLnBrk="1" latinLnBrk="0" hangingPunct="1">
                        <a:buClrTx/>
                        <a:buSzTx/>
                        <a:buFontTx/>
                      </a:pPr>
                      <a:r>
                        <a:rPr lang="en-US" altLang="zh-CN" sz="1400" b="0" kern="1200" dirty="0" err="1">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Bencheikh</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 et al. (2023)</a:t>
                      </a:r>
                    </a:p>
                  </a:txBody>
                  <a:tcPr anchor="ct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多智能体系统 </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SCEMP</a:t>
                      </a:r>
                      <a:endPar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最小化维护成本</a:t>
                      </a:r>
                      <a:endPar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最小化生产系统整体效率</a:t>
                      </a:r>
                    </a:p>
                  </a:txBody>
                  <a:tcPr anchor="ct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生产智能体安排生产任务，根据故障阈值通过黑板环境调用维护智能体</a:t>
                      </a:r>
                    </a:p>
                  </a:txBody>
                  <a:tcPr anchor="ctr"/>
                </a:tc>
                <a:extLst>
                  <a:ext uri="{0D108BD9-81ED-4DB2-BD59-A6C34878D82A}">
                    <a16:rowId xmlns:a16="http://schemas.microsoft.com/office/drawing/2014/main" val="10005"/>
                  </a:ext>
                </a:extLst>
              </a:tr>
              <a:tr h="527452">
                <a:tc>
                  <a:txBody>
                    <a:bodyPr/>
                    <a:lstStyle/>
                    <a:p>
                      <a:pPr marL="0" algn="ctr" defTabSz="914400" rtl="0" eaLnBrk="1" latinLnBrk="0" hangingPunct="1">
                        <a:buClrTx/>
                        <a:buSzTx/>
                        <a:buFontTx/>
                      </a:pPr>
                      <a:r>
                        <a:rPr lang="en-US" altLang="zh-CN" sz="1400" b="0" kern="1200" dirty="0" err="1">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Ghaleb</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 et al. (2021)</a:t>
                      </a:r>
                    </a:p>
                  </a:txBody>
                  <a:tcPr anchor="ct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改进混合遗传算法</a:t>
                      </a:r>
                    </a:p>
                  </a:txBody>
                  <a:tcPr anchor="ct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最小化预期总系统成本</a:t>
                      </a:r>
                    </a:p>
                  </a:txBody>
                  <a:tcPr anchor="ct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将机器可靠性建模为多状态系统，利用连续时间马尔可夫链描述机器退化过程，退化程度超过阈值决定是否进行 </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CBM</a:t>
                      </a:r>
                    </a:p>
                  </a:txBody>
                  <a:tcPr anchor="ctr"/>
                </a:tc>
                <a:extLst>
                  <a:ext uri="{0D108BD9-81ED-4DB2-BD59-A6C34878D82A}">
                    <a16:rowId xmlns:a16="http://schemas.microsoft.com/office/drawing/2014/main" val="1092691178"/>
                  </a:ext>
                </a:extLst>
              </a:tr>
              <a:tr h="5274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Yang et al. (2022)</a:t>
                      </a:r>
                    </a:p>
                    <a:p>
                      <a:pPr marL="0" algn="ctr" defTabSz="914400" rtl="0" eaLnBrk="1" latinLnBrk="0" hangingPunct="1">
                        <a:buClrTx/>
                        <a:buSzTx/>
                        <a:buFontTx/>
                      </a:pPr>
                      <a:endPar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强化学习方法</a:t>
                      </a:r>
                    </a:p>
                  </a:txBody>
                  <a:tcPr anchor="ct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最小化预防性维护成本、故障修复成本、生产延迟成本</a:t>
                      </a:r>
                      <a:endPar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最大化生产系统的可用性</a:t>
                      </a:r>
                    </a:p>
                  </a:txBody>
                  <a:tcPr anchor="ct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将生产系统视为马尔可夫决策过程，利用单一智能体实现对多状态生产系统的预防性维护和生产调度的联合优化</a:t>
                      </a:r>
                      <a:endPar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2298632574"/>
                  </a:ext>
                </a:extLst>
              </a:tr>
              <a:tr h="527452">
                <a:tc>
                  <a:txBody>
                    <a:bodyPr/>
                    <a:lstStyle/>
                    <a:p>
                      <a:pPr marL="0" algn="ctr" defTabSz="914400" rtl="0" eaLnBrk="1" latinLnBrk="0" hangingPunct="1">
                        <a:buClrTx/>
                        <a:buSzTx/>
                        <a:buFontTx/>
                      </a:pP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Chen et al.(2024)</a:t>
                      </a:r>
                    </a:p>
                  </a:txBody>
                  <a:tcPr anchor="ct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深度强化学习</a:t>
                      </a:r>
                      <a:r>
                        <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PPO</a:t>
                      </a: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算法</a:t>
                      </a:r>
                    </a:p>
                  </a:txBody>
                  <a:tcPr anchor="ct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最小化作业延迟成本与维护成本总和</a:t>
                      </a:r>
                      <a:endPar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tc>
                  <a:txBody>
                    <a:bodyPr/>
                    <a:lstStyle/>
                    <a:p>
                      <a:pPr marL="0" algn="ctr" defTabSz="914400" rtl="0" eaLnBrk="1" latinLnBrk="0" hangingPunct="1">
                        <a:buClrTx/>
                        <a:buSzTx/>
                        <a:buFontTx/>
                      </a:pPr>
                      <a:r>
                        <a:rPr lang="zh-CN" altLang="en-US"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将设备退化状态作为马尔可夫决策框架的观测状态，单智能体决策空间包含维护和调度动作，实现协同决策</a:t>
                      </a:r>
                      <a:endParaRPr lang="en-US" altLang="zh-CN" sz="1400" b="0" kern="12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2432558957"/>
                  </a:ext>
                </a:extLst>
              </a:tr>
            </a:tbl>
          </a:graphicData>
        </a:graphic>
      </p:graphicFrame>
      <p:sp>
        <p:nvSpPr>
          <p:cNvPr id="6" name="矩形: 圆角 5">
            <a:extLst>
              <a:ext uri="{FF2B5EF4-FFF2-40B4-BE49-F238E27FC236}">
                <a16:creationId xmlns:a16="http://schemas.microsoft.com/office/drawing/2014/main" id="{97AC64CE-9B64-45E8-B756-F8B13276C3B5}"/>
              </a:ext>
            </a:extLst>
          </p:cNvPr>
          <p:cNvSpPr/>
          <p:nvPr/>
        </p:nvSpPr>
        <p:spPr>
          <a:xfrm>
            <a:off x="1879" y="883061"/>
            <a:ext cx="3459340" cy="393416"/>
          </a:xfrm>
          <a:prstGeom prst="roundRect">
            <a:avLst>
              <a:gd name="adj" fmla="val 9331"/>
            </a:avLst>
          </a:prstGeom>
          <a:solidFill>
            <a:srgbClr val="3B5E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文献综述</a:t>
            </a:r>
            <a:r>
              <a:rPr kumimoji="0" lang="en-US" altLang="zh-CN"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r>
              <a:rPr lang="zh-CN" altLang="en-US" sz="2000" b="1" dirty="0">
                <a:solidFill>
                  <a:prstClr val="white"/>
                </a:solidFill>
                <a:latin typeface="等线" panose="02010600030101010101" charset="-122"/>
                <a:ea typeface="等线" panose="02010600030101010101" charset="-122"/>
              </a:rPr>
              <a:t>维护与调度协同</a:t>
            </a:r>
            <a:endParaRPr kumimoji="0" lang="zh-CN" altLang="en-US"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 name="矩形 7">
            <a:extLst>
              <a:ext uri="{FF2B5EF4-FFF2-40B4-BE49-F238E27FC236}">
                <a16:creationId xmlns:a16="http://schemas.microsoft.com/office/drawing/2014/main" id="{E196A419-335A-42AB-B795-4C12CFA621F6}"/>
              </a:ext>
            </a:extLst>
          </p:cNvPr>
          <p:cNvSpPr/>
          <p:nvPr/>
        </p:nvSpPr>
        <p:spPr>
          <a:xfrm>
            <a:off x="1" y="4723686"/>
            <a:ext cx="11974922" cy="213431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14">
            <a:extLst>
              <a:ext uri="{FF2B5EF4-FFF2-40B4-BE49-F238E27FC236}">
                <a16:creationId xmlns:a16="http://schemas.microsoft.com/office/drawing/2014/main" id="{8BE92BAE-E2EE-4FA5-950A-EBE10ADCE7E5}"/>
              </a:ext>
            </a:extLst>
          </p:cNvPr>
          <p:cNvSpPr/>
          <p:nvPr/>
        </p:nvSpPr>
        <p:spPr>
          <a:xfrm>
            <a:off x="124829" y="4839880"/>
            <a:ext cx="11733687" cy="1908215"/>
          </a:xfrm>
          <a:prstGeom prst="rect">
            <a:avLst/>
          </a:prstGeom>
          <a:noFill/>
          <a:ln w="38100">
            <a:solidFill>
              <a:srgbClr val="C00000"/>
            </a:solidFill>
          </a:ln>
          <a:effectLst/>
        </p:spPr>
        <p:txBody>
          <a:bodyPr wrap="square" anchor="ctr">
            <a:spAutoFit/>
          </a:bodyPr>
          <a:lstStyle/>
          <a:p>
            <a:pPr marL="342900" indent="-342900" algn="just">
              <a:buFont typeface="Wingdings" panose="05000000000000000000" pitchFamily="2" charset="2"/>
              <a:buChar char="Ø"/>
            </a:pPr>
            <a:r>
              <a:rPr lang="zh-CN" altLang="en-US" sz="1900" b="1" dirty="0">
                <a:solidFill>
                  <a:srgbClr val="C00000"/>
                </a:solidFill>
                <a:latin typeface="微软雅黑" panose="020B0503020204020204" charset="-122"/>
                <a:ea typeface="微软雅黑" panose="020B0503020204020204" charset="-122"/>
              </a:rPr>
              <a:t>维护策略方式局限：</a:t>
            </a:r>
            <a:r>
              <a:rPr lang="zh-CN" altLang="en-US" sz="1900" b="1" dirty="0">
                <a:solidFill>
                  <a:srgbClr val="000F82"/>
                </a:solidFill>
                <a:latin typeface="微软雅黑" panose="020B0503020204020204" charset="-122"/>
                <a:ea typeface="微软雅黑" panose="020B0503020204020204" charset="-122"/>
              </a:rPr>
              <a:t>生产运维任务</a:t>
            </a:r>
            <a:r>
              <a:rPr lang="zh-CN" altLang="zh-CN" sz="1900" b="1" dirty="0">
                <a:solidFill>
                  <a:srgbClr val="000F82"/>
                </a:solidFill>
                <a:latin typeface="微软雅黑" panose="020B0503020204020204" charset="-122"/>
                <a:ea typeface="微软雅黑" panose="020B0503020204020204" charset="-122"/>
              </a:rPr>
              <a:t>中，传统的维护策略大多假定维护区间已知、维护计划固定，不考虑机器运行状态。</a:t>
            </a:r>
            <a:r>
              <a:rPr lang="zh-CN" altLang="en-US" sz="1900" b="1" dirty="0">
                <a:solidFill>
                  <a:srgbClr val="000F82"/>
                </a:solidFill>
                <a:latin typeface="微软雅黑" panose="020B0503020204020204" charset="-122"/>
                <a:ea typeface="微软雅黑" panose="020B0503020204020204" charset="-122"/>
              </a:rPr>
              <a:t>按维护是生产的前置约束条件来处理，即先制定维护计划，再以此为约束安排生产调度，通常会带来机时浪费、成本增加等问题</a:t>
            </a:r>
            <a:r>
              <a:rPr lang="zh-CN" altLang="en-US" sz="2000" dirty="0">
                <a:solidFill>
                  <a:srgbClr val="000F82"/>
                </a:solidFill>
                <a:latin typeface="宋体" panose="02010600030101010101" pitchFamily="2" charset="-122"/>
                <a:ea typeface="宋体" panose="02010600030101010101" pitchFamily="2" charset="-122"/>
              </a:rPr>
              <a:t>。</a:t>
            </a:r>
            <a:endParaRPr lang="en-US" altLang="zh-CN" sz="1900" b="1" dirty="0">
              <a:solidFill>
                <a:srgbClr val="000F82"/>
              </a:solidFill>
              <a:latin typeface="微软雅黑" panose="020B0503020204020204" charset="-122"/>
              <a:ea typeface="微软雅黑" panose="020B0503020204020204" charset="-122"/>
            </a:endParaRPr>
          </a:p>
          <a:p>
            <a:pPr marL="342900" indent="-342900" algn="just">
              <a:buFont typeface="Wingdings" panose="05000000000000000000" pitchFamily="2" charset="2"/>
              <a:buChar char="Ø"/>
            </a:pPr>
            <a:r>
              <a:rPr lang="zh-CN" altLang="en-US" sz="1900" b="1" dirty="0">
                <a:solidFill>
                  <a:srgbClr val="C00000"/>
                </a:solidFill>
                <a:latin typeface="微软雅黑" panose="020B0503020204020204" charset="-122"/>
                <a:ea typeface="微软雅黑" panose="020B0503020204020204" charset="-122"/>
              </a:rPr>
              <a:t>维护与调度协同策略局限</a:t>
            </a:r>
            <a:r>
              <a:rPr lang="zh-CN" altLang="en-US" sz="1900" b="1" dirty="0">
                <a:solidFill>
                  <a:srgbClr val="000F82"/>
                </a:solidFill>
                <a:latin typeface="微软雅黑" panose="020B0503020204020204" charset="-122"/>
                <a:ea typeface="微软雅黑" panose="020B0503020204020204" charset="-122"/>
              </a:rPr>
              <a:t>：其中启发式算法与强化学习成为解决这类多目标优化的主要方法；启发式和元启发式算法可解释性强、实现简单，但是求解复杂，难以处理复杂动态环境；单智能体</a:t>
            </a:r>
            <a:r>
              <a:rPr lang="en-US" altLang="zh-CN" sz="1900" b="1" dirty="0">
                <a:solidFill>
                  <a:srgbClr val="000F82"/>
                </a:solidFill>
                <a:latin typeface="微软雅黑" panose="020B0503020204020204" charset="-122"/>
                <a:ea typeface="微软雅黑" panose="020B0503020204020204" charset="-122"/>
              </a:rPr>
              <a:t>RL</a:t>
            </a:r>
            <a:r>
              <a:rPr lang="zh-CN" altLang="en-US" sz="1900" b="1" dirty="0">
                <a:solidFill>
                  <a:srgbClr val="000F82"/>
                </a:solidFill>
                <a:latin typeface="微软雅黑" panose="020B0503020204020204" charset="-122"/>
                <a:ea typeface="微软雅黑" panose="020B0503020204020204" charset="-122"/>
              </a:rPr>
              <a:t>面对此类协同问题，会出现观测状态庞大导致难以收敛的问题。</a:t>
            </a:r>
            <a:endParaRPr lang="en-US" altLang="zh-CN" sz="1900" b="1" dirty="0">
              <a:solidFill>
                <a:srgbClr val="000F82"/>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3087194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p:cNvPicPr>
            <a:picLocks noChangeAspect="1"/>
          </p:cNvPicPr>
          <p:nvPr/>
        </p:nvPicPr>
        <p:blipFill>
          <a:blip r:embed="rId3"/>
          <a:stretch>
            <a:fillRect/>
          </a:stretch>
        </p:blipFill>
        <p:spPr>
          <a:xfrm>
            <a:off x="11300792" y="166376"/>
            <a:ext cx="674131" cy="674131"/>
          </a:xfrm>
          <a:prstGeom prst="rect">
            <a:avLst/>
          </a:prstGeom>
        </p:spPr>
      </p:pic>
      <p:cxnSp>
        <p:nvCxnSpPr>
          <p:cNvPr id="7" name="直接连接符 3">
            <a:extLst>
              <a:ext uri="{FF2B5EF4-FFF2-40B4-BE49-F238E27FC236}">
                <a16:creationId xmlns:a16="http://schemas.microsoft.com/office/drawing/2014/main" id="{BBBC9128-9103-485C-9395-11FF750F1C5D}"/>
              </a:ext>
            </a:extLst>
          </p:cNvPr>
          <p:cNvCxnSpPr>
            <a:cxnSpLocks/>
          </p:cNvCxnSpPr>
          <p:nvPr/>
        </p:nvCxnSpPr>
        <p:spPr>
          <a:xfrm>
            <a:off x="0" y="815333"/>
            <a:ext cx="11105147" cy="0"/>
          </a:xfrm>
          <a:prstGeom prst="line">
            <a:avLst/>
          </a:prstGeom>
          <a:ln w="76200">
            <a:solidFill>
              <a:srgbClr val="0054A6"/>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A78EEBB9-FFFA-4080-83A2-78122037D209}"/>
              </a:ext>
            </a:extLst>
          </p:cNvPr>
          <p:cNvSpPr/>
          <p:nvPr/>
        </p:nvSpPr>
        <p:spPr>
          <a:xfrm>
            <a:off x="0" y="181976"/>
            <a:ext cx="3068053" cy="558709"/>
          </a:xfrm>
          <a:prstGeom prst="rect">
            <a:avLst/>
          </a:prstGeom>
          <a:solidFill>
            <a:srgbClr val="2F5597"/>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黑体" panose="02010609060101010101" pitchFamily="49" charset="-122"/>
                <a:ea typeface="黑体" panose="02010609060101010101" pitchFamily="49" charset="-122"/>
              </a:rPr>
              <a:t>文献综述</a:t>
            </a:r>
          </a:p>
        </p:txBody>
      </p:sp>
      <p:sp>
        <p:nvSpPr>
          <p:cNvPr id="6" name="矩形: 圆角 5">
            <a:extLst>
              <a:ext uri="{FF2B5EF4-FFF2-40B4-BE49-F238E27FC236}">
                <a16:creationId xmlns:a16="http://schemas.microsoft.com/office/drawing/2014/main" id="{97AC64CE-9B64-45E8-B756-F8B13276C3B5}"/>
              </a:ext>
            </a:extLst>
          </p:cNvPr>
          <p:cNvSpPr/>
          <p:nvPr/>
        </p:nvSpPr>
        <p:spPr>
          <a:xfrm>
            <a:off x="0" y="845441"/>
            <a:ext cx="2141783" cy="369668"/>
          </a:xfrm>
          <a:prstGeom prst="roundRect">
            <a:avLst>
              <a:gd name="adj" fmla="val 9331"/>
            </a:avLst>
          </a:prstGeom>
          <a:solidFill>
            <a:srgbClr val="3B5E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文献综述</a:t>
            </a:r>
            <a:r>
              <a:rPr kumimoji="0" lang="en-US" altLang="zh-CN"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r>
              <a:rPr kumimoji="0" lang="zh-CN" altLang="en-US" sz="2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小结</a:t>
            </a:r>
          </a:p>
        </p:txBody>
      </p:sp>
      <p:sp>
        <p:nvSpPr>
          <p:cNvPr id="13" name="矩形: 圆角 12">
            <a:extLst>
              <a:ext uri="{FF2B5EF4-FFF2-40B4-BE49-F238E27FC236}">
                <a16:creationId xmlns:a16="http://schemas.microsoft.com/office/drawing/2014/main" id="{257790E7-6D38-4AE8-B683-7D6CC8BC74B1}"/>
              </a:ext>
            </a:extLst>
          </p:cNvPr>
          <p:cNvSpPr/>
          <p:nvPr/>
        </p:nvSpPr>
        <p:spPr>
          <a:xfrm>
            <a:off x="671969" y="1535525"/>
            <a:ext cx="10688289" cy="4997009"/>
          </a:xfrm>
          <a:prstGeom prst="roundRect">
            <a:avLst/>
          </a:prstGeom>
          <a:noFill/>
          <a:ln w="60325" cmpd="thickThin">
            <a:gradFill flip="none" rotWithShape="1">
              <a:gsLst>
                <a:gs pos="0">
                  <a:schemeClr val="accent1">
                    <a:lumMod val="40000"/>
                    <a:lumOff val="60000"/>
                  </a:schemeClr>
                </a:gs>
                <a:gs pos="90000">
                  <a:schemeClr val="accent1">
                    <a:lumMod val="95000"/>
                    <a:lumOff val="5000"/>
                  </a:schemeClr>
                </a:gs>
                <a:gs pos="97000">
                  <a:schemeClr val="accent1">
                    <a:lumMod val="60000"/>
                  </a:schemeClr>
                </a:gs>
              </a:gsLst>
              <a:path path="circl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Oval 8">
            <a:extLst>
              <a:ext uri="{FF2B5EF4-FFF2-40B4-BE49-F238E27FC236}">
                <a16:creationId xmlns:a16="http://schemas.microsoft.com/office/drawing/2014/main" id="{01D5E9EB-B3DD-469D-B62F-1A3C5E66F6C8}"/>
              </a:ext>
            </a:extLst>
          </p:cNvPr>
          <p:cNvSpPr>
            <a:spLocks noChangeArrowheads="1"/>
          </p:cNvSpPr>
          <p:nvPr/>
        </p:nvSpPr>
        <p:spPr bwMode="auto">
          <a:xfrm flipH="1">
            <a:off x="0" y="1511099"/>
            <a:ext cx="1342252" cy="1342251"/>
          </a:xfrm>
          <a:prstGeom prst="ellipse">
            <a:avLst/>
          </a:prstGeom>
          <a:solidFill>
            <a:srgbClr val="DFDFE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nvGrpSpPr>
          <p:cNvPr id="17" name="组合 8">
            <a:extLst>
              <a:ext uri="{FF2B5EF4-FFF2-40B4-BE49-F238E27FC236}">
                <a16:creationId xmlns:a16="http://schemas.microsoft.com/office/drawing/2014/main" id="{BCEEFBAD-E419-45AE-AC69-2EEF309AAC1B}"/>
              </a:ext>
            </a:extLst>
          </p:cNvPr>
          <p:cNvGrpSpPr>
            <a:grpSpLocks/>
          </p:cNvGrpSpPr>
          <p:nvPr/>
        </p:nvGrpSpPr>
        <p:grpSpPr bwMode="auto">
          <a:xfrm flipH="1">
            <a:off x="152151" y="1667195"/>
            <a:ext cx="1038225" cy="1038225"/>
            <a:chOff x="0" y="0"/>
            <a:chExt cx="1038225" cy="1038225"/>
          </a:xfrm>
        </p:grpSpPr>
        <p:sp>
          <p:nvSpPr>
            <p:cNvPr id="18" name="Oval 10">
              <a:extLst>
                <a:ext uri="{FF2B5EF4-FFF2-40B4-BE49-F238E27FC236}">
                  <a16:creationId xmlns:a16="http://schemas.microsoft.com/office/drawing/2014/main" id="{C2E2F310-AF82-45B4-A710-A3A7BA616691}"/>
                </a:ext>
              </a:extLst>
            </p:cNvPr>
            <p:cNvSpPr>
              <a:spLocks noChangeArrowheads="1"/>
            </p:cNvSpPr>
            <p:nvPr/>
          </p:nvSpPr>
          <p:spPr bwMode="auto">
            <a:xfrm>
              <a:off x="0" y="0"/>
              <a:ext cx="1038225" cy="1038225"/>
            </a:xfrm>
            <a:prstGeom prst="ellipse">
              <a:avLst/>
            </a:pr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ED7D31"/>
                </a:solidFill>
                <a:effectLst/>
                <a:uLnTx/>
                <a:uFillTx/>
                <a:latin typeface="Arial" panose="020B0604020202020204" pitchFamily="34" charset="0"/>
                <a:ea typeface="宋体" panose="02010600030101010101" pitchFamily="2" charset="-122"/>
                <a:cs typeface="+mn-cs"/>
              </a:endParaRPr>
            </a:p>
          </p:txBody>
        </p:sp>
        <p:sp>
          <p:nvSpPr>
            <p:cNvPr id="19" name="TextBox 10">
              <a:extLst>
                <a:ext uri="{FF2B5EF4-FFF2-40B4-BE49-F238E27FC236}">
                  <a16:creationId xmlns:a16="http://schemas.microsoft.com/office/drawing/2014/main" id="{0C63909E-06F8-4214-91BB-363E2CB51C85}"/>
                </a:ext>
              </a:extLst>
            </p:cNvPr>
            <p:cNvSpPr txBox="1">
              <a:spLocks noChangeArrowheads="1"/>
            </p:cNvSpPr>
            <p:nvPr/>
          </p:nvSpPr>
          <p:spPr bwMode="auto">
            <a:xfrm>
              <a:off x="61200" y="165169"/>
              <a:ext cx="9116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研究现状</a:t>
              </a:r>
            </a:p>
          </p:txBody>
        </p:sp>
      </p:grpSp>
      <p:sp>
        <p:nvSpPr>
          <p:cNvPr id="23" name="TextBox 25">
            <a:extLst>
              <a:ext uri="{FF2B5EF4-FFF2-40B4-BE49-F238E27FC236}">
                <a16:creationId xmlns:a16="http://schemas.microsoft.com/office/drawing/2014/main" id="{98747516-33F3-4B2D-A61C-7DC8A5A8A686}"/>
              </a:ext>
            </a:extLst>
          </p:cNvPr>
          <p:cNvSpPr txBox="1">
            <a:spLocks noChangeArrowheads="1"/>
          </p:cNvSpPr>
          <p:nvPr/>
        </p:nvSpPr>
        <p:spPr bwMode="auto">
          <a:xfrm>
            <a:off x="1378381" y="2054761"/>
            <a:ext cx="472310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b="1" i="0" u="none" strike="noStrike" kern="1200" cap="none" spc="0" normalizeH="0" baseline="0" noProof="0" dirty="0">
                <a:ln>
                  <a:noFill/>
                </a:ln>
                <a:effectLst/>
                <a:uLnTx/>
                <a:uFillTx/>
                <a:latin typeface="宋体" panose="02010600030101010101" pitchFamily="2" charset="-122"/>
              </a:rPr>
              <a:t>许多</a:t>
            </a:r>
            <a:r>
              <a:rPr lang="zh-CN" altLang="en-US" b="1" dirty="0">
                <a:latin typeface="宋体" panose="02010600030101010101" pitchFamily="2" charset="-122"/>
              </a:rPr>
              <a:t>基于数据的</a:t>
            </a:r>
            <a:r>
              <a:rPr lang="en-US" altLang="zh-CN" b="1" dirty="0">
                <a:latin typeface="宋体" panose="02010600030101010101" pitchFamily="2" charset="-122"/>
              </a:rPr>
              <a:t>RUL</a:t>
            </a:r>
            <a:r>
              <a:rPr lang="zh-CN" altLang="en-US" b="1" dirty="0">
                <a:latin typeface="宋体" panose="02010600030101010101" pitchFamily="2" charset="-122"/>
              </a:rPr>
              <a:t>预测，</a:t>
            </a:r>
            <a:r>
              <a:rPr kumimoji="0" lang="zh-CN" altLang="en-US" b="1" i="0" u="none" strike="noStrike" kern="1200" cap="none" spc="0" normalizeH="0" baseline="0" noProof="0" dirty="0">
                <a:ln>
                  <a:noFill/>
                </a:ln>
                <a:solidFill>
                  <a:prstClr val="black"/>
                </a:solidFill>
                <a:effectLst/>
                <a:uLnTx/>
                <a:uFillTx/>
                <a:latin typeface="等线" panose="020F0502020204030204"/>
                <a:ea typeface="宋体" panose="02010600030101010101" pitchFamily="2" charset="-122"/>
                <a:cs typeface="Times New Roman" panose="02020603050405020304" pitchFamily="18" charset="0"/>
              </a:rPr>
              <a:t>对部件间物理</a:t>
            </a:r>
            <a:r>
              <a:rPr kumimoji="0" lang="en-US" altLang="zh-CN" b="1" i="0" u="none" strike="noStrike" kern="1200" cap="none" spc="0" normalizeH="0" baseline="0" noProof="0" dirty="0">
                <a:ln>
                  <a:noFill/>
                </a:ln>
                <a:solidFill>
                  <a:prstClr val="black"/>
                </a:solidFill>
                <a:effectLst/>
                <a:uLnTx/>
                <a:uFillTx/>
                <a:latin typeface="等线" panose="020F0502020204030204"/>
                <a:ea typeface="宋体" panose="02010600030101010101" pitchFamily="2" charset="-122"/>
                <a:cs typeface="Times New Roman" panose="02020603050405020304" pitchFamily="18" charset="0"/>
              </a:rPr>
              <a:t>/</a:t>
            </a:r>
            <a:r>
              <a:rPr kumimoji="0" lang="zh-CN" altLang="en-US" b="1" i="0" u="none" strike="noStrike" kern="1200" cap="none" spc="0" normalizeH="0" baseline="0" noProof="0" dirty="0">
                <a:ln>
                  <a:noFill/>
                </a:ln>
                <a:solidFill>
                  <a:prstClr val="black"/>
                </a:solidFill>
                <a:effectLst/>
                <a:uLnTx/>
                <a:uFillTx/>
                <a:latin typeface="等线" panose="020F0502020204030204"/>
                <a:ea typeface="宋体" panose="02010600030101010101" pitchFamily="2" charset="-122"/>
                <a:cs typeface="Times New Roman" panose="02020603050405020304" pitchFamily="18" charset="0"/>
              </a:rPr>
              <a:t>功能连接关系缺乏关注，单纯的时序预测网络难以捕捉传感器数据之间的连接关系</a:t>
            </a:r>
            <a:endParaRPr lang="en-US" altLang="zh-CN" b="1"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文本框 24">
            <a:extLst>
              <a:ext uri="{FF2B5EF4-FFF2-40B4-BE49-F238E27FC236}">
                <a16:creationId xmlns:a16="http://schemas.microsoft.com/office/drawing/2014/main" id="{0454EB7C-2049-403B-B767-8F6556388D40}"/>
              </a:ext>
            </a:extLst>
          </p:cNvPr>
          <p:cNvSpPr txBox="1"/>
          <p:nvPr/>
        </p:nvSpPr>
        <p:spPr>
          <a:xfrm>
            <a:off x="1378381" y="3174197"/>
            <a:ext cx="4777353" cy="1754326"/>
          </a:xfrm>
          <a:prstGeom prst="rect">
            <a:avLst/>
          </a:prstGeom>
          <a:noFill/>
        </p:spPr>
        <p:txBody>
          <a:bodyPr wrap="square">
            <a:spAutoFit/>
          </a:bodyPr>
          <a:lstStyle/>
          <a:p>
            <a:pPr marL="342900" indent="-342900">
              <a:buFont typeface="Wingdings" panose="05000000000000000000" pitchFamily="2" charset="2"/>
              <a:buChar char="p"/>
              <a:defRPr/>
            </a:pPr>
            <a:r>
              <a:rPr lang="zh-CN" altLang="en-US" b="1" dirty="0">
                <a:latin typeface="宋体" panose="02010600030101010101" pitchFamily="2" charset="-122"/>
                <a:ea typeface="宋体" panose="02010600030101010101" pitchFamily="2" charset="-122"/>
              </a:rPr>
              <a:t>当前的维护决策多基于随机退化模型的阈值维护，假设强、灵活性较差；部分研究将</a:t>
            </a:r>
            <a:r>
              <a:rPr lang="en-US" altLang="zh-CN" b="1" dirty="0">
                <a:latin typeface="宋体" panose="02010600030101010101" pitchFamily="2" charset="-122"/>
                <a:ea typeface="宋体" panose="02010600030101010101" pitchFamily="2" charset="-122"/>
              </a:rPr>
              <a:t>RUL</a:t>
            </a:r>
            <a:r>
              <a:rPr lang="zh-CN" altLang="en-US" b="1" dirty="0">
                <a:latin typeface="宋体" panose="02010600030101010101" pitchFamily="2" charset="-122"/>
                <a:ea typeface="宋体" panose="02010600030101010101" pitchFamily="2" charset="-122"/>
              </a:rPr>
              <a:t>预测融入到维护决策中，但大多为针对</a:t>
            </a:r>
            <a:r>
              <a:rPr lang="en-US" altLang="zh-CN" b="1" dirty="0">
                <a:latin typeface="宋体" panose="02010600030101010101" pitchFamily="2" charset="-122"/>
                <a:ea typeface="宋体" panose="02010600030101010101" pitchFamily="2" charset="-122"/>
              </a:rPr>
              <a:t>RUL</a:t>
            </a:r>
            <a:r>
              <a:rPr lang="zh-CN" altLang="en-US" b="1" dirty="0">
                <a:latin typeface="宋体" panose="02010600030101010101" pitchFamily="2" charset="-122"/>
                <a:ea typeface="宋体" panose="02010600030101010101" pitchFamily="2" charset="-122"/>
              </a:rPr>
              <a:t>的点估计，可靠性不足，并将</a:t>
            </a:r>
            <a:r>
              <a:rPr lang="en-US" altLang="zh-CN" b="1" dirty="0">
                <a:latin typeface="宋体" panose="02010600030101010101" pitchFamily="2" charset="-122"/>
                <a:ea typeface="宋体" panose="02010600030101010101" pitchFamily="2" charset="-122"/>
              </a:rPr>
              <a:t>RUL</a:t>
            </a:r>
            <a:r>
              <a:rPr lang="zh-CN" altLang="en-US" b="1" dirty="0">
                <a:latin typeface="宋体" panose="02010600030101010101" pitchFamily="2" charset="-122"/>
                <a:ea typeface="宋体" panose="02010600030101010101" pitchFamily="2" charset="-122"/>
              </a:rPr>
              <a:t>的，缺乏将</a:t>
            </a:r>
            <a:r>
              <a:rPr lang="en-US" altLang="zh-CN" b="1" dirty="0">
                <a:latin typeface="宋体" panose="02010600030101010101" pitchFamily="2" charset="-122"/>
                <a:ea typeface="宋体" panose="02010600030101010101" pitchFamily="2" charset="-122"/>
              </a:rPr>
              <a:t>RUL</a:t>
            </a:r>
            <a:r>
              <a:rPr lang="zh-CN" altLang="en-US" b="1" dirty="0">
                <a:latin typeface="宋体" panose="02010600030101010101" pitchFamily="2" charset="-122"/>
                <a:ea typeface="宋体" panose="02010600030101010101" pitchFamily="2" charset="-122"/>
              </a:rPr>
              <a:t>预测分布与维护决策端到端联合优化的框架</a:t>
            </a:r>
          </a:p>
        </p:txBody>
      </p:sp>
      <p:sp>
        <p:nvSpPr>
          <p:cNvPr id="27" name="文本框 26">
            <a:extLst>
              <a:ext uri="{FF2B5EF4-FFF2-40B4-BE49-F238E27FC236}">
                <a16:creationId xmlns:a16="http://schemas.microsoft.com/office/drawing/2014/main" id="{5A99683D-1E5E-4D84-A1A7-2AD38DCB0DD0}"/>
              </a:ext>
            </a:extLst>
          </p:cNvPr>
          <p:cNvSpPr txBox="1"/>
          <p:nvPr/>
        </p:nvSpPr>
        <p:spPr>
          <a:xfrm>
            <a:off x="1342252" y="5055206"/>
            <a:ext cx="4867726" cy="1477328"/>
          </a:xfrm>
          <a:prstGeom prst="rect">
            <a:avLst/>
          </a:prstGeom>
          <a:noFill/>
        </p:spPr>
        <p:txBody>
          <a:bodyPr wrap="square">
            <a:spAutoFit/>
          </a:bodyPr>
          <a:lstStyle/>
          <a:p>
            <a:pPr marL="342900" indent="-342900">
              <a:buFont typeface="Wingdings" panose="05000000000000000000" pitchFamily="2" charset="2"/>
              <a:buChar char="p"/>
              <a:defRPr/>
            </a:pPr>
            <a:r>
              <a:rPr lang="zh-CN" altLang="en-US" b="1" dirty="0">
                <a:latin typeface="宋体" panose="02010600030101010101" pitchFamily="2" charset="-122"/>
                <a:ea typeface="宋体" panose="02010600030101010101" pitchFamily="2" charset="-122"/>
              </a:rPr>
              <a:t>智能优化算法可解释性强、实现简单，但是求解复杂，难以处理复杂动态环境；单智能体</a:t>
            </a:r>
            <a:r>
              <a:rPr lang="en-US" altLang="zh-CN" b="1" dirty="0">
                <a:latin typeface="宋体" panose="02010600030101010101" pitchFamily="2" charset="-122"/>
                <a:ea typeface="宋体" panose="02010600030101010101" pitchFamily="2" charset="-122"/>
              </a:rPr>
              <a:t>RL</a:t>
            </a:r>
            <a:r>
              <a:rPr lang="zh-CN" altLang="en-US" b="1" dirty="0">
                <a:latin typeface="宋体" panose="02010600030101010101" pitchFamily="2" charset="-122"/>
                <a:ea typeface="宋体" panose="02010600030101010101" pitchFamily="2" charset="-122"/>
              </a:rPr>
              <a:t>面对此类协同问题，会出现观测状态庞大导致难以收敛</a:t>
            </a:r>
            <a:endParaRPr lang="en-US" altLang="zh-CN" b="1" dirty="0">
              <a:latin typeface="宋体" panose="02010600030101010101" pitchFamily="2" charset="-122"/>
              <a:ea typeface="宋体" panose="02010600030101010101" pitchFamily="2" charset="-122"/>
            </a:endParaRPr>
          </a:p>
          <a:p>
            <a:pPr marR="0" lvl="0" algn="l" defTabSz="914400" rtl="0" eaLnBrk="1" fontAlgn="auto" latinLnBrk="0" hangingPunct="1">
              <a:lnSpc>
                <a:spcPct val="100000"/>
              </a:lnSpc>
              <a:spcBef>
                <a:spcPts val="0"/>
              </a:spcBef>
              <a:spcAft>
                <a:spcPts val="0"/>
              </a:spcAft>
              <a:buClrTx/>
              <a:buSzTx/>
              <a:tabLst/>
              <a:defRPr/>
            </a:pPr>
            <a:endParaRPr kumimoji="0" lang="zh-CN" altLang="en-US"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箭头: 燕尾形 1">
            <a:extLst>
              <a:ext uri="{FF2B5EF4-FFF2-40B4-BE49-F238E27FC236}">
                <a16:creationId xmlns:a16="http://schemas.microsoft.com/office/drawing/2014/main" id="{B4A85506-B981-4192-9921-B920140B54E9}"/>
              </a:ext>
            </a:extLst>
          </p:cNvPr>
          <p:cNvSpPr/>
          <p:nvPr/>
        </p:nvSpPr>
        <p:spPr>
          <a:xfrm>
            <a:off x="6451598" y="2463724"/>
            <a:ext cx="321860" cy="241696"/>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燕尾形 19">
            <a:extLst>
              <a:ext uri="{FF2B5EF4-FFF2-40B4-BE49-F238E27FC236}">
                <a16:creationId xmlns:a16="http://schemas.microsoft.com/office/drawing/2014/main" id="{49970010-9836-4C0B-B2C5-A89A7D5B9AA6}"/>
              </a:ext>
            </a:extLst>
          </p:cNvPr>
          <p:cNvSpPr/>
          <p:nvPr/>
        </p:nvSpPr>
        <p:spPr>
          <a:xfrm>
            <a:off x="6451598" y="3877529"/>
            <a:ext cx="321860" cy="241696"/>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燕尾形 20">
            <a:extLst>
              <a:ext uri="{FF2B5EF4-FFF2-40B4-BE49-F238E27FC236}">
                <a16:creationId xmlns:a16="http://schemas.microsoft.com/office/drawing/2014/main" id="{768276D2-A307-4882-AB29-2EE397A87CEE}"/>
              </a:ext>
            </a:extLst>
          </p:cNvPr>
          <p:cNvSpPr/>
          <p:nvPr/>
        </p:nvSpPr>
        <p:spPr>
          <a:xfrm>
            <a:off x="6451598" y="5447790"/>
            <a:ext cx="321860" cy="241696"/>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TextBox 25">
            <a:extLst>
              <a:ext uri="{FF2B5EF4-FFF2-40B4-BE49-F238E27FC236}">
                <a16:creationId xmlns:a16="http://schemas.microsoft.com/office/drawing/2014/main" id="{6FD5163F-F4F3-47BC-9A1B-0E9C0039479C}"/>
              </a:ext>
            </a:extLst>
          </p:cNvPr>
          <p:cNvSpPr txBox="1">
            <a:spLocks noChangeArrowheads="1"/>
          </p:cNvSpPr>
          <p:nvPr/>
        </p:nvSpPr>
        <p:spPr bwMode="auto">
          <a:xfrm>
            <a:off x="7054409" y="2389826"/>
            <a:ext cx="40248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R="0" lvl="0" algn="l" defTabSz="914400" rtl="0" eaLnBrk="1" fontAlgn="auto" latinLnBrk="0" hangingPunct="1">
              <a:lnSpc>
                <a:spcPct val="100000"/>
              </a:lnSpc>
              <a:spcBef>
                <a:spcPts val="0"/>
              </a:spcBef>
              <a:spcAft>
                <a:spcPts val="0"/>
              </a:spcAft>
              <a:buClrTx/>
              <a:buSzTx/>
              <a:tabLst/>
              <a:defRPr/>
            </a:pPr>
            <a:r>
              <a:rPr kumimoji="0" lang="zh-CN" altLang="en-US" b="1" i="0" u="none" strike="noStrike" kern="1200" cap="none" spc="0" normalizeH="0" baseline="0" noProof="0" dirty="0">
                <a:ln>
                  <a:noFill/>
                </a:ln>
                <a:effectLst/>
                <a:uLnTx/>
                <a:uFillTx/>
                <a:latin typeface="宋体" panose="02010600030101010101" pitchFamily="2" charset="-122"/>
              </a:rPr>
              <a:t>实现先验知识引导的</a:t>
            </a:r>
            <a:r>
              <a:rPr kumimoji="0" lang="en-US" altLang="zh-CN" b="1" i="0" u="none" strike="noStrike" kern="1200" cap="none" spc="0" normalizeH="0" baseline="0" noProof="0" dirty="0">
                <a:ln>
                  <a:noFill/>
                </a:ln>
                <a:effectLst/>
                <a:uLnTx/>
                <a:uFillTx/>
                <a:latin typeface="宋体" panose="02010600030101010101" pitchFamily="2" charset="-122"/>
              </a:rPr>
              <a:t>RUL</a:t>
            </a:r>
            <a:r>
              <a:rPr kumimoji="0" lang="zh-CN" altLang="en-US" b="1" i="0" u="none" strike="noStrike" kern="1200" cap="none" spc="0" normalizeH="0" baseline="0" noProof="0" dirty="0">
                <a:ln>
                  <a:noFill/>
                </a:ln>
                <a:effectLst/>
                <a:uLnTx/>
                <a:uFillTx/>
                <a:latin typeface="宋体" panose="02010600030101010101" pitchFamily="2" charset="-122"/>
              </a:rPr>
              <a:t>预测模型</a:t>
            </a:r>
            <a:endParaRPr lang="en-US" altLang="zh-CN" b="1"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 name="TextBox 25">
            <a:extLst>
              <a:ext uri="{FF2B5EF4-FFF2-40B4-BE49-F238E27FC236}">
                <a16:creationId xmlns:a16="http://schemas.microsoft.com/office/drawing/2014/main" id="{0CED7103-F761-4C0A-9915-C013433B650B}"/>
              </a:ext>
            </a:extLst>
          </p:cNvPr>
          <p:cNvSpPr txBox="1">
            <a:spLocks noChangeArrowheads="1"/>
          </p:cNvSpPr>
          <p:nvPr/>
        </p:nvSpPr>
        <p:spPr bwMode="auto">
          <a:xfrm>
            <a:off x="7054409" y="3572364"/>
            <a:ext cx="402489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R="0" lvl="0" algn="l" defTabSz="914400" rtl="0" eaLnBrk="1" fontAlgn="auto" latinLnBrk="0" hangingPunct="1">
              <a:lnSpc>
                <a:spcPct val="100000"/>
              </a:lnSpc>
              <a:spcBef>
                <a:spcPts val="0"/>
              </a:spcBef>
              <a:spcAft>
                <a:spcPts val="0"/>
              </a:spcAft>
              <a:buClrTx/>
              <a:buSzTx/>
              <a:tabLst/>
              <a:defRPr/>
            </a:pPr>
            <a:r>
              <a:rPr kumimoji="0" lang="zh-CN" altLang="en-US" b="1" i="0" u="none" strike="noStrike" kern="1200" cap="none" spc="0" normalizeH="0" baseline="0" noProof="0" dirty="0">
                <a:ln>
                  <a:noFill/>
                </a:ln>
                <a:effectLst/>
                <a:uLnTx/>
                <a:uFillTx/>
                <a:latin typeface="宋体" panose="02010600030101010101" pitchFamily="2" charset="-122"/>
              </a:rPr>
              <a:t>量化</a:t>
            </a:r>
            <a:r>
              <a:rPr lang="zh-CN" altLang="en-US" b="1" dirty="0">
                <a:latin typeface="宋体" panose="02010600030101010101" pitchFamily="2" charset="-122"/>
              </a:rPr>
              <a:t>数据驱动的</a:t>
            </a:r>
            <a:r>
              <a:rPr lang="en-US" altLang="zh-CN" b="1" dirty="0">
                <a:latin typeface="宋体" panose="02010600030101010101" pitchFamily="2" charset="-122"/>
              </a:rPr>
              <a:t>RUL</a:t>
            </a:r>
            <a:r>
              <a:rPr lang="zh-CN" altLang="en-US" b="1" dirty="0">
                <a:latin typeface="宋体" panose="02010600030101010101" pitchFamily="2" charset="-122"/>
              </a:rPr>
              <a:t>预测的不确定性；</a:t>
            </a:r>
            <a:endParaRPr lang="en-US" altLang="zh-CN" b="1" dirty="0">
              <a:latin typeface="宋体" panose="02010600030101010101" pitchFamily="2" charset="-122"/>
            </a:endParaRPr>
          </a:p>
          <a:p>
            <a:pPr eaLnBrk="1" hangingPunct="1">
              <a:defRPr/>
            </a:pPr>
            <a:r>
              <a:rPr lang="zh-CN" altLang="zh-CN" b="1" dirty="0">
                <a:latin typeface="宋体" panose="02010600030101010101" pitchFamily="2" charset="-122"/>
              </a:rPr>
              <a:t>用深度强化学习构建自适应维护决策智能体</a:t>
            </a:r>
            <a:endParaRPr lang="en-US" altLang="zh-CN" b="1" dirty="0">
              <a:latin typeface="宋体" panose="02010600030101010101" pitchFamily="2" charset="-122"/>
            </a:endParaRPr>
          </a:p>
        </p:txBody>
      </p:sp>
      <p:sp>
        <p:nvSpPr>
          <p:cNvPr id="26" name="TextBox 25">
            <a:extLst>
              <a:ext uri="{FF2B5EF4-FFF2-40B4-BE49-F238E27FC236}">
                <a16:creationId xmlns:a16="http://schemas.microsoft.com/office/drawing/2014/main" id="{679016E3-5CB2-45CA-9516-26A17246E1D7}"/>
              </a:ext>
            </a:extLst>
          </p:cNvPr>
          <p:cNvSpPr txBox="1">
            <a:spLocks noChangeArrowheads="1"/>
          </p:cNvSpPr>
          <p:nvPr/>
        </p:nvSpPr>
        <p:spPr bwMode="auto">
          <a:xfrm>
            <a:off x="7054409" y="5383972"/>
            <a:ext cx="40248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R="0" lvl="0" algn="l" defTabSz="914400" rtl="0" eaLnBrk="1" fontAlgn="auto" latinLnBrk="0" hangingPunct="1">
              <a:lnSpc>
                <a:spcPct val="100000"/>
              </a:lnSpc>
              <a:spcBef>
                <a:spcPts val="0"/>
              </a:spcBef>
              <a:spcAft>
                <a:spcPts val="0"/>
              </a:spcAft>
              <a:buClrTx/>
              <a:buSzTx/>
              <a:tabLst/>
              <a:defRPr/>
            </a:pPr>
            <a:r>
              <a:rPr kumimoji="0" lang="zh-CN" altLang="en-US" b="1" i="0" u="none" strike="noStrike" kern="1200" cap="none" spc="0" normalizeH="0" baseline="0" noProof="0" dirty="0">
                <a:ln>
                  <a:noFill/>
                </a:ln>
                <a:effectLst/>
                <a:uLnTx/>
                <a:uFillTx/>
                <a:latin typeface="宋体" panose="02010600030101010101" pitchFamily="2" charset="-122"/>
              </a:rPr>
              <a:t>建立多智能体协同优化系统</a:t>
            </a:r>
            <a:endParaRPr lang="en-US" altLang="zh-CN" b="1" dirty="0">
              <a:latin typeface="宋体" panose="02010600030101010101" pitchFamily="2" charset="-122"/>
            </a:endParaRPr>
          </a:p>
        </p:txBody>
      </p:sp>
    </p:spTree>
    <p:extLst>
      <p:ext uri="{BB962C8B-B14F-4D97-AF65-F5344CB8AC3E}">
        <p14:creationId xmlns:p14="http://schemas.microsoft.com/office/powerpoint/2010/main" val="29590404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0C800E5-A1B3-4306-BC1E-9FCC4A76230D}"/>
              </a:ext>
            </a:extLst>
          </p:cNvPr>
          <p:cNvSpPr/>
          <p:nvPr/>
        </p:nvSpPr>
        <p:spPr>
          <a:xfrm>
            <a:off x="-22934" y="0"/>
            <a:ext cx="12214934" cy="361696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highlight>
                <a:srgbClr val="FFFF00"/>
              </a:highlight>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a:extLst>
              <a:ext uri="{FF2B5EF4-FFF2-40B4-BE49-F238E27FC236}">
                <a16:creationId xmlns:a16="http://schemas.microsoft.com/office/drawing/2014/main" id="{986DBED7-A45E-41D4-BE4B-6F506990CE4E}"/>
              </a:ext>
            </a:extLst>
          </p:cNvPr>
          <p:cNvSpPr/>
          <p:nvPr/>
        </p:nvSpPr>
        <p:spPr>
          <a:xfrm>
            <a:off x="2953706" y="2922322"/>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rgbClr val="005A8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a:extLst>
              <a:ext uri="{FF2B5EF4-FFF2-40B4-BE49-F238E27FC236}">
                <a16:creationId xmlns:a16="http://schemas.microsoft.com/office/drawing/2014/main" id="{964112A8-51B9-42E0-A937-1FF3959A6007}"/>
              </a:ext>
            </a:extLst>
          </p:cNvPr>
          <p:cNvSpPr/>
          <p:nvPr/>
        </p:nvSpPr>
        <p:spPr>
          <a:xfrm>
            <a:off x="4516170" y="3273471"/>
            <a:ext cx="3159659" cy="646331"/>
          </a:xfrm>
          <a:prstGeom prst="rect">
            <a:avLst/>
          </a:prstGeom>
        </p:spPr>
        <p:txBody>
          <a:bodyPr wrap="square">
            <a:spAutoFit/>
          </a:bodyPr>
          <a:lstStyle/>
          <a:p>
            <a:pPr>
              <a:defRPr/>
            </a:pPr>
            <a:r>
              <a:rPr lang="zh-CN" altLang="en-US" sz="3600" b="1" dirty="0">
                <a:solidFill>
                  <a:prstClr val="black"/>
                </a:solidFill>
                <a:latin typeface="微软雅黑" panose="020B0503020204020204" pitchFamily="34" charset="-122"/>
                <a:ea typeface="微软雅黑" panose="020B0503020204020204" pitchFamily="34" charset="-122"/>
                <a:sym typeface="字魂105号-简雅黑" panose="00000500000000000000" pitchFamily="2" charset="-122"/>
              </a:rPr>
              <a:t>三、研究内容</a:t>
            </a:r>
            <a:endParaRPr kumimoji="0" lang="zh-CN" altLang="en-US" sz="3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字魂105号-简雅黑" panose="00000500000000000000" pitchFamily="2" charset="-122"/>
            </a:endParaRPr>
          </a:p>
        </p:txBody>
      </p:sp>
      <p:pic>
        <p:nvPicPr>
          <p:cNvPr id="7" name="图片 6"/>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4142030" y="754120"/>
            <a:ext cx="1308810" cy="1308810"/>
          </a:xfrm>
          <a:prstGeom prst="rect">
            <a:avLst/>
          </a:prstGeom>
        </p:spPr>
      </p:pic>
      <p:pic>
        <p:nvPicPr>
          <p:cNvPr id="8" name="图片 7"/>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5677420" y="968390"/>
            <a:ext cx="2434110" cy="840090"/>
          </a:xfrm>
          <a:prstGeom prst="rect">
            <a:avLst/>
          </a:prstGeom>
        </p:spPr>
      </p:pic>
    </p:spTree>
    <p:extLst>
      <p:ext uri="{BB962C8B-B14F-4D97-AF65-F5344CB8AC3E}">
        <p14:creationId xmlns:p14="http://schemas.microsoft.com/office/powerpoint/2010/main" val="40159549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3">
            <a:extLst>
              <a:ext uri="{FF2B5EF4-FFF2-40B4-BE49-F238E27FC236}">
                <a16:creationId xmlns:a16="http://schemas.microsoft.com/office/drawing/2014/main" id="{BEE743BE-70E5-4BC7-B087-EAA82BD00EF2}"/>
              </a:ext>
            </a:extLst>
          </p:cNvPr>
          <p:cNvSpPr>
            <a:spLocks noChangeArrowheads="1"/>
          </p:cNvSpPr>
          <p:nvPr/>
        </p:nvSpPr>
        <p:spPr bwMode="auto">
          <a:xfrm>
            <a:off x="0" y="-328279"/>
            <a:ext cx="65" cy="656558"/>
          </a:xfrm>
          <a:prstGeom prst="rect">
            <a:avLst/>
          </a:prstGeom>
          <a:solidFill>
            <a:srgbClr val="EFEE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0784"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11" name="图片 10">
            <a:extLst>
              <a:ext uri="{FF2B5EF4-FFF2-40B4-BE49-F238E27FC236}">
                <a16:creationId xmlns:a16="http://schemas.microsoft.com/office/drawing/2014/main" id="{A46A30A0-2026-4C86-B0B5-88538CEBE1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784" y="1003092"/>
            <a:ext cx="6080832" cy="5672932"/>
          </a:xfrm>
          <a:prstGeom prst="rect">
            <a:avLst/>
          </a:prstGeom>
        </p:spPr>
      </p:pic>
      <p:pic>
        <p:nvPicPr>
          <p:cNvPr id="15" name="图片 14">
            <a:extLst>
              <a:ext uri="{FF2B5EF4-FFF2-40B4-BE49-F238E27FC236}">
                <a16:creationId xmlns:a16="http://schemas.microsoft.com/office/drawing/2014/main" id="{FE48FD68-09A3-4052-AFA7-6C5DA39407B6}"/>
              </a:ext>
            </a:extLst>
          </p:cNvPr>
          <p:cNvPicPr>
            <a:picLocks noChangeAspect="1"/>
          </p:cNvPicPr>
          <p:nvPr/>
        </p:nvPicPr>
        <p:blipFill>
          <a:blip r:embed="rId4"/>
          <a:stretch>
            <a:fillRect/>
          </a:stretch>
        </p:blipFill>
        <p:spPr>
          <a:xfrm>
            <a:off x="11300792" y="166376"/>
            <a:ext cx="674131" cy="674131"/>
          </a:xfrm>
          <a:prstGeom prst="rect">
            <a:avLst/>
          </a:prstGeom>
        </p:spPr>
      </p:pic>
      <p:cxnSp>
        <p:nvCxnSpPr>
          <p:cNvPr id="16" name="直接连接符 3">
            <a:extLst>
              <a:ext uri="{FF2B5EF4-FFF2-40B4-BE49-F238E27FC236}">
                <a16:creationId xmlns:a16="http://schemas.microsoft.com/office/drawing/2014/main" id="{074C4682-B38D-4AC8-95E8-3A26D2E8B694}"/>
              </a:ext>
            </a:extLst>
          </p:cNvPr>
          <p:cNvCxnSpPr>
            <a:cxnSpLocks/>
          </p:cNvCxnSpPr>
          <p:nvPr/>
        </p:nvCxnSpPr>
        <p:spPr>
          <a:xfrm>
            <a:off x="0" y="815333"/>
            <a:ext cx="11105147" cy="0"/>
          </a:xfrm>
          <a:prstGeom prst="line">
            <a:avLst/>
          </a:prstGeom>
          <a:ln w="76200">
            <a:solidFill>
              <a:srgbClr val="0054A6"/>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F11E3689-B225-466F-9143-1DF1AAED8EBD}"/>
              </a:ext>
            </a:extLst>
          </p:cNvPr>
          <p:cNvSpPr/>
          <p:nvPr/>
        </p:nvSpPr>
        <p:spPr>
          <a:xfrm>
            <a:off x="0" y="181976"/>
            <a:ext cx="3068053" cy="558709"/>
          </a:xfrm>
          <a:prstGeom prst="rect">
            <a:avLst/>
          </a:prstGeom>
          <a:solidFill>
            <a:srgbClr val="2F5597"/>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黑体" panose="02010609060101010101" pitchFamily="49" charset="-122"/>
                <a:ea typeface="黑体" panose="02010609060101010101" pitchFamily="49" charset="-122"/>
              </a:rPr>
              <a:t>研究内容</a:t>
            </a:r>
          </a:p>
        </p:txBody>
      </p:sp>
      <p:sp>
        <p:nvSpPr>
          <p:cNvPr id="18" name="文本框 7">
            <a:extLst>
              <a:ext uri="{FF2B5EF4-FFF2-40B4-BE49-F238E27FC236}">
                <a16:creationId xmlns:a16="http://schemas.microsoft.com/office/drawing/2014/main" id="{54C1FFE6-AECD-47CC-8FD9-16A45514F908}"/>
              </a:ext>
            </a:extLst>
          </p:cNvPr>
          <p:cNvSpPr txBox="1"/>
          <p:nvPr/>
        </p:nvSpPr>
        <p:spPr>
          <a:xfrm>
            <a:off x="6481657" y="1236565"/>
            <a:ext cx="5156200" cy="5016758"/>
          </a:xfrm>
          <a:prstGeom prst="rect">
            <a:avLst/>
          </a:prstGeom>
          <a:noFill/>
        </p:spPr>
        <p:txBody>
          <a:bodyPr wrap="square" rtlCol="0">
            <a:spAutoFit/>
          </a:bodyPr>
          <a:lstStyle/>
          <a:p>
            <a:pPr indent="457200" algn="just"/>
            <a:r>
              <a:rPr lang="zh-CN" altLang="en-US" b="1" kern="100" dirty="0">
                <a:effectLst/>
                <a:latin typeface="+mn-ea"/>
                <a:cs typeface="+mn-ea"/>
              </a:rPr>
              <a:t>研究内容</a:t>
            </a:r>
            <a:r>
              <a:rPr lang="en-US" altLang="zh-CN" b="1" kern="100" dirty="0">
                <a:latin typeface="+mn-ea"/>
                <a:cs typeface="+mn-ea"/>
              </a:rPr>
              <a:t>1</a:t>
            </a:r>
            <a:r>
              <a:rPr lang="zh-CN" altLang="en-US" kern="100" dirty="0">
                <a:latin typeface="+mn-ea"/>
                <a:cs typeface="+mn-ea"/>
              </a:rPr>
              <a:t>：</a:t>
            </a:r>
            <a:r>
              <a:rPr lang="zh-CN" altLang="zh-CN" sz="1600" dirty="0">
                <a:latin typeface="微软雅黑" panose="020B0503020204020204" pitchFamily="34" charset="-122"/>
                <a:ea typeface="微软雅黑" panose="020B0503020204020204" pitchFamily="34" charset="-122"/>
              </a:rPr>
              <a:t>第一部分聚焦于设备剩余使用寿命（</a:t>
            </a:r>
            <a:r>
              <a:rPr lang="en-US" altLang="zh-CN" sz="1600" dirty="0">
                <a:latin typeface="微软雅黑" panose="020B0503020204020204" pitchFamily="34" charset="-122"/>
                <a:ea typeface="微软雅黑" panose="020B0503020204020204" pitchFamily="34" charset="-122"/>
              </a:rPr>
              <a:t>RUL</a:t>
            </a:r>
            <a:r>
              <a:rPr lang="zh-CN" altLang="zh-CN" sz="1600" dirty="0">
                <a:latin typeface="微软雅黑" panose="020B0503020204020204" pitchFamily="34" charset="-122"/>
                <a:ea typeface="微软雅黑" panose="020B0503020204020204" pitchFamily="34" charset="-122"/>
              </a:rPr>
              <a:t>）的有效预测。将部件间的空间布局与功能依赖关系建模为图结构，表征多部件退化的空间相关性，嵌入时序预测模型之中</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indent="457200" algn="just"/>
            <a:endParaRPr lang="en-US" altLang="zh-CN" dirty="0"/>
          </a:p>
          <a:p>
            <a:pPr indent="457200" algn="just"/>
            <a:r>
              <a:rPr lang="zh-CN" altLang="en-US" b="1" kern="100" dirty="0">
                <a:effectLst/>
                <a:latin typeface="+mn-ea"/>
                <a:cs typeface="+mn-ea"/>
              </a:rPr>
              <a:t>研究内容</a:t>
            </a:r>
            <a:r>
              <a:rPr lang="en-US" altLang="zh-CN" b="1" kern="100" dirty="0">
                <a:effectLst/>
                <a:latin typeface="+mn-ea"/>
                <a:cs typeface="+mn-ea"/>
              </a:rPr>
              <a:t>2</a:t>
            </a:r>
            <a:r>
              <a:rPr lang="zh-CN" altLang="en-US" kern="100" dirty="0">
                <a:latin typeface="+mn-ea"/>
                <a:cs typeface="+mn-ea"/>
              </a:rPr>
              <a:t>：</a:t>
            </a:r>
            <a:r>
              <a:rPr lang="zh-CN" altLang="zh-CN" sz="1600" dirty="0">
                <a:latin typeface="微软雅黑" panose="020B0503020204020204" pitchFamily="34" charset="-122"/>
                <a:ea typeface="微软雅黑" panose="020B0503020204020204" pitchFamily="34" charset="-122"/>
              </a:rPr>
              <a:t>以研究内容一获得的剩余使用寿命预测模型作为基础，在推理阶段获得</a:t>
            </a:r>
            <a:r>
              <a:rPr lang="en-US" altLang="zh-CN" sz="1600" dirty="0">
                <a:latin typeface="微软雅黑" panose="020B0503020204020204" pitchFamily="34" charset="-122"/>
                <a:ea typeface="微软雅黑" panose="020B0503020204020204" pitchFamily="34" charset="-122"/>
              </a:rPr>
              <a:t>RUL</a:t>
            </a:r>
            <a:r>
              <a:rPr lang="zh-CN" altLang="zh-CN" sz="1600" dirty="0">
                <a:latin typeface="微软雅黑" panose="020B0503020204020204" pitchFamily="34" charset="-122"/>
                <a:ea typeface="微软雅黑" panose="020B0503020204020204" pitchFamily="34" charset="-122"/>
              </a:rPr>
              <a:t>的概率分布，然后将</a:t>
            </a:r>
            <a:r>
              <a:rPr lang="en-US" altLang="zh-CN" sz="1600" dirty="0">
                <a:latin typeface="微软雅黑" panose="020B0503020204020204" pitchFamily="34" charset="-122"/>
                <a:ea typeface="微软雅黑" panose="020B0503020204020204" pitchFamily="34" charset="-122"/>
              </a:rPr>
              <a:t>RUL</a:t>
            </a:r>
            <a:r>
              <a:rPr lang="zh-CN" altLang="zh-CN" sz="1600" dirty="0">
                <a:latin typeface="微软雅黑" panose="020B0503020204020204" pitchFamily="34" charset="-122"/>
                <a:ea typeface="微软雅黑" panose="020B0503020204020204" pitchFamily="34" charset="-122"/>
              </a:rPr>
              <a:t>概率分布状态信息、维护资源等作为观测状态，利用强化学习等决策优化算法进行决策方案求解。</a:t>
            </a:r>
            <a:endParaRPr lang="en-US" altLang="zh-CN" sz="1600" dirty="0">
              <a:latin typeface="微软雅黑" panose="020B0503020204020204" pitchFamily="34" charset="-122"/>
              <a:ea typeface="微软雅黑" panose="020B0503020204020204" pitchFamily="34" charset="-122"/>
            </a:endParaRPr>
          </a:p>
          <a:p>
            <a:pPr indent="457200" algn="just"/>
            <a:endParaRPr lang="en-US" altLang="zh-CN" dirty="0"/>
          </a:p>
          <a:p>
            <a:pPr indent="457200" algn="just"/>
            <a:r>
              <a:rPr lang="zh-CN" altLang="en-US" b="1" kern="100" dirty="0">
                <a:latin typeface="+mn-ea"/>
                <a:cs typeface="+mn-ea"/>
              </a:rPr>
              <a:t>研究内容</a:t>
            </a:r>
            <a:r>
              <a:rPr lang="en-US" altLang="zh-CN" b="1" kern="100" dirty="0">
                <a:latin typeface="+mn-ea"/>
                <a:cs typeface="+mn-ea"/>
              </a:rPr>
              <a:t>3</a:t>
            </a:r>
            <a:r>
              <a:rPr lang="zh-CN" altLang="en-US" b="1" kern="100" dirty="0">
                <a:latin typeface="+mn-ea"/>
                <a:cs typeface="+mn-ea"/>
              </a:rPr>
              <a:t>：</a:t>
            </a:r>
            <a:r>
              <a:rPr lang="zh-CN" altLang="zh-CN" sz="1600" dirty="0">
                <a:latin typeface="微软雅黑" panose="020B0503020204020204" pitchFamily="34" charset="-122"/>
                <a:ea typeface="微软雅黑" panose="020B0503020204020204" pitchFamily="34" charset="-122"/>
              </a:rPr>
              <a:t>面向多设备智能制造车间</a:t>
            </a:r>
            <a:r>
              <a:rPr lang="zh-CN" altLang="en-US" sz="1600" dirty="0">
                <a:latin typeface="微软雅黑" panose="020B0503020204020204" pitchFamily="34" charset="-122"/>
                <a:ea typeface="微软雅黑" panose="020B0503020204020204" pitchFamily="34" charset="-122"/>
              </a:rPr>
              <a:t>：</a:t>
            </a:r>
            <a:r>
              <a:rPr lang="zh-CN" altLang="zh-CN" sz="1600" dirty="0">
                <a:latin typeface="微软雅黑" panose="020B0503020204020204" pitchFamily="34" charset="-122"/>
                <a:ea typeface="微软雅黑" panose="020B0503020204020204" pitchFamily="34" charset="-122"/>
              </a:rPr>
              <a:t>调度部分预训练多个设备调度智能体，维护部分由研究内容二部分的维护智能体生成各设备维护决策，并通过动作掩码动态屏蔽需维护设备的调度选项；在训练中冻结调度策略，仅利用全局生产奖励反馈优化维护智能体。</a:t>
            </a:r>
            <a:r>
              <a:rPr lang="zh-CN" altLang="en-US" sz="1600" dirty="0">
                <a:latin typeface="微软雅黑" panose="020B0503020204020204" pitchFamily="34" charset="-122"/>
                <a:ea typeface="微软雅黑" panose="020B0503020204020204" pitchFamily="34" charset="-122"/>
              </a:rPr>
              <a:t>实现维度调度协同。</a:t>
            </a:r>
            <a:endParaRPr lang="en-US" altLang="zh-CN" sz="1600" dirty="0">
              <a:latin typeface="微软雅黑" panose="020B0503020204020204" pitchFamily="34" charset="-122"/>
              <a:ea typeface="微软雅黑" panose="020B0503020204020204" pitchFamily="34" charset="-122"/>
            </a:endParaRPr>
          </a:p>
          <a:p>
            <a:pPr indent="457200" algn="just"/>
            <a:endParaRPr lang="en-US" altLang="zh-CN" dirty="0"/>
          </a:p>
          <a:p>
            <a:pPr indent="457200" algn="just"/>
            <a:r>
              <a:rPr lang="zh-CN" altLang="en-US" b="1" kern="100" dirty="0">
                <a:latin typeface="+mn-ea"/>
                <a:cs typeface="+mn-ea"/>
              </a:rPr>
              <a:t>研究内容</a:t>
            </a:r>
            <a:r>
              <a:rPr lang="en-US" altLang="zh-CN" b="1" kern="100" dirty="0">
                <a:latin typeface="+mn-ea"/>
                <a:cs typeface="+mn-ea"/>
              </a:rPr>
              <a:t>4</a:t>
            </a:r>
            <a:r>
              <a:rPr lang="zh-CN" altLang="en-US" b="1" kern="100" dirty="0">
                <a:latin typeface="+mn-ea"/>
                <a:cs typeface="+mn-ea"/>
              </a:rPr>
              <a:t>：</a:t>
            </a:r>
            <a:r>
              <a:rPr lang="zh-CN" altLang="en-US" sz="1600" kern="100" dirty="0">
                <a:latin typeface="微软雅黑" panose="020B0503020204020204" pitchFamily="34" charset="-122"/>
                <a:ea typeface="微软雅黑" panose="020B0503020204020204" pitchFamily="34" charset="-122"/>
                <a:cs typeface="+mn-ea"/>
              </a:rPr>
              <a:t>搭建实际车间仿真环境，进行实例验证和进一步完善上述理论和技术成果。</a:t>
            </a:r>
            <a:endParaRPr lang="zh-CN" altLang="en-US" kern="100" dirty="0">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3464689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0C800E5-A1B3-4306-BC1E-9FCC4A76230D}"/>
              </a:ext>
            </a:extLst>
          </p:cNvPr>
          <p:cNvSpPr/>
          <p:nvPr/>
        </p:nvSpPr>
        <p:spPr>
          <a:xfrm>
            <a:off x="-22934" y="0"/>
            <a:ext cx="12214934" cy="361696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highlight>
                <a:srgbClr val="FFFF00"/>
              </a:highlight>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a:extLst>
              <a:ext uri="{FF2B5EF4-FFF2-40B4-BE49-F238E27FC236}">
                <a16:creationId xmlns:a16="http://schemas.microsoft.com/office/drawing/2014/main" id="{986DBED7-A45E-41D4-BE4B-6F506990CE4E}"/>
              </a:ext>
            </a:extLst>
          </p:cNvPr>
          <p:cNvSpPr/>
          <p:nvPr/>
        </p:nvSpPr>
        <p:spPr>
          <a:xfrm>
            <a:off x="2953706" y="2922322"/>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rgbClr val="005A8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a:extLst>
              <a:ext uri="{FF2B5EF4-FFF2-40B4-BE49-F238E27FC236}">
                <a16:creationId xmlns:a16="http://schemas.microsoft.com/office/drawing/2014/main" id="{964112A8-51B9-42E0-A937-1FF3959A6007}"/>
              </a:ext>
            </a:extLst>
          </p:cNvPr>
          <p:cNvSpPr/>
          <p:nvPr/>
        </p:nvSpPr>
        <p:spPr>
          <a:xfrm>
            <a:off x="4516170" y="3273471"/>
            <a:ext cx="3159659" cy="646331"/>
          </a:xfrm>
          <a:prstGeom prst="rect">
            <a:avLst/>
          </a:prstGeom>
        </p:spPr>
        <p:txBody>
          <a:bodyPr wrap="square">
            <a:spAutoFit/>
          </a:bodyPr>
          <a:lstStyle/>
          <a:p>
            <a:pPr>
              <a:defRPr/>
            </a:pPr>
            <a:r>
              <a:rPr lang="zh-CN" altLang="en-US" sz="3600" b="1" dirty="0">
                <a:solidFill>
                  <a:prstClr val="black"/>
                </a:solidFill>
                <a:latin typeface="微软雅黑" panose="020B0503020204020204" pitchFamily="34" charset="-122"/>
                <a:ea typeface="微软雅黑" panose="020B0503020204020204" pitchFamily="34" charset="-122"/>
                <a:sym typeface="字魂105号-简雅黑" panose="00000500000000000000" pitchFamily="2" charset="-122"/>
              </a:rPr>
              <a:t>四、技术路线</a:t>
            </a:r>
            <a:endParaRPr kumimoji="0" lang="zh-CN" altLang="en-US" sz="3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字魂105号-简雅黑" panose="00000500000000000000" pitchFamily="2" charset="-122"/>
            </a:endParaRPr>
          </a:p>
        </p:txBody>
      </p:sp>
      <p:pic>
        <p:nvPicPr>
          <p:cNvPr id="7" name="图片 6"/>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4142030" y="754120"/>
            <a:ext cx="1308810" cy="1308810"/>
          </a:xfrm>
          <a:prstGeom prst="rect">
            <a:avLst/>
          </a:prstGeom>
        </p:spPr>
      </p:pic>
      <p:pic>
        <p:nvPicPr>
          <p:cNvPr id="8" name="图片 7"/>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5677420" y="968390"/>
            <a:ext cx="2434110" cy="840090"/>
          </a:xfrm>
          <a:prstGeom prst="rect">
            <a:avLst/>
          </a:prstGeom>
        </p:spPr>
      </p:pic>
    </p:spTree>
    <p:extLst>
      <p:ext uri="{BB962C8B-B14F-4D97-AF65-F5344CB8AC3E}">
        <p14:creationId xmlns:p14="http://schemas.microsoft.com/office/powerpoint/2010/main" val="30278526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3">
            <a:extLst>
              <a:ext uri="{FF2B5EF4-FFF2-40B4-BE49-F238E27FC236}">
                <a16:creationId xmlns:a16="http://schemas.microsoft.com/office/drawing/2014/main" id="{BEE743BE-70E5-4BC7-B087-EAA82BD00EF2}"/>
              </a:ext>
            </a:extLst>
          </p:cNvPr>
          <p:cNvSpPr>
            <a:spLocks noChangeArrowheads="1"/>
          </p:cNvSpPr>
          <p:nvPr/>
        </p:nvSpPr>
        <p:spPr bwMode="auto">
          <a:xfrm>
            <a:off x="0" y="-328279"/>
            <a:ext cx="65" cy="656558"/>
          </a:xfrm>
          <a:prstGeom prst="rect">
            <a:avLst/>
          </a:prstGeom>
          <a:solidFill>
            <a:srgbClr val="EFEE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0784"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269" name="图片 268">
            <a:extLst>
              <a:ext uri="{FF2B5EF4-FFF2-40B4-BE49-F238E27FC236}">
                <a16:creationId xmlns:a16="http://schemas.microsoft.com/office/drawing/2014/main" id="{C4DC7501-3A3C-42A3-91ED-5CD5ABCAA5C5}"/>
              </a:ext>
            </a:extLst>
          </p:cNvPr>
          <p:cNvPicPr>
            <a:picLocks noChangeAspect="1"/>
          </p:cNvPicPr>
          <p:nvPr/>
        </p:nvPicPr>
        <p:blipFill>
          <a:blip r:embed="rId3"/>
          <a:stretch>
            <a:fillRect/>
          </a:stretch>
        </p:blipFill>
        <p:spPr>
          <a:xfrm>
            <a:off x="11300792" y="166376"/>
            <a:ext cx="674131" cy="674131"/>
          </a:xfrm>
          <a:prstGeom prst="rect">
            <a:avLst/>
          </a:prstGeom>
        </p:spPr>
      </p:pic>
      <p:cxnSp>
        <p:nvCxnSpPr>
          <p:cNvPr id="270" name="直接连接符 3">
            <a:extLst>
              <a:ext uri="{FF2B5EF4-FFF2-40B4-BE49-F238E27FC236}">
                <a16:creationId xmlns:a16="http://schemas.microsoft.com/office/drawing/2014/main" id="{C37F35FD-FF27-4C52-90DA-FABBD8DE340E}"/>
              </a:ext>
            </a:extLst>
          </p:cNvPr>
          <p:cNvCxnSpPr>
            <a:cxnSpLocks/>
          </p:cNvCxnSpPr>
          <p:nvPr/>
        </p:nvCxnSpPr>
        <p:spPr>
          <a:xfrm>
            <a:off x="0" y="835438"/>
            <a:ext cx="11105147" cy="0"/>
          </a:xfrm>
          <a:prstGeom prst="line">
            <a:avLst/>
          </a:prstGeom>
          <a:ln w="76200">
            <a:solidFill>
              <a:srgbClr val="0054A6"/>
            </a:solidFill>
          </a:ln>
        </p:spPr>
        <p:style>
          <a:lnRef idx="1">
            <a:schemeClr val="accent1"/>
          </a:lnRef>
          <a:fillRef idx="0">
            <a:schemeClr val="accent1"/>
          </a:fillRef>
          <a:effectRef idx="0">
            <a:schemeClr val="accent1"/>
          </a:effectRef>
          <a:fontRef idx="minor">
            <a:schemeClr val="tx1"/>
          </a:fontRef>
        </p:style>
      </p:cxnSp>
      <p:sp>
        <p:nvSpPr>
          <p:cNvPr id="271" name="矩形 270">
            <a:extLst>
              <a:ext uri="{FF2B5EF4-FFF2-40B4-BE49-F238E27FC236}">
                <a16:creationId xmlns:a16="http://schemas.microsoft.com/office/drawing/2014/main" id="{7C183573-A5E7-4167-B21E-8DA38CC841AE}"/>
              </a:ext>
            </a:extLst>
          </p:cNvPr>
          <p:cNvSpPr/>
          <p:nvPr/>
        </p:nvSpPr>
        <p:spPr>
          <a:xfrm>
            <a:off x="0" y="181976"/>
            <a:ext cx="3068053" cy="558709"/>
          </a:xfrm>
          <a:prstGeom prst="rect">
            <a:avLst/>
          </a:prstGeom>
          <a:solidFill>
            <a:schemeClr val="accent1">
              <a:lumMod val="75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黑体" panose="02010609060101010101" pitchFamily="49" charset="-122"/>
                <a:ea typeface="黑体" panose="02010609060101010101" pitchFamily="49" charset="-122"/>
              </a:rPr>
              <a:t>研究内容</a:t>
            </a:r>
            <a:r>
              <a:rPr lang="en-US" altLang="zh-CN" sz="2400" b="1" dirty="0">
                <a:latin typeface="黑体" panose="02010609060101010101" pitchFamily="49" charset="-122"/>
                <a:ea typeface="黑体" panose="02010609060101010101" pitchFamily="49" charset="-122"/>
              </a:rPr>
              <a:t>1</a:t>
            </a:r>
            <a:endParaRPr lang="zh-CN" altLang="en-US" sz="2400" b="1" dirty="0">
              <a:latin typeface="黑体" panose="02010609060101010101" pitchFamily="49" charset="-122"/>
              <a:ea typeface="黑体" panose="02010609060101010101" pitchFamily="49" charset="-122"/>
            </a:endParaRPr>
          </a:p>
        </p:txBody>
      </p:sp>
      <p:pic>
        <p:nvPicPr>
          <p:cNvPr id="5" name="图片 4">
            <a:extLst>
              <a:ext uri="{FF2B5EF4-FFF2-40B4-BE49-F238E27FC236}">
                <a16:creationId xmlns:a16="http://schemas.microsoft.com/office/drawing/2014/main" id="{D1A2CFB5-3F20-493E-9885-617919741B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3350" y="1358414"/>
            <a:ext cx="4997449" cy="5487266"/>
          </a:xfrm>
          <a:prstGeom prst="rect">
            <a:avLst/>
          </a:prstGeom>
        </p:spPr>
      </p:pic>
      <p:sp>
        <p:nvSpPr>
          <p:cNvPr id="46" name="矩形: 圆角 45">
            <a:extLst>
              <a:ext uri="{FF2B5EF4-FFF2-40B4-BE49-F238E27FC236}">
                <a16:creationId xmlns:a16="http://schemas.microsoft.com/office/drawing/2014/main" id="{8535DF3B-56B9-4217-BE1C-787E72B36DBF}"/>
              </a:ext>
            </a:extLst>
          </p:cNvPr>
          <p:cNvSpPr/>
          <p:nvPr/>
        </p:nvSpPr>
        <p:spPr>
          <a:xfrm>
            <a:off x="0" y="887360"/>
            <a:ext cx="6731000" cy="419133"/>
          </a:xfrm>
          <a:prstGeom prst="roundRect">
            <a:avLst>
              <a:gd name="adj" fmla="val 9331"/>
            </a:avLst>
          </a:prstGeom>
          <a:solidFill>
            <a:srgbClr val="3B5E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kumimoji="0" lang="zh-CN" altLang="en-US"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研究内容</a:t>
            </a:r>
            <a:r>
              <a:rPr kumimoji="0" lang="en-US" altLang="zh-CN"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1—</a:t>
            </a:r>
            <a:r>
              <a:rPr lang="zh-CN" altLang="zh-CN" b="1" dirty="0">
                <a:solidFill>
                  <a:prstClr val="white"/>
                </a:solidFill>
                <a:latin typeface="等线" panose="02010600030101010101" charset="-122"/>
                <a:ea typeface="等线" panose="02010600030101010101" charset="-122"/>
              </a:rPr>
              <a:t>先验知识引导的设备剩余使用寿命</a:t>
            </a:r>
            <a:r>
              <a:rPr lang="zh-CN" altLang="en-US" b="1" dirty="0">
                <a:solidFill>
                  <a:prstClr val="white"/>
                </a:solidFill>
                <a:latin typeface="等线" panose="02010600030101010101" charset="-122"/>
                <a:ea typeface="等线" panose="02010600030101010101" charset="-122"/>
              </a:rPr>
              <a:t>（</a:t>
            </a:r>
            <a:r>
              <a:rPr lang="en-US" altLang="zh-CN" b="1" dirty="0">
                <a:solidFill>
                  <a:prstClr val="white"/>
                </a:solidFill>
                <a:latin typeface="等线" panose="02010600030101010101" charset="-122"/>
                <a:ea typeface="等线" panose="02010600030101010101" charset="-122"/>
              </a:rPr>
              <a:t>RUL</a:t>
            </a:r>
            <a:r>
              <a:rPr lang="zh-CN" altLang="en-US" b="1" dirty="0">
                <a:solidFill>
                  <a:prstClr val="white"/>
                </a:solidFill>
                <a:latin typeface="等线" panose="02010600030101010101" charset="-122"/>
                <a:ea typeface="等线" panose="02010600030101010101" charset="-122"/>
              </a:rPr>
              <a:t>）</a:t>
            </a:r>
            <a:r>
              <a:rPr lang="zh-CN" altLang="zh-CN" b="1" dirty="0">
                <a:solidFill>
                  <a:prstClr val="white"/>
                </a:solidFill>
                <a:latin typeface="等线" panose="02010600030101010101" charset="-122"/>
                <a:ea typeface="等线" panose="02010600030101010101" charset="-122"/>
              </a:rPr>
              <a:t>预测</a:t>
            </a:r>
            <a:endParaRPr lang="en-US" altLang="zh-CN" b="1" dirty="0">
              <a:solidFill>
                <a:prstClr val="white"/>
              </a:solidFill>
              <a:latin typeface="等线" panose="02010600030101010101" charset="-122"/>
              <a:ea typeface="等线" panose="02010600030101010101" charset="-122"/>
            </a:endParaRPr>
          </a:p>
        </p:txBody>
      </p:sp>
      <p:sp>
        <p:nvSpPr>
          <p:cNvPr id="48" name="文本框 47">
            <a:extLst>
              <a:ext uri="{FF2B5EF4-FFF2-40B4-BE49-F238E27FC236}">
                <a16:creationId xmlns:a16="http://schemas.microsoft.com/office/drawing/2014/main" id="{0A1DB9AE-6D3D-4641-ACE8-55F4B567A91F}"/>
              </a:ext>
            </a:extLst>
          </p:cNvPr>
          <p:cNvSpPr txBox="1"/>
          <p:nvPr/>
        </p:nvSpPr>
        <p:spPr>
          <a:xfrm>
            <a:off x="5321791" y="1584788"/>
            <a:ext cx="6178060" cy="1323439"/>
          </a:xfrm>
          <a:prstGeom prst="rect">
            <a:avLst/>
          </a:prstGeom>
          <a:noFill/>
        </p:spPr>
        <p:txBody>
          <a:bodyPr wrap="square">
            <a:spAutoFit/>
          </a:bodyPr>
          <a:lstStyle/>
          <a:p>
            <a:pPr marL="285750" indent="-285750" algn="just">
              <a:buFont typeface="Wingdings" panose="05000000000000000000" pitchFamily="2" charset="2"/>
              <a:buChar char="Ø"/>
            </a:pPr>
            <a:r>
              <a:rPr lang="zh-CN" altLang="en-US" sz="1600" b="1" dirty="0"/>
              <a:t>知识结构化</a:t>
            </a:r>
            <a:r>
              <a:rPr lang="zh-CN" altLang="en-US" sz="1600" dirty="0"/>
              <a:t>：</a:t>
            </a:r>
            <a:r>
              <a:rPr lang="zh-CN" altLang="zh-CN" sz="1600" dirty="0">
                <a:latin typeface="微软雅黑" panose="020B0503020204020204" pitchFamily="34" charset="-122"/>
                <a:ea typeface="微软雅黑" panose="020B0503020204020204" pitchFamily="34" charset="-122"/>
              </a:rPr>
              <a:t>通过分析设备物理结构，构建知识图谱，形成了一系列三元组。利用知识嵌入算法（如</a:t>
            </a:r>
            <a:r>
              <a:rPr lang="en-US" altLang="zh-CN" sz="1600" dirty="0" err="1">
                <a:latin typeface="微软雅黑" panose="020B0503020204020204" pitchFamily="34" charset="-122"/>
                <a:ea typeface="微软雅黑" panose="020B0503020204020204" pitchFamily="34" charset="-122"/>
              </a:rPr>
              <a:t>TransE</a:t>
            </a:r>
            <a:r>
              <a:rPr lang="zh-CN" altLang="zh-CN" sz="1600" dirty="0">
                <a:latin typeface="微软雅黑" panose="020B0503020204020204" pitchFamily="34" charset="-122"/>
                <a:ea typeface="微软雅黑" panose="020B0503020204020204" pitchFamily="34" charset="-122"/>
              </a:rPr>
              <a:t>）映射为向量，从而捕捉实体间的语义关联。基于嵌入向量的相似性构建了一个稳定且蕴含物理意义的邻接矩阵，为后续的图神经网络提供了可靠的拓扑结构基础。</a:t>
            </a:r>
            <a:endParaRPr lang="zh-CN" altLang="en-US" sz="1600" dirty="0">
              <a:latin typeface="微软雅黑" panose="020B0503020204020204" pitchFamily="34" charset="-122"/>
              <a:ea typeface="微软雅黑" panose="020B0503020204020204" pitchFamily="34" charset="-122"/>
            </a:endParaRPr>
          </a:p>
        </p:txBody>
      </p:sp>
      <p:sp>
        <p:nvSpPr>
          <p:cNvPr id="50" name="文本框 49">
            <a:extLst>
              <a:ext uri="{FF2B5EF4-FFF2-40B4-BE49-F238E27FC236}">
                <a16:creationId xmlns:a16="http://schemas.microsoft.com/office/drawing/2014/main" id="{21AFD4AC-4CE5-461F-9039-F1EEF4317005}"/>
              </a:ext>
            </a:extLst>
          </p:cNvPr>
          <p:cNvSpPr txBox="1"/>
          <p:nvPr/>
        </p:nvSpPr>
        <p:spPr>
          <a:xfrm>
            <a:off x="5321791" y="3288054"/>
            <a:ext cx="6178060" cy="1323439"/>
          </a:xfrm>
          <a:prstGeom prst="rect">
            <a:avLst/>
          </a:prstGeom>
          <a:noFill/>
        </p:spPr>
        <p:txBody>
          <a:bodyPr wrap="square">
            <a:spAutoFit/>
          </a:bodyPr>
          <a:lstStyle/>
          <a:p>
            <a:pPr marL="285750" indent="-285750" algn="just">
              <a:buFont typeface="Wingdings" panose="05000000000000000000" pitchFamily="2" charset="2"/>
              <a:buChar char="Ø"/>
            </a:pPr>
            <a:r>
              <a:rPr lang="zh-CN" altLang="zh-CN" sz="1600" b="1" dirty="0"/>
              <a:t>时序特征提取</a:t>
            </a:r>
            <a:r>
              <a:rPr lang="zh-CN" altLang="en-US" sz="1600" dirty="0"/>
              <a:t>：</a:t>
            </a:r>
            <a:r>
              <a:rPr lang="zh-CN" altLang="zh-CN" sz="1600" dirty="0">
                <a:latin typeface="微软雅黑" panose="020B0503020204020204" pitchFamily="34" charset="-122"/>
                <a:ea typeface="微软雅黑" panose="020B0503020204020204" pitchFamily="34" charset="-122"/>
              </a:rPr>
              <a:t>在获取结构化知识的同时，对原始的传感器时序信号进行深度特征提取。将多变量时间序列按传感器维度分解为多个独立的单变量序列，并时序预测网络之中。形成每个传感器的综合时序特征向量，所有这些向量共同构成图节点的初始特征矩阵。</a:t>
            </a:r>
          </a:p>
        </p:txBody>
      </p:sp>
      <p:sp>
        <p:nvSpPr>
          <p:cNvPr id="54" name="文本框 53">
            <a:extLst>
              <a:ext uri="{FF2B5EF4-FFF2-40B4-BE49-F238E27FC236}">
                <a16:creationId xmlns:a16="http://schemas.microsoft.com/office/drawing/2014/main" id="{F6977295-71E3-4CB8-8D72-7F6A6CF95EBF}"/>
              </a:ext>
            </a:extLst>
          </p:cNvPr>
          <p:cNvSpPr txBox="1"/>
          <p:nvPr/>
        </p:nvSpPr>
        <p:spPr>
          <a:xfrm>
            <a:off x="5321791" y="4991320"/>
            <a:ext cx="6178060" cy="1077218"/>
          </a:xfrm>
          <a:prstGeom prst="rect">
            <a:avLst/>
          </a:prstGeom>
          <a:noFill/>
        </p:spPr>
        <p:txBody>
          <a:bodyPr wrap="square">
            <a:spAutoFit/>
          </a:bodyPr>
          <a:lstStyle/>
          <a:p>
            <a:pPr marL="285750" indent="-285750" algn="just">
              <a:buFont typeface="Wingdings" panose="05000000000000000000" pitchFamily="2" charset="2"/>
              <a:buChar char="Ø"/>
            </a:pPr>
            <a:r>
              <a:rPr lang="zh-CN" altLang="zh-CN" sz="1600" b="1" dirty="0"/>
              <a:t>空间特征聚合</a:t>
            </a:r>
            <a:r>
              <a:rPr lang="zh-CN" altLang="en-US" sz="1600" dirty="0"/>
              <a:t>：</a:t>
            </a:r>
            <a:r>
              <a:rPr lang="zh-CN" altLang="zh-CN" sz="1600" dirty="0">
                <a:latin typeface="微软雅黑" panose="020B0503020204020204" pitchFamily="34" charset="-122"/>
                <a:ea typeface="微软雅黑" panose="020B0503020204020204" pitchFamily="34" charset="-122"/>
              </a:rPr>
              <a:t>在融合时空信息中，利用前阶段生成的节点特征和知识驱动的邻接矩阵，构建图神经网络。该网络将传感器视为图中的节点，从而在物理约束的拓扑结构上自适应地聚合空间信息。</a:t>
            </a:r>
            <a:r>
              <a:rPr lang="zh-CN" altLang="en-US" sz="1600" dirty="0">
                <a:latin typeface="微软雅黑" panose="020B0503020204020204" pitchFamily="34" charset="-122"/>
                <a:ea typeface="微软雅黑" panose="020B0503020204020204" pitchFamily="34" charset="-122"/>
              </a:rPr>
              <a:t>提取</a:t>
            </a:r>
            <a:r>
              <a:rPr lang="zh-CN" altLang="zh-CN" sz="1600" dirty="0">
                <a:latin typeface="微软雅黑" panose="020B0503020204020204" pitchFamily="34" charset="-122"/>
                <a:ea typeface="微软雅黑" panose="020B0503020204020204" pitchFamily="34" charset="-122"/>
              </a:rPr>
              <a:t>出能够表征整个系统健康状态的全局空间特征向量</a:t>
            </a:r>
            <a:r>
              <a:rPr lang="zh-CN" altLang="zh-CN" sz="1600" dirty="0"/>
              <a:t>。</a:t>
            </a:r>
          </a:p>
        </p:txBody>
      </p:sp>
    </p:spTree>
    <p:extLst>
      <p:ext uri="{BB962C8B-B14F-4D97-AF65-F5344CB8AC3E}">
        <p14:creationId xmlns:p14="http://schemas.microsoft.com/office/powerpoint/2010/main" val="22069132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E017DDA-8ED9-4B08-B97C-7F603D7733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490" y="1435084"/>
            <a:ext cx="5403225" cy="5236715"/>
          </a:xfrm>
          <a:prstGeom prst="rect">
            <a:avLst/>
          </a:prstGeom>
        </p:spPr>
      </p:pic>
      <p:sp>
        <p:nvSpPr>
          <p:cNvPr id="14" name="Rectangle 3">
            <a:extLst>
              <a:ext uri="{FF2B5EF4-FFF2-40B4-BE49-F238E27FC236}">
                <a16:creationId xmlns:a16="http://schemas.microsoft.com/office/drawing/2014/main" id="{BEE743BE-70E5-4BC7-B087-EAA82BD00EF2}"/>
              </a:ext>
            </a:extLst>
          </p:cNvPr>
          <p:cNvSpPr>
            <a:spLocks noChangeArrowheads="1"/>
          </p:cNvSpPr>
          <p:nvPr/>
        </p:nvSpPr>
        <p:spPr bwMode="auto">
          <a:xfrm>
            <a:off x="0" y="-328279"/>
            <a:ext cx="65" cy="656558"/>
          </a:xfrm>
          <a:prstGeom prst="rect">
            <a:avLst/>
          </a:prstGeom>
          <a:solidFill>
            <a:srgbClr val="EFEE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0784"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269" name="图片 268">
            <a:extLst>
              <a:ext uri="{FF2B5EF4-FFF2-40B4-BE49-F238E27FC236}">
                <a16:creationId xmlns:a16="http://schemas.microsoft.com/office/drawing/2014/main" id="{C4DC7501-3A3C-42A3-91ED-5CD5ABCAA5C5}"/>
              </a:ext>
            </a:extLst>
          </p:cNvPr>
          <p:cNvPicPr>
            <a:picLocks noChangeAspect="1"/>
          </p:cNvPicPr>
          <p:nvPr/>
        </p:nvPicPr>
        <p:blipFill>
          <a:blip r:embed="rId4"/>
          <a:stretch>
            <a:fillRect/>
          </a:stretch>
        </p:blipFill>
        <p:spPr>
          <a:xfrm>
            <a:off x="11300792" y="166376"/>
            <a:ext cx="674131" cy="674131"/>
          </a:xfrm>
          <a:prstGeom prst="rect">
            <a:avLst/>
          </a:prstGeom>
        </p:spPr>
      </p:pic>
      <p:cxnSp>
        <p:nvCxnSpPr>
          <p:cNvPr id="270" name="直接连接符 3">
            <a:extLst>
              <a:ext uri="{FF2B5EF4-FFF2-40B4-BE49-F238E27FC236}">
                <a16:creationId xmlns:a16="http://schemas.microsoft.com/office/drawing/2014/main" id="{C37F35FD-FF27-4C52-90DA-FABBD8DE340E}"/>
              </a:ext>
            </a:extLst>
          </p:cNvPr>
          <p:cNvCxnSpPr>
            <a:cxnSpLocks/>
          </p:cNvCxnSpPr>
          <p:nvPr/>
        </p:nvCxnSpPr>
        <p:spPr>
          <a:xfrm>
            <a:off x="0" y="835438"/>
            <a:ext cx="11105147" cy="0"/>
          </a:xfrm>
          <a:prstGeom prst="line">
            <a:avLst/>
          </a:prstGeom>
          <a:ln w="76200">
            <a:solidFill>
              <a:srgbClr val="0054A6"/>
            </a:solidFill>
          </a:ln>
        </p:spPr>
        <p:style>
          <a:lnRef idx="1">
            <a:schemeClr val="accent1"/>
          </a:lnRef>
          <a:fillRef idx="0">
            <a:schemeClr val="accent1"/>
          </a:fillRef>
          <a:effectRef idx="0">
            <a:schemeClr val="accent1"/>
          </a:effectRef>
          <a:fontRef idx="minor">
            <a:schemeClr val="tx1"/>
          </a:fontRef>
        </p:style>
      </p:cxnSp>
      <p:sp>
        <p:nvSpPr>
          <p:cNvPr id="271" name="矩形 270">
            <a:extLst>
              <a:ext uri="{FF2B5EF4-FFF2-40B4-BE49-F238E27FC236}">
                <a16:creationId xmlns:a16="http://schemas.microsoft.com/office/drawing/2014/main" id="{7C183573-A5E7-4167-B21E-8DA38CC841AE}"/>
              </a:ext>
            </a:extLst>
          </p:cNvPr>
          <p:cNvSpPr/>
          <p:nvPr/>
        </p:nvSpPr>
        <p:spPr>
          <a:xfrm>
            <a:off x="0" y="181976"/>
            <a:ext cx="3068053" cy="558709"/>
          </a:xfrm>
          <a:prstGeom prst="rect">
            <a:avLst/>
          </a:prstGeom>
          <a:solidFill>
            <a:schemeClr val="accent1">
              <a:lumMod val="75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黑体" panose="02010609060101010101" pitchFamily="49" charset="-122"/>
                <a:ea typeface="黑体" panose="02010609060101010101" pitchFamily="49" charset="-122"/>
              </a:rPr>
              <a:t>研究内容</a:t>
            </a:r>
            <a:r>
              <a:rPr lang="en-US" altLang="zh-CN" sz="2400" b="1" dirty="0">
                <a:latin typeface="黑体" panose="02010609060101010101" pitchFamily="49" charset="-122"/>
                <a:ea typeface="黑体" panose="02010609060101010101" pitchFamily="49" charset="-122"/>
              </a:rPr>
              <a:t>2</a:t>
            </a:r>
            <a:endParaRPr lang="zh-CN" altLang="en-US" sz="2400" b="1" dirty="0">
              <a:latin typeface="黑体" panose="02010609060101010101" pitchFamily="49" charset="-122"/>
              <a:ea typeface="黑体" panose="02010609060101010101" pitchFamily="49" charset="-122"/>
            </a:endParaRPr>
          </a:p>
        </p:txBody>
      </p:sp>
      <p:sp>
        <p:nvSpPr>
          <p:cNvPr id="62" name="矩形: 圆角 61">
            <a:extLst>
              <a:ext uri="{FF2B5EF4-FFF2-40B4-BE49-F238E27FC236}">
                <a16:creationId xmlns:a16="http://schemas.microsoft.com/office/drawing/2014/main" id="{CC5B0FE9-391C-435C-B429-EAC45EAB99A1}"/>
              </a:ext>
            </a:extLst>
          </p:cNvPr>
          <p:cNvSpPr/>
          <p:nvPr/>
        </p:nvSpPr>
        <p:spPr>
          <a:xfrm>
            <a:off x="0" y="887360"/>
            <a:ext cx="5565272" cy="419133"/>
          </a:xfrm>
          <a:prstGeom prst="roundRect">
            <a:avLst>
              <a:gd name="adj" fmla="val 9331"/>
            </a:avLst>
          </a:prstGeom>
          <a:solidFill>
            <a:srgbClr val="3B5E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kumimoji="0" lang="zh-CN" altLang="en-US"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研究内容</a:t>
            </a:r>
            <a:r>
              <a:rPr lang="en-US" altLang="zh-CN" b="1" dirty="0">
                <a:solidFill>
                  <a:prstClr val="white"/>
                </a:solidFill>
                <a:latin typeface="等线" panose="02010600030101010101" charset="-122"/>
                <a:ea typeface="等线" panose="02010600030101010101" charset="-122"/>
              </a:rPr>
              <a:t>2</a:t>
            </a:r>
            <a:r>
              <a:rPr kumimoji="0" lang="en-US" altLang="zh-CN"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r>
              <a:rPr lang="zh-CN" altLang="zh-CN" b="1" dirty="0">
                <a:solidFill>
                  <a:prstClr val="white"/>
                </a:solidFill>
                <a:latin typeface="等线" panose="02010600030101010101" charset="-122"/>
                <a:ea typeface="等线" panose="02010600030101010101" charset="-122"/>
              </a:rPr>
              <a:t>基于</a:t>
            </a:r>
            <a:r>
              <a:rPr lang="zh-CN" altLang="en-US" b="1" dirty="0">
                <a:solidFill>
                  <a:prstClr val="white"/>
                </a:solidFill>
                <a:latin typeface="等线" panose="02010600030101010101" charset="-122"/>
                <a:ea typeface="等线" panose="02010600030101010101" charset="-122"/>
              </a:rPr>
              <a:t>深度强化学习的预测性维护决策</a:t>
            </a:r>
            <a:endParaRPr lang="en-US" altLang="zh-CN" b="1" dirty="0">
              <a:solidFill>
                <a:prstClr val="white"/>
              </a:solidFill>
              <a:latin typeface="等线" panose="02010600030101010101" charset="-122"/>
              <a:ea typeface="等线" panose="02010600030101010101" charset="-122"/>
            </a:endParaRPr>
          </a:p>
        </p:txBody>
      </p:sp>
      <p:sp>
        <p:nvSpPr>
          <p:cNvPr id="63" name="文本框 62">
            <a:extLst>
              <a:ext uri="{FF2B5EF4-FFF2-40B4-BE49-F238E27FC236}">
                <a16:creationId xmlns:a16="http://schemas.microsoft.com/office/drawing/2014/main" id="{0FB96572-DB01-4509-98E6-582977F501B3}"/>
              </a:ext>
            </a:extLst>
          </p:cNvPr>
          <p:cNvSpPr txBox="1"/>
          <p:nvPr/>
        </p:nvSpPr>
        <p:spPr>
          <a:xfrm>
            <a:off x="5533089" y="1306493"/>
            <a:ext cx="6178060" cy="830997"/>
          </a:xfrm>
          <a:prstGeom prst="rect">
            <a:avLst/>
          </a:prstGeom>
          <a:noFill/>
        </p:spPr>
        <p:txBody>
          <a:bodyPr wrap="square">
            <a:spAutoFit/>
          </a:bodyPr>
          <a:lstStyle/>
          <a:p>
            <a:pPr marL="285750" indent="-285750" algn="just">
              <a:buFont typeface="Wingdings" panose="05000000000000000000" pitchFamily="2" charset="2"/>
              <a:buChar char="Ø"/>
            </a:pPr>
            <a:r>
              <a:rPr lang="zh-CN" altLang="zh-CN" sz="1600" b="1" dirty="0"/>
              <a:t>预测信息不确定性量化实现</a:t>
            </a:r>
            <a:r>
              <a:rPr lang="zh-CN" altLang="en-US" sz="1600" dirty="0"/>
              <a:t>：</a:t>
            </a:r>
            <a:r>
              <a:rPr lang="zh-CN" altLang="zh-CN" sz="1600" dirty="0">
                <a:latin typeface="微软雅黑" panose="020B0503020204020204" pitchFamily="34" charset="-122"/>
                <a:ea typeface="微软雅黑" panose="020B0503020204020204" pitchFamily="34" charset="-122"/>
              </a:rPr>
              <a:t>利用累积分布函数</a:t>
            </a:r>
            <a:r>
              <a:rPr lang="en-US" altLang="zh-CN" sz="1600" dirty="0">
                <a:latin typeface="微软雅黑" panose="020B0503020204020204" pitchFamily="34" charset="-122"/>
                <a:ea typeface="微软雅黑" panose="020B0503020204020204" pitchFamily="34" charset="-122"/>
              </a:rPr>
              <a:t>(CDF)</a:t>
            </a:r>
            <a:r>
              <a:rPr lang="en-US" altLang="zh-CN" sz="1600" kern="100" dirty="0">
                <a:effectLst/>
                <a:latin typeface="微软雅黑" panose="020B0503020204020204" pitchFamily="34" charset="-122"/>
                <a:ea typeface="微软雅黑" panose="020B0503020204020204" pitchFamily="34" charset="-122"/>
              </a:rPr>
              <a:t> F(t)=P(</a:t>
            </a:r>
            <a:r>
              <a:rPr lang="en-US" altLang="zh-CN" sz="1600" kern="100" dirty="0" err="1">
                <a:effectLst/>
                <a:latin typeface="微软雅黑" panose="020B0503020204020204" pitchFamily="34" charset="-122"/>
                <a:ea typeface="微软雅黑" panose="020B0503020204020204" pitchFamily="34" charset="-122"/>
              </a:rPr>
              <a:t>RUL≤t</a:t>
            </a:r>
            <a:r>
              <a:rPr lang="en-US" altLang="zh-CN" sz="1600" kern="100" dirty="0">
                <a:effectLst/>
                <a:latin typeface="微软雅黑" panose="020B0503020204020204" pitchFamily="34" charset="-122"/>
                <a:ea typeface="微软雅黑" panose="020B0503020204020204" pitchFamily="34" charset="-122"/>
              </a:rPr>
              <a:t>)</a:t>
            </a:r>
            <a:r>
              <a:rPr lang="zh-CN" altLang="zh-CN" sz="1600" dirty="0">
                <a:latin typeface="微软雅黑" panose="020B0503020204020204" pitchFamily="34" charset="-122"/>
                <a:ea typeface="微软雅黑" panose="020B0503020204020204" pitchFamily="34" charset="-122"/>
              </a:rPr>
              <a:t>表征分布</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algn="just"/>
            <a:r>
              <a:rPr lang="en-US" altLang="zh-CN" sz="1600" dirty="0">
                <a:latin typeface="微软雅黑" panose="020B0503020204020204" pitchFamily="34" charset="-122"/>
                <a:ea typeface="微软雅黑" panose="020B0503020204020204" pitchFamily="34" charset="-122"/>
              </a:rPr>
              <a:t>     CDF</a:t>
            </a:r>
            <a:r>
              <a:rPr lang="zh-CN" altLang="en-US" sz="1600" dirty="0">
                <a:latin typeface="微软雅黑" panose="020B0503020204020204" pitchFamily="34" charset="-122"/>
                <a:ea typeface="微软雅黑" panose="020B0503020204020204" pitchFamily="34" charset="-122"/>
              </a:rPr>
              <a:t>表征在某个时间步时故障概率，通过</a:t>
            </a:r>
            <a:r>
              <a:rPr lang="en-US" altLang="zh-CN" sz="1600" dirty="0">
                <a:latin typeface="微软雅黑" panose="020B0503020204020204" pitchFamily="34" charset="-122"/>
                <a:ea typeface="微软雅黑" panose="020B0503020204020204" pitchFamily="34" charset="-122"/>
              </a:rPr>
              <a:t>RUL</a:t>
            </a:r>
            <a:r>
              <a:rPr lang="zh-CN" altLang="en-US" sz="1600" dirty="0">
                <a:latin typeface="微软雅黑" panose="020B0503020204020204" pitchFamily="34" charset="-122"/>
                <a:ea typeface="微软雅黑" panose="020B0503020204020204" pitchFamily="34" charset="-122"/>
              </a:rPr>
              <a:t>概率密度分布获得</a:t>
            </a:r>
          </a:p>
        </p:txBody>
      </p:sp>
      <p:sp>
        <p:nvSpPr>
          <p:cNvPr id="65" name="文本框 64">
            <a:extLst>
              <a:ext uri="{FF2B5EF4-FFF2-40B4-BE49-F238E27FC236}">
                <a16:creationId xmlns:a16="http://schemas.microsoft.com/office/drawing/2014/main" id="{2F130713-D986-4137-9232-E07A66611BB1}"/>
              </a:ext>
            </a:extLst>
          </p:cNvPr>
          <p:cNvSpPr txBox="1"/>
          <p:nvPr/>
        </p:nvSpPr>
        <p:spPr>
          <a:xfrm>
            <a:off x="5533089" y="3395809"/>
            <a:ext cx="6178060" cy="1323439"/>
          </a:xfrm>
          <a:prstGeom prst="rect">
            <a:avLst/>
          </a:prstGeom>
          <a:noFill/>
        </p:spPr>
        <p:txBody>
          <a:bodyPr wrap="square">
            <a:spAutoFit/>
          </a:bodyPr>
          <a:lstStyle/>
          <a:p>
            <a:pPr marL="285750" indent="-285750" algn="just">
              <a:buFont typeface="Wingdings" panose="05000000000000000000" pitchFamily="2" charset="2"/>
              <a:buChar char="Ø"/>
            </a:pPr>
            <a:r>
              <a:rPr lang="zh-CN" altLang="en-US" sz="1600" b="1" dirty="0"/>
              <a:t>马尔可夫决策过程建模</a:t>
            </a:r>
            <a:endParaRPr lang="en-US" altLang="zh-CN" sz="1600" b="1" dirty="0"/>
          </a:p>
          <a:p>
            <a:pPr algn="just"/>
            <a:r>
              <a:rPr lang="en-US" altLang="zh-CN"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状态空间由多步</a:t>
            </a:r>
            <a:r>
              <a:rPr lang="en-US" altLang="zh-CN" sz="1600" dirty="0">
                <a:latin typeface="微软雅黑" panose="020B0503020204020204" pitchFamily="34" charset="-122"/>
                <a:ea typeface="微软雅黑" panose="020B0503020204020204" pitchFamily="34" charset="-122"/>
              </a:rPr>
              <a:t>CDF</a:t>
            </a:r>
            <a:r>
              <a:rPr lang="zh-CN" altLang="zh-CN" sz="1600" dirty="0">
                <a:latin typeface="微软雅黑" panose="020B0503020204020204" pitchFamily="34" charset="-122"/>
                <a:ea typeface="微软雅黑" panose="020B0503020204020204" pitchFamily="34" charset="-122"/>
              </a:rPr>
              <a:t>拼接向量、维护资源可用性（备件库存、维修人力）构成；</a:t>
            </a:r>
            <a:endParaRPr lang="en-US" altLang="zh-CN" sz="1600" dirty="0">
              <a:latin typeface="微软雅黑" panose="020B0503020204020204" pitchFamily="34" charset="-122"/>
              <a:ea typeface="微软雅黑" panose="020B0503020204020204" pitchFamily="34" charset="-122"/>
            </a:endParaRPr>
          </a:p>
          <a:p>
            <a:pPr algn="just"/>
            <a:r>
              <a:rPr lang="en-US" altLang="zh-CN"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动作空间定义为对每台设备选择</a:t>
            </a:r>
            <a:r>
              <a:rPr lang="en-US" altLang="zh-CN" sz="1600" dirty="0">
                <a:latin typeface="微软雅黑" panose="020B0503020204020204" pitchFamily="34" charset="-122"/>
                <a:ea typeface="微软雅黑" panose="020B0503020204020204" pitchFamily="34" charset="-122"/>
              </a:rPr>
              <a:t>“</a:t>
            </a:r>
            <a:r>
              <a:rPr lang="zh-CN" altLang="zh-CN" sz="1600" dirty="0">
                <a:latin typeface="微软雅黑" panose="020B0503020204020204" pitchFamily="34" charset="-122"/>
                <a:ea typeface="微软雅黑" panose="020B0503020204020204" pitchFamily="34" charset="-122"/>
              </a:rPr>
              <a:t>无动作</a:t>
            </a:r>
            <a:r>
              <a:rPr lang="en-US" altLang="zh-CN" sz="1600" dirty="0">
                <a:latin typeface="微软雅黑" panose="020B0503020204020204" pitchFamily="34" charset="-122"/>
                <a:ea typeface="微软雅黑" panose="020B0503020204020204" pitchFamily="34" charset="-122"/>
              </a:rPr>
              <a:t>”“</a:t>
            </a:r>
            <a:r>
              <a:rPr lang="zh-CN" altLang="zh-CN" sz="1600" dirty="0">
                <a:latin typeface="微软雅黑" panose="020B0503020204020204" pitchFamily="34" charset="-122"/>
                <a:ea typeface="微软雅黑" panose="020B0503020204020204" pitchFamily="34" charset="-122"/>
              </a:rPr>
              <a:t>不完美维护</a:t>
            </a:r>
            <a:r>
              <a:rPr lang="en-US" altLang="zh-CN" sz="1600" dirty="0">
                <a:latin typeface="微软雅黑" panose="020B0503020204020204" pitchFamily="34" charset="-122"/>
                <a:ea typeface="微软雅黑" panose="020B0503020204020204" pitchFamily="34" charset="-122"/>
              </a:rPr>
              <a:t>”</a:t>
            </a:r>
            <a:r>
              <a:rPr lang="zh-CN" altLang="zh-CN" sz="1600" dirty="0">
                <a:latin typeface="微软雅黑" panose="020B0503020204020204" pitchFamily="34" charset="-122"/>
                <a:ea typeface="微软雅黑" panose="020B0503020204020204" pitchFamily="34" charset="-122"/>
              </a:rPr>
              <a:t>或</a:t>
            </a:r>
            <a:r>
              <a:rPr lang="en-US" altLang="zh-CN" sz="1600" dirty="0">
                <a:latin typeface="微软雅黑" panose="020B0503020204020204" pitchFamily="34" charset="-122"/>
                <a:ea typeface="微软雅黑" panose="020B0503020204020204" pitchFamily="34" charset="-122"/>
              </a:rPr>
              <a:t>“</a:t>
            </a:r>
            <a:r>
              <a:rPr lang="zh-CN" altLang="zh-CN" sz="1600" dirty="0">
                <a:latin typeface="微软雅黑" panose="020B0503020204020204" pitchFamily="34" charset="-122"/>
                <a:ea typeface="微软雅黑" panose="020B0503020204020204" pitchFamily="34" charset="-122"/>
              </a:rPr>
              <a:t>纠正性维护</a:t>
            </a:r>
            <a:r>
              <a:rPr lang="en-US" altLang="zh-CN" sz="1600" dirty="0">
                <a:latin typeface="微软雅黑" panose="020B0503020204020204" pitchFamily="34" charset="-122"/>
                <a:ea typeface="微软雅黑" panose="020B0503020204020204" pitchFamily="34" charset="-122"/>
              </a:rPr>
              <a:t>”</a:t>
            </a:r>
            <a:r>
              <a:rPr lang="zh-CN" altLang="zh-CN" sz="1600" dirty="0">
                <a:latin typeface="微软雅黑" panose="020B0503020204020204" pitchFamily="34" charset="-122"/>
                <a:ea typeface="微软雅黑" panose="020B0503020204020204" pitchFamily="34" charset="-122"/>
              </a:rPr>
              <a:t>等维护操作</a:t>
            </a:r>
          </a:p>
        </p:txBody>
      </p:sp>
      <p:sp>
        <p:nvSpPr>
          <p:cNvPr id="66" name="文本框 65">
            <a:extLst>
              <a:ext uri="{FF2B5EF4-FFF2-40B4-BE49-F238E27FC236}">
                <a16:creationId xmlns:a16="http://schemas.microsoft.com/office/drawing/2014/main" id="{B35DF1A5-6D5B-4801-A5A1-85CFB6168F71}"/>
              </a:ext>
            </a:extLst>
          </p:cNvPr>
          <p:cNvSpPr txBox="1"/>
          <p:nvPr/>
        </p:nvSpPr>
        <p:spPr>
          <a:xfrm>
            <a:off x="5533089" y="5099075"/>
            <a:ext cx="6178060" cy="584775"/>
          </a:xfrm>
          <a:prstGeom prst="rect">
            <a:avLst/>
          </a:prstGeom>
          <a:noFill/>
        </p:spPr>
        <p:txBody>
          <a:bodyPr wrap="square">
            <a:spAutoFit/>
          </a:bodyPr>
          <a:lstStyle/>
          <a:p>
            <a:pPr marL="285750" indent="-285750" algn="just">
              <a:buFont typeface="Wingdings" panose="05000000000000000000" pitchFamily="2" charset="2"/>
              <a:buChar char="Ø"/>
            </a:pPr>
            <a:r>
              <a:rPr lang="zh-CN" altLang="en-US" sz="1600" b="1" dirty="0"/>
              <a:t>强化学习算法</a:t>
            </a:r>
            <a:endParaRPr lang="en-US" altLang="zh-CN" sz="1600" b="1" dirty="0"/>
          </a:p>
          <a:p>
            <a:pPr algn="just"/>
            <a:r>
              <a:rPr lang="en-US" altLang="zh-CN" sz="1600" dirty="0"/>
              <a:t>     </a:t>
            </a:r>
            <a:r>
              <a:rPr lang="zh-CN" altLang="zh-CN" sz="1600" dirty="0">
                <a:latin typeface="微软雅黑" panose="020B0503020204020204" pitchFamily="34" charset="-122"/>
                <a:ea typeface="微软雅黑" panose="020B0503020204020204" pitchFamily="34" charset="-122"/>
              </a:rPr>
              <a:t>采用</a:t>
            </a:r>
            <a:r>
              <a:rPr lang="en-US" altLang="zh-CN" sz="1600" i="0" dirty="0">
                <a:solidFill>
                  <a:srgbClr val="222226"/>
                </a:solidFill>
                <a:effectLst/>
                <a:latin typeface="微软雅黑" panose="020B0503020204020204" pitchFamily="34" charset="-122"/>
                <a:ea typeface="微软雅黑" panose="020B0503020204020204" pitchFamily="34" charset="-122"/>
              </a:rPr>
              <a:t>PPO</a:t>
            </a:r>
            <a:r>
              <a:rPr lang="zh-CN" altLang="zh-CN" sz="1600" dirty="0">
                <a:latin typeface="微软雅黑" panose="020B0503020204020204" pitchFamily="34" charset="-122"/>
                <a:ea typeface="微软雅黑" panose="020B0503020204020204" pitchFamily="34" charset="-122"/>
              </a:rPr>
              <a:t>算法训练维护智能体</a:t>
            </a:r>
          </a:p>
        </p:txBody>
      </p:sp>
      <p:pic>
        <p:nvPicPr>
          <p:cNvPr id="12" name="图片 11">
            <a:extLst>
              <a:ext uri="{FF2B5EF4-FFF2-40B4-BE49-F238E27FC236}">
                <a16:creationId xmlns:a16="http://schemas.microsoft.com/office/drawing/2014/main" id="{2D730007-9B1B-4860-A6C9-BF67EC78FBAA}"/>
              </a:ext>
            </a:extLst>
          </p:cNvPr>
          <p:cNvPicPr>
            <a:picLocks noChangeAspect="1"/>
          </p:cNvPicPr>
          <p:nvPr/>
        </p:nvPicPr>
        <p:blipFill>
          <a:blip r:embed="rId5"/>
          <a:stretch>
            <a:fillRect/>
          </a:stretch>
        </p:blipFill>
        <p:spPr>
          <a:xfrm>
            <a:off x="7194551" y="2163411"/>
            <a:ext cx="1098549" cy="978473"/>
          </a:xfrm>
          <a:prstGeom prst="rect">
            <a:avLst/>
          </a:prstGeom>
        </p:spPr>
      </p:pic>
      <p:sp>
        <p:nvSpPr>
          <p:cNvPr id="74" name="文本框 73">
            <a:extLst>
              <a:ext uri="{FF2B5EF4-FFF2-40B4-BE49-F238E27FC236}">
                <a16:creationId xmlns:a16="http://schemas.microsoft.com/office/drawing/2014/main" id="{2D0F7D8B-A134-48D2-9F57-CC180AC8FB6B}"/>
              </a:ext>
            </a:extLst>
          </p:cNvPr>
          <p:cNvSpPr txBox="1"/>
          <p:nvPr/>
        </p:nvSpPr>
        <p:spPr>
          <a:xfrm>
            <a:off x="6619286" y="2524288"/>
            <a:ext cx="603250" cy="307777"/>
          </a:xfrm>
          <a:prstGeom prst="rect">
            <a:avLst/>
          </a:prstGeom>
          <a:noFill/>
        </p:spPr>
        <p:txBody>
          <a:bodyPr wrap="square">
            <a:spAutoFit/>
          </a:bodyPr>
          <a:lstStyle/>
          <a:p>
            <a:r>
              <a:rPr lang="en-US" altLang="zh-CN" sz="1400" kern="100" dirty="0">
                <a:latin typeface="Times New Roman" panose="02020603050405020304" pitchFamily="18" charset="0"/>
                <a:ea typeface="宋体" panose="02010600030101010101" pitchFamily="2" charset="-122"/>
              </a:rPr>
              <a:t>P</a:t>
            </a:r>
            <a:r>
              <a:rPr lang="en-US" altLang="zh-CN" sz="1400" kern="100" dirty="0">
                <a:effectLst/>
                <a:latin typeface="Times New Roman" panose="02020603050405020304" pitchFamily="18" charset="0"/>
                <a:ea typeface="宋体" panose="02010600030101010101" pitchFamily="2" charset="-122"/>
              </a:rPr>
              <a:t>DF</a:t>
            </a:r>
            <a:endParaRPr lang="zh-CN" altLang="en-US" sz="1400" dirty="0"/>
          </a:p>
        </p:txBody>
      </p:sp>
      <p:pic>
        <p:nvPicPr>
          <p:cNvPr id="15" name="图片 14">
            <a:extLst>
              <a:ext uri="{FF2B5EF4-FFF2-40B4-BE49-F238E27FC236}">
                <a16:creationId xmlns:a16="http://schemas.microsoft.com/office/drawing/2014/main" id="{1FE1007A-261E-4742-81DF-520F5E16BE73}"/>
              </a:ext>
            </a:extLst>
          </p:cNvPr>
          <p:cNvPicPr>
            <a:picLocks noChangeAspect="1"/>
          </p:cNvPicPr>
          <p:nvPr/>
        </p:nvPicPr>
        <p:blipFill>
          <a:blip r:embed="rId6"/>
          <a:stretch>
            <a:fillRect/>
          </a:stretch>
        </p:blipFill>
        <p:spPr>
          <a:xfrm>
            <a:off x="9179428" y="2133096"/>
            <a:ext cx="1158550" cy="1039101"/>
          </a:xfrm>
          <a:prstGeom prst="rect">
            <a:avLst/>
          </a:prstGeom>
        </p:spPr>
      </p:pic>
      <p:sp>
        <p:nvSpPr>
          <p:cNvPr id="76" name="文本框 75">
            <a:extLst>
              <a:ext uri="{FF2B5EF4-FFF2-40B4-BE49-F238E27FC236}">
                <a16:creationId xmlns:a16="http://schemas.microsoft.com/office/drawing/2014/main" id="{91C98BDE-C912-4BA5-9F14-093955E4D614}"/>
              </a:ext>
            </a:extLst>
          </p:cNvPr>
          <p:cNvSpPr txBox="1"/>
          <p:nvPr/>
        </p:nvSpPr>
        <p:spPr>
          <a:xfrm>
            <a:off x="8622119" y="2498757"/>
            <a:ext cx="603250" cy="307777"/>
          </a:xfrm>
          <a:prstGeom prst="rect">
            <a:avLst/>
          </a:prstGeom>
          <a:noFill/>
        </p:spPr>
        <p:txBody>
          <a:bodyPr wrap="square">
            <a:spAutoFit/>
          </a:bodyPr>
          <a:lstStyle/>
          <a:p>
            <a:r>
              <a:rPr lang="en-US" altLang="zh-CN" sz="1400" kern="100" dirty="0">
                <a:latin typeface="Times New Roman" panose="02020603050405020304" pitchFamily="18" charset="0"/>
                <a:ea typeface="宋体" panose="02010600030101010101" pitchFamily="2" charset="-122"/>
              </a:rPr>
              <a:t>CD</a:t>
            </a:r>
            <a:r>
              <a:rPr lang="en-US" altLang="zh-CN" sz="1400" kern="100" dirty="0">
                <a:effectLst/>
                <a:latin typeface="Times New Roman" panose="02020603050405020304" pitchFamily="18" charset="0"/>
                <a:ea typeface="宋体" panose="02010600030101010101" pitchFamily="2" charset="-122"/>
              </a:rPr>
              <a:t>F</a:t>
            </a:r>
            <a:endParaRPr lang="zh-CN" altLang="en-US" sz="1400" dirty="0"/>
          </a:p>
        </p:txBody>
      </p:sp>
      <p:cxnSp>
        <p:nvCxnSpPr>
          <p:cNvPr id="17" name="直接箭头连接符 16">
            <a:extLst>
              <a:ext uri="{FF2B5EF4-FFF2-40B4-BE49-F238E27FC236}">
                <a16:creationId xmlns:a16="http://schemas.microsoft.com/office/drawing/2014/main" id="{13E84C06-934D-4876-ADCA-85516DAE4E1F}"/>
              </a:ext>
            </a:extLst>
          </p:cNvPr>
          <p:cNvCxnSpPr>
            <a:stCxn id="12" idx="3"/>
            <a:endCxn id="76" idx="1"/>
          </p:cNvCxnSpPr>
          <p:nvPr/>
        </p:nvCxnSpPr>
        <p:spPr>
          <a:xfrm flipV="1">
            <a:off x="8293100" y="2652646"/>
            <a:ext cx="329019" cy="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954682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3">
            <a:extLst>
              <a:ext uri="{FF2B5EF4-FFF2-40B4-BE49-F238E27FC236}">
                <a16:creationId xmlns:a16="http://schemas.microsoft.com/office/drawing/2014/main" id="{BEE743BE-70E5-4BC7-B087-EAA82BD00EF2}"/>
              </a:ext>
            </a:extLst>
          </p:cNvPr>
          <p:cNvSpPr>
            <a:spLocks noChangeArrowheads="1"/>
          </p:cNvSpPr>
          <p:nvPr/>
        </p:nvSpPr>
        <p:spPr bwMode="auto">
          <a:xfrm>
            <a:off x="0" y="-328279"/>
            <a:ext cx="65" cy="656558"/>
          </a:xfrm>
          <a:prstGeom prst="rect">
            <a:avLst/>
          </a:prstGeom>
          <a:solidFill>
            <a:srgbClr val="EFEE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0784"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269" name="图片 268">
            <a:extLst>
              <a:ext uri="{FF2B5EF4-FFF2-40B4-BE49-F238E27FC236}">
                <a16:creationId xmlns:a16="http://schemas.microsoft.com/office/drawing/2014/main" id="{C4DC7501-3A3C-42A3-91ED-5CD5ABCAA5C5}"/>
              </a:ext>
            </a:extLst>
          </p:cNvPr>
          <p:cNvPicPr>
            <a:picLocks noChangeAspect="1"/>
          </p:cNvPicPr>
          <p:nvPr/>
        </p:nvPicPr>
        <p:blipFill>
          <a:blip r:embed="rId3"/>
          <a:stretch>
            <a:fillRect/>
          </a:stretch>
        </p:blipFill>
        <p:spPr>
          <a:xfrm>
            <a:off x="11300792" y="166376"/>
            <a:ext cx="674131" cy="674131"/>
          </a:xfrm>
          <a:prstGeom prst="rect">
            <a:avLst/>
          </a:prstGeom>
        </p:spPr>
      </p:pic>
      <p:cxnSp>
        <p:nvCxnSpPr>
          <p:cNvPr id="270" name="直接连接符 3">
            <a:extLst>
              <a:ext uri="{FF2B5EF4-FFF2-40B4-BE49-F238E27FC236}">
                <a16:creationId xmlns:a16="http://schemas.microsoft.com/office/drawing/2014/main" id="{C37F35FD-FF27-4C52-90DA-FABBD8DE340E}"/>
              </a:ext>
            </a:extLst>
          </p:cNvPr>
          <p:cNvCxnSpPr>
            <a:cxnSpLocks/>
          </p:cNvCxnSpPr>
          <p:nvPr/>
        </p:nvCxnSpPr>
        <p:spPr>
          <a:xfrm>
            <a:off x="0" y="835438"/>
            <a:ext cx="11105147" cy="0"/>
          </a:xfrm>
          <a:prstGeom prst="line">
            <a:avLst/>
          </a:prstGeom>
          <a:ln w="76200">
            <a:solidFill>
              <a:srgbClr val="0054A6"/>
            </a:solidFill>
          </a:ln>
        </p:spPr>
        <p:style>
          <a:lnRef idx="1">
            <a:schemeClr val="accent1"/>
          </a:lnRef>
          <a:fillRef idx="0">
            <a:schemeClr val="accent1"/>
          </a:fillRef>
          <a:effectRef idx="0">
            <a:schemeClr val="accent1"/>
          </a:effectRef>
          <a:fontRef idx="minor">
            <a:schemeClr val="tx1"/>
          </a:fontRef>
        </p:style>
      </p:cxnSp>
      <p:sp>
        <p:nvSpPr>
          <p:cNvPr id="271" name="矩形 270">
            <a:extLst>
              <a:ext uri="{FF2B5EF4-FFF2-40B4-BE49-F238E27FC236}">
                <a16:creationId xmlns:a16="http://schemas.microsoft.com/office/drawing/2014/main" id="{7C183573-A5E7-4167-B21E-8DA38CC841AE}"/>
              </a:ext>
            </a:extLst>
          </p:cNvPr>
          <p:cNvSpPr/>
          <p:nvPr/>
        </p:nvSpPr>
        <p:spPr>
          <a:xfrm>
            <a:off x="0" y="181976"/>
            <a:ext cx="3068053" cy="558709"/>
          </a:xfrm>
          <a:prstGeom prst="rect">
            <a:avLst/>
          </a:prstGeom>
          <a:solidFill>
            <a:schemeClr val="accent1">
              <a:lumMod val="75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黑体" panose="02010609060101010101" pitchFamily="49" charset="-122"/>
                <a:ea typeface="黑体" panose="02010609060101010101" pitchFamily="49" charset="-122"/>
              </a:rPr>
              <a:t>研究内容</a:t>
            </a:r>
            <a:r>
              <a:rPr lang="en-US" altLang="zh-CN" sz="2400" b="1" dirty="0">
                <a:latin typeface="黑体" panose="02010609060101010101" pitchFamily="49" charset="-122"/>
                <a:ea typeface="黑体" panose="02010609060101010101" pitchFamily="49" charset="-122"/>
              </a:rPr>
              <a:t>3</a:t>
            </a:r>
            <a:endParaRPr lang="zh-CN" altLang="en-US" sz="2400" b="1" dirty="0">
              <a:latin typeface="黑体" panose="02010609060101010101" pitchFamily="49" charset="-122"/>
              <a:ea typeface="黑体" panose="02010609060101010101" pitchFamily="49" charset="-122"/>
            </a:endParaRPr>
          </a:p>
        </p:txBody>
      </p:sp>
      <p:sp>
        <p:nvSpPr>
          <p:cNvPr id="58" name="文本框 57">
            <a:extLst>
              <a:ext uri="{FF2B5EF4-FFF2-40B4-BE49-F238E27FC236}">
                <a16:creationId xmlns:a16="http://schemas.microsoft.com/office/drawing/2014/main" id="{823A48F6-0DFD-449E-9CCB-507F4BC836C6}"/>
              </a:ext>
            </a:extLst>
          </p:cNvPr>
          <p:cNvSpPr txBox="1"/>
          <p:nvPr/>
        </p:nvSpPr>
        <p:spPr>
          <a:xfrm>
            <a:off x="5321791" y="1584788"/>
            <a:ext cx="6178060" cy="1077218"/>
          </a:xfrm>
          <a:prstGeom prst="rect">
            <a:avLst/>
          </a:prstGeom>
          <a:noFill/>
        </p:spPr>
        <p:txBody>
          <a:bodyPr wrap="square">
            <a:spAutoFit/>
          </a:bodyPr>
          <a:lstStyle/>
          <a:p>
            <a:pPr marL="285750" indent="-285750" algn="just">
              <a:buFont typeface="Wingdings" panose="05000000000000000000" pitchFamily="2" charset="2"/>
              <a:buChar char="Ø"/>
            </a:pPr>
            <a:r>
              <a:rPr lang="zh-CN" altLang="zh-CN" sz="1600" b="1" dirty="0"/>
              <a:t>系统建模与智能体划分</a:t>
            </a:r>
            <a:endParaRPr lang="en-US" altLang="zh-CN" sz="1600" b="1" dirty="0"/>
          </a:p>
          <a:p>
            <a:pPr algn="just"/>
            <a:r>
              <a:rPr lang="en-US" altLang="zh-CN" sz="1600" dirty="0"/>
              <a:t>     </a:t>
            </a:r>
            <a:r>
              <a:rPr lang="zh-CN" altLang="zh-CN" sz="1600" dirty="0">
                <a:latin typeface="微软雅黑" panose="020B0503020204020204" pitchFamily="34" charset="-122"/>
                <a:ea typeface="微软雅黑" panose="020B0503020204020204" pitchFamily="34" charset="-122"/>
              </a:rPr>
              <a:t>系统中每台关键设备配置一个独立的调度智能体，负责为其分配待加工工件；同时引入一个全局维护智能体，基于设备健康状态动态生成各设备的维护决策。</a:t>
            </a:r>
            <a:endParaRPr lang="zh-CN" altLang="en-US" sz="1600" dirty="0">
              <a:latin typeface="微软雅黑" panose="020B0503020204020204" pitchFamily="34" charset="-122"/>
              <a:ea typeface="微软雅黑" panose="020B0503020204020204" pitchFamily="34" charset="-122"/>
            </a:endParaRPr>
          </a:p>
        </p:txBody>
      </p:sp>
      <p:sp>
        <p:nvSpPr>
          <p:cNvPr id="61" name="文本框 60">
            <a:extLst>
              <a:ext uri="{FF2B5EF4-FFF2-40B4-BE49-F238E27FC236}">
                <a16:creationId xmlns:a16="http://schemas.microsoft.com/office/drawing/2014/main" id="{ECBA09F8-0AE3-4448-AA5A-32EEAEB73A09}"/>
              </a:ext>
            </a:extLst>
          </p:cNvPr>
          <p:cNvSpPr txBox="1"/>
          <p:nvPr/>
        </p:nvSpPr>
        <p:spPr>
          <a:xfrm>
            <a:off x="5376035" y="4183955"/>
            <a:ext cx="6178060" cy="584775"/>
          </a:xfrm>
          <a:prstGeom prst="rect">
            <a:avLst/>
          </a:prstGeom>
          <a:noFill/>
        </p:spPr>
        <p:txBody>
          <a:bodyPr wrap="square">
            <a:spAutoFit/>
          </a:bodyPr>
          <a:lstStyle/>
          <a:p>
            <a:pPr marL="285750" indent="-285750" algn="just">
              <a:buFont typeface="Wingdings" panose="05000000000000000000" pitchFamily="2" charset="2"/>
              <a:buChar char="Ø"/>
            </a:pPr>
            <a:r>
              <a:rPr lang="zh-CN" altLang="en-US" sz="1600" b="1" dirty="0"/>
              <a:t>两阶段协同训练策略</a:t>
            </a:r>
            <a:endParaRPr lang="en-US" altLang="zh-CN" sz="1600" b="1" dirty="0"/>
          </a:p>
          <a:p>
            <a:pPr algn="just"/>
            <a:r>
              <a:rPr lang="zh-CN" altLang="en-US" sz="1600" b="0" i="0" dirty="0">
                <a:solidFill>
                  <a:srgbClr val="111827"/>
                </a:solidFill>
                <a:effectLst/>
                <a:latin typeface="system-ui"/>
              </a:rPr>
              <a:t>      </a:t>
            </a:r>
            <a:endParaRPr lang="zh-CN" altLang="zh-CN" sz="1600" dirty="0"/>
          </a:p>
        </p:txBody>
      </p:sp>
      <p:sp>
        <p:nvSpPr>
          <p:cNvPr id="64" name="文本框 63">
            <a:extLst>
              <a:ext uri="{FF2B5EF4-FFF2-40B4-BE49-F238E27FC236}">
                <a16:creationId xmlns:a16="http://schemas.microsoft.com/office/drawing/2014/main" id="{3DBDCB37-9D11-4910-A263-7236FD11AE5C}"/>
              </a:ext>
            </a:extLst>
          </p:cNvPr>
          <p:cNvSpPr txBox="1"/>
          <p:nvPr/>
        </p:nvSpPr>
        <p:spPr>
          <a:xfrm>
            <a:off x="5321791" y="2940301"/>
            <a:ext cx="6178060" cy="1077218"/>
          </a:xfrm>
          <a:prstGeom prst="rect">
            <a:avLst/>
          </a:prstGeom>
          <a:noFill/>
        </p:spPr>
        <p:txBody>
          <a:bodyPr wrap="square">
            <a:spAutoFit/>
          </a:bodyPr>
          <a:lstStyle/>
          <a:p>
            <a:pPr marL="285750" indent="-285750" algn="just">
              <a:buFont typeface="Wingdings" panose="05000000000000000000" pitchFamily="2" charset="2"/>
              <a:buChar char="Ø"/>
            </a:pPr>
            <a:r>
              <a:rPr lang="zh-CN" altLang="zh-CN" sz="1600" b="1" dirty="0"/>
              <a:t>智能体预训练</a:t>
            </a:r>
            <a:endParaRPr lang="en-US" altLang="zh-CN" sz="1600" b="1" dirty="0"/>
          </a:p>
          <a:p>
            <a:pPr algn="just"/>
            <a:r>
              <a:rPr lang="zh-CN" altLang="en-US" sz="1600" dirty="0"/>
              <a:t>     </a:t>
            </a:r>
            <a:r>
              <a:rPr lang="zh-CN" altLang="en-US" sz="1600" dirty="0">
                <a:latin typeface="微软雅黑" panose="020B0503020204020204" pitchFamily="34" charset="-122"/>
                <a:ea typeface="微软雅黑" panose="020B0503020204020204" pitchFamily="34" charset="-122"/>
              </a:rPr>
              <a:t>以第二部分得到的智能体作为维护智能体；调度模块进行调度预训练；</a:t>
            </a:r>
            <a:r>
              <a:rPr lang="zh-CN" altLang="zh-CN" sz="1600" dirty="0">
                <a:latin typeface="微软雅黑" panose="020B0503020204020204" pitchFamily="34" charset="-122"/>
                <a:ea typeface="微软雅黑" panose="020B0503020204020204" pitchFamily="34" charset="-122"/>
              </a:rPr>
              <a:t>采用</a:t>
            </a:r>
            <a:r>
              <a:rPr lang="en-US" altLang="zh-CN" sz="1600" b="1" dirty="0">
                <a:latin typeface="微软雅黑" panose="020B0503020204020204" pitchFamily="34" charset="-122"/>
                <a:ea typeface="微软雅黑" panose="020B0503020204020204" pitchFamily="34" charset="-122"/>
              </a:rPr>
              <a:t>QMIX</a:t>
            </a:r>
            <a:r>
              <a:rPr lang="zh-CN" altLang="zh-CN" sz="1600" dirty="0">
                <a:latin typeface="微软雅黑" panose="020B0503020204020204" pitchFamily="34" charset="-122"/>
                <a:ea typeface="微软雅黑" panose="020B0503020204020204" pitchFamily="34" charset="-122"/>
              </a:rPr>
              <a:t>多智能体强化学习算法对所有调度智能体进行联合训练</a:t>
            </a:r>
          </a:p>
        </p:txBody>
      </p:sp>
      <p:sp>
        <p:nvSpPr>
          <p:cNvPr id="16" name="文本框 15">
            <a:extLst>
              <a:ext uri="{FF2B5EF4-FFF2-40B4-BE49-F238E27FC236}">
                <a16:creationId xmlns:a16="http://schemas.microsoft.com/office/drawing/2014/main" id="{079F70EE-256C-4A6B-9821-A698A3FED740}"/>
              </a:ext>
            </a:extLst>
          </p:cNvPr>
          <p:cNvSpPr txBox="1"/>
          <p:nvPr/>
        </p:nvSpPr>
        <p:spPr>
          <a:xfrm>
            <a:off x="5709141" y="4476342"/>
            <a:ext cx="6178060" cy="1077218"/>
          </a:xfrm>
          <a:prstGeom prst="rect">
            <a:avLst/>
          </a:prstGeom>
          <a:noFill/>
        </p:spPr>
        <p:txBody>
          <a:bodyPr wrap="square">
            <a:spAutoFit/>
          </a:bodyPr>
          <a:lstStyle/>
          <a:p>
            <a:pPr algn="just"/>
            <a:r>
              <a:rPr lang="zh-CN" altLang="en-US" sz="1600" b="1" i="0" dirty="0">
                <a:solidFill>
                  <a:srgbClr val="111827"/>
                </a:solidFill>
                <a:effectLst/>
                <a:latin typeface="system-ui"/>
              </a:rPr>
              <a:t>解耦训练</a:t>
            </a:r>
            <a:endParaRPr lang="en-US" altLang="zh-CN" sz="1600" b="1" dirty="0"/>
          </a:p>
          <a:p>
            <a:pPr algn="just"/>
            <a:r>
              <a:rPr lang="zh-CN" altLang="en-US" sz="1600" b="0" i="0" dirty="0">
                <a:solidFill>
                  <a:srgbClr val="2C2C36"/>
                </a:solidFill>
                <a:effectLst/>
                <a:latin typeface="微软雅黑" panose="020B0503020204020204" pitchFamily="34" charset="-122"/>
                <a:ea typeface="微软雅黑" panose="020B0503020204020204" pitchFamily="34" charset="-122"/>
              </a:rPr>
              <a:t>        </a:t>
            </a:r>
            <a:r>
              <a:rPr lang="en-US" altLang="zh-CN" sz="1600" b="0" i="0" dirty="0">
                <a:solidFill>
                  <a:srgbClr val="2C2C36"/>
                </a:solidFill>
                <a:effectLst/>
                <a:latin typeface="微软雅黑" panose="020B0503020204020204" pitchFamily="34" charset="-122"/>
                <a:ea typeface="微软雅黑" panose="020B0503020204020204" pitchFamily="34" charset="-122"/>
              </a:rPr>
              <a:t>1.</a:t>
            </a:r>
            <a:r>
              <a:rPr lang="zh-CN" altLang="en-US" sz="1600" b="0" i="0" dirty="0">
                <a:solidFill>
                  <a:srgbClr val="2C2C36"/>
                </a:solidFill>
                <a:effectLst/>
                <a:latin typeface="微软雅黑" panose="020B0503020204020204" pitchFamily="34" charset="-122"/>
                <a:ea typeface="微软雅黑" panose="020B0503020204020204" pitchFamily="34" charset="-122"/>
              </a:rPr>
              <a:t>冻结所有调度智能体的网络参数，仅更新维护智能体策略</a:t>
            </a:r>
            <a:endParaRPr lang="en-US" altLang="zh-CN" sz="1600" b="0" i="0" dirty="0">
              <a:solidFill>
                <a:srgbClr val="2C2C36"/>
              </a:solidFill>
              <a:effectLst/>
              <a:latin typeface="微软雅黑" panose="020B0503020204020204" pitchFamily="34" charset="-122"/>
              <a:ea typeface="微软雅黑" panose="020B0503020204020204" pitchFamily="34" charset="-122"/>
            </a:endParaRPr>
          </a:p>
          <a:p>
            <a:pPr algn="just"/>
            <a:r>
              <a:rPr lang="en-US" altLang="zh-CN" sz="1600" dirty="0">
                <a:solidFill>
                  <a:srgbClr val="2C2C36"/>
                </a:solidFill>
                <a:latin typeface="微软雅黑" panose="020B0503020204020204" pitchFamily="34" charset="-122"/>
                <a:ea typeface="微软雅黑" panose="020B0503020204020204" pitchFamily="34" charset="-122"/>
              </a:rPr>
              <a:t>        2.</a:t>
            </a:r>
            <a:r>
              <a:rPr lang="zh-CN" altLang="en-US" sz="1600" b="0" i="0" dirty="0">
                <a:solidFill>
                  <a:srgbClr val="2C2C36"/>
                </a:solidFill>
                <a:effectLst/>
                <a:latin typeface="微软雅黑" panose="020B0503020204020204" pitchFamily="34" charset="-122"/>
                <a:ea typeface="微软雅黑" panose="020B0503020204020204" pitchFamily="34" charset="-122"/>
              </a:rPr>
              <a:t>维护智能体以全局奖励作为反馈</a:t>
            </a:r>
            <a:endParaRPr lang="en-US" altLang="zh-CN" sz="1600" b="0" i="0" dirty="0">
              <a:solidFill>
                <a:srgbClr val="2C2C36"/>
              </a:solidFill>
              <a:effectLst/>
              <a:latin typeface="微软雅黑" panose="020B0503020204020204" pitchFamily="34" charset="-122"/>
              <a:ea typeface="微软雅黑" panose="020B0503020204020204" pitchFamily="34" charset="-122"/>
            </a:endParaRPr>
          </a:p>
          <a:p>
            <a:pPr algn="just"/>
            <a:r>
              <a:rPr lang="en-US" altLang="zh-CN" sz="1600" dirty="0">
                <a:solidFill>
                  <a:srgbClr val="2C2C36"/>
                </a:solidFill>
                <a:latin typeface="微软雅黑" panose="020B0503020204020204" pitchFamily="34" charset="-122"/>
                <a:ea typeface="微软雅黑" panose="020B0503020204020204" pitchFamily="34" charset="-122"/>
              </a:rPr>
              <a:t>        3.</a:t>
            </a:r>
            <a:r>
              <a:rPr lang="zh-CN" altLang="en-US" sz="1600" dirty="0">
                <a:solidFill>
                  <a:srgbClr val="2C2C36"/>
                </a:solidFill>
                <a:latin typeface="微软雅黑" panose="020B0503020204020204" pitchFamily="34" charset="-122"/>
                <a:ea typeface="微软雅黑" panose="020B0503020204020204" pitchFamily="34" charset="-122"/>
              </a:rPr>
              <a:t>训练直至维护策略收敛</a:t>
            </a:r>
            <a:endParaRPr lang="en-US" altLang="zh-CN" sz="1600" dirty="0">
              <a:solidFill>
                <a:srgbClr val="2C2C36"/>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89BF00E2-32CC-4AB0-A546-6725D2AEF52D}"/>
              </a:ext>
            </a:extLst>
          </p:cNvPr>
          <p:cNvSpPr txBox="1"/>
          <p:nvPr/>
        </p:nvSpPr>
        <p:spPr>
          <a:xfrm>
            <a:off x="5709141" y="5539468"/>
            <a:ext cx="6178060" cy="830997"/>
          </a:xfrm>
          <a:prstGeom prst="rect">
            <a:avLst/>
          </a:prstGeom>
          <a:noFill/>
        </p:spPr>
        <p:txBody>
          <a:bodyPr wrap="square">
            <a:spAutoFit/>
          </a:bodyPr>
          <a:lstStyle/>
          <a:p>
            <a:pPr algn="just"/>
            <a:r>
              <a:rPr lang="zh-CN" altLang="en-US" sz="1600" b="1" dirty="0">
                <a:solidFill>
                  <a:srgbClr val="111827"/>
                </a:solidFill>
                <a:latin typeface="system-ui"/>
              </a:rPr>
              <a:t>联合微调</a:t>
            </a:r>
            <a:endParaRPr lang="en-US" altLang="zh-CN" sz="1600" b="1" dirty="0"/>
          </a:p>
          <a:p>
            <a:pPr algn="just"/>
            <a:r>
              <a:rPr lang="zh-CN" altLang="en-US" sz="1600" b="0" i="0" dirty="0">
                <a:solidFill>
                  <a:srgbClr val="2C2C36"/>
                </a:solidFill>
                <a:effectLst/>
                <a:latin typeface="微软雅黑" panose="020B0503020204020204" pitchFamily="34" charset="-122"/>
                <a:ea typeface="微软雅黑" panose="020B0503020204020204" pitchFamily="34" charset="-122"/>
              </a:rPr>
              <a:t>        </a:t>
            </a:r>
            <a:r>
              <a:rPr lang="en-US" altLang="zh-CN" sz="1600" b="0" i="0" dirty="0">
                <a:solidFill>
                  <a:srgbClr val="2C2C36"/>
                </a:solidFill>
                <a:effectLst/>
                <a:latin typeface="微软雅黑" panose="020B0503020204020204" pitchFamily="34" charset="-122"/>
                <a:ea typeface="微软雅黑" panose="020B0503020204020204" pitchFamily="34" charset="-122"/>
              </a:rPr>
              <a:t>1.</a:t>
            </a:r>
            <a:r>
              <a:rPr lang="zh-CN" altLang="en-US" sz="1600" dirty="0">
                <a:solidFill>
                  <a:srgbClr val="2C2C36"/>
                </a:solidFill>
                <a:latin typeface="微软雅黑" panose="020B0503020204020204" pitchFamily="34" charset="-122"/>
                <a:ea typeface="微软雅黑" panose="020B0503020204020204" pitchFamily="34" charset="-122"/>
              </a:rPr>
              <a:t>解冻调度智能体，以极低学习率微调</a:t>
            </a:r>
            <a:endParaRPr lang="en-US" altLang="zh-CN" sz="1600" dirty="0">
              <a:solidFill>
                <a:srgbClr val="2C2C36"/>
              </a:solidFill>
              <a:latin typeface="微软雅黑" panose="020B0503020204020204" pitchFamily="34" charset="-122"/>
              <a:ea typeface="微软雅黑" panose="020B0503020204020204" pitchFamily="34" charset="-122"/>
            </a:endParaRPr>
          </a:p>
          <a:p>
            <a:pPr algn="just"/>
            <a:r>
              <a:rPr lang="en-US" altLang="zh-CN" sz="1600" dirty="0">
                <a:solidFill>
                  <a:srgbClr val="2C2C36"/>
                </a:solidFill>
                <a:latin typeface="微软雅黑" panose="020B0503020204020204" pitchFamily="34" charset="-122"/>
                <a:ea typeface="微软雅黑" panose="020B0503020204020204" pitchFamily="34" charset="-122"/>
              </a:rPr>
              <a:t>        2.</a:t>
            </a:r>
            <a:r>
              <a:rPr lang="zh-CN" altLang="en-US" sz="1600" dirty="0">
                <a:solidFill>
                  <a:srgbClr val="2C2C36"/>
                </a:solidFill>
                <a:latin typeface="微软雅黑" panose="020B0503020204020204" pitchFamily="34" charset="-122"/>
                <a:ea typeface="微软雅黑" panose="020B0503020204020204" pitchFamily="34" charset="-122"/>
              </a:rPr>
              <a:t>训练至收敛</a:t>
            </a:r>
            <a:endParaRPr lang="en-US" altLang="zh-CN" sz="1600" dirty="0">
              <a:solidFill>
                <a:srgbClr val="2C2C36"/>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B3C8AE10-88B5-4256-A967-B9CBAA555F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2409" y="1358414"/>
            <a:ext cx="4417732" cy="5483520"/>
          </a:xfrm>
          <a:prstGeom prst="rect">
            <a:avLst/>
          </a:prstGeom>
        </p:spPr>
      </p:pic>
      <p:sp>
        <p:nvSpPr>
          <p:cNvPr id="19" name="矩形: 圆角 18">
            <a:extLst>
              <a:ext uri="{FF2B5EF4-FFF2-40B4-BE49-F238E27FC236}">
                <a16:creationId xmlns:a16="http://schemas.microsoft.com/office/drawing/2014/main" id="{E385D0C7-F8ED-4094-8FB2-900A58ABEC6C}"/>
              </a:ext>
            </a:extLst>
          </p:cNvPr>
          <p:cNvSpPr/>
          <p:nvPr/>
        </p:nvSpPr>
        <p:spPr>
          <a:xfrm>
            <a:off x="0" y="887360"/>
            <a:ext cx="5565272" cy="419133"/>
          </a:xfrm>
          <a:prstGeom prst="roundRect">
            <a:avLst>
              <a:gd name="adj" fmla="val 9331"/>
            </a:avLst>
          </a:prstGeom>
          <a:solidFill>
            <a:srgbClr val="3B5E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kumimoji="0" lang="zh-CN" altLang="en-US"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研究内容</a:t>
            </a:r>
            <a:r>
              <a:rPr kumimoji="0" lang="en-US" altLang="zh-CN"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3—</a:t>
            </a:r>
            <a:r>
              <a:rPr kumimoji="0" lang="zh-CN" altLang="en-US"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面向智能车间的调度与维护协同</a:t>
            </a:r>
            <a:endParaRPr lang="en-US" altLang="zh-CN" b="1" dirty="0">
              <a:solidFill>
                <a:prstClr val="white"/>
              </a:solidFill>
              <a:latin typeface="等线" panose="02010600030101010101" charset="-122"/>
              <a:ea typeface="等线" panose="02010600030101010101" charset="-122"/>
            </a:endParaRPr>
          </a:p>
        </p:txBody>
      </p:sp>
    </p:spTree>
    <p:extLst>
      <p:ext uri="{BB962C8B-B14F-4D97-AF65-F5344CB8AC3E}">
        <p14:creationId xmlns:p14="http://schemas.microsoft.com/office/powerpoint/2010/main" val="17353904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3">
            <a:extLst>
              <a:ext uri="{FF2B5EF4-FFF2-40B4-BE49-F238E27FC236}">
                <a16:creationId xmlns:a16="http://schemas.microsoft.com/office/drawing/2014/main" id="{BEE743BE-70E5-4BC7-B087-EAA82BD00EF2}"/>
              </a:ext>
            </a:extLst>
          </p:cNvPr>
          <p:cNvSpPr>
            <a:spLocks noChangeArrowheads="1"/>
          </p:cNvSpPr>
          <p:nvPr/>
        </p:nvSpPr>
        <p:spPr bwMode="auto">
          <a:xfrm>
            <a:off x="0" y="-328279"/>
            <a:ext cx="65" cy="656558"/>
          </a:xfrm>
          <a:prstGeom prst="rect">
            <a:avLst/>
          </a:prstGeom>
          <a:solidFill>
            <a:srgbClr val="EFEE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0784"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269" name="图片 268">
            <a:extLst>
              <a:ext uri="{FF2B5EF4-FFF2-40B4-BE49-F238E27FC236}">
                <a16:creationId xmlns:a16="http://schemas.microsoft.com/office/drawing/2014/main" id="{C4DC7501-3A3C-42A3-91ED-5CD5ABCAA5C5}"/>
              </a:ext>
            </a:extLst>
          </p:cNvPr>
          <p:cNvPicPr>
            <a:picLocks noChangeAspect="1"/>
          </p:cNvPicPr>
          <p:nvPr/>
        </p:nvPicPr>
        <p:blipFill>
          <a:blip r:embed="rId3"/>
          <a:stretch>
            <a:fillRect/>
          </a:stretch>
        </p:blipFill>
        <p:spPr>
          <a:xfrm>
            <a:off x="11300792" y="166376"/>
            <a:ext cx="674131" cy="674131"/>
          </a:xfrm>
          <a:prstGeom prst="rect">
            <a:avLst/>
          </a:prstGeom>
        </p:spPr>
      </p:pic>
      <p:cxnSp>
        <p:nvCxnSpPr>
          <p:cNvPr id="270" name="直接连接符 3">
            <a:extLst>
              <a:ext uri="{FF2B5EF4-FFF2-40B4-BE49-F238E27FC236}">
                <a16:creationId xmlns:a16="http://schemas.microsoft.com/office/drawing/2014/main" id="{C37F35FD-FF27-4C52-90DA-FABBD8DE340E}"/>
              </a:ext>
            </a:extLst>
          </p:cNvPr>
          <p:cNvCxnSpPr>
            <a:cxnSpLocks/>
          </p:cNvCxnSpPr>
          <p:nvPr/>
        </p:nvCxnSpPr>
        <p:spPr>
          <a:xfrm>
            <a:off x="0" y="835438"/>
            <a:ext cx="11105147" cy="0"/>
          </a:xfrm>
          <a:prstGeom prst="line">
            <a:avLst/>
          </a:prstGeom>
          <a:ln w="76200">
            <a:solidFill>
              <a:srgbClr val="0054A6"/>
            </a:solidFill>
          </a:ln>
        </p:spPr>
        <p:style>
          <a:lnRef idx="1">
            <a:schemeClr val="accent1"/>
          </a:lnRef>
          <a:fillRef idx="0">
            <a:schemeClr val="accent1"/>
          </a:fillRef>
          <a:effectRef idx="0">
            <a:schemeClr val="accent1"/>
          </a:effectRef>
          <a:fontRef idx="minor">
            <a:schemeClr val="tx1"/>
          </a:fontRef>
        </p:style>
      </p:cxnSp>
      <p:sp>
        <p:nvSpPr>
          <p:cNvPr id="271" name="矩形 270">
            <a:extLst>
              <a:ext uri="{FF2B5EF4-FFF2-40B4-BE49-F238E27FC236}">
                <a16:creationId xmlns:a16="http://schemas.microsoft.com/office/drawing/2014/main" id="{7C183573-A5E7-4167-B21E-8DA38CC841AE}"/>
              </a:ext>
            </a:extLst>
          </p:cNvPr>
          <p:cNvSpPr/>
          <p:nvPr/>
        </p:nvSpPr>
        <p:spPr>
          <a:xfrm>
            <a:off x="0" y="181976"/>
            <a:ext cx="3068053" cy="558709"/>
          </a:xfrm>
          <a:prstGeom prst="rect">
            <a:avLst/>
          </a:prstGeom>
          <a:solidFill>
            <a:schemeClr val="accent1">
              <a:lumMod val="75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黑体" panose="02010609060101010101" pitchFamily="49" charset="-122"/>
                <a:ea typeface="黑体" panose="02010609060101010101" pitchFamily="49" charset="-122"/>
              </a:rPr>
              <a:t>研究内容</a:t>
            </a:r>
            <a:r>
              <a:rPr lang="en-US" altLang="zh-CN" sz="2400" b="1" dirty="0">
                <a:latin typeface="黑体" panose="02010609060101010101" pitchFamily="49" charset="-122"/>
                <a:ea typeface="黑体" panose="02010609060101010101" pitchFamily="49" charset="-122"/>
              </a:rPr>
              <a:t>4</a:t>
            </a:r>
            <a:endParaRPr lang="zh-CN" altLang="en-US" sz="2400" b="1" dirty="0">
              <a:latin typeface="黑体" panose="02010609060101010101" pitchFamily="49" charset="-122"/>
              <a:ea typeface="黑体" panose="02010609060101010101" pitchFamily="49" charset="-122"/>
            </a:endParaRPr>
          </a:p>
        </p:txBody>
      </p:sp>
      <p:sp>
        <p:nvSpPr>
          <p:cNvPr id="11" name="文本框 21">
            <a:extLst>
              <a:ext uri="{FF2B5EF4-FFF2-40B4-BE49-F238E27FC236}">
                <a16:creationId xmlns:a16="http://schemas.microsoft.com/office/drawing/2014/main" id="{097E2700-B923-458F-B38C-A7EF22162689}"/>
              </a:ext>
            </a:extLst>
          </p:cNvPr>
          <p:cNvSpPr txBox="1"/>
          <p:nvPr/>
        </p:nvSpPr>
        <p:spPr>
          <a:xfrm>
            <a:off x="643268" y="1540755"/>
            <a:ext cx="10388009" cy="1631216"/>
          </a:xfrm>
          <a:prstGeom prst="rect">
            <a:avLst/>
          </a:prstGeom>
          <a:noFill/>
        </p:spPr>
        <p:txBody>
          <a:bodyPr wrap="square" rtlCol="0">
            <a:spAutoFit/>
          </a:bodyPr>
          <a:lstStyle/>
          <a:p>
            <a:pPr indent="254000" algn="just"/>
            <a:r>
              <a:rPr lang="zh-CN" altLang="zh-CN" sz="2000" kern="100" dirty="0">
                <a:effectLst/>
                <a:latin typeface="微软雅黑" panose="020B0503020204020204" pitchFamily="34" charset="-122"/>
                <a:ea typeface="微软雅黑" panose="020B0503020204020204" pitchFamily="34" charset="-122"/>
              </a:rPr>
              <a:t>计划采用多工况下的发动机退化</a:t>
            </a:r>
            <a:r>
              <a:rPr lang="en-US" altLang="zh-CN" sz="2000" kern="100" dirty="0">
                <a:effectLst/>
                <a:latin typeface="微软雅黑" panose="020B0503020204020204" pitchFamily="34" charset="-122"/>
                <a:ea typeface="微软雅黑" panose="020B0503020204020204" pitchFamily="34" charset="-122"/>
              </a:rPr>
              <a:t>CMAPSS</a:t>
            </a:r>
            <a:r>
              <a:rPr lang="zh-CN" altLang="zh-CN" sz="2000" kern="100" dirty="0">
                <a:effectLst/>
                <a:latin typeface="微软雅黑" panose="020B0503020204020204" pitchFamily="34" charset="-122"/>
                <a:ea typeface="微软雅黑" panose="020B0503020204020204" pitchFamily="34" charset="-122"/>
              </a:rPr>
              <a:t>数据集模拟车间设备退化过程，采集退化数据，</a:t>
            </a:r>
            <a:r>
              <a:rPr lang="zh-CN" altLang="zh-CN" sz="2000" kern="100" spc="25" dirty="0">
                <a:solidFill>
                  <a:srgbClr val="2C2C36"/>
                </a:solidFill>
                <a:effectLst/>
                <a:latin typeface="微软雅黑" panose="020B0503020204020204" pitchFamily="34" charset="-122"/>
                <a:ea typeface="微软雅黑" panose="020B0503020204020204" pitchFamily="34" charset="-122"/>
                <a:cs typeface="Arial" panose="020B0604020202020204" pitchFamily="34" charset="0"/>
              </a:rPr>
              <a:t>该数据集包含多工况下涡扇发动机的全生命周期传感器监测数据，能够有效模拟智能车间中设备在复杂运行条件下的退化行为。</a:t>
            </a:r>
            <a:endParaRPr lang="zh-CN" altLang="zh-CN" sz="2000" kern="100" dirty="0">
              <a:effectLst/>
              <a:latin typeface="微软雅黑" panose="020B0503020204020204" pitchFamily="34" charset="-122"/>
              <a:ea typeface="微软雅黑" panose="020B0503020204020204" pitchFamily="34" charset="-122"/>
            </a:endParaRPr>
          </a:p>
          <a:p>
            <a:pPr indent="254000" algn="just"/>
            <a:r>
              <a:rPr lang="zh-CN" altLang="zh-CN" sz="2000" kern="100" dirty="0">
                <a:effectLst/>
                <a:latin typeface="微软雅黑" panose="020B0503020204020204" pitchFamily="34" charset="-122"/>
                <a:ea typeface="微软雅黑" panose="020B0503020204020204" pitchFamily="34" charset="-122"/>
              </a:rPr>
              <a:t>并通过设计飞机结构件机械加工车间，构建包含多台加工设备、动态工件到达的仿真环境，实现对维护调度任务协同策略的训练与验证。</a:t>
            </a:r>
          </a:p>
        </p:txBody>
      </p:sp>
      <p:pic>
        <p:nvPicPr>
          <p:cNvPr id="1026" name="Picture 2" descr="飞机典型零件数字化制造虚拟仿真">
            <a:extLst>
              <a:ext uri="{FF2B5EF4-FFF2-40B4-BE49-F238E27FC236}">
                <a16:creationId xmlns:a16="http://schemas.microsoft.com/office/drawing/2014/main" id="{0B08F236-61D4-48B7-B892-A3AF50C396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4081" y="3531572"/>
            <a:ext cx="3661986" cy="2490990"/>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6BE491CD-46AD-48B7-9D7B-5CFC5C536D17}"/>
              </a:ext>
            </a:extLst>
          </p:cNvPr>
          <p:cNvGrpSpPr/>
          <p:nvPr/>
        </p:nvGrpSpPr>
        <p:grpSpPr>
          <a:xfrm>
            <a:off x="109166" y="916807"/>
            <a:ext cx="10720084" cy="542580"/>
            <a:chOff x="478003" y="918875"/>
            <a:chExt cx="10720084" cy="542580"/>
          </a:xfrm>
        </p:grpSpPr>
        <p:sp>
          <p:nvSpPr>
            <p:cNvPr id="17" name="等腰三角形 133">
              <a:extLst>
                <a:ext uri="{FF2B5EF4-FFF2-40B4-BE49-F238E27FC236}">
                  <a16:creationId xmlns:a16="http://schemas.microsoft.com/office/drawing/2014/main" id="{A186A661-EFC8-4823-ACAC-3D9DE0BD1CC9}"/>
                </a:ext>
              </a:extLst>
            </p:cNvPr>
            <p:cNvSpPr/>
            <p:nvPr/>
          </p:nvSpPr>
          <p:spPr>
            <a:xfrm rot="5400000">
              <a:off x="463619" y="1093590"/>
              <a:ext cx="208097" cy="179330"/>
            </a:xfrm>
            <a:prstGeom prst="triangle">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4E79"/>
                </a:solidFill>
                <a:latin typeface="Microsoft YaHei" panose="020B0503020204020204" pitchFamily="34" charset="-122"/>
                <a:ea typeface="Microsoft YaHei" panose="020B0503020204020204" pitchFamily="34" charset="-122"/>
              </a:endParaRPr>
            </a:p>
          </p:txBody>
        </p:sp>
        <p:sp>
          <p:nvSpPr>
            <p:cNvPr id="18" name="矩形 17">
              <a:extLst>
                <a:ext uri="{FF2B5EF4-FFF2-40B4-BE49-F238E27FC236}">
                  <a16:creationId xmlns:a16="http://schemas.microsoft.com/office/drawing/2014/main" id="{9E4D6170-695E-4DAE-9BA1-B8FE5A4C4DA9}"/>
                </a:ext>
              </a:extLst>
            </p:cNvPr>
            <p:cNvSpPr/>
            <p:nvPr/>
          </p:nvSpPr>
          <p:spPr>
            <a:xfrm>
              <a:off x="657333" y="918875"/>
              <a:ext cx="10540754" cy="542580"/>
            </a:xfrm>
            <a:prstGeom prst="rect">
              <a:avLst/>
            </a:prstGeom>
            <a:noFill/>
            <a:ln>
              <a:noFill/>
            </a:ln>
          </p:spPr>
          <p:txBody>
            <a:bodyPr wrap="square" lIns="121917" tIns="60958" rIns="121917" bIns="60958">
              <a:spAutoFit/>
            </a:bodyPr>
            <a:lstStyle/>
            <a:p>
              <a:pPr>
                <a:lnSpc>
                  <a:spcPct val="125000"/>
                </a:lnSpc>
              </a:pPr>
              <a:r>
                <a:rPr lang="zh-CN" altLang="en-US" sz="2400" b="1" dirty="0">
                  <a:solidFill>
                    <a:srgbClr val="1F4E79"/>
                  </a:solidFill>
                  <a:latin typeface="Microsoft YaHei" panose="020B0503020204020204" pitchFamily="34" charset="-122"/>
                  <a:ea typeface="Microsoft YaHei" panose="020B0503020204020204" pitchFamily="34" charset="-122"/>
                  <a:cs typeface="Times New Roman" panose="02020603050405020304" pitchFamily="18" charset="0"/>
                </a:rPr>
                <a:t>实验验证</a:t>
              </a:r>
            </a:p>
          </p:txBody>
        </p:sp>
      </p:grpSp>
      <p:pic>
        <p:nvPicPr>
          <p:cNvPr id="12" name="图片 11">
            <a:extLst>
              <a:ext uri="{FF2B5EF4-FFF2-40B4-BE49-F238E27FC236}">
                <a16:creationId xmlns:a16="http://schemas.microsoft.com/office/drawing/2014/main" id="{FB21AD9B-EF67-42D4-9647-EEF61FB37877}"/>
              </a:ext>
            </a:extLst>
          </p:cNvPr>
          <p:cNvPicPr>
            <a:picLocks noChangeAspect="1"/>
          </p:cNvPicPr>
          <p:nvPr/>
        </p:nvPicPr>
        <p:blipFill>
          <a:blip r:embed="rId5"/>
          <a:stretch>
            <a:fillRect/>
          </a:stretch>
        </p:blipFill>
        <p:spPr>
          <a:xfrm>
            <a:off x="-72050" y="3531572"/>
            <a:ext cx="7842321" cy="2490990"/>
          </a:xfrm>
          <a:prstGeom prst="rect">
            <a:avLst/>
          </a:prstGeom>
          <a:ln>
            <a:noFill/>
          </a:ln>
          <a:effectLst/>
        </p:spPr>
      </p:pic>
    </p:spTree>
    <p:extLst>
      <p:ext uri="{BB962C8B-B14F-4D97-AF65-F5344CB8AC3E}">
        <p14:creationId xmlns:p14="http://schemas.microsoft.com/office/powerpoint/2010/main" val="32711268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3">
            <a:extLst>
              <a:ext uri="{FF2B5EF4-FFF2-40B4-BE49-F238E27FC236}">
                <a16:creationId xmlns:a16="http://schemas.microsoft.com/office/drawing/2014/main" id="{BEE743BE-70E5-4BC7-B087-EAA82BD00EF2}"/>
              </a:ext>
            </a:extLst>
          </p:cNvPr>
          <p:cNvSpPr>
            <a:spLocks noChangeArrowheads="1"/>
          </p:cNvSpPr>
          <p:nvPr/>
        </p:nvSpPr>
        <p:spPr bwMode="auto">
          <a:xfrm>
            <a:off x="0" y="-328279"/>
            <a:ext cx="65" cy="656558"/>
          </a:xfrm>
          <a:prstGeom prst="rect">
            <a:avLst/>
          </a:prstGeom>
          <a:solidFill>
            <a:srgbClr val="EFEE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0784"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269" name="图片 268">
            <a:extLst>
              <a:ext uri="{FF2B5EF4-FFF2-40B4-BE49-F238E27FC236}">
                <a16:creationId xmlns:a16="http://schemas.microsoft.com/office/drawing/2014/main" id="{C4DC7501-3A3C-42A3-91ED-5CD5ABCAA5C5}"/>
              </a:ext>
            </a:extLst>
          </p:cNvPr>
          <p:cNvPicPr>
            <a:picLocks noChangeAspect="1"/>
          </p:cNvPicPr>
          <p:nvPr/>
        </p:nvPicPr>
        <p:blipFill>
          <a:blip r:embed="rId3"/>
          <a:stretch>
            <a:fillRect/>
          </a:stretch>
        </p:blipFill>
        <p:spPr>
          <a:xfrm>
            <a:off x="11300792" y="166376"/>
            <a:ext cx="674131" cy="674131"/>
          </a:xfrm>
          <a:prstGeom prst="rect">
            <a:avLst/>
          </a:prstGeom>
        </p:spPr>
      </p:pic>
      <p:cxnSp>
        <p:nvCxnSpPr>
          <p:cNvPr id="270" name="直接连接符 3">
            <a:extLst>
              <a:ext uri="{FF2B5EF4-FFF2-40B4-BE49-F238E27FC236}">
                <a16:creationId xmlns:a16="http://schemas.microsoft.com/office/drawing/2014/main" id="{C37F35FD-FF27-4C52-90DA-FABBD8DE340E}"/>
              </a:ext>
            </a:extLst>
          </p:cNvPr>
          <p:cNvCxnSpPr>
            <a:cxnSpLocks/>
          </p:cNvCxnSpPr>
          <p:nvPr/>
        </p:nvCxnSpPr>
        <p:spPr>
          <a:xfrm>
            <a:off x="0" y="835438"/>
            <a:ext cx="11105147" cy="0"/>
          </a:xfrm>
          <a:prstGeom prst="line">
            <a:avLst/>
          </a:prstGeom>
          <a:ln w="76200">
            <a:solidFill>
              <a:srgbClr val="0054A6"/>
            </a:solidFill>
          </a:ln>
        </p:spPr>
        <p:style>
          <a:lnRef idx="1">
            <a:schemeClr val="accent1"/>
          </a:lnRef>
          <a:fillRef idx="0">
            <a:schemeClr val="accent1"/>
          </a:fillRef>
          <a:effectRef idx="0">
            <a:schemeClr val="accent1"/>
          </a:effectRef>
          <a:fontRef idx="minor">
            <a:schemeClr val="tx1"/>
          </a:fontRef>
        </p:style>
      </p:cxnSp>
      <p:sp>
        <p:nvSpPr>
          <p:cNvPr id="271" name="矩形 270">
            <a:extLst>
              <a:ext uri="{FF2B5EF4-FFF2-40B4-BE49-F238E27FC236}">
                <a16:creationId xmlns:a16="http://schemas.microsoft.com/office/drawing/2014/main" id="{7C183573-A5E7-4167-B21E-8DA38CC841AE}"/>
              </a:ext>
            </a:extLst>
          </p:cNvPr>
          <p:cNvSpPr/>
          <p:nvPr/>
        </p:nvSpPr>
        <p:spPr>
          <a:xfrm>
            <a:off x="0" y="181976"/>
            <a:ext cx="3068053" cy="558709"/>
          </a:xfrm>
          <a:prstGeom prst="rect">
            <a:avLst/>
          </a:prstGeom>
          <a:solidFill>
            <a:schemeClr val="accent1">
              <a:lumMod val="75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黑体" panose="02010609060101010101" pitchFamily="49" charset="-122"/>
                <a:ea typeface="黑体" panose="02010609060101010101" pitchFamily="49" charset="-122"/>
              </a:rPr>
              <a:t>研究内容</a:t>
            </a:r>
            <a:r>
              <a:rPr lang="en-US" altLang="zh-CN" sz="2400" b="1" dirty="0">
                <a:latin typeface="黑体" panose="02010609060101010101" pitchFamily="49" charset="-122"/>
                <a:ea typeface="黑体" panose="02010609060101010101" pitchFamily="49" charset="-122"/>
              </a:rPr>
              <a:t>4</a:t>
            </a:r>
            <a:endParaRPr lang="zh-CN" altLang="en-US" sz="2400" b="1" dirty="0">
              <a:latin typeface="黑体" panose="02010609060101010101" pitchFamily="49" charset="-122"/>
              <a:ea typeface="黑体" panose="02010609060101010101" pitchFamily="49" charset="-122"/>
            </a:endParaRPr>
          </a:p>
        </p:txBody>
      </p:sp>
      <p:grpSp>
        <p:nvGrpSpPr>
          <p:cNvPr id="10" name="组合 9">
            <a:extLst>
              <a:ext uri="{FF2B5EF4-FFF2-40B4-BE49-F238E27FC236}">
                <a16:creationId xmlns:a16="http://schemas.microsoft.com/office/drawing/2014/main" id="{84FD11CF-1619-4466-B41C-D3B87CF476D6}"/>
              </a:ext>
            </a:extLst>
          </p:cNvPr>
          <p:cNvGrpSpPr/>
          <p:nvPr/>
        </p:nvGrpSpPr>
        <p:grpSpPr>
          <a:xfrm>
            <a:off x="860381" y="1946520"/>
            <a:ext cx="3000267" cy="4191573"/>
            <a:chOff x="886376" y="1693019"/>
            <a:chExt cx="2517516" cy="3699450"/>
          </a:xfrm>
        </p:grpSpPr>
        <p:sp>
          <p:nvSpPr>
            <p:cNvPr id="12" name="Freeform 6">
              <a:extLst>
                <a:ext uri="{FF2B5EF4-FFF2-40B4-BE49-F238E27FC236}">
                  <a16:creationId xmlns:a16="http://schemas.microsoft.com/office/drawing/2014/main" id="{126C2A7A-E524-441D-982A-D8136325BE9F}"/>
                </a:ext>
              </a:extLst>
            </p:cNvPr>
            <p:cNvSpPr>
              <a:spLocks/>
            </p:cNvSpPr>
            <p:nvPr/>
          </p:nvSpPr>
          <p:spPr bwMode="auto">
            <a:xfrm flipH="1">
              <a:off x="1799751" y="5090894"/>
              <a:ext cx="670226" cy="144190"/>
            </a:xfrm>
            <a:custGeom>
              <a:avLst/>
              <a:gdLst>
                <a:gd name="T0" fmla="*/ 20 w 23"/>
                <a:gd name="T1" fmla="*/ 0 h 5"/>
                <a:gd name="T2" fmla="*/ 3 w 23"/>
                <a:gd name="T3" fmla="*/ 0 h 5"/>
                <a:gd name="T4" fmla="*/ 0 w 23"/>
                <a:gd name="T5" fmla="*/ 2 h 5"/>
                <a:gd name="T6" fmla="*/ 3 w 23"/>
                <a:gd name="T7" fmla="*/ 5 h 5"/>
                <a:gd name="T8" fmla="*/ 20 w 23"/>
                <a:gd name="T9" fmla="*/ 5 h 5"/>
                <a:gd name="T10" fmla="*/ 23 w 23"/>
                <a:gd name="T11" fmla="*/ 2 h 5"/>
                <a:gd name="T12" fmla="*/ 20 w 2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23" h="5">
                  <a:moveTo>
                    <a:pt x="20" y="0"/>
                  </a:moveTo>
                  <a:cubicBezTo>
                    <a:pt x="3" y="0"/>
                    <a:pt x="3" y="0"/>
                    <a:pt x="3" y="0"/>
                  </a:cubicBezTo>
                  <a:cubicBezTo>
                    <a:pt x="1" y="0"/>
                    <a:pt x="0" y="1"/>
                    <a:pt x="0" y="2"/>
                  </a:cubicBezTo>
                  <a:cubicBezTo>
                    <a:pt x="0" y="4"/>
                    <a:pt x="1" y="5"/>
                    <a:pt x="3" y="5"/>
                  </a:cubicBezTo>
                  <a:cubicBezTo>
                    <a:pt x="20" y="5"/>
                    <a:pt x="20" y="5"/>
                    <a:pt x="20" y="5"/>
                  </a:cubicBezTo>
                  <a:cubicBezTo>
                    <a:pt x="22" y="5"/>
                    <a:pt x="23" y="4"/>
                    <a:pt x="23" y="2"/>
                  </a:cubicBezTo>
                  <a:cubicBezTo>
                    <a:pt x="23" y="1"/>
                    <a:pt x="22" y="0"/>
                    <a:pt x="20" y="0"/>
                  </a:cubicBezTo>
                  <a:close/>
                </a:path>
              </a:pathLst>
            </a:custGeom>
            <a:solidFill>
              <a:schemeClr val="accent1">
                <a:lumMod val="75000"/>
              </a:schemeClr>
            </a:solidFill>
            <a:ln>
              <a:noFill/>
            </a:ln>
          </p:spPr>
          <p:txBody>
            <a:bodyPr vert="horz" wrap="square" lIns="68562" tIns="34281" rIns="68562" bIns="34281" numCol="1" anchor="t" anchorCtr="0" compatLnSpc="1">
              <a:prstTxWarp prst="textNoShape">
                <a:avLst/>
              </a:prstTxWarp>
            </a:bodyPr>
            <a:lstStyle/>
            <a:p>
              <a:endParaRPr lang="id-ID" sz="1013">
                <a:latin typeface="Microsoft YaHei" panose="020B0503020204020204" pitchFamily="34" charset="-122"/>
                <a:ea typeface="Microsoft YaHei" panose="020B0503020204020204" pitchFamily="34" charset="-122"/>
                <a:cs typeface="+mn-ea"/>
                <a:sym typeface="+mn-lt"/>
              </a:endParaRPr>
            </a:p>
          </p:txBody>
        </p:sp>
        <p:sp>
          <p:nvSpPr>
            <p:cNvPr id="13" name="Freeform 24">
              <a:extLst>
                <a:ext uri="{FF2B5EF4-FFF2-40B4-BE49-F238E27FC236}">
                  <a16:creationId xmlns:a16="http://schemas.microsoft.com/office/drawing/2014/main" id="{9D231E1E-B6CC-4FAA-AA69-E68EDECF4052}"/>
                </a:ext>
              </a:extLst>
            </p:cNvPr>
            <p:cNvSpPr/>
            <p:nvPr/>
          </p:nvSpPr>
          <p:spPr>
            <a:xfrm flipH="1">
              <a:off x="1624081" y="4793090"/>
              <a:ext cx="1021563" cy="297804"/>
            </a:xfrm>
            <a:custGeom>
              <a:avLst/>
              <a:gdLst>
                <a:gd name="connsiteX0" fmla="*/ 0 w 2645228"/>
                <a:gd name="connsiteY0" fmla="*/ 0 h 496975"/>
                <a:gd name="connsiteX1" fmla="*/ 2645228 w 2645228"/>
                <a:gd name="connsiteY1" fmla="*/ 0 h 496975"/>
                <a:gd name="connsiteX2" fmla="*/ 2645228 w 2645228"/>
                <a:gd name="connsiteY2" fmla="*/ 56095 h 496975"/>
                <a:gd name="connsiteX3" fmla="*/ 2204348 w 2645228"/>
                <a:gd name="connsiteY3" fmla="*/ 496975 h 496975"/>
                <a:gd name="connsiteX4" fmla="*/ 440880 w 2645228"/>
                <a:gd name="connsiteY4" fmla="*/ 496975 h 496975"/>
                <a:gd name="connsiteX5" fmla="*/ 0 w 2645228"/>
                <a:gd name="connsiteY5" fmla="*/ 56095 h 496975"/>
                <a:gd name="connsiteX6" fmla="*/ 0 w 2645228"/>
                <a:gd name="connsiteY6" fmla="*/ 0 h 49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5228" h="496975">
                  <a:moveTo>
                    <a:pt x="0" y="0"/>
                  </a:moveTo>
                  <a:lnTo>
                    <a:pt x="2645228" y="0"/>
                  </a:lnTo>
                  <a:lnTo>
                    <a:pt x="2645228" y="56095"/>
                  </a:lnTo>
                  <a:cubicBezTo>
                    <a:pt x="2645228" y="299586"/>
                    <a:pt x="2447839" y="496975"/>
                    <a:pt x="2204348" y="496975"/>
                  </a:cubicBezTo>
                  <a:lnTo>
                    <a:pt x="440880" y="496975"/>
                  </a:lnTo>
                  <a:cubicBezTo>
                    <a:pt x="197389" y="496975"/>
                    <a:pt x="0" y="299586"/>
                    <a:pt x="0" y="56095"/>
                  </a:cubicBez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2">
                <a:latin typeface="Microsoft YaHei" panose="020B0503020204020204" pitchFamily="34" charset="-122"/>
                <a:ea typeface="Microsoft YaHei" panose="020B0503020204020204" pitchFamily="34" charset="-122"/>
                <a:cs typeface="+mn-ea"/>
                <a:sym typeface="+mn-lt"/>
              </a:endParaRPr>
            </a:p>
          </p:txBody>
        </p:sp>
        <p:sp>
          <p:nvSpPr>
            <p:cNvPr id="17" name="Freeform 25">
              <a:extLst>
                <a:ext uri="{FF2B5EF4-FFF2-40B4-BE49-F238E27FC236}">
                  <a16:creationId xmlns:a16="http://schemas.microsoft.com/office/drawing/2014/main" id="{F224AB1A-9AC5-4E45-B8FB-3726DDAAA474}"/>
                </a:ext>
              </a:extLst>
            </p:cNvPr>
            <p:cNvSpPr/>
            <p:nvPr/>
          </p:nvSpPr>
          <p:spPr>
            <a:xfrm flipH="1">
              <a:off x="1907011" y="5295192"/>
              <a:ext cx="455706" cy="97281"/>
            </a:xfrm>
            <a:custGeom>
              <a:avLst/>
              <a:gdLst>
                <a:gd name="connsiteX0" fmla="*/ 0 w 694404"/>
                <a:gd name="connsiteY0" fmla="*/ 0 h 288475"/>
                <a:gd name="connsiteX1" fmla="*/ 694404 w 694404"/>
                <a:gd name="connsiteY1" fmla="*/ 0 h 288475"/>
                <a:gd name="connsiteX2" fmla="*/ 693800 w 694404"/>
                <a:gd name="connsiteY2" fmla="*/ 5989 h 288475"/>
                <a:gd name="connsiteX3" fmla="*/ 347202 w 694404"/>
                <a:gd name="connsiteY3" fmla="*/ 288475 h 288475"/>
                <a:gd name="connsiteX4" fmla="*/ 604 w 694404"/>
                <a:gd name="connsiteY4" fmla="*/ 5989 h 288475"/>
                <a:gd name="connsiteX5" fmla="*/ 0 w 694404"/>
                <a:gd name="connsiteY5" fmla="*/ 0 h 28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404" h="288475">
                  <a:moveTo>
                    <a:pt x="0" y="0"/>
                  </a:moveTo>
                  <a:lnTo>
                    <a:pt x="694404" y="0"/>
                  </a:lnTo>
                  <a:lnTo>
                    <a:pt x="693800" y="5989"/>
                  </a:lnTo>
                  <a:cubicBezTo>
                    <a:pt x="660811" y="167204"/>
                    <a:pt x="518169" y="288475"/>
                    <a:pt x="347202" y="288475"/>
                  </a:cubicBezTo>
                  <a:cubicBezTo>
                    <a:pt x="176235" y="288475"/>
                    <a:pt x="33593" y="167204"/>
                    <a:pt x="604" y="5989"/>
                  </a:cubicBezTo>
                  <a:lnTo>
                    <a:pt x="0" y="0"/>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2">
                <a:latin typeface="Microsoft YaHei" panose="020B0503020204020204" pitchFamily="34" charset="-122"/>
                <a:ea typeface="Microsoft YaHei" panose="020B0503020204020204" pitchFamily="34" charset="-122"/>
                <a:cs typeface="+mn-ea"/>
                <a:sym typeface="+mn-lt"/>
              </a:endParaRPr>
            </a:p>
          </p:txBody>
        </p:sp>
        <p:sp>
          <p:nvSpPr>
            <p:cNvPr id="18" name="Freeform 5">
              <a:extLst>
                <a:ext uri="{FF2B5EF4-FFF2-40B4-BE49-F238E27FC236}">
                  <a16:creationId xmlns:a16="http://schemas.microsoft.com/office/drawing/2014/main" id="{A316B559-7AA9-439D-AFFF-01C11F905675}"/>
                </a:ext>
              </a:extLst>
            </p:cNvPr>
            <p:cNvSpPr>
              <a:spLocks/>
            </p:cNvSpPr>
            <p:nvPr/>
          </p:nvSpPr>
          <p:spPr bwMode="auto">
            <a:xfrm>
              <a:off x="2052885" y="4217678"/>
              <a:ext cx="133315" cy="393995"/>
            </a:xfrm>
            <a:custGeom>
              <a:avLst/>
              <a:gdLst>
                <a:gd name="T0" fmla="*/ 77 w 112"/>
                <a:gd name="T1" fmla="*/ 270 h 331"/>
                <a:gd name="T2" fmla="*/ 44 w 112"/>
                <a:gd name="T3" fmla="*/ 331 h 331"/>
                <a:gd name="T4" fmla="*/ 15 w 112"/>
                <a:gd name="T5" fmla="*/ 328 h 331"/>
                <a:gd name="T6" fmla="*/ 0 w 112"/>
                <a:gd name="T7" fmla="*/ 261 h 331"/>
                <a:gd name="T8" fmla="*/ 35 w 112"/>
                <a:gd name="T9" fmla="*/ 0 h 331"/>
                <a:gd name="T10" fmla="*/ 112 w 112"/>
                <a:gd name="T11" fmla="*/ 11 h 331"/>
                <a:gd name="T12" fmla="*/ 77 w 112"/>
                <a:gd name="T13" fmla="*/ 270 h 331"/>
              </a:gdLst>
              <a:ahLst/>
              <a:cxnLst>
                <a:cxn ang="0">
                  <a:pos x="T0" y="T1"/>
                </a:cxn>
                <a:cxn ang="0">
                  <a:pos x="T2" y="T3"/>
                </a:cxn>
                <a:cxn ang="0">
                  <a:pos x="T4" y="T5"/>
                </a:cxn>
                <a:cxn ang="0">
                  <a:pos x="T6" y="T7"/>
                </a:cxn>
                <a:cxn ang="0">
                  <a:pos x="T8" y="T9"/>
                </a:cxn>
                <a:cxn ang="0">
                  <a:pos x="T10" y="T11"/>
                </a:cxn>
                <a:cxn ang="0">
                  <a:pos x="T12" y="T13"/>
                </a:cxn>
              </a:cxnLst>
              <a:rect l="0" t="0" r="r" b="b"/>
              <a:pathLst>
                <a:path w="112" h="331">
                  <a:moveTo>
                    <a:pt x="77" y="270"/>
                  </a:moveTo>
                  <a:lnTo>
                    <a:pt x="44" y="331"/>
                  </a:lnTo>
                  <a:lnTo>
                    <a:pt x="15" y="328"/>
                  </a:lnTo>
                  <a:lnTo>
                    <a:pt x="0" y="261"/>
                  </a:lnTo>
                  <a:lnTo>
                    <a:pt x="35" y="0"/>
                  </a:lnTo>
                  <a:lnTo>
                    <a:pt x="112" y="11"/>
                  </a:lnTo>
                  <a:lnTo>
                    <a:pt x="77" y="270"/>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19" name="Freeform 6">
              <a:extLst>
                <a:ext uri="{FF2B5EF4-FFF2-40B4-BE49-F238E27FC236}">
                  <a16:creationId xmlns:a16="http://schemas.microsoft.com/office/drawing/2014/main" id="{62B8CA1B-8AA3-478C-B14D-6701A4AF33F5}"/>
                </a:ext>
              </a:extLst>
            </p:cNvPr>
            <p:cNvSpPr>
              <a:spLocks/>
            </p:cNvSpPr>
            <p:nvPr/>
          </p:nvSpPr>
          <p:spPr bwMode="auto">
            <a:xfrm>
              <a:off x="2090974" y="4147449"/>
              <a:ext cx="104748" cy="121412"/>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2 w 64"/>
                <a:gd name="T15" fmla="*/ 22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3"/>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2" y="22"/>
                  </a:cubicBezTo>
                  <a:lnTo>
                    <a:pt x="58" y="48"/>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20" name="Freeform 7">
              <a:extLst>
                <a:ext uri="{FF2B5EF4-FFF2-40B4-BE49-F238E27FC236}">
                  <a16:creationId xmlns:a16="http://schemas.microsoft.com/office/drawing/2014/main" id="{CE1F7C1D-CBE8-44FE-836D-B86365A90344}"/>
                </a:ext>
              </a:extLst>
            </p:cNvPr>
            <p:cNvSpPr>
              <a:spLocks/>
            </p:cNvSpPr>
            <p:nvPr/>
          </p:nvSpPr>
          <p:spPr bwMode="auto">
            <a:xfrm>
              <a:off x="2079072" y="4191490"/>
              <a:ext cx="114270" cy="110700"/>
            </a:xfrm>
            <a:custGeom>
              <a:avLst/>
              <a:gdLst>
                <a:gd name="T0" fmla="*/ 85 w 96"/>
                <a:gd name="T1" fmla="*/ 93 h 93"/>
                <a:gd name="T2" fmla="*/ 0 w 96"/>
                <a:gd name="T3" fmla="*/ 81 h 93"/>
                <a:gd name="T4" fmla="*/ 11 w 96"/>
                <a:gd name="T5" fmla="*/ 0 h 93"/>
                <a:gd name="T6" fmla="*/ 96 w 96"/>
                <a:gd name="T7" fmla="*/ 12 h 93"/>
                <a:gd name="T8" fmla="*/ 85 w 96"/>
                <a:gd name="T9" fmla="*/ 93 h 93"/>
              </a:gdLst>
              <a:ahLst/>
              <a:cxnLst>
                <a:cxn ang="0">
                  <a:pos x="T0" y="T1"/>
                </a:cxn>
                <a:cxn ang="0">
                  <a:pos x="T2" y="T3"/>
                </a:cxn>
                <a:cxn ang="0">
                  <a:pos x="T4" y="T5"/>
                </a:cxn>
                <a:cxn ang="0">
                  <a:pos x="T6" y="T7"/>
                </a:cxn>
                <a:cxn ang="0">
                  <a:pos x="T8" y="T9"/>
                </a:cxn>
              </a:cxnLst>
              <a:rect l="0" t="0" r="r" b="b"/>
              <a:pathLst>
                <a:path w="96" h="93">
                  <a:moveTo>
                    <a:pt x="85" y="93"/>
                  </a:moveTo>
                  <a:lnTo>
                    <a:pt x="0" y="81"/>
                  </a:lnTo>
                  <a:lnTo>
                    <a:pt x="11" y="0"/>
                  </a:lnTo>
                  <a:lnTo>
                    <a:pt x="96" y="12"/>
                  </a:lnTo>
                  <a:lnTo>
                    <a:pt x="85" y="93"/>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21" name="Freeform 8">
              <a:extLst>
                <a:ext uri="{FF2B5EF4-FFF2-40B4-BE49-F238E27FC236}">
                  <a16:creationId xmlns:a16="http://schemas.microsoft.com/office/drawing/2014/main" id="{5259138F-8355-4EC8-8F63-30BF745CBF3F}"/>
                </a:ext>
              </a:extLst>
            </p:cNvPr>
            <p:cNvSpPr>
              <a:spLocks/>
            </p:cNvSpPr>
            <p:nvPr/>
          </p:nvSpPr>
          <p:spPr bwMode="auto">
            <a:xfrm>
              <a:off x="2070739" y="4597388"/>
              <a:ext cx="34520" cy="57135"/>
            </a:xfrm>
            <a:custGeom>
              <a:avLst/>
              <a:gdLst>
                <a:gd name="T0" fmla="*/ 0 w 21"/>
                <a:gd name="T1" fmla="*/ 5 h 35"/>
                <a:gd name="T2" fmla="*/ 5 w 21"/>
                <a:gd name="T3" fmla="*/ 26 h 35"/>
                <a:gd name="T4" fmla="*/ 21 w 21"/>
                <a:gd name="T5" fmla="*/ 9 h 35"/>
                <a:gd name="T6" fmla="*/ 0 w 21"/>
                <a:gd name="T7" fmla="*/ 5 h 35"/>
              </a:gdLst>
              <a:ahLst/>
              <a:cxnLst>
                <a:cxn ang="0">
                  <a:pos x="T0" y="T1"/>
                </a:cxn>
                <a:cxn ang="0">
                  <a:pos x="T2" y="T3"/>
                </a:cxn>
                <a:cxn ang="0">
                  <a:pos x="T4" y="T5"/>
                </a:cxn>
                <a:cxn ang="0">
                  <a:pos x="T6" y="T7"/>
                </a:cxn>
              </a:cxnLst>
              <a:rect l="0" t="0" r="r" b="b"/>
              <a:pathLst>
                <a:path w="21" h="35">
                  <a:moveTo>
                    <a:pt x="0" y="5"/>
                  </a:moveTo>
                  <a:cubicBezTo>
                    <a:pt x="0" y="5"/>
                    <a:pt x="3" y="22"/>
                    <a:pt x="5" y="26"/>
                  </a:cubicBezTo>
                  <a:cubicBezTo>
                    <a:pt x="6" y="31"/>
                    <a:pt x="9" y="35"/>
                    <a:pt x="21" y="9"/>
                  </a:cubicBezTo>
                  <a:cubicBezTo>
                    <a:pt x="21" y="9"/>
                    <a:pt x="13" y="0"/>
                    <a:pt x="0" y="5"/>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22" name="Freeform 9">
              <a:extLst>
                <a:ext uri="{FF2B5EF4-FFF2-40B4-BE49-F238E27FC236}">
                  <a16:creationId xmlns:a16="http://schemas.microsoft.com/office/drawing/2014/main" id="{393A2E36-8228-4F16-963F-B2729C9A4769}"/>
                </a:ext>
              </a:extLst>
            </p:cNvPr>
            <p:cNvSpPr>
              <a:spLocks/>
            </p:cNvSpPr>
            <p:nvPr/>
          </p:nvSpPr>
          <p:spPr bwMode="auto">
            <a:xfrm>
              <a:off x="2190962" y="4216487"/>
              <a:ext cx="132125" cy="393995"/>
            </a:xfrm>
            <a:custGeom>
              <a:avLst/>
              <a:gdLst>
                <a:gd name="T0" fmla="*/ 75 w 111"/>
                <a:gd name="T1" fmla="*/ 269 h 331"/>
                <a:gd name="T2" fmla="*/ 44 w 111"/>
                <a:gd name="T3" fmla="*/ 331 h 331"/>
                <a:gd name="T4" fmla="*/ 15 w 111"/>
                <a:gd name="T5" fmla="*/ 326 h 331"/>
                <a:gd name="T6" fmla="*/ 0 w 111"/>
                <a:gd name="T7" fmla="*/ 259 h 331"/>
                <a:gd name="T8" fmla="*/ 34 w 111"/>
                <a:gd name="T9" fmla="*/ 0 h 331"/>
                <a:gd name="T10" fmla="*/ 111 w 111"/>
                <a:gd name="T11" fmla="*/ 9 h 331"/>
                <a:gd name="T12" fmla="*/ 75 w 111"/>
                <a:gd name="T13" fmla="*/ 269 h 331"/>
              </a:gdLst>
              <a:ahLst/>
              <a:cxnLst>
                <a:cxn ang="0">
                  <a:pos x="T0" y="T1"/>
                </a:cxn>
                <a:cxn ang="0">
                  <a:pos x="T2" y="T3"/>
                </a:cxn>
                <a:cxn ang="0">
                  <a:pos x="T4" y="T5"/>
                </a:cxn>
                <a:cxn ang="0">
                  <a:pos x="T6" y="T7"/>
                </a:cxn>
                <a:cxn ang="0">
                  <a:pos x="T8" y="T9"/>
                </a:cxn>
                <a:cxn ang="0">
                  <a:pos x="T10" y="T11"/>
                </a:cxn>
                <a:cxn ang="0">
                  <a:pos x="T12" y="T13"/>
                </a:cxn>
              </a:cxnLst>
              <a:rect l="0" t="0" r="r" b="b"/>
              <a:pathLst>
                <a:path w="111" h="331">
                  <a:moveTo>
                    <a:pt x="75" y="269"/>
                  </a:moveTo>
                  <a:lnTo>
                    <a:pt x="44" y="331"/>
                  </a:lnTo>
                  <a:lnTo>
                    <a:pt x="15" y="326"/>
                  </a:lnTo>
                  <a:lnTo>
                    <a:pt x="0" y="259"/>
                  </a:lnTo>
                  <a:lnTo>
                    <a:pt x="34" y="0"/>
                  </a:lnTo>
                  <a:lnTo>
                    <a:pt x="111" y="9"/>
                  </a:lnTo>
                  <a:lnTo>
                    <a:pt x="75" y="269"/>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23" name="Freeform 10">
              <a:extLst>
                <a:ext uri="{FF2B5EF4-FFF2-40B4-BE49-F238E27FC236}">
                  <a16:creationId xmlns:a16="http://schemas.microsoft.com/office/drawing/2014/main" id="{4D665EE9-D830-4AC9-A564-DD4535C7E532}"/>
                </a:ext>
              </a:extLst>
            </p:cNvPr>
            <p:cNvSpPr>
              <a:spLocks/>
            </p:cNvSpPr>
            <p:nvPr/>
          </p:nvSpPr>
          <p:spPr bwMode="auto">
            <a:xfrm>
              <a:off x="2227861" y="4143878"/>
              <a:ext cx="104748" cy="121412"/>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1 w 64"/>
                <a:gd name="T15" fmla="*/ 23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4"/>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1" y="23"/>
                  </a:cubicBezTo>
                  <a:lnTo>
                    <a:pt x="58" y="48"/>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24" name="Freeform 11">
              <a:extLst>
                <a:ext uri="{FF2B5EF4-FFF2-40B4-BE49-F238E27FC236}">
                  <a16:creationId xmlns:a16="http://schemas.microsoft.com/office/drawing/2014/main" id="{E3618B55-AE0D-4B1E-BF24-B410C28BA101}"/>
                </a:ext>
              </a:extLst>
            </p:cNvPr>
            <p:cNvSpPr>
              <a:spLocks/>
            </p:cNvSpPr>
            <p:nvPr/>
          </p:nvSpPr>
          <p:spPr bwMode="auto">
            <a:xfrm>
              <a:off x="2217148" y="4190300"/>
              <a:ext cx="114270" cy="109509"/>
            </a:xfrm>
            <a:custGeom>
              <a:avLst/>
              <a:gdLst>
                <a:gd name="T0" fmla="*/ 85 w 96"/>
                <a:gd name="T1" fmla="*/ 92 h 92"/>
                <a:gd name="T2" fmla="*/ 0 w 96"/>
                <a:gd name="T3" fmla="*/ 81 h 92"/>
                <a:gd name="T4" fmla="*/ 11 w 96"/>
                <a:gd name="T5" fmla="*/ 0 h 92"/>
                <a:gd name="T6" fmla="*/ 96 w 96"/>
                <a:gd name="T7" fmla="*/ 11 h 92"/>
                <a:gd name="T8" fmla="*/ 85 w 96"/>
                <a:gd name="T9" fmla="*/ 92 h 92"/>
              </a:gdLst>
              <a:ahLst/>
              <a:cxnLst>
                <a:cxn ang="0">
                  <a:pos x="T0" y="T1"/>
                </a:cxn>
                <a:cxn ang="0">
                  <a:pos x="T2" y="T3"/>
                </a:cxn>
                <a:cxn ang="0">
                  <a:pos x="T4" y="T5"/>
                </a:cxn>
                <a:cxn ang="0">
                  <a:pos x="T6" y="T7"/>
                </a:cxn>
                <a:cxn ang="0">
                  <a:pos x="T8" y="T9"/>
                </a:cxn>
              </a:cxnLst>
              <a:rect l="0" t="0" r="r" b="b"/>
              <a:pathLst>
                <a:path w="96" h="92">
                  <a:moveTo>
                    <a:pt x="85" y="92"/>
                  </a:moveTo>
                  <a:lnTo>
                    <a:pt x="0" y="81"/>
                  </a:lnTo>
                  <a:lnTo>
                    <a:pt x="11" y="0"/>
                  </a:lnTo>
                  <a:lnTo>
                    <a:pt x="96" y="11"/>
                  </a:lnTo>
                  <a:lnTo>
                    <a:pt x="85" y="92"/>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25" name="Freeform 12">
              <a:extLst>
                <a:ext uri="{FF2B5EF4-FFF2-40B4-BE49-F238E27FC236}">
                  <a16:creationId xmlns:a16="http://schemas.microsoft.com/office/drawing/2014/main" id="{C7B87091-532A-436D-9614-1CA7DCE775F7}"/>
                </a:ext>
              </a:extLst>
            </p:cNvPr>
            <p:cNvSpPr>
              <a:spLocks/>
            </p:cNvSpPr>
            <p:nvPr/>
          </p:nvSpPr>
          <p:spPr bwMode="auto">
            <a:xfrm>
              <a:off x="2208816" y="4593817"/>
              <a:ext cx="34520" cy="57135"/>
            </a:xfrm>
            <a:custGeom>
              <a:avLst/>
              <a:gdLst>
                <a:gd name="T0" fmla="*/ 0 w 21"/>
                <a:gd name="T1" fmla="*/ 6 h 35"/>
                <a:gd name="T2" fmla="*/ 5 w 21"/>
                <a:gd name="T3" fmla="*/ 27 h 35"/>
                <a:gd name="T4" fmla="*/ 21 w 21"/>
                <a:gd name="T5" fmla="*/ 10 h 35"/>
                <a:gd name="T6" fmla="*/ 0 w 21"/>
                <a:gd name="T7" fmla="*/ 6 h 35"/>
              </a:gdLst>
              <a:ahLst/>
              <a:cxnLst>
                <a:cxn ang="0">
                  <a:pos x="T0" y="T1"/>
                </a:cxn>
                <a:cxn ang="0">
                  <a:pos x="T2" y="T3"/>
                </a:cxn>
                <a:cxn ang="0">
                  <a:pos x="T4" y="T5"/>
                </a:cxn>
                <a:cxn ang="0">
                  <a:pos x="T6" y="T7"/>
                </a:cxn>
              </a:cxnLst>
              <a:rect l="0" t="0" r="r" b="b"/>
              <a:pathLst>
                <a:path w="21" h="35">
                  <a:moveTo>
                    <a:pt x="0" y="6"/>
                  </a:moveTo>
                  <a:cubicBezTo>
                    <a:pt x="0" y="6"/>
                    <a:pt x="3" y="22"/>
                    <a:pt x="5" y="27"/>
                  </a:cubicBezTo>
                  <a:cubicBezTo>
                    <a:pt x="6" y="31"/>
                    <a:pt x="9" y="35"/>
                    <a:pt x="21" y="10"/>
                  </a:cubicBezTo>
                  <a:cubicBezTo>
                    <a:pt x="21" y="10"/>
                    <a:pt x="13" y="0"/>
                    <a:pt x="0" y="6"/>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26" name="Freeform 13">
              <a:extLst>
                <a:ext uri="{FF2B5EF4-FFF2-40B4-BE49-F238E27FC236}">
                  <a16:creationId xmlns:a16="http://schemas.microsoft.com/office/drawing/2014/main" id="{2C523970-F958-43B6-A68A-A62BFBC072B9}"/>
                </a:ext>
              </a:extLst>
            </p:cNvPr>
            <p:cNvSpPr>
              <a:spLocks/>
            </p:cNvSpPr>
            <p:nvPr/>
          </p:nvSpPr>
          <p:spPr bwMode="auto">
            <a:xfrm>
              <a:off x="2311184" y="4218867"/>
              <a:ext cx="30948" cy="199973"/>
            </a:xfrm>
            <a:custGeom>
              <a:avLst/>
              <a:gdLst>
                <a:gd name="T0" fmla="*/ 4 w 19"/>
                <a:gd name="T1" fmla="*/ 0 h 122"/>
                <a:gd name="T2" fmla="*/ 19 w 19"/>
                <a:gd name="T3" fmla="*/ 16 h 122"/>
                <a:gd name="T4" fmla="*/ 7 w 19"/>
                <a:gd name="T5" fmla="*/ 115 h 122"/>
                <a:gd name="T6" fmla="*/ 0 w 19"/>
                <a:gd name="T7" fmla="*/ 121 h 122"/>
                <a:gd name="T8" fmla="*/ 10 w 19"/>
                <a:gd name="T9" fmla="*/ 43 h 122"/>
                <a:gd name="T10" fmla="*/ 5 w 19"/>
                <a:gd name="T11" fmla="*/ 34 h 122"/>
                <a:gd name="T12" fmla="*/ 4 w 19"/>
                <a:gd name="T13" fmla="*/ 0 h 122"/>
              </a:gdLst>
              <a:ahLst/>
              <a:cxnLst>
                <a:cxn ang="0">
                  <a:pos x="T0" y="T1"/>
                </a:cxn>
                <a:cxn ang="0">
                  <a:pos x="T2" y="T3"/>
                </a:cxn>
                <a:cxn ang="0">
                  <a:pos x="T4" y="T5"/>
                </a:cxn>
                <a:cxn ang="0">
                  <a:pos x="T6" y="T7"/>
                </a:cxn>
                <a:cxn ang="0">
                  <a:pos x="T8" y="T9"/>
                </a:cxn>
                <a:cxn ang="0">
                  <a:pos x="T10" y="T11"/>
                </a:cxn>
                <a:cxn ang="0">
                  <a:pos x="T12" y="T13"/>
                </a:cxn>
              </a:cxnLst>
              <a:rect l="0" t="0" r="r" b="b"/>
              <a:pathLst>
                <a:path w="19" h="122">
                  <a:moveTo>
                    <a:pt x="4" y="0"/>
                  </a:moveTo>
                  <a:cubicBezTo>
                    <a:pt x="4" y="0"/>
                    <a:pt x="18" y="10"/>
                    <a:pt x="19" y="16"/>
                  </a:cubicBezTo>
                  <a:cubicBezTo>
                    <a:pt x="19" y="21"/>
                    <a:pt x="7" y="115"/>
                    <a:pt x="7" y="115"/>
                  </a:cubicBezTo>
                  <a:cubicBezTo>
                    <a:pt x="7" y="115"/>
                    <a:pt x="8" y="122"/>
                    <a:pt x="0" y="121"/>
                  </a:cubicBezTo>
                  <a:cubicBezTo>
                    <a:pt x="10" y="43"/>
                    <a:pt x="10" y="43"/>
                    <a:pt x="10" y="43"/>
                  </a:cubicBezTo>
                  <a:cubicBezTo>
                    <a:pt x="5" y="34"/>
                    <a:pt x="5" y="34"/>
                    <a:pt x="5" y="34"/>
                  </a:cubicBezTo>
                  <a:cubicBezTo>
                    <a:pt x="4" y="0"/>
                    <a:pt x="4" y="0"/>
                    <a:pt x="4" y="0"/>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grpSp>
          <p:nvGrpSpPr>
            <p:cNvPr id="27" name="Group 123">
              <a:extLst>
                <a:ext uri="{FF2B5EF4-FFF2-40B4-BE49-F238E27FC236}">
                  <a16:creationId xmlns:a16="http://schemas.microsoft.com/office/drawing/2014/main" id="{6A34CA80-F6E1-49AC-9144-57ACB56D67BB}"/>
                </a:ext>
              </a:extLst>
            </p:cNvPr>
            <p:cNvGrpSpPr/>
            <p:nvPr/>
          </p:nvGrpSpPr>
          <p:grpSpPr>
            <a:xfrm>
              <a:off x="1385118" y="4126917"/>
              <a:ext cx="613013" cy="465414"/>
              <a:chOff x="7170738" y="4168775"/>
              <a:chExt cx="817563" cy="620713"/>
            </a:xfrm>
            <a:solidFill>
              <a:schemeClr val="accent1">
                <a:lumMod val="75000"/>
              </a:schemeClr>
            </a:solidFill>
          </p:grpSpPr>
          <p:sp>
            <p:nvSpPr>
              <p:cNvPr id="110" name="Freeform 14">
                <a:extLst>
                  <a:ext uri="{FF2B5EF4-FFF2-40B4-BE49-F238E27FC236}">
                    <a16:creationId xmlns:a16="http://schemas.microsoft.com/office/drawing/2014/main" id="{D4D52109-43E3-4C89-9FD9-B88E7C0E94A7}"/>
                  </a:ext>
                </a:extLst>
              </p:cNvPr>
              <p:cNvSpPr>
                <a:spLocks/>
              </p:cNvSpPr>
              <p:nvPr/>
            </p:nvSpPr>
            <p:spPr bwMode="auto">
              <a:xfrm>
                <a:off x="7170738" y="4168775"/>
                <a:ext cx="785813" cy="354013"/>
              </a:xfrm>
              <a:custGeom>
                <a:avLst/>
                <a:gdLst>
                  <a:gd name="T0" fmla="*/ 246 w 495"/>
                  <a:gd name="T1" fmla="*/ 223 h 223"/>
                  <a:gd name="T2" fmla="*/ 0 w 495"/>
                  <a:gd name="T3" fmla="*/ 111 h 223"/>
                  <a:gd name="T4" fmla="*/ 252 w 495"/>
                  <a:gd name="T5" fmla="*/ 0 h 223"/>
                  <a:gd name="T6" fmla="*/ 495 w 495"/>
                  <a:gd name="T7" fmla="*/ 109 h 223"/>
                  <a:gd name="T8" fmla="*/ 246 w 495"/>
                  <a:gd name="T9" fmla="*/ 223 h 223"/>
                </a:gdLst>
                <a:ahLst/>
                <a:cxnLst>
                  <a:cxn ang="0">
                    <a:pos x="T0" y="T1"/>
                  </a:cxn>
                  <a:cxn ang="0">
                    <a:pos x="T2" y="T3"/>
                  </a:cxn>
                  <a:cxn ang="0">
                    <a:pos x="T4" y="T5"/>
                  </a:cxn>
                  <a:cxn ang="0">
                    <a:pos x="T6" y="T7"/>
                  </a:cxn>
                  <a:cxn ang="0">
                    <a:pos x="T8" y="T9"/>
                  </a:cxn>
                </a:cxnLst>
                <a:rect l="0" t="0" r="r" b="b"/>
                <a:pathLst>
                  <a:path w="495" h="223">
                    <a:moveTo>
                      <a:pt x="246" y="223"/>
                    </a:moveTo>
                    <a:lnTo>
                      <a:pt x="0" y="111"/>
                    </a:lnTo>
                    <a:lnTo>
                      <a:pt x="252" y="0"/>
                    </a:lnTo>
                    <a:lnTo>
                      <a:pt x="495" y="109"/>
                    </a:lnTo>
                    <a:lnTo>
                      <a:pt x="246"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111" name="Rectangle 15">
                <a:extLst>
                  <a:ext uri="{FF2B5EF4-FFF2-40B4-BE49-F238E27FC236}">
                    <a16:creationId xmlns:a16="http://schemas.microsoft.com/office/drawing/2014/main" id="{D45EB714-D10E-487E-ADC9-0DB1B4E2FE39}"/>
                  </a:ext>
                </a:extLst>
              </p:cNvPr>
              <p:cNvSpPr>
                <a:spLocks noChangeArrowheads="1"/>
              </p:cNvSpPr>
              <p:nvPr/>
            </p:nvSpPr>
            <p:spPr bwMode="auto">
              <a:xfrm>
                <a:off x="7924800" y="4335463"/>
                <a:ext cx="23813" cy="257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112" name="Oval 16">
                <a:extLst>
                  <a:ext uri="{FF2B5EF4-FFF2-40B4-BE49-F238E27FC236}">
                    <a16:creationId xmlns:a16="http://schemas.microsoft.com/office/drawing/2014/main" id="{E43BEBE1-D116-4E44-AF47-8F0129A4C18D}"/>
                  </a:ext>
                </a:extLst>
              </p:cNvPr>
              <p:cNvSpPr>
                <a:spLocks noChangeArrowheads="1"/>
              </p:cNvSpPr>
              <p:nvPr/>
            </p:nvSpPr>
            <p:spPr bwMode="auto">
              <a:xfrm>
                <a:off x="7897813" y="4564063"/>
                <a:ext cx="76200" cy="77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113" name="Freeform 17">
                <a:extLst>
                  <a:ext uri="{FF2B5EF4-FFF2-40B4-BE49-F238E27FC236}">
                    <a16:creationId xmlns:a16="http://schemas.microsoft.com/office/drawing/2014/main" id="{0EA4F832-97AD-41BB-AF66-3E7708278BA9}"/>
                  </a:ext>
                </a:extLst>
              </p:cNvPr>
              <p:cNvSpPr>
                <a:spLocks/>
              </p:cNvSpPr>
              <p:nvPr/>
            </p:nvSpPr>
            <p:spPr bwMode="auto">
              <a:xfrm>
                <a:off x="7888288" y="4605338"/>
                <a:ext cx="55563" cy="171450"/>
              </a:xfrm>
              <a:custGeom>
                <a:avLst/>
                <a:gdLst>
                  <a:gd name="T0" fmla="*/ 14 w 26"/>
                  <a:gd name="T1" fmla="*/ 4 h 79"/>
                  <a:gd name="T2" fmla="*/ 6 w 26"/>
                  <a:gd name="T3" fmla="*/ 79 h 79"/>
                  <a:gd name="T4" fmla="*/ 26 w 26"/>
                  <a:gd name="T5" fmla="*/ 79 h 79"/>
                  <a:gd name="T6" fmla="*/ 26 w 26"/>
                  <a:gd name="T7" fmla="*/ 0 h 79"/>
                  <a:gd name="T8" fmla="*/ 14 w 26"/>
                  <a:gd name="T9" fmla="*/ 4 h 79"/>
                </a:gdLst>
                <a:ahLst/>
                <a:cxnLst>
                  <a:cxn ang="0">
                    <a:pos x="T0" y="T1"/>
                  </a:cxn>
                  <a:cxn ang="0">
                    <a:pos x="T2" y="T3"/>
                  </a:cxn>
                  <a:cxn ang="0">
                    <a:pos x="T4" y="T5"/>
                  </a:cxn>
                  <a:cxn ang="0">
                    <a:pos x="T6" y="T7"/>
                  </a:cxn>
                  <a:cxn ang="0">
                    <a:pos x="T8" y="T9"/>
                  </a:cxn>
                </a:cxnLst>
                <a:rect l="0" t="0" r="r" b="b"/>
                <a:pathLst>
                  <a:path w="26" h="79">
                    <a:moveTo>
                      <a:pt x="14" y="4"/>
                    </a:moveTo>
                    <a:cubicBezTo>
                      <a:pt x="14" y="4"/>
                      <a:pt x="0" y="34"/>
                      <a:pt x="6" y="79"/>
                    </a:cubicBezTo>
                    <a:cubicBezTo>
                      <a:pt x="26" y="79"/>
                      <a:pt x="26" y="79"/>
                      <a:pt x="26" y="79"/>
                    </a:cubicBezTo>
                    <a:cubicBezTo>
                      <a:pt x="26" y="0"/>
                      <a:pt x="26" y="0"/>
                      <a:pt x="26" y="0"/>
                    </a:cubicBezTo>
                    <a:cubicBezTo>
                      <a:pt x="26" y="0"/>
                      <a:pt x="14"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114" name="Freeform 18">
                <a:extLst>
                  <a:ext uri="{FF2B5EF4-FFF2-40B4-BE49-F238E27FC236}">
                    <a16:creationId xmlns:a16="http://schemas.microsoft.com/office/drawing/2014/main" id="{9F9887CE-AFF6-4716-8976-5667B9344B96}"/>
                  </a:ext>
                </a:extLst>
              </p:cNvPr>
              <p:cNvSpPr>
                <a:spLocks/>
              </p:cNvSpPr>
              <p:nvPr/>
            </p:nvSpPr>
            <p:spPr bwMode="auto">
              <a:xfrm>
                <a:off x="7932738" y="4605338"/>
                <a:ext cx="55563" cy="171450"/>
              </a:xfrm>
              <a:custGeom>
                <a:avLst/>
                <a:gdLst>
                  <a:gd name="T0" fmla="*/ 11 w 25"/>
                  <a:gd name="T1" fmla="*/ 4 h 79"/>
                  <a:gd name="T2" fmla="*/ 20 w 25"/>
                  <a:gd name="T3" fmla="*/ 79 h 79"/>
                  <a:gd name="T4" fmla="*/ 0 w 25"/>
                  <a:gd name="T5" fmla="*/ 79 h 79"/>
                  <a:gd name="T6" fmla="*/ 0 w 25"/>
                  <a:gd name="T7" fmla="*/ 0 h 79"/>
                  <a:gd name="T8" fmla="*/ 11 w 25"/>
                  <a:gd name="T9" fmla="*/ 4 h 79"/>
                </a:gdLst>
                <a:ahLst/>
                <a:cxnLst>
                  <a:cxn ang="0">
                    <a:pos x="T0" y="T1"/>
                  </a:cxn>
                  <a:cxn ang="0">
                    <a:pos x="T2" y="T3"/>
                  </a:cxn>
                  <a:cxn ang="0">
                    <a:pos x="T4" y="T5"/>
                  </a:cxn>
                  <a:cxn ang="0">
                    <a:pos x="T6" y="T7"/>
                  </a:cxn>
                  <a:cxn ang="0">
                    <a:pos x="T8" y="T9"/>
                  </a:cxn>
                </a:cxnLst>
                <a:rect l="0" t="0" r="r" b="b"/>
                <a:pathLst>
                  <a:path w="25" h="79">
                    <a:moveTo>
                      <a:pt x="11" y="4"/>
                    </a:moveTo>
                    <a:cubicBezTo>
                      <a:pt x="11" y="4"/>
                      <a:pt x="25" y="34"/>
                      <a:pt x="20" y="79"/>
                    </a:cubicBezTo>
                    <a:cubicBezTo>
                      <a:pt x="0" y="79"/>
                      <a:pt x="0" y="79"/>
                      <a:pt x="0" y="79"/>
                    </a:cubicBezTo>
                    <a:cubicBezTo>
                      <a:pt x="0" y="0"/>
                      <a:pt x="0" y="0"/>
                      <a:pt x="0" y="0"/>
                    </a:cubicBezTo>
                    <a:cubicBezTo>
                      <a:pt x="0" y="0"/>
                      <a:pt x="11" y="7"/>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115" name="Freeform 19">
                <a:extLst>
                  <a:ext uri="{FF2B5EF4-FFF2-40B4-BE49-F238E27FC236}">
                    <a16:creationId xmlns:a16="http://schemas.microsoft.com/office/drawing/2014/main" id="{14FB3175-E871-42ED-A0A7-4F5A6B6C0FDA}"/>
                  </a:ext>
                </a:extLst>
              </p:cNvPr>
              <p:cNvSpPr>
                <a:spLocks/>
              </p:cNvSpPr>
              <p:nvPr/>
            </p:nvSpPr>
            <p:spPr bwMode="auto">
              <a:xfrm>
                <a:off x="7327900" y="4449763"/>
                <a:ext cx="455613" cy="339725"/>
              </a:xfrm>
              <a:custGeom>
                <a:avLst/>
                <a:gdLst>
                  <a:gd name="T0" fmla="*/ 209 w 209"/>
                  <a:gd name="T1" fmla="*/ 0 h 156"/>
                  <a:gd name="T2" fmla="*/ 104 w 209"/>
                  <a:gd name="T3" fmla="*/ 49 h 156"/>
                  <a:gd name="T4" fmla="*/ 0 w 209"/>
                  <a:gd name="T5" fmla="*/ 0 h 156"/>
                  <a:gd name="T6" fmla="*/ 0 w 209"/>
                  <a:gd name="T7" fmla="*/ 120 h 156"/>
                  <a:gd name="T8" fmla="*/ 102 w 209"/>
                  <a:gd name="T9" fmla="*/ 156 h 156"/>
                  <a:gd name="T10" fmla="*/ 102 w 209"/>
                  <a:gd name="T11" fmla="*/ 156 h 156"/>
                  <a:gd name="T12" fmla="*/ 104 w 209"/>
                  <a:gd name="T13" fmla="*/ 156 h 156"/>
                  <a:gd name="T14" fmla="*/ 107 w 209"/>
                  <a:gd name="T15" fmla="*/ 156 h 156"/>
                  <a:gd name="T16" fmla="*/ 107 w 209"/>
                  <a:gd name="T17" fmla="*/ 156 h 156"/>
                  <a:gd name="T18" fmla="*/ 209 w 209"/>
                  <a:gd name="T19" fmla="*/ 120 h 156"/>
                  <a:gd name="T20" fmla="*/ 209 w 209"/>
                  <a:gd name="T2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9" h="156">
                    <a:moveTo>
                      <a:pt x="209" y="0"/>
                    </a:moveTo>
                    <a:cubicBezTo>
                      <a:pt x="209" y="1"/>
                      <a:pt x="121" y="41"/>
                      <a:pt x="104" y="49"/>
                    </a:cubicBezTo>
                    <a:cubicBezTo>
                      <a:pt x="87" y="41"/>
                      <a:pt x="0" y="1"/>
                      <a:pt x="0" y="0"/>
                    </a:cubicBezTo>
                    <a:cubicBezTo>
                      <a:pt x="0" y="120"/>
                      <a:pt x="0" y="120"/>
                      <a:pt x="0" y="120"/>
                    </a:cubicBezTo>
                    <a:cubicBezTo>
                      <a:pt x="28" y="150"/>
                      <a:pt x="84" y="155"/>
                      <a:pt x="102" y="156"/>
                    </a:cubicBezTo>
                    <a:cubicBezTo>
                      <a:pt x="102" y="156"/>
                      <a:pt x="102" y="156"/>
                      <a:pt x="102" y="156"/>
                    </a:cubicBezTo>
                    <a:cubicBezTo>
                      <a:pt x="102" y="156"/>
                      <a:pt x="103" y="156"/>
                      <a:pt x="104" y="156"/>
                    </a:cubicBezTo>
                    <a:cubicBezTo>
                      <a:pt x="106" y="156"/>
                      <a:pt x="107" y="156"/>
                      <a:pt x="107" y="156"/>
                    </a:cubicBezTo>
                    <a:cubicBezTo>
                      <a:pt x="107" y="156"/>
                      <a:pt x="107" y="156"/>
                      <a:pt x="107" y="156"/>
                    </a:cubicBezTo>
                    <a:cubicBezTo>
                      <a:pt x="125" y="155"/>
                      <a:pt x="181" y="150"/>
                      <a:pt x="209" y="120"/>
                    </a:cubicBezTo>
                    <a:lnTo>
                      <a:pt x="2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grpSp>
        <p:sp>
          <p:nvSpPr>
            <p:cNvPr id="28" name="Freeform 20">
              <a:extLst>
                <a:ext uri="{FF2B5EF4-FFF2-40B4-BE49-F238E27FC236}">
                  <a16:creationId xmlns:a16="http://schemas.microsoft.com/office/drawing/2014/main" id="{B6208AA0-A5E9-4E6C-940D-A94870D9263F}"/>
                </a:ext>
              </a:extLst>
            </p:cNvPr>
            <p:cNvSpPr>
              <a:spLocks noEditPoints="1"/>
            </p:cNvSpPr>
            <p:nvPr/>
          </p:nvSpPr>
          <p:spPr bwMode="auto">
            <a:xfrm>
              <a:off x="886376" y="2538143"/>
              <a:ext cx="358285" cy="377330"/>
            </a:xfrm>
            <a:custGeom>
              <a:avLst/>
              <a:gdLst>
                <a:gd name="T0" fmla="*/ 168 w 219"/>
                <a:gd name="T1" fmla="*/ 224 h 231"/>
                <a:gd name="T2" fmla="*/ 197 w 219"/>
                <a:gd name="T3" fmla="*/ 212 h 231"/>
                <a:gd name="T4" fmla="*/ 168 w 219"/>
                <a:gd name="T5" fmla="*/ 132 h 231"/>
                <a:gd name="T6" fmla="*/ 168 w 219"/>
                <a:gd name="T7" fmla="*/ 150 h 231"/>
                <a:gd name="T8" fmla="*/ 192 w 219"/>
                <a:gd name="T9" fmla="*/ 190 h 231"/>
                <a:gd name="T10" fmla="*/ 168 w 219"/>
                <a:gd name="T11" fmla="*/ 209 h 231"/>
                <a:gd name="T12" fmla="*/ 168 w 219"/>
                <a:gd name="T13" fmla="*/ 224 h 231"/>
                <a:gd name="T14" fmla="*/ 168 w 219"/>
                <a:gd name="T15" fmla="*/ 203 h 231"/>
                <a:gd name="T16" fmla="*/ 168 w 219"/>
                <a:gd name="T17" fmla="*/ 157 h 231"/>
                <a:gd name="T18" fmla="*/ 181 w 219"/>
                <a:gd name="T19" fmla="*/ 187 h 231"/>
                <a:gd name="T20" fmla="*/ 168 w 219"/>
                <a:gd name="T21" fmla="*/ 203 h 231"/>
                <a:gd name="T22" fmla="*/ 146 w 219"/>
                <a:gd name="T23" fmla="*/ 112 h 231"/>
                <a:gd name="T24" fmla="*/ 141 w 219"/>
                <a:gd name="T25" fmla="*/ 98 h 231"/>
                <a:gd name="T26" fmla="*/ 141 w 219"/>
                <a:gd name="T27" fmla="*/ 44 h 231"/>
                <a:gd name="T28" fmla="*/ 146 w 219"/>
                <a:gd name="T29" fmla="*/ 37 h 231"/>
                <a:gd name="T30" fmla="*/ 148 w 219"/>
                <a:gd name="T31" fmla="*/ 37 h 231"/>
                <a:gd name="T32" fmla="*/ 148 w 219"/>
                <a:gd name="T33" fmla="*/ 14 h 231"/>
                <a:gd name="T34" fmla="*/ 146 w 219"/>
                <a:gd name="T35" fmla="*/ 14 h 231"/>
                <a:gd name="T36" fmla="*/ 146 w 219"/>
                <a:gd name="T37" fmla="*/ 13 h 231"/>
                <a:gd name="T38" fmla="*/ 114 w 219"/>
                <a:gd name="T39" fmla="*/ 0 h 231"/>
                <a:gd name="T40" fmla="*/ 81 w 219"/>
                <a:gd name="T41" fmla="*/ 13 h 231"/>
                <a:gd name="T42" fmla="*/ 81 w 219"/>
                <a:gd name="T43" fmla="*/ 14 h 231"/>
                <a:gd name="T44" fmla="*/ 80 w 219"/>
                <a:gd name="T45" fmla="*/ 14 h 231"/>
                <a:gd name="T46" fmla="*/ 80 w 219"/>
                <a:gd name="T47" fmla="*/ 37 h 231"/>
                <a:gd name="T48" fmla="*/ 81 w 219"/>
                <a:gd name="T49" fmla="*/ 37 h 231"/>
                <a:gd name="T50" fmla="*/ 90 w 219"/>
                <a:gd name="T51" fmla="*/ 45 h 231"/>
                <a:gd name="T52" fmla="*/ 90 w 219"/>
                <a:gd name="T53" fmla="*/ 98 h 231"/>
                <a:gd name="T54" fmla="*/ 83 w 219"/>
                <a:gd name="T55" fmla="*/ 112 h 231"/>
                <a:gd name="T56" fmla="*/ 31 w 219"/>
                <a:gd name="T57" fmla="*/ 212 h 231"/>
                <a:gd name="T58" fmla="*/ 114 w 219"/>
                <a:gd name="T59" fmla="*/ 230 h 231"/>
                <a:gd name="T60" fmla="*/ 168 w 219"/>
                <a:gd name="T61" fmla="*/ 224 h 231"/>
                <a:gd name="T62" fmla="*/ 168 w 219"/>
                <a:gd name="T63" fmla="*/ 209 h 231"/>
                <a:gd name="T64" fmla="*/ 144 w 219"/>
                <a:gd name="T65" fmla="*/ 212 h 231"/>
                <a:gd name="T66" fmla="*/ 144 w 219"/>
                <a:gd name="T67" fmla="*/ 212 h 231"/>
                <a:gd name="T68" fmla="*/ 168 w 219"/>
                <a:gd name="T69" fmla="*/ 203 h 231"/>
                <a:gd name="T70" fmla="*/ 168 w 219"/>
                <a:gd name="T71" fmla="*/ 157 h 231"/>
                <a:gd name="T72" fmla="*/ 149 w 219"/>
                <a:gd name="T73" fmla="*/ 134 h 231"/>
                <a:gd name="T74" fmla="*/ 168 w 219"/>
                <a:gd name="T75" fmla="*/ 150 h 231"/>
                <a:gd name="T76" fmla="*/ 168 w 219"/>
                <a:gd name="T77" fmla="*/ 132 h 231"/>
                <a:gd name="T78" fmla="*/ 146 w 219"/>
                <a:gd name="T79" fmla="*/ 1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9" h="231">
                  <a:moveTo>
                    <a:pt x="168" y="224"/>
                  </a:moveTo>
                  <a:cubicBezTo>
                    <a:pt x="179" y="221"/>
                    <a:pt x="189" y="217"/>
                    <a:pt x="197" y="212"/>
                  </a:cubicBezTo>
                  <a:cubicBezTo>
                    <a:pt x="219" y="196"/>
                    <a:pt x="191" y="157"/>
                    <a:pt x="168" y="132"/>
                  </a:cubicBezTo>
                  <a:cubicBezTo>
                    <a:pt x="168" y="150"/>
                    <a:pt x="168" y="150"/>
                    <a:pt x="168" y="150"/>
                  </a:cubicBezTo>
                  <a:cubicBezTo>
                    <a:pt x="180" y="162"/>
                    <a:pt x="193" y="177"/>
                    <a:pt x="192" y="190"/>
                  </a:cubicBezTo>
                  <a:cubicBezTo>
                    <a:pt x="192" y="201"/>
                    <a:pt x="180" y="207"/>
                    <a:pt x="168" y="209"/>
                  </a:cubicBezTo>
                  <a:cubicBezTo>
                    <a:pt x="168" y="224"/>
                    <a:pt x="168" y="224"/>
                    <a:pt x="168" y="224"/>
                  </a:cubicBezTo>
                  <a:close/>
                  <a:moveTo>
                    <a:pt x="168" y="203"/>
                  </a:moveTo>
                  <a:cubicBezTo>
                    <a:pt x="168" y="157"/>
                    <a:pt x="168" y="157"/>
                    <a:pt x="168" y="157"/>
                  </a:cubicBezTo>
                  <a:cubicBezTo>
                    <a:pt x="175" y="167"/>
                    <a:pt x="182" y="179"/>
                    <a:pt x="181" y="187"/>
                  </a:cubicBezTo>
                  <a:cubicBezTo>
                    <a:pt x="180" y="194"/>
                    <a:pt x="175" y="199"/>
                    <a:pt x="168" y="203"/>
                  </a:cubicBezTo>
                  <a:close/>
                  <a:moveTo>
                    <a:pt x="146" y="112"/>
                  </a:moveTo>
                  <a:cubicBezTo>
                    <a:pt x="146" y="112"/>
                    <a:pt x="141" y="109"/>
                    <a:pt x="141" y="98"/>
                  </a:cubicBezTo>
                  <a:cubicBezTo>
                    <a:pt x="141" y="90"/>
                    <a:pt x="141" y="56"/>
                    <a:pt x="141" y="44"/>
                  </a:cubicBezTo>
                  <a:cubicBezTo>
                    <a:pt x="144" y="43"/>
                    <a:pt x="146" y="40"/>
                    <a:pt x="146" y="37"/>
                  </a:cubicBezTo>
                  <a:cubicBezTo>
                    <a:pt x="148" y="37"/>
                    <a:pt x="148" y="37"/>
                    <a:pt x="148" y="37"/>
                  </a:cubicBezTo>
                  <a:cubicBezTo>
                    <a:pt x="148" y="14"/>
                    <a:pt x="148" y="14"/>
                    <a:pt x="148" y="14"/>
                  </a:cubicBezTo>
                  <a:cubicBezTo>
                    <a:pt x="146" y="14"/>
                    <a:pt x="146" y="14"/>
                    <a:pt x="146" y="14"/>
                  </a:cubicBezTo>
                  <a:cubicBezTo>
                    <a:pt x="146" y="14"/>
                    <a:pt x="146" y="13"/>
                    <a:pt x="146" y="13"/>
                  </a:cubicBezTo>
                  <a:cubicBezTo>
                    <a:pt x="146" y="6"/>
                    <a:pt x="132" y="0"/>
                    <a:pt x="114" y="0"/>
                  </a:cubicBezTo>
                  <a:cubicBezTo>
                    <a:pt x="95" y="0"/>
                    <a:pt x="81" y="6"/>
                    <a:pt x="81" y="13"/>
                  </a:cubicBezTo>
                  <a:cubicBezTo>
                    <a:pt x="81" y="13"/>
                    <a:pt x="81" y="14"/>
                    <a:pt x="81" y="14"/>
                  </a:cubicBezTo>
                  <a:cubicBezTo>
                    <a:pt x="80" y="14"/>
                    <a:pt x="80" y="14"/>
                    <a:pt x="80" y="14"/>
                  </a:cubicBezTo>
                  <a:cubicBezTo>
                    <a:pt x="80" y="37"/>
                    <a:pt x="80" y="37"/>
                    <a:pt x="80" y="37"/>
                  </a:cubicBezTo>
                  <a:cubicBezTo>
                    <a:pt x="81" y="37"/>
                    <a:pt x="81" y="37"/>
                    <a:pt x="81" y="37"/>
                  </a:cubicBezTo>
                  <a:cubicBezTo>
                    <a:pt x="81" y="40"/>
                    <a:pt x="84" y="43"/>
                    <a:pt x="90" y="45"/>
                  </a:cubicBezTo>
                  <a:cubicBezTo>
                    <a:pt x="90" y="56"/>
                    <a:pt x="90" y="90"/>
                    <a:pt x="90" y="98"/>
                  </a:cubicBezTo>
                  <a:cubicBezTo>
                    <a:pt x="90" y="109"/>
                    <a:pt x="83" y="112"/>
                    <a:pt x="83" y="112"/>
                  </a:cubicBezTo>
                  <a:cubicBezTo>
                    <a:pt x="71" y="119"/>
                    <a:pt x="0" y="190"/>
                    <a:pt x="31" y="212"/>
                  </a:cubicBezTo>
                  <a:cubicBezTo>
                    <a:pt x="58" y="231"/>
                    <a:pt x="105" y="230"/>
                    <a:pt x="114" y="230"/>
                  </a:cubicBezTo>
                  <a:cubicBezTo>
                    <a:pt x="121" y="230"/>
                    <a:pt x="145" y="230"/>
                    <a:pt x="168" y="224"/>
                  </a:cubicBezTo>
                  <a:cubicBezTo>
                    <a:pt x="168" y="209"/>
                    <a:pt x="168" y="209"/>
                    <a:pt x="168" y="209"/>
                  </a:cubicBezTo>
                  <a:cubicBezTo>
                    <a:pt x="156" y="212"/>
                    <a:pt x="144" y="212"/>
                    <a:pt x="144" y="212"/>
                  </a:cubicBezTo>
                  <a:cubicBezTo>
                    <a:pt x="144" y="212"/>
                    <a:pt x="144" y="212"/>
                    <a:pt x="144" y="212"/>
                  </a:cubicBezTo>
                  <a:cubicBezTo>
                    <a:pt x="144" y="212"/>
                    <a:pt x="158" y="210"/>
                    <a:pt x="168" y="203"/>
                  </a:cubicBezTo>
                  <a:cubicBezTo>
                    <a:pt x="168" y="157"/>
                    <a:pt x="168" y="157"/>
                    <a:pt x="168" y="157"/>
                  </a:cubicBezTo>
                  <a:cubicBezTo>
                    <a:pt x="159" y="144"/>
                    <a:pt x="149" y="134"/>
                    <a:pt x="149" y="134"/>
                  </a:cubicBezTo>
                  <a:cubicBezTo>
                    <a:pt x="149" y="134"/>
                    <a:pt x="158" y="141"/>
                    <a:pt x="168" y="150"/>
                  </a:cubicBezTo>
                  <a:cubicBezTo>
                    <a:pt x="168" y="132"/>
                    <a:pt x="168" y="132"/>
                    <a:pt x="168" y="132"/>
                  </a:cubicBezTo>
                  <a:cubicBezTo>
                    <a:pt x="159" y="122"/>
                    <a:pt x="150" y="114"/>
                    <a:pt x="146" y="112"/>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29" name="Oval 21">
              <a:extLst>
                <a:ext uri="{FF2B5EF4-FFF2-40B4-BE49-F238E27FC236}">
                  <a16:creationId xmlns:a16="http://schemas.microsoft.com/office/drawing/2014/main" id="{D581C1EF-B25A-499F-AB1F-60FD67D35D57}"/>
                </a:ext>
              </a:extLst>
            </p:cNvPr>
            <p:cNvSpPr>
              <a:spLocks noChangeArrowheads="1"/>
            </p:cNvSpPr>
            <p:nvPr/>
          </p:nvSpPr>
          <p:spPr bwMode="auto">
            <a:xfrm>
              <a:off x="3172972" y="2450059"/>
              <a:ext cx="105938" cy="105938"/>
            </a:xfrm>
            <a:prstGeom prst="ellipse">
              <a:avLst/>
            </a:pr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30" name="Freeform 22">
              <a:extLst>
                <a:ext uri="{FF2B5EF4-FFF2-40B4-BE49-F238E27FC236}">
                  <a16:creationId xmlns:a16="http://schemas.microsoft.com/office/drawing/2014/main" id="{BE7EE6C7-3428-4954-891D-0D8EFDAD9BE3}"/>
                </a:ext>
              </a:extLst>
            </p:cNvPr>
            <p:cNvSpPr>
              <a:spLocks/>
            </p:cNvSpPr>
            <p:nvPr/>
          </p:nvSpPr>
          <p:spPr bwMode="auto">
            <a:xfrm>
              <a:off x="3211061" y="2528620"/>
              <a:ext cx="166644" cy="347572"/>
            </a:xfrm>
            <a:custGeom>
              <a:avLst/>
              <a:gdLst>
                <a:gd name="T0" fmla="*/ 0 w 102"/>
                <a:gd name="T1" fmla="*/ 6 h 213"/>
                <a:gd name="T2" fmla="*/ 68 w 102"/>
                <a:gd name="T3" fmla="*/ 184 h 213"/>
                <a:gd name="T4" fmla="*/ 99 w 102"/>
                <a:gd name="T5" fmla="*/ 213 h 213"/>
                <a:gd name="T6" fmla="*/ 23 w 102"/>
                <a:gd name="T7" fmla="*/ 0 h 213"/>
                <a:gd name="T8" fmla="*/ 0 w 102"/>
                <a:gd name="T9" fmla="*/ 6 h 213"/>
              </a:gdLst>
              <a:ahLst/>
              <a:cxnLst>
                <a:cxn ang="0">
                  <a:pos x="T0" y="T1"/>
                </a:cxn>
                <a:cxn ang="0">
                  <a:pos x="T2" y="T3"/>
                </a:cxn>
                <a:cxn ang="0">
                  <a:pos x="T4" y="T5"/>
                </a:cxn>
                <a:cxn ang="0">
                  <a:pos x="T6" y="T7"/>
                </a:cxn>
                <a:cxn ang="0">
                  <a:pos x="T8" y="T9"/>
                </a:cxn>
              </a:cxnLst>
              <a:rect l="0" t="0" r="r" b="b"/>
              <a:pathLst>
                <a:path w="102" h="213">
                  <a:moveTo>
                    <a:pt x="0" y="6"/>
                  </a:moveTo>
                  <a:cubicBezTo>
                    <a:pt x="0" y="7"/>
                    <a:pt x="68" y="184"/>
                    <a:pt x="68" y="184"/>
                  </a:cubicBezTo>
                  <a:cubicBezTo>
                    <a:pt x="68" y="184"/>
                    <a:pt x="96" y="213"/>
                    <a:pt x="99" y="213"/>
                  </a:cubicBezTo>
                  <a:cubicBezTo>
                    <a:pt x="102" y="213"/>
                    <a:pt x="23" y="0"/>
                    <a:pt x="23" y="0"/>
                  </a:cubicBezTo>
                  <a:lnTo>
                    <a:pt x="0" y="6"/>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31" name="Freeform 23">
              <a:extLst>
                <a:ext uri="{FF2B5EF4-FFF2-40B4-BE49-F238E27FC236}">
                  <a16:creationId xmlns:a16="http://schemas.microsoft.com/office/drawing/2014/main" id="{B4BAAFD6-F8A3-458B-933B-9E12B1AF2E72}"/>
                </a:ext>
              </a:extLst>
            </p:cNvPr>
            <p:cNvSpPr>
              <a:spLocks/>
            </p:cNvSpPr>
            <p:nvPr/>
          </p:nvSpPr>
          <p:spPr bwMode="auto">
            <a:xfrm>
              <a:off x="3064653" y="2528620"/>
              <a:ext cx="178547" cy="342811"/>
            </a:xfrm>
            <a:custGeom>
              <a:avLst/>
              <a:gdLst>
                <a:gd name="T0" fmla="*/ 149 w 150"/>
                <a:gd name="T1" fmla="*/ 14 h 288"/>
                <a:gd name="T2" fmla="*/ 40 w 150"/>
                <a:gd name="T3" fmla="*/ 248 h 288"/>
                <a:gd name="T4" fmla="*/ 0 w 150"/>
                <a:gd name="T5" fmla="*/ 288 h 288"/>
                <a:gd name="T6" fmla="*/ 11 w 150"/>
                <a:gd name="T7" fmla="*/ 233 h 288"/>
                <a:gd name="T8" fmla="*/ 117 w 150"/>
                <a:gd name="T9" fmla="*/ 0 h 288"/>
                <a:gd name="T10" fmla="*/ 150 w 150"/>
                <a:gd name="T11" fmla="*/ 11 h 288"/>
                <a:gd name="T12" fmla="*/ 149 w 150"/>
                <a:gd name="T13" fmla="*/ 14 h 288"/>
              </a:gdLst>
              <a:ahLst/>
              <a:cxnLst>
                <a:cxn ang="0">
                  <a:pos x="T0" y="T1"/>
                </a:cxn>
                <a:cxn ang="0">
                  <a:pos x="T2" y="T3"/>
                </a:cxn>
                <a:cxn ang="0">
                  <a:pos x="T4" y="T5"/>
                </a:cxn>
                <a:cxn ang="0">
                  <a:pos x="T6" y="T7"/>
                </a:cxn>
                <a:cxn ang="0">
                  <a:pos x="T8" y="T9"/>
                </a:cxn>
                <a:cxn ang="0">
                  <a:pos x="T10" y="T11"/>
                </a:cxn>
                <a:cxn ang="0">
                  <a:pos x="T12" y="T13"/>
                </a:cxn>
              </a:cxnLst>
              <a:rect l="0" t="0" r="r" b="b"/>
              <a:pathLst>
                <a:path w="150" h="288">
                  <a:moveTo>
                    <a:pt x="149" y="14"/>
                  </a:moveTo>
                  <a:lnTo>
                    <a:pt x="40" y="248"/>
                  </a:lnTo>
                  <a:lnTo>
                    <a:pt x="0" y="288"/>
                  </a:lnTo>
                  <a:lnTo>
                    <a:pt x="11" y="233"/>
                  </a:lnTo>
                  <a:lnTo>
                    <a:pt x="117" y="0"/>
                  </a:lnTo>
                  <a:lnTo>
                    <a:pt x="150" y="11"/>
                  </a:lnTo>
                  <a:lnTo>
                    <a:pt x="149" y="14"/>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32" name="Freeform 24">
              <a:extLst>
                <a:ext uri="{FF2B5EF4-FFF2-40B4-BE49-F238E27FC236}">
                  <a16:creationId xmlns:a16="http://schemas.microsoft.com/office/drawing/2014/main" id="{0282D17F-5CB6-454F-969A-1E720581571B}"/>
                </a:ext>
              </a:extLst>
            </p:cNvPr>
            <p:cNvSpPr>
              <a:spLocks/>
            </p:cNvSpPr>
            <p:nvPr/>
          </p:nvSpPr>
          <p:spPr bwMode="auto">
            <a:xfrm>
              <a:off x="3220584" y="2411969"/>
              <a:ext cx="19045" cy="59516"/>
            </a:xfrm>
            <a:custGeom>
              <a:avLst/>
              <a:gdLst>
                <a:gd name="T0" fmla="*/ 12 w 12"/>
                <a:gd name="T1" fmla="*/ 30 h 36"/>
                <a:gd name="T2" fmla="*/ 6 w 12"/>
                <a:gd name="T3" fmla="*/ 36 h 36"/>
                <a:gd name="T4" fmla="*/ 0 w 12"/>
                <a:gd name="T5" fmla="*/ 30 h 36"/>
                <a:gd name="T6" fmla="*/ 0 w 12"/>
                <a:gd name="T7" fmla="*/ 6 h 36"/>
                <a:gd name="T8" fmla="*/ 6 w 12"/>
                <a:gd name="T9" fmla="*/ 0 h 36"/>
                <a:gd name="T10" fmla="*/ 12 w 12"/>
                <a:gd name="T11" fmla="*/ 6 h 36"/>
                <a:gd name="T12" fmla="*/ 12 w 12"/>
                <a:gd name="T13" fmla="*/ 30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12" y="30"/>
                  </a:moveTo>
                  <a:cubicBezTo>
                    <a:pt x="12" y="33"/>
                    <a:pt x="10" y="36"/>
                    <a:pt x="6" y="36"/>
                  </a:cubicBezTo>
                  <a:cubicBezTo>
                    <a:pt x="3" y="36"/>
                    <a:pt x="0" y="33"/>
                    <a:pt x="0" y="30"/>
                  </a:cubicBezTo>
                  <a:cubicBezTo>
                    <a:pt x="0" y="6"/>
                    <a:pt x="0" y="6"/>
                    <a:pt x="0" y="6"/>
                  </a:cubicBezTo>
                  <a:cubicBezTo>
                    <a:pt x="0" y="3"/>
                    <a:pt x="3" y="0"/>
                    <a:pt x="6" y="0"/>
                  </a:cubicBezTo>
                  <a:cubicBezTo>
                    <a:pt x="10" y="0"/>
                    <a:pt x="12" y="3"/>
                    <a:pt x="12" y="6"/>
                  </a:cubicBezTo>
                  <a:lnTo>
                    <a:pt x="12" y="30"/>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33" name="Freeform 25">
              <a:extLst>
                <a:ext uri="{FF2B5EF4-FFF2-40B4-BE49-F238E27FC236}">
                  <a16:creationId xmlns:a16="http://schemas.microsoft.com/office/drawing/2014/main" id="{8A7F8A84-943B-435F-BA26-7FA50F5FCDA2}"/>
                </a:ext>
              </a:extLst>
            </p:cNvPr>
            <p:cNvSpPr>
              <a:spLocks noEditPoints="1"/>
            </p:cNvSpPr>
            <p:nvPr/>
          </p:nvSpPr>
          <p:spPr bwMode="auto">
            <a:xfrm>
              <a:off x="2368319" y="2156052"/>
              <a:ext cx="169025" cy="457081"/>
            </a:xfrm>
            <a:custGeom>
              <a:avLst/>
              <a:gdLst>
                <a:gd name="T0" fmla="*/ 51 w 103"/>
                <a:gd name="T1" fmla="*/ 280 h 280"/>
                <a:gd name="T2" fmla="*/ 103 w 103"/>
                <a:gd name="T3" fmla="*/ 140 h 280"/>
                <a:gd name="T4" fmla="*/ 51 w 103"/>
                <a:gd name="T5" fmla="*/ 0 h 280"/>
                <a:gd name="T6" fmla="*/ 51 w 103"/>
                <a:gd name="T7" fmla="*/ 22 h 280"/>
                <a:gd name="T8" fmla="*/ 94 w 103"/>
                <a:gd name="T9" fmla="*/ 140 h 280"/>
                <a:gd name="T10" fmla="*/ 51 w 103"/>
                <a:gd name="T11" fmla="*/ 257 h 280"/>
                <a:gd name="T12" fmla="*/ 51 w 103"/>
                <a:gd name="T13" fmla="*/ 280 h 280"/>
                <a:gd name="T14" fmla="*/ 51 w 103"/>
                <a:gd name="T15" fmla="*/ 0 h 280"/>
                <a:gd name="T16" fmla="*/ 0 w 103"/>
                <a:gd name="T17" fmla="*/ 140 h 280"/>
                <a:gd name="T18" fmla="*/ 51 w 103"/>
                <a:gd name="T19" fmla="*/ 280 h 280"/>
                <a:gd name="T20" fmla="*/ 51 w 103"/>
                <a:gd name="T21" fmla="*/ 280 h 280"/>
                <a:gd name="T22" fmla="*/ 51 w 103"/>
                <a:gd name="T23" fmla="*/ 257 h 280"/>
                <a:gd name="T24" fmla="*/ 51 w 103"/>
                <a:gd name="T25" fmla="*/ 257 h 280"/>
                <a:gd name="T26" fmla="*/ 51 w 103"/>
                <a:gd name="T27" fmla="*/ 257 h 280"/>
                <a:gd name="T28" fmla="*/ 8 w 103"/>
                <a:gd name="T29" fmla="*/ 140 h 280"/>
                <a:gd name="T30" fmla="*/ 51 w 103"/>
                <a:gd name="T31" fmla="*/ 22 h 280"/>
                <a:gd name="T32" fmla="*/ 51 w 103"/>
                <a:gd name="T33" fmla="*/ 22 h 280"/>
                <a:gd name="T34" fmla="*/ 51 w 103"/>
                <a:gd name="T35" fmla="*/ 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3" h="280">
                  <a:moveTo>
                    <a:pt x="51" y="280"/>
                  </a:moveTo>
                  <a:cubicBezTo>
                    <a:pt x="80" y="280"/>
                    <a:pt x="103" y="217"/>
                    <a:pt x="103" y="140"/>
                  </a:cubicBezTo>
                  <a:cubicBezTo>
                    <a:pt x="103" y="62"/>
                    <a:pt x="80" y="0"/>
                    <a:pt x="51" y="0"/>
                  </a:cubicBezTo>
                  <a:cubicBezTo>
                    <a:pt x="51" y="22"/>
                    <a:pt x="51" y="22"/>
                    <a:pt x="51" y="22"/>
                  </a:cubicBezTo>
                  <a:cubicBezTo>
                    <a:pt x="75" y="22"/>
                    <a:pt x="94" y="75"/>
                    <a:pt x="94" y="140"/>
                  </a:cubicBezTo>
                  <a:cubicBezTo>
                    <a:pt x="94" y="204"/>
                    <a:pt x="75" y="257"/>
                    <a:pt x="51" y="257"/>
                  </a:cubicBezTo>
                  <a:lnTo>
                    <a:pt x="51" y="280"/>
                  </a:lnTo>
                  <a:close/>
                  <a:moveTo>
                    <a:pt x="51" y="0"/>
                  </a:moveTo>
                  <a:cubicBezTo>
                    <a:pt x="23" y="0"/>
                    <a:pt x="0" y="62"/>
                    <a:pt x="0" y="140"/>
                  </a:cubicBezTo>
                  <a:cubicBezTo>
                    <a:pt x="0" y="217"/>
                    <a:pt x="23" y="280"/>
                    <a:pt x="51" y="280"/>
                  </a:cubicBezTo>
                  <a:cubicBezTo>
                    <a:pt x="51" y="280"/>
                    <a:pt x="51" y="280"/>
                    <a:pt x="51" y="280"/>
                  </a:cubicBezTo>
                  <a:cubicBezTo>
                    <a:pt x="51" y="257"/>
                    <a:pt x="51" y="257"/>
                    <a:pt x="51" y="257"/>
                  </a:cubicBezTo>
                  <a:cubicBezTo>
                    <a:pt x="51" y="257"/>
                    <a:pt x="51" y="257"/>
                    <a:pt x="51" y="257"/>
                  </a:cubicBezTo>
                  <a:cubicBezTo>
                    <a:pt x="51" y="257"/>
                    <a:pt x="51" y="257"/>
                    <a:pt x="51" y="257"/>
                  </a:cubicBezTo>
                  <a:cubicBezTo>
                    <a:pt x="27" y="257"/>
                    <a:pt x="8" y="204"/>
                    <a:pt x="8" y="140"/>
                  </a:cubicBezTo>
                  <a:cubicBezTo>
                    <a:pt x="8" y="75"/>
                    <a:pt x="27" y="22"/>
                    <a:pt x="51" y="22"/>
                  </a:cubicBezTo>
                  <a:cubicBezTo>
                    <a:pt x="51" y="22"/>
                    <a:pt x="51" y="22"/>
                    <a:pt x="51" y="22"/>
                  </a:cubicBezTo>
                  <a:cubicBezTo>
                    <a:pt x="51" y="0"/>
                    <a:pt x="51" y="0"/>
                    <a:pt x="51" y="0"/>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34" name="Freeform 26">
              <a:extLst>
                <a:ext uri="{FF2B5EF4-FFF2-40B4-BE49-F238E27FC236}">
                  <a16:creationId xmlns:a16="http://schemas.microsoft.com/office/drawing/2014/main" id="{9F29CAC3-3A87-45A8-9D91-A3D6AA39C422}"/>
                </a:ext>
              </a:extLst>
            </p:cNvPr>
            <p:cNvSpPr>
              <a:spLocks noEditPoints="1"/>
            </p:cNvSpPr>
            <p:nvPr/>
          </p:nvSpPr>
          <p:spPr bwMode="auto">
            <a:xfrm>
              <a:off x="2223100" y="2300079"/>
              <a:ext cx="458272" cy="167835"/>
            </a:xfrm>
            <a:custGeom>
              <a:avLst/>
              <a:gdLst>
                <a:gd name="T0" fmla="*/ 280 w 280"/>
                <a:gd name="T1" fmla="*/ 52 h 103"/>
                <a:gd name="T2" fmla="*/ 140 w 280"/>
                <a:gd name="T3" fmla="*/ 0 h 103"/>
                <a:gd name="T4" fmla="*/ 140 w 280"/>
                <a:gd name="T5" fmla="*/ 8 h 103"/>
                <a:gd name="T6" fmla="*/ 257 w 280"/>
                <a:gd name="T7" fmla="*/ 52 h 103"/>
                <a:gd name="T8" fmla="*/ 140 w 280"/>
                <a:gd name="T9" fmla="*/ 95 h 103"/>
                <a:gd name="T10" fmla="*/ 140 w 280"/>
                <a:gd name="T11" fmla="*/ 103 h 103"/>
                <a:gd name="T12" fmla="*/ 280 w 280"/>
                <a:gd name="T13" fmla="*/ 52 h 103"/>
                <a:gd name="T14" fmla="*/ 140 w 280"/>
                <a:gd name="T15" fmla="*/ 0 h 103"/>
                <a:gd name="T16" fmla="*/ 140 w 280"/>
                <a:gd name="T17" fmla="*/ 0 h 103"/>
                <a:gd name="T18" fmla="*/ 0 w 280"/>
                <a:gd name="T19" fmla="*/ 52 h 103"/>
                <a:gd name="T20" fmla="*/ 140 w 280"/>
                <a:gd name="T21" fmla="*/ 103 h 103"/>
                <a:gd name="T22" fmla="*/ 140 w 280"/>
                <a:gd name="T23" fmla="*/ 103 h 103"/>
                <a:gd name="T24" fmla="*/ 140 w 280"/>
                <a:gd name="T25" fmla="*/ 95 h 103"/>
                <a:gd name="T26" fmla="*/ 140 w 280"/>
                <a:gd name="T27" fmla="*/ 95 h 103"/>
                <a:gd name="T28" fmla="*/ 23 w 280"/>
                <a:gd name="T29" fmla="*/ 52 h 103"/>
                <a:gd name="T30" fmla="*/ 23 w 280"/>
                <a:gd name="T31" fmla="*/ 52 h 103"/>
                <a:gd name="T32" fmla="*/ 140 w 280"/>
                <a:gd name="T33" fmla="*/ 8 h 103"/>
                <a:gd name="T34" fmla="*/ 140 w 280"/>
                <a:gd name="T35" fmla="*/ 8 h 103"/>
                <a:gd name="T36" fmla="*/ 140 w 280"/>
                <a:gd name="T37"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0" h="103">
                  <a:moveTo>
                    <a:pt x="280" y="52"/>
                  </a:moveTo>
                  <a:cubicBezTo>
                    <a:pt x="280" y="23"/>
                    <a:pt x="217" y="0"/>
                    <a:pt x="140" y="0"/>
                  </a:cubicBezTo>
                  <a:cubicBezTo>
                    <a:pt x="140" y="8"/>
                    <a:pt x="140" y="8"/>
                    <a:pt x="140" y="8"/>
                  </a:cubicBezTo>
                  <a:cubicBezTo>
                    <a:pt x="205" y="8"/>
                    <a:pt x="257" y="28"/>
                    <a:pt x="257" y="52"/>
                  </a:cubicBezTo>
                  <a:cubicBezTo>
                    <a:pt x="257" y="75"/>
                    <a:pt x="205" y="95"/>
                    <a:pt x="140" y="95"/>
                  </a:cubicBezTo>
                  <a:cubicBezTo>
                    <a:pt x="140" y="103"/>
                    <a:pt x="140" y="103"/>
                    <a:pt x="140" y="103"/>
                  </a:cubicBezTo>
                  <a:cubicBezTo>
                    <a:pt x="217" y="103"/>
                    <a:pt x="280" y="80"/>
                    <a:pt x="280" y="52"/>
                  </a:cubicBezTo>
                  <a:close/>
                  <a:moveTo>
                    <a:pt x="140" y="0"/>
                  </a:moveTo>
                  <a:cubicBezTo>
                    <a:pt x="140" y="0"/>
                    <a:pt x="140" y="0"/>
                    <a:pt x="140" y="0"/>
                  </a:cubicBezTo>
                  <a:cubicBezTo>
                    <a:pt x="63" y="0"/>
                    <a:pt x="0" y="23"/>
                    <a:pt x="0" y="52"/>
                  </a:cubicBezTo>
                  <a:cubicBezTo>
                    <a:pt x="0" y="80"/>
                    <a:pt x="63" y="103"/>
                    <a:pt x="140" y="103"/>
                  </a:cubicBezTo>
                  <a:cubicBezTo>
                    <a:pt x="140" y="103"/>
                    <a:pt x="140" y="103"/>
                    <a:pt x="140" y="103"/>
                  </a:cubicBezTo>
                  <a:cubicBezTo>
                    <a:pt x="140" y="95"/>
                    <a:pt x="140" y="95"/>
                    <a:pt x="140" y="95"/>
                  </a:cubicBezTo>
                  <a:cubicBezTo>
                    <a:pt x="140" y="95"/>
                    <a:pt x="140" y="95"/>
                    <a:pt x="140" y="95"/>
                  </a:cubicBezTo>
                  <a:cubicBezTo>
                    <a:pt x="75" y="95"/>
                    <a:pt x="23" y="75"/>
                    <a:pt x="23" y="52"/>
                  </a:cubicBezTo>
                  <a:cubicBezTo>
                    <a:pt x="23" y="52"/>
                    <a:pt x="23" y="52"/>
                    <a:pt x="23" y="52"/>
                  </a:cubicBezTo>
                  <a:cubicBezTo>
                    <a:pt x="23" y="28"/>
                    <a:pt x="75" y="8"/>
                    <a:pt x="140" y="8"/>
                  </a:cubicBezTo>
                  <a:cubicBezTo>
                    <a:pt x="140" y="8"/>
                    <a:pt x="140" y="8"/>
                    <a:pt x="140" y="8"/>
                  </a:cubicBezTo>
                  <a:lnTo>
                    <a:pt x="140" y="0"/>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35" name="Freeform 27">
              <a:extLst>
                <a:ext uri="{FF2B5EF4-FFF2-40B4-BE49-F238E27FC236}">
                  <a16:creationId xmlns:a16="http://schemas.microsoft.com/office/drawing/2014/main" id="{10E15261-8327-477B-94DC-7E1F75EAA67E}"/>
                </a:ext>
              </a:extLst>
            </p:cNvPr>
            <p:cNvSpPr>
              <a:spLocks noEditPoints="1"/>
            </p:cNvSpPr>
            <p:nvPr/>
          </p:nvSpPr>
          <p:spPr bwMode="auto">
            <a:xfrm>
              <a:off x="2257619" y="2196523"/>
              <a:ext cx="389233" cy="373759"/>
            </a:xfrm>
            <a:custGeom>
              <a:avLst/>
              <a:gdLst>
                <a:gd name="T0" fmla="*/ 218 w 238"/>
                <a:gd name="T1" fmla="*/ 16 h 229"/>
                <a:gd name="T2" fmla="*/ 119 w 238"/>
                <a:gd name="T3" fmla="*/ 46 h 229"/>
                <a:gd name="T4" fmla="*/ 119 w 238"/>
                <a:gd name="T5" fmla="*/ 57 h 229"/>
                <a:gd name="T6" fmla="*/ 202 w 238"/>
                <a:gd name="T7" fmla="*/ 32 h 229"/>
                <a:gd name="T8" fmla="*/ 150 w 238"/>
                <a:gd name="T9" fmla="*/ 145 h 229"/>
                <a:gd name="T10" fmla="*/ 119 w 238"/>
                <a:gd name="T11" fmla="*/ 172 h 229"/>
                <a:gd name="T12" fmla="*/ 119 w 238"/>
                <a:gd name="T13" fmla="*/ 183 h 229"/>
                <a:gd name="T14" fmla="*/ 156 w 238"/>
                <a:gd name="T15" fmla="*/ 151 h 229"/>
                <a:gd name="T16" fmla="*/ 218 w 238"/>
                <a:gd name="T17" fmla="*/ 16 h 229"/>
                <a:gd name="T18" fmla="*/ 119 w 238"/>
                <a:gd name="T19" fmla="*/ 46 h 229"/>
                <a:gd name="T20" fmla="*/ 83 w 238"/>
                <a:gd name="T21" fmla="*/ 78 h 229"/>
                <a:gd name="T22" fmla="*/ 20 w 238"/>
                <a:gd name="T23" fmla="*/ 214 h 229"/>
                <a:gd name="T24" fmla="*/ 119 w 238"/>
                <a:gd name="T25" fmla="*/ 183 h 229"/>
                <a:gd name="T26" fmla="*/ 119 w 238"/>
                <a:gd name="T27" fmla="*/ 172 h 229"/>
                <a:gd name="T28" fmla="*/ 36 w 238"/>
                <a:gd name="T29" fmla="*/ 197 h 229"/>
                <a:gd name="T30" fmla="*/ 36 w 238"/>
                <a:gd name="T31" fmla="*/ 197 h 229"/>
                <a:gd name="T32" fmla="*/ 89 w 238"/>
                <a:gd name="T33" fmla="*/ 84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16"/>
                  </a:moveTo>
                  <a:cubicBezTo>
                    <a:pt x="202" y="0"/>
                    <a:pt x="162" y="13"/>
                    <a:pt x="119" y="46"/>
                  </a:cubicBezTo>
                  <a:cubicBezTo>
                    <a:pt x="119" y="57"/>
                    <a:pt x="119" y="57"/>
                    <a:pt x="119" y="57"/>
                  </a:cubicBezTo>
                  <a:cubicBezTo>
                    <a:pt x="155" y="30"/>
                    <a:pt x="189" y="19"/>
                    <a:pt x="202" y="32"/>
                  </a:cubicBezTo>
                  <a:cubicBezTo>
                    <a:pt x="219" y="49"/>
                    <a:pt x="195" y="99"/>
                    <a:pt x="150" y="145"/>
                  </a:cubicBezTo>
                  <a:cubicBezTo>
                    <a:pt x="140" y="155"/>
                    <a:pt x="129" y="164"/>
                    <a:pt x="119" y="172"/>
                  </a:cubicBezTo>
                  <a:cubicBezTo>
                    <a:pt x="119" y="183"/>
                    <a:pt x="119" y="183"/>
                    <a:pt x="119" y="183"/>
                  </a:cubicBezTo>
                  <a:cubicBezTo>
                    <a:pt x="131" y="174"/>
                    <a:pt x="144" y="163"/>
                    <a:pt x="156" y="151"/>
                  </a:cubicBezTo>
                  <a:cubicBezTo>
                    <a:pt x="210" y="96"/>
                    <a:pt x="238" y="36"/>
                    <a:pt x="218" y="16"/>
                  </a:cubicBezTo>
                  <a:close/>
                  <a:moveTo>
                    <a:pt x="119" y="46"/>
                  </a:moveTo>
                  <a:cubicBezTo>
                    <a:pt x="107" y="55"/>
                    <a:pt x="95" y="66"/>
                    <a:pt x="83" y="78"/>
                  </a:cubicBezTo>
                  <a:cubicBezTo>
                    <a:pt x="28" y="133"/>
                    <a:pt x="0" y="193"/>
                    <a:pt x="20" y="214"/>
                  </a:cubicBezTo>
                  <a:cubicBezTo>
                    <a:pt x="36" y="229"/>
                    <a:pt x="76" y="216"/>
                    <a:pt x="119" y="183"/>
                  </a:cubicBezTo>
                  <a:cubicBezTo>
                    <a:pt x="119" y="172"/>
                    <a:pt x="119" y="172"/>
                    <a:pt x="119" y="172"/>
                  </a:cubicBezTo>
                  <a:cubicBezTo>
                    <a:pt x="83" y="199"/>
                    <a:pt x="49" y="211"/>
                    <a:pt x="36" y="197"/>
                  </a:cubicBezTo>
                  <a:cubicBezTo>
                    <a:pt x="36" y="197"/>
                    <a:pt x="36" y="197"/>
                    <a:pt x="36" y="197"/>
                  </a:cubicBezTo>
                  <a:cubicBezTo>
                    <a:pt x="19" y="181"/>
                    <a:pt x="43" y="130"/>
                    <a:pt x="89" y="84"/>
                  </a:cubicBezTo>
                  <a:cubicBezTo>
                    <a:pt x="99" y="74"/>
                    <a:pt x="109" y="65"/>
                    <a:pt x="119" y="57"/>
                  </a:cubicBezTo>
                  <a:lnTo>
                    <a:pt x="119" y="46"/>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36" name="Freeform 28">
              <a:extLst>
                <a:ext uri="{FF2B5EF4-FFF2-40B4-BE49-F238E27FC236}">
                  <a16:creationId xmlns:a16="http://schemas.microsoft.com/office/drawing/2014/main" id="{9B5ADD78-36A3-4EE6-ACDE-DB07630CD26C}"/>
                </a:ext>
              </a:extLst>
            </p:cNvPr>
            <p:cNvSpPr>
              <a:spLocks noEditPoints="1"/>
            </p:cNvSpPr>
            <p:nvPr/>
          </p:nvSpPr>
          <p:spPr bwMode="auto">
            <a:xfrm>
              <a:off x="2257619" y="2196523"/>
              <a:ext cx="389233" cy="373759"/>
            </a:xfrm>
            <a:custGeom>
              <a:avLst/>
              <a:gdLst>
                <a:gd name="T0" fmla="*/ 218 w 238"/>
                <a:gd name="T1" fmla="*/ 214 h 229"/>
                <a:gd name="T2" fmla="*/ 156 w 238"/>
                <a:gd name="T3" fmla="*/ 78 h 229"/>
                <a:gd name="T4" fmla="*/ 119 w 238"/>
                <a:gd name="T5" fmla="*/ 46 h 229"/>
                <a:gd name="T6" fmla="*/ 119 w 238"/>
                <a:gd name="T7" fmla="*/ 57 h 229"/>
                <a:gd name="T8" fmla="*/ 150 w 238"/>
                <a:gd name="T9" fmla="*/ 84 h 229"/>
                <a:gd name="T10" fmla="*/ 202 w 238"/>
                <a:gd name="T11" fmla="*/ 197 h 229"/>
                <a:gd name="T12" fmla="*/ 119 w 238"/>
                <a:gd name="T13" fmla="*/ 172 h 229"/>
                <a:gd name="T14" fmla="*/ 119 w 238"/>
                <a:gd name="T15" fmla="*/ 183 h 229"/>
                <a:gd name="T16" fmla="*/ 218 w 238"/>
                <a:gd name="T17" fmla="*/ 214 h 229"/>
                <a:gd name="T18" fmla="*/ 119 w 238"/>
                <a:gd name="T19" fmla="*/ 46 h 229"/>
                <a:gd name="T20" fmla="*/ 20 w 238"/>
                <a:gd name="T21" fmla="*/ 16 h 229"/>
                <a:gd name="T22" fmla="*/ 83 w 238"/>
                <a:gd name="T23" fmla="*/ 151 h 229"/>
                <a:gd name="T24" fmla="*/ 119 w 238"/>
                <a:gd name="T25" fmla="*/ 183 h 229"/>
                <a:gd name="T26" fmla="*/ 119 w 238"/>
                <a:gd name="T27" fmla="*/ 172 h 229"/>
                <a:gd name="T28" fmla="*/ 89 w 238"/>
                <a:gd name="T29" fmla="*/ 145 h 229"/>
                <a:gd name="T30" fmla="*/ 36 w 238"/>
                <a:gd name="T31" fmla="*/ 32 h 229"/>
                <a:gd name="T32" fmla="*/ 36 w 238"/>
                <a:gd name="T33" fmla="*/ 32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214"/>
                  </a:moveTo>
                  <a:cubicBezTo>
                    <a:pt x="238" y="193"/>
                    <a:pt x="210" y="133"/>
                    <a:pt x="156" y="78"/>
                  </a:cubicBezTo>
                  <a:cubicBezTo>
                    <a:pt x="144" y="66"/>
                    <a:pt x="131" y="55"/>
                    <a:pt x="119" y="46"/>
                  </a:cubicBezTo>
                  <a:cubicBezTo>
                    <a:pt x="119" y="57"/>
                    <a:pt x="119" y="57"/>
                    <a:pt x="119" y="57"/>
                  </a:cubicBezTo>
                  <a:cubicBezTo>
                    <a:pt x="129" y="65"/>
                    <a:pt x="140" y="74"/>
                    <a:pt x="150" y="84"/>
                  </a:cubicBezTo>
                  <a:cubicBezTo>
                    <a:pt x="195" y="130"/>
                    <a:pt x="219" y="181"/>
                    <a:pt x="202" y="197"/>
                  </a:cubicBezTo>
                  <a:cubicBezTo>
                    <a:pt x="189" y="211"/>
                    <a:pt x="155" y="199"/>
                    <a:pt x="119" y="172"/>
                  </a:cubicBezTo>
                  <a:cubicBezTo>
                    <a:pt x="119" y="183"/>
                    <a:pt x="119" y="183"/>
                    <a:pt x="119" y="183"/>
                  </a:cubicBezTo>
                  <a:cubicBezTo>
                    <a:pt x="162" y="216"/>
                    <a:pt x="202" y="229"/>
                    <a:pt x="218" y="214"/>
                  </a:cubicBezTo>
                  <a:close/>
                  <a:moveTo>
                    <a:pt x="119" y="46"/>
                  </a:moveTo>
                  <a:cubicBezTo>
                    <a:pt x="76" y="13"/>
                    <a:pt x="36" y="0"/>
                    <a:pt x="20" y="16"/>
                  </a:cubicBezTo>
                  <a:cubicBezTo>
                    <a:pt x="0" y="36"/>
                    <a:pt x="28" y="96"/>
                    <a:pt x="83" y="151"/>
                  </a:cubicBezTo>
                  <a:cubicBezTo>
                    <a:pt x="95" y="163"/>
                    <a:pt x="107" y="174"/>
                    <a:pt x="119" y="183"/>
                  </a:cubicBezTo>
                  <a:cubicBezTo>
                    <a:pt x="119" y="172"/>
                    <a:pt x="119" y="172"/>
                    <a:pt x="119" y="172"/>
                  </a:cubicBezTo>
                  <a:cubicBezTo>
                    <a:pt x="109" y="164"/>
                    <a:pt x="99" y="155"/>
                    <a:pt x="89" y="145"/>
                  </a:cubicBezTo>
                  <a:cubicBezTo>
                    <a:pt x="43" y="99"/>
                    <a:pt x="19" y="49"/>
                    <a:pt x="36" y="32"/>
                  </a:cubicBezTo>
                  <a:cubicBezTo>
                    <a:pt x="36" y="32"/>
                    <a:pt x="36" y="32"/>
                    <a:pt x="36" y="32"/>
                  </a:cubicBezTo>
                  <a:cubicBezTo>
                    <a:pt x="49" y="19"/>
                    <a:pt x="83" y="30"/>
                    <a:pt x="119" y="57"/>
                  </a:cubicBezTo>
                  <a:lnTo>
                    <a:pt x="119" y="46"/>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37" name="Oval 29">
              <a:extLst>
                <a:ext uri="{FF2B5EF4-FFF2-40B4-BE49-F238E27FC236}">
                  <a16:creationId xmlns:a16="http://schemas.microsoft.com/office/drawing/2014/main" id="{21FCCA07-BCF1-49F8-89FD-3D91DD684F97}"/>
                </a:ext>
              </a:extLst>
            </p:cNvPr>
            <p:cNvSpPr>
              <a:spLocks noChangeArrowheads="1"/>
            </p:cNvSpPr>
            <p:nvPr/>
          </p:nvSpPr>
          <p:spPr bwMode="auto">
            <a:xfrm>
              <a:off x="2418312" y="2348883"/>
              <a:ext cx="70229" cy="70229"/>
            </a:xfrm>
            <a:prstGeom prst="ellipse">
              <a:avLst/>
            </a:pr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38" name="Freeform 30">
              <a:extLst>
                <a:ext uri="{FF2B5EF4-FFF2-40B4-BE49-F238E27FC236}">
                  <a16:creationId xmlns:a16="http://schemas.microsoft.com/office/drawing/2014/main" id="{C0FB3C0A-3438-4A5C-B6D3-8807135B772D}"/>
                </a:ext>
              </a:extLst>
            </p:cNvPr>
            <p:cNvSpPr>
              <a:spLocks noEditPoints="1"/>
            </p:cNvSpPr>
            <p:nvPr/>
          </p:nvSpPr>
          <p:spPr bwMode="auto">
            <a:xfrm>
              <a:off x="2957524" y="2026307"/>
              <a:ext cx="192831" cy="365427"/>
            </a:xfrm>
            <a:custGeom>
              <a:avLst/>
              <a:gdLst>
                <a:gd name="T0" fmla="*/ 67 w 162"/>
                <a:gd name="T1" fmla="*/ 307 h 307"/>
                <a:gd name="T2" fmla="*/ 162 w 162"/>
                <a:gd name="T3" fmla="*/ 307 h 307"/>
                <a:gd name="T4" fmla="*/ 67 w 162"/>
                <a:gd name="T5" fmla="*/ 127 h 307"/>
                <a:gd name="T6" fmla="*/ 67 w 162"/>
                <a:gd name="T7" fmla="*/ 193 h 307"/>
                <a:gd name="T8" fmla="*/ 110 w 162"/>
                <a:gd name="T9" fmla="*/ 267 h 307"/>
                <a:gd name="T10" fmla="*/ 67 w 162"/>
                <a:gd name="T11" fmla="*/ 267 h 307"/>
                <a:gd name="T12" fmla="*/ 67 w 162"/>
                <a:gd name="T13" fmla="*/ 307 h 307"/>
                <a:gd name="T14" fmla="*/ 0 w 162"/>
                <a:gd name="T15" fmla="*/ 0 h 307"/>
                <a:gd name="T16" fmla="*/ 0 w 162"/>
                <a:gd name="T17" fmla="*/ 307 h 307"/>
                <a:gd name="T18" fmla="*/ 67 w 162"/>
                <a:gd name="T19" fmla="*/ 307 h 307"/>
                <a:gd name="T20" fmla="*/ 67 w 162"/>
                <a:gd name="T21" fmla="*/ 267 h 307"/>
                <a:gd name="T22" fmla="*/ 24 w 162"/>
                <a:gd name="T23" fmla="*/ 267 h 307"/>
                <a:gd name="T24" fmla="*/ 24 w 162"/>
                <a:gd name="T25" fmla="*/ 120 h 307"/>
                <a:gd name="T26" fmla="*/ 24 w 162"/>
                <a:gd name="T27" fmla="*/ 120 h 307"/>
                <a:gd name="T28" fmla="*/ 67 w 162"/>
                <a:gd name="T29" fmla="*/ 193 h 307"/>
                <a:gd name="T30" fmla="*/ 67 w 162"/>
                <a:gd name="T31" fmla="*/ 127 h 307"/>
                <a:gd name="T32" fmla="*/ 0 w 162"/>
                <a:gd name="T33"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2" h="307">
                  <a:moveTo>
                    <a:pt x="67" y="307"/>
                  </a:moveTo>
                  <a:lnTo>
                    <a:pt x="162" y="307"/>
                  </a:lnTo>
                  <a:lnTo>
                    <a:pt x="67" y="127"/>
                  </a:lnTo>
                  <a:lnTo>
                    <a:pt x="67" y="193"/>
                  </a:lnTo>
                  <a:lnTo>
                    <a:pt x="110" y="267"/>
                  </a:lnTo>
                  <a:lnTo>
                    <a:pt x="67" y="267"/>
                  </a:lnTo>
                  <a:lnTo>
                    <a:pt x="67" y="307"/>
                  </a:lnTo>
                  <a:close/>
                  <a:moveTo>
                    <a:pt x="0" y="0"/>
                  </a:moveTo>
                  <a:lnTo>
                    <a:pt x="0" y="307"/>
                  </a:lnTo>
                  <a:lnTo>
                    <a:pt x="67" y="307"/>
                  </a:lnTo>
                  <a:lnTo>
                    <a:pt x="67" y="267"/>
                  </a:lnTo>
                  <a:lnTo>
                    <a:pt x="24" y="267"/>
                  </a:lnTo>
                  <a:lnTo>
                    <a:pt x="24" y="120"/>
                  </a:lnTo>
                  <a:lnTo>
                    <a:pt x="24" y="120"/>
                  </a:lnTo>
                  <a:lnTo>
                    <a:pt x="67" y="193"/>
                  </a:lnTo>
                  <a:lnTo>
                    <a:pt x="67" y="127"/>
                  </a:lnTo>
                  <a:lnTo>
                    <a:pt x="0" y="0"/>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39" name="Rectangle 31">
              <a:extLst>
                <a:ext uri="{FF2B5EF4-FFF2-40B4-BE49-F238E27FC236}">
                  <a16:creationId xmlns:a16="http://schemas.microsoft.com/office/drawing/2014/main" id="{0E2A00BC-7599-410B-8206-96E791A92911}"/>
                </a:ext>
              </a:extLst>
            </p:cNvPr>
            <p:cNvSpPr>
              <a:spLocks noChangeArrowheads="1"/>
            </p:cNvSpPr>
            <p:nvPr/>
          </p:nvSpPr>
          <p:spPr bwMode="auto">
            <a:xfrm>
              <a:off x="2861109" y="2025117"/>
              <a:ext cx="48803" cy="355905"/>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40" name="Freeform 32">
              <a:extLst>
                <a:ext uri="{FF2B5EF4-FFF2-40B4-BE49-F238E27FC236}">
                  <a16:creationId xmlns:a16="http://schemas.microsoft.com/office/drawing/2014/main" id="{15E45B8C-1DE6-4F78-954B-2DA9E0BC2887}"/>
                </a:ext>
              </a:extLst>
            </p:cNvPr>
            <p:cNvSpPr>
              <a:spLocks noEditPoints="1"/>
            </p:cNvSpPr>
            <p:nvPr/>
          </p:nvSpPr>
          <p:spPr bwMode="auto">
            <a:xfrm>
              <a:off x="1280371" y="3817732"/>
              <a:ext cx="421372" cy="308292"/>
            </a:xfrm>
            <a:custGeom>
              <a:avLst/>
              <a:gdLst>
                <a:gd name="T0" fmla="*/ 213 w 258"/>
                <a:gd name="T1" fmla="*/ 31 h 189"/>
                <a:gd name="T2" fmla="*/ 204 w 258"/>
                <a:gd name="T3" fmla="*/ 69 h 189"/>
                <a:gd name="T4" fmla="*/ 228 w 258"/>
                <a:gd name="T5" fmla="*/ 109 h 189"/>
                <a:gd name="T6" fmla="*/ 204 w 258"/>
                <a:gd name="T7" fmla="*/ 146 h 189"/>
                <a:gd name="T8" fmla="*/ 204 w 258"/>
                <a:gd name="T9" fmla="*/ 27 h 189"/>
                <a:gd name="T10" fmla="*/ 91 w 258"/>
                <a:gd name="T11" fmla="*/ 14 h 189"/>
                <a:gd name="T12" fmla="*/ 97 w 258"/>
                <a:gd name="T13" fmla="*/ 15 h 189"/>
                <a:gd name="T14" fmla="*/ 91 w 258"/>
                <a:gd name="T15" fmla="*/ 42 h 189"/>
                <a:gd name="T16" fmla="*/ 91 w 258"/>
                <a:gd name="T17" fmla="*/ 162 h 189"/>
                <a:gd name="T18" fmla="*/ 166 w 258"/>
                <a:gd name="T19" fmla="*/ 145 h 189"/>
                <a:gd name="T20" fmla="*/ 204 w 258"/>
                <a:gd name="T21" fmla="*/ 125 h 189"/>
                <a:gd name="T22" fmla="*/ 191 w 258"/>
                <a:gd name="T23" fmla="*/ 122 h 189"/>
                <a:gd name="T24" fmla="*/ 204 w 258"/>
                <a:gd name="T25" fmla="*/ 69 h 189"/>
                <a:gd name="T26" fmla="*/ 91 w 258"/>
                <a:gd name="T27" fmla="*/ 6 h 189"/>
                <a:gd name="T28" fmla="*/ 78 w 258"/>
                <a:gd name="T29" fmla="*/ 24 h 189"/>
                <a:gd name="T30" fmla="*/ 91 w 258"/>
                <a:gd name="T31" fmla="*/ 14 h 189"/>
                <a:gd name="T32" fmla="*/ 78 w 258"/>
                <a:gd name="T33" fmla="*/ 188 h 189"/>
                <a:gd name="T34" fmla="*/ 91 w 258"/>
                <a:gd name="T35" fmla="*/ 162 h 189"/>
                <a:gd name="T36" fmla="*/ 78 w 258"/>
                <a:gd name="T37" fmla="*/ 176 h 189"/>
                <a:gd name="T38" fmla="*/ 91 w 258"/>
                <a:gd name="T39" fmla="*/ 42 h 189"/>
                <a:gd name="T40" fmla="*/ 80 w 258"/>
                <a:gd name="T41" fmla="*/ 134 h 189"/>
                <a:gd name="T42" fmla="*/ 78 w 258"/>
                <a:gd name="T43" fmla="*/ 64 h 189"/>
                <a:gd name="T44" fmla="*/ 78 w 258"/>
                <a:gd name="T45" fmla="*/ 33 h 189"/>
                <a:gd name="T46" fmla="*/ 91 w 258"/>
                <a:gd name="T47" fmla="*/ 42 h 189"/>
                <a:gd name="T48" fmla="*/ 60 w 258"/>
                <a:gd name="T49" fmla="*/ 18 h 189"/>
                <a:gd name="T50" fmla="*/ 68 w 258"/>
                <a:gd name="T51" fmla="*/ 42 h 189"/>
                <a:gd name="T52" fmla="*/ 78 w 258"/>
                <a:gd name="T53" fmla="*/ 33 h 189"/>
                <a:gd name="T54" fmla="*/ 78 w 258"/>
                <a:gd name="T55" fmla="*/ 9 h 189"/>
                <a:gd name="T56" fmla="*/ 78 w 258"/>
                <a:gd name="T57" fmla="*/ 188 h 189"/>
                <a:gd name="T58" fmla="*/ 60 w 258"/>
                <a:gd name="T59" fmla="*/ 176 h 189"/>
                <a:gd name="T60" fmla="*/ 78 w 258"/>
                <a:gd name="T61" fmla="*/ 64 h 189"/>
                <a:gd name="T62" fmla="*/ 60 w 258"/>
                <a:gd name="T63" fmla="*/ 134 h 189"/>
                <a:gd name="T64" fmla="*/ 70 w 258"/>
                <a:gd name="T65" fmla="*/ 116 h 189"/>
                <a:gd name="T66" fmla="*/ 60 w 258"/>
                <a:gd name="T67" fmla="*/ 87 h 189"/>
                <a:gd name="T68" fmla="*/ 76 w 258"/>
                <a:gd name="T69" fmla="*/ 68 h 189"/>
                <a:gd name="T70" fmla="*/ 60 w 258"/>
                <a:gd name="T71" fmla="*/ 18 h 189"/>
                <a:gd name="T72" fmla="*/ 60 w 258"/>
                <a:gd name="T73" fmla="*/ 187 h 189"/>
                <a:gd name="T74" fmla="*/ 59 w 258"/>
                <a:gd name="T75" fmla="*/ 175 h 189"/>
                <a:gd name="T76" fmla="*/ 49 w 258"/>
                <a:gd name="T77" fmla="*/ 144 h 189"/>
                <a:gd name="T78" fmla="*/ 60 w 258"/>
                <a:gd name="T79" fmla="*/ 125 h 189"/>
                <a:gd name="T80" fmla="*/ 41 w 258"/>
                <a:gd name="T81" fmla="*/ 125 h 189"/>
                <a:gd name="T82" fmla="*/ 60 w 258"/>
                <a:gd name="T83" fmla="*/ 87 h 189"/>
                <a:gd name="T84" fmla="*/ 51 w 258"/>
                <a:gd name="T85" fmla="*/ 76 h 189"/>
                <a:gd name="T86" fmla="*/ 43 w 258"/>
                <a:gd name="T87" fmla="*/ 51 h 189"/>
                <a:gd name="T88" fmla="*/ 60 w 258"/>
                <a:gd name="T89" fmla="*/ 1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8" h="189">
                  <a:moveTo>
                    <a:pt x="253" y="104"/>
                  </a:moveTo>
                  <a:cubicBezTo>
                    <a:pt x="258" y="60"/>
                    <a:pt x="213" y="31"/>
                    <a:pt x="213" y="31"/>
                  </a:cubicBezTo>
                  <a:cubicBezTo>
                    <a:pt x="210" y="30"/>
                    <a:pt x="207" y="28"/>
                    <a:pt x="204" y="27"/>
                  </a:cubicBezTo>
                  <a:cubicBezTo>
                    <a:pt x="204" y="69"/>
                    <a:pt x="204" y="69"/>
                    <a:pt x="204" y="69"/>
                  </a:cubicBezTo>
                  <a:cubicBezTo>
                    <a:pt x="208" y="69"/>
                    <a:pt x="212" y="70"/>
                    <a:pt x="216" y="72"/>
                  </a:cubicBezTo>
                  <a:cubicBezTo>
                    <a:pt x="230" y="79"/>
                    <a:pt x="235" y="95"/>
                    <a:pt x="228" y="109"/>
                  </a:cubicBezTo>
                  <a:cubicBezTo>
                    <a:pt x="224" y="119"/>
                    <a:pt x="214" y="125"/>
                    <a:pt x="204" y="125"/>
                  </a:cubicBezTo>
                  <a:cubicBezTo>
                    <a:pt x="204" y="146"/>
                    <a:pt x="204" y="146"/>
                    <a:pt x="204" y="146"/>
                  </a:cubicBezTo>
                  <a:cubicBezTo>
                    <a:pt x="230" y="144"/>
                    <a:pt x="249" y="134"/>
                    <a:pt x="253" y="104"/>
                  </a:cubicBezTo>
                  <a:close/>
                  <a:moveTo>
                    <a:pt x="204" y="27"/>
                  </a:moveTo>
                  <a:cubicBezTo>
                    <a:pt x="156" y="5"/>
                    <a:pt x="119" y="0"/>
                    <a:pt x="91" y="6"/>
                  </a:cubicBezTo>
                  <a:cubicBezTo>
                    <a:pt x="91" y="14"/>
                    <a:pt x="91" y="14"/>
                    <a:pt x="91" y="14"/>
                  </a:cubicBezTo>
                  <a:cubicBezTo>
                    <a:pt x="93" y="14"/>
                    <a:pt x="95" y="14"/>
                    <a:pt x="97" y="15"/>
                  </a:cubicBezTo>
                  <a:cubicBezTo>
                    <a:pt x="97" y="15"/>
                    <a:pt x="97" y="15"/>
                    <a:pt x="97" y="15"/>
                  </a:cubicBezTo>
                  <a:cubicBezTo>
                    <a:pt x="104" y="19"/>
                    <a:pt x="107" y="27"/>
                    <a:pt x="103" y="34"/>
                  </a:cubicBezTo>
                  <a:cubicBezTo>
                    <a:pt x="101" y="39"/>
                    <a:pt x="96" y="42"/>
                    <a:pt x="91" y="42"/>
                  </a:cubicBezTo>
                  <a:cubicBezTo>
                    <a:pt x="91" y="146"/>
                    <a:pt x="91" y="146"/>
                    <a:pt x="91" y="146"/>
                  </a:cubicBezTo>
                  <a:cubicBezTo>
                    <a:pt x="93" y="151"/>
                    <a:pt x="93" y="157"/>
                    <a:pt x="91" y="162"/>
                  </a:cubicBezTo>
                  <a:cubicBezTo>
                    <a:pt x="91" y="185"/>
                    <a:pt x="91" y="185"/>
                    <a:pt x="91" y="185"/>
                  </a:cubicBezTo>
                  <a:cubicBezTo>
                    <a:pt x="117" y="174"/>
                    <a:pt x="138" y="143"/>
                    <a:pt x="166" y="145"/>
                  </a:cubicBezTo>
                  <a:cubicBezTo>
                    <a:pt x="179" y="147"/>
                    <a:pt x="192" y="147"/>
                    <a:pt x="204" y="146"/>
                  </a:cubicBezTo>
                  <a:cubicBezTo>
                    <a:pt x="204" y="125"/>
                    <a:pt x="204" y="125"/>
                    <a:pt x="204" y="125"/>
                  </a:cubicBezTo>
                  <a:cubicBezTo>
                    <a:pt x="199" y="125"/>
                    <a:pt x="195" y="124"/>
                    <a:pt x="191" y="122"/>
                  </a:cubicBezTo>
                  <a:cubicBezTo>
                    <a:pt x="191" y="122"/>
                    <a:pt x="191" y="122"/>
                    <a:pt x="191" y="122"/>
                  </a:cubicBezTo>
                  <a:cubicBezTo>
                    <a:pt x="177" y="115"/>
                    <a:pt x="172" y="98"/>
                    <a:pt x="179" y="84"/>
                  </a:cubicBezTo>
                  <a:cubicBezTo>
                    <a:pt x="184" y="74"/>
                    <a:pt x="193" y="69"/>
                    <a:pt x="204" y="69"/>
                  </a:cubicBezTo>
                  <a:lnTo>
                    <a:pt x="204" y="27"/>
                  </a:lnTo>
                  <a:close/>
                  <a:moveTo>
                    <a:pt x="91" y="6"/>
                  </a:moveTo>
                  <a:cubicBezTo>
                    <a:pt x="86" y="6"/>
                    <a:pt x="82" y="8"/>
                    <a:pt x="78" y="9"/>
                  </a:cubicBezTo>
                  <a:cubicBezTo>
                    <a:pt x="78" y="24"/>
                    <a:pt x="78" y="24"/>
                    <a:pt x="78" y="24"/>
                  </a:cubicBezTo>
                  <a:cubicBezTo>
                    <a:pt x="78" y="23"/>
                    <a:pt x="78" y="22"/>
                    <a:pt x="78" y="22"/>
                  </a:cubicBezTo>
                  <a:cubicBezTo>
                    <a:pt x="81" y="17"/>
                    <a:pt x="86" y="14"/>
                    <a:pt x="91" y="14"/>
                  </a:cubicBezTo>
                  <a:cubicBezTo>
                    <a:pt x="91" y="6"/>
                    <a:pt x="91" y="6"/>
                    <a:pt x="91" y="6"/>
                  </a:cubicBezTo>
                  <a:close/>
                  <a:moveTo>
                    <a:pt x="78" y="188"/>
                  </a:moveTo>
                  <a:cubicBezTo>
                    <a:pt x="82" y="188"/>
                    <a:pt x="87" y="187"/>
                    <a:pt x="91" y="185"/>
                  </a:cubicBezTo>
                  <a:cubicBezTo>
                    <a:pt x="91" y="162"/>
                    <a:pt x="91" y="162"/>
                    <a:pt x="91" y="162"/>
                  </a:cubicBezTo>
                  <a:cubicBezTo>
                    <a:pt x="90" y="163"/>
                    <a:pt x="90" y="164"/>
                    <a:pt x="90" y="165"/>
                  </a:cubicBezTo>
                  <a:cubicBezTo>
                    <a:pt x="87" y="170"/>
                    <a:pt x="83" y="174"/>
                    <a:pt x="78" y="176"/>
                  </a:cubicBezTo>
                  <a:cubicBezTo>
                    <a:pt x="78" y="188"/>
                    <a:pt x="78" y="188"/>
                    <a:pt x="78" y="188"/>
                  </a:cubicBezTo>
                  <a:close/>
                  <a:moveTo>
                    <a:pt x="91" y="42"/>
                  </a:moveTo>
                  <a:cubicBezTo>
                    <a:pt x="91" y="146"/>
                    <a:pt x="91" y="146"/>
                    <a:pt x="91" y="146"/>
                  </a:cubicBezTo>
                  <a:cubicBezTo>
                    <a:pt x="89" y="141"/>
                    <a:pt x="85" y="136"/>
                    <a:pt x="80" y="134"/>
                  </a:cubicBezTo>
                  <a:cubicBezTo>
                    <a:pt x="79" y="133"/>
                    <a:pt x="78" y="133"/>
                    <a:pt x="78" y="133"/>
                  </a:cubicBezTo>
                  <a:cubicBezTo>
                    <a:pt x="78" y="64"/>
                    <a:pt x="78" y="64"/>
                    <a:pt x="78" y="64"/>
                  </a:cubicBezTo>
                  <a:cubicBezTo>
                    <a:pt x="79" y="61"/>
                    <a:pt x="79" y="57"/>
                    <a:pt x="78" y="54"/>
                  </a:cubicBezTo>
                  <a:cubicBezTo>
                    <a:pt x="78" y="33"/>
                    <a:pt x="78" y="33"/>
                    <a:pt x="78" y="33"/>
                  </a:cubicBezTo>
                  <a:cubicBezTo>
                    <a:pt x="79" y="36"/>
                    <a:pt x="81" y="39"/>
                    <a:pt x="84" y="41"/>
                  </a:cubicBezTo>
                  <a:cubicBezTo>
                    <a:pt x="86" y="42"/>
                    <a:pt x="89" y="42"/>
                    <a:pt x="91" y="42"/>
                  </a:cubicBezTo>
                  <a:close/>
                  <a:moveTo>
                    <a:pt x="78" y="9"/>
                  </a:moveTo>
                  <a:cubicBezTo>
                    <a:pt x="71" y="11"/>
                    <a:pt x="65" y="14"/>
                    <a:pt x="60" y="18"/>
                  </a:cubicBezTo>
                  <a:cubicBezTo>
                    <a:pt x="60" y="40"/>
                    <a:pt x="60" y="40"/>
                    <a:pt x="60" y="40"/>
                  </a:cubicBezTo>
                  <a:cubicBezTo>
                    <a:pt x="62" y="40"/>
                    <a:pt x="65" y="41"/>
                    <a:pt x="68" y="42"/>
                  </a:cubicBezTo>
                  <a:cubicBezTo>
                    <a:pt x="73" y="45"/>
                    <a:pt x="76" y="49"/>
                    <a:pt x="78" y="54"/>
                  </a:cubicBezTo>
                  <a:cubicBezTo>
                    <a:pt x="78" y="33"/>
                    <a:pt x="78" y="33"/>
                    <a:pt x="78" y="33"/>
                  </a:cubicBezTo>
                  <a:cubicBezTo>
                    <a:pt x="77" y="30"/>
                    <a:pt x="77" y="27"/>
                    <a:pt x="78" y="24"/>
                  </a:cubicBezTo>
                  <a:cubicBezTo>
                    <a:pt x="78" y="9"/>
                    <a:pt x="78" y="9"/>
                    <a:pt x="78" y="9"/>
                  </a:cubicBezTo>
                  <a:close/>
                  <a:moveTo>
                    <a:pt x="60" y="187"/>
                  </a:moveTo>
                  <a:cubicBezTo>
                    <a:pt x="66" y="188"/>
                    <a:pt x="72" y="189"/>
                    <a:pt x="78" y="188"/>
                  </a:cubicBezTo>
                  <a:cubicBezTo>
                    <a:pt x="78" y="176"/>
                    <a:pt x="78" y="176"/>
                    <a:pt x="78" y="176"/>
                  </a:cubicBezTo>
                  <a:cubicBezTo>
                    <a:pt x="72" y="178"/>
                    <a:pt x="65" y="178"/>
                    <a:pt x="60" y="176"/>
                  </a:cubicBezTo>
                  <a:cubicBezTo>
                    <a:pt x="60" y="187"/>
                    <a:pt x="60" y="187"/>
                    <a:pt x="60" y="187"/>
                  </a:cubicBezTo>
                  <a:close/>
                  <a:moveTo>
                    <a:pt x="78" y="64"/>
                  </a:moveTo>
                  <a:cubicBezTo>
                    <a:pt x="78" y="133"/>
                    <a:pt x="78" y="133"/>
                    <a:pt x="78" y="133"/>
                  </a:cubicBezTo>
                  <a:cubicBezTo>
                    <a:pt x="72" y="131"/>
                    <a:pt x="65" y="131"/>
                    <a:pt x="60" y="134"/>
                  </a:cubicBezTo>
                  <a:cubicBezTo>
                    <a:pt x="60" y="125"/>
                    <a:pt x="60" y="125"/>
                    <a:pt x="60" y="125"/>
                  </a:cubicBezTo>
                  <a:cubicBezTo>
                    <a:pt x="64" y="123"/>
                    <a:pt x="67" y="120"/>
                    <a:pt x="70" y="116"/>
                  </a:cubicBezTo>
                  <a:cubicBezTo>
                    <a:pt x="75" y="105"/>
                    <a:pt x="71" y="92"/>
                    <a:pt x="60" y="87"/>
                  </a:cubicBezTo>
                  <a:cubicBezTo>
                    <a:pt x="60" y="87"/>
                    <a:pt x="60" y="87"/>
                    <a:pt x="60" y="87"/>
                  </a:cubicBezTo>
                  <a:cubicBezTo>
                    <a:pt x="60" y="78"/>
                    <a:pt x="60" y="78"/>
                    <a:pt x="60" y="78"/>
                  </a:cubicBezTo>
                  <a:cubicBezTo>
                    <a:pt x="66" y="78"/>
                    <a:pt x="73" y="74"/>
                    <a:pt x="76" y="68"/>
                  </a:cubicBezTo>
                  <a:cubicBezTo>
                    <a:pt x="77" y="66"/>
                    <a:pt x="77" y="65"/>
                    <a:pt x="78" y="64"/>
                  </a:cubicBezTo>
                  <a:close/>
                  <a:moveTo>
                    <a:pt x="60" y="18"/>
                  </a:moveTo>
                  <a:cubicBezTo>
                    <a:pt x="0" y="56"/>
                    <a:pt x="10" y="159"/>
                    <a:pt x="46" y="180"/>
                  </a:cubicBezTo>
                  <a:cubicBezTo>
                    <a:pt x="51" y="183"/>
                    <a:pt x="55" y="185"/>
                    <a:pt x="60" y="187"/>
                  </a:cubicBezTo>
                  <a:cubicBezTo>
                    <a:pt x="60" y="176"/>
                    <a:pt x="60" y="176"/>
                    <a:pt x="60" y="176"/>
                  </a:cubicBezTo>
                  <a:cubicBezTo>
                    <a:pt x="59" y="175"/>
                    <a:pt x="59" y="175"/>
                    <a:pt x="59" y="175"/>
                  </a:cubicBezTo>
                  <a:cubicBezTo>
                    <a:pt x="59" y="175"/>
                    <a:pt x="59" y="175"/>
                    <a:pt x="59" y="175"/>
                  </a:cubicBezTo>
                  <a:cubicBezTo>
                    <a:pt x="48" y="170"/>
                    <a:pt x="43" y="156"/>
                    <a:pt x="49" y="144"/>
                  </a:cubicBezTo>
                  <a:cubicBezTo>
                    <a:pt x="51" y="139"/>
                    <a:pt x="55" y="136"/>
                    <a:pt x="60" y="134"/>
                  </a:cubicBezTo>
                  <a:cubicBezTo>
                    <a:pt x="60" y="125"/>
                    <a:pt x="60" y="125"/>
                    <a:pt x="60" y="125"/>
                  </a:cubicBezTo>
                  <a:cubicBezTo>
                    <a:pt x="54" y="128"/>
                    <a:pt x="47" y="128"/>
                    <a:pt x="41" y="125"/>
                  </a:cubicBezTo>
                  <a:cubicBezTo>
                    <a:pt x="41" y="125"/>
                    <a:pt x="41" y="125"/>
                    <a:pt x="41" y="125"/>
                  </a:cubicBezTo>
                  <a:cubicBezTo>
                    <a:pt x="31" y="120"/>
                    <a:pt x="26" y="107"/>
                    <a:pt x="32" y="97"/>
                  </a:cubicBezTo>
                  <a:cubicBezTo>
                    <a:pt x="37" y="86"/>
                    <a:pt x="49" y="82"/>
                    <a:pt x="60" y="87"/>
                  </a:cubicBezTo>
                  <a:cubicBezTo>
                    <a:pt x="60" y="78"/>
                    <a:pt x="60" y="78"/>
                    <a:pt x="60" y="78"/>
                  </a:cubicBezTo>
                  <a:cubicBezTo>
                    <a:pt x="57" y="78"/>
                    <a:pt x="54" y="77"/>
                    <a:pt x="51" y="76"/>
                  </a:cubicBezTo>
                  <a:cubicBezTo>
                    <a:pt x="42" y="71"/>
                    <a:pt x="38" y="60"/>
                    <a:pt x="43" y="51"/>
                  </a:cubicBezTo>
                  <a:cubicBezTo>
                    <a:pt x="43" y="51"/>
                    <a:pt x="43" y="51"/>
                    <a:pt x="43" y="51"/>
                  </a:cubicBezTo>
                  <a:cubicBezTo>
                    <a:pt x="46" y="44"/>
                    <a:pt x="53" y="40"/>
                    <a:pt x="60" y="40"/>
                  </a:cubicBezTo>
                  <a:lnTo>
                    <a:pt x="60" y="18"/>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grpSp>
          <p:nvGrpSpPr>
            <p:cNvPr id="41" name="Group 127">
              <a:extLst>
                <a:ext uri="{FF2B5EF4-FFF2-40B4-BE49-F238E27FC236}">
                  <a16:creationId xmlns:a16="http://schemas.microsoft.com/office/drawing/2014/main" id="{E5179D7C-8E09-4D8A-B9D8-6CE2860CAA63}"/>
                </a:ext>
              </a:extLst>
            </p:cNvPr>
            <p:cNvGrpSpPr/>
            <p:nvPr/>
          </p:nvGrpSpPr>
          <p:grpSpPr>
            <a:xfrm>
              <a:off x="2464734" y="4126023"/>
              <a:ext cx="380902" cy="490410"/>
              <a:chOff x="8610600" y="4127500"/>
              <a:chExt cx="508001" cy="654050"/>
            </a:xfrm>
            <a:solidFill>
              <a:schemeClr val="accent1"/>
            </a:solidFill>
          </p:grpSpPr>
          <p:sp>
            <p:nvSpPr>
              <p:cNvPr id="102" name="Freeform 33">
                <a:extLst>
                  <a:ext uri="{FF2B5EF4-FFF2-40B4-BE49-F238E27FC236}">
                    <a16:creationId xmlns:a16="http://schemas.microsoft.com/office/drawing/2014/main" id="{ECAA3E95-182D-4DF2-9502-CFB21A56A054}"/>
                  </a:ext>
                </a:extLst>
              </p:cNvPr>
              <p:cNvSpPr>
                <a:spLocks/>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103" name="Freeform 34">
                <a:extLst>
                  <a:ext uri="{FF2B5EF4-FFF2-40B4-BE49-F238E27FC236}">
                    <a16:creationId xmlns:a16="http://schemas.microsoft.com/office/drawing/2014/main" id="{C2CBF9AB-FE6E-400D-A96A-C04E46418990}"/>
                  </a:ext>
                </a:extLst>
              </p:cNvPr>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104" name="Freeform 35">
                <a:extLst>
                  <a:ext uri="{FF2B5EF4-FFF2-40B4-BE49-F238E27FC236}">
                    <a16:creationId xmlns:a16="http://schemas.microsoft.com/office/drawing/2014/main" id="{F5A82970-E665-4774-AA0B-DFCE4F2CE191}"/>
                  </a:ext>
                </a:extLst>
              </p:cNvPr>
              <p:cNvSpPr>
                <a:spLocks/>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105" name="Freeform 36">
                <a:extLst>
                  <a:ext uri="{FF2B5EF4-FFF2-40B4-BE49-F238E27FC236}">
                    <a16:creationId xmlns:a16="http://schemas.microsoft.com/office/drawing/2014/main" id="{DC44CA5A-3C09-4F8C-BB27-2A0B3A806A32}"/>
                  </a:ext>
                </a:extLst>
              </p:cNvPr>
              <p:cNvSpPr>
                <a:spLocks/>
              </p:cNvSpPr>
              <p:nvPr/>
            </p:nvSpPr>
            <p:spPr bwMode="auto">
              <a:xfrm>
                <a:off x="8729663" y="4613275"/>
                <a:ext cx="141288" cy="168275"/>
              </a:xfrm>
              <a:custGeom>
                <a:avLst/>
                <a:gdLst>
                  <a:gd name="T0" fmla="*/ 45 w 65"/>
                  <a:gd name="T1" fmla="*/ 5 h 77"/>
                  <a:gd name="T2" fmla="*/ 45 w 65"/>
                  <a:gd name="T3" fmla="*/ 28 h 77"/>
                  <a:gd name="T4" fmla="*/ 25 w 65"/>
                  <a:gd name="T5" fmla="*/ 45 h 77"/>
                  <a:gd name="T6" fmla="*/ 1 w 65"/>
                  <a:gd name="T7" fmla="*/ 64 h 77"/>
                  <a:gd name="T8" fmla="*/ 65 w 65"/>
                  <a:gd name="T9" fmla="*/ 77 h 77"/>
                  <a:gd name="T10" fmla="*/ 65 w 65"/>
                  <a:gd name="T11" fmla="*/ 0 h 77"/>
                  <a:gd name="T12" fmla="*/ 45 w 65"/>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5" h="77">
                    <a:moveTo>
                      <a:pt x="45" y="5"/>
                    </a:moveTo>
                    <a:cubicBezTo>
                      <a:pt x="45" y="28"/>
                      <a:pt x="45" y="28"/>
                      <a:pt x="45" y="28"/>
                    </a:cubicBezTo>
                    <a:cubicBezTo>
                      <a:pt x="45" y="28"/>
                      <a:pt x="39" y="40"/>
                      <a:pt x="25" y="45"/>
                    </a:cubicBezTo>
                    <a:cubicBezTo>
                      <a:pt x="12" y="49"/>
                      <a:pt x="0" y="56"/>
                      <a:pt x="1" y="64"/>
                    </a:cubicBezTo>
                    <a:cubicBezTo>
                      <a:pt x="2" y="71"/>
                      <a:pt x="18" y="77"/>
                      <a:pt x="65" y="77"/>
                    </a:cubicBezTo>
                    <a:cubicBezTo>
                      <a:pt x="65" y="0"/>
                      <a:pt x="65" y="0"/>
                      <a:pt x="65" y="0"/>
                    </a:cubicBezTo>
                    <a:lnTo>
                      <a:pt x="45"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106" name="Freeform 37">
                <a:extLst>
                  <a:ext uri="{FF2B5EF4-FFF2-40B4-BE49-F238E27FC236}">
                    <a16:creationId xmlns:a16="http://schemas.microsoft.com/office/drawing/2014/main" id="{56877CD6-27B6-4DF7-B6B4-2B550ABD7EB6}"/>
                  </a:ext>
                </a:extLst>
              </p:cNvPr>
              <p:cNvSpPr>
                <a:spLocks/>
              </p:cNvSpPr>
              <p:nvPr/>
            </p:nvSpPr>
            <p:spPr bwMode="auto">
              <a:xfrm>
                <a:off x="8855075" y="4613275"/>
                <a:ext cx="134938" cy="168275"/>
              </a:xfrm>
              <a:custGeom>
                <a:avLst/>
                <a:gdLst>
                  <a:gd name="T0" fmla="*/ 14 w 62"/>
                  <a:gd name="T1" fmla="*/ 5 h 77"/>
                  <a:gd name="T2" fmla="*/ 14 w 62"/>
                  <a:gd name="T3" fmla="*/ 28 h 77"/>
                  <a:gd name="T4" fmla="*/ 32 w 62"/>
                  <a:gd name="T5" fmla="*/ 45 h 77"/>
                  <a:gd name="T6" fmla="*/ 61 w 62"/>
                  <a:gd name="T7" fmla="*/ 64 h 77"/>
                  <a:gd name="T8" fmla="*/ 0 w 62"/>
                  <a:gd name="T9" fmla="*/ 77 h 77"/>
                  <a:gd name="T10" fmla="*/ 0 w 62"/>
                  <a:gd name="T11" fmla="*/ 0 h 77"/>
                  <a:gd name="T12" fmla="*/ 14 w 62"/>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2" h="77">
                    <a:moveTo>
                      <a:pt x="14" y="5"/>
                    </a:moveTo>
                    <a:cubicBezTo>
                      <a:pt x="14" y="28"/>
                      <a:pt x="14" y="28"/>
                      <a:pt x="14" y="28"/>
                    </a:cubicBezTo>
                    <a:cubicBezTo>
                      <a:pt x="14" y="28"/>
                      <a:pt x="19" y="40"/>
                      <a:pt x="32" y="45"/>
                    </a:cubicBezTo>
                    <a:cubicBezTo>
                      <a:pt x="46" y="49"/>
                      <a:pt x="62" y="56"/>
                      <a:pt x="61" y="64"/>
                    </a:cubicBezTo>
                    <a:cubicBezTo>
                      <a:pt x="60" y="71"/>
                      <a:pt x="34" y="77"/>
                      <a:pt x="0" y="77"/>
                    </a:cubicBezTo>
                    <a:cubicBezTo>
                      <a:pt x="0" y="0"/>
                      <a:pt x="0" y="0"/>
                      <a:pt x="0" y="0"/>
                    </a:cubicBezTo>
                    <a:lnTo>
                      <a:pt x="14"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107" name="Freeform 38">
                <a:extLst>
                  <a:ext uri="{FF2B5EF4-FFF2-40B4-BE49-F238E27FC236}">
                    <a16:creationId xmlns:a16="http://schemas.microsoft.com/office/drawing/2014/main" id="{93B56502-4A66-4DB1-926E-53340E6C748F}"/>
                  </a:ext>
                </a:extLst>
              </p:cNvPr>
              <p:cNvSpPr>
                <a:spLocks/>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108" name="Freeform 39">
                <a:extLst>
                  <a:ext uri="{FF2B5EF4-FFF2-40B4-BE49-F238E27FC236}">
                    <a16:creationId xmlns:a16="http://schemas.microsoft.com/office/drawing/2014/main" id="{5A5F2BE2-3585-4779-ACAD-0D6EA258F238}"/>
                  </a:ext>
                </a:extLst>
              </p:cNvPr>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109" name="Freeform 40">
                <a:extLst>
                  <a:ext uri="{FF2B5EF4-FFF2-40B4-BE49-F238E27FC236}">
                    <a16:creationId xmlns:a16="http://schemas.microsoft.com/office/drawing/2014/main" id="{311521E8-82D9-4DE8-9A90-8101CDD33BBA}"/>
                  </a:ext>
                </a:extLst>
              </p:cNvPr>
              <p:cNvSpPr>
                <a:spLocks/>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grpSp>
        <p:sp>
          <p:nvSpPr>
            <p:cNvPr id="42" name="Freeform 41">
              <a:extLst>
                <a:ext uri="{FF2B5EF4-FFF2-40B4-BE49-F238E27FC236}">
                  <a16:creationId xmlns:a16="http://schemas.microsoft.com/office/drawing/2014/main" id="{65A5C658-F379-4662-ABEC-44D96288C6B7}"/>
                </a:ext>
              </a:extLst>
            </p:cNvPr>
            <p:cNvSpPr>
              <a:spLocks noEditPoints="1"/>
            </p:cNvSpPr>
            <p:nvPr/>
          </p:nvSpPr>
          <p:spPr bwMode="auto">
            <a:xfrm>
              <a:off x="2780168" y="3630852"/>
              <a:ext cx="321385" cy="292817"/>
            </a:xfrm>
            <a:custGeom>
              <a:avLst/>
              <a:gdLst>
                <a:gd name="T0" fmla="*/ 116 w 196"/>
                <a:gd name="T1" fmla="*/ 2 h 179"/>
                <a:gd name="T2" fmla="*/ 98 w 196"/>
                <a:gd name="T3" fmla="*/ 0 h 179"/>
                <a:gd name="T4" fmla="*/ 98 w 196"/>
                <a:gd name="T5" fmla="*/ 17 h 179"/>
                <a:gd name="T6" fmla="*/ 113 w 196"/>
                <a:gd name="T7" fmla="*/ 18 h 179"/>
                <a:gd name="T8" fmla="*/ 169 w 196"/>
                <a:gd name="T9" fmla="*/ 105 h 179"/>
                <a:gd name="T10" fmla="*/ 98 w 196"/>
                <a:gd name="T11" fmla="*/ 163 h 179"/>
                <a:gd name="T12" fmla="*/ 98 w 196"/>
                <a:gd name="T13" fmla="*/ 179 h 179"/>
                <a:gd name="T14" fmla="*/ 185 w 196"/>
                <a:gd name="T15" fmla="*/ 108 h 179"/>
                <a:gd name="T16" fmla="*/ 116 w 196"/>
                <a:gd name="T17" fmla="*/ 2 h 179"/>
                <a:gd name="T18" fmla="*/ 98 w 196"/>
                <a:gd name="T19" fmla="*/ 0 h 179"/>
                <a:gd name="T20" fmla="*/ 10 w 196"/>
                <a:gd name="T21" fmla="*/ 71 h 179"/>
                <a:gd name="T22" fmla="*/ 79 w 196"/>
                <a:gd name="T23" fmla="*/ 177 h 179"/>
                <a:gd name="T24" fmla="*/ 98 w 196"/>
                <a:gd name="T25" fmla="*/ 179 h 179"/>
                <a:gd name="T26" fmla="*/ 98 w 196"/>
                <a:gd name="T27" fmla="*/ 163 h 179"/>
                <a:gd name="T28" fmla="*/ 83 w 196"/>
                <a:gd name="T29" fmla="*/ 161 h 179"/>
                <a:gd name="T30" fmla="*/ 83 w 196"/>
                <a:gd name="T31" fmla="*/ 161 h 179"/>
                <a:gd name="T32" fmla="*/ 26 w 196"/>
                <a:gd name="T33" fmla="*/ 75 h 179"/>
                <a:gd name="T34" fmla="*/ 98 w 196"/>
                <a:gd name="T35" fmla="*/ 17 h 179"/>
                <a:gd name="T36" fmla="*/ 98 w 196"/>
                <a:gd name="T37"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6" h="179">
                  <a:moveTo>
                    <a:pt x="116" y="2"/>
                  </a:moveTo>
                  <a:cubicBezTo>
                    <a:pt x="110" y="1"/>
                    <a:pt x="104" y="0"/>
                    <a:pt x="98" y="0"/>
                  </a:cubicBezTo>
                  <a:cubicBezTo>
                    <a:pt x="98" y="17"/>
                    <a:pt x="98" y="17"/>
                    <a:pt x="98" y="17"/>
                  </a:cubicBezTo>
                  <a:cubicBezTo>
                    <a:pt x="103" y="17"/>
                    <a:pt x="108" y="17"/>
                    <a:pt x="113" y="18"/>
                  </a:cubicBezTo>
                  <a:cubicBezTo>
                    <a:pt x="152" y="27"/>
                    <a:pt x="177" y="65"/>
                    <a:pt x="169" y="105"/>
                  </a:cubicBezTo>
                  <a:cubicBezTo>
                    <a:pt x="162" y="139"/>
                    <a:pt x="131" y="163"/>
                    <a:pt x="98" y="163"/>
                  </a:cubicBezTo>
                  <a:cubicBezTo>
                    <a:pt x="98" y="179"/>
                    <a:pt x="98" y="179"/>
                    <a:pt x="98" y="179"/>
                  </a:cubicBezTo>
                  <a:cubicBezTo>
                    <a:pt x="139" y="179"/>
                    <a:pt x="177" y="150"/>
                    <a:pt x="185" y="108"/>
                  </a:cubicBezTo>
                  <a:cubicBezTo>
                    <a:pt x="196" y="60"/>
                    <a:pt x="165" y="12"/>
                    <a:pt x="116" y="2"/>
                  </a:cubicBezTo>
                  <a:close/>
                  <a:moveTo>
                    <a:pt x="98" y="0"/>
                  </a:moveTo>
                  <a:cubicBezTo>
                    <a:pt x="56" y="0"/>
                    <a:pt x="19" y="29"/>
                    <a:pt x="10" y="71"/>
                  </a:cubicBezTo>
                  <a:cubicBezTo>
                    <a:pt x="0" y="120"/>
                    <a:pt x="31" y="167"/>
                    <a:pt x="79" y="177"/>
                  </a:cubicBezTo>
                  <a:cubicBezTo>
                    <a:pt x="85" y="179"/>
                    <a:pt x="92" y="179"/>
                    <a:pt x="98" y="179"/>
                  </a:cubicBezTo>
                  <a:cubicBezTo>
                    <a:pt x="98" y="163"/>
                    <a:pt x="98" y="163"/>
                    <a:pt x="98" y="163"/>
                  </a:cubicBezTo>
                  <a:cubicBezTo>
                    <a:pt x="93" y="163"/>
                    <a:pt x="88" y="162"/>
                    <a:pt x="83" y="161"/>
                  </a:cubicBezTo>
                  <a:cubicBezTo>
                    <a:pt x="83" y="161"/>
                    <a:pt x="83" y="161"/>
                    <a:pt x="83" y="161"/>
                  </a:cubicBezTo>
                  <a:cubicBezTo>
                    <a:pt x="43" y="153"/>
                    <a:pt x="18" y="114"/>
                    <a:pt x="26" y="75"/>
                  </a:cubicBezTo>
                  <a:cubicBezTo>
                    <a:pt x="33" y="40"/>
                    <a:pt x="64" y="17"/>
                    <a:pt x="98" y="17"/>
                  </a:cubicBezTo>
                  <a:lnTo>
                    <a:pt x="98" y="0"/>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43" name="Freeform 42">
              <a:extLst>
                <a:ext uri="{FF2B5EF4-FFF2-40B4-BE49-F238E27FC236}">
                  <a16:creationId xmlns:a16="http://schemas.microsoft.com/office/drawing/2014/main" id="{7CD5B7C8-7607-4C78-BCB9-E07411640D44}"/>
                </a:ext>
              </a:extLst>
            </p:cNvPr>
            <p:cNvSpPr>
              <a:spLocks/>
            </p:cNvSpPr>
            <p:nvPr/>
          </p:nvSpPr>
          <p:spPr bwMode="auto">
            <a:xfrm>
              <a:off x="2863490" y="3901053"/>
              <a:ext cx="69038" cy="148790"/>
            </a:xfrm>
            <a:custGeom>
              <a:avLst/>
              <a:gdLst>
                <a:gd name="T0" fmla="*/ 33 w 58"/>
                <a:gd name="T1" fmla="*/ 125 h 125"/>
                <a:gd name="T2" fmla="*/ 0 w 58"/>
                <a:gd name="T3" fmla="*/ 118 h 125"/>
                <a:gd name="T4" fmla="*/ 25 w 58"/>
                <a:gd name="T5" fmla="*/ 0 h 125"/>
                <a:gd name="T6" fmla="*/ 58 w 58"/>
                <a:gd name="T7" fmla="*/ 7 h 125"/>
                <a:gd name="T8" fmla="*/ 33 w 58"/>
                <a:gd name="T9" fmla="*/ 125 h 125"/>
              </a:gdLst>
              <a:ahLst/>
              <a:cxnLst>
                <a:cxn ang="0">
                  <a:pos x="T0" y="T1"/>
                </a:cxn>
                <a:cxn ang="0">
                  <a:pos x="T2" y="T3"/>
                </a:cxn>
                <a:cxn ang="0">
                  <a:pos x="T4" y="T5"/>
                </a:cxn>
                <a:cxn ang="0">
                  <a:pos x="T6" y="T7"/>
                </a:cxn>
                <a:cxn ang="0">
                  <a:pos x="T8" y="T9"/>
                </a:cxn>
              </a:cxnLst>
              <a:rect l="0" t="0" r="r" b="b"/>
              <a:pathLst>
                <a:path w="58" h="125">
                  <a:moveTo>
                    <a:pt x="33" y="125"/>
                  </a:moveTo>
                  <a:lnTo>
                    <a:pt x="0" y="118"/>
                  </a:lnTo>
                  <a:lnTo>
                    <a:pt x="25" y="0"/>
                  </a:lnTo>
                  <a:lnTo>
                    <a:pt x="58" y="7"/>
                  </a:lnTo>
                  <a:lnTo>
                    <a:pt x="33" y="125"/>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44" name="Freeform 43">
              <a:extLst>
                <a:ext uri="{FF2B5EF4-FFF2-40B4-BE49-F238E27FC236}">
                  <a16:creationId xmlns:a16="http://schemas.microsoft.com/office/drawing/2014/main" id="{937944CC-53A9-47B2-98E1-43D446CF9A98}"/>
                </a:ext>
              </a:extLst>
            </p:cNvPr>
            <p:cNvSpPr>
              <a:spLocks/>
            </p:cNvSpPr>
            <p:nvPr/>
          </p:nvSpPr>
          <p:spPr bwMode="auto">
            <a:xfrm>
              <a:off x="2834922" y="3946285"/>
              <a:ext cx="97606" cy="201164"/>
            </a:xfrm>
            <a:custGeom>
              <a:avLst/>
              <a:gdLst>
                <a:gd name="T0" fmla="*/ 40 w 60"/>
                <a:gd name="T1" fmla="*/ 106 h 123"/>
                <a:gd name="T2" fmla="*/ 18 w 60"/>
                <a:gd name="T3" fmla="*/ 121 h 123"/>
                <a:gd name="T4" fmla="*/ 3 w 60"/>
                <a:gd name="T5" fmla="*/ 98 h 123"/>
                <a:gd name="T6" fmla="*/ 20 w 60"/>
                <a:gd name="T7" fmla="*/ 17 h 123"/>
                <a:gd name="T8" fmla="*/ 42 w 60"/>
                <a:gd name="T9" fmla="*/ 2 h 123"/>
                <a:gd name="T10" fmla="*/ 57 w 60"/>
                <a:gd name="T11" fmla="*/ 25 h 123"/>
                <a:gd name="T12" fmla="*/ 40 w 60"/>
                <a:gd name="T13" fmla="*/ 106 h 123"/>
              </a:gdLst>
              <a:ahLst/>
              <a:cxnLst>
                <a:cxn ang="0">
                  <a:pos x="T0" y="T1"/>
                </a:cxn>
                <a:cxn ang="0">
                  <a:pos x="T2" y="T3"/>
                </a:cxn>
                <a:cxn ang="0">
                  <a:pos x="T4" y="T5"/>
                </a:cxn>
                <a:cxn ang="0">
                  <a:pos x="T6" y="T7"/>
                </a:cxn>
                <a:cxn ang="0">
                  <a:pos x="T8" y="T9"/>
                </a:cxn>
                <a:cxn ang="0">
                  <a:pos x="T10" y="T11"/>
                </a:cxn>
                <a:cxn ang="0">
                  <a:pos x="T12" y="T13"/>
                </a:cxn>
              </a:cxnLst>
              <a:rect l="0" t="0" r="r" b="b"/>
              <a:pathLst>
                <a:path w="60" h="123">
                  <a:moveTo>
                    <a:pt x="40" y="106"/>
                  </a:moveTo>
                  <a:cubicBezTo>
                    <a:pt x="38" y="116"/>
                    <a:pt x="28" y="123"/>
                    <a:pt x="18" y="121"/>
                  </a:cubicBezTo>
                  <a:cubicBezTo>
                    <a:pt x="7" y="118"/>
                    <a:pt x="0" y="108"/>
                    <a:pt x="3" y="98"/>
                  </a:cubicBezTo>
                  <a:cubicBezTo>
                    <a:pt x="20" y="17"/>
                    <a:pt x="20" y="17"/>
                    <a:pt x="20" y="17"/>
                  </a:cubicBezTo>
                  <a:cubicBezTo>
                    <a:pt x="22" y="6"/>
                    <a:pt x="32" y="0"/>
                    <a:pt x="42" y="2"/>
                  </a:cubicBezTo>
                  <a:cubicBezTo>
                    <a:pt x="53" y="4"/>
                    <a:pt x="60" y="14"/>
                    <a:pt x="57" y="25"/>
                  </a:cubicBezTo>
                  <a:lnTo>
                    <a:pt x="40" y="106"/>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45" name="Freeform 44">
              <a:extLst>
                <a:ext uri="{FF2B5EF4-FFF2-40B4-BE49-F238E27FC236}">
                  <a16:creationId xmlns:a16="http://schemas.microsoft.com/office/drawing/2014/main" id="{15F9DA03-A103-4A67-B6DE-42921A474F77}"/>
                </a:ext>
              </a:extLst>
            </p:cNvPr>
            <p:cNvSpPr>
              <a:spLocks/>
            </p:cNvSpPr>
            <p:nvPr/>
          </p:nvSpPr>
          <p:spPr bwMode="auto">
            <a:xfrm>
              <a:off x="1943376" y="1693019"/>
              <a:ext cx="392804" cy="359475"/>
            </a:xfrm>
            <a:custGeom>
              <a:avLst/>
              <a:gdLst>
                <a:gd name="T0" fmla="*/ 117 w 240"/>
                <a:gd name="T1" fmla="*/ 220 h 220"/>
                <a:gd name="T2" fmla="*/ 0 w 240"/>
                <a:gd name="T3" fmla="*/ 219 h 220"/>
                <a:gd name="T4" fmla="*/ 0 w 240"/>
                <a:gd name="T5" fmla="*/ 44 h 220"/>
                <a:gd name="T6" fmla="*/ 120 w 240"/>
                <a:gd name="T7" fmla="*/ 44 h 220"/>
                <a:gd name="T8" fmla="*/ 240 w 240"/>
                <a:gd name="T9" fmla="*/ 44 h 220"/>
                <a:gd name="T10" fmla="*/ 240 w 240"/>
                <a:gd name="T11" fmla="*/ 219 h 220"/>
                <a:gd name="T12" fmla="*/ 117 w 240"/>
                <a:gd name="T13" fmla="*/ 220 h 220"/>
              </a:gdLst>
              <a:ahLst/>
              <a:cxnLst>
                <a:cxn ang="0">
                  <a:pos x="T0" y="T1"/>
                </a:cxn>
                <a:cxn ang="0">
                  <a:pos x="T2" y="T3"/>
                </a:cxn>
                <a:cxn ang="0">
                  <a:pos x="T4" y="T5"/>
                </a:cxn>
                <a:cxn ang="0">
                  <a:pos x="T6" y="T7"/>
                </a:cxn>
                <a:cxn ang="0">
                  <a:pos x="T8" y="T9"/>
                </a:cxn>
                <a:cxn ang="0">
                  <a:pos x="T10" y="T11"/>
                </a:cxn>
                <a:cxn ang="0">
                  <a:pos x="T12" y="T13"/>
                </a:cxn>
              </a:cxnLst>
              <a:rect l="0" t="0" r="r" b="b"/>
              <a:pathLst>
                <a:path w="240" h="220">
                  <a:moveTo>
                    <a:pt x="117" y="220"/>
                  </a:moveTo>
                  <a:cubicBezTo>
                    <a:pt x="117" y="220"/>
                    <a:pt x="76" y="179"/>
                    <a:pt x="0" y="219"/>
                  </a:cubicBezTo>
                  <a:cubicBezTo>
                    <a:pt x="0" y="44"/>
                    <a:pt x="0" y="44"/>
                    <a:pt x="0" y="44"/>
                  </a:cubicBezTo>
                  <a:cubicBezTo>
                    <a:pt x="0" y="44"/>
                    <a:pt x="78" y="0"/>
                    <a:pt x="120" y="44"/>
                  </a:cubicBezTo>
                  <a:cubicBezTo>
                    <a:pt x="240" y="44"/>
                    <a:pt x="240" y="44"/>
                    <a:pt x="240" y="44"/>
                  </a:cubicBezTo>
                  <a:cubicBezTo>
                    <a:pt x="240" y="219"/>
                    <a:pt x="240" y="219"/>
                    <a:pt x="240" y="219"/>
                  </a:cubicBezTo>
                  <a:lnTo>
                    <a:pt x="117" y="220"/>
                  </a:lnTo>
                  <a:close/>
                </a:path>
              </a:pathLst>
            </a:custGeom>
            <a:solidFill>
              <a:schemeClr val="accent1">
                <a:lumMod val="75000"/>
              </a:schemeClr>
            </a:solidFill>
            <a:ln>
              <a:noFill/>
            </a:ln>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46" name="Freeform 45">
              <a:extLst>
                <a:ext uri="{FF2B5EF4-FFF2-40B4-BE49-F238E27FC236}">
                  <a16:creationId xmlns:a16="http://schemas.microsoft.com/office/drawing/2014/main" id="{C621CC9F-F16D-46ED-98B4-42D9217C27AB}"/>
                </a:ext>
              </a:extLst>
            </p:cNvPr>
            <p:cNvSpPr>
              <a:spLocks noEditPoints="1"/>
            </p:cNvSpPr>
            <p:nvPr/>
          </p:nvSpPr>
          <p:spPr bwMode="auto">
            <a:xfrm>
              <a:off x="1826725" y="3687987"/>
              <a:ext cx="478507" cy="396375"/>
            </a:xfrm>
            <a:custGeom>
              <a:avLst/>
              <a:gdLst>
                <a:gd name="T0" fmla="*/ 199 w 293"/>
                <a:gd name="T1" fmla="*/ 192 h 242"/>
                <a:gd name="T2" fmla="*/ 219 w 293"/>
                <a:gd name="T3" fmla="*/ 205 h 242"/>
                <a:gd name="T4" fmla="*/ 219 w 293"/>
                <a:gd name="T5" fmla="*/ 214 h 242"/>
                <a:gd name="T6" fmla="*/ 199 w 293"/>
                <a:gd name="T7" fmla="*/ 214 h 242"/>
                <a:gd name="T8" fmla="*/ 219 w 293"/>
                <a:gd name="T9" fmla="*/ 242 h 242"/>
                <a:gd name="T10" fmla="*/ 242 w 293"/>
                <a:gd name="T11" fmla="*/ 216 h 242"/>
                <a:gd name="T12" fmla="*/ 199 w 293"/>
                <a:gd name="T13" fmla="*/ 170 h 242"/>
                <a:gd name="T14" fmla="*/ 293 w 293"/>
                <a:gd name="T15" fmla="*/ 147 h 242"/>
                <a:gd name="T16" fmla="*/ 269 w 293"/>
                <a:gd name="T17" fmla="*/ 0 h 242"/>
                <a:gd name="T18" fmla="*/ 199 w 293"/>
                <a:gd name="T19" fmla="*/ 16 h 242"/>
                <a:gd name="T20" fmla="*/ 275 w 293"/>
                <a:gd name="T21" fmla="*/ 35 h 242"/>
                <a:gd name="T22" fmla="*/ 256 w 293"/>
                <a:gd name="T23" fmla="*/ 154 h 242"/>
                <a:gd name="T24" fmla="*/ 199 w 293"/>
                <a:gd name="T25" fmla="*/ 170 h 242"/>
                <a:gd name="T26" fmla="*/ 175 w 293"/>
                <a:gd name="T27" fmla="*/ 192 h 242"/>
                <a:gd name="T28" fmla="*/ 199 w 293"/>
                <a:gd name="T29" fmla="*/ 170 h 242"/>
                <a:gd name="T30" fmla="*/ 146 w 293"/>
                <a:gd name="T31" fmla="*/ 154 h 242"/>
                <a:gd name="T32" fmla="*/ 199 w 293"/>
                <a:gd name="T33" fmla="*/ 242 h 242"/>
                <a:gd name="T34" fmla="*/ 179 w 293"/>
                <a:gd name="T35" fmla="*/ 214 h 242"/>
                <a:gd name="T36" fmla="*/ 179 w 293"/>
                <a:gd name="T37" fmla="*/ 205 h 242"/>
                <a:gd name="T38" fmla="*/ 199 w 293"/>
                <a:gd name="T39" fmla="*/ 192 h 242"/>
                <a:gd name="T40" fmla="*/ 146 w 293"/>
                <a:gd name="T41" fmla="*/ 0 h 242"/>
                <a:gd name="T42" fmla="*/ 199 w 293"/>
                <a:gd name="T43" fmla="*/ 16 h 242"/>
                <a:gd name="T44" fmla="*/ 146 w 293"/>
                <a:gd name="T45" fmla="*/ 0 h 242"/>
                <a:gd name="T46" fmla="*/ 0 w 293"/>
                <a:gd name="T47" fmla="*/ 24 h 242"/>
                <a:gd name="T48" fmla="*/ 23 w 293"/>
                <a:gd name="T49" fmla="*/ 170 h 242"/>
                <a:gd name="T50" fmla="*/ 117 w 293"/>
                <a:gd name="T51" fmla="*/ 192 h 242"/>
                <a:gd name="T52" fmla="*/ 52 w 293"/>
                <a:gd name="T53" fmla="*/ 216 h 242"/>
                <a:gd name="T54" fmla="*/ 75 w 293"/>
                <a:gd name="T55" fmla="*/ 242 h 242"/>
                <a:gd name="T56" fmla="*/ 146 w 293"/>
                <a:gd name="T57" fmla="*/ 154 h 242"/>
                <a:gd name="T58" fmla="*/ 37 w 293"/>
                <a:gd name="T59" fmla="*/ 154 h 242"/>
                <a:gd name="T60" fmla="*/ 17 w 293"/>
                <a:gd name="T61" fmla="*/ 35 h 242"/>
                <a:gd name="T62" fmla="*/ 146 w 293"/>
                <a:gd name="T63" fmla="*/ 16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3" h="242">
                  <a:moveTo>
                    <a:pt x="219" y="192"/>
                  </a:moveTo>
                  <a:cubicBezTo>
                    <a:pt x="199" y="192"/>
                    <a:pt x="199" y="192"/>
                    <a:pt x="199" y="192"/>
                  </a:cubicBezTo>
                  <a:cubicBezTo>
                    <a:pt x="199" y="205"/>
                    <a:pt x="199" y="205"/>
                    <a:pt x="199" y="205"/>
                  </a:cubicBezTo>
                  <a:cubicBezTo>
                    <a:pt x="219" y="205"/>
                    <a:pt x="219" y="205"/>
                    <a:pt x="219" y="205"/>
                  </a:cubicBezTo>
                  <a:cubicBezTo>
                    <a:pt x="221" y="205"/>
                    <a:pt x="223" y="207"/>
                    <a:pt x="223" y="209"/>
                  </a:cubicBezTo>
                  <a:cubicBezTo>
                    <a:pt x="223" y="212"/>
                    <a:pt x="221" y="214"/>
                    <a:pt x="219" y="214"/>
                  </a:cubicBezTo>
                  <a:cubicBezTo>
                    <a:pt x="219" y="214"/>
                    <a:pt x="219" y="214"/>
                    <a:pt x="219" y="214"/>
                  </a:cubicBezTo>
                  <a:cubicBezTo>
                    <a:pt x="199" y="214"/>
                    <a:pt x="199" y="214"/>
                    <a:pt x="199" y="214"/>
                  </a:cubicBezTo>
                  <a:cubicBezTo>
                    <a:pt x="199" y="242"/>
                    <a:pt x="199" y="242"/>
                    <a:pt x="199" y="242"/>
                  </a:cubicBezTo>
                  <a:cubicBezTo>
                    <a:pt x="219" y="242"/>
                    <a:pt x="219" y="242"/>
                    <a:pt x="219" y="242"/>
                  </a:cubicBezTo>
                  <a:cubicBezTo>
                    <a:pt x="232" y="242"/>
                    <a:pt x="242" y="232"/>
                    <a:pt x="242" y="219"/>
                  </a:cubicBezTo>
                  <a:cubicBezTo>
                    <a:pt x="242" y="216"/>
                    <a:pt x="242" y="216"/>
                    <a:pt x="242" y="216"/>
                  </a:cubicBezTo>
                  <a:cubicBezTo>
                    <a:pt x="242" y="203"/>
                    <a:pt x="232" y="192"/>
                    <a:pt x="219" y="192"/>
                  </a:cubicBezTo>
                  <a:close/>
                  <a:moveTo>
                    <a:pt x="199" y="170"/>
                  </a:moveTo>
                  <a:cubicBezTo>
                    <a:pt x="269" y="170"/>
                    <a:pt x="269" y="170"/>
                    <a:pt x="269" y="170"/>
                  </a:cubicBezTo>
                  <a:cubicBezTo>
                    <a:pt x="282" y="170"/>
                    <a:pt x="293" y="160"/>
                    <a:pt x="293" y="147"/>
                  </a:cubicBezTo>
                  <a:cubicBezTo>
                    <a:pt x="293" y="24"/>
                    <a:pt x="293" y="24"/>
                    <a:pt x="293" y="24"/>
                  </a:cubicBezTo>
                  <a:cubicBezTo>
                    <a:pt x="293" y="11"/>
                    <a:pt x="282" y="0"/>
                    <a:pt x="269" y="0"/>
                  </a:cubicBezTo>
                  <a:cubicBezTo>
                    <a:pt x="199" y="0"/>
                    <a:pt x="199" y="0"/>
                    <a:pt x="199" y="0"/>
                  </a:cubicBezTo>
                  <a:cubicBezTo>
                    <a:pt x="199" y="16"/>
                    <a:pt x="199" y="16"/>
                    <a:pt x="199" y="16"/>
                  </a:cubicBezTo>
                  <a:cubicBezTo>
                    <a:pt x="256" y="16"/>
                    <a:pt x="256" y="16"/>
                    <a:pt x="256" y="16"/>
                  </a:cubicBezTo>
                  <a:cubicBezTo>
                    <a:pt x="267" y="16"/>
                    <a:pt x="275" y="24"/>
                    <a:pt x="275" y="35"/>
                  </a:cubicBezTo>
                  <a:cubicBezTo>
                    <a:pt x="275" y="135"/>
                    <a:pt x="275" y="135"/>
                    <a:pt x="275" y="135"/>
                  </a:cubicBezTo>
                  <a:cubicBezTo>
                    <a:pt x="275" y="146"/>
                    <a:pt x="267" y="154"/>
                    <a:pt x="256" y="154"/>
                  </a:cubicBezTo>
                  <a:cubicBezTo>
                    <a:pt x="199" y="154"/>
                    <a:pt x="199" y="154"/>
                    <a:pt x="199" y="154"/>
                  </a:cubicBezTo>
                  <a:lnTo>
                    <a:pt x="199" y="170"/>
                  </a:lnTo>
                  <a:close/>
                  <a:moveTo>
                    <a:pt x="199" y="192"/>
                  </a:moveTo>
                  <a:cubicBezTo>
                    <a:pt x="175" y="192"/>
                    <a:pt x="175" y="192"/>
                    <a:pt x="175" y="192"/>
                  </a:cubicBezTo>
                  <a:cubicBezTo>
                    <a:pt x="175" y="170"/>
                    <a:pt x="175" y="170"/>
                    <a:pt x="175" y="170"/>
                  </a:cubicBezTo>
                  <a:cubicBezTo>
                    <a:pt x="199" y="170"/>
                    <a:pt x="199" y="170"/>
                    <a:pt x="199" y="170"/>
                  </a:cubicBezTo>
                  <a:cubicBezTo>
                    <a:pt x="199" y="154"/>
                    <a:pt x="199" y="154"/>
                    <a:pt x="199" y="154"/>
                  </a:cubicBezTo>
                  <a:cubicBezTo>
                    <a:pt x="146" y="154"/>
                    <a:pt x="146" y="154"/>
                    <a:pt x="146" y="154"/>
                  </a:cubicBezTo>
                  <a:cubicBezTo>
                    <a:pt x="146" y="242"/>
                    <a:pt x="146" y="242"/>
                    <a:pt x="146" y="242"/>
                  </a:cubicBezTo>
                  <a:cubicBezTo>
                    <a:pt x="199" y="242"/>
                    <a:pt x="199" y="242"/>
                    <a:pt x="199" y="242"/>
                  </a:cubicBezTo>
                  <a:cubicBezTo>
                    <a:pt x="199" y="214"/>
                    <a:pt x="199" y="214"/>
                    <a:pt x="199" y="214"/>
                  </a:cubicBezTo>
                  <a:cubicBezTo>
                    <a:pt x="179" y="214"/>
                    <a:pt x="179" y="214"/>
                    <a:pt x="179" y="214"/>
                  </a:cubicBezTo>
                  <a:cubicBezTo>
                    <a:pt x="177" y="214"/>
                    <a:pt x="175" y="212"/>
                    <a:pt x="175" y="209"/>
                  </a:cubicBezTo>
                  <a:cubicBezTo>
                    <a:pt x="175" y="207"/>
                    <a:pt x="177" y="205"/>
                    <a:pt x="179" y="205"/>
                  </a:cubicBezTo>
                  <a:cubicBezTo>
                    <a:pt x="199" y="205"/>
                    <a:pt x="199" y="205"/>
                    <a:pt x="199" y="205"/>
                  </a:cubicBezTo>
                  <a:cubicBezTo>
                    <a:pt x="199" y="192"/>
                    <a:pt x="199" y="192"/>
                    <a:pt x="199" y="192"/>
                  </a:cubicBezTo>
                  <a:close/>
                  <a:moveTo>
                    <a:pt x="199" y="0"/>
                  </a:moveTo>
                  <a:cubicBezTo>
                    <a:pt x="146" y="0"/>
                    <a:pt x="146" y="0"/>
                    <a:pt x="146" y="0"/>
                  </a:cubicBezTo>
                  <a:cubicBezTo>
                    <a:pt x="146" y="16"/>
                    <a:pt x="146" y="16"/>
                    <a:pt x="146" y="16"/>
                  </a:cubicBezTo>
                  <a:cubicBezTo>
                    <a:pt x="199" y="16"/>
                    <a:pt x="199" y="16"/>
                    <a:pt x="199" y="16"/>
                  </a:cubicBezTo>
                  <a:lnTo>
                    <a:pt x="199" y="0"/>
                  </a:lnTo>
                  <a:close/>
                  <a:moveTo>
                    <a:pt x="146" y="0"/>
                  </a:moveTo>
                  <a:cubicBezTo>
                    <a:pt x="23" y="0"/>
                    <a:pt x="23" y="0"/>
                    <a:pt x="23" y="0"/>
                  </a:cubicBezTo>
                  <a:cubicBezTo>
                    <a:pt x="10" y="0"/>
                    <a:pt x="0" y="11"/>
                    <a:pt x="0" y="24"/>
                  </a:cubicBezTo>
                  <a:cubicBezTo>
                    <a:pt x="0" y="147"/>
                    <a:pt x="0" y="147"/>
                    <a:pt x="0" y="147"/>
                  </a:cubicBezTo>
                  <a:cubicBezTo>
                    <a:pt x="0" y="160"/>
                    <a:pt x="10" y="170"/>
                    <a:pt x="23" y="170"/>
                  </a:cubicBezTo>
                  <a:cubicBezTo>
                    <a:pt x="117" y="170"/>
                    <a:pt x="117" y="170"/>
                    <a:pt x="117" y="170"/>
                  </a:cubicBezTo>
                  <a:cubicBezTo>
                    <a:pt x="117" y="192"/>
                    <a:pt x="117" y="192"/>
                    <a:pt x="117" y="192"/>
                  </a:cubicBezTo>
                  <a:cubicBezTo>
                    <a:pt x="75" y="192"/>
                    <a:pt x="75" y="192"/>
                    <a:pt x="75" y="192"/>
                  </a:cubicBezTo>
                  <a:cubicBezTo>
                    <a:pt x="62" y="192"/>
                    <a:pt x="52" y="203"/>
                    <a:pt x="52" y="216"/>
                  </a:cubicBezTo>
                  <a:cubicBezTo>
                    <a:pt x="52" y="219"/>
                    <a:pt x="52" y="219"/>
                    <a:pt x="52" y="219"/>
                  </a:cubicBezTo>
                  <a:cubicBezTo>
                    <a:pt x="52" y="232"/>
                    <a:pt x="62" y="242"/>
                    <a:pt x="75" y="242"/>
                  </a:cubicBezTo>
                  <a:cubicBezTo>
                    <a:pt x="146" y="242"/>
                    <a:pt x="146" y="242"/>
                    <a:pt x="146" y="242"/>
                  </a:cubicBezTo>
                  <a:cubicBezTo>
                    <a:pt x="146" y="154"/>
                    <a:pt x="146" y="154"/>
                    <a:pt x="146" y="154"/>
                  </a:cubicBezTo>
                  <a:cubicBezTo>
                    <a:pt x="37" y="154"/>
                    <a:pt x="37" y="154"/>
                    <a:pt x="37" y="154"/>
                  </a:cubicBezTo>
                  <a:cubicBezTo>
                    <a:pt x="37" y="154"/>
                    <a:pt x="37" y="154"/>
                    <a:pt x="37" y="154"/>
                  </a:cubicBezTo>
                  <a:cubicBezTo>
                    <a:pt x="26" y="154"/>
                    <a:pt x="17" y="146"/>
                    <a:pt x="17" y="135"/>
                  </a:cubicBezTo>
                  <a:cubicBezTo>
                    <a:pt x="17" y="35"/>
                    <a:pt x="17" y="35"/>
                    <a:pt x="17" y="35"/>
                  </a:cubicBezTo>
                  <a:cubicBezTo>
                    <a:pt x="17" y="24"/>
                    <a:pt x="26" y="16"/>
                    <a:pt x="37" y="16"/>
                  </a:cubicBezTo>
                  <a:cubicBezTo>
                    <a:pt x="146" y="16"/>
                    <a:pt x="146" y="16"/>
                    <a:pt x="146" y="16"/>
                  </a:cubicBezTo>
                  <a:lnTo>
                    <a:pt x="146" y="0"/>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47" name="Freeform 46">
              <a:extLst>
                <a:ext uri="{FF2B5EF4-FFF2-40B4-BE49-F238E27FC236}">
                  <a16:creationId xmlns:a16="http://schemas.microsoft.com/office/drawing/2014/main" id="{C8C55F88-4111-4AE7-9DD7-CE54FC08DDBB}"/>
                </a:ext>
              </a:extLst>
            </p:cNvPr>
            <p:cNvSpPr>
              <a:spLocks noEditPoints="1"/>
            </p:cNvSpPr>
            <p:nvPr/>
          </p:nvSpPr>
          <p:spPr bwMode="auto">
            <a:xfrm>
              <a:off x="2673039" y="2898808"/>
              <a:ext cx="614203" cy="716570"/>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solidFill>
              <a:schemeClr val="accent1"/>
            </a:solidFill>
            <a:ln>
              <a:noFill/>
            </a:ln>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48" name="Freeform 47">
              <a:extLst>
                <a:ext uri="{FF2B5EF4-FFF2-40B4-BE49-F238E27FC236}">
                  <a16:creationId xmlns:a16="http://schemas.microsoft.com/office/drawing/2014/main" id="{580B7CE5-6FCC-42E1-B1BD-623C74754C1A}"/>
                </a:ext>
              </a:extLst>
            </p:cNvPr>
            <p:cNvSpPr>
              <a:spLocks noEditPoints="1"/>
            </p:cNvSpPr>
            <p:nvPr/>
          </p:nvSpPr>
          <p:spPr bwMode="auto">
            <a:xfrm>
              <a:off x="3138452" y="3108304"/>
              <a:ext cx="265441" cy="521358"/>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solidFill>
              <a:schemeClr val="accent1">
                <a:lumMod val="75000"/>
              </a:schemeClr>
            </a:solidFill>
            <a:ln>
              <a:noFill/>
            </a:ln>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49" name="Freeform 48">
              <a:extLst>
                <a:ext uri="{FF2B5EF4-FFF2-40B4-BE49-F238E27FC236}">
                  <a16:creationId xmlns:a16="http://schemas.microsoft.com/office/drawing/2014/main" id="{02757260-EEF8-4AF8-ACAE-3622461CD18A}"/>
                </a:ext>
              </a:extLst>
            </p:cNvPr>
            <p:cNvSpPr>
              <a:spLocks noEditPoints="1"/>
            </p:cNvSpPr>
            <p:nvPr/>
          </p:nvSpPr>
          <p:spPr bwMode="auto">
            <a:xfrm>
              <a:off x="2212387" y="3174962"/>
              <a:ext cx="434465" cy="434465"/>
            </a:xfrm>
            <a:custGeom>
              <a:avLst/>
              <a:gdLst>
                <a:gd name="T0" fmla="*/ 133 w 266"/>
                <a:gd name="T1" fmla="*/ 0 h 266"/>
                <a:gd name="T2" fmla="*/ 133 w 266"/>
                <a:gd name="T3" fmla="*/ 0 h 266"/>
                <a:gd name="T4" fmla="*/ 133 w 266"/>
                <a:gd name="T5" fmla="*/ 35 h 266"/>
                <a:gd name="T6" fmla="*/ 150 w 266"/>
                <a:gd name="T7" fmla="*/ 24 h 266"/>
                <a:gd name="T8" fmla="*/ 242 w 266"/>
                <a:gd name="T9" fmla="*/ 117 h 266"/>
                <a:gd name="T10" fmla="*/ 231 w 266"/>
                <a:gd name="T11" fmla="*/ 133 h 266"/>
                <a:gd name="T12" fmla="*/ 242 w 266"/>
                <a:gd name="T13" fmla="*/ 149 h 266"/>
                <a:gd name="T14" fmla="*/ 150 w 266"/>
                <a:gd name="T15" fmla="*/ 242 h 266"/>
                <a:gd name="T16" fmla="*/ 150 w 266"/>
                <a:gd name="T17" fmla="*/ 242 h 266"/>
                <a:gd name="T18" fmla="*/ 133 w 266"/>
                <a:gd name="T19" fmla="*/ 231 h 266"/>
                <a:gd name="T20" fmla="*/ 133 w 266"/>
                <a:gd name="T21" fmla="*/ 266 h 266"/>
                <a:gd name="T22" fmla="*/ 133 w 266"/>
                <a:gd name="T23" fmla="*/ 266 h 266"/>
                <a:gd name="T24" fmla="*/ 266 w 266"/>
                <a:gd name="T25" fmla="*/ 133 h 266"/>
                <a:gd name="T26" fmla="*/ 133 w 266"/>
                <a:gd name="T27" fmla="*/ 0 h 266"/>
                <a:gd name="T28" fmla="*/ 133 w 266"/>
                <a:gd name="T29" fmla="*/ 0 h 266"/>
                <a:gd name="T30" fmla="*/ 133 w 266"/>
                <a:gd name="T31" fmla="*/ 0 h 266"/>
                <a:gd name="T32" fmla="*/ 0 w 266"/>
                <a:gd name="T33" fmla="*/ 133 h 266"/>
                <a:gd name="T34" fmla="*/ 133 w 266"/>
                <a:gd name="T35" fmla="*/ 266 h 266"/>
                <a:gd name="T36" fmla="*/ 133 w 266"/>
                <a:gd name="T37" fmla="*/ 266 h 266"/>
                <a:gd name="T38" fmla="*/ 133 w 266"/>
                <a:gd name="T39" fmla="*/ 231 h 266"/>
                <a:gd name="T40" fmla="*/ 133 w 266"/>
                <a:gd name="T41" fmla="*/ 231 h 266"/>
                <a:gd name="T42" fmla="*/ 117 w 266"/>
                <a:gd name="T43" fmla="*/ 242 h 266"/>
                <a:gd name="T44" fmla="*/ 24 w 266"/>
                <a:gd name="T45" fmla="*/ 149 h 266"/>
                <a:gd name="T46" fmla="*/ 35 w 266"/>
                <a:gd name="T47" fmla="*/ 133 h 266"/>
                <a:gd name="T48" fmla="*/ 24 w 266"/>
                <a:gd name="T49" fmla="*/ 117 h 266"/>
                <a:gd name="T50" fmla="*/ 117 w 266"/>
                <a:gd name="T51" fmla="*/ 24 h 266"/>
                <a:gd name="T52" fmla="*/ 133 w 266"/>
                <a:gd name="T53" fmla="*/ 35 h 266"/>
                <a:gd name="T54" fmla="*/ 133 w 266"/>
                <a:gd name="T55" fmla="*/ 35 h 266"/>
                <a:gd name="T56" fmla="*/ 133 w 266"/>
                <a:gd name="T5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66" h="266">
                  <a:moveTo>
                    <a:pt x="133" y="0"/>
                  </a:moveTo>
                  <a:cubicBezTo>
                    <a:pt x="133" y="0"/>
                    <a:pt x="133" y="0"/>
                    <a:pt x="133" y="0"/>
                  </a:cubicBezTo>
                  <a:cubicBezTo>
                    <a:pt x="133" y="35"/>
                    <a:pt x="133" y="35"/>
                    <a:pt x="133" y="35"/>
                  </a:cubicBezTo>
                  <a:cubicBezTo>
                    <a:pt x="141" y="35"/>
                    <a:pt x="147" y="30"/>
                    <a:pt x="150" y="24"/>
                  </a:cubicBezTo>
                  <a:cubicBezTo>
                    <a:pt x="197" y="31"/>
                    <a:pt x="235" y="69"/>
                    <a:pt x="242" y="117"/>
                  </a:cubicBezTo>
                  <a:cubicBezTo>
                    <a:pt x="236" y="119"/>
                    <a:pt x="231" y="125"/>
                    <a:pt x="231" y="133"/>
                  </a:cubicBezTo>
                  <a:cubicBezTo>
                    <a:pt x="231" y="140"/>
                    <a:pt x="236" y="147"/>
                    <a:pt x="242" y="149"/>
                  </a:cubicBezTo>
                  <a:cubicBezTo>
                    <a:pt x="235" y="197"/>
                    <a:pt x="197" y="235"/>
                    <a:pt x="150" y="242"/>
                  </a:cubicBezTo>
                  <a:cubicBezTo>
                    <a:pt x="150" y="242"/>
                    <a:pt x="150" y="242"/>
                    <a:pt x="150" y="242"/>
                  </a:cubicBezTo>
                  <a:cubicBezTo>
                    <a:pt x="147" y="236"/>
                    <a:pt x="141" y="231"/>
                    <a:pt x="133" y="231"/>
                  </a:cubicBezTo>
                  <a:cubicBezTo>
                    <a:pt x="133" y="266"/>
                    <a:pt x="133" y="266"/>
                    <a:pt x="133" y="266"/>
                  </a:cubicBezTo>
                  <a:cubicBezTo>
                    <a:pt x="133" y="266"/>
                    <a:pt x="133" y="266"/>
                    <a:pt x="133" y="266"/>
                  </a:cubicBezTo>
                  <a:cubicBezTo>
                    <a:pt x="207" y="266"/>
                    <a:pt x="266" y="206"/>
                    <a:pt x="266" y="133"/>
                  </a:cubicBezTo>
                  <a:cubicBezTo>
                    <a:pt x="266" y="59"/>
                    <a:pt x="207" y="0"/>
                    <a:pt x="133" y="0"/>
                  </a:cubicBezTo>
                  <a:close/>
                  <a:moveTo>
                    <a:pt x="133" y="0"/>
                  </a:moveTo>
                  <a:cubicBezTo>
                    <a:pt x="133" y="0"/>
                    <a:pt x="133" y="0"/>
                    <a:pt x="133" y="0"/>
                  </a:cubicBezTo>
                  <a:cubicBezTo>
                    <a:pt x="60" y="0"/>
                    <a:pt x="0" y="59"/>
                    <a:pt x="0" y="133"/>
                  </a:cubicBezTo>
                  <a:cubicBezTo>
                    <a:pt x="0" y="206"/>
                    <a:pt x="60" y="266"/>
                    <a:pt x="133" y="266"/>
                  </a:cubicBezTo>
                  <a:cubicBezTo>
                    <a:pt x="133" y="266"/>
                    <a:pt x="133" y="266"/>
                    <a:pt x="133" y="266"/>
                  </a:cubicBezTo>
                  <a:cubicBezTo>
                    <a:pt x="133" y="231"/>
                    <a:pt x="133" y="231"/>
                    <a:pt x="133" y="231"/>
                  </a:cubicBezTo>
                  <a:cubicBezTo>
                    <a:pt x="133" y="231"/>
                    <a:pt x="133" y="231"/>
                    <a:pt x="133" y="231"/>
                  </a:cubicBezTo>
                  <a:cubicBezTo>
                    <a:pt x="126" y="231"/>
                    <a:pt x="120" y="236"/>
                    <a:pt x="117" y="242"/>
                  </a:cubicBezTo>
                  <a:cubicBezTo>
                    <a:pt x="69" y="235"/>
                    <a:pt x="31" y="197"/>
                    <a:pt x="24" y="149"/>
                  </a:cubicBezTo>
                  <a:cubicBezTo>
                    <a:pt x="31" y="147"/>
                    <a:pt x="35" y="140"/>
                    <a:pt x="35" y="133"/>
                  </a:cubicBezTo>
                  <a:cubicBezTo>
                    <a:pt x="35" y="125"/>
                    <a:pt x="31" y="119"/>
                    <a:pt x="24" y="117"/>
                  </a:cubicBezTo>
                  <a:cubicBezTo>
                    <a:pt x="31" y="69"/>
                    <a:pt x="69" y="31"/>
                    <a:pt x="117" y="24"/>
                  </a:cubicBezTo>
                  <a:cubicBezTo>
                    <a:pt x="120" y="30"/>
                    <a:pt x="126" y="35"/>
                    <a:pt x="133" y="35"/>
                  </a:cubicBezTo>
                  <a:cubicBezTo>
                    <a:pt x="133" y="35"/>
                    <a:pt x="133" y="35"/>
                    <a:pt x="133" y="35"/>
                  </a:cubicBezTo>
                  <a:lnTo>
                    <a:pt x="133" y="0"/>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50" name="Freeform 49">
              <a:extLst>
                <a:ext uri="{FF2B5EF4-FFF2-40B4-BE49-F238E27FC236}">
                  <a16:creationId xmlns:a16="http://schemas.microsoft.com/office/drawing/2014/main" id="{5B349600-5018-4328-9D01-5283D86A89EE}"/>
                </a:ext>
              </a:extLst>
            </p:cNvPr>
            <p:cNvSpPr>
              <a:spLocks/>
            </p:cNvSpPr>
            <p:nvPr/>
          </p:nvSpPr>
          <p:spPr bwMode="auto">
            <a:xfrm>
              <a:off x="2292139" y="3313038"/>
              <a:ext cx="216637" cy="114270"/>
            </a:xfrm>
            <a:custGeom>
              <a:avLst/>
              <a:gdLst>
                <a:gd name="T0" fmla="*/ 124 w 133"/>
                <a:gd name="T1" fmla="*/ 0 h 70"/>
                <a:gd name="T2" fmla="*/ 93 w 133"/>
                <a:gd name="T3" fmla="*/ 30 h 70"/>
                <a:gd name="T4" fmla="*/ 84 w 133"/>
                <a:gd name="T5" fmla="*/ 28 h 70"/>
                <a:gd name="T6" fmla="*/ 65 w 133"/>
                <a:gd name="T7" fmla="*/ 42 h 70"/>
                <a:gd name="T8" fmla="*/ 0 w 133"/>
                <a:gd name="T9" fmla="*/ 42 h 70"/>
                <a:gd name="T10" fmla="*/ 0 w 133"/>
                <a:gd name="T11" fmla="*/ 56 h 70"/>
                <a:gd name="T12" fmla="*/ 65 w 133"/>
                <a:gd name="T13" fmla="*/ 56 h 70"/>
                <a:gd name="T14" fmla="*/ 84 w 133"/>
                <a:gd name="T15" fmla="*/ 70 h 70"/>
                <a:gd name="T16" fmla="*/ 105 w 133"/>
                <a:gd name="T17" fmla="*/ 49 h 70"/>
                <a:gd name="T18" fmla="*/ 103 w 133"/>
                <a:gd name="T19" fmla="*/ 40 h 70"/>
                <a:gd name="T20" fmla="*/ 133 w 133"/>
                <a:gd name="T21" fmla="*/ 9 h 70"/>
                <a:gd name="T22" fmla="*/ 124 w 133"/>
                <a:gd name="T23"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3" h="70">
                  <a:moveTo>
                    <a:pt x="124" y="0"/>
                  </a:moveTo>
                  <a:cubicBezTo>
                    <a:pt x="93" y="30"/>
                    <a:pt x="93" y="30"/>
                    <a:pt x="93" y="30"/>
                  </a:cubicBezTo>
                  <a:cubicBezTo>
                    <a:pt x="91" y="29"/>
                    <a:pt x="88" y="28"/>
                    <a:pt x="84" y="28"/>
                  </a:cubicBezTo>
                  <a:cubicBezTo>
                    <a:pt x="75" y="28"/>
                    <a:pt x="67" y="34"/>
                    <a:pt x="65" y="42"/>
                  </a:cubicBezTo>
                  <a:cubicBezTo>
                    <a:pt x="0" y="42"/>
                    <a:pt x="0" y="42"/>
                    <a:pt x="0" y="42"/>
                  </a:cubicBezTo>
                  <a:cubicBezTo>
                    <a:pt x="0" y="56"/>
                    <a:pt x="0" y="56"/>
                    <a:pt x="0" y="56"/>
                  </a:cubicBezTo>
                  <a:cubicBezTo>
                    <a:pt x="65" y="56"/>
                    <a:pt x="65" y="56"/>
                    <a:pt x="65" y="56"/>
                  </a:cubicBezTo>
                  <a:cubicBezTo>
                    <a:pt x="67" y="64"/>
                    <a:pt x="75" y="70"/>
                    <a:pt x="84" y="70"/>
                  </a:cubicBezTo>
                  <a:cubicBezTo>
                    <a:pt x="96" y="70"/>
                    <a:pt x="105" y="60"/>
                    <a:pt x="105" y="49"/>
                  </a:cubicBezTo>
                  <a:cubicBezTo>
                    <a:pt x="105" y="46"/>
                    <a:pt x="104" y="43"/>
                    <a:pt x="103" y="40"/>
                  </a:cubicBezTo>
                  <a:cubicBezTo>
                    <a:pt x="133" y="9"/>
                    <a:pt x="133" y="9"/>
                    <a:pt x="133" y="9"/>
                  </a:cubicBezTo>
                  <a:lnTo>
                    <a:pt x="124" y="0"/>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grpSp>
          <p:nvGrpSpPr>
            <p:cNvPr id="51" name="Group 126">
              <a:extLst>
                <a:ext uri="{FF2B5EF4-FFF2-40B4-BE49-F238E27FC236}">
                  <a16:creationId xmlns:a16="http://schemas.microsoft.com/office/drawing/2014/main" id="{2B752901-C539-48D4-9BCC-367790B712CF}"/>
                </a:ext>
              </a:extLst>
            </p:cNvPr>
            <p:cNvGrpSpPr/>
            <p:nvPr/>
          </p:nvGrpSpPr>
          <p:grpSpPr>
            <a:xfrm>
              <a:off x="2386173" y="3734409"/>
              <a:ext cx="340430" cy="323766"/>
              <a:chOff x="8505825" y="3605213"/>
              <a:chExt cx="454025" cy="431800"/>
            </a:xfrm>
          </p:grpSpPr>
          <p:sp>
            <p:nvSpPr>
              <p:cNvPr id="100" name="Freeform 50">
                <a:extLst>
                  <a:ext uri="{FF2B5EF4-FFF2-40B4-BE49-F238E27FC236}">
                    <a16:creationId xmlns:a16="http://schemas.microsoft.com/office/drawing/2014/main" id="{923BDDA7-2E06-4A8C-88C4-8DEF7BA47934}"/>
                  </a:ext>
                </a:extLst>
              </p:cNvPr>
              <p:cNvSpPr>
                <a:spLocks/>
              </p:cNvSpPr>
              <p:nvPr/>
            </p:nvSpPr>
            <p:spPr bwMode="auto">
              <a:xfrm>
                <a:off x="8505825" y="3694113"/>
                <a:ext cx="454025" cy="342900"/>
              </a:xfrm>
              <a:custGeom>
                <a:avLst/>
                <a:gdLst>
                  <a:gd name="T0" fmla="*/ 146 w 208"/>
                  <a:gd name="T1" fmla="*/ 0 h 157"/>
                  <a:gd name="T2" fmla="*/ 104 w 208"/>
                  <a:gd name="T3" fmla="*/ 15 h 157"/>
                  <a:gd name="T4" fmla="*/ 62 w 208"/>
                  <a:gd name="T5" fmla="*/ 0 h 157"/>
                  <a:gd name="T6" fmla="*/ 0 w 208"/>
                  <a:gd name="T7" fmla="*/ 60 h 157"/>
                  <a:gd name="T8" fmla="*/ 107 w 208"/>
                  <a:gd name="T9" fmla="*/ 157 h 157"/>
                  <a:gd name="T10" fmla="*/ 208 w 208"/>
                  <a:gd name="T11" fmla="*/ 60 h 157"/>
                  <a:gd name="T12" fmla="*/ 146 w 208"/>
                  <a:gd name="T13" fmla="*/ 0 h 157"/>
                </a:gdLst>
                <a:ahLst/>
                <a:cxnLst>
                  <a:cxn ang="0">
                    <a:pos x="T0" y="T1"/>
                  </a:cxn>
                  <a:cxn ang="0">
                    <a:pos x="T2" y="T3"/>
                  </a:cxn>
                  <a:cxn ang="0">
                    <a:pos x="T4" y="T5"/>
                  </a:cxn>
                  <a:cxn ang="0">
                    <a:pos x="T6" y="T7"/>
                  </a:cxn>
                  <a:cxn ang="0">
                    <a:pos x="T8" y="T9"/>
                  </a:cxn>
                  <a:cxn ang="0">
                    <a:pos x="T10" y="T11"/>
                  </a:cxn>
                  <a:cxn ang="0">
                    <a:pos x="T12" y="T13"/>
                  </a:cxn>
                </a:cxnLst>
                <a:rect l="0" t="0" r="r" b="b"/>
                <a:pathLst>
                  <a:path w="208" h="157">
                    <a:moveTo>
                      <a:pt x="146" y="0"/>
                    </a:moveTo>
                    <a:cubicBezTo>
                      <a:pt x="130" y="0"/>
                      <a:pt x="115" y="6"/>
                      <a:pt x="104" y="15"/>
                    </a:cubicBezTo>
                    <a:cubicBezTo>
                      <a:pt x="93" y="6"/>
                      <a:pt x="78" y="0"/>
                      <a:pt x="62" y="0"/>
                    </a:cubicBezTo>
                    <a:cubicBezTo>
                      <a:pt x="28" y="0"/>
                      <a:pt x="0" y="27"/>
                      <a:pt x="0" y="60"/>
                    </a:cubicBezTo>
                    <a:cubicBezTo>
                      <a:pt x="0" y="98"/>
                      <a:pt x="31" y="157"/>
                      <a:pt x="107" y="157"/>
                    </a:cubicBezTo>
                    <a:cubicBezTo>
                      <a:pt x="185" y="157"/>
                      <a:pt x="208" y="95"/>
                      <a:pt x="208" y="60"/>
                    </a:cubicBezTo>
                    <a:cubicBezTo>
                      <a:pt x="208" y="27"/>
                      <a:pt x="180" y="0"/>
                      <a:pt x="146" y="0"/>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101" name="Freeform 51">
                <a:extLst>
                  <a:ext uri="{FF2B5EF4-FFF2-40B4-BE49-F238E27FC236}">
                    <a16:creationId xmlns:a16="http://schemas.microsoft.com/office/drawing/2014/main" id="{9169784A-2E2A-4AA9-BEF1-6F203C62C5CD}"/>
                  </a:ext>
                </a:extLst>
              </p:cNvPr>
              <p:cNvSpPr>
                <a:spLocks/>
              </p:cNvSpPr>
              <p:nvPr/>
            </p:nvSpPr>
            <p:spPr bwMode="auto">
              <a:xfrm>
                <a:off x="8709025" y="3605213"/>
                <a:ext cx="123825" cy="157163"/>
              </a:xfrm>
              <a:custGeom>
                <a:avLst/>
                <a:gdLst>
                  <a:gd name="T0" fmla="*/ 12 w 57"/>
                  <a:gd name="T1" fmla="*/ 72 h 72"/>
                  <a:gd name="T2" fmla="*/ 27 w 57"/>
                  <a:gd name="T3" fmla="*/ 0 h 72"/>
                  <a:gd name="T4" fmla="*/ 57 w 57"/>
                  <a:gd name="T5" fmla="*/ 6 h 72"/>
                  <a:gd name="T6" fmla="*/ 12 w 57"/>
                  <a:gd name="T7" fmla="*/ 72 h 72"/>
                </a:gdLst>
                <a:ahLst/>
                <a:cxnLst>
                  <a:cxn ang="0">
                    <a:pos x="T0" y="T1"/>
                  </a:cxn>
                  <a:cxn ang="0">
                    <a:pos x="T2" y="T3"/>
                  </a:cxn>
                  <a:cxn ang="0">
                    <a:pos x="T4" y="T5"/>
                  </a:cxn>
                  <a:cxn ang="0">
                    <a:pos x="T6" y="T7"/>
                  </a:cxn>
                </a:cxnLst>
                <a:rect l="0" t="0" r="r" b="b"/>
                <a:pathLst>
                  <a:path w="57" h="72">
                    <a:moveTo>
                      <a:pt x="12" y="72"/>
                    </a:moveTo>
                    <a:cubicBezTo>
                      <a:pt x="0" y="48"/>
                      <a:pt x="7" y="20"/>
                      <a:pt x="27" y="0"/>
                    </a:cubicBezTo>
                    <a:cubicBezTo>
                      <a:pt x="57" y="6"/>
                      <a:pt x="57" y="6"/>
                      <a:pt x="57" y="6"/>
                    </a:cubicBezTo>
                    <a:cubicBezTo>
                      <a:pt x="29" y="21"/>
                      <a:pt x="12" y="37"/>
                      <a:pt x="12" y="72"/>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grpSp>
        <p:sp>
          <p:nvSpPr>
            <p:cNvPr id="52" name="Freeform 52">
              <a:extLst>
                <a:ext uri="{FF2B5EF4-FFF2-40B4-BE49-F238E27FC236}">
                  <a16:creationId xmlns:a16="http://schemas.microsoft.com/office/drawing/2014/main" id="{8EF9CA11-E0DC-4E62-B968-1D744AACAEA6}"/>
                </a:ext>
              </a:extLst>
            </p:cNvPr>
            <p:cNvSpPr>
              <a:spLocks/>
            </p:cNvSpPr>
            <p:nvPr/>
          </p:nvSpPr>
          <p:spPr bwMode="auto">
            <a:xfrm>
              <a:off x="1336315" y="1807289"/>
              <a:ext cx="509455" cy="414230"/>
            </a:xfrm>
            <a:custGeom>
              <a:avLst/>
              <a:gdLst>
                <a:gd name="T0" fmla="*/ 312 w 312"/>
                <a:gd name="T1" fmla="*/ 86 h 253"/>
                <a:gd name="T2" fmla="*/ 305 w 312"/>
                <a:gd name="T3" fmla="*/ 75 h 253"/>
                <a:gd name="T4" fmla="*/ 79 w 312"/>
                <a:gd name="T5" fmla="*/ 226 h 253"/>
                <a:gd name="T6" fmla="*/ 28 w 312"/>
                <a:gd name="T7" fmla="*/ 214 h 253"/>
                <a:gd name="T8" fmla="*/ 35 w 312"/>
                <a:gd name="T9" fmla="*/ 162 h 253"/>
                <a:gd name="T10" fmla="*/ 262 w 312"/>
                <a:gd name="T11" fmla="*/ 11 h 253"/>
                <a:gd name="T12" fmla="*/ 254 w 312"/>
                <a:gd name="T13" fmla="*/ 0 h 253"/>
                <a:gd name="T14" fmla="*/ 26 w 312"/>
                <a:gd name="T15" fmla="*/ 153 h 253"/>
                <a:gd name="T16" fmla="*/ 15 w 312"/>
                <a:gd name="T17" fmla="*/ 222 h 253"/>
                <a:gd name="T18" fmla="*/ 83 w 312"/>
                <a:gd name="T19" fmla="*/ 239 h 253"/>
                <a:gd name="T20" fmla="*/ 312 w 312"/>
                <a:gd name="T21" fmla="*/ 8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 h="253">
                  <a:moveTo>
                    <a:pt x="312" y="86"/>
                  </a:moveTo>
                  <a:cubicBezTo>
                    <a:pt x="305" y="75"/>
                    <a:pt x="305" y="75"/>
                    <a:pt x="305" y="75"/>
                  </a:cubicBezTo>
                  <a:cubicBezTo>
                    <a:pt x="79" y="226"/>
                    <a:pt x="79" y="226"/>
                    <a:pt x="79" y="226"/>
                  </a:cubicBezTo>
                  <a:cubicBezTo>
                    <a:pt x="63" y="237"/>
                    <a:pt x="40" y="231"/>
                    <a:pt x="28" y="214"/>
                  </a:cubicBezTo>
                  <a:cubicBezTo>
                    <a:pt x="16" y="196"/>
                    <a:pt x="19" y="173"/>
                    <a:pt x="35" y="162"/>
                  </a:cubicBezTo>
                  <a:cubicBezTo>
                    <a:pt x="262" y="11"/>
                    <a:pt x="262" y="11"/>
                    <a:pt x="262" y="11"/>
                  </a:cubicBezTo>
                  <a:cubicBezTo>
                    <a:pt x="254" y="0"/>
                    <a:pt x="254" y="0"/>
                    <a:pt x="254" y="0"/>
                  </a:cubicBezTo>
                  <a:cubicBezTo>
                    <a:pt x="26" y="153"/>
                    <a:pt x="26" y="153"/>
                    <a:pt x="26" y="153"/>
                  </a:cubicBezTo>
                  <a:cubicBezTo>
                    <a:pt x="4" y="167"/>
                    <a:pt x="0" y="198"/>
                    <a:pt x="15" y="222"/>
                  </a:cubicBezTo>
                  <a:cubicBezTo>
                    <a:pt x="31" y="246"/>
                    <a:pt x="62" y="253"/>
                    <a:pt x="83" y="239"/>
                  </a:cubicBezTo>
                  <a:lnTo>
                    <a:pt x="312" y="86"/>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53" name="Freeform 53">
              <a:extLst>
                <a:ext uri="{FF2B5EF4-FFF2-40B4-BE49-F238E27FC236}">
                  <a16:creationId xmlns:a16="http://schemas.microsoft.com/office/drawing/2014/main" id="{79A56323-2E99-44DA-A080-D47B5CDB1B74}"/>
                </a:ext>
              </a:extLst>
            </p:cNvPr>
            <p:cNvSpPr>
              <a:spLocks/>
            </p:cNvSpPr>
            <p:nvPr/>
          </p:nvSpPr>
          <p:spPr bwMode="auto">
            <a:xfrm>
              <a:off x="1723168" y="1784674"/>
              <a:ext cx="140457" cy="192831"/>
            </a:xfrm>
            <a:custGeom>
              <a:avLst/>
              <a:gdLst>
                <a:gd name="T0" fmla="*/ 80 w 86"/>
                <a:gd name="T1" fmla="*/ 115 h 118"/>
                <a:gd name="T2" fmla="*/ 68 w 86"/>
                <a:gd name="T3" fmla="*/ 113 h 118"/>
                <a:gd name="T4" fmla="*/ 3 w 86"/>
                <a:gd name="T5" fmla="*/ 16 h 118"/>
                <a:gd name="T6" fmla="*/ 6 w 86"/>
                <a:gd name="T7" fmla="*/ 3 h 118"/>
                <a:gd name="T8" fmla="*/ 19 w 86"/>
                <a:gd name="T9" fmla="*/ 6 h 118"/>
                <a:gd name="T10" fmla="*/ 83 w 86"/>
                <a:gd name="T11" fmla="*/ 102 h 118"/>
                <a:gd name="T12" fmla="*/ 80 w 86"/>
                <a:gd name="T13" fmla="*/ 115 h 118"/>
              </a:gdLst>
              <a:ahLst/>
              <a:cxnLst>
                <a:cxn ang="0">
                  <a:pos x="T0" y="T1"/>
                </a:cxn>
                <a:cxn ang="0">
                  <a:pos x="T2" y="T3"/>
                </a:cxn>
                <a:cxn ang="0">
                  <a:pos x="T4" y="T5"/>
                </a:cxn>
                <a:cxn ang="0">
                  <a:pos x="T6" y="T7"/>
                </a:cxn>
                <a:cxn ang="0">
                  <a:pos x="T8" y="T9"/>
                </a:cxn>
                <a:cxn ang="0">
                  <a:pos x="T10" y="T11"/>
                </a:cxn>
                <a:cxn ang="0">
                  <a:pos x="T12" y="T13"/>
                </a:cxn>
              </a:cxnLst>
              <a:rect l="0" t="0" r="r" b="b"/>
              <a:pathLst>
                <a:path w="86" h="118">
                  <a:moveTo>
                    <a:pt x="80" y="115"/>
                  </a:moveTo>
                  <a:cubicBezTo>
                    <a:pt x="76" y="118"/>
                    <a:pt x="70" y="117"/>
                    <a:pt x="68" y="113"/>
                  </a:cubicBezTo>
                  <a:cubicBezTo>
                    <a:pt x="3" y="16"/>
                    <a:pt x="3" y="16"/>
                    <a:pt x="3" y="16"/>
                  </a:cubicBezTo>
                  <a:cubicBezTo>
                    <a:pt x="0" y="12"/>
                    <a:pt x="1" y="6"/>
                    <a:pt x="6" y="3"/>
                  </a:cubicBezTo>
                  <a:cubicBezTo>
                    <a:pt x="10" y="0"/>
                    <a:pt x="16" y="2"/>
                    <a:pt x="19" y="6"/>
                  </a:cubicBezTo>
                  <a:cubicBezTo>
                    <a:pt x="83" y="102"/>
                    <a:pt x="83" y="102"/>
                    <a:pt x="83" y="102"/>
                  </a:cubicBezTo>
                  <a:cubicBezTo>
                    <a:pt x="86" y="107"/>
                    <a:pt x="85" y="112"/>
                    <a:pt x="80" y="115"/>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54" name="Freeform 54">
              <a:extLst>
                <a:ext uri="{FF2B5EF4-FFF2-40B4-BE49-F238E27FC236}">
                  <a16:creationId xmlns:a16="http://schemas.microsoft.com/office/drawing/2014/main" id="{B7AE2C31-09BD-4F4F-82EF-20699227D6A9}"/>
                </a:ext>
              </a:extLst>
            </p:cNvPr>
            <p:cNvSpPr>
              <a:spLocks/>
            </p:cNvSpPr>
            <p:nvPr/>
          </p:nvSpPr>
          <p:spPr bwMode="auto">
            <a:xfrm>
              <a:off x="1402973" y="1916798"/>
              <a:ext cx="385662" cy="252347"/>
            </a:xfrm>
            <a:custGeom>
              <a:avLst/>
              <a:gdLst>
                <a:gd name="T0" fmla="*/ 236 w 236"/>
                <a:gd name="T1" fmla="*/ 13 h 154"/>
                <a:gd name="T2" fmla="*/ 227 w 236"/>
                <a:gd name="T3" fmla="*/ 0 h 154"/>
                <a:gd name="T4" fmla="*/ 25 w 236"/>
                <a:gd name="T5" fmla="*/ 135 h 154"/>
                <a:gd name="T6" fmla="*/ 0 w 236"/>
                <a:gd name="T7" fmla="*/ 136 h 154"/>
                <a:gd name="T8" fmla="*/ 1 w 236"/>
                <a:gd name="T9" fmla="*/ 138 h 154"/>
                <a:gd name="T10" fmla="*/ 36 w 236"/>
                <a:gd name="T11" fmla="*/ 146 h 154"/>
                <a:gd name="T12" fmla="*/ 236 w 236"/>
                <a:gd name="T13" fmla="*/ 13 h 154"/>
              </a:gdLst>
              <a:ahLst/>
              <a:cxnLst>
                <a:cxn ang="0">
                  <a:pos x="T0" y="T1"/>
                </a:cxn>
                <a:cxn ang="0">
                  <a:pos x="T2" y="T3"/>
                </a:cxn>
                <a:cxn ang="0">
                  <a:pos x="T4" y="T5"/>
                </a:cxn>
                <a:cxn ang="0">
                  <a:pos x="T6" y="T7"/>
                </a:cxn>
                <a:cxn ang="0">
                  <a:pos x="T8" y="T9"/>
                </a:cxn>
                <a:cxn ang="0">
                  <a:pos x="T10" y="T11"/>
                </a:cxn>
                <a:cxn ang="0">
                  <a:pos x="T12" y="T13"/>
                </a:cxn>
              </a:cxnLst>
              <a:rect l="0" t="0" r="r" b="b"/>
              <a:pathLst>
                <a:path w="236" h="154">
                  <a:moveTo>
                    <a:pt x="236" y="13"/>
                  </a:moveTo>
                  <a:cubicBezTo>
                    <a:pt x="227" y="0"/>
                    <a:pt x="227" y="0"/>
                    <a:pt x="227" y="0"/>
                  </a:cubicBezTo>
                  <a:cubicBezTo>
                    <a:pt x="25" y="135"/>
                    <a:pt x="25" y="135"/>
                    <a:pt x="25" y="135"/>
                  </a:cubicBezTo>
                  <a:cubicBezTo>
                    <a:pt x="17" y="140"/>
                    <a:pt x="8" y="140"/>
                    <a:pt x="0" y="136"/>
                  </a:cubicBezTo>
                  <a:cubicBezTo>
                    <a:pt x="0" y="137"/>
                    <a:pt x="0" y="137"/>
                    <a:pt x="1" y="138"/>
                  </a:cubicBezTo>
                  <a:cubicBezTo>
                    <a:pt x="9" y="150"/>
                    <a:pt x="25" y="154"/>
                    <a:pt x="36" y="146"/>
                  </a:cubicBezTo>
                  <a:lnTo>
                    <a:pt x="236" y="13"/>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55" name="Freeform 55">
              <a:extLst>
                <a:ext uri="{FF2B5EF4-FFF2-40B4-BE49-F238E27FC236}">
                  <a16:creationId xmlns:a16="http://schemas.microsoft.com/office/drawing/2014/main" id="{947B2718-4979-4098-A270-3EEA75770093}"/>
                </a:ext>
              </a:extLst>
            </p:cNvPr>
            <p:cNvSpPr>
              <a:spLocks noEditPoints="1"/>
            </p:cNvSpPr>
            <p:nvPr/>
          </p:nvSpPr>
          <p:spPr bwMode="auto">
            <a:xfrm>
              <a:off x="1088730" y="2138197"/>
              <a:ext cx="222589" cy="390423"/>
            </a:xfrm>
            <a:custGeom>
              <a:avLst/>
              <a:gdLst>
                <a:gd name="T0" fmla="*/ 59 w 136"/>
                <a:gd name="T1" fmla="*/ 203 h 239"/>
                <a:gd name="T2" fmla="*/ 54 w 136"/>
                <a:gd name="T3" fmla="*/ 203 h 239"/>
                <a:gd name="T4" fmla="*/ 54 w 136"/>
                <a:gd name="T5" fmla="*/ 239 h 239"/>
                <a:gd name="T6" fmla="*/ 72 w 136"/>
                <a:gd name="T7" fmla="*/ 226 h 239"/>
                <a:gd name="T8" fmla="*/ 59 w 136"/>
                <a:gd name="T9" fmla="*/ 203 h 239"/>
                <a:gd name="T10" fmla="*/ 54 w 136"/>
                <a:gd name="T11" fmla="*/ 187 h 239"/>
                <a:gd name="T12" fmla="*/ 54 w 136"/>
                <a:gd name="T13" fmla="*/ 82 h 239"/>
                <a:gd name="T14" fmla="*/ 81 w 136"/>
                <a:gd name="T15" fmla="*/ 74 h 239"/>
                <a:gd name="T16" fmla="*/ 97 w 136"/>
                <a:gd name="T17" fmla="*/ 13 h 239"/>
                <a:gd name="T18" fmla="*/ 114 w 136"/>
                <a:gd name="T19" fmla="*/ 2 h 239"/>
                <a:gd name="T20" fmla="*/ 124 w 136"/>
                <a:gd name="T21" fmla="*/ 20 h 239"/>
                <a:gd name="T22" fmla="*/ 109 w 136"/>
                <a:gd name="T23" fmla="*/ 81 h 239"/>
                <a:gd name="T24" fmla="*/ 130 w 136"/>
                <a:gd name="T25" fmla="*/ 134 h 239"/>
                <a:gd name="T26" fmla="*/ 122 w 136"/>
                <a:gd name="T27" fmla="*/ 164 h 239"/>
                <a:gd name="T28" fmla="*/ 122 w 136"/>
                <a:gd name="T29" fmla="*/ 164 h 239"/>
                <a:gd name="T30" fmla="*/ 136 w 136"/>
                <a:gd name="T31" fmla="*/ 187 h 239"/>
                <a:gd name="T32" fmla="*/ 131 w 136"/>
                <a:gd name="T33" fmla="*/ 207 h 239"/>
                <a:gd name="T34" fmla="*/ 54 w 136"/>
                <a:gd name="T35" fmla="*/ 187 h 239"/>
                <a:gd name="T36" fmla="*/ 54 w 136"/>
                <a:gd name="T37" fmla="*/ 203 h 239"/>
                <a:gd name="T38" fmla="*/ 36 w 136"/>
                <a:gd name="T39" fmla="*/ 216 h 239"/>
                <a:gd name="T40" fmla="*/ 50 w 136"/>
                <a:gd name="T41" fmla="*/ 239 h 239"/>
                <a:gd name="T42" fmla="*/ 54 w 136"/>
                <a:gd name="T43" fmla="*/ 239 h 239"/>
                <a:gd name="T44" fmla="*/ 54 w 136"/>
                <a:gd name="T45" fmla="*/ 203 h 239"/>
                <a:gd name="T46" fmla="*/ 54 w 136"/>
                <a:gd name="T47" fmla="*/ 82 h 239"/>
                <a:gd name="T48" fmla="*/ 54 w 136"/>
                <a:gd name="T49" fmla="*/ 187 h 239"/>
                <a:gd name="T50" fmla="*/ 0 w 136"/>
                <a:gd name="T51" fmla="*/ 173 h 239"/>
                <a:gd name="T52" fmla="*/ 5 w 136"/>
                <a:gd name="T53" fmla="*/ 152 h 239"/>
                <a:gd name="T54" fmla="*/ 29 w 136"/>
                <a:gd name="T55" fmla="*/ 140 h 239"/>
                <a:gd name="T56" fmla="*/ 37 w 136"/>
                <a:gd name="T57" fmla="*/ 109 h 239"/>
                <a:gd name="T58" fmla="*/ 54 w 136"/>
                <a:gd name="T59" fmla="*/ 82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6" h="239">
                  <a:moveTo>
                    <a:pt x="59" y="203"/>
                  </a:moveTo>
                  <a:cubicBezTo>
                    <a:pt x="57" y="203"/>
                    <a:pt x="56" y="203"/>
                    <a:pt x="54" y="203"/>
                  </a:cubicBezTo>
                  <a:cubicBezTo>
                    <a:pt x="54" y="239"/>
                    <a:pt x="54" y="239"/>
                    <a:pt x="54" y="239"/>
                  </a:cubicBezTo>
                  <a:cubicBezTo>
                    <a:pt x="62" y="239"/>
                    <a:pt x="70" y="234"/>
                    <a:pt x="72" y="226"/>
                  </a:cubicBezTo>
                  <a:cubicBezTo>
                    <a:pt x="74" y="216"/>
                    <a:pt x="69" y="206"/>
                    <a:pt x="59" y="203"/>
                  </a:cubicBezTo>
                  <a:close/>
                  <a:moveTo>
                    <a:pt x="54" y="187"/>
                  </a:moveTo>
                  <a:cubicBezTo>
                    <a:pt x="54" y="82"/>
                    <a:pt x="54" y="82"/>
                    <a:pt x="54" y="82"/>
                  </a:cubicBezTo>
                  <a:cubicBezTo>
                    <a:pt x="62" y="76"/>
                    <a:pt x="71" y="74"/>
                    <a:pt x="81" y="74"/>
                  </a:cubicBezTo>
                  <a:cubicBezTo>
                    <a:pt x="97" y="13"/>
                    <a:pt x="97" y="13"/>
                    <a:pt x="97" y="13"/>
                  </a:cubicBezTo>
                  <a:cubicBezTo>
                    <a:pt x="99" y="5"/>
                    <a:pt x="107" y="0"/>
                    <a:pt x="114" y="2"/>
                  </a:cubicBezTo>
                  <a:cubicBezTo>
                    <a:pt x="122" y="4"/>
                    <a:pt x="126" y="12"/>
                    <a:pt x="124" y="20"/>
                  </a:cubicBezTo>
                  <a:cubicBezTo>
                    <a:pt x="109" y="81"/>
                    <a:pt x="109" y="81"/>
                    <a:pt x="109" y="81"/>
                  </a:cubicBezTo>
                  <a:cubicBezTo>
                    <a:pt x="125" y="90"/>
                    <a:pt x="136" y="109"/>
                    <a:pt x="130" y="134"/>
                  </a:cubicBezTo>
                  <a:cubicBezTo>
                    <a:pt x="130" y="134"/>
                    <a:pt x="125" y="154"/>
                    <a:pt x="122" y="164"/>
                  </a:cubicBezTo>
                  <a:cubicBezTo>
                    <a:pt x="122" y="164"/>
                    <a:pt x="122" y="164"/>
                    <a:pt x="122" y="164"/>
                  </a:cubicBezTo>
                  <a:cubicBezTo>
                    <a:pt x="118" y="178"/>
                    <a:pt x="136" y="187"/>
                    <a:pt x="136" y="187"/>
                  </a:cubicBezTo>
                  <a:cubicBezTo>
                    <a:pt x="131" y="207"/>
                    <a:pt x="131" y="207"/>
                    <a:pt x="131" y="207"/>
                  </a:cubicBezTo>
                  <a:lnTo>
                    <a:pt x="54" y="187"/>
                  </a:lnTo>
                  <a:close/>
                  <a:moveTo>
                    <a:pt x="54" y="203"/>
                  </a:moveTo>
                  <a:cubicBezTo>
                    <a:pt x="46" y="203"/>
                    <a:pt x="38" y="208"/>
                    <a:pt x="36" y="216"/>
                  </a:cubicBezTo>
                  <a:cubicBezTo>
                    <a:pt x="34" y="226"/>
                    <a:pt x="40" y="236"/>
                    <a:pt x="50" y="239"/>
                  </a:cubicBezTo>
                  <a:cubicBezTo>
                    <a:pt x="51" y="239"/>
                    <a:pt x="53" y="239"/>
                    <a:pt x="54" y="239"/>
                  </a:cubicBezTo>
                  <a:cubicBezTo>
                    <a:pt x="54" y="203"/>
                    <a:pt x="54" y="203"/>
                    <a:pt x="54" y="203"/>
                  </a:cubicBezTo>
                  <a:close/>
                  <a:moveTo>
                    <a:pt x="54" y="82"/>
                  </a:moveTo>
                  <a:cubicBezTo>
                    <a:pt x="54" y="187"/>
                    <a:pt x="54" y="187"/>
                    <a:pt x="54" y="187"/>
                  </a:cubicBezTo>
                  <a:cubicBezTo>
                    <a:pt x="0" y="173"/>
                    <a:pt x="0" y="173"/>
                    <a:pt x="0" y="173"/>
                  </a:cubicBezTo>
                  <a:cubicBezTo>
                    <a:pt x="5" y="152"/>
                    <a:pt x="5" y="152"/>
                    <a:pt x="5" y="152"/>
                  </a:cubicBezTo>
                  <a:cubicBezTo>
                    <a:pt x="5" y="152"/>
                    <a:pt x="25" y="154"/>
                    <a:pt x="29" y="140"/>
                  </a:cubicBezTo>
                  <a:cubicBezTo>
                    <a:pt x="32" y="128"/>
                    <a:pt x="37" y="109"/>
                    <a:pt x="37" y="109"/>
                  </a:cubicBezTo>
                  <a:cubicBezTo>
                    <a:pt x="40" y="97"/>
                    <a:pt x="46" y="88"/>
                    <a:pt x="54" y="82"/>
                  </a:cubicBezTo>
                  <a:close/>
                </a:path>
              </a:pathLst>
            </a:custGeom>
            <a:solidFill>
              <a:schemeClr val="accent1">
                <a:lumMod val="75000"/>
              </a:schemeClr>
            </a:solidFill>
            <a:ln>
              <a:noFill/>
            </a:ln>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57" name="Freeform 56">
              <a:extLst>
                <a:ext uri="{FF2B5EF4-FFF2-40B4-BE49-F238E27FC236}">
                  <a16:creationId xmlns:a16="http://schemas.microsoft.com/office/drawing/2014/main" id="{19B9E8BC-66E6-403E-A684-EA12192074F1}"/>
                </a:ext>
              </a:extLst>
            </p:cNvPr>
            <p:cNvSpPr>
              <a:spLocks noEditPoints="1"/>
            </p:cNvSpPr>
            <p:nvPr/>
          </p:nvSpPr>
          <p:spPr bwMode="auto">
            <a:xfrm>
              <a:off x="886376" y="2955944"/>
              <a:ext cx="416610" cy="453510"/>
            </a:xfrm>
            <a:custGeom>
              <a:avLst/>
              <a:gdLst>
                <a:gd name="T0" fmla="*/ 198 w 255"/>
                <a:gd name="T1" fmla="*/ 128 h 277"/>
                <a:gd name="T2" fmla="*/ 191 w 255"/>
                <a:gd name="T3" fmla="*/ 158 h 277"/>
                <a:gd name="T4" fmla="*/ 191 w 255"/>
                <a:gd name="T5" fmla="*/ 185 h 277"/>
                <a:gd name="T6" fmla="*/ 196 w 255"/>
                <a:gd name="T7" fmla="*/ 187 h 277"/>
                <a:gd name="T8" fmla="*/ 218 w 255"/>
                <a:gd name="T9" fmla="*/ 218 h 277"/>
                <a:gd name="T10" fmla="*/ 191 w 255"/>
                <a:gd name="T11" fmla="*/ 201 h 277"/>
                <a:gd name="T12" fmla="*/ 191 w 255"/>
                <a:gd name="T13" fmla="*/ 55 h 277"/>
                <a:gd name="T14" fmla="*/ 218 w 255"/>
                <a:gd name="T15" fmla="*/ 38 h 277"/>
                <a:gd name="T16" fmla="*/ 196 w 255"/>
                <a:gd name="T17" fmla="*/ 69 h 277"/>
                <a:gd name="T18" fmla="*/ 191 w 255"/>
                <a:gd name="T19" fmla="*/ 71 h 277"/>
                <a:gd name="T20" fmla="*/ 249 w 255"/>
                <a:gd name="T21" fmla="*/ 121 h 277"/>
                <a:gd name="T22" fmla="*/ 211 w 255"/>
                <a:gd name="T23" fmla="*/ 128 h 277"/>
                <a:gd name="T24" fmla="*/ 249 w 255"/>
                <a:gd name="T25" fmla="*/ 134 h 277"/>
                <a:gd name="T26" fmla="*/ 249 w 255"/>
                <a:gd name="T27" fmla="*/ 121 h 277"/>
                <a:gd name="T28" fmla="*/ 132 w 255"/>
                <a:gd name="T29" fmla="*/ 277 h 277"/>
                <a:gd name="T30" fmla="*/ 167 w 255"/>
                <a:gd name="T31" fmla="*/ 186 h 277"/>
                <a:gd name="T32" fmla="*/ 191 w 255"/>
                <a:gd name="T33" fmla="*/ 98 h 277"/>
                <a:gd name="T34" fmla="*/ 127 w 255"/>
                <a:gd name="T35" fmla="*/ 72 h 277"/>
                <a:gd name="T36" fmla="*/ 183 w 255"/>
                <a:gd name="T37" fmla="*/ 128 h 277"/>
                <a:gd name="T38" fmla="*/ 156 w 255"/>
                <a:gd name="T39" fmla="*/ 176 h 277"/>
                <a:gd name="T40" fmla="*/ 153 w 255"/>
                <a:gd name="T41" fmla="*/ 214 h 277"/>
                <a:gd name="T42" fmla="*/ 127 w 255"/>
                <a:gd name="T43" fmla="*/ 277 h 277"/>
                <a:gd name="T44" fmla="*/ 191 w 255"/>
                <a:gd name="T45" fmla="*/ 71 h 277"/>
                <a:gd name="T46" fmla="*/ 186 w 255"/>
                <a:gd name="T47" fmla="*/ 60 h 277"/>
                <a:gd name="T48" fmla="*/ 191 w 255"/>
                <a:gd name="T49" fmla="*/ 185 h 277"/>
                <a:gd name="T50" fmla="*/ 186 w 255"/>
                <a:gd name="T51" fmla="*/ 196 h 277"/>
                <a:gd name="T52" fmla="*/ 191 w 255"/>
                <a:gd name="T53" fmla="*/ 185 h 277"/>
                <a:gd name="T54" fmla="*/ 127 w 255"/>
                <a:gd name="T55" fmla="*/ 0 h 277"/>
                <a:gd name="T56" fmla="*/ 134 w 255"/>
                <a:gd name="T57" fmla="*/ 7 h 277"/>
                <a:gd name="T58" fmla="*/ 128 w 255"/>
                <a:gd name="T59" fmla="*/ 45 h 277"/>
                <a:gd name="T60" fmla="*/ 127 w 255"/>
                <a:gd name="T61" fmla="*/ 45 h 277"/>
                <a:gd name="T62" fmla="*/ 64 w 255"/>
                <a:gd name="T63" fmla="*/ 97 h 277"/>
                <a:gd name="T64" fmla="*/ 89 w 255"/>
                <a:gd name="T65" fmla="*/ 187 h 277"/>
                <a:gd name="T66" fmla="*/ 124 w 255"/>
                <a:gd name="T67" fmla="*/ 277 h 277"/>
                <a:gd name="T68" fmla="*/ 127 w 255"/>
                <a:gd name="T69" fmla="*/ 214 h 277"/>
                <a:gd name="T70" fmla="*/ 103 w 255"/>
                <a:gd name="T71" fmla="*/ 183 h 277"/>
                <a:gd name="T72" fmla="*/ 71 w 255"/>
                <a:gd name="T73" fmla="*/ 128 h 277"/>
                <a:gd name="T74" fmla="*/ 127 w 255"/>
                <a:gd name="T75" fmla="*/ 72 h 277"/>
                <a:gd name="T76" fmla="*/ 127 w 255"/>
                <a:gd name="T77" fmla="*/ 57 h 277"/>
                <a:gd name="T78" fmla="*/ 127 w 255"/>
                <a:gd name="T79" fmla="*/ 0 h 277"/>
                <a:gd name="T80" fmla="*/ 121 w 255"/>
                <a:gd name="T81" fmla="*/ 38 h 277"/>
                <a:gd name="T82" fmla="*/ 127 w 255"/>
                <a:gd name="T83" fmla="*/ 0 h 277"/>
                <a:gd name="T84" fmla="*/ 64 w 255"/>
                <a:gd name="T85" fmla="*/ 185 h 277"/>
                <a:gd name="T86" fmla="*/ 69 w 255"/>
                <a:gd name="T87" fmla="*/ 196 h 277"/>
                <a:gd name="T88" fmla="*/ 64 w 255"/>
                <a:gd name="T89" fmla="*/ 71 h 277"/>
                <a:gd name="T90" fmla="*/ 69 w 255"/>
                <a:gd name="T91" fmla="*/ 60 h 277"/>
                <a:gd name="T92" fmla="*/ 64 w 255"/>
                <a:gd name="T93" fmla="*/ 71 h 277"/>
                <a:gd name="T94" fmla="*/ 57 w 255"/>
                <a:gd name="T95" fmla="*/ 128 h 277"/>
                <a:gd name="T96" fmla="*/ 64 w 255"/>
                <a:gd name="T97" fmla="*/ 97 h 277"/>
                <a:gd name="T98" fmla="*/ 64 w 255"/>
                <a:gd name="T99" fmla="*/ 71 h 277"/>
                <a:gd name="T100" fmla="*/ 60 w 255"/>
                <a:gd name="T101" fmla="*/ 69 h 277"/>
                <a:gd name="T102" fmla="*/ 38 w 255"/>
                <a:gd name="T103" fmla="*/ 38 h 277"/>
                <a:gd name="T104" fmla="*/ 64 w 255"/>
                <a:gd name="T105" fmla="*/ 55 h 277"/>
                <a:gd name="T106" fmla="*/ 64 w 255"/>
                <a:gd name="T107" fmla="*/ 201 h 277"/>
                <a:gd name="T108" fmla="*/ 38 w 255"/>
                <a:gd name="T109" fmla="*/ 218 h 277"/>
                <a:gd name="T110" fmla="*/ 60 w 255"/>
                <a:gd name="T111" fmla="*/ 187 h 277"/>
                <a:gd name="T112" fmla="*/ 64 w 255"/>
                <a:gd name="T113" fmla="*/ 185 h 277"/>
                <a:gd name="T114" fmla="*/ 45 w 255"/>
                <a:gd name="T115" fmla="*/ 128 h 277"/>
                <a:gd name="T116" fmla="*/ 7 w 255"/>
                <a:gd name="T117" fmla="*/ 121 h 277"/>
                <a:gd name="T118" fmla="*/ 7 w 255"/>
                <a:gd name="T119" fmla="*/ 134 h 277"/>
                <a:gd name="T120" fmla="*/ 45 w 255"/>
                <a:gd name="T121" fmla="*/ 128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5" h="277">
                  <a:moveTo>
                    <a:pt x="191" y="158"/>
                  </a:moveTo>
                  <a:cubicBezTo>
                    <a:pt x="195" y="149"/>
                    <a:pt x="198" y="139"/>
                    <a:pt x="198" y="128"/>
                  </a:cubicBezTo>
                  <a:cubicBezTo>
                    <a:pt x="198" y="117"/>
                    <a:pt x="195" y="107"/>
                    <a:pt x="191" y="98"/>
                  </a:cubicBezTo>
                  <a:cubicBezTo>
                    <a:pt x="191" y="158"/>
                    <a:pt x="191" y="158"/>
                    <a:pt x="191" y="158"/>
                  </a:cubicBezTo>
                  <a:close/>
                  <a:moveTo>
                    <a:pt x="191" y="201"/>
                  </a:moveTo>
                  <a:cubicBezTo>
                    <a:pt x="191" y="185"/>
                    <a:pt x="191" y="185"/>
                    <a:pt x="191" y="185"/>
                  </a:cubicBezTo>
                  <a:cubicBezTo>
                    <a:pt x="193" y="185"/>
                    <a:pt x="194" y="185"/>
                    <a:pt x="196" y="187"/>
                  </a:cubicBezTo>
                  <a:cubicBezTo>
                    <a:pt x="196" y="187"/>
                    <a:pt x="196" y="187"/>
                    <a:pt x="196" y="187"/>
                  </a:cubicBezTo>
                  <a:cubicBezTo>
                    <a:pt x="218" y="209"/>
                    <a:pt x="218" y="209"/>
                    <a:pt x="218" y="209"/>
                  </a:cubicBezTo>
                  <a:cubicBezTo>
                    <a:pt x="220" y="211"/>
                    <a:pt x="220" y="216"/>
                    <a:pt x="218" y="218"/>
                  </a:cubicBezTo>
                  <a:cubicBezTo>
                    <a:pt x="215" y="221"/>
                    <a:pt x="211" y="221"/>
                    <a:pt x="209" y="218"/>
                  </a:cubicBezTo>
                  <a:cubicBezTo>
                    <a:pt x="191" y="201"/>
                    <a:pt x="191" y="201"/>
                    <a:pt x="191" y="201"/>
                  </a:cubicBezTo>
                  <a:close/>
                  <a:moveTo>
                    <a:pt x="191" y="71"/>
                  </a:moveTo>
                  <a:cubicBezTo>
                    <a:pt x="191" y="55"/>
                    <a:pt x="191" y="55"/>
                    <a:pt x="191" y="55"/>
                  </a:cubicBezTo>
                  <a:cubicBezTo>
                    <a:pt x="209" y="38"/>
                    <a:pt x="209" y="38"/>
                    <a:pt x="209" y="38"/>
                  </a:cubicBezTo>
                  <a:cubicBezTo>
                    <a:pt x="211" y="35"/>
                    <a:pt x="215" y="35"/>
                    <a:pt x="218" y="38"/>
                  </a:cubicBezTo>
                  <a:cubicBezTo>
                    <a:pt x="220" y="40"/>
                    <a:pt x="220" y="44"/>
                    <a:pt x="218" y="47"/>
                  </a:cubicBezTo>
                  <a:cubicBezTo>
                    <a:pt x="196" y="69"/>
                    <a:pt x="196" y="69"/>
                    <a:pt x="196" y="69"/>
                  </a:cubicBezTo>
                  <a:cubicBezTo>
                    <a:pt x="196" y="69"/>
                    <a:pt x="196" y="69"/>
                    <a:pt x="196" y="69"/>
                  </a:cubicBezTo>
                  <a:cubicBezTo>
                    <a:pt x="194" y="71"/>
                    <a:pt x="193" y="71"/>
                    <a:pt x="191" y="71"/>
                  </a:cubicBezTo>
                  <a:close/>
                  <a:moveTo>
                    <a:pt x="249" y="121"/>
                  </a:moveTo>
                  <a:cubicBezTo>
                    <a:pt x="249" y="121"/>
                    <a:pt x="249" y="121"/>
                    <a:pt x="249" y="121"/>
                  </a:cubicBezTo>
                  <a:cubicBezTo>
                    <a:pt x="217" y="121"/>
                    <a:pt x="217" y="121"/>
                    <a:pt x="217" y="121"/>
                  </a:cubicBezTo>
                  <a:cubicBezTo>
                    <a:pt x="214" y="121"/>
                    <a:pt x="211" y="124"/>
                    <a:pt x="211" y="128"/>
                  </a:cubicBezTo>
                  <a:cubicBezTo>
                    <a:pt x="211" y="132"/>
                    <a:pt x="214" y="134"/>
                    <a:pt x="217" y="134"/>
                  </a:cubicBezTo>
                  <a:cubicBezTo>
                    <a:pt x="249" y="134"/>
                    <a:pt x="249" y="134"/>
                    <a:pt x="249" y="134"/>
                  </a:cubicBezTo>
                  <a:cubicBezTo>
                    <a:pt x="252" y="134"/>
                    <a:pt x="255" y="132"/>
                    <a:pt x="255" y="128"/>
                  </a:cubicBezTo>
                  <a:cubicBezTo>
                    <a:pt x="255" y="124"/>
                    <a:pt x="252" y="121"/>
                    <a:pt x="249" y="121"/>
                  </a:cubicBezTo>
                  <a:close/>
                  <a:moveTo>
                    <a:pt x="127" y="277"/>
                  </a:moveTo>
                  <a:cubicBezTo>
                    <a:pt x="132" y="277"/>
                    <a:pt x="132" y="277"/>
                    <a:pt x="132" y="277"/>
                  </a:cubicBezTo>
                  <a:cubicBezTo>
                    <a:pt x="151" y="277"/>
                    <a:pt x="167" y="262"/>
                    <a:pt x="167" y="242"/>
                  </a:cubicBezTo>
                  <a:cubicBezTo>
                    <a:pt x="167" y="186"/>
                    <a:pt x="167" y="186"/>
                    <a:pt x="167" y="186"/>
                  </a:cubicBezTo>
                  <a:cubicBezTo>
                    <a:pt x="177" y="179"/>
                    <a:pt x="186" y="169"/>
                    <a:pt x="191" y="158"/>
                  </a:cubicBezTo>
                  <a:cubicBezTo>
                    <a:pt x="191" y="98"/>
                    <a:pt x="191" y="98"/>
                    <a:pt x="191" y="98"/>
                  </a:cubicBezTo>
                  <a:cubicBezTo>
                    <a:pt x="180" y="74"/>
                    <a:pt x="156" y="57"/>
                    <a:pt x="127" y="57"/>
                  </a:cubicBezTo>
                  <a:cubicBezTo>
                    <a:pt x="127" y="72"/>
                    <a:pt x="127" y="72"/>
                    <a:pt x="127" y="72"/>
                  </a:cubicBezTo>
                  <a:cubicBezTo>
                    <a:pt x="143" y="72"/>
                    <a:pt x="157" y="78"/>
                    <a:pt x="167" y="88"/>
                  </a:cubicBezTo>
                  <a:cubicBezTo>
                    <a:pt x="177" y="98"/>
                    <a:pt x="183" y="112"/>
                    <a:pt x="183" y="128"/>
                  </a:cubicBezTo>
                  <a:cubicBezTo>
                    <a:pt x="183" y="148"/>
                    <a:pt x="172" y="166"/>
                    <a:pt x="156" y="176"/>
                  </a:cubicBezTo>
                  <a:cubicBezTo>
                    <a:pt x="156" y="176"/>
                    <a:pt x="156" y="176"/>
                    <a:pt x="156" y="176"/>
                  </a:cubicBezTo>
                  <a:cubicBezTo>
                    <a:pt x="154" y="177"/>
                    <a:pt x="153" y="180"/>
                    <a:pt x="153" y="182"/>
                  </a:cubicBezTo>
                  <a:cubicBezTo>
                    <a:pt x="153" y="214"/>
                    <a:pt x="153" y="214"/>
                    <a:pt x="153" y="214"/>
                  </a:cubicBezTo>
                  <a:cubicBezTo>
                    <a:pt x="127" y="214"/>
                    <a:pt x="127" y="214"/>
                    <a:pt x="127" y="214"/>
                  </a:cubicBezTo>
                  <a:cubicBezTo>
                    <a:pt x="127" y="277"/>
                    <a:pt x="127" y="277"/>
                    <a:pt x="127" y="277"/>
                  </a:cubicBezTo>
                  <a:close/>
                  <a:moveTo>
                    <a:pt x="191" y="55"/>
                  </a:moveTo>
                  <a:cubicBezTo>
                    <a:pt x="191" y="71"/>
                    <a:pt x="191" y="71"/>
                    <a:pt x="191" y="71"/>
                  </a:cubicBezTo>
                  <a:cubicBezTo>
                    <a:pt x="189" y="71"/>
                    <a:pt x="188" y="71"/>
                    <a:pt x="186" y="69"/>
                  </a:cubicBezTo>
                  <a:cubicBezTo>
                    <a:pt x="184" y="67"/>
                    <a:pt x="184" y="63"/>
                    <a:pt x="186" y="60"/>
                  </a:cubicBezTo>
                  <a:cubicBezTo>
                    <a:pt x="191" y="55"/>
                    <a:pt x="191" y="55"/>
                    <a:pt x="191" y="55"/>
                  </a:cubicBezTo>
                  <a:close/>
                  <a:moveTo>
                    <a:pt x="191" y="185"/>
                  </a:moveTo>
                  <a:cubicBezTo>
                    <a:pt x="191" y="201"/>
                    <a:pt x="191" y="201"/>
                    <a:pt x="191" y="201"/>
                  </a:cubicBezTo>
                  <a:cubicBezTo>
                    <a:pt x="186" y="196"/>
                    <a:pt x="186" y="196"/>
                    <a:pt x="186" y="196"/>
                  </a:cubicBezTo>
                  <a:cubicBezTo>
                    <a:pt x="184" y="193"/>
                    <a:pt x="184" y="189"/>
                    <a:pt x="186" y="187"/>
                  </a:cubicBezTo>
                  <a:cubicBezTo>
                    <a:pt x="188" y="185"/>
                    <a:pt x="189" y="185"/>
                    <a:pt x="191" y="185"/>
                  </a:cubicBezTo>
                  <a:close/>
                  <a:moveTo>
                    <a:pt x="127" y="45"/>
                  </a:moveTo>
                  <a:cubicBezTo>
                    <a:pt x="127" y="0"/>
                    <a:pt x="127" y="0"/>
                    <a:pt x="127" y="0"/>
                  </a:cubicBezTo>
                  <a:cubicBezTo>
                    <a:pt x="127" y="0"/>
                    <a:pt x="128" y="0"/>
                    <a:pt x="128" y="0"/>
                  </a:cubicBezTo>
                  <a:cubicBezTo>
                    <a:pt x="131" y="0"/>
                    <a:pt x="134" y="3"/>
                    <a:pt x="134" y="7"/>
                  </a:cubicBezTo>
                  <a:cubicBezTo>
                    <a:pt x="134" y="38"/>
                    <a:pt x="134" y="38"/>
                    <a:pt x="134" y="38"/>
                  </a:cubicBezTo>
                  <a:cubicBezTo>
                    <a:pt x="134" y="42"/>
                    <a:pt x="131" y="45"/>
                    <a:pt x="128" y="45"/>
                  </a:cubicBezTo>
                  <a:cubicBezTo>
                    <a:pt x="128" y="45"/>
                    <a:pt x="128" y="45"/>
                    <a:pt x="128" y="45"/>
                  </a:cubicBezTo>
                  <a:cubicBezTo>
                    <a:pt x="128" y="45"/>
                    <a:pt x="127" y="45"/>
                    <a:pt x="127" y="45"/>
                  </a:cubicBezTo>
                  <a:close/>
                  <a:moveTo>
                    <a:pt x="127" y="57"/>
                  </a:moveTo>
                  <a:cubicBezTo>
                    <a:pt x="99" y="57"/>
                    <a:pt x="75" y="74"/>
                    <a:pt x="64" y="97"/>
                  </a:cubicBezTo>
                  <a:cubicBezTo>
                    <a:pt x="64" y="159"/>
                    <a:pt x="64" y="159"/>
                    <a:pt x="64" y="159"/>
                  </a:cubicBezTo>
                  <a:cubicBezTo>
                    <a:pt x="70" y="170"/>
                    <a:pt x="78" y="180"/>
                    <a:pt x="89" y="187"/>
                  </a:cubicBezTo>
                  <a:cubicBezTo>
                    <a:pt x="89" y="242"/>
                    <a:pt x="89" y="242"/>
                    <a:pt x="89" y="242"/>
                  </a:cubicBezTo>
                  <a:cubicBezTo>
                    <a:pt x="89" y="262"/>
                    <a:pt x="104" y="277"/>
                    <a:pt x="124" y="277"/>
                  </a:cubicBezTo>
                  <a:cubicBezTo>
                    <a:pt x="127" y="277"/>
                    <a:pt x="127" y="277"/>
                    <a:pt x="127" y="277"/>
                  </a:cubicBezTo>
                  <a:cubicBezTo>
                    <a:pt x="127" y="214"/>
                    <a:pt x="127" y="214"/>
                    <a:pt x="127" y="214"/>
                  </a:cubicBezTo>
                  <a:cubicBezTo>
                    <a:pt x="103" y="214"/>
                    <a:pt x="103" y="214"/>
                    <a:pt x="103" y="214"/>
                  </a:cubicBezTo>
                  <a:cubicBezTo>
                    <a:pt x="103" y="183"/>
                    <a:pt x="103" y="183"/>
                    <a:pt x="103" y="183"/>
                  </a:cubicBezTo>
                  <a:cubicBezTo>
                    <a:pt x="103" y="180"/>
                    <a:pt x="102" y="178"/>
                    <a:pt x="100" y="176"/>
                  </a:cubicBezTo>
                  <a:cubicBezTo>
                    <a:pt x="83" y="167"/>
                    <a:pt x="71" y="149"/>
                    <a:pt x="71" y="128"/>
                  </a:cubicBezTo>
                  <a:cubicBezTo>
                    <a:pt x="71" y="112"/>
                    <a:pt x="78" y="98"/>
                    <a:pt x="88" y="88"/>
                  </a:cubicBezTo>
                  <a:cubicBezTo>
                    <a:pt x="98" y="78"/>
                    <a:pt x="112" y="72"/>
                    <a:pt x="127" y="72"/>
                  </a:cubicBezTo>
                  <a:cubicBezTo>
                    <a:pt x="127" y="72"/>
                    <a:pt x="127" y="72"/>
                    <a:pt x="127" y="72"/>
                  </a:cubicBezTo>
                  <a:cubicBezTo>
                    <a:pt x="127" y="57"/>
                    <a:pt x="127" y="57"/>
                    <a:pt x="127" y="57"/>
                  </a:cubicBezTo>
                  <a:cubicBezTo>
                    <a:pt x="127" y="57"/>
                    <a:pt x="127" y="57"/>
                    <a:pt x="127" y="57"/>
                  </a:cubicBezTo>
                  <a:close/>
                  <a:moveTo>
                    <a:pt x="127" y="0"/>
                  </a:moveTo>
                  <a:cubicBezTo>
                    <a:pt x="127" y="45"/>
                    <a:pt x="127" y="45"/>
                    <a:pt x="127" y="45"/>
                  </a:cubicBezTo>
                  <a:cubicBezTo>
                    <a:pt x="124" y="45"/>
                    <a:pt x="121" y="42"/>
                    <a:pt x="121" y="38"/>
                  </a:cubicBezTo>
                  <a:cubicBezTo>
                    <a:pt x="121" y="7"/>
                    <a:pt x="121" y="7"/>
                    <a:pt x="121" y="7"/>
                  </a:cubicBezTo>
                  <a:cubicBezTo>
                    <a:pt x="121" y="4"/>
                    <a:pt x="124" y="1"/>
                    <a:pt x="127" y="0"/>
                  </a:cubicBezTo>
                  <a:close/>
                  <a:moveTo>
                    <a:pt x="64" y="201"/>
                  </a:moveTo>
                  <a:cubicBezTo>
                    <a:pt x="64" y="185"/>
                    <a:pt x="64" y="185"/>
                    <a:pt x="64" y="185"/>
                  </a:cubicBezTo>
                  <a:cubicBezTo>
                    <a:pt x="66" y="185"/>
                    <a:pt x="68" y="185"/>
                    <a:pt x="69" y="187"/>
                  </a:cubicBezTo>
                  <a:cubicBezTo>
                    <a:pt x="72" y="189"/>
                    <a:pt x="72" y="193"/>
                    <a:pt x="69" y="196"/>
                  </a:cubicBezTo>
                  <a:cubicBezTo>
                    <a:pt x="64" y="201"/>
                    <a:pt x="64" y="201"/>
                    <a:pt x="64" y="201"/>
                  </a:cubicBezTo>
                  <a:close/>
                  <a:moveTo>
                    <a:pt x="64" y="71"/>
                  </a:moveTo>
                  <a:cubicBezTo>
                    <a:pt x="64" y="55"/>
                    <a:pt x="64" y="55"/>
                    <a:pt x="64" y="55"/>
                  </a:cubicBezTo>
                  <a:cubicBezTo>
                    <a:pt x="69" y="60"/>
                    <a:pt x="69" y="60"/>
                    <a:pt x="69" y="60"/>
                  </a:cubicBezTo>
                  <a:cubicBezTo>
                    <a:pt x="72" y="63"/>
                    <a:pt x="72" y="67"/>
                    <a:pt x="69" y="69"/>
                  </a:cubicBezTo>
                  <a:cubicBezTo>
                    <a:pt x="68" y="71"/>
                    <a:pt x="66" y="71"/>
                    <a:pt x="64" y="71"/>
                  </a:cubicBezTo>
                  <a:close/>
                  <a:moveTo>
                    <a:pt x="64" y="97"/>
                  </a:moveTo>
                  <a:cubicBezTo>
                    <a:pt x="59" y="106"/>
                    <a:pt x="57" y="117"/>
                    <a:pt x="57" y="128"/>
                  </a:cubicBezTo>
                  <a:cubicBezTo>
                    <a:pt x="57" y="139"/>
                    <a:pt x="59" y="149"/>
                    <a:pt x="64" y="159"/>
                  </a:cubicBezTo>
                  <a:cubicBezTo>
                    <a:pt x="64" y="97"/>
                    <a:pt x="64" y="97"/>
                    <a:pt x="64" y="97"/>
                  </a:cubicBezTo>
                  <a:close/>
                  <a:moveTo>
                    <a:pt x="64" y="55"/>
                  </a:moveTo>
                  <a:cubicBezTo>
                    <a:pt x="64" y="71"/>
                    <a:pt x="64" y="71"/>
                    <a:pt x="64" y="71"/>
                  </a:cubicBezTo>
                  <a:cubicBezTo>
                    <a:pt x="62" y="71"/>
                    <a:pt x="61" y="70"/>
                    <a:pt x="60" y="69"/>
                  </a:cubicBezTo>
                  <a:cubicBezTo>
                    <a:pt x="60" y="69"/>
                    <a:pt x="60" y="69"/>
                    <a:pt x="60" y="69"/>
                  </a:cubicBezTo>
                  <a:cubicBezTo>
                    <a:pt x="38" y="47"/>
                    <a:pt x="38" y="47"/>
                    <a:pt x="38" y="47"/>
                  </a:cubicBezTo>
                  <a:cubicBezTo>
                    <a:pt x="35" y="44"/>
                    <a:pt x="35" y="40"/>
                    <a:pt x="38" y="38"/>
                  </a:cubicBezTo>
                  <a:cubicBezTo>
                    <a:pt x="40" y="35"/>
                    <a:pt x="44" y="35"/>
                    <a:pt x="47" y="38"/>
                  </a:cubicBezTo>
                  <a:cubicBezTo>
                    <a:pt x="64" y="55"/>
                    <a:pt x="64" y="55"/>
                    <a:pt x="64" y="55"/>
                  </a:cubicBezTo>
                  <a:close/>
                  <a:moveTo>
                    <a:pt x="64" y="185"/>
                  </a:moveTo>
                  <a:cubicBezTo>
                    <a:pt x="64" y="201"/>
                    <a:pt x="64" y="201"/>
                    <a:pt x="64" y="201"/>
                  </a:cubicBezTo>
                  <a:cubicBezTo>
                    <a:pt x="47" y="218"/>
                    <a:pt x="47" y="218"/>
                    <a:pt x="47" y="218"/>
                  </a:cubicBezTo>
                  <a:cubicBezTo>
                    <a:pt x="44" y="221"/>
                    <a:pt x="40" y="221"/>
                    <a:pt x="38" y="218"/>
                  </a:cubicBezTo>
                  <a:cubicBezTo>
                    <a:pt x="35" y="216"/>
                    <a:pt x="35" y="211"/>
                    <a:pt x="38" y="209"/>
                  </a:cubicBezTo>
                  <a:cubicBezTo>
                    <a:pt x="60" y="187"/>
                    <a:pt x="60" y="187"/>
                    <a:pt x="60" y="187"/>
                  </a:cubicBezTo>
                  <a:cubicBezTo>
                    <a:pt x="60" y="187"/>
                    <a:pt x="60" y="187"/>
                    <a:pt x="60" y="187"/>
                  </a:cubicBezTo>
                  <a:cubicBezTo>
                    <a:pt x="61" y="185"/>
                    <a:pt x="62" y="185"/>
                    <a:pt x="64" y="185"/>
                  </a:cubicBezTo>
                  <a:close/>
                  <a:moveTo>
                    <a:pt x="45" y="128"/>
                  </a:moveTo>
                  <a:cubicBezTo>
                    <a:pt x="45" y="128"/>
                    <a:pt x="45" y="128"/>
                    <a:pt x="45" y="128"/>
                  </a:cubicBezTo>
                  <a:cubicBezTo>
                    <a:pt x="45" y="124"/>
                    <a:pt x="42" y="121"/>
                    <a:pt x="38" y="121"/>
                  </a:cubicBezTo>
                  <a:cubicBezTo>
                    <a:pt x="7" y="121"/>
                    <a:pt x="7" y="121"/>
                    <a:pt x="7" y="121"/>
                  </a:cubicBezTo>
                  <a:cubicBezTo>
                    <a:pt x="3" y="121"/>
                    <a:pt x="0" y="124"/>
                    <a:pt x="0" y="128"/>
                  </a:cubicBezTo>
                  <a:cubicBezTo>
                    <a:pt x="0" y="132"/>
                    <a:pt x="3" y="134"/>
                    <a:pt x="7" y="134"/>
                  </a:cubicBezTo>
                  <a:cubicBezTo>
                    <a:pt x="38" y="134"/>
                    <a:pt x="38" y="134"/>
                    <a:pt x="38" y="134"/>
                  </a:cubicBezTo>
                  <a:cubicBezTo>
                    <a:pt x="42" y="134"/>
                    <a:pt x="45" y="132"/>
                    <a:pt x="45" y="128"/>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58" name="Freeform 57">
              <a:extLst>
                <a:ext uri="{FF2B5EF4-FFF2-40B4-BE49-F238E27FC236}">
                  <a16:creationId xmlns:a16="http://schemas.microsoft.com/office/drawing/2014/main" id="{E41FA7A2-F0CE-4DC4-868A-08DCA35FC986}"/>
                </a:ext>
              </a:extLst>
            </p:cNvPr>
            <p:cNvSpPr>
              <a:spLocks noEditPoints="1"/>
            </p:cNvSpPr>
            <p:nvPr/>
          </p:nvSpPr>
          <p:spPr bwMode="auto">
            <a:xfrm>
              <a:off x="2423073" y="1783483"/>
              <a:ext cx="396375" cy="389233"/>
            </a:xfrm>
            <a:custGeom>
              <a:avLst/>
              <a:gdLst>
                <a:gd name="T0" fmla="*/ 231 w 243"/>
                <a:gd name="T1" fmla="*/ 92 h 238"/>
                <a:gd name="T2" fmla="*/ 214 w 243"/>
                <a:gd name="T3" fmla="*/ 83 h 238"/>
                <a:gd name="T4" fmla="*/ 206 w 243"/>
                <a:gd name="T5" fmla="*/ 71 h 238"/>
                <a:gd name="T6" fmla="*/ 192 w 243"/>
                <a:gd name="T7" fmla="*/ 82 h 238"/>
                <a:gd name="T8" fmla="*/ 194 w 243"/>
                <a:gd name="T9" fmla="*/ 64 h 238"/>
                <a:gd name="T10" fmla="*/ 179 w 243"/>
                <a:gd name="T11" fmla="*/ 64 h 238"/>
                <a:gd name="T12" fmla="*/ 162 w 243"/>
                <a:gd name="T13" fmla="*/ 54 h 238"/>
                <a:gd name="T14" fmla="*/ 154 w 243"/>
                <a:gd name="T15" fmla="*/ 42 h 238"/>
                <a:gd name="T16" fmla="*/ 140 w 243"/>
                <a:gd name="T17" fmla="*/ 53 h 238"/>
                <a:gd name="T18" fmla="*/ 142 w 243"/>
                <a:gd name="T19" fmla="*/ 35 h 238"/>
                <a:gd name="T20" fmla="*/ 128 w 243"/>
                <a:gd name="T21" fmla="*/ 35 h 238"/>
                <a:gd name="T22" fmla="*/ 110 w 243"/>
                <a:gd name="T23" fmla="*/ 25 h 238"/>
                <a:gd name="T24" fmla="*/ 102 w 243"/>
                <a:gd name="T25" fmla="*/ 13 h 238"/>
                <a:gd name="T26" fmla="*/ 101 w 243"/>
                <a:gd name="T27" fmla="*/ 22 h 238"/>
                <a:gd name="T28" fmla="*/ 208 w 243"/>
                <a:gd name="T29" fmla="*/ 128 h 238"/>
                <a:gd name="T30" fmla="*/ 206 w 243"/>
                <a:gd name="T31" fmla="*/ 132 h 238"/>
                <a:gd name="T32" fmla="*/ 101 w 243"/>
                <a:gd name="T33" fmla="*/ 74 h 238"/>
                <a:gd name="T34" fmla="*/ 196 w 243"/>
                <a:gd name="T35" fmla="*/ 149 h 238"/>
                <a:gd name="T36" fmla="*/ 194 w 243"/>
                <a:gd name="T37" fmla="*/ 153 h 238"/>
                <a:gd name="T38" fmla="*/ 101 w 243"/>
                <a:gd name="T39" fmla="*/ 101 h 238"/>
                <a:gd name="T40" fmla="*/ 185 w 243"/>
                <a:gd name="T41" fmla="*/ 170 h 238"/>
                <a:gd name="T42" fmla="*/ 182 w 243"/>
                <a:gd name="T43" fmla="*/ 174 h 238"/>
                <a:gd name="T44" fmla="*/ 101 w 243"/>
                <a:gd name="T45" fmla="*/ 129 h 238"/>
                <a:gd name="T46" fmla="*/ 173 w 243"/>
                <a:gd name="T47" fmla="*/ 191 h 238"/>
                <a:gd name="T48" fmla="*/ 171 w 243"/>
                <a:gd name="T49" fmla="*/ 195 h 238"/>
                <a:gd name="T50" fmla="*/ 101 w 243"/>
                <a:gd name="T51" fmla="*/ 156 h 238"/>
                <a:gd name="T52" fmla="*/ 138 w 243"/>
                <a:gd name="T53" fmla="*/ 231 h 238"/>
                <a:gd name="T54" fmla="*/ 243 w 243"/>
                <a:gd name="T55" fmla="*/ 91 h 238"/>
                <a:gd name="T56" fmla="*/ 101 w 243"/>
                <a:gd name="T57" fmla="*/ 22 h 238"/>
                <a:gd name="T58" fmla="*/ 85 w 243"/>
                <a:gd name="T59" fmla="*/ 11 h 238"/>
                <a:gd name="T60" fmla="*/ 78 w 243"/>
                <a:gd name="T61" fmla="*/ 0 h 238"/>
                <a:gd name="T62" fmla="*/ 15 w 243"/>
                <a:gd name="T63" fmla="*/ 163 h 238"/>
                <a:gd name="T64" fmla="*/ 101 w 243"/>
                <a:gd name="T65" fmla="*/ 156 h 238"/>
                <a:gd name="T66" fmla="*/ 27 w 243"/>
                <a:gd name="T67" fmla="*/ 113 h 238"/>
                <a:gd name="T68" fmla="*/ 101 w 243"/>
                <a:gd name="T69" fmla="*/ 151 h 238"/>
                <a:gd name="T70" fmla="*/ 40 w 243"/>
                <a:gd name="T71" fmla="*/ 95 h 238"/>
                <a:gd name="T72" fmla="*/ 42 w 243"/>
                <a:gd name="T73" fmla="*/ 91 h 238"/>
                <a:gd name="T74" fmla="*/ 101 w 243"/>
                <a:gd name="T75" fmla="*/ 101 h 238"/>
                <a:gd name="T76" fmla="*/ 51 w 243"/>
                <a:gd name="T77" fmla="*/ 71 h 238"/>
                <a:gd name="T78" fmla="*/ 101 w 243"/>
                <a:gd name="T79" fmla="*/ 96 h 238"/>
                <a:gd name="T80" fmla="*/ 63 w 243"/>
                <a:gd name="T81" fmla="*/ 53 h 238"/>
                <a:gd name="T82" fmla="*/ 65 w 243"/>
                <a:gd name="T83" fmla="*/ 49 h 238"/>
                <a:gd name="T84" fmla="*/ 101 w 243"/>
                <a:gd name="T85" fmla="*/ 2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43" h="238">
                  <a:moveTo>
                    <a:pt x="232" y="85"/>
                  </a:moveTo>
                  <a:cubicBezTo>
                    <a:pt x="233" y="87"/>
                    <a:pt x="233" y="90"/>
                    <a:pt x="231" y="92"/>
                  </a:cubicBezTo>
                  <a:cubicBezTo>
                    <a:pt x="229" y="97"/>
                    <a:pt x="223" y="99"/>
                    <a:pt x="218" y="96"/>
                  </a:cubicBezTo>
                  <a:cubicBezTo>
                    <a:pt x="213" y="94"/>
                    <a:pt x="212" y="88"/>
                    <a:pt x="214" y="83"/>
                  </a:cubicBezTo>
                  <a:cubicBezTo>
                    <a:pt x="216" y="81"/>
                    <a:pt x="218" y="79"/>
                    <a:pt x="220" y="78"/>
                  </a:cubicBezTo>
                  <a:cubicBezTo>
                    <a:pt x="206" y="71"/>
                    <a:pt x="206" y="71"/>
                    <a:pt x="206" y="71"/>
                  </a:cubicBezTo>
                  <a:cubicBezTo>
                    <a:pt x="207" y="73"/>
                    <a:pt x="207" y="76"/>
                    <a:pt x="205" y="78"/>
                  </a:cubicBezTo>
                  <a:cubicBezTo>
                    <a:pt x="203" y="83"/>
                    <a:pt x="197" y="84"/>
                    <a:pt x="192" y="82"/>
                  </a:cubicBezTo>
                  <a:cubicBezTo>
                    <a:pt x="188" y="79"/>
                    <a:pt x="186" y="73"/>
                    <a:pt x="188" y="69"/>
                  </a:cubicBezTo>
                  <a:cubicBezTo>
                    <a:pt x="190" y="66"/>
                    <a:pt x="192" y="65"/>
                    <a:pt x="194" y="64"/>
                  </a:cubicBezTo>
                  <a:cubicBezTo>
                    <a:pt x="180" y="56"/>
                    <a:pt x="180" y="56"/>
                    <a:pt x="180" y="56"/>
                  </a:cubicBezTo>
                  <a:cubicBezTo>
                    <a:pt x="181" y="59"/>
                    <a:pt x="181" y="61"/>
                    <a:pt x="179" y="64"/>
                  </a:cubicBezTo>
                  <a:cubicBezTo>
                    <a:pt x="177" y="68"/>
                    <a:pt x="171" y="70"/>
                    <a:pt x="166" y="67"/>
                  </a:cubicBezTo>
                  <a:cubicBezTo>
                    <a:pt x="161" y="65"/>
                    <a:pt x="160" y="59"/>
                    <a:pt x="162" y="54"/>
                  </a:cubicBezTo>
                  <a:cubicBezTo>
                    <a:pt x="164" y="52"/>
                    <a:pt x="166" y="50"/>
                    <a:pt x="168" y="50"/>
                  </a:cubicBezTo>
                  <a:cubicBezTo>
                    <a:pt x="154" y="42"/>
                    <a:pt x="154" y="42"/>
                    <a:pt x="154" y="42"/>
                  </a:cubicBezTo>
                  <a:cubicBezTo>
                    <a:pt x="155" y="44"/>
                    <a:pt x="155" y="47"/>
                    <a:pt x="153" y="49"/>
                  </a:cubicBezTo>
                  <a:cubicBezTo>
                    <a:pt x="151" y="54"/>
                    <a:pt x="145" y="56"/>
                    <a:pt x="140" y="53"/>
                  </a:cubicBezTo>
                  <a:cubicBezTo>
                    <a:pt x="136" y="50"/>
                    <a:pt x="134" y="45"/>
                    <a:pt x="136" y="40"/>
                  </a:cubicBezTo>
                  <a:cubicBezTo>
                    <a:pt x="138" y="37"/>
                    <a:pt x="140" y="36"/>
                    <a:pt x="142" y="35"/>
                  </a:cubicBezTo>
                  <a:cubicBezTo>
                    <a:pt x="128" y="28"/>
                    <a:pt x="128" y="28"/>
                    <a:pt x="128" y="28"/>
                  </a:cubicBezTo>
                  <a:cubicBezTo>
                    <a:pt x="129" y="30"/>
                    <a:pt x="129" y="33"/>
                    <a:pt x="128" y="35"/>
                  </a:cubicBezTo>
                  <a:cubicBezTo>
                    <a:pt x="125" y="40"/>
                    <a:pt x="119" y="41"/>
                    <a:pt x="114" y="39"/>
                  </a:cubicBezTo>
                  <a:cubicBezTo>
                    <a:pt x="110" y="36"/>
                    <a:pt x="108" y="30"/>
                    <a:pt x="110" y="25"/>
                  </a:cubicBezTo>
                  <a:cubicBezTo>
                    <a:pt x="112" y="23"/>
                    <a:pt x="114" y="22"/>
                    <a:pt x="116" y="21"/>
                  </a:cubicBezTo>
                  <a:cubicBezTo>
                    <a:pt x="102" y="13"/>
                    <a:pt x="102" y="13"/>
                    <a:pt x="102" y="13"/>
                  </a:cubicBezTo>
                  <a:cubicBezTo>
                    <a:pt x="103" y="16"/>
                    <a:pt x="103" y="18"/>
                    <a:pt x="102" y="21"/>
                  </a:cubicBezTo>
                  <a:cubicBezTo>
                    <a:pt x="101" y="21"/>
                    <a:pt x="101" y="22"/>
                    <a:pt x="101" y="22"/>
                  </a:cubicBezTo>
                  <a:cubicBezTo>
                    <a:pt x="101" y="69"/>
                    <a:pt x="101" y="69"/>
                    <a:pt x="101" y="69"/>
                  </a:cubicBezTo>
                  <a:cubicBezTo>
                    <a:pt x="208" y="128"/>
                    <a:pt x="208" y="128"/>
                    <a:pt x="208" y="128"/>
                  </a:cubicBezTo>
                  <a:cubicBezTo>
                    <a:pt x="209" y="129"/>
                    <a:pt x="209" y="130"/>
                    <a:pt x="209" y="131"/>
                  </a:cubicBezTo>
                  <a:cubicBezTo>
                    <a:pt x="208" y="132"/>
                    <a:pt x="207" y="133"/>
                    <a:pt x="206" y="132"/>
                  </a:cubicBezTo>
                  <a:cubicBezTo>
                    <a:pt x="206" y="132"/>
                    <a:pt x="206" y="132"/>
                    <a:pt x="206" y="132"/>
                  </a:cubicBezTo>
                  <a:cubicBezTo>
                    <a:pt x="101" y="74"/>
                    <a:pt x="101" y="74"/>
                    <a:pt x="101" y="74"/>
                  </a:cubicBezTo>
                  <a:cubicBezTo>
                    <a:pt x="101" y="96"/>
                    <a:pt x="101" y="96"/>
                    <a:pt x="101" y="96"/>
                  </a:cubicBezTo>
                  <a:cubicBezTo>
                    <a:pt x="196" y="149"/>
                    <a:pt x="196" y="149"/>
                    <a:pt x="196" y="149"/>
                  </a:cubicBezTo>
                  <a:cubicBezTo>
                    <a:pt x="197" y="150"/>
                    <a:pt x="198" y="151"/>
                    <a:pt x="197" y="152"/>
                  </a:cubicBezTo>
                  <a:cubicBezTo>
                    <a:pt x="197" y="153"/>
                    <a:pt x="195" y="154"/>
                    <a:pt x="194" y="153"/>
                  </a:cubicBezTo>
                  <a:cubicBezTo>
                    <a:pt x="194" y="153"/>
                    <a:pt x="194" y="153"/>
                    <a:pt x="194" y="153"/>
                  </a:cubicBezTo>
                  <a:cubicBezTo>
                    <a:pt x="101" y="101"/>
                    <a:pt x="101" y="101"/>
                    <a:pt x="101" y="101"/>
                  </a:cubicBezTo>
                  <a:cubicBezTo>
                    <a:pt x="101" y="124"/>
                    <a:pt x="101" y="124"/>
                    <a:pt x="101" y="124"/>
                  </a:cubicBezTo>
                  <a:cubicBezTo>
                    <a:pt x="185" y="170"/>
                    <a:pt x="185" y="170"/>
                    <a:pt x="185" y="170"/>
                  </a:cubicBezTo>
                  <a:cubicBezTo>
                    <a:pt x="186" y="171"/>
                    <a:pt x="186" y="172"/>
                    <a:pt x="186" y="173"/>
                  </a:cubicBezTo>
                  <a:cubicBezTo>
                    <a:pt x="185" y="174"/>
                    <a:pt x="184" y="175"/>
                    <a:pt x="182" y="174"/>
                  </a:cubicBezTo>
                  <a:cubicBezTo>
                    <a:pt x="182" y="174"/>
                    <a:pt x="182" y="174"/>
                    <a:pt x="182" y="174"/>
                  </a:cubicBezTo>
                  <a:cubicBezTo>
                    <a:pt x="101" y="129"/>
                    <a:pt x="101" y="129"/>
                    <a:pt x="101" y="129"/>
                  </a:cubicBezTo>
                  <a:cubicBezTo>
                    <a:pt x="101" y="151"/>
                    <a:pt x="101" y="151"/>
                    <a:pt x="101" y="151"/>
                  </a:cubicBezTo>
                  <a:cubicBezTo>
                    <a:pt x="173" y="191"/>
                    <a:pt x="173" y="191"/>
                    <a:pt x="173" y="191"/>
                  </a:cubicBezTo>
                  <a:cubicBezTo>
                    <a:pt x="174" y="192"/>
                    <a:pt x="174" y="193"/>
                    <a:pt x="174" y="194"/>
                  </a:cubicBezTo>
                  <a:cubicBezTo>
                    <a:pt x="173" y="196"/>
                    <a:pt x="172" y="196"/>
                    <a:pt x="171" y="195"/>
                  </a:cubicBezTo>
                  <a:cubicBezTo>
                    <a:pt x="171" y="195"/>
                    <a:pt x="171" y="195"/>
                    <a:pt x="171" y="195"/>
                  </a:cubicBezTo>
                  <a:cubicBezTo>
                    <a:pt x="101" y="156"/>
                    <a:pt x="101" y="156"/>
                    <a:pt x="101" y="156"/>
                  </a:cubicBezTo>
                  <a:cubicBezTo>
                    <a:pt x="101" y="210"/>
                    <a:pt x="101" y="210"/>
                    <a:pt x="101" y="210"/>
                  </a:cubicBezTo>
                  <a:cubicBezTo>
                    <a:pt x="138" y="231"/>
                    <a:pt x="138" y="231"/>
                    <a:pt x="138" y="231"/>
                  </a:cubicBezTo>
                  <a:cubicBezTo>
                    <a:pt x="150" y="238"/>
                    <a:pt x="164" y="233"/>
                    <a:pt x="171" y="222"/>
                  </a:cubicBezTo>
                  <a:cubicBezTo>
                    <a:pt x="243" y="91"/>
                    <a:pt x="243" y="91"/>
                    <a:pt x="243" y="91"/>
                  </a:cubicBezTo>
                  <a:lnTo>
                    <a:pt x="232" y="85"/>
                  </a:lnTo>
                  <a:close/>
                  <a:moveTo>
                    <a:pt x="101" y="22"/>
                  </a:moveTo>
                  <a:cubicBezTo>
                    <a:pt x="98" y="26"/>
                    <a:pt x="93" y="27"/>
                    <a:pt x="88" y="24"/>
                  </a:cubicBezTo>
                  <a:cubicBezTo>
                    <a:pt x="84" y="22"/>
                    <a:pt x="82" y="16"/>
                    <a:pt x="85" y="11"/>
                  </a:cubicBezTo>
                  <a:cubicBezTo>
                    <a:pt x="86" y="9"/>
                    <a:pt x="88" y="7"/>
                    <a:pt x="90" y="6"/>
                  </a:cubicBezTo>
                  <a:cubicBezTo>
                    <a:pt x="78" y="0"/>
                    <a:pt x="78" y="0"/>
                    <a:pt x="78" y="0"/>
                  </a:cubicBezTo>
                  <a:cubicBezTo>
                    <a:pt x="6" y="130"/>
                    <a:pt x="6" y="130"/>
                    <a:pt x="6" y="130"/>
                  </a:cubicBezTo>
                  <a:cubicBezTo>
                    <a:pt x="0" y="142"/>
                    <a:pt x="4" y="157"/>
                    <a:pt x="15" y="163"/>
                  </a:cubicBezTo>
                  <a:cubicBezTo>
                    <a:pt x="101" y="210"/>
                    <a:pt x="101" y="210"/>
                    <a:pt x="101" y="210"/>
                  </a:cubicBezTo>
                  <a:cubicBezTo>
                    <a:pt x="101" y="156"/>
                    <a:pt x="101" y="156"/>
                    <a:pt x="101" y="156"/>
                  </a:cubicBezTo>
                  <a:cubicBezTo>
                    <a:pt x="28" y="116"/>
                    <a:pt x="28" y="116"/>
                    <a:pt x="28" y="116"/>
                  </a:cubicBezTo>
                  <a:cubicBezTo>
                    <a:pt x="27" y="116"/>
                    <a:pt x="27" y="114"/>
                    <a:pt x="27" y="113"/>
                  </a:cubicBezTo>
                  <a:cubicBezTo>
                    <a:pt x="28" y="112"/>
                    <a:pt x="29" y="112"/>
                    <a:pt x="30" y="112"/>
                  </a:cubicBezTo>
                  <a:cubicBezTo>
                    <a:pt x="101" y="151"/>
                    <a:pt x="101" y="151"/>
                    <a:pt x="101" y="151"/>
                  </a:cubicBezTo>
                  <a:cubicBezTo>
                    <a:pt x="101" y="129"/>
                    <a:pt x="101" y="129"/>
                    <a:pt x="101" y="129"/>
                  </a:cubicBezTo>
                  <a:cubicBezTo>
                    <a:pt x="40" y="95"/>
                    <a:pt x="40" y="95"/>
                    <a:pt x="40" y="95"/>
                  </a:cubicBezTo>
                  <a:cubicBezTo>
                    <a:pt x="39" y="95"/>
                    <a:pt x="38" y="93"/>
                    <a:pt x="39" y="92"/>
                  </a:cubicBezTo>
                  <a:cubicBezTo>
                    <a:pt x="40" y="91"/>
                    <a:pt x="41" y="91"/>
                    <a:pt x="42" y="91"/>
                  </a:cubicBezTo>
                  <a:cubicBezTo>
                    <a:pt x="101" y="124"/>
                    <a:pt x="101" y="124"/>
                    <a:pt x="101" y="124"/>
                  </a:cubicBezTo>
                  <a:cubicBezTo>
                    <a:pt x="101" y="101"/>
                    <a:pt x="101" y="101"/>
                    <a:pt x="101" y="101"/>
                  </a:cubicBezTo>
                  <a:cubicBezTo>
                    <a:pt x="51" y="74"/>
                    <a:pt x="51" y="74"/>
                    <a:pt x="51" y="74"/>
                  </a:cubicBezTo>
                  <a:cubicBezTo>
                    <a:pt x="50" y="74"/>
                    <a:pt x="50" y="72"/>
                    <a:pt x="51" y="71"/>
                  </a:cubicBezTo>
                  <a:cubicBezTo>
                    <a:pt x="51" y="70"/>
                    <a:pt x="53" y="70"/>
                    <a:pt x="54" y="70"/>
                  </a:cubicBezTo>
                  <a:cubicBezTo>
                    <a:pt x="101" y="96"/>
                    <a:pt x="101" y="96"/>
                    <a:pt x="101" y="96"/>
                  </a:cubicBezTo>
                  <a:cubicBezTo>
                    <a:pt x="101" y="74"/>
                    <a:pt x="101" y="74"/>
                    <a:pt x="101" y="74"/>
                  </a:cubicBezTo>
                  <a:cubicBezTo>
                    <a:pt x="63" y="53"/>
                    <a:pt x="63" y="53"/>
                    <a:pt x="63" y="53"/>
                  </a:cubicBezTo>
                  <a:cubicBezTo>
                    <a:pt x="62" y="53"/>
                    <a:pt x="62" y="51"/>
                    <a:pt x="62" y="50"/>
                  </a:cubicBezTo>
                  <a:cubicBezTo>
                    <a:pt x="63" y="49"/>
                    <a:pt x="64" y="49"/>
                    <a:pt x="65" y="49"/>
                  </a:cubicBezTo>
                  <a:cubicBezTo>
                    <a:pt x="101" y="69"/>
                    <a:pt x="101" y="69"/>
                    <a:pt x="101" y="69"/>
                  </a:cubicBezTo>
                  <a:lnTo>
                    <a:pt x="101" y="22"/>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59" name="Freeform 58">
              <a:extLst>
                <a:ext uri="{FF2B5EF4-FFF2-40B4-BE49-F238E27FC236}">
                  <a16:creationId xmlns:a16="http://schemas.microsoft.com/office/drawing/2014/main" id="{41BB7C7B-EFA2-4C8E-B597-7970835A30BA}"/>
                </a:ext>
              </a:extLst>
            </p:cNvPr>
            <p:cNvSpPr>
              <a:spLocks noEditPoints="1"/>
            </p:cNvSpPr>
            <p:nvPr/>
          </p:nvSpPr>
          <p:spPr bwMode="auto">
            <a:xfrm>
              <a:off x="1022882" y="3407278"/>
              <a:ext cx="385662" cy="390423"/>
            </a:xfrm>
            <a:custGeom>
              <a:avLst/>
              <a:gdLst>
                <a:gd name="T0" fmla="*/ 189 w 236"/>
                <a:gd name="T1" fmla="*/ 60 h 239"/>
                <a:gd name="T2" fmla="*/ 196 w 236"/>
                <a:gd name="T3" fmla="*/ 122 h 239"/>
                <a:gd name="T4" fmla="*/ 198 w 236"/>
                <a:gd name="T5" fmla="*/ 136 h 239"/>
                <a:gd name="T6" fmla="*/ 208 w 236"/>
                <a:gd name="T7" fmla="*/ 157 h 239"/>
                <a:gd name="T8" fmla="*/ 189 w 236"/>
                <a:gd name="T9" fmla="*/ 195 h 239"/>
                <a:gd name="T10" fmla="*/ 168 w 236"/>
                <a:gd name="T11" fmla="*/ 156 h 239"/>
                <a:gd name="T12" fmla="*/ 168 w 236"/>
                <a:gd name="T13" fmla="*/ 78 h 239"/>
                <a:gd name="T14" fmla="*/ 182 w 236"/>
                <a:gd name="T15" fmla="*/ 92 h 239"/>
                <a:gd name="T16" fmla="*/ 185 w 236"/>
                <a:gd name="T17" fmla="*/ 107 h 239"/>
                <a:gd name="T18" fmla="*/ 189 w 236"/>
                <a:gd name="T19" fmla="*/ 141 h 239"/>
                <a:gd name="T20" fmla="*/ 189 w 236"/>
                <a:gd name="T21" fmla="*/ 130 h 239"/>
                <a:gd name="T22" fmla="*/ 168 w 236"/>
                <a:gd name="T23" fmla="*/ 155 h 239"/>
                <a:gd name="T24" fmla="*/ 160 w 236"/>
                <a:gd name="T25" fmla="*/ 138 h 239"/>
                <a:gd name="T26" fmla="*/ 165 w 236"/>
                <a:gd name="T27" fmla="*/ 172 h 239"/>
                <a:gd name="T28" fmla="*/ 168 w 236"/>
                <a:gd name="T29" fmla="*/ 16 h 239"/>
                <a:gd name="T30" fmla="*/ 163 w 236"/>
                <a:gd name="T31" fmla="*/ 49 h 239"/>
                <a:gd name="T32" fmla="*/ 168 w 236"/>
                <a:gd name="T33" fmla="*/ 78 h 239"/>
                <a:gd name="T34" fmla="*/ 159 w 236"/>
                <a:gd name="T35" fmla="*/ 118 h 239"/>
                <a:gd name="T36" fmla="*/ 159 w 236"/>
                <a:gd name="T37" fmla="*/ 209 h 239"/>
                <a:gd name="T38" fmla="*/ 159 w 236"/>
                <a:gd name="T39" fmla="*/ 5 h 239"/>
                <a:gd name="T40" fmla="*/ 159 w 236"/>
                <a:gd name="T41" fmla="*/ 40 h 239"/>
                <a:gd name="T42" fmla="*/ 144 w 236"/>
                <a:gd name="T43" fmla="*/ 89 h 239"/>
                <a:gd name="T44" fmla="*/ 159 w 236"/>
                <a:gd name="T45" fmla="*/ 108 h 239"/>
                <a:gd name="T46" fmla="*/ 159 w 236"/>
                <a:gd name="T47" fmla="*/ 136 h 239"/>
                <a:gd name="T48" fmla="*/ 144 w 236"/>
                <a:gd name="T49" fmla="*/ 162 h 239"/>
                <a:gd name="T50" fmla="*/ 151 w 236"/>
                <a:gd name="T51" fmla="*/ 143 h 239"/>
                <a:gd name="T52" fmla="*/ 146 w 236"/>
                <a:gd name="T53" fmla="*/ 109 h 239"/>
                <a:gd name="T54" fmla="*/ 123 w 236"/>
                <a:gd name="T55" fmla="*/ 7 h 239"/>
                <a:gd name="T56" fmla="*/ 144 w 236"/>
                <a:gd name="T57" fmla="*/ 0 h 239"/>
                <a:gd name="T58" fmla="*/ 144 w 236"/>
                <a:gd name="T59" fmla="*/ 187 h 239"/>
                <a:gd name="T60" fmla="*/ 123 w 236"/>
                <a:gd name="T61" fmla="*/ 225 h 239"/>
                <a:gd name="T62" fmla="*/ 140 w 236"/>
                <a:gd name="T63" fmla="*/ 96 h 239"/>
                <a:gd name="T64" fmla="*/ 123 w 236"/>
                <a:gd name="T65" fmla="*/ 135 h 239"/>
                <a:gd name="T66" fmla="*/ 137 w 236"/>
                <a:gd name="T67" fmla="*/ 113 h 239"/>
                <a:gd name="T68" fmla="*/ 123 w 236"/>
                <a:gd name="T69" fmla="*/ 82 h 239"/>
                <a:gd name="T70" fmla="*/ 125 w 236"/>
                <a:gd name="T71" fmla="*/ 171 h 239"/>
                <a:gd name="T72" fmla="*/ 123 w 236"/>
                <a:gd name="T73" fmla="*/ 7 h 239"/>
                <a:gd name="T74" fmla="*/ 123 w 236"/>
                <a:gd name="T75" fmla="*/ 7 h 239"/>
                <a:gd name="T76" fmla="*/ 123 w 236"/>
                <a:gd name="T77" fmla="*/ 177 h 239"/>
                <a:gd name="T78" fmla="*/ 121 w 236"/>
                <a:gd name="T79" fmla="*/ 162 h 239"/>
                <a:gd name="T80" fmla="*/ 123 w 236"/>
                <a:gd name="T81" fmla="*/ 135 h 239"/>
                <a:gd name="T82" fmla="*/ 99 w 236"/>
                <a:gd name="T83" fmla="*/ 124 h 239"/>
                <a:gd name="T84" fmla="*/ 106 w 236"/>
                <a:gd name="T85" fmla="*/ 164 h 239"/>
                <a:gd name="T86" fmla="*/ 108 w 236"/>
                <a:gd name="T87" fmla="*/ 179 h 239"/>
                <a:gd name="T88" fmla="*/ 118 w 236"/>
                <a:gd name="T89" fmla="*/ 199 h 239"/>
                <a:gd name="T90" fmla="*/ 123 w 236"/>
                <a:gd name="T91" fmla="*/ 99 h 239"/>
                <a:gd name="T92" fmla="*/ 99 w 236"/>
                <a:gd name="T93" fmla="*/ 18 h 239"/>
                <a:gd name="T94" fmla="*/ 99 w 236"/>
                <a:gd name="T95" fmla="*/ 18 h 239"/>
                <a:gd name="T96" fmla="*/ 89 w 236"/>
                <a:gd name="T97" fmla="*/ 212 h 239"/>
                <a:gd name="T98" fmla="*/ 99 w 236"/>
                <a:gd name="T99" fmla="*/ 183 h 239"/>
                <a:gd name="T100" fmla="*/ 71 w 236"/>
                <a:gd name="T101" fmla="*/ 227 h 239"/>
                <a:gd name="T102" fmla="*/ 95 w 236"/>
                <a:gd name="T103" fmla="*/ 117 h 239"/>
                <a:gd name="T104" fmla="*/ 71 w 236"/>
                <a:gd name="T105" fmla="*/ 160 h 239"/>
                <a:gd name="T106" fmla="*/ 92 w 236"/>
                <a:gd name="T107" fmla="*/ 134 h 239"/>
                <a:gd name="T108" fmla="*/ 71 w 236"/>
                <a:gd name="T109" fmla="*/ 107 h 239"/>
                <a:gd name="T110" fmla="*/ 7 w 236"/>
                <a:gd name="T111" fmla="*/ 91 h 239"/>
                <a:gd name="T112" fmla="*/ 70 w 236"/>
                <a:gd name="T113" fmla="*/ 181 h 239"/>
                <a:gd name="T114" fmla="*/ 71 w 236"/>
                <a:gd name="T115" fmla="*/ 149 h 239"/>
                <a:gd name="T116" fmla="*/ 52 w 236"/>
                <a:gd name="T117" fmla="*/ 133 h 239"/>
                <a:gd name="T118" fmla="*/ 35 w 236"/>
                <a:gd name="T119" fmla="*/ 109 h 239"/>
                <a:gd name="T120" fmla="*/ 71 w 236"/>
                <a:gd name="T121" fmla="*/ 31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6" h="239">
                  <a:moveTo>
                    <a:pt x="189" y="195"/>
                  </a:moveTo>
                  <a:cubicBezTo>
                    <a:pt x="216" y="182"/>
                    <a:pt x="216" y="182"/>
                    <a:pt x="216" y="182"/>
                  </a:cubicBezTo>
                  <a:cubicBezTo>
                    <a:pt x="230" y="176"/>
                    <a:pt x="236" y="159"/>
                    <a:pt x="229" y="146"/>
                  </a:cubicBezTo>
                  <a:cubicBezTo>
                    <a:pt x="189" y="60"/>
                    <a:pt x="189" y="60"/>
                    <a:pt x="189" y="60"/>
                  </a:cubicBezTo>
                  <a:cubicBezTo>
                    <a:pt x="189" y="107"/>
                    <a:pt x="189" y="107"/>
                    <a:pt x="189" y="107"/>
                  </a:cubicBezTo>
                  <a:cubicBezTo>
                    <a:pt x="190" y="108"/>
                    <a:pt x="190" y="108"/>
                    <a:pt x="190" y="109"/>
                  </a:cubicBezTo>
                  <a:cubicBezTo>
                    <a:pt x="196" y="122"/>
                    <a:pt x="196" y="122"/>
                    <a:pt x="196" y="122"/>
                  </a:cubicBezTo>
                  <a:cubicBezTo>
                    <a:pt x="196" y="122"/>
                    <a:pt x="196" y="122"/>
                    <a:pt x="196" y="122"/>
                  </a:cubicBezTo>
                  <a:cubicBezTo>
                    <a:pt x="197" y="124"/>
                    <a:pt x="196" y="126"/>
                    <a:pt x="194" y="127"/>
                  </a:cubicBezTo>
                  <a:cubicBezTo>
                    <a:pt x="189" y="130"/>
                    <a:pt x="189" y="130"/>
                    <a:pt x="189" y="130"/>
                  </a:cubicBezTo>
                  <a:cubicBezTo>
                    <a:pt x="189" y="141"/>
                    <a:pt x="189" y="141"/>
                    <a:pt x="189" y="141"/>
                  </a:cubicBezTo>
                  <a:cubicBezTo>
                    <a:pt x="198" y="136"/>
                    <a:pt x="198" y="136"/>
                    <a:pt x="198" y="136"/>
                  </a:cubicBezTo>
                  <a:cubicBezTo>
                    <a:pt x="201" y="135"/>
                    <a:pt x="203" y="136"/>
                    <a:pt x="204" y="138"/>
                  </a:cubicBezTo>
                  <a:cubicBezTo>
                    <a:pt x="210" y="151"/>
                    <a:pt x="210" y="151"/>
                    <a:pt x="210" y="151"/>
                  </a:cubicBezTo>
                  <a:cubicBezTo>
                    <a:pt x="210" y="151"/>
                    <a:pt x="210" y="151"/>
                    <a:pt x="210" y="151"/>
                  </a:cubicBezTo>
                  <a:cubicBezTo>
                    <a:pt x="211" y="153"/>
                    <a:pt x="210" y="156"/>
                    <a:pt x="208" y="157"/>
                  </a:cubicBezTo>
                  <a:cubicBezTo>
                    <a:pt x="189" y="166"/>
                    <a:pt x="189" y="166"/>
                    <a:pt x="189" y="166"/>
                  </a:cubicBezTo>
                  <a:lnTo>
                    <a:pt x="189" y="195"/>
                  </a:lnTo>
                  <a:close/>
                  <a:moveTo>
                    <a:pt x="168" y="204"/>
                  </a:moveTo>
                  <a:cubicBezTo>
                    <a:pt x="189" y="195"/>
                    <a:pt x="189" y="195"/>
                    <a:pt x="189" y="195"/>
                  </a:cubicBezTo>
                  <a:cubicBezTo>
                    <a:pt x="189" y="166"/>
                    <a:pt x="189" y="166"/>
                    <a:pt x="189" y="166"/>
                  </a:cubicBezTo>
                  <a:cubicBezTo>
                    <a:pt x="180" y="170"/>
                    <a:pt x="180" y="170"/>
                    <a:pt x="180" y="170"/>
                  </a:cubicBezTo>
                  <a:cubicBezTo>
                    <a:pt x="178" y="171"/>
                    <a:pt x="175" y="170"/>
                    <a:pt x="174" y="168"/>
                  </a:cubicBezTo>
                  <a:cubicBezTo>
                    <a:pt x="168" y="156"/>
                    <a:pt x="168" y="156"/>
                    <a:pt x="168" y="156"/>
                  </a:cubicBezTo>
                  <a:cubicBezTo>
                    <a:pt x="168" y="204"/>
                    <a:pt x="168" y="204"/>
                    <a:pt x="168" y="204"/>
                  </a:cubicBezTo>
                  <a:close/>
                  <a:moveTo>
                    <a:pt x="189" y="60"/>
                  </a:moveTo>
                  <a:cubicBezTo>
                    <a:pt x="168" y="16"/>
                    <a:pt x="168" y="16"/>
                    <a:pt x="168" y="16"/>
                  </a:cubicBezTo>
                  <a:cubicBezTo>
                    <a:pt x="168" y="78"/>
                    <a:pt x="168" y="78"/>
                    <a:pt x="168" y="78"/>
                  </a:cubicBezTo>
                  <a:cubicBezTo>
                    <a:pt x="171" y="77"/>
                    <a:pt x="171" y="77"/>
                    <a:pt x="171" y="77"/>
                  </a:cubicBezTo>
                  <a:cubicBezTo>
                    <a:pt x="173" y="76"/>
                    <a:pt x="175" y="77"/>
                    <a:pt x="176" y="79"/>
                  </a:cubicBezTo>
                  <a:cubicBezTo>
                    <a:pt x="182" y="92"/>
                    <a:pt x="182" y="92"/>
                    <a:pt x="182" y="92"/>
                  </a:cubicBezTo>
                  <a:cubicBezTo>
                    <a:pt x="182" y="92"/>
                    <a:pt x="182" y="92"/>
                    <a:pt x="182" y="92"/>
                  </a:cubicBezTo>
                  <a:cubicBezTo>
                    <a:pt x="183" y="94"/>
                    <a:pt x="182" y="97"/>
                    <a:pt x="180" y="98"/>
                  </a:cubicBezTo>
                  <a:cubicBezTo>
                    <a:pt x="168" y="103"/>
                    <a:pt x="168" y="103"/>
                    <a:pt x="168" y="103"/>
                  </a:cubicBezTo>
                  <a:cubicBezTo>
                    <a:pt x="168" y="114"/>
                    <a:pt x="168" y="114"/>
                    <a:pt x="168" y="114"/>
                  </a:cubicBezTo>
                  <a:cubicBezTo>
                    <a:pt x="185" y="107"/>
                    <a:pt x="185" y="107"/>
                    <a:pt x="185" y="107"/>
                  </a:cubicBezTo>
                  <a:cubicBezTo>
                    <a:pt x="186" y="106"/>
                    <a:pt x="188" y="106"/>
                    <a:pt x="189" y="107"/>
                  </a:cubicBezTo>
                  <a:cubicBezTo>
                    <a:pt x="189" y="60"/>
                    <a:pt x="189" y="60"/>
                    <a:pt x="189" y="60"/>
                  </a:cubicBezTo>
                  <a:close/>
                  <a:moveTo>
                    <a:pt x="189" y="130"/>
                  </a:moveTo>
                  <a:cubicBezTo>
                    <a:pt x="189" y="141"/>
                    <a:pt x="189" y="141"/>
                    <a:pt x="189" y="141"/>
                  </a:cubicBezTo>
                  <a:cubicBezTo>
                    <a:pt x="170" y="150"/>
                    <a:pt x="170" y="150"/>
                    <a:pt x="170" y="150"/>
                  </a:cubicBezTo>
                  <a:cubicBezTo>
                    <a:pt x="169" y="150"/>
                    <a:pt x="169" y="151"/>
                    <a:pt x="168" y="151"/>
                  </a:cubicBezTo>
                  <a:cubicBezTo>
                    <a:pt x="168" y="139"/>
                    <a:pt x="168" y="139"/>
                    <a:pt x="168" y="139"/>
                  </a:cubicBezTo>
                  <a:lnTo>
                    <a:pt x="189" y="130"/>
                  </a:lnTo>
                  <a:close/>
                  <a:moveTo>
                    <a:pt x="159" y="209"/>
                  </a:moveTo>
                  <a:cubicBezTo>
                    <a:pt x="168" y="204"/>
                    <a:pt x="168" y="204"/>
                    <a:pt x="168" y="204"/>
                  </a:cubicBezTo>
                  <a:cubicBezTo>
                    <a:pt x="168" y="156"/>
                    <a:pt x="168" y="156"/>
                    <a:pt x="168" y="156"/>
                  </a:cubicBezTo>
                  <a:cubicBezTo>
                    <a:pt x="168" y="155"/>
                    <a:pt x="168" y="155"/>
                    <a:pt x="168" y="155"/>
                  </a:cubicBezTo>
                  <a:cubicBezTo>
                    <a:pt x="168" y="154"/>
                    <a:pt x="168" y="152"/>
                    <a:pt x="168" y="151"/>
                  </a:cubicBezTo>
                  <a:cubicBezTo>
                    <a:pt x="168" y="139"/>
                    <a:pt x="168" y="139"/>
                    <a:pt x="168" y="139"/>
                  </a:cubicBezTo>
                  <a:cubicBezTo>
                    <a:pt x="166" y="141"/>
                    <a:pt x="166" y="141"/>
                    <a:pt x="166" y="141"/>
                  </a:cubicBezTo>
                  <a:cubicBezTo>
                    <a:pt x="164" y="142"/>
                    <a:pt x="161" y="141"/>
                    <a:pt x="160" y="138"/>
                  </a:cubicBezTo>
                  <a:cubicBezTo>
                    <a:pt x="159" y="136"/>
                    <a:pt x="159" y="136"/>
                    <a:pt x="159" y="136"/>
                  </a:cubicBezTo>
                  <a:cubicBezTo>
                    <a:pt x="159" y="160"/>
                    <a:pt x="159" y="160"/>
                    <a:pt x="159" y="160"/>
                  </a:cubicBezTo>
                  <a:cubicBezTo>
                    <a:pt x="165" y="172"/>
                    <a:pt x="165" y="172"/>
                    <a:pt x="165" y="172"/>
                  </a:cubicBezTo>
                  <a:cubicBezTo>
                    <a:pt x="165" y="172"/>
                    <a:pt x="165" y="172"/>
                    <a:pt x="165" y="172"/>
                  </a:cubicBezTo>
                  <a:cubicBezTo>
                    <a:pt x="166" y="175"/>
                    <a:pt x="165" y="177"/>
                    <a:pt x="163" y="178"/>
                  </a:cubicBezTo>
                  <a:cubicBezTo>
                    <a:pt x="159" y="180"/>
                    <a:pt x="159" y="180"/>
                    <a:pt x="159" y="180"/>
                  </a:cubicBezTo>
                  <a:cubicBezTo>
                    <a:pt x="159" y="209"/>
                    <a:pt x="159" y="209"/>
                    <a:pt x="159" y="209"/>
                  </a:cubicBezTo>
                  <a:close/>
                  <a:moveTo>
                    <a:pt x="168" y="16"/>
                  </a:moveTo>
                  <a:cubicBezTo>
                    <a:pt x="168" y="15"/>
                    <a:pt x="168" y="15"/>
                    <a:pt x="168" y="15"/>
                  </a:cubicBezTo>
                  <a:cubicBezTo>
                    <a:pt x="166" y="11"/>
                    <a:pt x="163" y="7"/>
                    <a:pt x="159" y="5"/>
                  </a:cubicBezTo>
                  <a:cubicBezTo>
                    <a:pt x="159" y="40"/>
                    <a:pt x="159" y="40"/>
                    <a:pt x="159" y="40"/>
                  </a:cubicBezTo>
                  <a:cubicBezTo>
                    <a:pt x="163" y="49"/>
                    <a:pt x="163" y="49"/>
                    <a:pt x="163" y="49"/>
                  </a:cubicBezTo>
                  <a:cubicBezTo>
                    <a:pt x="163" y="49"/>
                    <a:pt x="163" y="49"/>
                    <a:pt x="163" y="49"/>
                  </a:cubicBezTo>
                  <a:cubicBezTo>
                    <a:pt x="166" y="55"/>
                    <a:pt x="164" y="61"/>
                    <a:pt x="159" y="65"/>
                  </a:cubicBezTo>
                  <a:cubicBezTo>
                    <a:pt x="159" y="82"/>
                    <a:pt x="159" y="82"/>
                    <a:pt x="159" y="82"/>
                  </a:cubicBezTo>
                  <a:cubicBezTo>
                    <a:pt x="168" y="78"/>
                    <a:pt x="168" y="78"/>
                    <a:pt x="168" y="78"/>
                  </a:cubicBezTo>
                  <a:cubicBezTo>
                    <a:pt x="168" y="16"/>
                    <a:pt x="168" y="16"/>
                    <a:pt x="168" y="16"/>
                  </a:cubicBezTo>
                  <a:close/>
                  <a:moveTo>
                    <a:pt x="168" y="103"/>
                  </a:moveTo>
                  <a:cubicBezTo>
                    <a:pt x="168" y="114"/>
                    <a:pt x="168" y="114"/>
                    <a:pt x="168" y="114"/>
                  </a:cubicBezTo>
                  <a:cubicBezTo>
                    <a:pt x="159" y="118"/>
                    <a:pt x="159" y="118"/>
                    <a:pt x="159" y="118"/>
                  </a:cubicBezTo>
                  <a:cubicBezTo>
                    <a:pt x="159" y="108"/>
                    <a:pt x="159" y="108"/>
                    <a:pt x="159" y="108"/>
                  </a:cubicBezTo>
                  <a:lnTo>
                    <a:pt x="168" y="103"/>
                  </a:lnTo>
                  <a:close/>
                  <a:moveTo>
                    <a:pt x="144" y="216"/>
                  </a:moveTo>
                  <a:cubicBezTo>
                    <a:pt x="159" y="209"/>
                    <a:pt x="159" y="209"/>
                    <a:pt x="159" y="209"/>
                  </a:cubicBezTo>
                  <a:cubicBezTo>
                    <a:pt x="159" y="180"/>
                    <a:pt x="159" y="180"/>
                    <a:pt x="159" y="180"/>
                  </a:cubicBezTo>
                  <a:cubicBezTo>
                    <a:pt x="144" y="187"/>
                    <a:pt x="144" y="187"/>
                    <a:pt x="144" y="187"/>
                  </a:cubicBezTo>
                  <a:cubicBezTo>
                    <a:pt x="144" y="216"/>
                    <a:pt x="144" y="216"/>
                    <a:pt x="144" y="216"/>
                  </a:cubicBezTo>
                  <a:close/>
                  <a:moveTo>
                    <a:pt x="159" y="5"/>
                  </a:moveTo>
                  <a:cubicBezTo>
                    <a:pt x="155" y="2"/>
                    <a:pt x="149" y="0"/>
                    <a:pt x="144" y="0"/>
                  </a:cubicBezTo>
                  <a:cubicBezTo>
                    <a:pt x="144" y="22"/>
                    <a:pt x="144" y="22"/>
                    <a:pt x="144" y="22"/>
                  </a:cubicBezTo>
                  <a:cubicBezTo>
                    <a:pt x="148" y="23"/>
                    <a:pt x="152" y="25"/>
                    <a:pt x="154" y="30"/>
                  </a:cubicBezTo>
                  <a:cubicBezTo>
                    <a:pt x="159" y="40"/>
                    <a:pt x="159" y="40"/>
                    <a:pt x="159" y="40"/>
                  </a:cubicBezTo>
                  <a:cubicBezTo>
                    <a:pt x="159" y="5"/>
                    <a:pt x="159" y="5"/>
                    <a:pt x="159" y="5"/>
                  </a:cubicBezTo>
                  <a:close/>
                  <a:moveTo>
                    <a:pt x="159" y="65"/>
                  </a:moveTo>
                  <a:cubicBezTo>
                    <a:pt x="159" y="82"/>
                    <a:pt x="159" y="82"/>
                    <a:pt x="159" y="82"/>
                  </a:cubicBezTo>
                  <a:cubicBezTo>
                    <a:pt x="144" y="89"/>
                    <a:pt x="144" y="89"/>
                    <a:pt x="144" y="89"/>
                  </a:cubicBezTo>
                  <a:cubicBezTo>
                    <a:pt x="144" y="72"/>
                    <a:pt x="144" y="72"/>
                    <a:pt x="144" y="72"/>
                  </a:cubicBezTo>
                  <a:cubicBezTo>
                    <a:pt x="157" y="66"/>
                    <a:pt x="157" y="66"/>
                    <a:pt x="157" y="66"/>
                  </a:cubicBezTo>
                  <a:cubicBezTo>
                    <a:pt x="158" y="66"/>
                    <a:pt x="159" y="66"/>
                    <a:pt x="159" y="65"/>
                  </a:cubicBezTo>
                  <a:close/>
                  <a:moveTo>
                    <a:pt x="159" y="108"/>
                  </a:moveTo>
                  <a:cubicBezTo>
                    <a:pt x="159" y="118"/>
                    <a:pt x="159" y="118"/>
                    <a:pt x="159" y="118"/>
                  </a:cubicBezTo>
                  <a:cubicBezTo>
                    <a:pt x="156" y="120"/>
                    <a:pt x="156" y="120"/>
                    <a:pt x="156" y="120"/>
                  </a:cubicBezTo>
                  <a:cubicBezTo>
                    <a:pt x="154" y="121"/>
                    <a:pt x="153" y="123"/>
                    <a:pt x="154" y="126"/>
                  </a:cubicBezTo>
                  <a:cubicBezTo>
                    <a:pt x="159" y="136"/>
                    <a:pt x="159" y="136"/>
                    <a:pt x="159" y="136"/>
                  </a:cubicBezTo>
                  <a:cubicBezTo>
                    <a:pt x="159" y="160"/>
                    <a:pt x="159" y="160"/>
                    <a:pt x="159" y="160"/>
                  </a:cubicBezTo>
                  <a:cubicBezTo>
                    <a:pt x="159" y="159"/>
                    <a:pt x="159" y="159"/>
                    <a:pt x="159" y="159"/>
                  </a:cubicBezTo>
                  <a:cubicBezTo>
                    <a:pt x="158" y="157"/>
                    <a:pt x="155" y="156"/>
                    <a:pt x="153" y="157"/>
                  </a:cubicBezTo>
                  <a:cubicBezTo>
                    <a:pt x="144" y="162"/>
                    <a:pt x="144" y="162"/>
                    <a:pt x="144" y="162"/>
                  </a:cubicBezTo>
                  <a:cubicBezTo>
                    <a:pt x="144" y="151"/>
                    <a:pt x="144" y="151"/>
                    <a:pt x="144" y="151"/>
                  </a:cubicBezTo>
                  <a:cubicBezTo>
                    <a:pt x="149" y="148"/>
                    <a:pt x="149" y="148"/>
                    <a:pt x="149" y="148"/>
                  </a:cubicBezTo>
                  <a:cubicBezTo>
                    <a:pt x="151" y="147"/>
                    <a:pt x="152" y="145"/>
                    <a:pt x="151" y="143"/>
                  </a:cubicBezTo>
                  <a:cubicBezTo>
                    <a:pt x="151" y="143"/>
                    <a:pt x="151" y="143"/>
                    <a:pt x="151" y="143"/>
                  </a:cubicBezTo>
                  <a:cubicBezTo>
                    <a:pt x="145" y="130"/>
                    <a:pt x="145" y="130"/>
                    <a:pt x="145" y="130"/>
                  </a:cubicBezTo>
                  <a:cubicBezTo>
                    <a:pt x="145" y="129"/>
                    <a:pt x="144" y="129"/>
                    <a:pt x="144" y="128"/>
                  </a:cubicBezTo>
                  <a:cubicBezTo>
                    <a:pt x="144" y="104"/>
                    <a:pt x="144" y="104"/>
                    <a:pt x="144" y="104"/>
                  </a:cubicBezTo>
                  <a:cubicBezTo>
                    <a:pt x="146" y="109"/>
                    <a:pt x="146" y="109"/>
                    <a:pt x="146" y="109"/>
                  </a:cubicBezTo>
                  <a:cubicBezTo>
                    <a:pt x="147" y="111"/>
                    <a:pt x="150" y="112"/>
                    <a:pt x="152" y="111"/>
                  </a:cubicBezTo>
                  <a:lnTo>
                    <a:pt x="159" y="108"/>
                  </a:lnTo>
                  <a:close/>
                  <a:moveTo>
                    <a:pt x="132" y="2"/>
                  </a:moveTo>
                  <a:cubicBezTo>
                    <a:pt x="123" y="7"/>
                    <a:pt x="123" y="7"/>
                    <a:pt x="123" y="7"/>
                  </a:cubicBezTo>
                  <a:cubicBezTo>
                    <a:pt x="123" y="30"/>
                    <a:pt x="123" y="30"/>
                    <a:pt x="123" y="30"/>
                  </a:cubicBezTo>
                  <a:cubicBezTo>
                    <a:pt x="137" y="23"/>
                    <a:pt x="137" y="23"/>
                    <a:pt x="137" y="23"/>
                  </a:cubicBezTo>
                  <a:cubicBezTo>
                    <a:pt x="139" y="22"/>
                    <a:pt x="142" y="22"/>
                    <a:pt x="144" y="22"/>
                  </a:cubicBezTo>
                  <a:cubicBezTo>
                    <a:pt x="144" y="0"/>
                    <a:pt x="144" y="0"/>
                    <a:pt x="144" y="0"/>
                  </a:cubicBezTo>
                  <a:cubicBezTo>
                    <a:pt x="140" y="0"/>
                    <a:pt x="136" y="1"/>
                    <a:pt x="132" y="2"/>
                  </a:cubicBezTo>
                  <a:close/>
                  <a:moveTo>
                    <a:pt x="123" y="225"/>
                  </a:moveTo>
                  <a:cubicBezTo>
                    <a:pt x="144" y="216"/>
                    <a:pt x="144" y="216"/>
                    <a:pt x="144" y="216"/>
                  </a:cubicBezTo>
                  <a:cubicBezTo>
                    <a:pt x="144" y="187"/>
                    <a:pt x="144" y="187"/>
                    <a:pt x="144" y="187"/>
                  </a:cubicBezTo>
                  <a:cubicBezTo>
                    <a:pt x="135" y="191"/>
                    <a:pt x="135" y="191"/>
                    <a:pt x="135" y="191"/>
                  </a:cubicBezTo>
                  <a:cubicBezTo>
                    <a:pt x="133" y="192"/>
                    <a:pt x="130" y="191"/>
                    <a:pt x="129" y="189"/>
                  </a:cubicBezTo>
                  <a:cubicBezTo>
                    <a:pt x="123" y="177"/>
                    <a:pt x="123" y="177"/>
                    <a:pt x="123" y="177"/>
                  </a:cubicBezTo>
                  <a:cubicBezTo>
                    <a:pt x="123" y="225"/>
                    <a:pt x="123" y="225"/>
                    <a:pt x="123" y="225"/>
                  </a:cubicBezTo>
                  <a:close/>
                  <a:moveTo>
                    <a:pt x="144" y="72"/>
                  </a:moveTo>
                  <a:cubicBezTo>
                    <a:pt x="144" y="89"/>
                    <a:pt x="144" y="89"/>
                    <a:pt x="144" y="89"/>
                  </a:cubicBezTo>
                  <a:cubicBezTo>
                    <a:pt x="142" y="90"/>
                    <a:pt x="142" y="90"/>
                    <a:pt x="142" y="90"/>
                  </a:cubicBezTo>
                  <a:cubicBezTo>
                    <a:pt x="140" y="91"/>
                    <a:pt x="139" y="94"/>
                    <a:pt x="140" y="96"/>
                  </a:cubicBezTo>
                  <a:cubicBezTo>
                    <a:pt x="144" y="104"/>
                    <a:pt x="144" y="104"/>
                    <a:pt x="144" y="104"/>
                  </a:cubicBezTo>
                  <a:cubicBezTo>
                    <a:pt x="144" y="128"/>
                    <a:pt x="144" y="128"/>
                    <a:pt x="144" y="128"/>
                  </a:cubicBezTo>
                  <a:cubicBezTo>
                    <a:pt x="143" y="127"/>
                    <a:pt x="141" y="127"/>
                    <a:pt x="139" y="128"/>
                  </a:cubicBezTo>
                  <a:cubicBezTo>
                    <a:pt x="123" y="135"/>
                    <a:pt x="123" y="135"/>
                    <a:pt x="123" y="135"/>
                  </a:cubicBezTo>
                  <a:cubicBezTo>
                    <a:pt x="123" y="125"/>
                    <a:pt x="123" y="125"/>
                    <a:pt x="123" y="125"/>
                  </a:cubicBezTo>
                  <a:cubicBezTo>
                    <a:pt x="135" y="119"/>
                    <a:pt x="135" y="119"/>
                    <a:pt x="135" y="119"/>
                  </a:cubicBezTo>
                  <a:cubicBezTo>
                    <a:pt x="137" y="118"/>
                    <a:pt x="138" y="115"/>
                    <a:pt x="137" y="113"/>
                  </a:cubicBezTo>
                  <a:cubicBezTo>
                    <a:pt x="137" y="113"/>
                    <a:pt x="137" y="113"/>
                    <a:pt x="137" y="113"/>
                  </a:cubicBezTo>
                  <a:cubicBezTo>
                    <a:pt x="131" y="100"/>
                    <a:pt x="131" y="100"/>
                    <a:pt x="131" y="100"/>
                  </a:cubicBezTo>
                  <a:cubicBezTo>
                    <a:pt x="130" y="98"/>
                    <a:pt x="128" y="97"/>
                    <a:pt x="126" y="98"/>
                  </a:cubicBezTo>
                  <a:cubicBezTo>
                    <a:pt x="123" y="99"/>
                    <a:pt x="123" y="99"/>
                    <a:pt x="123" y="99"/>
                  </a:cubicBezTo>
                  <a:cubicBezTo>
                    <a:pt x="123" y="82"/>
                    <a:pt x="123" y="82"/>
                    <a:pt x="123" y="82"/>
                  </a:cubicBezTo>
                  <a:cubicBezTo>
                    <a:pt x="144" y="72"/>
                    <a:pt x="144" y="72"/>
                    <a:pt x="144" y="72"/>
                  </a:cubicBezTo>
                  <a:close/>
                  <a:moveTo>
                    <a:pt x="144" y="151"/>
                  </a:moveTo>
                  <a:cubicBezTo>
                    <a:pt x="144" y="162"/>
                    <a:pt x="144" y="162"/>
                    <a:pt x="144" y="162"/>
                  </a:cubicBezTo>
                  <a:cubicBezTo>
                    <a:pt x="125" y="171"/>
                    <a:pt x="125" y="171"/>
                    <a:pt x="125" y="171"/>
                  </a:cubicBezTo>
                  <a:cubicBezTo>
                    <a:pt x="124" y="171"/>
                    <a:pt x="124" y="172"/>
                    <a:pt x="123" y="172"/>
                  </a:cubicBezTo>
                  <a:cubicBezTo>
                    <a:pt x="123" y="161"/>
                    <a:pt x="123" y="161"/>
                    <a:pt x="123" y="161"/>
                  </a:cubicBezTo>
                  <a:lnTo>
                    <a:pt x="144" y="151"/>
                  </a:lnTo>
                  <a:close/>
                  <a:moveTo>
                    <a:pt x="123" y="7"/>
                  </a:moveTo>
                  <a:cubicBezTo>
                    <a:pt x="99" y="18"/>
                    <a:pt x="99" y="18"/>
                    <a:pt x="99" y="18"/>
                  </a:cubicBezTo>
                  <a:cubicBezTo>
                    <a:pt x="99" y="41"/>
                    <a:pt x="99" y="41"/>
                    <a:pt x="99" y="41"/>
                  </a:cubicBezTo>
                  <a:cubicBezTo>
                    <a:pt x="123" y="30"/>
                    <a:pt x="123" y="30"/>
                    <a:pt x="123" y="30"/>
                  </a:cubicBezTo>
                  <a:cubicBezTo>
                    <a:pt x="123" y="7"/>
                    <a:pt x="123" y="7"/>
                    <a:pt x="123" y="7"/>
                  </a:cubicBezTo>
                  <a:close/>
                  <a:moveTo>
                    <a:pt x="99" y="236"/>
                  </a:moveTo>
                  <a:cubicBezTo>
                    <a:pt x="100" y="236"/>
                    <a:pt x="102" y="235"/>
                    <a:pt x="103" y="235"/>
                  </a:cubicBezTo>
                  <a:cubicBezTo>
                    <a:pt x="123" y="225"/>
                    <a:pt x="123" y="225"/>
                    <a:pt x="123" y="225"/>
                  </a:cubicBezTo>
                  <a:cubicBezTo>
                    <a:pt x="123" y="177"/>
                    <a:pt x="123" y="177"/>
                    <a:pt x="123" y="177"/>
                  </a:cubicBezTo>
                  <a:cubicBezTo>
                    <a:pt x="123" y="176"/>
                    <a:pt x="123" y="176"/>
                    <a:pt x="123" y="176"/>
                  </a:cubicBezTo>
                  <a:cubicBezTo>
                    <a:pt x="122" y="175"/>
                    <a:pt x="123" y="174"/>
                    <a:pt x="123" y="172"/>
                  </a:cubicBezTo>
                  <a:cubicBezTo>
                    <a:pt x="123" y="161"/>
                    <a:pt x="123" y="161"/>
                    <a:pt x="123" y="161"/>
                  </a:cubicBezTo>
                  <a:cubicBezTo>
                    <a:pt x="121" y="162"/>
                    <a:pt x="121" y="162"/>
                    <a:pt x="121" y="162"/>
                  </a:cubicBezTo>
                  <a:cubicBezTo>
                    <a:pt x="119" y="163"/>
                    <a:pt x="116" y="162"/>
                    <a:pt x="115" y="159"/>
                  </a:cubicBezTo>
                  <a:cubicBezTo>
                    <a:pt x="109" y="147"/>
                    <a:pt x="109" y="147"/>
                    <a:pt x="109" y="147"/>
                  </a:cubicBezTo>
                  <a:cubicBezTo>
                    <a:pt x="108" y="145"/>
                    <a:pt x="109" y="142"/>
                    <a:pt x="111" y="141"/>
                  </a:cubicBezTo>
                  <a:cubicBezTo>
                    <a:pt x="123" y="135"/>
                    <a:pt x="123" y="135"/>
                    <a:pt x="123" y="135"/>
                  </a:cubicBezTo>
                  <a:cubicBezTo>
                    <a:pt x="123" y="125"/>
                    <a:pt x="123" y="125"/>
                    <a:pt x="123" y="125"/>
                  </a:cubicBezTo>
                  <a:cubicBezTo>
                    <a:pt x="107" y="132"/>
                    <a:pt x="107" y="132"/>
                    <a:pt x="107" y="132"/>
                  </a:cubicBezTo>
                  <a:cubicBezTo>
                    <a:pt x="105" y="133"/>
                    <a:pt x="102" y="132"/>
                    <a:pt x="101" y="130"/>
                  </a:cubicBezTo>
                  <a:cubicBezTo>
                    <a:pt x="99" y="124"/>
                    <a:pt x="99" y="124"/>
                    <a:pt x="99" y="124"/>
                  </a:cubicBezTo>
                  <a:cubicBezTo>
                    <a:pt x="99" y="150"/>
                    <a:pt x="99" y="150"/>
                    <a:pt x="99" y="150"/>
                  </a:cubicBezTo>
                  <a:cubicBezTo>
                    <a:pt x="99" y="150"/>
                    <a:pt x="99" y="151"/>
                    <a:pt x="100" y="151"/>
                  </a:cubicBezTo>
                  <a:cubicBezTo>
                    <a:pt x="106" y="164"/>
                    <a:pt x="106" y="164"/>
                    <a:pt x="106" y="164"/>
                  </a:cubicBezTo>
                  <a:cubicBezTo>
                    <a:pt x="106" y="164"/>
                    <a:pt x="106" y="164"/>
                    <a:pt x="106" y="164"/>
                  </a:cubicBezTo>
                  <a:cubicBezTo>
                    <a:pt x="107" y="166"/>
                    <a:pt x="106" y="169"/>
                    <a:pt x="104" y="170"/>
                  </a:cubicBezTo>
                  <a:cubicBezTo>
                    <a:pt x="99" y="172"/>
                    <a:pt x="99" y="172"/>
                    <a:pt x="99" y="172"/>
                  </a:cubicBezTo>
                  <a:cubicBezTo>
                    <a:pt x="99" y="183"/>
                    <a:pt x="99" y="183"/>
                    <a:pt x="99" y="183"/>
                  </a:cubicBezTo>
                  <a:cubicBezTo>
                    <a:pt x="108" y="179"/>
                    <a:pt x="108" y="179"/>
                    <a:pt x="108" y="179"/>
                  </a:cubicBezTo>
                  <a:cubicBezTo>
                    <a:pt x="110" y="178"/>
                    <a:pt x="113" y="179"/>
                    <a:pt x="114" y="181"/>
                  </a:cubicBezTo>
                  <a:cubicBezTo>
                    <a:pt x="120" y="194"/>
                    <a:pt x="120" y="194"/>
                    <a:pt x="120" y="194"/>
                  </a:cubicBezTo>
                  <a:cubicBezTo>
                    <a:pt x="120" y="194"/>
                    <a:pt x="120" y="194"/>
                    <a:pt x="120" y="194"/>
                  </a:cubicBezTo>
                  <a:cubicBezTo>
                    <a:pt x="121" y="196"/>
                    <a:pt x="120" y="198"/>
                    <a:pt x="118" y="199"/>
                  </a:cubicBezTo>
                  <a:cubicBezTo>
                    <a:pt x="99" y="208"/>
                    <a:pt x="99" y="208"/>
                    <a:pt x="99" y="208"/>
                  </a:cubicBezTo>
                  <a:cubicBezTo>
                    <a:pt x="99" y="236"/>
                    <a:pt x="99" y="236"/>
                    <a:pt x="99" y="236"/>
                  </a:cubicBezTo>
                  <a:close/>
                  <a:moveTo>
                    <a:pt x="123" y="82"/>
                  </a:moveTo>
                  <a:cubicBezTo>
                    <a:pt x="123" y="99"/>
                    <a:pt x="123" y="99"/>
                    <a:pt x="123" y="99"/>
                  </a:cubicBezTo>
                  <a:cubicBezTo>
                    <a:pt x="99" y="111"/>
                    <a:pt x="99" y="111"/>
                    <a:pt x="99" y="111"/>
                  </a:cubicBezTo>
                  <a:cubicBezTo>
                    <a:pt x="99" y="94"/>
                    <a:pt x="99" y="94"/>
                    <a:pt x="99" y="94"/>
                  </a:cubicBezTo>
                  <a:lnTo>
                    <a:pt x="123" y="82"/>
                  </a:lnTo>
                  <a:close/>
                  <a:moveTo>
                    <a:pt x="99" y="18"/>
                  </a:moveTo>
                  <a:cubicBezTo>
                    <a:pt x="71" y="31"/>
                    <a:pt x="71" y="31"/>
                    <a:pt x="71" y="31"/>
                  </a:cubicBezTo>
                  <a:cubicBezTo>
                    <a:pt x="71" y="54"/>
                    <a:pt x="71" y="54"/>
                    <a:pt x="71" y="54"/>
                  </a:cubicBezTo>
                  <a:cubicBezTo>
                    <a:pt x="99" y="41"/>
                    <a:pt x="99" y="41"/>
                    <a:pt x="99" y="41"/>
                  </a:cubicBezTo>
                  <a:cubicBezTo>
                    <a:pt x="99" y="18"/>
                    <a:pt x="99" y="18"/>
                    <a:pt x="99" y="18"/>
                  </a:cubicBezTo>
                  <a:close/>
                  <a:moveTo>
                    <a:pt x="71" y="227"/>
                  </a:moveTo>
                  <a:cubicBezTo>
                    <a:pt x="77" y="235"/>
                    <a:pt x="88" y="239"/>
                    <a:pt x="99" y="236"/>
                  </a:cubicBezTo>
                  <a:cubicBezTo>
                    <a:pt x="99" y="208"/>
                    <a:pt x="99" y="208"/>
                    <a:pt x="99" y="208"/>
                  </a:cubicBezTo>
                  <a:cubicBezTo>
                    <a:pt x="89" y="212"/>
                    <a:pt x="89" y="212"/>
                    <a:pt x="89" y="212"/>
                  </a:cubicBezTo>
                  <a:cubicBezTo>
                    <a:pt x="87" y="213"/>
                    <a:pt x="85" y="213"/>
                    <a:pt x="84" y="210"/>
                  </a:cubicBezTo>
                  <a:cubicBezTo>
                    <a:pt x="78" y="197"/>
                    <a:pt x="78" y="197"/>
                    <a:pt x="78" y="197"/>
                  </a:cubicBezTo>
                  <a:cubicBezTo>
                    <a:pt x="77" y="195"/>
                    <a:pt x="78" y="193"/>
                    <a:pt x="80" y="192"/>
                  </a:cubicBezTo>
                  <a:cubicBezTo>
                    <a:pt x="99" y="183"/>
                    <a:pt x="99" y="183"/>
                    <a:pt x="99" y="183"/>
                  </a:cubicBezTo>
                  <a:cubicBezTo>
                    <a:pt x="99" y="172"/>
                    <a:pt x="99" y="172"/>
                    <a:pt x="99" y="172"/>
                  </a:cubicBezTo>
                  <a:cubicBezTo>
                    <a:pt x="75" y="183"/>
                    <a:pt x="75" y="183"/>
                    <a:pt x="75" y="183"/>
                  </a:cubicBezTo>
                  <a:cubicBezTo>
                    <a:pt x="74" y="184"/>
                    <a:pt x="72" y="183"/>
                    <a:pt x="71" y="182"/>
                  </a:cubicBezTo>
                  <a:cubicBezTo>
                    <a:pt x="71" y="227"/>
                    <a:pt x="71" y="227"/>
                    <a:pt x="71" y="227"/>
                  </a:cubicBezTo>
                  <a:close/>
                  <a:moveTo>
                    <a:pt x="99" y="94"/>
                  </a:moveTo>
                  <a:cubicBezTo>
                    <a:pt x="99" y="111"/>
                    <a:pt x="99" y="111"/>
                    <a:pt x="99" y="111"/>
                  </a:cubicBezTo>
                  <a:cubicBezTo>
                    <a:pt x="97" y="111"/>
                    <a:pt x="97" y="111"/>
                    <a:pt x="97" y="111"/>
                  </a:cubicBezTo>
                  <a:cubicBezTo>
                    <a:pt x="95" y="112"/>
                    <a:pt x="94" y="115"/>
                    <a:pt x="95" y="117"/>
                  </a:cubicBezTo>
                  <a:cubicBezTo>
                    <a:pt x="99" y="124"/>
                    <a:pt x="99" y="124"/>
                    <a:pt x="99" y="124"/>
                  </a:cubicBezTo>
                  <a:cubicBezTo>
                    <a:pt x="99" y="150"/>
                    <a:pt x="99" y="150"/>
                    <a:pt x="99" y="150"/>
                  </a:cubicBezTo>
                  <a:cubicBezTo>
                    <a:pt x="97" y="149"/>
                    <a:pt x="96" y="148"/>
                    <a:pt x="94" y="149"/>
                  </a:cubicBezTo>
                  <a:cubicBezTo>
                    <a:pt x="71" y="160"/>
                    <a:pt x="71" y="160"/>
                    <a:pt x="71" y="160"/>
                  </a:cubicBezTo>
                  <a:cubicBezTo>
                    <a:pt x="71" y="149"/>
                    <a:pt x="71" y="149"/>
                    <a:pt x="71" y="149"/>
                  </a:cubicBezTo>
                  <a:cubicBezTo>
                    <a:pt x="90" y="140"/>
                    <a:pt x="90" y="140"/>
                    <a:pt x="90" y="140"/>
                  </a:cubicBezTo>
                  <a:cubicBezTo>
                    <a:pt x="92" y="139"/>
                    <a:pt x="93" y="136"/>
                    <a:pt x="92" y="134"/>
                  </a:cubicBezTo>
                  <a:cubicBezTo>
                    <a:pt x="92" y="134"/>
                    <a:pt x="92" y="134"/>
                    <a:pt x="92" y="134"/>
                  </a:cubicBezTo>
                  <a:cubicBezTo>
                    <a:pt x="86" y="122"/>
                    <a:pt x="86" y="122"/>
                    <a:pt x="86" y="122"/>
                  </a:cubicBezTo>
                  <a:cubicBezTo>
                    <a:pt x="85" y="119"/>
                    <a:pt x="82" y="118"/>
                    <a:pt x="80" y="119"/>
                  </a:cubicBezTo>
                  <a:cubicBezTo>
                    <a:pt x="71" y="124"/>
                    <a:pt x="71" y="124"/>
                    <a:pt x="71" y="124"/>
                  </a:cubicBezTo>
                  <a:cubicBezTo>
                    <a:pt x="71" y="107"/>
                    <a:pt x="71" y="107"/>
                    <a:pt x="71" y="107"/>
                  </a:cubicBezTo>
                  <a:lnTo>
                    <a:pt x="99" y="94"/>
                  </a:lnTo>
                  <a:close/>
                  <a:moveTo>
                    <a:pt x="71" y="31"/>
                  </a:moveTo>
                  <a:cubicBezTo>
                    <a:pt x="20" y="55"/>
                    <a:pt x="20" y="55"/>
                    <a:pt x="20" y="55"/>
                  </a:cubicBezTo>
                  <a:cubicBezTo>
                    <a:pt x="6" y="62"/>
                    <a:pt x="0" y="78"/>
                    <a:pt x="7" y="91"/>
                  </a:cubicBezTo>
                  <a:cubicBezTo>
                    <a:pt x="68" y="222"/>
                    <a:pt x="68" y="222"/>
                    <a:pt x="68" y="222"/>
                  </a:cubicBezTo>
                  <a:cubicBezTo>
                    <a:pt x="69" y="223"/>
                    <a:pt x="70" y="225"/>
                    <a:pt x="71" y="227"/>
                  </a:cubicBezTo>
                  <a:cubicBezTo>
                    <a:pt x="71" y="182"/>
                    <a:pt x="71" y="182"/>
                    <a:pt x="71" y="182"/>
                  </a:cubicBezTo>
                  <a:cubicBezTo>
                    <a:pt x="71" y="182"/>
                    <a:pt x="70" y="181"/>
                    <a:pt x="70" y="181"/>
                  </a:cubicBezTo>
                  <a:cubicBezTo>
                    <a:pt x="64" y="168"/>
                    <a:pt x="64" y="168"/>
                    <a:pt x="64" y="168"/>
                  </a:cubicBezTo>
                  <a:cubicBezTo>
                    <a:pt x="63" y="166"/>
                    <a:pt x="64" y="163"/>
                    <a:pt x="66" y="162"/>
                  </a:cubicBezTo>
                  <a:cubicBezTo>
                    <a:pt x="71" y="160"/>
                    <a:pt x="71" y="160"/>
                    <a:pt x="71" y="160"/>
                  </a:cubicBezTo>
                  <a:cubicBezTo>
                    <a:pt x="71" y="149"/>
                    <a:pt x="71" y="149"/>
                    <a:pt x="71" y="149"/>
                  </a:cubicBezTo>
                  <a:cubicBezTo>
                    <a:pt x="62" y="153"/>
                    <a:pt x="62" y="153"/>
                    <a:pt x="62" y="153"/>
                  </a:cubicBezTo>
                  <a:cubicBezTo>
                    <a:pt x="60" y="154"/>
                    <a:pt x="57" y="153"/>
                    <a:pt x="56" y="151"/>
                  </a:cubicBezTo>
                  <a:cubicBezTo>
                    <a:pt x="50" y="138"/>
                    <a:pt x="50" y="138"/>
                    <a:pt x="50" y="138"/>
                  </a:cubicBezTo>
                  <a:cubicBezTo>
                    <a:pt x="49" y="136"/>
                    <a:pt x="50" y="134"/>
                    <a:pt x="52" y="133"/>
                  </a:cubicBezTo>
                  <a:cubicBezTo>
                    <a:pt x="71" y="124"/>
                    <a:pt x="71" y="124"/>
                    <a:pt x="71" y="124"/>
                  </a:cubicBezTo>
                  <a:cubicBezTo>
                    <a:pt x="71" y="107"/>
                    <a:pt x="71" y="107"/>
                    <a:pt x="71" y="107"/>
                  </a:cubicBezTo>
                  <a:cubicBezTo>
                    <a:pt x="53" y="115"/>
                    <a:pt x="53" y="115"/>
                    <a:pt x="53" y="115"/>
                  </a:cubicBezTo>
                  <a:cubicBezTo>
                    <a:pt x="46" y="118"/>
                    <a:pt x="38" y="116"/>
                    <a:pt x="35" y="109"/>
                  </a:cubicBezTo>
                  <a:cubicBezTo>
                    <a:pt x="26" y="89"/>
                    <a:pt x="26" y="89"/>
                    <a:pt x="26" y="89"/>
                  </a:cubicBezTo>
                  <a:cubicBezTo>
                    <a:pt x="23" y="83"/>
                    <a:pt x="26" y="75"/>
                    <a:pt x="33" y="72"/>
                  </a:cubicBezTo>
                  <a:cubicBezTo>
                    <a:pt x="71" y="54"/>
                    <a:pt x="71" y="54"/>
                    <a:pt x="71" y="54"/>
                  </a:cubicBezTo>
                  <a:lnTo>
                    <a:pt x="71" y="31"/>
                  </a:lnTo>
                  <a:close/>
                </a:path>
              </a:pathLst>
            </a:custGeom>
            <a:solidFill>
              <a:schemeClr val="accent1">
                <a:lumMod val="75000"/>
              </a:schemeClr>
            </a:solidFill>
            <a:ln>
              <a:noFill/>
            </a:ln>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60" name="Rectangle 59">
              <a:extLst>
                <a:ext uri="{FF2B5EF4-FFF2-40B4-BE49-F238E27FC236}">
                  <a16:creationId xmlns:a16="http://schemas.microsoft.com/office/drawing/2014/main" id="{3001C76C-B509-4370-945C-DDA10E63A352}"/>
                </a:ext>
              </a:extLst>
            </p:cNvPr>
            <p:cNvSpPr>
              <a:spLocks noChangeArrowheads="1"/>
            </p:cNvSpPr>
            <p:nvPr/>
          </p:nvSpPr>
          <p:spPr bwMode="auto">
            <a:xfrm>
              <a:off x="2519488" y="3036885"/>
              <a:ext cx="470175" cy="23806"/>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61" name="Rectangle 60">
              <a:extLst>
                <a:ext uri="{FF2B5EF4-FFF2-40B4-BE49-F238E27FC236}">
                  <a16:creationId xmlns:a16="http://schemas.microsoft.com/office/drawing/2014/main" id="{B67EAB19-9672-456B-93B8-FDABC0DAF5E8}"/>
                </a:ext>
              </a:extLst>
            </p:cNvPr>
            <p:cNvSpPr>
              <a:spLocks noChangeArrowheads="1"/>
            </p:cNvSpPr>
            <p:nvPr/>
          </p:nvSpPr>
          <p:spPr bwMode="auto">
            <a:xfrm>
              <a:off x="2538533" y="2989272"/>
              <a:ext cx="432085" cy="23806"/>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62" name="Rectangle 61">
              <a:extLst>
                <a:ext uri="{FF2B5EF4-FFF2-40B4-BE49-F238E27FC236}">
                  <a16:creationId xmlns:a16="http://schemas.microsoft.com/office/drawing/2014/main" id="{DE2CA966-1E9A-4FB0-96C4-107D3F0AA389}"/>
                </a:ext>
              </a:extLst>
            </p:cNvPr>
            <p:cNvSpPr>
              <a:spLocks noChangeArrowheads="1"/>
            </p:cNvSpPr>
            <p:nvPr/>
          </p:nvSpPr>
          <p:spPr bwMode="auto">
            <a:xfrm>
              <a:off x="2708748" y="2940469"/>
              <a:ext cx="91655" cy="23806"/>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63" name="Rectangle 62">
              <a:extLst>
                <a:ext uri="{FF2B5EF4-FFF2-40B4-BE49-F238E27FC236}">
                  <a16:creationId xmlns:a16="http://schemas.microsoft.com/office/drawing/2014/main" id="{0D83EA1D-2824-454B-BEAF-50C5A2049FCB}"/>
                </a:ext>
              </a:extLst>
            </p:cNvPr>
            <p:cNvSpPr>
              <a:spLocks noChangeArrowheads="1"/>
            </p:cNvSpPr>
            <p:nvPr/>
          </p:nvSpPr>
          <p:spPr bwMode="auto">
            <a:xfrm>
              <a:off x="2725413" y="2765493"/>
              <a:ext cx="58326" cy="1904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64" name="Rectangle 63">
              <a:extLst>
                <a:ext uri="{FF2B5EF4-FFF2-40B4-BE49-F238E27FC236}">
                  <a16:creationId xmlns:a16="http://schemas.microsoft.com/office/drawing/2014/main" id="{B549AD1D-C728-4928-94A0-88ED782A55E2}"/>
                </a:ext>
              </a:extLst>
            </p:cNvPr>
            <p:cNvSpPr>
              <a:spLocks noChangeArrowheads="1"/>
            </p:cNvSpPr>
            <p:nvPr/>
          </p:nvSpPr>
          <p:spPr bwMode="auto">
            <a:xfrm>
              <a:off x="2708748" y="2755971"/>
              <a:ext cx="91655" cy="23806"/>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65" name="Rectangle 64">
              <a:extLst>
                <a:ext uri="{FF2B5EF4-FFF2-40B4-BE49-F238E27FC236}">
                  <a16:creationId xmlns:a16="http://schemas.microsoft.com/office/drawing/2014/main" id="{AAA2B504-ADF9-4379-B4B6-6D674770EAB9}"/>
                </a:ext>
              </a:extLst>
            </p:cNvPr>
            <p:cNvSpPr>
              <a:spLocks noChangeArrowheads="1"/>
            </p:cNvSpPr>
            <p:nvPr/>
          </p:nvSpPr>
          <p:spPr bwMode="auto">
            <a:xfrm>
              <a:off x="2848015" y="2940469"/>
              <a:ext cx="89274" cy="23806"/>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66" name="Rectangle 65">
              <a:extLst>
                <a:ext uri="{FF2B5EF4-FFF2-40B4-BE49-F238E27FC236}">
                  <a16:creationId xmlns:a16="http://schemas.microsoft.com/office/drawing/2014/main" id="{D50EC452-16BC-454E-A676-0405FF437942}"/>
                </a:ext>
              </a:extLst>
            </p:cNvPr>
            <p:cNvSpPr>
              <a:spLocks noChangeArrowheads="1"/>
            </p:cNvSpPr>
            <p:nvPr/>
          </p:nvSpPr>
          <p:spPr bwMode="auto">
            <a:xfrm>
              <a:off x="2863489" y="2765493"/>
              <a:ext cx="57135" cy="1904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67" name="Rectangle 66">
              <a:extLst>
                <a:ext uri="{FF2B5EF4-FFF2-40B4-BE49-F238E27FC236}">
                  <a16:creationId xmlns:a16="http://schemas.microsoft.com/office/drawing/2014/main" id="{E3EEBADA-CA0B-4085-AE53-4D3A8BB31B3D}"/>
                </a:ext>
              </a:extLst>
            </p:cNvPr>
            <p:cNvSpPr>
              <a:spLocks noChangeArrowheads="1"/>
            </p:cNvSpPr>
            <p:nvPr/>
          </p:nvSpPr>
          <p:spPr bwMode="auto">
            <a:xfrm>
              <a:off x="2848015" y="2755971"/>
              <a:ext cx="89274" cy="23806"/>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68" name="Rectangle 67">
              <a:extLst>
                <a:ext uri="{FF2B5EF4-FFF2-40B4-BE49-F238E27FC236}">
                  <a16:creationId xmlns:a16="http://schemas.microsoft.com/office/drawing/2014/main" id="{D7747719-7C68-4E5C-B8AD-A48BC5C6259B}"/>
                </a:ext>
              </a:extLst>
            </p:cNvPr>
            <p:cNvSpPr>
              <a:spLocks noChangeArrowheads="1"/>
            </p:cNvSpPr>
            <p:nvPr/>
          </p:nvSpPr>
          <p:spPr bwMode="auto">
            <a:xfrm>
              <a:off x="2571862" y="2940469"/>
              <a:ext cx="91655" cy="23806"/>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69" name="Rectangle 68">
              <a:extLst>
                <a:ext uri="{FF2B5EF4-FFF2-40B4-BE49-F238E27FC236}">
                  <a16:creationId xmlns:a16="http://schemas.microsoft.com/office/drawing/2014/main" id="{9141B434-0A58-4930-9829-16BA98B6E3EB}"/>
                </a:ext>
              </a:extLst>
            </p:cNvPr>
            <p:cNvSpPr>
              <a:spLocks noChangeArrowheads="1"/>
            </p:cNvSpPr>
            <p:nvPr/>
          </p:nvSpPr>
          <p:spPr bwMode="auto">
            <a:xfrm>
              <a:off x="2587337" y="2765493"/>
              <a:ext cx="59516" cy="1904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70" name="Rectangle 69">
              <a:extLst>
                <a:ext uri="{FF2B5EF4-FFF2-40B4-BE49-F238E27FC236}">
                  <a16:creationId xmlns:a16="http://schemas.microsoft.com/office/drawing/2014/main" id="{4CBC87B2-C457-4CA5-A0D0-D72F300CA43B}"/>
                </a:ext>
              </a:extLst>
            </p:cNvPr>
            <p:cNvSpPr>
              <a:spLocks noChangeArrowheads="1"/>
            </p:cNvSpPr>
            <p:nvPr/>
          </p:nvSpPr>
          <p:spPr bwMode="auto">
            <a:xfrm>
              <a:off x="2571862" y="2755971"/>
              <a:ext cx="91655" cy="23806"/>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71" name="Rectangle 70">
              <a:extLst>
                <a:ext uri="{FF2B5EF4-FFF2-40B4-BE49-F238E27FC236}">
                  <a16:creationId xmlns:a16="http://schemas.microsoft.com/office/drawing/2014/main" id="{F0094818-B40B-49F5-8A28-E3B7F228B37B}"/>
                </a:ext>
              </a:extLst>
            </p:cNvPr>
            <p:cNvSpPr>
              <a:spLocks noChangeArrowheads="1"/>
            </p:cNvSpPr>
            <p:nvPr/>
          </p:nvSpPr>
          <p:spPr bwMode="auto">
            <a:xfrm>
              <a:off x="2538533" y="2703597"/>
              <a:ext cx="432085" cy="23806"/>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72" name="Freeform 71">
              <a:extLst>
                <a:ext uri="{FF2B5EF4-FFF2-40B4-BE49-F238E27FC236}">
                  <a16:creationId xmlns:a16="http://schemas.microsoft.com/office/drawing/2014/main" id="{CCF0D752-6C5B-4842-B34B-7F245BC4BA55}"/>
                </a:ext>
              </a:extLst>
            </p:cNvPr>
            <p:cNvSpPr>
              <a:spLocks/>
            </p:cNvSpPr>
            <p:nvPr/>
          </p:nvSpPr>
          <p:spPr bwMode="auto">
            <a:xfrm>
              <a:off x="2538533" y="2565520"/>
              <a:ext cx="432085" cy="138077"/>
            </a:xfrm>
            <a:custGeom>
              <a:avLst/>
              <a:gdLst>
                <a:gd name="T0" fmla="*/ 181 w 363"/>
                <a:gd name="T1" fmla="*/ 0 h 116"/>
                <a:gd name="T2" fmla="*/ 363 w 363"/>
                <a:gd name="T3" fmla="*/ 116 h 116"/>
                <a:gd name="T4" fmla="*/ 0 w 363"/>
                <a:gd name="T5" fmla="*/ 116 h 116"/>
                <a:gd name="T6" fmla="*/ 181 w 363"/>
                <a:gd name="T7" fmla="*/ 0 h 116"/>
              </a:gdLst>
              <a:ahLst/>
              <a:cxnLst>
                <a:cxn ang="0">
                  <a:pos x="T0" y="T1"/>
                </a:cxn>
                <a:cxn ang="0">
                  <a:pos x="T2" y="T3"/>
                </a:cxn>
                <a:cxn ang="0">
                  <a:pos x="T4" y="T5"/>
                </a:cxn>
                <a:cxn ang="0">
                  <a:pos x="T6" y="T7"/>
                </a:cxn>
              </a:cxnLst>
              <a:rect l="0" t="0" r="r" b="b"/>
              <a:pathLst>
                <a:path w="363" h="116">
                  <a:moveTo>
                    <a:pt x="181" y="0"/>
                  </a:moveTo>
                  <a:lnTo>
                    <a:pt x="363" y="116"/>
                  </a:lnTo>
                  <a:lnTo>
                    <a:pt x="0" y="116"/>
                  </a:lnTo>
                  <a:lnTo>
                    <a:pt x="181" y="0"/>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73" name="Freeform 72">
              <a:extLst>
                <a:ext uri="{FF2B5EF4-FFF2-40B4-BE49-F238E27FC236}">
                  <a16:creationId xmlns:a16="http://schemas.microsoft.com/office/drawing/2014/main" id="{E6759C97-C1C2-498F-929A-84028D156B0E}"/>
                </a:ext>
              </a:extLst>
            </p:cNvPr>
            <p:cNvSpPr>
              <a:spLocks noEditPoints="1"/>
            </p:cNvSpPr>
            <p:nvPr/>
          </p:nvSpPr>
          <p:spPr bwMode="auto">
            <a:xfrm>
              <a:off x="1350599" y="2690503"/>
              <a:ext cx="599919" cy="391614"/>
            </a:xfrm>
            <a:custGeom>
              <a:avLst/>
              <a:gdLst>
                <a:gd name="T0" fmla="*/ 82 w 367"/>
                <a:gd name="T1" fmla="*/ 27 h 240"/>
                <a:gd name="T2" fmla="*/ 367 w 367"/>
                <a:gd name="T3" fmla="*/ 120 h 240"/>
                <a:gd name="T4" fmla="*/ 82 w 367"/>
                <a:gd name="T5" fmla="*/ 213 h 240"/>
                <a:gd name="T6" fmla="*/ 82 w 367"/>
                <a:gd name="T7" fmla="*/ 177 h 240"/>
                <a:gd name="T8" fmla="*/ 127 w 367"/>
                <a:gd name="T9" fmla="*/ 143 h 240"/>
                <a:gd name="T10" fmla="*/ 127 w 367"/>
                <a:gd name="T11" fmla="*/ 87 h 240"/>
                <a:gd name="T12" fmla="*/ 138 w 367"/>
                <a:gd name="T13" fmla="*/ 87 h 240"/>
                <a:gd name="T14" fmla="*/ 138 w 367"/>
                <a:gd name="T15" fmla="*/ 64 h 240"/>
                <a:gd name="T16" fmla="*/ 127 w 367"/>
                <a:gd name="T17" fmla="*/ 64 h 240"/>
                <a:gd name="T18" fmla="*/ 102 w 367"/>
                <a:gd name="T19" fmla="*/ 64 h 240"/>
                <a:gd name="T20" fmla="*/ 91 w 367"/>
                <a:gd name="T21" fmla="*/ 64 h 240"/>
                <a:gd name="T22" fmla="*/ 91 w 367"/>
                <a:gd name="T23" fmla="*/ 87 h 240"/>
                <a:gd name="T24" fmla="*/ 102 w 367"/>
                <a:gd name="T25" fmla="*/ 87 h 240"/>
                <a:gd name="T26" fmla="*/ 102 w 367"/>
                <a:gd name="T27" fmla="*/ 143 h 240"/>
                <a:gd name="T28" fmla="*/ 82 w 367"/>
                <a:gd name="T29" fmla="*/ 156 h 240"/>
                <a:gd name="T30" fmla="*/ 82 w 367"/>
                <a:gd name="T31" fmla="*/ 27 h 240"/>
                <a:gd name="T32" fmla="*/ 0 w 367"/>
                <a:gd name="T33" fmla="*/ 0 h 240"/>
                <a:gd name="T34" fmla="*/ 82 w 367"/>
                <a:gd name="T35" fmla="*/ 27 h 240"/>
                <a:gd name="T36" fmla="*/ 82 w 367"/>
                <a:gd name="T37" fmla="*/ 156 h 240"/>
                <a:gd name="T38" fmla="*/ 82 w 367"/>
                <a:gd name="T39" fmla="*/ 156 h 240"/>
                <a:gd name="T40" fmla="*/ 62 w 367"/>
                <a:gd name="T41" fmla="*/ 143 h 240"/>
                <a:gd name="T42" fmla="*/ 62 w 367"/>
                <a:gd name="T43" fmla="*/ 87 h 240"/>
                <a:gd name="T44" fmla="*/ 73 w 367"/>
                <a:gd name="T45" fmla="*/ 87 h 240"/>
                <a:gd name="T46" fmla="*/ 73 w 367"/>
                <a:gd name="T47" fmla="*/ 64 h 240"/>
                <a:gd name="T48" fmla="*/ 62 w 367"/>
                <a:gd name="T49" fmla="*/ 64 h 240"/>
                <a:gd name="T50" fmla="*/ 37 w 367"/>
                <a:gd name="T51" fmla="*/ 64 h 240"/>
                <a:gd name="T52" fmla="*/ 26 w 367"/>
                <a:gd name="T53" fmla="*/ 64 h 240"/>
                <a:gd name="T54" fmla="*/ 26 w 367"/>
                <a:gd name="T55" fmla="*/ 87 h 240"/>
                <a:gd name="T56" fmla="*/ 37 w 367"/>
                <a:gd name="T57" fmla="*/ 87 h 240"/>
                <a:gd name="T58" fmla="*/ 37 w 367"/>
                <a:gd name="T59" fmla="*/ 143 h 240"/>
                <a:gd name="T60" fmla="*/ 82 w 367"/>
                <a:gd name="T61" fmla="*/ 177 h 240"/>
                <a:gd name="T62" fmla="*/ 82 w 367"/>
                <a:gd name="T63" fmla="*/ 177 h 240"/>
                <a:gd name="T64" fmla="*/ 82 w 367"/>
                <a:gd name="T65" fmla="*/ 213 h 240"/>
                <a:gd name="T66" fmla="*/ 0 w 367"/>
                <a:gd name="T67" fmla="*/ 240 h 240"/>
                <a:gd name="T68" fmla="*/ 0 w 367"/>
                <a:gd name="T69"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7" h="240">
                  <a:moveTo>
                    <a:pt x="82" y="27"/>
                  </a:moveTo>
                  <a:cubicBezTo>
                    <a:pt x="367" y="120"/>
                    <a:pt x="367" y="120"/>
                    <a:pt x="367" y="120"/>
                  </a:cubicBezTo>
                  <a:cubicBezTo>
                    <a:pt x="82" y="213"/>
                    <a:pt x="82" y="213"/>
                    <a:pt x="82" y="213"/>
                  </a:cubicBezTo>
                  <a:cubicBezTo>
                    <a:pt x="82" y="177"/>
                    <a:pt x="82" y="177"/>
                    <a:pt x="82" y="177"/>
                  </a:cubicBezTo>
                  <a:cubicBezTo>
                    <a:pt x="107" y="177"/>
                    <a:pt x="127" y="162"/>
                    <a:pt x="127" y="143"/>
                  </a:cubicBezTo>
                  <a:cubicBezTo>
                    <a:pt x="127" y="87"/>
                    <a:pt x="127" y="87"/>
                    <a:pt x="127" y="87"/>
                  </a:cubicBezTo>
                  <a:cubicBezTo>
                    <a:pt x="138" y="87"/>
                    <a:pt x="138" y="87"/>
                    <a:pt x="138" y="87"/>
                  </a:cubicBezTo>
                  <a:cubicBezTo>
                    <a:pt x="138" y="64"/>
                    <a:pt x="138" y="64"/>
                    <a:pt x="138" y="64"/>
                  </a:cubicBezTo>
                  <a:cubicBezTo>
                    <a:pt x="127" y="64"/>
                    <a:pt x="127" y="64"/>
                    <a:pt x="127" y="64"/>
                  </a:cubicBezTo>
                  <a:cubicBezTo>
                    <a:pt x="102" y="64"/>
                    <a:pt x="102" y="64"/>
                    <a:pt x="102" y="64"/>
                  </a:cubicBezTo>
                  <a:cubicBezTo>
                    <a:pt x="91" y="64"/>
                    <a:pt x="91" y="64"/>
                    <a:pt x="91" y="64"/>
                  </a:cubicBezTo>
                  <a:cubicBezTo>
                    <a:pt x="91" y="87"/>
                    <a:pt x="91" y="87"/>
                    <a:pt x="91" y="87"/>
                  </a:cubicBezTo>
                  <a:cubicBezTo>
                    <a:pt x="102" y="87"/>
                    <a:pt x="102" y="87"/>
                    <a:pt x="102" y="87"/>
                  </a:cubicBezTo>
                  <a:cubicBezTo>
                    <a:pt x="102" y="143"/>
                    <a:pt x="102" y="143"/>
                    <a:pt x="102" y="143"/>
                  </a:cubicBezTo>
                  <a:cubicBezTo>
                    <a:pt x="102" y="150"/>
                    <a:pt x="93" y="156"/>
                    <a:pt x="82" y="156"/>
                  </a:cubicBezTo>
                  <a:lnTo>
                    <a:pt x="82" y="27"/>
                  </a:lnTo>
                  <a:close/>
                  <a:moveTo>
                    <a:pt x="0" y="0"/>
                  </a:moveTo>
                  <a:cubicBezTo>
                    <a:pt x="82" y="27"/>
                    <a:pt x="82" y="27"/>
                    <a:pt x="82" y="27"/>
                  </a:cubicBezTo>
                  <a:cubicBezTo>
                    <a:pt x="82" y="156"/>
                    <a:pt x="82" y="156"/>
                    <a:pt x="82" y="156"/>
                  </a:cubicBezTo>
                  <a:cubicBezTo>
                    <a:pt x="82" y="156"/>
                    <a:pt x="82" y="156"/>
                    <a:pt x="82" y="156"/>
                  </a:cubicBezTo>
                  <a:cubicBezTo>
                    <a:pt x="71" y="156"/>
                    <a:pt x="62" y="150"/>
                    <a:pt x="62" y="143"/>
                  </a:cubicBezTo>
                  <a:cubicBezTo>
                    <a:pt x="62" y="87"/>
                    <a:pt x="62" y="87"/>
                    <a:pt x="62" y="87"/>
                  </a:cubicBezTo>
                  <a:cubicBezTo>
                    <a:pt x="73" y="87"/>
                    <a:pt x="73" y="87"/>
                    <a:pt x="73" y="87"/>
                  </a:cubicBezTo>
                  <a:cubicBezTo>
                    <a:pt x="73" y="64"/>
                    <a:pt x="73" y="64"/>
                    <a:pt x="73" y="64"/>
                  </a:cubicBezTo>
                  <a:cubicBezTo>
                    <a:pt x="62" y="64"/>
                    <a:pt x="62" y="64"/>
                    <a:pt x="62" y="64"/>
                  </a:cubicBezTo>
                  <a:cubicBezTo>
                    <a:pt x="37" y="64"/>
                    <a:pt x="37" y="64"/>
                    <a:pt x="37" y="64"/>
                  </a:cubicBezTo>
                  <a:cubicBezTo>
                    <a:pt x="26" y="64"/>
                    <a:pt x="26" y="64"/>
                    <a:pt x="26" y="64"/>
                  </a:cubicBezTo>
                  <a:cubicBezTo>
                    <a:pt x="26" y="87"/>
                    <a:pt x="26" y="87"/>
                    <a:pt x="26" y="87"/>
                  </a:cubicBezTo>
                  <a:cubicBezTo>
                    <a:pt x="37" y="87"/>
                    <a:pt x="37" y="87"/>
                    <a:pt x="37" y="87"/>
                  </a:cubicBezTo>
                  <a:cubicBezTo>
                    <a:pt x="37" y="143"/>
                    <a:pt x="37" y="143"/>
                    <a:pt x="37" y="143"/>
                  </a:cubicBezTo>
                  <a:cubicBezTo>
                    <a:pt x="37" y="162"/>
                    <a:pt x="57" y="177"/>
                    <a:pt x="82" y="177"/>
                  </a:cubicBezTo>
                  <a:cubicBezTo>
                    <a:pt x="82" y="177"/>
                    <a:pt x="82" y="177"/>
                    <a:pt x="82" y="177"/>
                  </a:cubicBezTo>
                  <a:cubicBezTo>
                    <a:pt x="82" y="213"/>
                    <a:pt x="82" y="213"/>
                    <a:pt x="82" y="213"/>
                  </a:cubicBezTo>
                  <a:cubicBezTo>
                    <a:pt x="0" y="240"/>
                    <a:pt x="0" y="240"/>
                    <a:pt x="0" y="240"/>
                  </a:cubicBezTo>
                  <a:lnTo>
                    <a:pt x="0" y="0"/>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74" name="Freeform 73">
              <a:extLst>
                <a:ext uri="{FF2B5EF4-FFF2-40B4-BE49-F238E27FC236}">
                  <a16:creationId xmlns:a16="http://schemas.microsoft.com/office/drawing/2014/main" id="{B9F865B7-0AB0-45E6-86DA-90FF34778105}"/>
                </a:ext>
              </a:extLst>
            </p:cNvPr>
            <p:cNvSpPr>
              <a:spLocks noEditPoints="1"/>
            </p:cNvSpPr>
            <p:nvPr/>
          </p:nvSpPr>
          <p:spPr bwMode="auto">
            <a:xfrm>
              <a:off x="2674229" y="3120207"/>
              <a:ext cx="140457" cy="245205"/>
            </a:xfrm>
            <a:custGeom>
              <a:avLst/>
              <a:gdLst>
                <a:gd name="T0" fmla="*/ 37 w 86"/>
                <a:gd name="T1" fmla="*/ 128 h 150"/>
                <a:gd name="T2" fmla="*/ 34 w 86"/>
                <a:gd name="T3" fmla="*/ 127 h 150"/>
                <a:gd name="T4" fmla="*/ 34 w 86"/>
                <a:gd name="T5" fmla="*/ 150 h 150"/>
                <a:gd name="T6" fmla="*/ 45 w 86"/>
                <a:gd name="T7" fmla="*/ 142 h 150"/>
                <a:gd name="T8" fmla="*/ 37 w 86"/>
                <a:gd name="T9" fmla="*/ 128 h 150"/>
                <a:gd name="T10" fmla="*/ 34 w 86"/>
                <a:gd name="T11" fmla="*/ 118 h 150"/>
                <a:gd name="T12" fmla="*/ 34 w 86"/>
                <a:gd name="T13" fmla="*/ 51 h 150"/>
                <a:gd name="T14" fmla="*/ 51 w 86"/>
                <a:gd name="T15" fmla="*/ 46 h 150"/>
                <a:gd name="T16" fmla="*/ 61 w 86"/>
                <a:gd name="T17" fmla="*/ 8 h 150"/>
                <a:gd name="T18" fmla="*/ 72 w 86"/>
                <a:gd name="T19" fmla="*/ 1 h 150"/>
                <a:gd name="T20" fmla="*/ 78 w 86"/>
                <a:gd name="T21" fmla="*/ 12 h 150"/>
                <a:gd name="T22" fmla="*/ 69 w 86"/>
                <a:gd name="T23" fmla="*/ 51 h 150"/>
                <a:gd name="T24" fmla="*/ 82 w 86"/>
                <a:gd name="T25" fmla="*/ 84 h 150"/>
                <a:gd name="T26" fmla="*/ 77 w 86"/>
                <a:gd name="T27" fmla="*/ 103 h 150"/>
                <a:gd name="T28" fmla="*/ 77 w 86"/>
                <a:gd name="T29" fmla="*/ 103 h 150"/>
                <a:gd name="T30" fmla="*/ 86 w 86"/>
                <a:gd name="T31" fmla="*/ 117 h 150"/>
                <a:gd name="T32" fmla="*/ 83 w 86"/>
                <a:gd name="T33" fmla="*/ 130 h 150"/>
                <a:gd name="T34" fmla="*/ 34 w 86"/>
                <a:gd name="T35" fmla="*/ 118 h 150"/>
                <a:gd name="T36" fmla="*/ 34 w 86"/>
                <a:gd name="T37" fmla="*/ 127 h 150"/>
                <a:gd name="T38" fmla="*/ 23 w 86"/>
                <a:gd name="T39" fmla="*/ 136 h 150"/>
                <a:gd name="T40" fmla="*/ 31 w 86"/>
                <a:gd name="T41" fmla="*/ 150 h 150"/>
                <a:gd name="T42" fmla="*/ 34 w 86"/>
                <a:gd name="T43" fmla="*/ 150 h 150"/>
                <a:gd name="T44" fmla="*/ 34 w 86"/>
                <a:gd name="T45" fmla="*/ 127 h 150"/>
                <a:gd name="T46" fmla="*/ 34 w 86"/>
                <a:gd name="T47" fmla="*/ 51 h 150"/>
                <a:gd name="T48" fmla="*/ 34 w 86"/>
                <a:gd name="T49" fmla="*/ 118 h 150"/>
                <a:gd name="T50" fmla="*/ 0 w 86"/>
                <a:gd name="T51" fmla="*/ 109 h 150"/>
                <a:gd name="T52" fmla="*/ 3 w 86"/>
                <a:gd name="T53" fmla="*/ 96 h 150"/>
                <a:gd name="T54" fmla="*/ 18 w 86"/>
                <a:gd name="T55" fmla="*/ 88 h 150"/>
                <a:gd name="T56" fmla="*/ 23 w 86"/>
                <a:gd name="T57" fmla="*/ 69 h 150"/>
                <a:gd name="T58" fmla="*/ 34 w 86"/>
                <a:gd name="T59" fmla="*/ 51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6" h="150">
                  <a:moveTo>
                    <a:pt x="37" y="128"/>
                  </a:moveTo>
                  <a:cubicBezTo>
                    <a:pt x="36" y="127"/>
                    <a:pt x="35" y="127"/>
                    <a:pt x="34" y="127"/>
                  </a:cubicBezTo>
                  <a:cubicBezTo>
                    <a:pt x="34" y="150"/>
                    <a:pt x="34" y="150"/>
                    <a:pt x="34" y="150"/>
                  </a:cubicBezTo>
                  <a:cubicBezTo>
                    <a:pt x="39" y="150"/>
                    <a:pt x="44" y="147"/>
                    <a:pt x="45" y="142"/>
                  </a:cubicBezTo>
                  <a:cubicBezTo>
                    <a:pt x="47" y="136"/>
                    <a:pt x="43" y="129"/>
                    <a:pt x="37" y="128"/>
                  </a:cubicBezTo>
                  <a:close/>
                  <a:moveTo>
                    <a:pt x="34" y="118"/>
                  </a:moveTo>
                  <a:cubicBezTo>
                    <a:pt x="34" y="51"/>
                    <a:pt x="34" y="51"/>
                    <a:pt x="34" y="51"/>
                  </a:cubicBezTo>
                  <a:cubicBezTo>
                    <a:pt x="39" y="48"/>
                    <a:pt x="45" y="46"/>
                    <a:pt x="51" y="46"/>
                  </a:cubicBezTo>
                  <a:cubicBezTo>
                    <a:pt x="61" y="8"/>
                    <a:pt x="61" y="8"/>
                    <a:pt x="61" y="8"/>
                  </a:cubicBezTo>
                  <a:cubicBezTo>
                    <a:pt x="62" y="3"/>
                    <a:pt x="67" y="0"/>
                    <a:pt x="72" y="1"/>
                  </a:cubicBezTo>
                  <a:cubicBezTo>
                    <a:pt x="77" y="2"/>
                    <a:pt x="80" y="7"/>
                    <a:pt x="78" y="12"/>
                  </a:cubicBezTo>
                  <a:cubicBezTo>
                    <a:pt x="69" y="51"/>
                    <a:pt x="69" y="51"/>
                    <a:pt x="69" y="51"/>
                  </a:cubicBezTo>
                  <a:cubicBezTo>
                    <a:pt x="79" y="57"/>
                    <a:pt x="86" y="68"/>
                    <a:pt x="82" y="84"/>
                  </a:cubicBezTo>
                  <a:cubicBezTo>
                    <a:pt x="82" y="84"/>
                    <a:pt x="79" y="97"/>
                    <a:pt x="77" y="103"/>
                  </a:cubicBezTo>
                  <a:cubicBezTo>
                    <a:pt x="77" y="103"/>
                    <a:pt x="77" y="103"/>
                    <a:pt x="77" y="103"/>
                  </a:cubicBezTo>
                  <a:cubicBezTo>
                    <a:pt x="75" y="112"/>
                    <a:pt x="86" y="117"/>
                    <a:pt x="86" y="117"/>
                  </a:cubicBezTo>
                  <a:cubicBezTo>
                    <a:pt x="83" y="130"/>
                    <a:pt x="83" y="130"/>
                    <a:pt x="83" y="130"/>
                  </a:cubicBezTo>
                  <a:lnTo>
                    <a:pt x="34" y="118"/>
                  </a:lnTo>
                  <a:close/>
                  <a:moveTo>
                    <a:pt x="34" y="127"/>
                  </a:moveTo>
                  <a:cubicBezTo>
                    <a:pt x="29" y="127"/>
                    <a:pt x="24" y="131"/>
                    <a:pt x="23" y="136"/>
                  </a:cubicBezTo>
                  <a:cubicBezTo>
                    <a:pt x="21" y="142"/>
                    <a:pt x="25" y="148"/>
                    <a:pt x="31" y="150"/>
                  </a:cubicBezTo>
                  <a:cubicBezTo>
                    <a:pt x="32" y="150"/>
                    <a:pt x="33" y="150"/>
                    <a:pt x="34" y="150"/>
                  </a:cubicBezTo>
                  <a:cubicBezTo>
                    <a:pt x="34" y="127"/>
                    <a:pt x="34" y="127"/>
                    <a:pt x="34" y="127"/>
                  </a:cubicBezTo>
                  <a:close/>
                  <a:moveTo>
                    <a:pt x="34" y="51"/>
                  </a:moveTo>
                  <a:cubicBezTo>
                    <a:pt x="34" y="118"/>
                    <a:pt x="34" y="118"/>
                    <a:pt x="34" y="118"/>
                  </a:cubicBezTo>
                  <a:cubicBezTo>
                    <a:pt x="0" y="109"/>
                    <a:pt x="0" y="109"/>
                    <a:pt x="0" y="109"/>
                  </a:cubicBezTo>
                  <a:cubicBezTo>
                    <a:pt x="3" y="96"/>
                    <a:pt x="3" y="96"/>
                    <a:pt x="3" y="96"/>
                  </a:cubicBezTo>
                  <a:cubicBezTo>
                    <a:pt x="3" y="96"/>
                    <a:pt x="16" y="97"/>
                    <a:pt x="18" y="88"/>
                  </a:cubicBezTo>
                  <a:cubicBezTo>
                    <a:pt x="20" y="80"/>
                    <a:pt x="23" y="69"/>
                    <a:pt x="23" y="69"/>
                  </a:cubicBezTo>
                  <a:cubicBezTo>
                    <a:pt x="25" y="61"/>
                    <a:pt x="29" y="55"/>
                    <a:pt x="34" y="51"/>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75" name="Freeform 74">
              <a:extLst>
                <a:ext uri="{FF2B5EF4-FFF2-40B4-BE49-F238E27FC236}">
                  <a16:creationId xmlns:a16="http://schemas.microsoft.com/office/drawing/2014/main" id="{9518A80B-516D-4B66-BF3F-C2AAB5D277AE}"/>
                </a:ext>
              </a:extLst>
            </p:cNvPr>
            <p:cNvSpPr>
              <a:spLocks noEditPoints="1"/>
            </p:cNvSpPr>
            <p:nvPr/>
          </p:nvSpPr>
          <p:spPr bwMode="auto">
            <a:xfrm>
              <a:off x="1448204" y="2279845"/>
              <a:ext cx="282105" cy="345191"/>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solidFill>
              <a:schemeClr val="accent1">
                <a:lumMod val="75000"/>
              </a:schemeClr>
            </a:solidFill>
            <a:ln>
              <a:noFill/>
            </a:ln>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76" name="Freeform 75">
              <a:extLst>
                <a:ext uri="{FF2B5EF4-FFF2-40B4-BE49-F238E27FC236}">
                  <a16:creationId xmlns:a16="http://schemas.microsoft.com/office/drawing/2014/main" id="{1A653AB1-5FFE-4753-85BE-C30B040A10BB}"/>
                </a:ext>
              </a:extLst>
            </p:cNvPr>
            <p:cNvSpPr>
              <a:spLocks noEditPoints="1"/>
            </p:cNvSpPr>
            <p:nvPr/>
          </p:nvSpPr>
          <p:spPr bwMode="auto">
            <a:xfrm>
              <a:off x="1990989" y="2642890"/>
              <a:ext cx="427323" cy="428513"/>
            </a:xfrm>
            <a:custGeom>
              <a:avLst/>
              <a:gdLst>
                <a:gd name="T0" fmla="*/ 249 w 261"/>
                <a:gd name="T1" fmla="*/ 220 h 262"/>
                <a:gd name="T2" fmla="*/ 261 w 261"/>
                <a:gd name="T3" fmla="*/ 70 h 262"/>
                <a:gd name="T4" fmla="*/ 249 w 261"/>
                <a:gd name="T5" fmla="*/ 70 h 262"/>
                <a:gd name="T6" fmla="*/ 249 w 261"/>
                <a:gd name="T7" fmla="*/ 154 h 262"/>
                <a:gd name="T8" fmla="*/ 227 w 261"/>
                <a:gd name="T9" fmla="*/ 180 h 262"/>
                <a:gd name="T10" fmla="*/ 209 w 261"/>
                <a:gd name="T11" fmla="*/ 262 h 262"/>
                <a:gd name="T12" fmla="*/ 209 w 261"/>
                <a:gd name="T13" fmla="*/ 262 h 262"/>
                <a:gd name="T14" fmla="*/ 209 w 261"/>
                <a:gd name="T15" fmla="*/ 15 h 262"/>
                <a:gd name="T16" fmla="*/ 203 w 261"/>
                <a:gd name="T17" fmla="*/ 28 h 262"/>
                <a:gd name="T18" fmla="*/ 209 w 261"/>
                <a:gd name="T19" fmla="*/ 50 h 262"/>
                <a:gd name="T20" fmla="*/ 201 w 261"/>
                <a:gd name="T21" fmla="*/ 120 h 262"/>
                <a:gd name="T22" fmla="*/ 209 w 261"/>
                <a:gd name="T23" fmla="*/ 197 h 262"/>
                <a:gd name="T24" fmla="*/ 209 w 261"/>
                <a:gd name="T25" fmla="*/ 197 h 262"/>
                <a:gd name="T26" fmla="*/ 195 w 261"/>
                <a:gd name="T27" fmla="*/ 232 h 262"/>
                <a:gd name="T28" fmla="*/ 168 w 261"/>
                <a:gd name="T29" fmla="*/ 36 h 262"/>
                <a:gd name="T30" fmla="*/ 195 w 261"/>
                <a:gd name="T31" fmla="*/ 20 h 262"/>
                <a:gd name="T32" fmla="*/ 195 w 261"/>
                <a:gd name="T33" fmla="*/ 50 h 262"/>
                <a:gd name="T34" fmla="*/ 195 w 261"/>
                <a:gd name="T35" fmla="*/ 120 h 262"/>
                <a:gd name="T36" fmla="*/ 168 w 261"/>
                <a:gd name="T37" fmla="*/ 220 h 262"/>
                <a:gd name="T38" fmla="*/ 192 w 261"/>
                <a:gd name="T39" fmla="*/ 249 h 262"/>
                <a:gd name="T40" fmla="*/ 168 w 261"/>
                <a:gd name="T41" fmla="*/ 21 h 262"/>
                <a:gd name="T42" fmla="*/ 168 w 261"/>
                <a:gd name="T43" fmla="*/ 44 h 262"/>
                <a:gd name="T44" fmla="*/ 135 w 261"/>
                <a:gd name="T45" fmla="*/ 120 h 262"/>
                <a:gd name="T46" fmla="*/ 167 w 261"/>
                <a:gd name="T47" fmla="*/ 198 h 262"/>
                <a:gd name="T48" fmla="*/ 167 w 261"/>
                <a:gd name="T49" fmla="*/ 167 h 262"/>
                <a:gd name="T50" fmla="*/ 130 w 261"/>
                <a:gd name="T51" fmla="*/ 147 h 262"/>
                <a:gd name="T52" fmla="*/ 93 w 261"/>
                <a:gd name="T53" fmla="*/ 44 h 262"/>
                <a:gd name="T54" fmla="*/ 130 w 261"/>
                <a:gd name="T55" fmla="*/ 0 h 262"/>
                <a:gd name="T56" fmla="*/ 126 w 261"/>
                <a:gd name="T57" fmla="*/ 120 h 262"/>
                <a:gd name="T58" fmla="*/ 130 w 261"/>
                <a:gd name="T59" fmla="*/ 159 h 262"/>
                <a:gd name="T60" fmla="*/ 130 w 261"/>
                <a:gd name="T61" fmla="*/ 179 h 262"/>
                <a:gd name="T62" fmla="*/ 130 w 261"/>
                <a:gd name="T63" fmla="*/ 198 h 262"/>
                <a:gd name="T64" fmla="*/ 93 w 261"/>
                <a:gd name="T65" fmla="*/ 3 h 262"/>
                <a:gd name="T66" fmla="*/ 93 w 261"/>
                <a:gd name="T67" fmla="*/ 36 h 262"/>
                <a:gd name="T68" fmla="*/ 67 w 261"/>
                <a:gd name="T69" fmla="*/ 20 h 262"/>
                <a:gd name="T70" fmla="*/ 67 w 261"/>
                <a:gd name="T71" fmla="*/ 70 h 262"/>
                <a:gd name="T72" fmla="*/ 92 w 261"/>
                <a:gd name="T73" fmla="*/ 147 h 262"/>
                <a:gd name="T74" fmla="*/ 92 w 261"/>
                <a:gd name="T75" fmla="*/ 179 h 262"/>
                <a:gd name="T76" fmla="*/ 93 w 261"/>
                <a:gd name="T77" fmla="*/ 198 h 262"/>
                <a:gd name="T78" fmla="*/ 67 w 261"/>
                <a:gd name="T79" fmla="*/ 171 h 262"/>
                <a:gd name="T80" fmla="*/ 69 w 261"/>
                <a:gd name="T81" fmla="*/ 232 h 262"/>
                <a:gd name="T82" fmla="*/ 58 w 261"/>
                <a:gd name="T83" fmla="*/ 28 h 262"/>
                <a:gd name="T84" fmla="*/ 67 w 261"/>
                <a:gd name="T85" fmla="*/ 9 h 262"/>
                <a:gd name="T86" fmla="*/ 67 w 261"/>
                <a:gd name="T87" fmla="*/ 120 h 262"/>
                <a:gd name="T88" fmla="*/ 67 w 261"/>
                <a:gd name="T89" fmla="*/ 188 h 262"/>
                <a:gd name="T90" fmla="*/ 67 w 261"/>
                <a:gd name="T91" fmla="*/ 232 h 262"/>
                <a:gd name="T92" fmla="*/ 67 w 261"/>
                <a:gd name="T93" fmla="*/ 232 h 262"/>
                <a:gd name="T94" fmla="*/ 52 w 261"/>
                <a:gd name="T95" fmla="*/ 50 h 262"/>
                <a:gd name="T96" fmla="*/ 12 w 261"/>
                <a:gd name="T97" fmla="*/ 220 h 262"/>
                <a:gd name="T98" fmla="*/ 52 w 261"/>
                <a:gd name="T99" fmla="*/ 232 h 262"/>
                <a:gd name="T100" fmla="*/ 52 w 261"/>
                <a:gd name="T101" fmla="*/ 232 h 262"/>
                <a:gd name="T102" fmla="*/ 12 w 261"/>
                <a:gd name="T103" fmla="*/ 114 h 262"/>
                <a:gd name="T104" fmla="*/ 0 w 261"/>
                <a:gd name="T105" fmla="*/ 104 h 262"/>
                <a:gd name="T106" fmla="*/ 12 w 261"/>
                <a:gd name="T107" fmla="*/ 15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61" h="262">
                  <a:moveTo>
                    <a:pt x="249" y="220"/>
                  </a:moveTo>
                  <a:cubicBezTo>
                    <a:pt x="249" y="154"/>
                    <a:pt x="249" y="154"/>
                    <a:pt x="249" y="154"/>
                  </a:cubicBezTo>
                  <a:cubicBezTo>
                    <a:pt x="251" y="157"/>
                    <a:pt x="252" y="160"/>
                    <a:pt x="252" y="164"/>
                  </a:cubicBezTo>
                  <a:cubicBezTo>
                    <a:pt x="252" y="220"/>
                    <a:pt x="252" y="220"/>
                    <a:pt x="252" y="220"/>
                  </a:cubicBezTo>
                  <a:cubicBezTo>
                    <a:pt x="249" y="220"/>
                    <a:pt x="249" y="220"/>
                    <a:pt x="249" y="220"/>
                  </a:cubicBezTo>
                  <a:close/>
                  <a:moveTo>
                    <a:pt x="249" y="114"/>
                  </a:moveTo>
                  <a:cubicBezTo>
                    <a:pt x="249" y="70"/>
                    <a:pt x="249" y="70"/>
                    <a:pt x="249" y="70"/>
                  </a:cubicBezTo>
                  <a:cubicBezTo>
                    <a:pt x="250" y="70"/>
                    <a:pt x="250" y="70"/>
                    <a:pt x="250" y="69"/>
                  </a:cubicBezTo>
                  <a:cubicBezTo>
                    <a:pt x="257" y="67"/>
                    <a:pt x="257" y="67"/>
                    <a:pt x="257" y="67"/>
                  </a:cubicBezTo>
                  <a:cubicBezTo>
                    <a:pt x="259" y="66"/>
                    <a:pt x="261" y="67"/>
                    <a:pt x="261" y="70"/>
                  </a:cubicBezTo>
                  <a:cubicBezTo>
                    <a:pt x="261" y="104"/>
                    <a:pt x="261" y="104"/>
                    <a:pt x="261" y="104"/>
                  </a:cubicBezTo>
                  <a:cubicBezTo>
                    <a:pt x="261" y="107"/>
                    <a:pt x="259" y="110"/>
                    <a:pt x="257" y="111"/>
                  </a:cubicBezTo>
                  <a:cubicBezTo>
                    <a:pt x="250" y="113"/>
                    <a:pt x="250" y="113"/>
                    <a:pt x="250" y="113"/>
                  </a:cubicBezTo>
                  <a:cubicBezTo>
                    <a:pt x="250" y="114"/>
                    <a:pt x="250" y="114"/>
                    <a:pt x="249" y="114"/>
                  </a:cubicBezTo>
                  <a:close/>
                  <a:moveTo>
                    <a:pt x="249" y="70"/>
                  </a:moveTo>
                  <a:cubicBezTo>
                    <a:pt x="249" y="114"/>
                    <a:pt x="249" y="114"/>
                    <a:pt x="249" y="114"/>
                  </a:cubicBezTo>
                  <a:cubicBezTo>
                    <a:pt x="248" y="114"/>
                    <a:pt x="246" y="112"/>
                    <a:pt x="246" y="110"/>
                  </a:cubicBezTo>
                  <a:cubicBezTo>
                    <a:pt x="246" y="76"/>
                    <a:pt x="246" y="76"/>
                    <a:pt x="246" y="76"/>
                  </a:cubicBezTo>
                  <a:cubicBezTo>
                    <a:pt x="246" y="74"/>
                    <a:pt x="248" y="71"/>
                    <a:pt x="249" y="70"/>
                  </a:cubicBezTo>
                  <a:close/>
                  <a:moveTo>
                    <a:pt x="249" y="154"/>
                  </a:moveTo>
                  <a:cubicBezTo>
                    <a:pt x="246" y="150"/>
                    <a:pt x="241" y="146"/>
                    <a:pt x="235" y="146"/>
                  </a:cubicBezTo>
                  <a:cubicBezTo>
                    <a:pt x="235" y="50"/>
                    <a:pt x="235" y="50"/>
                    <a:pt x="235" y="50"/>
                  </a:cubicBezTo>
                  <a:cubicBezTo>
                    <a:pt x="209" y="50"/>
                    <a:pt x="209" y="50"/>
                    <a:pt x="209" y="50"/>
                  </a:cubicBezTo>
                  <a:cubicBezTo>
                    <a:pt x="209" y="162"/>
                    <a:pt x="209" y="162"/>
                    <a:pt x="209" y="162"/>
                  </a:cubicBezTo>
                  <a:cubicBezTo>
                    <a:pt x="219" y="162"/>
                    <a:pt x="227" y="170"/>
                    <a:pt x="227" y="180"/>
                  </a:cubicBezTo>
                  <a:cubicBezTo>
                    <a:pt x="227" y="189"/>
                    <a:pt x="219" y="197"/>
                    <a:pt x="209" y="197"/>
                  </a:cubicBezTo>
                  <a:cubicBezTo>
                    <a:pt x="209" y="220"/>
                    <a:pt x="209" y="220"/>
                    <a:pt x="209" y="220"/>
                  </a:cubicBezTo>
                  <a:cubicBezTo>
                    <a:pt x="249" y="220"/>
                    <a:pt x="249" y="220"/>
                    <a:pt x="249" y="220"/>
                  </a:cubicBezTo>
                  <a:cubicBezTo>
                    <a:pt x="249" y="154"/>
                    <a:pt x="249" y="154"/>
                    <a:pt x="249" y="154"/>
                  </a:cubicBezTo>
                  <a:close/>
                  <a:moveTo>
                    <a:pt x="209" y="262"/>
                  </a:moveTo>
                  <a:cubicBezTo>
                    <a:pt x="209" y="232"/>
                    <a:pt x="209" y="232"/>
                    <a:pt x="209" y="232"/>
                  </a:cubicBezTo>
                  <a:cubicBezTo>
                    <a:pt x="226" y="232"/>
                    <a:pt x="226" y="232"/>
                    <a:pt x="226" y="232"/>
                  </a:cubicBezTo>
                  <a:cubicBezTo>
                    <a:pt x="226" y="249"/>
                    <a:pt x="226" y="249"/>
                    <a:pt x="226" y="249"/>
                  </a:cubicBezTo>
                  <a:cubicBezTo>
                    <a:pt x="226" y="257"/>
                    <a:pt x="220" y="262"/>
                    <a:pt x="213" y="262"/>
                  </a:cubicBezTo>
                  <a:cubicBezTo>
                    <a:pt x="209" y="262"/>
                    <a:pt x="209" y="262"/>
                    <a:pt x="209" y="262"/>
                  </a:cubicBezTo>
                  <a:close/>
                  <a:moveTo>
                    <a:pt x="209" y="44"/>
                  </a:moveTo>
                  <a:cubicBezTo>
                    <a:pt x="209" y="15"/>
                    <a:pt x="209" y="15"/>
                    <a:pt x="209" y="15"/>
                  </a:cubicBezTo>
                  <a:cubicBezTo>
                    <a:pt x="225" y="23"/>
                    <a:pt x="235" y="33"/>
                    <a:pt x="235" y="44"/>
                  </a:cubicBezTo>
                  <a:lnTo>
                    <a:pt x="209" y="44"/>
                  </a:lnTo>
                  <a:close/>
                  <a:moveTo>
                    <a:pt x="209" y="15"/>
                  </a:moveTo>
                  <a:cubicBezTo>
                    <a:pt x="209" y="44"/>
                    <a:pt x="209" y="44"/>
                    <a:pt x="209" y="44"/>
                  </a:cubicBezTo>
                  <a:cubicBezTo>
                    <a:pt x="195" y="44"/>
                    <a:pt x="195" y="44"/>
                    <a:pt x="195" y="44"/>
                  </a:cubicBezTo>
                  <a:cubicBezTo>
                    <a:pt x="195" y="37"/>
                    <a:pt x="195" y="37"/>
                    <a:pt x="195" y="37"/>
                  </a:cubicBezTo>
                  <a:cubicBezTo>
                    <a:pt x="195" y="37"/>
                    <a:pt x="195" y="37"/>
                    <a:pt x="195" y="37"/>
                  </a:cubicBezTo>
                  <a:cubicBezTo>
                    <a:pt x="199" y="37"/>
                    <a:pt x="203" y="33"/>
                    <a:pt x="203" y="28"/>
                  </a:cubicBezTo>
                  <a:cubicBezTo>
                    <a:pt x="203" y="24"/>
                    <a:pt x="199" y="20"/>
                    <a:pt x="195" y="20"/>
                  </a:cubicBezTo>
                  <a:cubicBezTo>
                    <a:pt x="195" y="20"/>
                    <a:pt x="195" y="20"/>
                    <a:pt x="195" y="20"/>
                  </a:cubicBezTo>
                  <a:cubicBezTo>
                    <a:pt x="195" y="9"/>
                    <a:pt x="195" y="9"/>
                    <a:pt x="195" y="9"/>
                  </a:cubicBezTo>
                  <a:cubicBezTo>
                    <a:pt x="200" y="11"/>
                    <a:pt x="205" y="13"/>
                    <a:pt x="209" y="15"/>
                  </a:cubicBezTo>
                  <a:close/>
                  <a:moveTo>
                    <a:pt x="209" y="50"/>
                  </a:moveTo>
                  <a:cubicBezTo>
                    <a:pt x="209" y="162"/>
                    <a:pt x="209" y="162"/>
                    <a:pt x="209" y="162"/>
                  </a:cubicBezTo>
                  <a:cubicBezTo>
                    <a:pt x="209" y="162"/>
                    <a:pt x="209" y="162"/>
                    <a:pt x="209" y="162"/>
                  </a:cubicBezTo>
                  <a:cubicBezTo>
                    <a:pt x="203" y="162"/>
                    <a:pt x="198" y="166"/>
                    <a:pt x="195" y="171"/>
                  </a:cubicBezTo>
                  <a:cubicBezTo>
                    <a:pt x="195" y="120"/>
                    <a:pt x="195" y="120"/>
                    <a:pt x="195" y="120"/>
                  </a:cubicBezTo>
                  <a:cubicBezTo>
                    <a:pt x="201" y="120"/>
                    <a:pt x="201" y="120"/>
                    <a:pt x="201" y="120"/>
                  </a:cubicBezTo>
                  <a:cubicBezTo>
                    <a:pt x="201" y="70"/>
                    <a:pt x="201" y="70"/>
                    <a:pt x="201" y="70"/>
                  </a:cubicBezTo>
                  <a:cubicBezTo>
                    <a:pt x="195" y="70"/>
                    <a:pt x="195" y="70"/>
                    <a:pt x="195" y="70"/>
                  </a:cubicBezTo>
                  <a:cubicBezTo>
                    <a:pt x="195" y="50"/>
                    <a:pt x="195" y="50"/>
                    <a:pt x="195" y="50"/>
                  </a:cubicBezTo>
                  <a:cubicBezTo>
                    <a:pt x="209" y="50"/>
                    <a:pt x="209" y="50"/>
                    <a:pt x="209" y="50"/>
                  </a:cubicBezTo>
                  <a:close/>
                  <a:moveTo>
                    <a:pt x="209" y="197"/>
                  </a:moveTo>
                  <a:cubicBezTo>
                    <a:pt x="209" y="220"/>
                    <a:pt x="209" y="220"/>
                    <a:pt x="209" y="220"/>
                  </a:cubicBezTo>
                  <a:cubicBezTo>
                    <a:pt x="195" y="220"/>
                    <a:pt x="195" y="220"/>
                    <a:pt x="195" y="220"/>
                  </a:cubicBezTo>
                  <a:cubicBezTo>
                    <a:pt x="195" y="188"/>
                    <a:pt x="195" y="188"/>
                    <a:pt x="195" y="188"/>
                  </a:cubicBezTo>
                  <a:cubicBezTo>
                    <a:pt x="198" y="193"/>
                    <a:pt x="203" y="197"/>
                    <a:pt x="209" y="197"/>
                  </a:cubicBezTo>
                  <a:cubicBezTo>
                    <a:pt x="209" y="197"/>
                    <a:pt x="209" y="197"/>
                    <a:pt x="209" y="197"/>
                  </a:cubicBezTo>
                  <a:close/>
                  <a:moveTo>
                    <a:pt x="209" y="232"/>
                  </a:moveTo>
                  <a:cubicBezTo>
                    <a:pt x="209" y="262"/>
                    <a:pt x="209" y="262"/>
                    <a:pt x="209" y="262"/>
                  </a:cubicBezTo>
                  <a:cubicBezTo>
                    <a:pt x="206" y="262"/>
                    <a:pt x="206" y="262"/>
                    <a:pt x="206" y="262"/>
                  </a:cubicBezTo>
                  <a:cubicBezTo>
                    <a:pt x="201" y="262"/>
                    <a:pt x="197" y="260"/>
                    <a:pt x="195" y="257"/>
                  </a:cubicBezTo>
                  <a:cubicBezTo>
                    <a:pt x="195" y="232"/>
                    <a:pt x="195" y="232"/>
                    <a:pt x="195" y="232"/>
                  </a:cubicBezTo>
                  <a:lnTo>
                    <a:pt x="209" y="232"/>
                  </a:lnTo>
                  <a:close/>
                  <a:moveTo>
                    <a:pt x="171" y="20"/>
                  </a:moveTo>
                  <a:cubicBezTo>
                    <a:pt x="175" y="20"/>
                    <a:pt x="179" y="24"/>
                    <a:pt x="179" y="28"/>
                  </a:cubicBezTo>
                  <a:cubicBezTo>
                    <a:pt x="179" y="33"/>
                    <a:pt x="175" y="37"/>
                    <a:pt x="171" y="37"/>
                  </a:cubicBezTo>
                  <a:cubicBezTo>
                    <a:pt x="170" y="37"/>
                    <a:pt x="169" y="37"/>
                    <a:pt x="168" y="36"/>
                  </a:cubicBezTo>
                  <a:cubicBezTo>
                    <a:pt x="168" y="44"/>
                    <a:pt x="168" y="44"/>
                    <a:pt x="168" y="44"/>
                  </a:cubicBezTo>
                  <a:cubicBezTo>
                    <a:pt x="195" y="44"/>
                    <a:pt x="195" y="44"/>
                    <a:pt x="195" y="44"/>
                  </a:cubicBezTo>
                  <a:cubicBezTo>
                    <a:pt x="195" y="37"/>
                    <a:pt x="195" y="37"/>
                    <a:pt x="195" y="37"/>
                  </a:cubicBezTo>
                  <a:cubicBezTo>
                    <a:pt x="190" y="37"/>
                    <a:pt x="186" y="33"/>
                    <a:pt x="186" y="28"/>
                  </a:cubicBezTo>
                  <a:cubicBezTo>
                    <a:pt x="186" y="24"/>
                    <a:pt x="190" y="20"/>
                    <a:pt x="195" y="20"/>
                  </a:cubicBezTo>
                  <a:cubicBezTo>
                    <a:pt x="195" y="9"/>
                    <a:pt x="195" y="9"/>
                    <a:pt x="195" y="9"/>
                  </a:cubicBezTo>
                  <a:cubicBezTo>
                    <a:pt x="187" y="6"/>
                    <a:pt x="178" y="4"/>
                    <a:pt x="168" y="3"/>
                  </a:cubicBezTo>
                  <a:cubicBezTo>
                    <a:pt x="168" y="21"/>
                    <a:pt x="168" y="21"/>
                    <a:pt x="168" y="21"/>
                  </a:cubicBezTo>
                  <a:cubicBezTo>
                    <a:pt x="169" y="20"/>
                    <a:pt x="170" y="20"/>
                    <a:pt x="171" y="20"/>
                  </a:cubicBezTo>
                  <a:close/>
                  <a:moveTo>
                    <a:pt x="195" y="50"/>
                  </a:moveTo>
                  <a:cubicBezTo>
                    <a:pt x="195" y="70"/>
                    <a:pt x="195" y="70"/>
                    <a:pt x="195" y="70"/>
                  </a:cubicBezTo>
                  <a:cubicBezTo>
                    <a:pt x="168" y="70"/>
                    <a:pt x="168" y="70"/>
                    <a:pt x="168" y="70"/>
                  </a:cubicBezTo>
                  <a:cubicBezTo>
                    <a:pt x="168" y="50"/>
                    <a:pt x="168" y="50"/>
                    <a:pt x="168" y="50"/>
                  </a:cubicBezTo>
                  <a:cubicBezTo>
                    <a:pt x="195" y="50"/>
                    <a:pt x="195" y="50"/>
                    <a:pt x="195" y="50"/>
                  </a:cubicBezTo>
                  <a:close/>
                  <a:moveTo>
                    <a:pt x="195" y="120"/>
                  </a:moveTo>
                  <a:cubicBezTo>
                    <a:pt x="195" y="171"/>
                    <a:pt x="195" y="171"/>
                    <a:pt x="195" y="171"/>
                  </a:cubicBezTo>
                  <a:cubicBezTo>
                    <a:pt x="193" y="173"/>
                    <a:pt x="192" y="176"/>
                    <a:pt x="192" y="180"/>
                  </a:cubicBezTo>
                  <a:cubicBezTo>
                    <a:pt x="192" y="183"/>
                    <a:pt x="193" y="186"/>
                    <a:pt x="195" y="188"/>
                  </a:cubicBezTo>
                  <a:cubicBezTo>
                    <a:pt x="195" y="220"/>
                    <a:pt x="195" y="220"/>
                    <a:pt x="195" y="220"/>
                  </a:cubicBezTo>
                  <a:cubicBezTo>
                    <a:pt x="168" y="220"/>
                    <a:pt x="168" y="220"/>
                    <a:pt x="168" y="220"/>
                  </a:cubicBezTo>
                  <a:cubicBezTo>
                    <a:pt x="168" y="120"/>
                    <a:pt x="168" y="120"/>
                    <a:pt x="168" y="120"/>
                  </a:cubicBezTo>
                  <a:cubicBezTo>
                    <a:pt x="195" y="120"/>
                    <a:pt x="195" y="120"/>
                    <a:pt x="195" y="120"/>
                  </a:cubicBezTo>
                  <a:close/>
                  <a:moveTo>
                    <a:pt x="195" y="232"/>
                  </a:moveTo>
                  <a:cubicBezTo>
                    <a:pt x="195" y="257"/>
                    <a:pt x="195" y="257"/>
                    <a:pt x="195" y="257"/>
                  </a:cubicBezTo>
                  <a:cubicBezTo>
                    <a:pt x="193" y="254"/>
                    <a:pt x="192" y="252"/>
                    <a:pt x="192" y="249"/>
                  </a:cubicBezTo>
                  <a:cubicBezTo>
                    <a:pt x="192" y="232"/>
                    <a:pt x="192" y="232"/>
                    <a:pt x="192" y="232"/>
                  </a:cubicBezTo>
                  <a:lnTo>
                    <a:pt x="195" y="232"/>
                  </a:lnTo>
                  <a:close/>
                  <a:moveTo>
                    <a:pt x="168" y="36"/>
                  </a:moveTo>
                  <a:cubicBezTo>
                    <a:pt x="165" y="35"/>
                    <a:pt x="162" y="32"/>
                    <a:pt x="162" y="28"/>
                  </a:cubicBezTo>
                  <a:cubicBezTo>
                    <a:pt x="162" y="25"/>
                    <a:pt x="165" y="22"/>
                    <a:pt x="168" y="21"/>
                  </a:cubicBezTo>
                  <a:cubicBezTo>
                    <a:pt x="168" y="3"/>
                    <a:pt x="168" y="3"/>
                    <a:pt x="168" y="3"/>
                  </a:cubicBezTo>
                  <a:cubicBezTo>
                    <a:pt x="157" y="1"/>
                    <a:pt x="144" y="0"/>
                    <a:pt x="131" y="0"/>
                  </a:cubicBezTo>
                  <a:cubicBezTo>
                    <a:pt x="130" y="0"/>
                    <a:pt x="130" y="0"/>
                    <a:pt x="130" y="0"/>
                  </a:cubicBezTo>
                  <a:cubicBezTo>
                    <a:pt x="130" y="44"/>
                    <a:pt x="130" y="44"/>
                    <a:pt x="130" y="44"/>
                  </a:cubicBezTo>
                  <a:cubicBezTo>
                    <a:pt x="168" y="44"/>
                    <a:pt x="168" y="44"/>
                    <a:pt x="168" y="44"/>
                  </a:cubicBezTo>
                  <a:cubicBezTo>
                    <a:pt x="168" y="36"/>
                    <a:pt x="168" y="36"/>
                    <a:pt x="168" y="36"/>
                  </a:cubicBezTo>
                  <a:close/>
                  <a:moveTo>
                    <a:pt x="168" y="50"/>
                  </a:moveTo>
                  <a:cubicBezTo>
                    <a:pt x="168" y="70"/>
                    <a:pt x="168" y="70"/>
                    <a:pt x="168" y="70"/>
                  </a:cubicBezTo>
                  <a:cubicBezTo>
                    <a:pt x="135" y="70"/>
                    <a:pt x="135" y="70"/>
                    <a:pt x="135" y="70"/>
                  </a:cubicBezTo>
                  <a:cubicBezTo>
                    <a:pt x="135" y="120"/>
                    <a:pt x="135" y="120"/>
                    <a:pt x="135" y="120"/>
                  </a:cubicBezTo>
                  <a:cubicBezTo>
                    <a:pt x="168" y="120"/>
                    <a:pt x="168" y="120"/>
                    <a:pt x="168" y="120"/>
                  </a:cubicBezTo>
                  <a:cubicBezTo>
                    <a:pt x="168" y="220"/>
                    <a:pt x="168" y="220"/>
                    <a:pt x="168" y="220"/>
                  </a:cubicBezTo>
                  <a:cubicBezTo>
                    <a:pt x="130" y="220"/>
                    <a:pt x="130" y="220"/>
                    <a:pt x="130" y="220"/>
                  </a:cubicBezTo>
                  <a:cubicBezTo>
                    <a:pt x="130" y="198"/>
                    <a:pt x="130" y="198"/>
                    <a:pt x="130" y="198"/>
                  </a:cubicBezTo>
                  <a:cubicBezTo>
                    <a:pt x="167" y="198"/>
                    <a:pt x="167" y="198"/>
                    <a:pt x="167" y="198"/>
                  </a:cubicBezTo>
                  <a:cubicBezTo>
                    <a:pt x="167" y="187"/>
                    <a:pt x="167" y="187"/>
                    <a:pt x="167" y="187"/>
                  </a:cubicBezTo>
                  <a:cubicBezTo>
                    <a:pt x="130" y="187"/>
                    <a:pt x="130" y="187"/>
                    <a:pt x="130" y="187"/>
                  </a:cubicBezTo>
                  <a:cubicBezTo>
                    <a:pt x="130" y="179"/>
                    <a:pt x="130" y="179"/>
                    <a:pt x="130" y="179"/>
                  </a:cubicBezTo>
                  <a:cubicBezTo>
                    <a:pt x="167" y="179"/>
                    <a:pt x="167" y="179"/>
                    <a:pt x="167" y="179"/>
                  </a:cubicBezTo>
                  <a:cubicBezTo>
                    <a:pt x="167" y="167"/>
                    <a:pt x="167" y="167"/>
                    <a:pt x="167" y="167"/>
                  </a:cubicBezTo>
                  <a:cubicBezTo>
                    <a:pt x="130" y="167"/>
                    <a:pt x="130" y="167"/>
                    <a:pt x="130" y="167"/>
                  </a:cubicBezTo>
                  <a:cubicBezTo>
                    <a:pt x="130" y="159"/>
                    <a:pt x="130" y="159"/>
                    <a:pt x="130" y="159"/>
                  </a:cubicBezTo>
                  <a:cubicBezTo>
                    <a:pt x="167" y="159"/>
                    <a:pt x="167" y="159"/>
                    <a:pt x="167" y="159"/>
                  </a:cubicBezTo>
                  <a:cubicBezTo>
                    <a:pt x="167" y="147"/>
                    <a:pt x="167" y="147"/>
                    <a:pt x="167" y="147"/>
                  </a:cubicBezTo>
                  <a:cubicBezTo>
                    <a:pt x="130" y="147"/>
                    <a:pt x="130" y="147"/>
                    <a:pt x="130" y="147"/>
                  </a:cubicBezTo>
                  <a:cubicBezTo>
                    <a:pt x="130" y="50"/>
                    <a:pt x="130" y="50"/>
                    <a:pt x="130" y="50"/>
                  </a:cubicBezTo>
                  <a:lnTo>
                    <a:pt x="168" y="50"/>
                  </a:lnTo>
                  <a:close/>
                  <a:moveTo>
                    <a:pt x="130" y="0"/>
                  </a:moveTo>
                  <a:cubicBezTo>
                    <a:pt x="130" y="44"/>
                    <a:pt x="130" y="44"/>
                    <a:pt x="130" y="44"/>
                  </a:cubicBezTo>
                  <a:cubicBezTo>
                    <a:pt x="93" y="44"/>
                    <a:pt x="93" y="44"/>
                    <a:pt x="93" y="44"/>
                  </a:cubicBezTo>
                  <a:cubicBezTo>
                    <a:pt x="93" y="36"/>
                    <a:pt x="93" y="36"/>
                    <a:pt x="93" y="36"/>
                  </a:cubicBezTo>
                  <a:cubicBezTo>
                    <a:pt x="96" y="35"/>
                    <a:pt x="99" y="32"/>
                    <a:pt x="99" y="28"/>
                  </a:cubicBezTo>
                  <a:cubicBezTo>
                    <a:pt x="99" y="25"/>
                    <a:pt x="96" y="22"/>
                    <a:pt x="93" y="21"/>
                  </a:cubicBezTo>
                  <a:cubicBezTo>
                    <a:pt x="93" y="3"/>
                    <a:pt x="93" y="3"/>
                    <a:pt x="93" y="3"/>
                  </a:cubicBezTo>
                  <a:cubicBezTo>
                    <a:pt x="104" y="1"/>
                    <a:pt x="117" y="0"/>
                    <a:pt x="130" y="0"/>
                  </a:cubicBezTo>
                  <a:close/>
                  <a:moveTo>
                    <a:pt x="130" y="50"/>
                  </a:moveTo>
                  <a:cubicBezTo>
                    <a:pt x="130" y="147"/>
                    <a:pt x="130" y="147"/>
                    <a:pt x="130" y="147"/>
                  </a:cubicBezTo>
                  <a:cubicBezTo>
                    <a:pt x="93" y="147"/>
                    <a:pt x="93" y="147"/>
                    <a:pt x="93" y="147"/>
                  </a:cubicBezTo>
                  <a:cubicBezTo>
                    <a:pt x="93" y="120"/>
                    <a:pt x="93" y="120"/>
                    <a:pt x="93" y="120"/>
                  </a:cubicBezTo>
                  <a:cubicBezTo>
                    <a:pt x="126" y="120"/>
                    <a:pt x="126" y="120"/>
                    <a:pt x="126" y="120"/>
                  </a:cubicBezTo>
                  <a:cubicBezTo>
                    <a:pt x="126" y="70"/>
                    <a:pt x="126" y="70"/>
                    <a:pt x="126" y="70"/>
                  </a:cubicBezTo>
                  <a:cubicBezTo>
                    <a:pt x="93" y="70"/>
                    <a:pt x="93" y="70"/>
                    <a:pt x="93" y="70"/>
                  </a:cubicBezTo>
                  <a:cubicBezTo>
                    <a:pt x="93" y="50"/>
                    <a:pt x="93" y="50"/>
                    <a:pt x="93" y="50"/>
                  </a:cubicBezTo>
                  <a:cubicBezTo>
                    <a:pt x="130" y="50"/>
                    <a:pt x="130" y="50"/>
                    <a:pt x="130" y="50"/>
                  </a:cubicBezTo>
                  <a:close/>
                  <a:moveTo>
                    <a:pt x="130" y="159"/>
                  </a:moveTo>
                  <a:cubicBezTo>
                    <a:pt x="130" y="167"/>
                    <a:pt x="130" y="167"/>
                    <a:pt x="130" y="167"/>
                  </a:cubicBezTo>
                  <a:cubicBezTo>
                    <a:pt x="93" y="167"/>
                    <a:pt x="93" y="167"/>
                    <a:pt x="93" y="167"/>
                  </a:cubicBezTo>
                  <a:cubicBezTo>
                    <a:pt x="93" y="159"/>
                    <a:pt x="93" y="159"/>
                    <a:pt x="93" y="159"/>
                  </a:cubicBezTo>
                  <a:cubicBezTo>
                    <a:pt x="130" y="159"/>
                    <a:pt x="130" y="159"/>
                    <a:pt x="130" y="159"/>
                  </a:cubicBezTo>
                  <a:close/>
                  <a:moveTo>
                    <a:pt x="130" y="179"/>
                  </a:moveTo>
                  <a:cubicBezTo>
                    <a:pt x="130" y="187"/>
                    <a:pt x="130" y="187"/>
                    <a:pt x="130" y="187"/>
                  </a:cubicBezTo>
                  <a:cubicBezTo>
                    <a:pt x="93" y="187"/>
                    <a:pt x="93" y="187"/>
                    <a:pt x="93" y="187"/>
                  </a:cubicBezTo>
                  <a:cubicBezTo>
                    <a:pt x="93" y="179"/>
                    <a:pt x="93" y="179"/>
                    <a:pt x="93" y="179"/>
                  </a:cubicBezTo>
                  <a:cubicBezTo>
                    <a:pt x="130" y="179"/>
                    <a:pt x="130" y="179"/>
                    <a:pt x="130" y="179"/>
                  </a:cubicBezTo>
                  <a:close/>
                  <a:moveTo>
                    <a:pt x="130" y="198"/>
                  </a:moveTo>
                  <a:cubicBezTo>
                    <a:pt x="130" y="220"/>
                    <a:pt x="130" y="220"/>
                    <a:pt x="130" y="220"/>
                  </a:cubicBezTo>
                  <a:cubicBezTo>
                    <a:pt x="93" y="220"/>
                    <a:pt x="93" y="220"/>
                    <a:pt x="93" y="220"/>
                  </a:cubicBezTo>
                  <a:cubicBezTo>
                    <a:pt x="93" y="198"/>
                    <a:pt x="93" y="198"/>
                    <a:pt x="93" y="198"/>
                  </a:cubicBezTo>
                  <a:lnTo>
                    <a:pt x="130" y="198"/>
                  </a:lnTo>
                  <a:close/>
                  <a:moveTo>
                    <a:pt x="93" y="3"/>
                  </a:moveTo>
                  <a:cubicBezTo>
                    <a:pt x="93" y="21"/>
                    <a:pt x="93" y="21"/>
                    <a:pt x="93" y="21"/>
                  </a:cubicBezTo>
                  <a:cubicBezTo>
                    <a:pt x="92" y="20"/>
                    <a:pt x="92" y="20"/>
                    <a:pt x="91" y="20"/>
                  </a:cubicBezTo>
                  <a:cubicBezTo>
                    <a:pt x="86" y="20"/>
                    <a:pt x="83" y="24"/>
                    <a:pt x="83" y="28"/>
                  </a:cubicBezTo>
                  <a:cubicBezTo>
                    <a:pt x="83" y="33"/>
                    <a:pt x="86" y="37"/>
                    <a:pt x="91" y="37"/>
                  </a:cubicBezTo>
                  <a:cubicBezTo>
                    <a:pt x="92" y="37"/>
                    <a:pt x="92" y="37"/>
                    <a:pt x="93" y="36"/>
                  </a:cubicBezTo>
                  <a:cubicBezTo>
                    <a:pt x="93" y="44"/>
                    <a:pt x="93" y="44"/>
                    <a:pt x="93" y="44"/>
                  </a:cubicBezTo>
                  <a:cubicBezTo>
                    <a:pt x="67" y="44"/>
                    <a:pt x="67" y="44"/>
                    <a:pt x="67" y="44"/>
                  </a:cubicBezTo>
                  <a:cubicBezTo>
                    <a:pt x="67" y="37"/>
                    <a:pt x="67" y="37"/>
                    <a:pt x="67" y="37"/>
                  </a:cubicBezTo>
                  <a:cubicBezTo>
                    <a:pt x="71" y="37"/>
                    <a:pt x="75" y="33"/>
                    <a:pt x="75" y="28"/>
                  </a:cubicBezTo>
                  <a:cubicBezTo>
                    <a:pt x="75" y="24"/>
                    <a:pt x="71" y="20"/>
                    <a:pt x="67" y="20"/>
                  </a:cubicBezTo>
                  <a:cubicBezTo>
                    <a:pt x="67" y="9"/>
                    <a:pt x="67" y="9"/>
                    <a:pt x="67" y="9"/>
                  </a:cubicBezTo>
                  <a:cubicBezTo>
                    <a:pt x="75" y="6"/>
                    <a:pt x="84" y="4"/>
                    <a:pt x="93" y="3"/>
                  </a:cubicBezTo>
                  <a:close/>
                  <a:moveTo>
                    <a:pt x="93" y="50"/>
                  </a:moveTo>
                  <a:cubicBezTo>
                    <a:pt x="93" y="70"/>
                    <a:pt x="93" y="70"/>
                    <a:pt x="93" y="70"/>
                  </a:cubicBezTo>
                  <a:cubicBezTo>
                    <a:pt x="67" y="70"/>
                    <a:pt x="67" y="70"/>
                    <a:pt x="67" y="70"/>
                  </a:cubicBezTo>
                  <a:cubicBezTo>
                    <a:pt x="67" y="50"/>
                    <a:pt x="67" y="50"/>
                    <a:pt x="67" y="50"/>
                  </a:cubicBezTo>
                  <a:cubicBezTo>
                    <a:pt x="93" y="50"/>
                    <a:pt x="93" y="50"/>
                    <a:pt x="93" y="50"/>
                  </a:cubicBezTo>
                  <a:close/>
                  <a:moveTo>
                    <a:pt x="93" y="120"/>
                  </a:moveTo>
                  <a:cubicBezTo>
                    <a:pt x="93" y="147"/>
                    <a:pt x="93" y="147"/>
                    <a:pt x="93" y="147"/>
                  </a:cubicBezTo>
                  <a:cubicBezTo>
                    <a:pt x="92" y="147"/>
                    <a:pt x="92" y="147"/>
                    <a:pt x="92" y="147"/>
                  </a:cubicBezTo>
                  <a:cubicBezTo>
                    <a:pt x="92" y="159"/>
                    <a:pt x="92" y="159"/>
                    <a:pt x="92" y="159"/>
                  </a:cubicBezTo>
                  <a:cubicBezTo>
                    <a:pt x="93" y="159"/>
                    <a:pt x="93" y="159"/>
                    <a:pt x="93" y="159"/>
                  </a:cubicBezTo>
                  <a:cubicBezTo>
                    <a:pt x="93" y="167"/>
                    <a:pt x="93" y="167"/>
                    <a:pt x="93" y="167"/>
                  </a:cubicBezTo>
                  <a:cubicBezTo>
                    <a:pt x="92" y="167"/>
                    <a:pt x="92" y="167"/>
                    <a:pt x="92" y="167"/>
                  </a:cubicBezTo>
                  <a:cubicBezTo>
                    <a:pt x="92" y="179"/>
                    <a:pt x="92" y="179"/>
                    <a:pt x="92" y="179"/>
                  </a:cubicBezTo>
                  <a:cubicBezTo>
                    <a:pt x="93" y="179"/>
                    <a:pt x="93" y="179"/>
                    <a:pt x="93" y="179"/>
                  </a:cubicBezTo>
                  <a:cubicBezTo>
                    <a:pt x="93" y="187"/>
                    <a:pt x="93" y="187"/>
                    <a:pt x="93" y="187"/>
                  </a:cubicBezTo>
                  <a:cubicBezTo>
                    <a:pt x="92" y="187"/>
                    <a:pt x="92" y="187"/>
                    <a:pt x="92" y="187"/>
                  </a:cubicBezTo>
                  <a:cubicBezTo>
                    <a:pt x="92" y="198"/>
                    <a:pt x="92" y="198"/>
                    <a:pt x="92" y="198"/>
                  </a:cubicBezTo>
                  <a:cubicBezTo>
                    <a:pt x="93" y="198"/>
                    <a:pt x="93" y="198"/>
                    <a:pt x="93" y="198"/>
                  </a:cubicBezTo>
                  <a:cubicBezTo>
                    <a:pt x="93" y="220"/>
                    <a:pt x="93" y="220"/>
                    <a:pt x="93" y="220"/>
                  </a:cubicBezTo>
                  <a:cubicBezTo>
                    <a:pt x="67" y="220"/>
                    <a:pt x="67" y="220"/>
                    <a:pt x="67" y="220"/>
                  </a:cubicBezTo>
                  <a:cubicBezTo>
                    <a:pt x="67" y="188"/>
                    <a:pt x="67" y="188"/>
                    <a:pt x="67" y="188"/>
                  </a:cubicBezTo>
                  <a:cubicBezTo>
                    <a:pt x="68" y="186"/>
                    <a:pt x="69" y="183"/>
                    <a:pt x="69" y="180"/>
                  </a:cubicBezTo>
                  <a:cubicBezTo>
                    <a:pt x="69" y="176"/>
                    <a:pt x="68" y="173"/>
                    <a:pt x="67" y="171"/>
                  </a:cubicBezTo>
                  <a:cubicBezTo>
                    <a:pt x="67" y="120"/>
                    <a:pt x="67" y="120"/>
                    <a:pt x="67" y="120"/>
                  </a:cubicBezTo>
                  <a:cubicBezTo>
                    <a:pt x="93" y="120"/>
                    <a:pt x="93" y="120"/>
                    <a:pt x="93" y="120"/>
                  </a:cubicBezTo>
                  <a:close/>
                  <a:moveTo>
                    <a:pt x="67" y="257"/>
                  </a:moveTo>
                  <a:cubicBezTo>
                    <a:pt x="67" y="232"/>
                    <a:pt x="67" y="232"/>
                    <a:pt x="67" y="232"/>
                  </a:cubicBezTo>
                  <a:cubicBezTo>
                    <a:pt x="69" y="232"/>
                    <a:pt x="69" y="232"/>
                    <a:pt x="69" y="232"/>
                  </a:cubicBezTo>
                  <a:cubicBezTo>
                    <a:pt x="69" y="249"/>
                    <a:pt x="69" y="249"/>
                    <a:pt x="69" y="249"/>
                  </a:cubicBezTo>
                  <a:cubicBezTo>
                    <a:pt x="69" y="252"/>
                    <a:pt x="68" y="254"/>
                    <a:pt x="67" y="257"/>
                  </a:cubicBezTo>
                  <a:close/>
                  <a:moveTo>
                    <a:pt x="67" y="9"/>
                  </a:moveTo>
                  <a:cubicBezTo>
                    <a:pt x="67" y="20"/>
                    <a:pt x="67" y="20"/>
                    <a:pt x="67" y="20"/>
                  </a:cubicBezTo>
                  <a:cubicBezTo>
                    <a:pt x="62" y="20"/>
                    <a:pt x="58" y="24"/>
                    <a:pt x="58" y="28"/>
                  </a:cubicBezTo>
                  <a:cubicBezTo>
                    <a:pt x="58" y="33"/>
                    <a:pt x="62" y="37"/>
                    <a:pt x="67" y="37"/>
                  </a:cubicBezTo>
                  <a:cubicBezTo>
                    <a:pt x="67" y="44"/>
                    <a:pt x="67" y="44"/>
                    <a:pt x="67" y="44"/>
                  </a:cubicBezTo>
                  <a:cubicBezTo>
                    <a:pt x="52" y="44"/>
                    <a:pt x="52" y="44"/>
                    <a:pt x="52" y="44"/>
                  </a:cubicBezTo>
                  <a:cubicBezTo>
                    <a:pt x="52" y="15"/>
                    <a:pt x="52" y="15"/>
                    <a:pt x="52" y="15"/>
                  </a:cubicBezTo>
                  <a:cubicBezTo>
                    <a:pt x="56" y="13"/>
                    <a:pt x="61" y="11"/>
                    <a:pt x="67" y="9"/>
                  </a:cubicBezTo>
                  <a:close/>
                  <a:moveTo>
                    <a:pt x="67" y="50"/>
                  </a:moveTo>
                  <a:cubicBezTo>
                    <a:pt x="67" y="70"/>
                    <a:pt x="67" y="70"/>
                    <a:pt x="67" y="70"/>
                  </a:cubicBezTo>
                  <a:cubicBezTo>
                    <a:pt x="60" y="70"/>
                    <a:pt x="60" y="70"/>
                    <a:pt x="60" y="70"/>
                  </a:cubicBezTo>
                  <a:cubicBezTo>
                    <a:pt x="60" y="120"/>
                    <a:pt x="60" y="120"/>
                    <a:pt x="60" y="120"/>
                  </a:cubicBezTo>
                  <a:cubicBezTo>
                    <a:pt x="67" y="120"/>
                    <a:pt x="67" y="120"/>
                    <a:pt x="67" y="120"/>
                  </a:cubicBezTo>
                  <a:cubicBezTo>
                    <a:pt x="67" y="171"/>
                    <a:pt x="67" y="171"/>
                    <a:pt x="67" y="171"/>
                  </a:cubicBezTo>
                  <a:cubicBezTo>
                    <a:pt x="64" y="166"/>
                    <a:pt x="58" y="162"/>
                    <a:pt x="52" y="162"/>
                  </a:cubicBezTo>
                  <a:cubicBezTo>
                    <a:pt x="52" y="50"/>
                    <a:pt x="52" y="50"/>
                    <a:pt x="52" y="50"/>
                  </a:cubicBezTo>
                  <a:cubicBezTo>
                    <a:pt x="67" y="50"/>
                    <a:pt x="67" y="50"/>
                    <a:pt x="67" y="50"/>
                  </a:cubicBezTo>
                  <a:close/>
                  <a:moveTo>
                    <a:pt x="67" y="188"/>
                  </a:moveTo>
                  <a:cubicBezTo>
                    <a:pt x="67" y="220"/>
                    <a:pt x="67" y="220"/>
                    <a:pt x="67" y="220"/>
                  </a:cubicBezTo>
                  <a:cubicBezTo>
                    <a:pt x="52" y="220"/>
                    <a:pt x="52" y="220"/>
                    <a:pt x="52" y="220"/>
                  </a:cubicBezTo>
                  <a:cubicBezTo>
                    <a:pt x="52" y="197"/>
                    <a:pt x="52" y="197"/>
                    <a:pt x="52" y="197"/>
                  </a:cubicBezTo>
                  <a:cubicBezTo>
                    <a:pt x="58" y="197"/>
                    <a:pt x="64" y="193"/>
                    <a:pt x="67" y="188"/>
                  </a:cubicBezTo>
                  <a:close/>
                  <a:moveTo>
                    <a:pt x="67" y="232"/>
                  </a:moveTo>
                  <a:cubicBezTo>
                    <a:pt x="67" y="257"/>
                    <a:pt x="67" y="257"/>
                    <a:pt x="67" y="257"/>
                  </a:cubicBezTo>
                  <a:cubicBezTo>
                    <a:pt x="64" y="260"/>
                    <a:pt x="60" y="262"/>
                    <a:pt x="56" y="262"/>
                  </a:cubicBezTo>
                  <a:cubicBezTo>
                    <a:pt x="52" y="262"/>
                    <a:pt x="52" y="262"/>
                    <a:pt x="52" y="262"/>
                  </a:cubicBezTo>
                  <a:cubicBezTo>
                    <a:pt x="52" y="232"/>
                    <a:pt x="52" y="232"/>
                    <a:pt x="52" y="232"/>
                  </a:cubicBezTo>
                  <a:lnTo>
                    <a:pt x="67" y="232"/>
                  </a:lnTo>
                  <a:close/>
                  <a:moveTo>
                    <a:pt x="52" y="15"/>
                  </a:moveTo>
                  <a:cubicBezTo>
                    <a:pt x="52" y="44"/>
                    <a:pt x="52" y="44"/>
                    <a:pt x="52" y="44"/>
                  </a:cubicBezTo>
                  <a:cubicBezTo>
                    <a:pt x="27" y="44"/>
                    <a:pt x="27" y="44"/>
                    <a:pt x="27" y="44"/>
                  </a:cubicBezTo>
                  <a:cubicBezTo>
                    <a:pt x="27" y="33"/>
                    <a:pt x="36" y="23"/>
                    <a:pt x="52" y="15"/>
                  </a:cubicBezTo>
                  <a:close/>
                  <a:moveTo>
                    <a:pt x="52" y="50"/>
                  </a:moveTo>
                  <a:cubicBezTo>
                    <a:pt x="52" y="162"/>
                    <a:pt x="52" y="162"/>
                    <a:pt x="52" y="162"/>
                  </a:cubicBezTo>
                  <a:cubicBezTo>
                    <a:pt x="42" y="162"/>
                    <a:pt x="35" y="170"/>
                    <a:pt x="35" y="180"/>
                  </a:cubicBezTo>
                  <a:cubicBezTo>
                    <a:pt x="35" y="189"/>
                    <a:pt x="42" y="197"/>
                    <a:pt x="52" y="197"/>
                  </a:cubicBezTo>
                  <a:cubicBezTo>
                    <a:pt x="52" y="220"/>
                    <a:pt x="52" y="220"/>
                    <a:pt x="52" y="220"/>
                  </a:cubicBezTo>
                  <a:cubicBezTo>
                    <a:pt x="12" y="220"/>
                    <a:pt x="12" y="220"/>
                    <a:pt x="12" y="220"/>
                  </a:cubicBezTo>
                  <a:cubicBezTo>
                    <a:pt x="12" y="154"/>
                    <a:pt x="12" y="154"/>
                    <a:pt x="12" y="154"/>
                  </a:cubicBezTo>
                  <a:cubicBezTo>
                    <a:pt x="15" y="150"/>
                    <a:pt x="21" y="146"/>
                    <a:pt x="27" y="146"/>
                  </a:cubicBezTo>
                  <a:cubicBezTo>
                    <a:pt x="27" y="50"/>
                    <a:pt x="27" y="50"/>
                    <a:pt x="27" y="50"/>
                  </a:cubicBezTo>
                  <a:cubicBezTo>
                    <a:pt x="52" y="50"/>
                    <a:pt x="52" y="50"/>
                    <a:pt x="52" y="50"/>
                  </a:cubicBezTo>
                  <a:close/>
                  <a:moveTo>
                    <a:pt x="52" y="232"/>
                  </a:moveTo>
                  <a:cubicBezTo>
                    <a:pt x="52" y="262"/>
                    <a:pt x="52" y="262"/>
                    <a:pt x="52" y="262"/>
                  </a:cubicBezTo>
                  <a:cubicBezTo>
                    <a:pt x="48" y="262"/>
                    <a:pt x="48" y="262"/>
                    <a:pt x="48" y="262"/>
                  </a:cubicBezTo>
                  <a:cubicBezTo>
                    <a:pt x="41" y="262"/>
                    <a:pt x="35" y="257"/>
                    <a:pt x="35" y="249"/>
                  </a:cubicBezTo>
                  <a:cubicBezTo>
                    <a:pt x="35" y="232"/>
                    <a:pt x="35" y="232"/>
                    <a:pt x="35" y="232"/>
                  </a:cubicBezTo>
                  <a:cubicBezTo>
                    <a:pt x="52" y="232"/>
                    <a:pt x="52" y="232"/>
                    <a:pt x="52" y="232"/>
                  </a:cubicBezTo>
                  <a:close/>
                  <a:moveTo>
                    <a:pt x="12" y="114"/>
                  </a:moveTo>
                  <a:cubicBezTo>
                    <a:pt x="14" y="114"/>
                    <a:pt x="15" y="112"/>
                    <a:pt x="15" y="110"/>
                  </a:cubicBezTo>
                  <a:cubicBezTo>
                    <a:pt x="15" y="76"/>
                    <a:pt x="15" y="76"/>
                    <a:pt x="15" y="76"/>
                  </a:cubicBezTo>
                  <a:cubicBezTo>
                    <a:pt x="15" y="74"/>
                    <a:pt x="14" y="71"/>
                    <a:pt x="12" y="70"/>
                  </a:cubicBezTo>
                  <a:lnTo>
                    <a:pt x="12" y="114"/>
                  </a:lnTo>
                  <a:close/>
                  <a:moveTo>
                    <a:pt x="12" y="70"/>
                  </a:moveTo>
                  <a:cubicBezTo>
                    <a:pt x="12" y="114"/>
                    <a:pt x="12" y="114"/>
                    <a:pt x="12" y="114"/>
                  </a:cubicBezTo>
                  <a:cubicBezTo>
                    <a:pt x="12" y="114"/>
                    <a:pt x="11" y="114"/>
                    <a:pt x="11" y="113"/>
                  </a:cubicBezTo>
                  <a:cubicBezTo>
                    <a:pt x="4" y="111"/>
                    <a:pt x="4" y="111"/>
                    <a:pt x="4" y="111"/>
                  </a:cubicBezTo>
                  <a:cubicBezTo>
                    <a:pt x="2" y="110"/>
                    <a:pt x="0" y="107"/>
                    <a:pt x="0" y="104"/>
                  </a:cubicBezTo>
                  <a:cubicBezTo>
                    <a:pt x="0" y="70"/>
                    <a:pt x="0" y="70"/>
                    <a:pt x="0" y="70"/>
                  </a:cubicBezTo>
                  <a:cubicBezTo>
                    <a:pt x="0" y="67"/>
                    <a:pt x="2" y="66"/>
                    <a:pt x="4" y="67"/>
                  </a:cubicBezTo>
                  <a:cubicBezTo>
                    <a:pt x="11" y="69"/>
                    <a:pt x="11" y="69"/>
                    <a:pt x="11" y="69"/>
                  </a:cubicBezTo>
                  <a:cubicBezTo>
                    <a:pt x="11" y="70"/>
                    <a:pt x="12" y="70"/>
                    <a:pt x="12" y="70"/>
                  </a:cubicBezTo>
                  <a:close/>
                  <a:moveTo>
                    <a:pt x="12" y="154"/>
                  </a:moveTo>
                  <a:cubicBezTo>
                    <a:pt x="12" y="220"/>
                    <a:pt x="12" y="220"/>
                    <a:pt x="12" y="220"/>
                  </a:cubicBezTo>
                  <a:cubicBezTo>
                    <a:pt x="9" y="220"/>
                    <a:pt x="9" y="220"/>
                    <a:pt x="9" y="220"/>
                  </a:cubicBezTo>
                  <a:cubicBezTo>
                    <a:pt x="9" y="164"/>
                    <a:pt x="9" y="164"/>
                    <a:pt x="9" y="164"/>
                  </a:cubicBezTo>
                  <a:cubicBezTo>
                    <a:pt x="9" y="160"/>
                    <a:pt x="10" y="157"/>
                    <a:pt x="12" y="154"/>
                  </a:cubicBezTo>
                  <a:close/>
                </a:path>
              </a:pathLst>
            </a:custGeom>
            <a:solidFill>
              <a:schemeClr val="accent1">
                <a:lumMod val="75000"/>
              </a:schemeClr>
            </a:solidFill>
            <a:ln>
              <a:noFill/>
            </a:ln>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77" name="Freeform 76">
              <a:extLst>
                <a:ext uri="{FF2B5EF4-FFF2-40B4-BE49-F238E27FC236}">
                  <a16:creationId xmlns:a16="http://schemas.microsoft.com/office/drawing/2014/main" id="{A297321D-14C2-48FA-908F-BD2397A8B234}"/>
                </a:ext>
              </a:extLst>
            </p:cNvPr>
            <p:cNvSpPr>
              <a:spLocks noEditPoints="1"/>
            </p:cNvSpPr>
            <p:nvPr/>
          </p:nvSpPr>
          <p:spPr bwMode="auto">
            <a:xfrm>
              <a:off x="1564855" y="3195197"/>
              <a:ext cx="482078" cy="365427"/>
            </a:xfrm>
            <a:custGeom>
              <a:avLst/>
              <a:gdLst>
                <a:gd name="T0" fmla="*/ 271 w 295"/>
                <a:gd name="T1" fmla="*/ 0 h 224"/>
                <a:gd name="T2" fmla="*/ 277 w 295"/>
                <a:gd name="T3" fmla="*/ 35 h 224"/>
                <a:gd name="T4" fmla="*/ 224 w 295"/>
                <a:gd name="T5" fmla="*/ 224 h 224"/>
                <a:gd name="T6" fmla="*/ 248 w 295"/>
                <a:gd name="T7" fmla="*/ 188 h 224"/>
                <a:gd name="T8" fmla="*/ 249 w 295"/>
                <a:gd name="T9" fmla="*/ 29 h 224"/>
                <a:gd name="T10" fmla="*/ 224 w 295"/>
                <a:gd name="T11" fmla="*/ 194 h 224"/>
                <a:gd name="T12" fmla="*/ 224 w 295"/>
                <a:gd name="T13" fmla="*/ 16 h 224"/>
                <a:gd name="T14" fmla="*/ 224 w 295"/>
                <a:gd name="T15" fmla="*/ 208 h 224"/>
                <a:gd name="T16" fmla="*/ 224 w 295"/>
                <a:gd name="T17" fmla="*/ 179 h 224"/>
                <a:gd name="T18" fmla="*/ 224 w 295"/>
                <a:gd name="T19" fmla="*/ 194 h 224"/>
                <a:gd name="T20" fmla="*/ 201 w 295"/>
                <a:gd name="T21" fmla="*/ 128 h 224"/>
                <a:gd name="T22" fmla="*/ 203 w 295"/>
                <a:gd name="T23" fmla="*/ 98 h 224"/>
                <a:gd name="T24" fmla="*/ 195 w 295"/>
                <a:gd name="T25" fmla="*/ 67 h 224"/>
                <a:gd name="T26" fmla="*/ 187 w 295"/>
                <a:gd name="T27" fmla="*/ 128 h 224"/>
                <a:gd name="T28" fmla="*/ 187 w 295"/>
                <a:gd name="T29" fmla="*/ 100 h 224"/>
                <a:gd name="T30" fmla="*/ 190 w 295"/>
                <a:gd name="T31" fmla="*/ 75 h 224"/>
                <a:gd name="T32" fmla="*/ 187 w 295"/>
                <a:gd name="T33" fmla="*/ 0 h 224"/>
                <a:gd name="T34" fmla="*/ 187 w 295"/>
                <a:gd name="T35" fmla="*/ 0 h 224"/>
                <a:gd name="T36" fmla="*/ 147 w 295"/>
                <a:gd name="T37" fmla="*/ 208 h 224"/>
                <a:gd name="T38" fmla="*/ 182 w 295"/>
                <a:gd name="T39" fmla="*/ 67 h 224"/>
                <a:gd name="T40" fmla="*/ 168 w 295"/>
                <a:gd name="T41" fmla="*/ 109 h 224"/>
                <a:gd name="T42" fmla="*/ 187 w 295"/>
                <a:gd name="T43" fmla="*/ 194 h 224"/>
                <a:gd name="T44" fmla="*/ 148 w 295"/>
                <a:gd name="T45" fmla="*/ 125 h 224"/>
                <a:gd name="T46" fmla="*/ 147 w 295"/>
                <a:gd name="T47" fmla="*/ 106 h 224"/>
                <a:gd name="T48" fmla="*/ 184 w 295"/>
                <a:gd name="T49" fmla="*/ 70 h 224"/>
                <a:gd name="T50" fmla="*/ 187 w 295"/>
                <a:gd name="T51" fmla="*/ 91 h 224"/>
                <a:gd name="T52" fmla="*/ 179 w 295"/>
                <a:gd name="T53" fmla="*/ 116 h 224"/>
                <a:gd name="T54" fmla="*/ 187 w 295"/>
                <a:gd name="T55" fmla="*/ 100 h 224"/>
                <a:gd name="T56" fmla="*/ 147 w 295"/>
                <a:gd name="T57" fmla="*/ 16 h 224"/>
                <a:gd name="T58" fmla="*/ 147 w 295"/>
                <a:gd name="T59" fmla="*/ 208 h 224"/>
                <a:gd name="T60" fmla="*/ 147 w 295"/>
                <a:gd name="T61" fmla="*/ 106 h 224"/>
                <a:gd name="T62" fmla="*/ 127 w 295"/>
                <a:gd name="T63" fmla="*/ 121 h 224"/>
                <a:gd name="T64" fmla="*/ 147 w 295"/>
                <a:gd name="T65" fmla="*/ 137 h 224"/>
                <a:gd name="T66" fmla="*/ 102 w 295"/>
                <a:gd name="T67" fmla="*/ 156 h 224"/>
                <a:gd name="T68" fmla="*/ 109 w 295"/>
                <a:gd name="T69" fmla="*/ 113 h 224"/>
                <a:gd name="T70" fmla="*/ 100 w 295"/>
                <a:gd name="T71" fmla="*/ 93 h 224"/>
                <a:gd name="T72" fmla="*/ 111 w 295"/>
                <a:gd name="T73" fmla="*/ 97 h 224"/>
                <a:gd name="T74" fmla="*/ 99 w 295"/>
                <a:gd name="T75" fmla="*/ 88 h 224"/>
                <a:gd name="T76" fmla="*/ 101 w 295"/>
                <a:gd name="T77" fmla="*/ 150 h 224"/>
                <a:gd name="T78" fmla="*/ 99 w 295"/>
                <a:gd name="T79" fmla="*/ 123 h 224"/>
                <a:gd name="T80" fmla="*/ 0 w 295"/>
                <a:gd name="T81" fmla="*/ 23 h 224"/>
                <a:gd name="T82" fmla="*/ 99 w 295"/>
                <a:gd name="T83" fmla="*/ 208 h 224"/>
                <a:gd name="T84" fmla="*/ 17 w 295"/>
                <a:gd name="T85" fmla="*/ 35 h 224"/>
                <a:gd name="T86" fmla="*/ 99 w 295"/>
                <a:gd name="T87" fmla="*/ 29 h 224"/>
                <a:gd name="T88" fmla="*/ 79 w 295"/>
                <a:gd name="T89" fmla="*/ 129 h 224"/>
                <a:gd name="T90" fmla="*/ 99 w 295"/>
                <a:gd name="T91" fmla="*/ 157 h 224"/>
                <a:gd name="T92" fmla="*/ 30 w 295"/>
                <a:gd name="T93" fmla="*/ 45 h 224"/>
                <a:gd name="T94" fmla="*/ 99 w 295"/>
                <a:gd name="T95" fmla="*/ 115 h 224"/>
                <a:gd name="T96" fmla="*/ 99 w 295"/>
                <a:gd name="T97" fmla="*/ 123 h 224"/>
                <a:gd name="T98" fmla="*/ 91 w 295"/>
                <a:gd name="T99" fmla="*/ 13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95" h="224">
                  <a:moveTo>
                    <a:pt x="271" y="224"/>
                  </a:moveTo>
                  <a:cubicBezTo>
                    <a:pt x="284" y="224"/>
                    <a:pt x="295" y="213"/>
                    <a:pt x="295" y="200"/>
                  </a:cubicBezTo>
                  <a:cubicBezTo>
                    <a:pt x="295" y="23"/>
                    <a:pt x="295" y="23"/>
                    <a:pt x="295" y="23"/>
                  </a:cubicBezTo>
                  <a:cubicBezTo>
                    <a:pt x="295" y="10"/>
                    <a:pt x="284" y="0"/>
                    <a:pt x="271" y="0"/>
                  </a:cubicBezTo>
                  <a:cubicBezTo>
                    <a:pt x="224" y="0"/>
                    <a:pt x="224" y="0"/>
                    <a:pt x="224" y="0"/>
                  </a:cubicBezTo>
                  <a:cubicBezTo>
                    <a:pt x="224" y="16"/>
                    <a:pt x="224" y="16"/>
                    <a:pt x="224" y="16"/>
                  </a:cubicBezTo>
                  <a:cubicBezTo>
                    <a:pt x="258" y="16"/>
                    <a:pt x="258" y="16"/>
                    <a:pt x="258" y="16"/>
                  </a:cubicBezTo>
                  <a:cubicBezTo>
                    <a:pt x="268" y="16"/>
                    <a:pt x="277" y="24"/>
                    <a:pt x="277" y="35"/>
                  </a:cubicBezTo>
                  <a:cubicBezTo>
                    <a:pt x="277" y="189"/>
                    <a:pt x="277" y="189"/>
                    <a:pt x="277" y="189"/>
                  </a:cubicBezTo>
                  <a:cubicBezTo>
                    <a:pt x="277" y="199"/>
                    <a:pt x="268" y="208"/>
                    <a:pt x="258" y="208"/>
                  </a:cubicBezTo>
                  <a:cubicBezTo>
                    <a:pt x="224" y="208"/>
                    <a:pt x="224" y="208"/>
                    <a:pt x="224" y="208"/>
                  </a:cubicBezTo>
                  <a:cubicBezTo>
                    <a:pt x="224" y="224"/>
                    <a:pt x="224" y="224"/>
                    <a:pt x="224" y="224"/>
                  </a:cubicBezTo>
                  <a:cubicBezTo>
                    <a:pt x="271" y="224"/>
                    <a:pt x="271" y="224"/>
                    <a:pt x="271" y="224"/>
                  </a:cubicBezTo>
                  <a:close/>
                  <a:moveTo>
                    <a:pt x="224" y="194"/>
                  </a:moveTo>
                  <a:cubicBezTo>
                    <a:pt x="224" y="188"/>
                    <a:pt x="224" y="188"/>
                    <a:pt x="224" y="188"/>
                  </a:cubicBezTo>
                  <a:cubicBezTo>
                    <a:pt x="248" y="188"/>
                    <a:pt x="248" y="188"/>
                    <a:pt x="248" y="188"/>
                  </a:cubicBezTo>
                  <a:cubicBezTo>
                    <a:pt x="248" y="179"/>
                    <a:pt x="248" y="179"/>
                    <a:pt x="248" y="179"/>
                  </a:cubicBezTo>
                  <a:cubicBezTo>
                    <a:pt x="224" y="179"/>
                    <a:pt x="224" y="179"/>
                    <a:pt x="224" y="179"/>
                  </a:cubicBezTo>
                  <a:cubicBezTo>
                    <a:pt x="224" y="29"/>
                    <a:pt x="224" y="29"/>
                    <a:pt x="224" y="29"/>
                  </a:cubicBezTo>
                  <a:cubicBezTo>
                    <a:pt x="249" y="29"/>
                    <a:pt x="249" y="29"/>
                    <a:pt x="249" y="29"/>
                  </a:cubicBezTo>
                  <a:cubicBezTo>
                    <a:pt x="257" y="29"/>
                    <a:pt x="264" y="36"/>
                    <a:pt x="264" y="45"/>
                  </a:cubicBezTo>
                  <a:cubicBezTo>
                    <a:pt x="264" y="179"/>
                    <a:pt x="264" y="179"/>
                    <a:pt x="264" y="179"/>
                  </a:cubicBezTo>
                  <a:cubicBezTo>
                    <a:pt x="264" y="187"/>
                    <a:pt x="257" y="194"/>
                    <a:pt x="249" y="194"/>
                  </a:cubicBezTo>
                  <a:lnTo>
                    <a:pt x="224" y="194"/>
                  </a:lnTo>
                  <a:close/>
                  <a:moveTo>
                    <a:pt x="224" y="0"/>
                  </a:moveTo>
                  <a:cubicBezTo>
                    <a:pt x="187" y="0"/>
                    <a:pt x="187" y="0"/>
                    <a:pt x="187" y="0"/>
                  </a:cubicBezTo>
                  <a:cubicBezTo>
                    <a:pt x="187" y="16"/>
                    <a:pt x="187" y="16"/>
                    <a:pt x="187" y="16"/>
                  </a:cubicBezTo>
                  <a:cubicBezTo>
                    <a:pt x="224" y="16"/>
                    <a:pt x="224" y="16"/>
                    <a:pt x="224" y="16"/>
                  </a:cubicBezTo>
                  <a:cubicBezTo>
                    <a:pt x="224" y="0"/>
                    <a:pt x="224" y="0"/>
                    <a:pt x="224" y="0"/>
                  </a:cubicBezTo>
                  <a:close/>
                  <a:moveTo>
                    <a:pt x="187" y="224"/>
                  </a:moveTo>
                  <a:cubicBezTo>
                    <a:pt x="224" y="224"/>
                    <a:pt x="224" y="224"/>
                    <a:pt x="224" y="224"/>
                  </a:cubicBezTo>
                  <a:cubicBezTo>
                    <a:pt x="224" y="208"/>
                    <a:pt x="224" y="208"/>
                    <a:pt x="224" y="208"/>
                  </a:cubicBezTo>
                  <a:cubicBezTo>
                    <a:pt x="187" y="208"/>
                    <a:pt x="187" y="208"/>
                    <a:pt x="187" y="208"/>
                  </a:cubicBezTo>
                  <a:cubicBezTo>
                    <a:pt x="187" y="224"/>
                    <a:pt x="187" y="224"/>
                    <a:pt x="187" y="224"/>
                  </a:cubicBezTo>
                  <a:close/>
                  <a:moveTo>
                    <a:pt x="224" y="29"/>
                  </a:moveTo>
                  <a:cubicBezTo>
                    <a:pt x="224" y="179"/>
                    <a:pt x="224" y="179"/>
                    <a:pt x="224" y="179"/>
                  </a:cubicBezTo>
                  <a:cubicBezTo>
                    <a:pt x="200" y="179"/>
                    <a:pt x="200" y="179"/>
                    <a:pt x="200" y="179"/>
                  </a:cubicBezTo>
                  <a:cubicBezTo>
                    <a:pt x="200" y="188"/>
                    <a:pt x="200" y="188"/>
                    <a:pt x="200" y="188"/>
                  </a:cubicBezTo>
                  <a:cubicBezTo>
                    <a:pt x="224" y="188"/>
                    <a:pt x="224" y="188"/>
                    <a:pt x="224" y="188"/>
                  </a:cubicBezTo>
                  <a:cubicBezTo>
                    <a:pt x="224" y="194"/>
                    <a:pt x="224" y="194"/>
                    <a:pt x="224" y="194"/>
                  </a:cubicBezTo>
                  <a:cubicBezTo>
                    <a:pt x="187" y="194"/>
                    <a:pt x="187" y="194"/>
                    <a:pt x="187" y="194"/>
                  </a:cubicBezTo>
                  <a:cubicBezTo>
                    <a:pt x="187" y="135"/>
                    <a:pt x="187" y="135"/>
                    <a:pt x="187" y="135"/>
                  </a:cubicBezTo>
                  <a:cubicBezTo>
                    <a:pt x="188" y="135"/>
                    <a:pt x="189" y="134"/>
                    <a:pt x="189" y="134"/>
                  </a:cubicBezTo>
                  <a:cubicBezTo>
                    <a:pt x="194" y="133"/>
                    <a:pt x="197" y="131"/>
                    <a:pt x="201" y="128"/>
                  </a:cubicBezTo>
                  <a:cubicBezTo>
                    <a:pt x="204" y="124"/>
                    <a:pt x="206" y="121"/>
                    <a:pt x="207" y="117"/>
                  </a:cubicBezTo>
                  <a:cubicBezTo>
                    <a:pt x="208" y="115"/>
                    <a:pt x="208" y="113"/>
                    <a:pt x="208" y="111"/>
                  </a:cubicBezTo>
                  <a:cubicBezTo>
                    <a:pt x="208" y="109"/>
                    <a:pt x="208" y="107"/>
                    <a:pt x="207" y="104"/>
                  </a:cubicBezTo>
                  <a:cubicBezTo>
                    <a:pt x="207" y="102"/>
                    <a:pt x="205" y="100"/>
                    <a:pt x="203" y="98"/>
                  </a:cubicBezTo>
                  <a:cubicBezTo>
                    <a:pt x="200" y="96"/>
                    <a:pt x="197" y="94"/>
                    <a:pt x="193" y="94"/>
                  </a:cubicBezTo>
                  <a:cubicBezTo>
                    <a:pt x="197" y="91"/>
                    <a:pt x="199" y="88"/>
                    <a:pt x="201" y="85"/>
                  </a:cubicBezTo>
                  <a:cubicBezTo>
                    <a:pt x="202" y="81"/>
                    <a:pt x="202" y="78"/>
                    <a:pt x="201" y="74"/>
                  </a:cubicBezTo>
                  <a:cubicBezTo>
                    <a:pt x="200" y="71"/>
                    <a:pt x="198" y="69"/>
                    <a:pt x="195" y="67"/>
                  </a:cubicBezTo>
                  <a:cubicBezTo>
                    <a:pt x="193" y="66"/>
                    <a:pt x="190" y="66"/>
                    <a:pt x="187" y="66"/>
                  </a:cubicBezTo>
                  <a:cubicBezTo>
                    <a:pt x="187" y="29"/>
                    <a:pt x="187" y="29"/>
                    <a:pt x="187" y="29"/>
                  </a:cubicBezTo>
                  <a:cubicBezTo>
                    <a:pt x="224" y="29"/>
                    <a:pt x="224" y="29"/>
                    <a:pt x="224" y="29"/>
                  </a:cubicBezTo>
                  <a:close/>
                  <a:moveTo>
                    <a:pt x="187" y="128"/>
                  </a:moveTo>
                  <a:cubicBezTo>
                    <a:pt x="187" y="128"/>
                    <a:pt x="188" y="128"/>
                    <a:pt x="188" y="128"/>
                  </a:cubicBezTo>
                  <a:cubicBezTo>
                    <a:pt x="191" y="127"/>
                    <a:pt x="193" y="125"/>
                    <a:pt x="194" y="122"/>
                  </a:cubicBezTo>
                  <a:cubicBezTo>
                    <a:pt x="195" y="118"/>
                    <a:pt x="195" y="115"/>
                    <a:pt x="194" y="111"/>
                  </a:cubicBezTo>
                  <a:cubicBezTo>
                    <a:pt x="193" y="106"/>
                    <a:pt x="191" y="103"/>
                    <a:pt x="187" y="100"/>
                  </a:cubicBezTo>
                  <a:cubicBezTo>
                    <a:pt x="187" y="128"/>
                    <a:pt x="187" y="128"/>
                    <a:pt x="187" y="128"/>
                  </a:cubicBezTo>
                  <a:close/>
                  <a:moveTo>
                    <a:pt x="187" y="91"/>
                  </a:moveTo>
                  <a:cubicBezTo>
                    <a:pt x="189" y="87"/>
                    <a:pt x="190" y="84"/>
                    <a:pt x="190" y="80"/>
                  </a:cubicBezTo>
                  <a:cubicBezTo>
                    <a:pt x="190" y="78"/>
                    <a:pt x="190" y="77"/>
                    <a:pt x="190" y="75"/>
                  </a:cubicBezTo>
                  <a:cubicBezTo>
                    <a:pt x="189" y="74"/>
                    <a:pt x="189" y="72"/>
                    <a:pt x="188" y="71"/>
                  </a:cubicBezTo>
                  <a:cubicBezTo>
                    <a:pt x="187" y="71"/>
                    <a:pt x="187" y="71"/>
                    <a:pt x="187" y="71"/>
                  </a:cubicBezTo>
                  <a:lnTo>
                    <a:pt x="187" y="91"/>
                  </a:lnTo>
                  <a:close/>
                  <a:moveTo>
                    <a:pt x="187" y="0"/>
                  </a:moveTo>
                  <a:cubicBezTo>
                    <a:pt x="147" y="0"/>
                    <a:pt x="147" y="0"/>
                    <a:pt x="147" y="0"/>
                  </a:cubicBezTo>
                  <a:cubicBezTo>
                    <a:pt x="147" y="16"/>
                    <a:pt x="147" y="16"/>
                    <a:pt x="147" y="16"/>
                  </a:cubicBezTo>
                  <a:cubicBezTo>
                    <a:pt x="187" y="16"/>
                    <a:pt x="187" y="16"/>
                    <a:pt x="187" y="16"/>
                  </a:cubicBezTo>
                  <a:cubicBezTo>
                    <a:pt x="187" y="0"/>
                    <a:pt x="187" y="0"/>
                    <a:pt x="187" y="0"/>
                  </a:cubicBezTo>
                  <a:close/>
                  <a:moveTo>
                    <a:pt x="147" y="224"/>
                  </a:moveTo>
                  <a:cubicBezTo>
                    <a:pt x="187" y="224"/>
                    <a:pt x="187" y="224"/>
                    <a:pt x="187" y="224"/>
                  </a:cubicBezTo>
                  <a:cubicBezTo>
                    <a:pt x="187" y="208"/>
                    <a:pt x="187" y="208"/>
                    <a:pt x="187" y="208"/>
                  </a:cubicBezTo>
                  <a:cubicBezTo>
                    <a:pt x="147" y="208"/>
                    <a:pt x="147" y="208"/>
                    <a:pt x="147" y="208"/>
                  </a:cubicBezTo>
                  <a:cubicBezTo>
                    <a:pt x="147" y="224"/>
                    <a:pt x="147" y="224"/>
                    <a:pt x="147" y="224"/>
                  </a:cubicBezTo>
                  <a:close/>
                  <a:moveTo>
                    <a:pt x="187" y="29"/>
                  </a:moveTo>
                  <a:cubicBezTo>
                    <a:pt x="187" y="66"/>
                    <a:pt x="187" y="66"/>
                    <a:pt x="187" y="66"/>
                  </a:cubicBezTo>
                  <a:cubicBezTo>
                    <a:pt x="185" y="66"/>
                    <a:pt x="184" y="66"/>
                    <a:pt x="182" y="67"/>
                  </a:cubicBezTo>
                  <a:cubicBezTo>
                    <a:pt x="176" y="68"/>
                    <a:pt x="172" y="71"/>
                    <a:pt x="169" y="75"/>
                  </a:cubicBezTo>
                  <a:cubicBezTo>
                    <a:pt x="167" y="80"/>
                    <a:pt x="166" y="84"/>
                    <a:pt x="167" y="88"/>
                  </a:cubicBezTo>
                  <a:cubicBezTo>
                    <a:pt x="168" y="93"/>
                    <a:pt x="172" y="97"/>
                    <a:pt x="177" y="98"/>
                  </a:cubicBezTo>
                  <a:cubicBezTo>
                    <a:pt x="173" y="101"/>
                    <a:pt x="169" y="105"/>
                    <a:pt x="168" y="109"/>
                  </a:cubicBezTo>
                  <a:cubicBezTo>
                    <a:pt x="166" y="113"/>
                    <a:pt x="165" y="117"/>
                    <a:pt x="167" y="122"/>
                  </a:cubicBezTo>
                  <a:cubicBezTo>
                    <a:pt x="168" y="126"/>
                    <a:pt x="170" y="130"/>
                    <a:pt x="175" y="133"/>
                  </a:cubicBezTo>
                  <a:cubicBezTo>
                    <a:pt x="178" y="135"/>
                    <a:pt x="182" y="135"/>
                    <a:pt x="187" y="135"/>
                  </a:cubicBezTo>
                  <a:cubicBezTo>
                    <a:pt x="187" y="194"/>
                    <a:pt x="187" y="194"/>
                    <a:pt x="187" y="194"/>
                  </a:cubicBezTo>
                  <a:cubicBezTo>
                    <a:pt x="147" y="194"/>
                    <a:pt x="147" y="194"/>
                    <a:pt x="147" y="194"/>
                  </a:cubicBezTo>
                  <a:cubicBezTo>
                    <a:pt x="147" y="137"/>
                    <a:pt x="147" y="137"/>
                    <a:pt x="147" y="137"/>
                  </a:cubicBezTo>
                  <a:cubicBezTo>
                    <a:pt x="148" y="137"/>
                    <a:pt x="148" y="137"/>
                    <a:pt x="148" y="137"/>
                  </a:cubicBezTo>
                  <a:cubicBezTo>
                    <a:pt x="148" y="125"/>
                    <a:pt x="148" y="125"/>
                    <a:pt x="148" y="125"/>
                  </a:cubicBezTo>
                  <a:cubicBezTo>
                    <a:pt x="159" y="123"/>
                    <a:pt x="159" y="123"/>
                    <a:pt x="159" y="123"/>
                  </a:cubicBezTo>
                  <a:cubicBezTo>
                    <a:pt x="158" y="112"/>
                    <a:pt x="158" y="112"/>
                    <a:pt x="158" y="112"/>
                  </a:cubicBezTo>
                  <a:cubicBezTo>
                    <a:pt x="147" y="115"/>
                    <a:pt x="147" y="115"/>
                    <a:pt x="147" y="115"/>
                  </a:cubicBezTo>
                  <a:cubicBezTo>
                    <a:pt x="147" y="106"/>
                    <a:pt x="147" y="106"/>
                    <a:pt x="147" y="106"/>
                  </a:cubicBezTo>
                  <a:cubicBezTo>
                    <a:pt x="147" y="29"/>
                    <a:pt x="147" y="29"/>
                    <a:pt x="147" y="29"/>
                  </a:cubicBezTo>
                  <a:cubicBezTo>
                    <a:pt x="187" y="29"/>
                    <a:pt x="187" y="29"/>
                    <a:pt x="187" y="29"/>
                  </a:cubicBezTo>
                  <a:close/>
                  <a:moveTo>
                    <a:pt x="187" y="71"/>
                  </a:moveTo>
                  <a:cubicBezTo>
                    <a:pt x="186" y="70"/>
                    <a:pt x="185" y="70"/>
                    <a:pt x="184" y="70"/>
                  </a:cubicBezTo>
                  <a:cubicBezTo>
                    <a:pt x="181" y="71"/>
                    <a:pt x="179" y="73"/>
                    <a:pt x="178" y="76"/>
                  </a:cubicBezTo>
                  <a:cubicBezTo>
                    <a:pt x="177" y="78"/>
                    <a:pt x="177" y="81"/>
                    <a:pt x="178" y="83"/>
                  </a:cubicBezTo>
                  <a:cubicBezTo>
                    <a:pt x="179" y="88"/>
                    <a:pt x="181" y="91"/>
                    <a:pt x="185" y="93"/>
                  </a:cubicBezTo>
                  <a:cubicBezTo>
                    <a:pt x="186" y="92"/>
                    <a:pt x="187" y="91"/>
                    <a:pt x="187" y="91"/>
                  </a:cubicBezTo>
                  <a:cubicBezTo>
                    <a:pt x="187" y="71"/>
                    <a:pt x="187" y="71"/>
                    <a:pt x="187" y="71"/>
                  </a:cubicBezTo>
                  <a:close/>
                  <a:moveTo>
                    <a:pt x="187" y="100"/>
                  </a:moveTo>
                  <a:cubicBezTo>
                    <a:pt x="187" y="100"/>
                    <a:pt x="186" y="100"/>
                    <a:pt x="186" y="99"/>
                  </a:cubicBezTo>
                  <a:cubicBezTo>
                    <a:pt x="181" y="104"/>
                    <a:pt x="179" y="110"/>
                    <a:pt x="179" y="116"/>
                  </a:cubicBezTo>
                  <a:cubicBezTo>
                    <a:pt x="179" y="118"/>
                    <a:pt x="179" y="120"/>
                    <a:pt x="180" y="121"/>
                  </a:cubicBezTo>
                  <a:cubicBezTo>
                    <a:pt x="180" y="124"/>
                    <a:pt x="182" y="126"/>
                    <a:pt x="183" y="127"/>
                  </a:cubicBezTo>
                  <a:cubicBezTo>
                    <a:pt x="184" y="128"/>
                    <a:pt x="186" y="128"/>
                    <a:pt x="187" y="128"/>
                  </a:cubicBezTo>
                  <a:lnTo>
                    <a:pt x="187" y="100"/>
                  </a:lnTo>
                  <a:close/>
                  <a:moveTo>
                    <a:pt x="147" y="0"/>
                  </a:moveTo>
                  <a:cubicBezTo>
                    <a:pt x="99" y="0"/>
                    <a:pt x="99" y="0"/>
                    <a:pt x="99" y="0"/>
                  </a:cubicBezTo>
                  <a:cubicBezTo>
                    <a:pt x="99" y="16"/>
                    <a:pt x="99" y="16"/>
                    <a:pt x="99" y="16"/>
                  </a:cubicBezTo>
                  <a:cubicBezTo>
                    <a:pt x="147" y="16"/>
                    <a:pt x="147" y="16"/>
                    <a:pt x="147" y="16"/>
                  </a:cubicBezTo>
                  <a:cubicBezTo>
                    <a:pt x="147" y="0"/>
                    <a:pt x="147" y="0"/>
                    <a:pt x="147" y="0"/>
                  </a:cubicBezTo>
                  <a:close/>
                  <a:moveTo>
                    <a:pt x="99" y="224"/>
                  </a:moveTo>
                  <a:cubicBezTo>
                    <a:pt x="147" y="224"/>
                    <a:pt x="147" y="224"/>
                    <a:pt x="147" y="224"/>
                  </a:cubicBezTo>
                  <a:cubicBezTo>
                    <a:pt x="147" y="208"/>
                    <a:pt x="147" y="208"/>
                    <a:pt x="147" y="208"/>
                  </a:cubicBezTo>
                  <a:cubicBezTo>
                    <a:pt x="99" y="208"/>
                    <a:pt x="99" y="208"/>
                    <a:pt x="99" y="208"/>
                  </a:cubicBezTo>
                  <a:cubicBezTo>
                    <a:pt x="99" y="224"/>
                    <a:pt x="99" y="224"/>
                    <a:pt x="99" y="224"/>
                  </a:cubicBezTo>
                  <a:close/>
                  <a:moveTo>
                    <a:pt x="147" y="29"/>
                  </a:moveTo>
                  <a:cubicBezTo>
                    <a:pt x="147" y="106"/>
                    <a:pt x="147" y="106"/>
                    <a:pt x="147" y="106"/>
                  </a:cubicBezTo>
                  <a:cubicBezTo>
                    <a:pt x="147" y="104"/>
                    <a:pt x="147" y="104"/>
                    <a:pt x="147" y="104"/>
                  </a:cubicBezTo>
                  <a:cubicBezTo>
                    <a:pt x="137" y="107"/>
                    <a:pt x="137" y="107"/>
                    <a:pt x="137" y="107"/>
                  </a:cubicBezTo>
                  <a:cubicBezTo>
                    <a:pt x="138" y="118"/>
                    <a:pt x="138" y="118"/>
                    <a:pt x="138" y="118"/>
                  </a:cubicBezTo>
                  <a:cubicBezTo>
                    <a:pt x="127" y="121"/>
                    <a:pt x="127" y="121"/>
                    <a:pt x="127" y="121"/>
                  </a:cubicBezTo>
                  <a:cubicBezTo>
                    <a:pt x="127" y="131"/>
                    <a:pt x="127" y="131"/>
                    <a:pt x="127" y="131"/>
                  </a:cubicBezTo>
                  <a:cubicBezTo>
                    <a:pt x="138" y="128"/>
                    <a:pt x="138" y="128"/>
                    <a:pt x="138" y="128"/>
                  </a:cubicBezTo>
                  <a:cubicBezTo>
                    <a:pt x="138" y="139"/>
                    <a:pt x="138" y="139"/>
                    <a:pt x="138" y="139"/>
                  </a:cubicBezTo>
                  <a:cubicBezTo>
                    <a:pt x="147" y="137"/>
                    <a:pt x="147" y="137"/>
                    <a:pt x="147" y="137"/>
                  </a:cubicBezTo>
                  <a:cubicBezTo>
                    <a:pt x="147" y="194"/>
                    <a:pt x="147" y="194"/>
                    <a:pt x="147" y="194"/>
                  </a:cubicBezTo>
                  <a:cubicBezTo>
                    <a:pt x="99" y="194"/>
                    <a:pt x="99" y="194"/>
                    <a:pt x="99" y="194"/>
                  </a:cubicBezTo>
                  <a:cubicBezTo>
                    <a:pt x="99" y="157"/>
                    <a:pt x="99" y="157"/>
                    <a:pt x="99" y="157"/>
                  </a:cubicBezTo>
                  <a:cubicBezTo>
                    <a:pt x="100" y="157"/>
                    <a:pt x="101" y="157"/>
                    <a:pt x="102" y="156"/>
                  </a:cubicBezTo>
                  <a:cubicBezTo>
                    <a:pt x="109" y="155"/>
                    <a:pt x="113" y="151"/>
                    <a:pt x="117" y="145"/>
                  </a:cubicBezTo>
                  <a:cubicBezTo>
                    <a:pt x="120" y="139"/>
                    <a:pt x="121" y="132"/>
                    <a:pt x="119" y="124"/>
                  </a:cubicBezTo>
                  <a:cubicBezTo>
                    <a:pt x="118" y="120"/>
                    <a:pt x="116" y="117"/>
                    <a:pt x="114" y="115"/>
                  </a:cubicBezTo>
                  <a:cubicBezTo>
                    <a:pt x="112" y="114"/>
                    <a:pt x="111" y="113"/>
                    <a:pt x="109" y="113"/>
                  </a:cubicBezTo>
                  <a:cubicBezTo>
                    <a:pt x="108" y="112"/>
                    <a:pt x="105" y="113"/>
                    <a:pt x="103" y="113"/>
                  </a:cubicBezTo>
                  <a:cubicBezTo>
                    <a:pt x="101" y="114"/>
                    <a:pt x="100" y="114"/>
                    <a:pt x="99" y="115"/>
                  </a:cubicBezTo>
                  <a:cubicBezTo>
                    <a:pt x="99" y="93"/>
                    <a:pt x="99" y="93"/>
                    <a:pt x="99" y="93"/>
                  </a:cubicBezTo>
                  <a:cubicBezTo>
                    <a:pt x="100" y="93"/>
                    <a:pt x="100" y="93"/>
                    <a:pt x="100" y="93"/>
                  </a:cubicBezTo>
                  <a:cubicBezTo>
                    <a:pt x="102" y="93"/>
                    <a:pt x="103" y="93"/>
                    <a:pt x="104" y="94"/>
                  </a:cubicBezTo>
                  <a:cubicBezTo>
                    <a:pt x="105" y="94"/>
                    <a:pt x="106" y="95"/>
                    <a:pt x="106" y="97"/>
                  </a:cubicBezTo>
                  <a:cubicBezTo>
                    <a:pt x="106" y="98"/>
                    <a:pt x="106" y="99"/>
                    <a:pt x="105" y="100"/>
                  </a:cubicBezTo>
                  <a:cubicBezTo>
                    <a:pt x="108" y="99"/>
                    <a:pt x="110" y="98"/>
                    <a:pt x="111" y="97"/>
                  </a:cubicBezTo>
                  <a:cubicBezTo>
                    <a:pt x="112" y="95"/>
                    <a:pt x="112" y="93"/>
                    <a:pt x="111" y="92"/>
                  </a:cubicBezTo>
                  <a:cubicBezTo>
                    <a:pt x="111" y="90"/>
                    <a:pt x="110" y="89"/>
                    <a:pt x="107" y="88"/>
                  </a:cubicBezTo>
                  <a:cubicBezTo>
                    <a:pt x="105" y="87"/>
                    <a:pt x="103" y="87"/>
                    <a:pt x="100" y="88"/>
                  </a:cubicBezTo>
                  <a:cubicBezTo>
                    <a:pt x="99" y="88"/>
                    <a:pt x="99" y="88"/>
                    <a:pt x="99" y="88"/>
                  </a:cubicBezTo>
                  <a:cubicBezTo>
                    <a:pt x="99" y="29"/>
                    <a:pt x="99" y="29"/>
                    <a:pt x="99" y="29"/>
                  </a:cubicBezTo>
                  <a:cubicBezTo>
                    <a:pt x="147" y="29"/>
                    <a:pt x="147" y="29"/>
                    <a:pt x="147" y="29"/>
                  </a:cubicBezTo>
                  <a:close/>
                  <a:moveTo>
                    <a:pt x="99" y="150"/>
                  </a:moveTo>
                  <a:cubicBezTo>
                    <a:pt x="100" y="150"/>
                    <a:pt x="101" y="150"/>
                    <a:pt x="101" y="150"/>
                  </a:cubicBezTo>
                  <a:cubicBezTo>
                    <a:pt x="105" y="149"/>
                    <a:pt x="107" y="146"/>
                    <a:pt x="109" y="142"/>
                  </a:cubicBezTo>
                  <a:cubicBezTo>
                    <a:pt x="110" y="137"/>
                    <a:pt x="111" y="133"/>
                    <a:pt x="110" y="129"/>
                  </a:cubicBezTo>
                  <a:cubicBezTo>
                    <a:pt x="108" y="123"/>
                    <a:pt x="106" y="120"/>
                    <a:pt x="103" y="121"/>
                  </a:cubicBezTo>
                  <a:cubicBezTo>
                    <a:pt x="101" y="121"/>
                    <a:pt x="100" y="122"/>
                    <a:pt x="99" y="123"/>
                  </a:cubicBezTo>
                  <a:lnTo>
                    <a:pt x="99" y="150"/>
                  </a:lnTo>
                  <a:close/>
                  <a:moveTo>
                    <a:pt x="99" y="0"/>
                  </a:moveTo>
                  <a:cubicBezTo>
                    <a:pt x="23" y="0"/>
                    <a:pt x="23" y="0"/>
                    <a:pt x="23" y="0"/>
                  </a:cubicBezTo>
                  <a:cubicBezTo>
                    <a:pt x="10" y="0"/>
                    <a:pt x="0" y="10"/>
                    <a:pt x="0" y="23"/>
                  </a:cubicBezTo>
                  <a:cubicBezTo>
                    <a:pt x="0" y="200"/>
                    <a:pt x="0" y="200"/>
                    <a:pt x="0" y="200"/>
                  </a:cubicBezTo>
                  <a:cubicBezTo>
                    <a:pt x="0" y="213"/>
                    <a:pt x="10" y="224"/>
                    <a:pt x="23" y="224"/>
                  </a:cubicBezTo>
                  <a:cubicBezTo>
                    <a:pt x="99" y="224"/>
                    <a:pt x="99" y="224"/>
                    <a:pt x="99" y="224"/>
                  </a:cubicBezTo>
                  <a:cubicBezTo>
                    <a:pt x="99" y="208"/>
                    <a:pt x="99" y="208"/>
                    <a:pt x="99" y="208"/>
                  </a:cubicBezTo>
                  <a:cubicBezTo>
                    <a:pt x="37" y="208"/>
                    <a:pt x="37" y="208"/>
                    <a:pt x="37" y="208"/>
                  </a:cubicBezTo>
                  <a:cubicBezTo>
                    <a:pt x="37" y="208"/>
                    <a:pt x="37" y="208"/>
                    <a:pt x="37" y="208"/>
                  </a:cubicBezTo>
                  <a:cubicBezTo>
                    <a:pt x="26" y="208"/>
                    <a:pt x="17" y="199"/>
                    <a:pt x="17" y="189"/>
                  </a:cubicBezTo>
                  <a:cubicBezTo>
                    <a:pt x="17" y="35"/>
                    <a:pt x="17" y="35"/>
                    <a:pt x="17" y="35"/>
                  </a:cubicBezTo>
                  <a:cubicBezTo>
                    <a:pt x="17" y="24"/>
                    <a:pt x="26" y="16"/>
                    <a:pt x="37" y="16"/>
                  </a:cubicBezTo>
                  <a:cubicBezTo>
                    <a:pt x="99" y="16"/>
                    <a:pt x="99" y="16"/>
                    <a:pt x="99" y="16"/>
                  </a:cubicBezTo>
                  <a:cubicBezTo>
                    <a:pt x="99" y="0"/>
                    <a:pt x="99" y="0"/>
                    <a:pt x="99" y="0"/>
                  </a:cubicBezTo>
                  <a:close/>
                  <a:moveTo>
                    <a:pt x="99" y="29"/>
                  </a:moveTo>
                  <a:cubicBezTo>
                    <a:pt x="99" y="88"/>
                    <a:pt x="99" y="88"/>
                    <a:pt x="99" y="88"/>
                  </a:cubicBezTo>
                  <a:cubicBezTo>
                    <a:pt x="93" y="89"/>
                    <a:pt x="89" y="93"/>
                    <a:pt x="85" y="97"/>
                  </a:cubicBezTo>
                  <a:cubicBezTo>
                    <a:pt x="82" y="102"/>
                    <a:pt x="80" y="109"/>
                    <a:pt x="79" y="116"/>
                  </a:cubicBezTo>
                  <a:cubicBezTo>
                    <a:pt x="78" y="120"/>
                    <a:pt x="78" y="124"/>
                    <a:pt x="79" y="129"/>
                  </a:cubicBezTo>
                  <a:cubicBezTo>
                    <a:pt x="79" y="134"/>
                    <a:pt x="80" y="138"/>
                    <a:pt x="81" y="142"/>
                  </a:cubicBezTo>
                  <a:cubicBezTo>
                    <a:pt x="81" y="144"/>
                    <a:pt x="81" y="144"/>
                    <a:pt x="81" y="144"/>
                  </a:cubicBezTo>
                  <a:cubicBezTo>
                    <a:pt x="82" y="146"/>
                    <a:pt x="82" y="148"/>
                    <a:pt x="83" y="150"/>
                  </a:cubicBezTo>
                  <a:cubicBezTo>
                    <a:pt x="86" y="156"/>
                    <a:pt x="92" y="158"/>
                    <a:pt x="99" y="157"/>
                  </a:cubicBezTo>
                  <a:cubicBezTo>
                    <a:pt x="99" y="194"/>
                    <a:pt x="99" y="194"/>
                    <a:pt x="99" y="194"/>
                  </a:cubicBezTo>
                  <a:cubicBezTo>
                    <a:pt x="46" y="194"/>
                    <a:pt x="46" y="194"/>
                    <a:pt x="46" y="194"/>
                  </a:cubicBezTo>
                  <a:cubicBezTo>
                    <a:pt x="37" y="194"/>
                    <a:pt x="30" y="187"/>
                    <a:pt x="30" y="179"/>
                  </a:cubicBezTo>
                  <a:cubicBezTo>
                    <a:pt x="30" y="45"/>
                    <a:pt x="30" y="45"/>
                    <a:pt x="30" y="45"/>
                  </a:cubicBezTo>
                  <a:cubicBezTo>
                    <a:pt x="30" y="36"/>
                    <a:pt x="37" y="29"/>
                    <a:pt x="46" y="29"/>
                  </a:cubicBezTo>
                  <a:cubicBezTo>
                    <a:pt x="99" y="29"/>
                    <a:pt x="99" y="29"/>
                    <a:pt x="99" y="29"/>
                  </a:cubicBezTo>
                  <a:close/>
                  <a:moveTo>
                    <a:pt x="99" y="93"/>
                  </a:moveTo>
                  <a:cubicBezTo>
                    <a:pt x="99" y="115"/>
                    <a:pt x="99" y="115"/>
                    <a:pt x="99" y="115"/>
                  </a:cubicBezTo>
                  <a:cubicBezTo>
                    <a:pt x="98" y="115"/>
                    <a:pt x="97" y="116"/>
                    <a:pt x="96" y="118"/>
                  </a:cubicBezTo>
                  <a:cubicBezTo>
                    <a:pt x="94" y="120"/>
                    <a:pt x="93" y="122"/>
                    <a:pt x="94" y="125"/>
                  </a:cubicBezTo>
                  <a:cubicBezTo>
                    <a:pt x="94" y="127"/>
                    <a:pt x="95" y="128"/>
                    <a:pt x="97" y="129"/>
                  </a:cubicBezTo>
                  <a:cubicBezTo>
                    <a:pt x="97" y="127"/>
                    <a:pt x="98" y="125"/>
                    <a:pt x="99" y="123"/>
                  </a:cubicBezTo>
                  <a:cubicBezTo>
                    <a:pt x="99" y="150"/>
                    <a:pt x="99" y="150"/>
                    <a:pt x="99" y="150"/>
                  </a:cubicBezTo>
                  <a:cubicBezTo>
                    <a:pt x="98" y="150"/>
                    <a:pt x="97" y="149"/>
                    <a:pt x="96" y="149"/>
                  </a:cubicBezTo>
                  <a:cubicBezTo>
                    <a:pt x="95" y="148"/>
                    <a:pt x="94" y="146"/>
                    <a:pt x="93" y="142"/>
                  </a:cubicBezTo>
                  <a:cubicBezTo>
                    <a:pt x="92" y="140"/>
                    <a:pt x="92" y="137"/>
                    <a:pt x="91" y="133"/>
                  </a:cubicBezTo>
                  <a:cubicBezTo>
                    <a:pt x="91" y="128"/>
                    <a:pt x="90" y="124"/>
                    <a:pt x="90" y="119"/>
                  </a:cubicBezTo>
                  <a:cubicBezTo>
                    <a:pt x="90" y="111"/>
                    <a:pt x="91" y="104"/>
                    <a:pt x="93" y="100"/>
                  </a:cubicBezTo>
                  <a:cubicBezTo>
                    <a:pt x="95" y="97"/>
                    <a:pt x="97" y="94"/>
                    <a:pt x="99" y="93"/>
                  </a:cubicBezTo>
                  <a:close/>
                </a:path>
              </a:pathLst>
            </a:custGeom>
            <a:solidFill>
              <a:schemeClr val="accent1">
                <a:lumMod val="75000"/>
              </a:schemeClr>
            </a:solidFill>
            <a:ln>
              <a:noFill/>
            </a:ln>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78" name="Freeform 77">
              <a:extLst>
                <a:ext uri="{FF2B5EF4-FFF2-40B4-BE49-F238E27FC236}">
                  <a16:creationId xmlns:a16="http://schemas.microsoft.com/office/drawing/2014/main" id="{A25D90F7-AFE0-4727-9FC5-E509C2998599}"/>
                </a:ext>
              </a:extLst>
            </p:cNvPr>
            <p:cNvSpPr>
              <a:spLocks/>
            </p:cNvSpPr>
            <p:nvPr/>
          </p:nvSpPr>
          <p:spPr bwMode="auto">
            <a:xfrm>
              <a:off x="1775542" y="2659555"/>
              <a:ext cx="160693" cy="120222"/>
            </a:xfrm>
            <a:custGeom>
              <a:avLst/>
              <a:gdLst>
                <a:gd name="T0" fmla="*/ 69 w 98"/>
                <a:gd name="T1" fmla="*/ 0 h 74"/>
                <a:gd name="T2" fmla="*/ 49 w 98"/>
                <a:gd name="T3" fmla="*/ 8 h 74"/>
                <a:gd name="T4" fmla="*/ 30 w 98"/>
                <a:gd name="T5" fmla="*/ 0 h 74"/>
                <a:gd name="T6" fmla="*/ 0 w 98"/>
                <a:gd name="T7" fmla="*/ 29 h 74"/>
                <a:gd name="T8" fmla="*/ 51 w 98"/>
                <a:gd name="T9" fmla="*/ 74 h 74"/>
                <a:gd name="T10" fmla="*/ 98 w 98"/>
                <a:gd name="T11" fmla="*/ 29 h 74"/>
                <a:gd name="T12" fmla="*/ 69 w 98"/>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98" h="74">
                  <a:moveTo>
                    <a:pt x="69" y="0"/>
                  </a:moveTo>
                  <a:cubicBezTo>
                    <a:pt x="61" y="0"/>
                    <a:pt x="54" y="3"/>
                    <a:pt x="49" y="8"/>
                  </a:cubicBezTo>
                  <a:cubicBezTo>
                    <a:pt x="44" y="3"/>
                    <a:pt x="37" y="0"/>
                    <a:pt x="30" y="0"/>
                  </a:cubicBezTo>
                  <a:cubicBezTo>
                    <a:pt x="13" y="0"/>
                    <a:pt x="0" y="13"/>
                    <a:pt x="0" y="29"/>
                  </a:cubicBezTo>
                  <a:cubicBezTo>
                    <a:pt x="0" y="47"/>
                    <a:pt x="15" y="74"/>
                    <a:pt x="51" y="74"/>
                  </a:cubicBezTo>
                  <a:cubicBezTo>
                    <a:pt x="88" y="74"/>
                    <a:pt x="98" y="45"/>
                    <a:pt x="98" y="29"/>
                  </a:cubicBezTo>
                  <a:cubicBezTo>
                    <a:pt x="98" y="13"/>
                    <a:pt x="85" y="0"/>
                    <a:pt x="69" y="0"/>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79" name="Freeform 78">
              <a:extLst>
                <a:ext uri="{FF2B5EF4-FFF2-40B4-BE49-F238E27FC236}">
                  <a16:creationId xmlns:a16="http://schemas.microsoft.com/office/drawing/2014/main" id="{69933ADA-ADEE-40EA-B6A3-CEBA7B946DF3}"/>
                </a:ext>
              </a:extLst>
            </p:cNvPr>
            <p:cNvSpPr>
              <a:spLocks/>
            </p:cNvSpPr>
            <p:nvPr/>
          </p:nvSpPr>
          <p:spPr bwMode="auto">
            <a:xfrm>
              <a:off x="1846960" y="2628607"/>
              <a:ext cx="44042" cy="54754"/>
            </a:xfrm>
            <a:custGeom>
              <a:avLst/>
              <a:gdLst>
                <a:gd name="T0" fmla="*/ 6 w 27"/>
                <a:gd name="T1" fmla="*/ 34 h 34"/>
                <a:gd name="T2" fmla="*/ 13 w 27"/>
                <a:gd name="T3" fmla="*/ 0 h 34"/>
                <a:gd name="T4" fmla="*/ 27 w 27"/>
                <a:gd name="T5" fmla="*/ 3 h 34"/>
                <a:gd name="T6" fmla="*/ 6 w 27"/>
                <a:gd name="T7" fmla="*/ 34 h 34"/>
              </a:gdLst>
              <a:ahLst/>
              <a:cxnLst>
                <a:cxn ang="0">
                  <a:pos x="T0" y="T1"/>
                </a:cxn>
                <a:cxn ang="0">
                  <a:pos x="T2" y="T3"/>
                </a:cxn>
                <a:cxn ang="0">
                  <a:pos x="T4" y="T5"/>
                </a:cxn>
                <a:cxn ang="0">
                  <a:pos x="T6" y="T7"/>
                </a:cxn>
              </a:cxnLst>
              <a:rect l="0" t="0" r="r" b="b"/>
              <a:pathLst>
                <a:path w="27" h="34">
                  <a:moveTo>
                    <a:pt x="6" y="34"/>
                  </a:moveTo>
                  <a:cubicBezTo>
                    <a:pt x="0" y="22"/>
                    <a:pt x="4" y="9"/>
                    <a:pt x="13" y="0"/>
                  </a:cubicBezTo>
                  <a:cubicBezTo>
                    <a:pt x="27" y="3"/>
                    <a:pt x="27" y="3"/>
                    <a:pt x="27" y="3"/>
                  </a:cubicBezTo>
                  <a:cubicBezTo>
                    <a:pt x="14" y="10"/>
                    <a:pt x="6" y="18"/>
                    <a:pt x="6" y="34"/>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80" name="Freeform 79">
              <a:extLst>
                <a:ext uri="{FF2B5EF4-FFF2-40B4-BE49-F238E27FC236}">
                  <a16:creationId xmlns:a16="http://schemas.microsoft.com/office/drawing/2014/main" id="{92E63552-FCA9-472C-8E4C-0EECB40B0770}"/>
                </a:ext>
              </a:extLst>
            </p:cNvPr>
            <p:cNvSpPr>
              <a:spLocks noEditPoints="1"/>
            </p:cNvSpPr>
            <p:nvPr/>
          </p:nvSpPr>
          <p:spPr bwMode="auto">
            <a:xfrm>
              <a:off x="1596994" y="3630852"/>
              <a:ext cx="169025" cy="234492"/>
            </a:xfrm>
            <a:custGeom>
              <a:avLst/>
              <a:gdLst>
                <a:gd name="T0" fmla="*/ 87 w 103"/>
                <a:gd name="T1" fmla="*/ 88 h 143"/>
                <a:gd name="T2" fmla="*/ 103 w 103"/>
                <a:gd name="T3" fmla="*/ 112 h 143"/>
                <a:gd name="T4" fmla="*/ 102 w 103"/>
                <a:gd name="T5" fmla="*/ 143 h 143"/>
                <a:gd name="T6" fmla="*/ 87 w 103"/>
                <a:gd name="T7" fmla="*/ 137 h 143"/>
                <a:gd name="T8" fmla="*/ 87 w 103"/>
                <a:gd name="T9" fmla="*/ 134 h 143"/>
                <a:gd name="T10" fmla="*/ 91 w 103"/>
                <a:gd name="T11" fmla="*/ 136 h 143"/>
                <a:gd name="T12" fmla="*/ 100 w 103"/>
                <a:gd name="T13" fmla="*/ 130 h 143"/>
                <a:gd name="T14" fmla="*/ 100 w 103"/>
                <a:gd name="T15" fmla="*/ 113 h 143"/>
                <a:gd name="T16" fmla="*/ 100 w 103"/>
                <a:gd name="T17" fmla="*/ 113 h 143"/>
                <a:gd name="T18" fmla="*/ 99 w 103"/>
                <a:gd name="T19" fmla="*/ 111 h 143"/>
                <a:gd name="T20" fmla="*/ 92 w 103"/>
                <a:gd name="T21" fmla="*/ 110 h 143"/>
                <a:gd name="T22" fmla="*/ 90 w 103"/>
                <a:gd name="T23" fmla="*/ 116 h 143"/>
                <a:gd name="T24" fmla="*/ 87 w 103"/>
                <a:gd name="T25" fmla="*/ 115 h 143"/>
                <a:gd name="T26" fmla="*/ 87 w 103"/>
                <a:gd name="T27" fmla="*/ 88 h 143"/>
                <a:gd name="T28" fmla="*/ 73 w 103"/>
                <a:gd name="T29" fmla="*/ 132 h 143"/>
                <a:gd name="T30" fmla="*/ 32 w 103"/>
                <a:gd name="T31" fmla="*/ 70 h 143"/>
                <a:gd name="T32" fmla="*/ 28 w 103"/>
                <a:gd name="T33" fmla="*/ 68 h 143"/>
                <a:gd name="T34" fmla="*/ 28 w 103"/>
                <a:gd name="T35" fmla="*/ 67 h 143"/>
                <a:gd name="T36" fmla="*/ 28 w 103"/>
                <a:gd name="T37" fmla="*/ 63 h 143"/>
                <a:gd name="T38" fmla="*/ 29 w 103"/>
                <a:gd name="T39" fmla="*/ 65 h 143"/>
                <a:gd name="T40" fmla="*/ 34 w 103"/>
                <a:gd name="T41" fmla="*/ 66 h 143"/>
                <a:gd name="T42" fmla="*/ 41 w 103"/>
                <a:gd name="T43" fmla="*/ 61 h 143"/>
                <a:gd name="T44" fmla="*/ 41 w 103"/>
                <a:gd name="T45" fmla="*/ 61 h 143"/>
                <a:gd name="T46" fmla="*/ 37 w 103"/>
                <a:gd name="T47" fmla="*/ 59 h 143"/>
                <a:gd name="T48" fmla="*/ 28 w 103"/>
                <a:gd name="T49" fmla="*/ 45 h 143"/>
                <a:gd name="T50" fmla="*/ 28 w 103"/>
                <a:gd name="T51" fmla="*/ 26 h 143"/>
                <a:gd name="T52" fmla="*/ 39 w 103"/>
                <a:gd name="T53" fmla="*/ 19 h 143"/>
                <a:gd name="T54" fmla="*/ 44 w 103"/>
                <a:gd name="T55" fmla="*/ 21 h 143"/>
                <a:gd name="T56" fmla="*/ 61 w 103"/>
                <a:gd name="T57" fmla="*/ 46 h 143"/>
                <a:gd name="T58" fmla="*/ 61 w 103"/>
                <a:gd name="T59" fmla="*/ 50 h 143"/>
                <a:gd name="T60" fmla="*/ 87 w 103"/>
                <a:gd name="T61" fmla="*/ 88 h 143"/>
                <a:gd name="T62" fmla="*/ 87 w 103"/>
                <a:gd name="T63" fmla="*/ 115 h 143"/>
                <a:gd name="T64" fmla="*/ 84 w 103"/>
                <a:gd name="T65" fmla="*/ 116 h 143"/>
                <a:gd name="T66" fmla="*/ 82 w 103"/>
                <a:gd name="T67" fmla="*/ 122 h 143"/>
                <a:gd name="T68" fmla="*/ 75 w 103"/>
                <a:gd name="T69" fmla="*/ 121 h 143"/>
                <a:gd name="T70" fmla="*/ 74 w 103"/>
                <a:gd name="T71" fmla="*/ 128 h 143"/>
                <a:gd name="T72" fmla="*/ 75 w 103"/>
                <a:gd name="T73" fmla="*/ 130 h 143"/>
                <a:gd name="T74" fmla="*/ 87 w 103"/>
                <a:gd name="T75" fmla="*/ 134 h 143"/>
                <a:gd name="T76" fmla="*/ 87 w 103"/>
                <a:gd name="T77" fmla="*/ 137 h 143"/>
                <a:gd name="T78" fmla="*/ 73 w 103"/>
                <a:gd name="T79" fmla="*/ 132 h 143"/>
                <a:gd name="T80" fmla="*/ 28 w 103"/>
                <a:gd name="T81" fmla="*/ 4 h 143"/>
                <a:gd name="T82" fmla="*/ 28 w 103"/>
                <a:gd name="T83" fmla="*/ 24 h 143"/>
                <a:gd name="T84" fmla="*/ 36 w 103"/>
                <a:gd name="T85" fmla="*/ 15 h 143"/>
                <a:gd name="T86" fmla="*/ 32 w 103"/>
                <a:gd name="T87" fmla="*/ 8 h 143"/>
                <a:gd name="T88" fmla="*/ 28 w 103"/>
                <a:gd name="T89" fmla="*/ 4 h 143"/>
                <a:gd name="T90" fmla="*/ 28 w 103"/>
                <a:gd name="T91" fmla="*/ 67 h 143"/>
                <a:gd name="T92" fmla="*/ 11 w 103"/>
                <a:gd name="T93" fmla="*/ 43 h 143"/>
                <a:gd name="T94" fmla="*/ 11 w 103"/>
                <a:gd name="T95" fmla="*/ 37 h 143"/>
                <a:gd name="T96" fmla="*/ 5 w 103"/>
                <a:gd name="T97" fmla="*/ 27 h 143"/>
                <a:gd name="T98" fmla="*/ 9 w 103"/>
                <a:gd name="T99" fmla="*/ 4 h 143"/>
                <a:gd name="T100" fmla="*/ 28 w 103"/>
                <a:gd name="T101" fmla="*/ 4 h 143"/>
                <a:gd name="T102" fmla="*/ 28 w 103"/>
                <a:gd name="T103" fmla="*/ 24 h 143"/>
                <a:gd name="T104" fmla="*/ 21 w 103"/>
                <a:gd name="T105" fmla="*/ 31 h 143"/>
                <a:gd name="T106" fmla="*/ 28 w 103"/>
                <a:gd name="T107" fmla="*/ 26 h 143"/>
                <a:gd name="T108" fmla="*/ 28 w 103"/>
                <a:gd name="T109" fmla="*/ 45 h 143"/>
                <a:gd name="T110" fmla="*/ 22 w 103"/>
                <a:gd name="T111" fmla="*/ 37 h 143"/>
                <a:gd name="T112" fmla="*/ 22 w 103"/>
                <a:gd name="T113" fmla="*/ 33 h 143"/>
                <a:gd name="T114" fmla="*/ 15 w 103"/>
                <a:gd name="T115" fmla="*/ 37 h 143"/>
                <a:gd name="T116" fmla="*/ 14 w 103"/>
                <a:gd name="T117" fmla="*/ 43 h 143"/>
                <a:gd name="T118" fmla="*/ 28 w 103"/>
                <a:gd name="T119" fmla="*/ 63 h 143"/>
                <a:gd name="T120" fmla="*/ 28 w 103"/>
                <a:gd name="T121" fmla="*/ 6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3" h="143">
                  <a:moveTo>
                    <a:pt x="87" y="88"/>
                  </a:moveTo>
                  <a:cubicBezTo>
                    <a:pt x="103" y="112"/>
                    <a:pt x="103" y="112"/>
                    <a:pt x="103" y="112"/>
                  </a:cubicBezTo>
                  <a:cubicBezTo>
                    <a:pt x="102" y="143"/>
                    <a:pt x="102" y="143"/>
                    <a:pt x="102" y="143"/>
                  </a:cubicBezTo>
                  <a:cubicBezTo>
                    <a:pt x="87" y="137"/>
                    <a:pt x="87" y="137"/>
                    <a:pt x="87" y="137"/>
                  </a:cubicBezTo>
                  <a:cubicBezTo>
                    <a:pt x="87" y="134"/>
                    <a:pt x="87" y="134"/>
                    <a:pt x="87" y="134"/>
                  </a:cubicBezTo>
                  <a:cubicBezTo>
                    <a:pt x="91" y="136"/>
                    <a:pt x="91" y="136"/>
                    <a:pt x="91" y="136"/>
                  </a:cubicBezTo>
                  <a:cubicBezTo>
                    <a:pt x="100" y="130"/>
                    <a:pt x="100" y="130"/>
                    <a:pt x="100" y="130"/>
                  </a:cubicBezTo>
                  <a:cubicBezTo>
                    <a:pt x="100" y="113"/>
                    <a:pt x="100" y="113"/>
                    <a:pt x="100" y="113"/>
                  </a:cubicBezTo>
                  <a:cubicBezTo>
                    <a:pt x="100" y="113"/>
                    <a:pt x="100" y="113"/>
                    <a:pt x="100" y="113"/>
                  </a:cubicBezTo>
                  <a:cubicBezTo>
                    <a:pt x="99" y="111"/>
                    <a:pt x="99" y="111"/>
                    <a:pt x="99" y="111"/>
                  </a:cubicBezTo>
                  <a:cubicBezTo>
                    <a:pt x="98" y="109"/>
                    <a:pt x="95" y="108"/>
                    <a:pt x="92" y="110"/>
                  </a:cubicBezTo>
                  <a:cubicBezTo>
                    <a:pt x="90" y="111"/>
                    <a:pt x="89" y="114"/>
                    <a:pt x="90" y="116"/>
                  </a:cubicBezTo>
                  <a:cubicBezTo>
                    <a:pt x="89" y="115"/>
                    <a:pt x="88" y="115"/>
                    <a:pt x="87" y="115"/>
                  </a:cubicBezTo>
                  <a:lnTo>
                    <a:pt x="87" y="88"/>
                  </a:lnTo>
                  <a:close/>
                  <a:moveTo>
                    <a:pt x="73" y="132"/>
                  </a:moveTo>
                  <a:cubicBezTo>
                    <a:pt x="32" y="70"/>
                    <a:pt x="32" y="70"/>
                    <a:pt x="32" y="70"/>
                  </a:cubicBezTo>
                  <a:cubicBezTo>
                    <a:pt x="30" y="70"/>
                    <a:pt x="29" y="69"/>
                    <a:pt x="28" y="68"/>
                  </a:cubicBezTo>
                  <a:cubicBezTo>
                    <a:pt x="28" y="67"/>
                    <a:pt x="28" y="67"/>
                    <a:pt x="28" y="67"/>
                  </a:cubicBezTo>
                  <a:cubicBezTo>
                    <a:pt x="28" y="63"/>
                    <a:pt x="28" y="63"/>
                    <a:pt x="28" y="63"/>
                  </a:cubicBezTo>
                  <a:cubicBezTo>
                    <a:pt x="29" y="65"/>
                    <a:pt x="29" y="65"/>
                    <a:pt x="29" y="65"/>
                  </a:cubicBezTo>
                  <a:cubicBezTo>
                    <a:pt x="30" y="67"/>
                    <a:pt x="33" y="67"/>
                    <a:pt x="34" y="66"/>
                  </a:cubicBezTo>
                  <a:cubicBezTo>
                    <a:pt x="41" y="61"/>
                    <a:pt x="41" y="61"/>
                    <a:pt x="41" y="61"/>
                  </a:cubicBezTo>
                  <a:cubicBezTo>
                    <a:pt x="41" y="61"/>
                    <a:pt x="41" y="61"/>
                    <a:pt x="41" y="61"/>
                  </a:cubicBezTo>
                  <a:cubicBezTo>
                    <a:pt x="40" y="61"/>
                    <a:pt x="38" y="61"/>
                    <a:pt x="37" y="59"/>
                  </a:cubicBezTo>
                  <a:cubicBezTo>
                    <a:pt x="28" y="45"/>
                    <a:pt x="28" y="45"/>
                    <a:pt x="28" y="45"/>
                  </a:cubicBezTo>
                  <a:cubicBezTo>
                    <a:pt x="28" y="26"/>
                    <a:pt x="28" y="26"/>
                    <a:pt x="28" y="26"/>
                  </a:cubicBezTo>
                  <a:cubicBezTo>
                    <a:pt x="39" y="19"/>
                    <a:pt x="39" y="19"/>
                    <a:pt x="39" y="19"/>
                  </a:cubicBezTo>
                  <a:cubicBezTo>
                    <a:pt x="41" y="18"/>
                    <a:pt x="43" y="19"/>
                    <a:pt x="44" y="21"/>
                  </a:cubicBezTo>
                  <a:cubicBezTo>
                    <a:pt x="61" y="46"/>
                    <a:pt x="61" y="46"/>
                    <a:pt x="61" y="46"/>
                  </a:cubicBezTo>
                  <a:cubicBezTo>
                    <a:pt x="62" y="47"/>
                    <a:pt x="62" y="49"/>
                    <a:pt x="61" y="50"/>
                  </a:cubicBezTo>
                  <a:cubicBezTo>
                    <a:pt x="87" y="88"/>
                    <a:pt x="87" y="88"/>
                    <a:pt x="87" y="88"/>
                  </a:cubicBezTo>
                  <a:cubicBezTo>
                    <a:pt x="87" y="115"/>
                    <a:pt x="87" y="115"/>
                    <a:pt x="87" y="115"/>
                  </a:cubicBezTo>
                  <a:cubicBezTo>
                    <a:pt x="86" y="115"/>
                    <a:pt x="85" y="115"/>
                    <a:pt x="84" y="116"/>
                  </a:cubicBezTo>
                  <a:cubicBezTo>
                    <a:pt x="82" y="117"/>
                    <a:pt x="81" y="120"/>
                    <a:pt x="82" y="122"/>
                  </a:cubicBezTo>
                  <a:cubicBezTo>
                    <a:pt x="80" y="120"/>
                    <a:pt x="77" y="120"/>
                    <a:pt x="75" y="121"/>
                  </a:cubicBezTo>
                  <a:cubicBezTo>
                    <a:pt x="73" y="123"/>
                    <a:pt x="72" y="126"/>
                    <a:pt x="74" y="128"/>
                  </a:cubicBezTo>
                  <a:cubicBezTo>
                    <a:pt x="75" y="130"/>
                    <a:pt x="75" y="130"/>
                    <a:pt x="75" y="130"/>
                  </a:cubicBezTo>
                  <a:cubicBezTo>
                    <a:pt x="87" y="134"/>
                    <a:pt x="87" y="134"/>
                    <a:pt x="87" y="134"/>
                  </a:cubicBezTo>
                  <a:cubicBezTo>
                    <a:pt x="87" y="137"/>
                    <a:pt x="87" y="137"/>
                    <a:pt x="87" y="137"/>
                  </a:cubicBezTo>
                  <a:cubicBezTo>
                    <a:pt x="73" y="132"/>
                    <a:pt x="73" y="132"/>
                    <a:pt x="73" y="132"/>
                  </a:cubicBezTo>
                  <a:close/>
                  <a:moveTo>
                    <a:pt x="28" y="4"/>
                  </a:moveTo>
                  <a:cubicBezTo>
                    <a:pt x="28" y="24"/>
                    <a:pt x="28" y="24"/>
                    <a:pt x="28" y="24"/>
                  </a:cubicBezTo>
                  <a:cubicBezTo>
                    <a:pt x="36" y="15"/>
                    <a:pt x="36" y="15"/>
                    <a:pt x="36" y="15"/>
                  </a:cubicBezTo>
                  <a:cubicBezTo>
                    <a:pt x="32" y="8"/>
                    <a:pt x="32" y="8"/>
                    <a:pt x="32" y="8"/>
                  </a:cubicBezTo>
                  <a:cubicBezTo>
                    <a:pt x="31" y="7"/>
                    <a:pt x="29" y="5"/>
                    <a:pt x="28" y="4"/>
                  </a:cubicBezTo>
                  <a:close/>
                  <a:moveTo>
                    <a:pt x="28" y="67"/>
                  </a:moveTo>
                  <a:cubicBezTo>
                    <a:pt x="11" y="43"/>
                    <a:pt x="11" y="43"/>
                    <a:pt x="11" y="43"/>
                  </a:cubicBezTo>
                  <a:cubicBezTo>
                    <a:pt x="10" y="41"/>
                    <a:pt x="10" y="38"/>
                    <a:pt x="11" y="37"/>
                  </a:cubicBezTo>
                  <a:cubicBezTo>
                    <a:pt x="5" y="27"/>
                    <a:pt x="5" y="27"/>
                    <a:pt x="5" y="27"/>
                  </a:cubicBezTo>
                  <a:cubicBezTo>
                    <a:pt x="0" y="19"/>
                    <a:pt x="2" y="9"/>
                    <a:pt x="9" y="4"/>
                  </a:cubicBezTo>
                  <a:cubicBezTo>
                    <a:pt x="15" y="0"/>
                    <a:pt x="22" y="0"/>
                    <a:pt x="28" y="4"/>
                  </a:cubicBezTo>
                  <a:cubicBezTo>
                    <a:pt x="28" y="24"/>
                    <a:pt x="28" y="24"/>
                    <a:pt x="28" y="24"/>
                  </a:cubicBezTo>
                  <a:cubicBezTo>
                    <a:pt x="21" y="31"/>
                    <a:pt x="21" y="31"/>
                    <a:pt x="21" y="31"/>
                  </a:cubicBezTo>
                  <a:cubicBezTo>
                    <a:pt x="28" y="26"/>
                    <a:pt x="28" y="26"/>
                    <a:pt x="28" y="26"/>
                  </a:cubicBezTo>
                  <a:cubicBezTo>
                    <a:pt x="28" y="45"/>
                    <a:pt x="28" y="45"/>
                    <a:pt x="28" y="45"/>
                  </a:cubicBezTo>
                  <a:cubicBezTo>
                    <a:pt x="22" y="37"/>
                    <a:pt x="22" y="37"/>
                    <a:pt x="22" y="37"/>
                  </a:cubicBezTo>
                  <a:cubicBezTo>
                    <a:pt x="21" y="36"/>
                    <a:pt x="21" y="34"/>
                    <a:pt x="22" y="33"/>
                  </a:cubicBezTo>
                  <a:cubicBezTo>
                    <a:pt x="15" y="37"/>
                    <a:pt x="15" y="37"/>
                    <a:pt x="15" y="37"/>
                  </a:cubicBezTo>
                  <a:cubicBezTo>
                    <a:pt x="14" y="39"/>
                    <a:pt x="13" y="41"/>
                    <a:pt x="14" y="43"/>
                  </a:cubicBezTo>
                  <a:cubicBezTo>
                    <a:pt x="28" y="63"/>
                    <a:pt x="28" y="63"/>
                    <a:pt x="28" y="63"/>
                  </a:cubicBezTo>
                  <a:lnTo>
                    <a:pt x="28" y="67"/>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81" name="Freeform 80">
              <a:extLst>
                <a:ext uri="{FF2B5EF4-FFF2-40B4-BE49-F238E27FC236}">
                  <a16:creationId xmlns:a16="http://schemas.microsoft.com/office/drawing/2014/main" id="{36C08478-775B-4F75-A75D-754992A2BCB1}"/>
                </a:ext>
              </a:extLst>
            </p:cNvPr>
            <p:cNvSpPr>
              <a:spLocks noEditPoints="1"/>
            </p:cNvSpPr>
            <p:nvPr/>
          </p:nvSpPr>
          <p:spPr bwMode="auto">
            <a:xfrm>
              <a:off x="2895628" y="2428634"/>
              <a:ext cx="211876" cy="232112"/>
            </a:xfrm>
            <a:custGeom>
              <a:avLst/>
              <a:gdLst>
                <a:gd name="T0" fmla="*/ 101 w 130"/>
                <a:gd name="T1" fmla="*/ 65 h 142"/>
                <a:gd name="T2" fmla="*/ 97 w 130"/>
                <a:gd name="T3" fmla="*/ 81 h 142"/>
                <a:gd name="T4" fmla="*/ 97 w 130"/>
                <a:gd name="T5" fmla="*/ 94 h 142"/>
                <a:gd name="T6" fmla="*/ 100 w 130"/>
                <a:gd name="T7" fmla="*/ 95 h 142"/>
                <a:gd name="T8" fmla="*/ 111 w 130"/>
                <a:gd name="T9" fmla="*/ 112 h 142"/>
                <a:gd name="T10" fmla="*/ 97 w 130"/>
                <a:gd name="T11" fmla="*/ 103 h 142"/>
                <a:gd name="T12" fmla="*/ 97 w 130"/>
                <a:gd name="T13" fmla="*/ 28 h 142"/>
                <a:gd name="T14" fmla="*/ 111 w 130"/>
                <a:gd name="T15" fmla="*/ 19 h 142"/>
                <a:gd name="T16" fmla="*/ 100 w 130"/>
                <a:gd name="T17" fmla="*/ 35 h 142"/>
                <a:gd name="T18" fmla="*/ 97 w 130"/>
                <a:gd name="T19" fmla="*/ 36 h 142"/>
                <a:gd name="T20" fmla="*/ 127 w 130"/>
                <a:gd name="T21" fmla="*/ 62 h 142"/>
                <a:gd name="T22" fmla="*/ 108 w 130"/>
                <a:gd name="T23" fmla="*/ 65 h 142"/>
                <a:gd name="T24" fmla="*/ 127 w 130"/>
                <a:gd name="T25" fmla="*/ 69 h 142"/>
                <a:gd name="T26" fmla="*/ 127 w 130"/>
                <a:gd name="T27" fmla="*/ 62 h 142"/>
                <a:gd name="T28" fmla="*/ 67 w 130"/>
                <a:gd name="T29" fmla="*/ 142 h 142"/>
                <a:gd name="T30" fmla="*/ 85 w 130"/>
                <a:gd name="T31" fmla="*/ 95 h 142"/>
                <a:gd name="T32" fmla="*/ 97 w 130"/>
                <a:gd name="T33" fmla="*/ 50 h 142"/>
                <a:gd name="T34" fmla="*/ 65 w 130"/>
                <a:gd name="T35" fmla="*/ 37 h 142"/>
                <a:gd name="T36" fmla="*/ 93 w 130"/>
                <a:gd name="T37" fmla="*/ 65 h 142"/>
                <a:gd name="T38" fmla="*/ 79 w 130"/>
                <a:gd name="T39" fmla="*/ 90 h 142"/>
                <a:gd name="T40" fmla="*/ 78 w 130"/>
                <a:gd name="T41" fmla="*/ 110 h 142"/>
                <a:gd name="T42" fmla="*/ 65 w 130"/>
                <a:gd name="T43" fmla="*/ 142 h 142"/>
                <a:gd name="T44" fmla="*/ 97 w 130"/>
                <a:gd name="T45" fmla="*/ 36 h 142"/>
                <a:gd name="T46" fmla="*/ 95 w 130"/>
                <a:gd name="T47" fmla="*/ 31 h 142"/>
                <a:gd name="T48" fmla="*/ 97 w 130"/>
                <a:gd name="T49" fmla="*/ 94 h 142"/>
                <a:gd name="T50" fmla="*/ 95 w 130"/>
                <a:gd name="T51" fmla="*/ 100 h 142"/>
                <a:gd name="T52" fmla="*/ 97 w 130"/>
                <a:gd name="T53" fmla="*/ 94 h 142"/>
                <a:gd name="T54" fmla="*/ 65 w 130"/>
                <a:gd name="T55" fmla="*/ 0 h 142"/>
                <a:gd name="T56" fmla="*/ 68 w 130"/>
                <a:gd name="T57" fmla="*/ 3 h 142"/>
                <a:gd name="T58" fmla="*/ 65 w 130"/>
                <a:gd name="T59" fmla="*/ 23 h 142"/>
                <a:gd name="T60" fmla="*/ 65 w 130"/>
                <a:gd name="T61" fmla="*/ 23 h 142"/>
                <a:gd name="T62" fmla="*/ 32 w 130"/>
                <a:gd name="T63" fmla="*/ 50 h 142"/>
                <a:gd name="T64" fmla="*/ 45 w 130"/>
                <a:gd name="T65" fmla="*/ 96 h 142"/>
                <a:gd name="T66" fmla="*/ 63 w 130"/>
                <a:gd name="T67" fmla="*/ 142 h 142"/>
                <a:gd name="T68" fmla="*/ 65 w 130"/>
                <a:gd name="T69" fmla="*/ 110 h 142"/>
                <a:gd name="T70" fmla="*/ 52 w 130"/>
                <a:gd name="T71" fmla="*/ 93 h 142"/>
                <a:gd name="T72" fmla="*/ 36 w 130"/>
                <a:gd name="T73" fmla="*/ 65 h 142"/>
                <a:gd name="T74" fmla="*/ 65 w 130"/>
                <a:gd name="T75" fmla="*/ 37 h 142"/>
                <a:gd name="T76" fmla="*/ 65 w 130"/>
                <a:gd name="T77" fmla="*/ 29 h 142"/>
                <a:gd name="T78" fmla="*/ 65 w 130"/>
                <a:gd name="T79" fmla="*/ 0 h 142"/>
                <a:gd name="T80" fmla="*/ 62 w 130"/>
                <a:gd name="T81" fmla="*/ 20 h 142"/>
                <a:gd name="T82" fmla="*/ 65 w 130"/>
                <a:gd name="T83" fmla="*/ 0 h 142"/>
                <a:gd name="T84" fmla="*/ 32 w 130"/>
                <a:gd name="T85" fmla="*/ 94 h 142"/>
                <a:gd name="T86" fmla="*/ 35 w 130"/>
                <a:gd name="T87" fmla="*/ 100 h 142"/>
                <a:gd name="T88" fmla="*/ 32 w 130"/>
                <a:gd name="T89" fmla="*/ 36 h 142"/>
                <a:gd name="T90" fmla="*/ 35 w 130"/>
                <a:gd name="T91" fmla="*/ 31 h 142"/>
                <a:gd name="T92" fmla="*/ 32 w 130"/>
                <a:gd name="T93" fmla="*/ 36 h 142"/>
                <a:gd name="T94" fmla="*/ 29 w 130"/>
                <a:gd name="T95" fmla="*/ 65 h 142"/>
                <a:gd name="T96" fmla="*/ 32 w 130"/>
                <a:gd name="T97" fmla="*/ 50 h 142"/>
                <a:gd name="T98" fmla="*/ 32 w 130"/>
                <a:gd name="T99" fmla="*/ 36 h 142"/>
                <a:gd name="T100" fmla="*/ 30 w 130"/>
                <a:gd name="T101" fmla="*/ 35 h 142"/>
                <a:gd name="T102" fmla="*/ 19 w 130"/>
                <a:gd name="T103" fmla="*/ 19 h 142"/>
                <a:gd name="T104" fmla="*/ 32 w 130"/>
                <a:gd name="T105" fmla="*/ 28 h 142"/>
                <a:gd name="T106" fmla="*/ 32 w 130"/>
                <a:gd name="T107" fmla="*/ 103 h 142"/>
                <a:gd name="T108" fmla="*/ 19 w 130"/>
                <a:gd name="T109" fmla="*/ 112 h 142"/>
                <a:gd name="T110" fmla="*/ 30 w 130"/>
                <a:gd name="T111" fmla="*/ 95 h 142"/>
                <a:gd name="T112" fmla="*/ 32 w 130"/>
                <a:gd name="T113" fmla="*/ 94 h 142"/>
                <a:gd name="T114" fmla="*/ 22 w 130"/>
                <a:gd name="T115" fmla="*/ 65 h 142"/>
                <a:gd name="T116" fmla="*/ 3 w 130"/>
                <a:gd name="T117" fmla="*/ 62 h 142"/>
                <a:gd name="T118" fmla="*/ 3 w 130"/>
                <a:gd name="T119" fmla="*/ 69 h 142"/>
                <a:gd name="T120" fmla="*/ 22 w 130"/>
                <a:gd name="T121" fmla="*/ 65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 h="142">
                  <a:moveTo>
                    <a:pt x="97" y="81"/>
                  </a:moveTo>
                  <a:cubicBezTo>
                    <a:pt x="100" y="76"/>
                    <a:pt x="101" y="71"/>
                    <a:pt x="101" y="65"/>
                  </a:cubicBezTo>
                  <a:cubicBezTo>
                    <a:pt x="101" y="60"/>
                    <a:pt x="100" y="55"/>
                    <a:pt x="97" y="50"/>
                  </a:cubicBezTo>
                  <a:cubicBezTo>
                    <a:pt x="97" y="81"/>
                    <a:pt x="97" y="81"/>
                    <a:pt x="97" y="81"/>
                  </a:cubicBezTo>
                  <a:close/>
                  <a:moveTo>
                    <a:pt x="97" y="103"/>
                  </a:moveTo>
                  <a:cubicBezTo>
                    <a:pt x="97" y="94"/>
                    <a:pt x="97" y="94"/>
                    <a:pt x="97" y="94"/>
                  </a:cubicBezTo>
                  <a:cubicBezTo>
                    <a:pt x="98" y="94"/>
                    <a:pt x="99" y="95"/>
                    <a:pt x="100" y="95"/>
                  </a:cubicBezTo>
                  <a:cubicBezTo>
                    <a:pt x="100" y="95"/>
                    <a:pt x="100" y="95"/>
                    <a:pt x="100" y="95"/>
                  </a:cubicBezTo>
                  <a:cubicBezTo>
                    <a:pt x="111" y="107"/>
                    <a:pt x="111" y="107"/>
                    <a:pt x="111" y="107"/>
                  </a:cubicBezTo>
                  <a:cubicBezTo>
                    <a:pt x="113" y="108"/>
                    <a:pt x="113" y="110"/>
                    <a:pt x="111" y="112"/>
                  </a:cubicBezTo>
                  <a:cubicBezTo>
                    <a:pt x="110" y="113"/>
                    <a:pt x="108" y="113"/>
                    <a:pt x="106" y="112"/>
                  </a:cubicBezTo>
                  <a:cubicBezTo>
                    <a:pt x="97" y="103"/>
                    <a:pt x="97" y="103"/>
                    <a:pt x="97" y="103"/>
                  </a:cubicBezTo>
                  <a:close/>
                  <a:moveTo>
                    <a:pt x="97" y="36"/>
                  </a:moveTo>
                  <a:cubicBezTo>
                    <a:pt x="97" y="28"/>
                    <a:pt x="97" y="28"/>
                    <a:pt x="97" y="28"/>
                  </a:cubicBezTo>
                  <a:cubicBezTo>
                    <a:pt x="106" y="19"/>
                    <a:pt x="106" y="19"/>
                    <a:pt x="106" y="19"/>
                  </a:cubicBezTo>
                  <a:cubicBezTo>
                    <a:pt x="108" y="18"/>
                    <a:pt x="110" y="18"/>
                    <a:pt x="111" y="19"/>
                  </a:cubicBezTo>
                  <a:cubicBezTo>
                    <a:pt x="113" y="20"/>
                    <a:pt x="113" y="23"/>
                    <a:pt x="111" y="24"/>
                  </a:cubicBezTo>
                  <a:cubicBezTo>
                    <a:pt x="100" y="35"/>
                    <a:pt x="100" y="35"/>
                    <a:pt x="100" y="35"/>
                  </a:cubicBezTo>
                  <a:cubicBezTo>
                    <a:pt x="100" y="35"/>
                    <a:pt x="100" y="35"/>
                    <a:pt x="100" y="35"/>
                  </a:cubicBezTo>
                  <a:cubicBezTo>
                    <a:pt x="99" y="36"/>
                    <a:pt x="98" y="36"/>
                    <a:pt x="97" y="36"/>
                  </a:cubicBezTo>
                  <a:close/>
                  <a:moveTo>
                    <a:pt x="127" y="62"/>
                  </a:moveTo>
                  <a:cubicBezTo>
                    <a:pt x="127" y="62"/>
                    <a:pt x="127" y="62"/>
                    <a:pt x="127" y="62"/>
                  </a:cubicBezTo>
                  <a:cubicBezTo>
                    <a:pt x="111" y="62"/>
                    <a:pt x="111" y="62"/>
                    <a:pt x="111" y="62"/>
                  </a:cubicBezTo>
                  <a:cubicBezTo>
                    <a:pt x="109" y="62"/>
                    <a:pt x="108" y="64"/>
                    <a:pt x="108" y="65"/>
                  </a:cubicBezTo>
                  <a:cubicBezTo>
                    <a:pt x="108" y="67"/>
                    <a:pt x="109" y="69"/>
                    <a:pt x="111" y="69"/>
                  </a:cubicBezTo>
                  <a:cubicBezTo>
                    <a:pt x="127" y="69"/>
                    <a:pt x="127" y="69"/>
                    <a:pt x="127" y="69"/>
                  </a:cubicBezTo>
                  <a:cubicBezTo>
                    <a:pt x="129" y="69"/>
                    <a:pt x="130" y="67"/>
                    <a:pt x="130" y="65"/>
                  </a:cubicBezTo>
                  <a:cubicBezTo>
                    <a:pt x="130" y="64"/>
                    <a:pt x="129" y="62"/>
                    <a:pt x="127" y="62"/>
                  </a:cubicBezTo>
                  <a:close/>
                  <a:moveTo>
                    <a:pt x="65" y="142"/>
                  </a:moveTo>
                  <a:cubicBezTo>
                    <a:pt x="67" y="142"/>
                    <a:pt x="67" y="142"/>
                    <a:pt x="67" y="142"/>
                  </a:cubicBezTo>
                  <a:cubicBezTo>
                    <a:pt x="77" y="142"/>
                    <a:pt x="85" y="134"/>
                    <a:pt x="85" y="124"/>
                  </a:cubicBezTo>
                  <a:cubicBezTo>
                    <a:pt x="85" y="95"/>
                    <a:pt x="85" y="95"/>
                    <a:pt x="85" y="95"/>
                  </a:cubicBezTo>
                  <a:cubicBezTo>
                    <a:pt x="90" y="92"/>
                    <a:pt x="95" y="87"/>
                    <a:pt x="97" y="81"/>
                  </a:cubicBezTo>
                  <a:cubicBezTo>
                    <a:pt x="97" y="50"/>
                    <a:pt x="97" y="50"/>
                    <a:pt x="97" y="50"/>
                  </a:cubicBezTo>
                  <a:cubicBezTo>
                    <a:pt x="92" y="38"/>
                    <a:pt x="79" y="29"/>
                    <a:pt x="65" y="29"/>
                  </a:cubicBezTo>
                  <a:cubicBezTo>
                    <a:pt x="65" y="37"/>
                    <a:pt x="65" y="37"/>
                    <a:pt x="65" y="37"/>
                  </a:cubicBezTo>
                  <a:cubicBezTo>
                    <a:pt x="73" y="37"/>
                    <a:pt x="80" y="40"/>
                    <a:pt x="85" y="45"/>
                  </a:cubicBezTo>
                  <a:cubicBezTo>
                    <a:pt x="90" y="50"/>
                    <a:pt x="93" y="57"/>
                    <a:pt x="93" y="65"/>
                  </a:cubicBezTo>
                  <a:cubicBezTo>
                    <a:pt x="93" y="76"/>
                    <a:pt x="88" y="85"/>
                    <a:pt x="79" y="90"/>
                  </a:cubicBezTo>
                  <a:cubicBezTo>
                    <a:pt x="79" y="90"/>
                    <a:pt x="79" y="90"/>
                    <a:pt x="79" y="90"/>
                  </a:cubicBezTo>
                  <a:cubicBezTo>
                    <a:pt x="78" y="91"/>
                    <a:pt x="78" y="92"/>
                    <a:pt x="78" y="93"/>
                  </a:cubicBezTo>
                  <a:cubicBezTo>
                    <a:pt x="78" y="110"/>
                    <a:pt x="78" y="110"/>
                    <a:pt x="78" y="110"/>
                  </a:cubicBezTo>
                  <a:cubicBezTo>
                    <a:pt x="65" y="110"/>
                    <a:pt x="65" y="110"/>
                    <a:pt x="65" y="110"/>
                  </a:cubicBezTo>
                  <a:cubicBezTo>
                    <a:pt x="65" y="142"/>
                    <a:pt x="65" y="142"/>
                    <a:pt x="65" y="142"/>
                  </a:cubicBezTo>
                  <a:close/>
                  <a:moveTo>
                    <a:pt x="97" y="28"/>
                  </a:moveTo>
                  <a:cubicBezTo>
                    <a:pt x="97" y="36"/>
                    <a:pt x="97" y="36"/>
                    <a:pt x="97" y="36"/>
                  </a:cubicBezTo>
                  <a:cubicBezTo>
                    <a:pt x="97" y="36"/>
                    <a:pt x="96" y="36"/>
                    <a:pt x="95" y="35"/>
                  </a:cubicBezTo>
                  <a:cubicBezTo>
                    <a:pt x="94" y="34"/>
                    <a:pt x="94" y="32"/>
                    <a:pt x="95" y="31"/>
                  </a:cubicBezTo>
                  <a:cubicBezTo>
                    <a:pt x="97" y="28"/>
                    <a:pt x="97" y="28"/>
                    <a:pt x="97" y="28"/>
                  </a:cubicBezTo>
                  <a:close/>
                  <a:moveTo>
                    <a:pt x="97" y="94"/>
                  </a:moveTo>
                  <a:cubicBezTo>
                    <a:pt x="97" y="103"/>
                    <a:pt x="97" y="103"/>
                    <a:pt x="97" y="103"/>
                  </a:cubicBezTo>
                  <a:cubicBezTo>
                    <a:pt x="95" y="100"/>
                    <a:pt x="95" y="100"/>
                    <a:pt x="95" y="100"/>
                  </a:cubicBezTo>
                  <a:cubicBezTo>
                    <a:pt x="94" y="99"/>
                    <a:pt x="94" y="97"/>
                    <a:pt x="95" y="95"/>
                  </a:cubicBezTo>
                  <a:cubicBezTo>
                    <a:pt x="96" y="95"/>
                    <a:pt x="97" y="94"/>
                    <a:pt x="97" y="94"/>
                  </a:cubicBezTo>
                  <a:close/>
                  <a:moveTo>
                    <a:pt x="65" y="23"/>
                  </a:moveTo>
                  <a:cubicBezTo>
                    <a:pt x="65" y="0"/>
                    <a:pt x="65" y="0"/>
                    <a:pt x="65" y="0"/>
                  </a:cubicBezTo>
                  <a:cubicBezTo>
                    <a:pt x="65" y="0"/>
                    <a:pt x="65" y="0"/>
                    <a:pt x="65" y="0"/>
                  </a:cubicBezTo>
                  <a:cubicBezTo>
                    <a:pt x="67" y="0"/>
                    <a:pt x="68" y="2"/>
                    <a:pt x="68" y="3"/>
                  </a:cubicBezTo>
                  <a:cubicBezTo>
                    <a:pt x="68" y="20"/>
                    <a:pt x="68" y="20"/>
                    <a:pt x="68" y="20"/>
                  </a:cubicBezTo>
                  <a:cubicBezTo>
                    <a:pt x="68" y="21"/>
                    <a:pt x="67" y="23"/>
                    <a:pt x="65" y="23"/>
                  </a:cubicBezTo>
                  <a:cubicBezTo>
                    <a:pt x="65" y="23"/>
                    <a:pt x="65" y="23"/>
                    <a:pt x="65" y="23"/>
                  </a:cubicBezTo>
                  <a:cubicBezTo>
                    <a:pt x="65" y="23"/>
                    <a:pt x="65" y="23"/>
                    <a:pt x="65" y="23"/>
                  </a:cubicBezTo>
                  <a:close/>
                  <a:moveTo>
                    <a:pt x="65" y="29"/>
                  </a:moveTo>
                  <a:cubicBezTo>
                    <a:pt x="50" y="29"/>
                    <a:pt x="38" y="37"/>
                    <a:pt x="32" y="50"/>
                  </a:cubicBezTo>
                  <a:cubicBezTo>
                    <a:pt x="32" y="81"/>
                    <a:pt x="32" y="81"/>
                    <a:pt x="32" y="81"/>
                  </a:cubicBezTo>
                  <a:cubicBezTo>
                    <a:pt x="35" y="87"/>
                    <a:pt x="40" y="92"/>
                    <a:pt x="45" y="96"/>
                  </a:cubicBezTo>
                  <a:cubicBezTo>
                    <a:pt x="45" y="124"/>
                    <a:pt x="45" y="124"/>
                    <a:pt x="45" y="124"/>
                  </a:cubicBezTo>
                  <a:cubicBezTo>
                    <a:pt x="45" y="134"/>
                    <a:pt x="53" y="142"/>
                    <a:pt x="63" y="142"/>
                  </a:cubicBezTo>
                  <a:cubicBezTo>
                    <a:pt x="65" y="142"/>
                    <a:pt x="65" y="142"/>
                    <a:pt x="65" y="142"/>
                  </a:cubicBezTo>
                  <a:cubicBezTo>
                    <a:pt x="65" y="110"/>
                    <a:pt x="65" y="110"/>
                    <a:pt x="65" y="110"/>
                  </a:cubicBezTo>
                  <a:cubicBezTo>
                    <a:pt x="52" y="110"/>
                    <a:pt x="52" y="110"/>
                    <a:pt x="52" y="110"/>
                  </a:cubicBezTo>
                  <a:cubicBezTo>
                    <a:pt x="52" y="93"/>
                    <a:pt x="52" y="93"/>
                    <a:pt x="52" y="93"/>
                  </a:cubicBezTo>
                  <a:cubicBezTo>
                    <a:pt x="52" y="92"/>
                    <a:pt x="52" y="91"/>
                    <a:pt x="51" y="90"/>
                  </a:cubicBezTo>
                  <a:cubicBezTo>
                    <a:pt x="42" y="85"/>
                    <a:pt x="36" y="76"/>
                    <a:pt x="36" y="65"/>
                  </a:cubicBezTo>
                  <a:cubicBezTo>
                    <a:pt x="36" y="57"/>
                    <a:pt x="39" y="50"/>
                    <a:pt x="44" y="45"/>
                  </a:cubicBezTo>
                  <a:cubicBezTo>
                    <a:pt x="50" y="40"/>
                    <a:pt x="57" y="37"/>
                    <a:pt x="65" y="37"/>
                  </a:cubicBezTo>
                  <a:cubicBezTo>
                    <a:pt x="65" y="37"/>
                    <a:pt x="65" y="37"/>
                    <a:pt x="65" y="37"/>
                  </a:cubicBezTo>
                  <a:cubicBezTo>
                    <a:pt x="65" y="29"/>
                    <a:pt x="65" y="29"/>
                    <a:pt x="65" y="29"/>
                  </a:cubicBezTo>
                  <a:cubicBezTo>
                    <a:pt x="65" y="29"/>
                    <a:pt x="65" y="29"/>
                    <a:pt x="65" y="29"/>
                  </a:cubicBezTo>
                  <a:close/>
                  <a:moveTo>
                    <a:pt x="65" y="0"/>
                  </a:moveTo>
                  <a:cubicBezTo>
                    <a:pt x="65" y="23"/>
                    <a:pt x="65" y="23"/>
                    <a:pt x="65" y="23"/>
                  </a:cubicBezTo>
                  <a:cubicBezTo>
                    <a:pt x="63" y="23"/>
                    <a:pt x="62" y="21"/>
                    <a:pt x="62" y="20"/>
                  </a:cubicBezTo>
                  <a:cubicBezTo>
                    <a:pt x="62" y="3"/>
                    <a:pt x="62" y="3"/>
                    <a:pt x="62" y="3"/>
                  </a:cubicBezTo>
                  <a:cubicBezTo>
                    <a:pt x="62" y="2"/>
                    <a:pt x="63" y="0"/>
                    <a:pt x="65" y="0"/>
                  </a:cubicBezTo>
                  <a:close/>
                  <a:moveTo>
                    <a:pt x="32" y="103"/>
                  </a:moveTo>
                  <a:cubicBezTo>
                    <a:pt x="32" y="94"/>
                    <a:pt x="32" y="94"/>
                    <a:pt x="32" y="94"/>
                  </a:cubicBezTo>
                  <a:cubicBezTo>
                    <a:pt x="33" y="94"/>
                    <a:pt x="34" y="95"/>
                    <a:pt x="35" y="95"/>
                  </a:cubicBezTo>
                  <a:cubicBezTo>
                    <a:pt x="36" y="97"/>
                    <a:pt x="36" y="99"/>
                    <a:pt x="35" y="100"/>
                  </a:cubicBezTo>
                  <a:cubicBezTo>
                    <a:pt x="32" y="103"/>
                    <a:pt x="32" y="103"/>
                    <a:pt x="32" y="103"/>
                  </a:cubicBezTo>
                  <a:close/>
                  <a:moveTo>
                    <a:pt x="32" y="36"/>
                  </a:moveTo>
                  <a:cubicBezTo>
                    <a:pt x="32" y="28"/>
                    <a:pt x="32" y="28"/>
                    <a:pt x="32" y="28"/>
                  </a:cubicBezTo>
                  <a:cubicBezTo>
                    <a:pt x="35" y="31"/>
                    <a:pt x="35" y="31"/>
                    <a:pt x="35" y="31"/>
                  </a:cubicBezTo>
                  <a:cubicBezTo>
                    <a:pt x="36" y="32"/>
                    <a:pt x="36" y="34"/>
                    <a:pt x="35" y="35"/>
                  </a:cubicBezTo>
                  <a:cubicBezTo>
                    <a:pt x="34" y="36"/>
                    <a:pt x="33" y="36"/>
                    <a:pt x="32" y="36"/>
                  </a:cubicBezTo>
                  <a:close/>
                  <a:moveTo>
                    <a:pt x="32" y="50"/>
                  </a:moveTo>
                  <a:cubicBezTo>
                    <a:pt x="30" y="54"/>
                    <a:pt x="29" y="60"/>
                    <a:pt x="29" y="65"/>
                  </a:cubicBezTo>
                  <a:cubicBezTo>
                    <a:pt x="29" y="71"/>
                    <a:pt x="30" y="76"/>
                    <a:pt x="32" y="81"/>
                  </a:cubicBezTo>
                  <a:cubicBezTo>
                    <a:pt x="32" y="50"/>
                    <a:pt x="32" y="50"/>
                    <a:pt x="32" y="50"/>
                  </a:cubicBezTo>
                  <a:close/>
                  <a:moveTo>
                    <a:pt x="32" y="28"/>
                  </a:moveTo>
                  <a:cubicBezTo>
                    <a:pt x="32" y="36"/>
                    <a:pt x="32" y="36"/>
                    <a:pt x="32" y="36"/>
                  </a:cubicBezTo>
                  <a:cubicBezTo>
                    <a:pt x="32" y="36"/>
                    <a:pt x="31" y="36"/>
                    <a:pt x="30" y="35"/>
                  </a:cubicBezTo>
                  <a:cubicBezTo>
                    <a:pt x="30" y="35"/>
                    <a:pt x="30" y="35"/>
                    <a:pt x="30" y="35"/>
                  </a:cubicBezTo>
                  <a:cubicBezTo>
                    <a:pt x="19" y="24"/>
                    <a:pt x="19" y="24"/>
                    <a:pt x="19" y="24"/>
                  </a:cubicBezTo>
                  <a:cubicBezTo>
                    <a:pt x="17" y="23"/>
                    <a:pt x="17" y="20"/>
                    <a:pt x="19" y="19"/>
                  </a:cubicBezTo>
                  <a:cubicBezTo>
                    <a:pt x="20" y="18"/>
                    <a:pt x="22" y="18"/>
                    <a:pt x="24" y="19"/>
                  </a:cubicBezTo>
                  <a:cubicBezTo>
                    <a:pt x="32" y="28"/>
                    <a:pt x="32" y="28"/>
                    <a:pt x="32" y="28"/>
                  </a:cubicBezTo>
                  <a:close/>
                  <a:moveTo>
                    <a:pt x="32" y="94"/>
                  </a:moveTo>
                  <a:cubicBezTo>
                    <a:pt x="32" y="103"/>
                    <a:pt x="32" y="103"/>
                    <a:pt x="32" y="103"/>
                  </a:cubicBezTo>
                  <a:cubicBezTo>
                    <a:pt x="24" y="112"/>
                    <a:pt x="24" y="112"/>
                    <a:pt x="24" y="112"/>
                  </a:cubicBezTo>
                  <a:cubicBezTo>
                    <a:pt x="22" y="113"/>
                    <a:pt x="20" y="113"/>
                    <a:pt x="19" y="112"/>
                  </a:cubicBezTo>
                  <a:cubicBezTo>
                    <a:pt x="17" y="110"/>
                    <a:pt x="17" y="108"/>
                    <a:pt x="19" y="107"/>
                  </a:cubicBezTo>
                  <a:cubicBezTo>
                    <a:pt x="30" y="95"/>
                    <a:pt x="30" y="95"/>
                    <a:pt x="30" y="95"/>
                  </a:cubicBezTo>
                  <a:cubicBezTo>
                    <a:pt x="30" y="95"/>
                    <a:pt x="30" y="95"/>
                    <a:pt x="30" y="95"/>
                  </a:cubicBezTo>
                  <a:cubicBezTo>
                    <a:pt x="31" y="95"/>
                    <a:pt x="32" y="95"/>
                    <a:pt x="32" y="94"/>
                  </a:cubicBezTo>
                  <a:close/>
                  <a:moveTo>
                    <a:pt x="22" y="65"/>
                  </a:moveTo>
                  <a:cubicBezTo>
                    <a:pt x="22" y="65"/>
                    <a:pt x="22" y="65"/>
                    <a:pt x="22" y="65"/>
                  </a:cubicBezTo>
                  <a:cubicBezTo>
                    <a:pt x="22" y="64"/>
                    <a:pt x="21" y="62"/>
                    <a:pt x="19" y="62"/>
                  </a:cubicBezTo>
                  <a:cubicBezTo>
                    <a:pt x="3" y="62"/>
                    <a:pt x="3" y="62"/>
                    <a:pt x="3" y="62"/>
                  </a:cubicBezTo>
                  <a:cubicBezTo>
                    <a:pt x="1" y="62"/>
                    <a:pt x="0" y="64"/>
                    <a:pt x="0" y="65"/>
                  </a:cubicBezTo>
                  <a:cubicBezTo>
                    <a:pt x="0" y="67"/>
                    <a:pt x="1" y="69"/>
                    <a:pt x="3" y="69"/>
                  </a:cubicBezTo>
                  <a:cubicBezTo>
                    <a:pt x="19" y="69"/>
                    <a:pt x="19" y="69"/>
                    <a:pt x="19" y="69"/>
                  </a:cubicBezTo>
                  <a:cubicBezTo>
                    <a:pt x="21" y="69"/>
                    <a:pt x="22" y="67"/>
                    <a:pt x="22" y="65"/>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82" name="Freeform 81">
              <a:extLst>
                <a:ext uri="{FF2B5EF4-FFF2-40B4-BE49-F238E27FC236}">
                  <a16:creationId xmlns:a16="http://schemas.microsoft.com/office/drawing/2014/main" id="{24792A25-6C80-415F-926C-8684DE1538CF}"/>
                </a:ext>
              </a:extLst>
            </p:cNvPr>
            <p:cNvSpPr>
              <a:spLocks noEditPoints="1"/>
            </p:cNvSpPr>
            <p:nvPr/>
          </p:nvSpPr>
          <p:spPr bwMode="auto">
            <a:xfrm>
              <a:off x="1836247" y="2116771"/>
              <a:ext cx="320195" cy="460652"/>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83" name="Freeform 82">
              <a:extLst>
                <a:ext uri="{FF2B5EF4-FFF2-40B4-BE49-F238E27FC236}">
                  <a16:creationId xmlns:a16="http://schemas.microsoft.com/office/drawing/2014/main" id="{79479FF8-2320-41D3-916F-2A4DAD306386}"/>
                </a:ext>
              </a:extLst>
            </p:cNvPr>
            <p:cNvSpPr>
              <a:spLocks noEditPoints="1"/>
            </p:cNvSpPr>
            <p:nvPr/>
          </p:nvSpPr>
          <p:spPr bwMode="auto">
            <a:xfrm>
              <a:off x="1721977" y="2051304"/>
              <a:ext cx="184499" cy="163074"/>
            </a:xfrm>
            <a:custGeom>
              <a:avLst/>
              <a:gdLst>
                <a:gd name="T0" fmla="*/ 103 w 113"/>
                <a:gd name="T1" fmla="*/ 31 h 100"/>
                <a:gd name="T2" fmla="*/ 57 w 113"/>
                <a:gd name="T3" fmla="*/ 0 h 100"/>
                <a:gd name="T4" fmla="*/ 57 w 113"/>
                <a:gd name="T5" fmla="*/ 9 h 100"/>
                <a:gd name="T6" fmla="*/ 95 w 113"/>
                <a:gd name="T7" fmla="*/ 35 h 100"/>
                <a:gd name="T8" fmla="*/ 72 w 113"/>
                <a:gd name="T9" fmla="*/ 88 h 100"/>
                <a:gd name="T10" fmla="*/ 57 w 113"/>
                <a:gd name="T11" fmla="*/ 91 h 100"/>
                <a:gd name="T12" fmla="*/ 57 w 113"/>
                <a:gd name="T13" fmla="*/ 100 h 100"/>
                <a:gd name="T14" fmla="*/ 75 w 113"/>
                <a:gd name="T15" fmla="*/ 96 h 100"/>
                <a:gd name="T16" fmla="*/ 103 w 113"/>
                <a:gd name="T17" fmla="*/ 31 h 100"/>
                <a:gd name="T18" fmla="*/ 57 w 113"/>
                <a:gd name="T19" fmla="*/ 0 h 100"/>
                <a:gd name="T20" fmla="*/ 38 w 113"/>
                <a:gd name="T21" fmla="*/ 4 h 100"/>
                <a:gd name="T22" fmla="*/ 11 w 113"/>
                <a:gd name="T23" fmla="*/ 68 h 100"/>
                <a:gd name="T24" fmla="*/ 57 w 113"/>
                <a:gd name="T25" fmla="*/ 100 h 100"/>
                <a:gd name="T26" fmla="*/ 57 w 113"/>
                <a:gd name="T27" fmla="*/ 91 h 100"/>
                <a:gd name="T28" fmla="*/ 19 w 113"/>
                <a:gd name="T29" fmla="*/ 65 h 100"/>
                <a:gd name="T30" fmla="*/ 19 w 113"/>
                <a:gd name="T31" fmla="*/ 65 h 100"/>
                <a:gd name="T32" fmla="*/ 42 w 113"/>
                <a:gd name="T33" fmla="*/ 12 h 100"/>
                <a:gd name="T34" fmla="*/ 57 w 113"/>
                <a:gd name="T35" fmla="*/ 9 h 100"/>
                <a:gd name="T36" fmla="*/ 57 w 113"/>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3" h="100">
                  <a:moveTo>
                    <a:pt x="103" y="31"/>
                  </a:moveTo>
                  <a:cubicBezTo>
                    <a:pt x="95" y="12"/>
                    <a:pt x="77" y="0"/>
                    <a:pt x="57" y="0"/>
                  </a:cubicBezTo>
                  <a:cubicBezTo>
                    <a:pt x="57" y="9"/>
                    <a:pt x="57" y="9"/>
                    <a:pt x="57" y="9"/>
                  </a:cubicBezTo>
                  <a:cubicBezTo>
                    <a:pt x="73" y="9"/>
                    <a:pt x="88" y="19"/>
                    <a:pt x="95" y="35"/>
                  </a:cubicBezTo>
                  <a:cubicBezTo>
                    <a:pt x="103" y="56"/>
                    <a:pt x="93" y="79"/>
                    <a:pt x="72" y="88"/>
                  </a:cubicBezTo>
                  <a:cubicBezTo>
                    <a:pt x="67" y="90"/>
                    <a:pt x="62" y="91"/>
                    <a:pt x="57" y="91"/>
                  </a:cubicBezTo>
                  <a:cubicBezTo>
                    <a:pt x="57" y="100"/>
                    <a:pt x="57" y="100"/>
                    <a:pt x="57" y="100"/>
                  </a:cubicBezTo>
                  <a:cubicBezTo>
                    <a:pt x="63" y="100"/>
                    <a:pt x="69" y="99"/>
                    <a:pt x="75" y="96"/>
                  </a:cubicBezTo>
                  <a:cubicBezTo>
                    <a:pt x="101" y="86"/>
                    <a:pt x="113" y="57"/>
                    <a:pt x="103" y="31"/>
                  </a:cubicBezTo>
                  <a:close/>
                  <a:moveTo>
                    <a:pt x="57" y="0"/>
                  </a:moveTo>
                  <a:cubicBezTo>
                    <a:pt x="51" y="0"/>
                    <a:pt x="44" y="1"/>
                    <a:pt x="38" y="4"/>
                  </a:cubicBezTo>
                  <a:cubicBezTo>
                    <a:pt x="13" y="14"/>
                    <a:pt x="0" y="43"/>
                    <a:pt x="11" y="68"/>
                  </a:cubicBezTo>
                  <a:cubicBezTo>
                    <a:pt x="18" y="88"/>
                    <a:pt x="37" y="100"/>
                    <a:pt x="57" y="100"/>
                  </a:cubicBezTo>
                  <a:cubicBezTo>
                    <a:pt x="57" y="91"/>
                    <a:pt x="57" y="91"/>
                    <a:pt x="57" y="91"/>
                  </a:cubicBezTo>
                  <a:cubicBezTo>
                    <a:pt x="41" y="90"/>
                    <a:pt x="26" y="81"/>
                    <a:pt x="19" y="65"/>
                  </a:cubicBezTo>
                  <a:cubicBezTo>
                    <a:pt x="19" y="65"/>
                    <a:pt x="19" y="65"/>
                    <a:pt x="19" y="65"/>
                  </a:cubicBezTo>
                  <a:cubicBezTo>
                    <a:pt x="11" y="44"/>
                    <a:pt x="21" y="21"/>
                    <a:pt x="42" y="12"/>
                  </a:cubicBezTo>
                  <a:cubicBezTo>
                    <a:pt x="47" y="10"/>
                    <a:pt x="52" y="9"/>
                    <a:pt x="57" y="9"/>
                  </a:cubicBezTo>
                  <a:lnTo>
                    <a:pt x="57" y="0"/>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84" name="Freeform 83">
              <a:extLst>
                <a:ext uri="{FF2B5EF4-FFF2-40B4-BE49-F238E27FC236}">
                  <a16:creationId xmlns:a16="http://schemas.microsoft.com/office/drawing/2014/main" id="{8B391678-1829-4438-83B7-7533CBCD06B2}"/>
                </a:ext>
              </a:extLst>
            </p:cNvPr>
            <p:cNvSpPr>
              <a:spLocks/>
            </p:cNvSpPr>
            <p:nvPr/>
          </p:nvSpPr>
          <p:spPr bwMode="auto">
            <a:xfrm>
              <a:off x="1669603" y="2148910"/>
              <a:ext cx="80941" cy="51184"/>
            </a:xfrm>
            <a:custGeom>
              <a:avLst/>
              <a:gdLst>
                <a:gd name="T0" fmla="*/ 7 w 68"/>
                <a:gd name="T1" fmla="*/ 43 h 43"/>
                <a:gd name="T2" fmla="*/ 0 w 68"/>
                <a:gd name="T3" fmla="*/ 25 h 43"/>
                <a:gd name="T4" fmla="*/ 62 w 68"/>
                <a:gd name="T5" fmla="*/ 0 h 43"/>
                <a:gd name="T6" fmla="*/ 68 w 68"/>
                <a:gd name="T7" fmla="*/ 18 h 43"/>
                <a:gd name="T8" fmla="*/ 7 w 68"/>
                <a:gd name="T9" fmla="*/ 43 h 43"/>
              </a:gdLst>
              <a:ahLst/>
              <a:cxnLst>
                <a:cxn ang="0">
                  <a:pos x="T0" y="T1"/>
                </a:cxn>
                <a:cxn ang="0">
                  <a:pos x="T2" y="T3"/>
                </a:cxn>
                <a:cxn ang="0">
                  <a:pos x="T4" y="T5"/>
                </a:cxn>
                <a:cxn ang="0">
                  <a:pos x="T6" y="T7"/>
                </a:cxn>
                <a:cxn ang="0">
                  <a:pos x="T8" y="T9"/>
                </a:cxn>
              </a:cxnLst>
              <a:rect l="0" t="0" r="r" b="b"/>
              <a:pathLst>
                <a:path w="68" h="43">
                  <a:moveTo>
                    <a:pt x="7" y="43"/>
                  </a:moveTo>
                  <a:lnTo>
                    <a:pt x="0" y="25"/>
                  </a:lnTo>
                  <a:lnTo>
                    <a:pt x="62" y="0"/>
                  </a:lnTo>
                  <a:lnTo>
                    <a:pt x="68" y="18"/>
                  </a:lnTo>
                  <a:lnTo>
                    <a:pt x="7" y="43"/>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85" name="Freeform 84">
              <a:extLst>
                <a:ext uri="{FF2B5EF4-FFF2-40B4-BE49-F238E27FC236}">
                  <a16:creationId xmlns:a16="http://schemas.microsoft.com/office/drawing/2014/main" id="{0BE612BD-3BD1-478E-8F51-930B4380D718}"/>
                </a:ext>
              </a:extLst>
            </p:cNvPr>
            <p:cNvSpPr>
              <a:spLocks/>
            </p:cNvSpPr>
            <p:nvPr/>
          </p:nvSpPr>
          <p:spPr bwMode="auto">
            <a:xfrm>
              <a:off x="1618420" y="2156052"/>
              <a:ext cx="109509" cy="66658"/>
            </a:xfrm>
            <a:custGeom>
              <a:avLst/>
              <a:gdLst>
                <a:gd name="T0" fmla="*/ 16 w 67"/>
                <a:gd name="T1" fmla="*/ 39 h 41"/>
                <a:gd name="T2" fmla="*/ 2 w 67"/>
                <a:gd name="T3" fmla="*/ 33 h 41"/>
                <a:gd name="T4" fmla="*/ 8 w 67"/>
                <a:gd name="T5" fmla="*/ 19 h 41"/>
                <a:gd name="T6" fmla="*/ 50 w 67"/>
                <a:gd name="T7" fmla="*/ 2 h 41"/>
                <a:gd name="T8" fmla="*/ 64 w 67"/>
                <a:gd name="T9" fmla="*/ 8 h 41"/>
                <a:gd name="T10" fmla="*/ 58 w 67"/>
                <a:gd name="T11" fmla="*/ 22 h 41"/>
                <a:gd name="T12" fmla="*/ 16 w 67"/>
                <a:gd name="T13" fmla="*/ 39 h 41"/>
              </a:gdLst>
              <a:ahLst/>
              <a:cxnLst>
                <a:cxn ang="0">
                  <a:pos x="T0" y="T1"/>
                </a:cxn>
                <a:cxn ang="0">
                  <a:pos x="T2" y="T3"/>
                </a:cxn>
                <a:cxn ang="0">
                  <a:pos x="T4" y="T5"/>
                </a:cxn>
                <a:cxn ang="0">
                  <a:pos x="T6" y="T7"/>
                </a:cxn>
                <a:cxn ang="0">
                  <a:pos x="T8" y="T9"/>
                </a:cxn>
                <a:cxn ang="0">
                  <a:pos x="T10" y="T11"/>
                </a:cxn>
                <a:cxn ang="0">
                  <a:pos x="T12" y="T13"/>
                </a:cxn>
              </a:cxnLst>
              <a:rect l="0" t="0" r="r" b="b"/>
              <a:pathLst>
                <a:path w="67" h="41">
                  <a:moveTo>
                    <a:pt x="16" y="39"/>
                  </a:moveTo>
                  <a:cubicBezTo>
                    <a:pt x="10" y="41"/>
                    <a:pt x="4" y="39"/>
                    <a:pt x="2" y="33"/>
                  </a:cubicBezTo>
                  <a:cubicBezTo>
                    <a:pt x="0" y="28"/>
                    <a:pt x="2" y="21"/>
                    <a:pt x="8" y="19"/>
                  </a:cubicBezTo>
                  <a:cubicBezTo>
                    <a:pt x="50" y="2"/>
                    <a:pt x="50" y="2"/>
                    <a:pt x="50" y="2"/>
                  </a:cubicBezTo>
                  <a:cubicBezTo>
                    <a:pt x="56" y="0"/>
                    <a:pt x="62" y="3"/>
                    <a:pt x="64" y="8"/>
                  </a:cubicBezTo>
                  <a:cubicBezTo>
                    <a:pt x="67" y="14"/>
                    <a:pt x="64" y="20"/>
                    <a:pt x="58" y="22"/>
                  </a:cubicBezTo>
                  <a:lnTo>
                    <a:pt x="16" y="39"/>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86" name="Freeform 85">
              <a:extLst>
                <a:ext uri="{FF2B5EF4-FFF2-40B4-BE49-F238E27FC236}">
                  <a16:creationId xmlns:a16="http://schemas.microsoft.com/office/drawing/2014/main" id="{FCB9213D-3A80-40CA-8308-6D74DCF2D66D}"/>
                </a:ext>
              </a:extLst>
            </p:cNvPr>
            <p:cNvSpPr>
              <a:spLocks noEditPoints="1"/>
            </p:cNvSpPr>
            <p:nvPr/>
          </p:nvSpPr>
          <p:spPr bwMode="auto">
            <a:xfrm>
              <a:off x="1555333" y="3024981"/>
              <a:ext cx="334479" cy="119032"/>
            </a:xfrm>
            <a:custGeom>
              <a:avLst/>
              <a:gdLst>
                <a:gd name="T0" fmla="*/ 142 w 205"/>
                <a:gd name="T1" fmla="*/ 5 h 73"/>
                <a:gd name="T2" fmla="*/ 157 w 205"/>
                <a:gd name="T3" fmla="*/ 2 h 73"/>
                <a:gd name="T4" fmla="*/ 164 w 205"/>
                <a:gd name="T5" fmla="*/ 5 h 73"/>
                <a:gd name="T6" fmla="*/ 179 w 205"/>
                <a:gd name="T7" fmla="*/ 2 h 73"/>
                <a:gd name="T8" fmla="*/ 202 w 205"/>
                <a:gd name="T9" fmla="*/ 18 h 73"/>
                <a:gd name="T10" fmla="*/ 187 w 205"/>
                <a:gd name="T11" fmla="*/ 42 h 73"/>
                <a:gd name="T12" fmla="*/ 177 w 205"/>
                <a:gd name="T13" fmla="*/ 43 h 73"/>
                <a:gd name="T14" fmla="*/ 166 w 205"/>
                <a:gd name="T15" fmla="*/ 18 h 73"/>
                <a:gd name="T16" fmla="*/ 172 w 205"/>
                <a:gd name="T17" fmla="*/ 45 h 73"/>
                <a:gd name="T18" fmla="*/ 167 w 205"/>
                <a:gd name="T19" fmla="*/ 50 h 73"/>
                <a:gd name="T20" fmla="*/ 142 w 205"/>
                <a:gd name="T21" fmla="*/ 55 h 73"/>
                <a:gd name="T22" fmla="*/ 142 w 205"/>
                <a:gd name="T23" fmla="*/ 20 h 73"/>
                <a:gd name="T24" fmla="*/ 158 w 205"/>
                <a:gd name="T25" fmla="*/ 17 h 73"/>
                <a:gd name="T26" fmla="*/ 163 w 205"/>
                <a:gd name="T27" fmla="*/ 19 h 73"/>
                <a:gd name="T28" fmla="*/ 161 w 205"/>
                <a:gd name="T29" fmla="*/ 9 h 73"/>
                <a:gd name="T30" fmla="*/ 155 w 205"/>
                <a:gd name="T31" fmla="*/ 5 h 73"/>
                <a:gd name="T32" fmla="*/ 142 w 205"/>
                <a:gd name="T33" fmla="*/ 8 h 73"/>
                <a:gd name="T34" fmla="*/ 142 w 205"/>
                <a:gd name="T35" fmla="*/ 5 h 73"/>
                <a:gd name="T36" fmla="*/ 28 w 205"/>
                <a:gd name="T37" fmla="*/ 30 h 73"/>
                <a:gd name="T38" fmla="*/ 116 w 205"/>
                <a:gd name="T39" fmla="*/ 13 h 73"/>
                <a:gd name="T40" fmla="*/ 121 w 205"/>
                <a:gd name="T41" fmla="*/ 9 h 73"/>
                <a:gd name="T42" fmla="*/ 142 w 205"/>
                <a:gd name="T43" fmla="*/ 5 h 73"/>
                <a:gd name="T44" fmla="*/ 142 w 205"/>
                <a:gd name="T45" fmla="*/ 8 h 73"/>
                <a:gd name="T46" fmla="*/ 124 w 205"/>
                <a:gd name="T47" fmla="*/ 11 h 73"/>
                <a:gd name="T48" fmla="*/ 120 w 205"/>
                <a:gd name="T49" fmla="*/ 17 h 73"/>
                <a:gd name="T50" fmla="*/ 122 w 205"/>
                <a:gd name="T51" fmla="*/ 28 h 73"/>
                <a:gd name="T52" fmla="*/ 122 w 205"/>
                <a:gd name="T53" fmla="*/ 28 h 73"/>
                <a:gd name="T54" fmla="*/ 126 w 205"/>
                <a:gd name="T55" fmla="*/ 24 h 73"/>
                <a:gd name="T56" fmla="*/ 142 w 205"/>
                <a:gd name="T57" fmla="*/ 20 h 73"/>
                <a:gd name="T58" fmla="*/ 142 w 205"/>
                <a:gd name="T59" fmla="*/ 55 h 73"/>
                <a:gd name="T60" fmla="*/ 130 w 205"/>
                <a:gd name="T61" fmla="*/ 57 h 73"/>
                <a:gd name="T62" fmla="*/ 125 w 205"/>
                <a:gd name="T63" fmla="*/ 56 h 73"/>
                <a:gd name="T64" fmla="*/ 35 w 205"/>
                <a:gd name="T65" fmla="*/ 73 h 73"/>
                <a:gd name="T66" fmla="*/ 28 w 205"/>
                <a:gd name="T67" fmla="*/ 70 h 73"/>
                <a:gd name="T68" fmla="*/ 28 w 205"/>
                <a:gd name="T69" fmla="*/ 67 h 73"/>
                <a:gd name="T70" fmla="*/ 35 w 205"/>
                <a:gd name="T71" fmla="*/ 70 h 73"/>
                <a:gd name="T72" fmla="*/ 35 w 205"/>
                <a:gd name="T73" fmla="*/ 70 h 73"/>
                <a:gd name="T74" fmla="*/ 37 w 205"/>
                <a:gd name="T75" fmla="*/ 70 h 73"/>
                <a:gd name="T76" fmla="*/ 42 w 205"/>
                <a:gd name="T77" fmla="*/ 62 h 73"/>
                <a:gd name="T78" fmla="*/ 36 w 205"/>
                <a:gd name="T79" fmla="*/ 57 h 73"/>
                <a:gd name="T80" fmla="*/ 40 w 205"/>
                <a:gd name="T81" fmla="*/ 50 h 73"/>
                <a:gd name="T82" fmla="*/ 34 w 205"/>
                <a:gd name="T83" fmla="*/ 45 h 73"/>
                <a:gd name="T84" fmla="*/ 37 w 205"/>
                <a:gd name="T85" fmla="*/ 38 h 73"/>
                <a:gd name="T86" fmla="*/ 30 w 205"/>
                <a:gd name="T87" fmla="*/ 33 h 73"/>
                <a:gd name="T88" fmla="*/ 28 w 205"/>
                <a:gd name="T89" fmla="*/ 33 h 73"/>
                <a:gd name="T90" fmla="*/ 28 w 205"/>
                <a:gd name="T91" fmla="*/ 34 h 73"/>
                <a:gd name="T92" fmla="*/ 28 w 205"/>
                <a:gd name="T93" fmla="*/ 30 h 73"/>
                <a:gd name="T94" fmla="*/ 26 w 205"/>
                <a:gd name="T95" fmla="*/ 31 h 73"/>
                <a:gd name="T96" fmla="*/ 28 w 205"/>
                <a:gd name="T97" fmla="*/ 30 h 73"/>
                <a:gd name="T98" fmla="*/ 28 w 205"/>
                <a:gd name="T99" fmla="*/ 34 h 73"/>
                <a:gd name="T100" fmla="*/ 13 w 205"/>
                <a:gd name="T101" fmla="*/ 49 h 73"/>
                <a:gd name="T102" fmla="*/ 15 w 205"/>
                <a:gd name="T103" fmla="*/ 62 h 73"/>
                <a:gd name="T104" fmla="*/ 28 w 205"/>
                <a:gd name="T105" fmla="*/ 67 h 73"/>
                <a:gd name="T106" fmla="*/ 28 w 205"/>
                <a:gd name="T107" fmla="*/ 70 h 73"/>
                <a:gd name="T108" fmla="*/ 0 w 205"/>
                <a:gd name="T109" fmla="*/ 58 h 73"/>
                <a:gd name="T110" fmla="*/ 26 w 205"/>
                <a:gd name="T111" fmla="*/ 31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05" h="73">
                  <a:moveTo>
                    <a:pt x="142" y="5"/>
                  </a:moveTo>
                  <a:cubicBezTo>
                    <a:pt x="157" y="2"/>
                    <a:pt x="157" y="2"/>
                    <a:pt x="157" y="2"/>
                  </a:cubicBezTo>
                  <a:cubicBezTo>
                    <a:pt x="160" y="1"/>
                    <a:pt x="163" y="3"/>
                    <a:pt x="164" y="5"/>
                  </a:cubicBezTo>
                  <a:cubicBezTo>
                    <a:pt x="179" y="2"/>
                    <a:pt x="179" y="2"/>
                    <a:pt x="179" y="2"/>
                  </a:cubicBezTo>
                  <a:cubicBezTo>
                    <a:pt x="190" y="0"/>
                    <a:pt x="200" y="7"/>
                    <a:pt x="202" y="18"/>
                  </a:cubicBezTo>
                  <a:cubicBezTo>
                    <a:pt x="205" y="29"/>
                    <a:pt x="197" y="39"/>
                    <a:pt x="187" y="42"/>
                  </a:cubicBezTo>
                  <a:cubicBezTo>
                    <a:pt x="177" y="43"/>
                    <a:pt x="177" y="43"/>
                    <a:pt x="177" y="43"/>
                  </a:cubicBezTo>
                  <a:cubicBezTo>
                    <a:pt x="166" y="18"/>
                    <a:pt x="166" y="18"/>
                    <a:pt x="166" y="18"/>
                  </a:cubicBezTo>
                  <a:cubicBezTo>
                    <a:pt x="172" y="45"/>
                    <a:pt x="172" y="45"/>
                    <a:pt x="172" y="45"/>
                  </a:cubicBezTo>
                  <a:cubicBezTo>
                    <a:pt x="172" y="47"/>
                    <a:pt x="170" y="50"/>
                    <a:pt x="167" y="50"/>
                  </a:cubicBezTo>
                  <a:cubicBezTo>
                    <a:pt x="142" y="55"/>
                    <a:pt x="142" y="55"/>
                    <a:pt x="142" y="55"/>
                  </a:cubicBezTo>
                  <a:cubicBezTo>
                    <a:pt x="142" y="20"/>
                    <a:pt x="142" y="20"/>
                    <a:pt x="142" y="20"/>
                  </a:cubicBezTo>
                  <a:cubicBezTo>
                    <a:pt x="158" y="17"/>
                    <a:pt x="158" y="17"/>
                    <a:pt x="158" y="17"/>
                  </a:cubicBezTo>
                  <a:cubicBezTo>
                    <a:pt x="160" y="17"/>
                    <a:pt x="162" y="18"/>
                    <a:pt x="163" y="19"/>
                  </a:cubicBezTo>
                  <a:cubicBezTo>
                    <a:pt x="161" y="9"/>
                    <a:pt x="161" y="9"/>
                    <a:pt x="161" y="9"/>
                  </a:cubicBezTo>
                  <a:cubicBezTo>
                    <a:pt x="161" y="6"/>
                    <a:pt x="158" y="5"/>
                    <a:pt x="155" y="5"/>
                  </a:cubicBezTo>
                  <a:cubicBezTo>
                    <a:pt x="142" y="8"/>
                    <a:pt x="142" y="8"/>
                    <a:pt x="142" y="8"/>
                  </a:cubicBezTo>
                  <a:lnTo>
                    <a:pt x="142" y="5"/>
                  </a:lnTo>
                  <a:close/>
                  <a:moveTo>
                    <a:pt x="28" y="30"/>
                  </a:moveTo>
                  <a:cubicBezTo>
                    <a:pt x="116" y="13"/>
                    <a:pt x="116" y="13"/>
                    <a:pt x="116" y="13"/>
                  </a:cubicBezTo>
                  <a:cubicBezTo>
                    <a:pt x="117" y="11"/>
                    <a:pt x="119" y="9"/>
                    <a:pt x="121" y="9"/>
                  </a:cubicBezTo>
                  <a:cubicBezTo>
                    <a:pt x="142" y="5"/>
                    <a:pt x="142" y="5"/>
                    <a:pt x="142" y="5"/>
                  </a:cubicBezTo>
                  <a:cubicBezTo>
                    <a:pt x="142" y="8"/>
                    <a:pt x="142" y="8"/>
                    <a:pt x="142" y="8"/>
                  </a:cubicBezTo>
                  <a:cubicBezTo>
                    <a:pt x="124" y="11"/>
                    <a:pt x="124" y="11"/>
                    <a:pt x="124" y="11"/>
                  </a:cubicBezTo>
                  <a:cubicBezTo>
                    <a:pt x="121" y="12"/>
                    <a:pt x="119" y="15"/>
                    <a:pt x="120" y="17"/>
                  </a:cubicBezTo>
                  <a:cubicBezTo>
                    <a:pt x="122" y="28"/>
                    <a:pt x="122" y="28"/>
                    <a:pt x="122" y="28"/>
                  </a:cubicBezTo>
                  <a:cubicBezTo>
                    <a:pt x="122" y="28"/>
                    <a:pt x="122" y="28"/>
                    <a:pt x="122" y="28"/>
                  </a:cubicBezTo>
                  <a:cubicBezTo>
                    <a:pt x="122" y="26"/>
                    <a:pt x="124" y="24"/>
                    <a:pt x="126" y="24"/>
                  </a:cubicBezTo>
                  <a:cubicBezTo>
                    <a:pt x="142" y="20"/>
                    <a:pt x="142" y="20"/>
                    <a:pt x="142" y="20"/>
                  </a:cubicBezTo>
                  <a:cubicBezTo>
                    <a:pt x="142" y="55"/>
                    <a:pt x="142" y="55"/>
                    <a:pt x="142" y="55"/>
                  </a:cubicBezTo>
                  <a:cubicBezTo>
                    <a:pt x="130" y="57"/>
                    <a:pt x="130" y="57"/>
                    <a:pt x="130" y="57"/>
                  </a:cubicBezTo>
                  <a:cubicBezTo>
                    <a:pt x="128" y="58"/>
                    <a:pt x="126" y="57"/>
                    <a:pt x="125" y="56"/>
                  </a:cubicBezTo>
                  <a:cubicBezTo>
                    <a:pt x="35" y="73"/>
                    <a:pt x="35" y="73"/>
                    <a:pt x="35" y="73"/>
                  </a:cubicBezTo>
                  <a:cubicBezTo>
                    <a:pt x="28" y="70"/>
                    <a:pt x="28" y="70"/>
                    <a:pt x="28" y="70"/>
                  </a:cubicBezTo>
                  <a:cubicBezTo>
                    <a:pt x="28" y="67"/>
                    <a:pt x="28" y="67"/>
                    <a:pt x="28" y="67"/>
                  </a:cubicBezTo>
                  <a:cubicBezTo>
                    <a:pt x="35" y="70"/>
                    <a:pt x="35" y="70"/>
                    <a:pt x="35" y="70"/>
                  </a:cubicBezTo>
                  <a:cubicBezTo>
                    <a:pt x="35" y="70"/>
                    <a:pt x="35" y="70"/>
                    <a:pt x="35" y="70"/>
                  </a:cubicBezTo>
                  <a:cubicBezTo>
                    <a:pt x="37" y="70"/>
                    <a:pt x="37" y="70"/>
                    <a:pt x="37" y="70"/>
                  </a:cubicBezTo>
                  <a:cubicBezTo>
                    <a:pt x="41" y="69"/>
                    <a:pt x="43" y="66"/>
                    <a:pt x="42" y="62"/>
                  </a:cubicBezTo>
                  <a:cubicBezTo>
                    <a:pt x="42" y="59"/>
                    <a:pt x="39" y="57"/>
                    <a:pt x="36" y="57"/>
                  </a:cubicBezTo>
                  <a:cubicBezTo>
                    <a:pt x="39" y="56"/>
                    <a:pt x="40" y="53"/>
                    <a:pt x="40" y="50"/>
                  </a:cubicBezTo>
                  <a:cubicBezTo>
                    <a:pt x="39" y="47"/>
                    <a:pt x="37" y="45"/>
                    <a:pt x="34" y="45"/>
                  </a:cubicBezTo>
                  <a:cubicBezTo>
                    <a:pt x="36" y="44"/>
                    <a:pt x="38" y="41"/>
                    <a:pt x="37" y="38"/>
                  </a:cubicBezTo>
                  <a:cubicBezTo>
                    <a:pt x="37" y="34"/>
                    <a:pt x="33" y="32"/>
                    <a:pt x="30" y="33"/>
                  </a:cubicBezTo>
                  <a:cubicBezTo>
                    <a:pt x="28" y="33"/>
                    <a:pt x="28" y="33"/>
                    <a:pt x="28" y="33"/>
                  </a:cubicBezTo>
                  <a:cubicBezTo>
                    <a:pt x="28" y="34"/>
                    <a:pt x="28" y="34"/>
                    <a:pt x="28" y="34"/>
                  </a:cubicBezTo>
                  <a:lnTo>
                    <a:pt x="28" y="30"/>
                  </a:lnTo>
                  <a:close/>
                  <a:moveTo>
                    <a:pt x="26" y="31"/>
                  </a:moveTo>
                  <a:cubicBezTo>
                    <a:pt x="28" y="30"/>
                    <a:pt x="28" y="30"/>
                    <a:pt x="28" y="30"/>
                  </a:cubicBezTo>
                  <a:cubicBezTo>
                    <a:pt x="28" y="34"/>
                    <a:pt x="28" y="34"/>
                    <a:pt x="28" y="34"/>
                  </a:cubicBezTo>
                  <a:cubicBezTo>
                    <a:pt x="13" y="49"/>
                    <a:pt x="13" y="49"/>
                    <a:pt x="13" y="49"/>
                  </a:cubicBezTo>
                  <a:cubicBezTo>
                    <a:pt x="15" y="62"/>
                    <a:pt x="15" y="62"/>
                    <a:pt x="15" y="62"/>
                  </a:cubicBezTo>
                  <a:cubicBezTo>
                    <a:pt x="28" y="67"/>
                    <a:pt x="28" y="67"/>
                    <a:pt x="28" y="67"/>
                  </a:cubicBezTo>
                  <a:cubicBezTo>
                    <a:pt x="28" y="70"/>
                    <a:pt x="28" y="70"/>
                    <a:pt x="28" y="70"/>
                  </a:cubicBezTo>
                  <a:cubicBezTo>
                    <a:pt x="0" y="58"/>
                    <a:pt x="0" y="58"/>
                    <a:pt x="0" y="58"/>
                  </a:cubicBezTo>
                  <a:lnTo>
                    <a:pt x="26" y="31"/>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87" name="Freeform 86">
              <a:extLst>
                <a:ext uri="{FF2B5EF4-FFF2-40B4-BE49-F238E27FC236}">
                  <a16:creationId xmlns:a16="http://schemas.microsoft.com/office/drawing/2014/main" id="{ACD884B4-2F42-4945-BC0C-13972A5C2010}"/>
                </a:ext>
              </a:extLst>
            </p:cNvPr>
            <p:cNvSpPr>
              <a:spLocks/>
            </p:cNvSpPr>
            <p:nvPr/>
          </p:nvSpPr>
          <p:spPr bwMode="auto">
            <a:xfrm>
              <a:off x="2940860" y="3332083"/>
              <a:ext cx="184499" cy="236873"/>
            </a:xfrm>
            <a:custGeom>
              <a:avLst/>
              <a:gdLst>
                <a:gd name="T0" fmla="*/ 113 w 113"/>
                <a:gd name="T1" fmla="*/ 25 h 145"/>
                <a:gd name="T2" fmla="*/ 108 w 113"/>
                <a:gd name="T3" fmla="*/ 22 h 145"/>
                <a:gd name="T4" fmla="*/ 42 w 113"/>
                <a:gd name="T5" fmla="*/ 128 h 145"/>
                <a:gd name="T6" fmla="*/ 19 w 113"/>
                <a:gd name="T7" fmla="*/ 132 h 145"/>
                <a:gd name="T8" fmla="*/ 12 w 113"/>
                <a:gd name="T9" fmla="*/ 109 h 145"/>
                <a:gd name="T10" fmla="*/ 78 w 113"/>
                <a:gd name="T11" fmla="*/ 3 h 145"/>
                <a:gd name="T12" fmla="*/ 73 w 113"/>
                <a:gd name="T13" fmla="*/ 0 h 145"/>
                <a:gd name="T14" fmla="*/ 6 w 113"/>
                <a:gd name="T15" fmla="*/ 107 h 145"/>
                <a:gd name="T16" fmla="*/ 15 w 113"/>
                <a:gd name="T17" fmla="*/ 138 h 145"/>
                <a:gd name="T18" fmla="*/ 47 w 113"/>
                <a:gd name="T19" fmla="*/ 132 h 145"/>
                <a:gd name="T20" fmla="*/ 113 w 113"/>
                <a:gd name="T21" fmla="*/ 2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145">
                  <a:moveTo>
                    <a:pt x="113" y="25"/>
                  </a:moveTo>
                  <a:cubicBezTo>
                    <a:pt x="108" y="22"/>
                    <a:pt x="108" y="22"/>
                    <a:pt x="108" y="22"/>
                  </a:cubicBezTo>
                  <a:cubicBezTo>
                    <a:pt x="42" y="128"/>
                    <a:pt x="42" y="128"/>
                    <a:pt x="42" y="128"/>
                  </a:cubicBezTo>
                  <a:cubicBezTo>
                    <a:pt x="38" y="135"/>
                    <a:pt x="27" y="137"/>
                    <a:pt x="19" y="132"/>
                  </a:cubicBezTo>
                  <a:cubicBezTo>
                    <a:pt x="11" y="127"/>
                    <a:pt x="8" y="117"/>
                    <a:pt x="12" y="109"/>
                  </a:cubicBezTo>
                  <a:cubicBezTo>
                    <a:pt x="78" y="3"/>
                    <a:pt x="78" y="3"/>
                    <a:pt x="78" y="3"/>
                  </a:cubicBezTo>
                  <a:cubicBezTo>
                    <a:pt x="73" y="0"/>
                    <a:pt x="73" y="0"/>
                    <a:pt x="73" y="0"/>
                  </a:cubicBezTo>
                  <a:cubicBezTo>
                    <a:pt x="6" y="107"/>
                    <a:pt x="6" y="107"/>
                    <a:pt x="6" y="107"/>
                  </a:cubicBezTo>
                  <a:cubicBezTo>
                    <a:pt x="0" y="117"/>
                    <a:pt x="4" y="131"/>
                    <a:pt x="15" y="138"/>
                  </a:cubicBezTo>
                  <a:cubicBezTo>
                    <a:pt x="26" y="145"/>
                    <a:pt x="40" y="142"/>
                    <a:pt x="47" y="132"/>
                  </a:cubicBezTo>
                  <a:lnTo>
                    <a:pt x="113" y="25"/>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88" name="Freeform 87">
              <a:extLst>
                <a:ext uri="{FF2B5EF4-FFF2-40B4-BE49-F238E27FC236}">
                  <a16:creationId xmlns:a16="http://schemas.microsoft.com/office/drawing/2014/main" id="{CCFA3F71-DCC8-4CB8-B53A-ED56805018DF}"/>
                </a:ext>
              </a:extLst>
            </p:cNvPr>
            <p:cNvSpPr>
              <a:spLocks/>
            </p:cNvSpPr>
            <p:nvPr/>
          </p:nvSpPr>
          <p:spPr bwMode="auto">
            <a:xfrm>
              <a:off x="3045608" y="3323751"/>
              <a:ext cx="89274" cy="61896"/>
            </a:xfrm>
            <a:custGeom>
              <a:avLst/>
              <a:gdLst>
                <a:gd name="T0" fmla="*/ 54 w 55"/>
                <a:gd name="T1" fmla="*/ 35 h 38"/>
                <a:gd name="T2" fmla="*/ 48 w 55"/>
                <a:gd name="T3" fmla="*/ 37 h 38"/>
                <a:gd name="T4" fmla="*/ 3 w 55"/>
                <a:gd name="T5" fmla="*/ 9 h 38"/>
                <a:gd name="T6" fmla="*/ 2 w 55"/>
                <a:gd name="T7" fmla="*/ 3 h 38"/>
                <a:gd name="T8" fmla="*/ 8 w 55"/>
                <a:gd name="T9" fmla="*/ 1 h 38"/>
                <a:gd name="T10" fmla="*/ 53 w 55"/>
                <a:gd name="T11" fmla="*/ 29 h 38"/>
                <a:gd name="T12" fmla="*/ 54 w 55"/>
                <a:gd name="T13" fmla="*/ 35 h 38"/>
              </a:gdLst>
              <a:ahLst/>
              <a:cxnLst>
                <a:cxn ang="0">
                  <a:pos x="T0" y="T1"/>
                </a:cxn>
                <a:cxn ang="0">
                  <a:pos x="T2" y="T3"/>
                </a:cxn>
                <a:cxn ang="0">
                  <a:pos x="T4" y="T5"/>
                </a:cxn>
                <a:cxn ang="0">
                  <a:pos x="T6" y="T7"/>
                </a:cxn>
                <a:cxn ang="0">
                  <a:pos x="T8" y="T9"/>
                </a:cxn>
                <a:cxn ang="0">
                  <a:pos x="T10" y="T11"/>
                </a:cxn>
                <a:cxn ang="0">
                  <a:pos x="T12" y="T13"/>
                </a:cxn>
              </a:cxnLst>
              <a:rect l="0" t="0" r="r" b="b"/>
              <a:pathLst>
                <a:path w="55" h="38">
                  <a:moveTo>
                    <a:pt x="54" y="35"/>
                  </a:moveTo>
                  <a:cubicBezTo>
                    <a:pt x="53" y="37"/>
                    <a:pt x="50" y="38"/>
                    <a:pt x="48" y="37"/>
                  </a:cubicBezTo>
                  <a:cubicBezTo>
                    <a:pt x="3" y="9"/>
                    <a:pt x="3" y="9"/>
                    <a:pt x="3" y="9"/>
                  </a:cubicBezTo>
                  <a:cubicBezTo>
                    <a:pt x="1" y="7"/>
                    <a:pt x="0" y="5"/>
                    <a:pt x="2" y="3"/>
                  </a:cubicBezTo>
                  <a:cubicBezTo>
                    <a:pt x="3" y="1"/>
                    <a:pt x="6" y="0"/>
                    <a:pt x="8" y="1"/>
                  </a:cubicBezTo>
                  <a:cubicBezTo>
                    <a:pt x="53" y="29"/>
                    <a:pt x="53" y="29"/>
                    <a:pt x="53" y="29"/>
                  </a:cubicBezTo>
                  <a:cubicBezTo>
                    <a:pt x="55" y="31"/>
                    <a:pt x="55" y="33"/>
                    <a:pt x="54" y="35"/>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89" name="Freeform 88">
              <a:extLst>
                <a:ext uri="{FF2B5EF4-FFF2-40B4-BE49-F238E27FC236}">
                  <a16:creationId xmlns:a16="http://schemas.microsoft.com/office/drawing/2014/main" id="{FA66A6A9-7D96-4668-86C0-CD0E5CBC2FEF}"/>
                </a:ext>
              </a:extLst>
            </p:cNvPr>
            <p:cNvSpPr>
              <a:spLocks/>
            </p:cNvSpPr>
            <p:nvPr/>
          </p:nvSpPr>
          <p:spPr bwMode="auto">
            <a:xfrm>
              <a:off x="2976569" y="3372554"/>
              <a:ext cx="122603" cy="170215"/>
            </a:xfrm>
            <a:custGeom>
              <a:avLst/>
              <a:gdLst>
                <a:gd name="T0" fmla="*/ 75 w 75"/>
                <a:gd name="T1" fmla="*/ 4 h 104"/>
                <a:gd name="T2" fmla="*/ 69 w 75"/>
                <a:gd name="T3" fmla="*/ 0 h 104"/>
                <a:gd name="T4" fmla="*/ 10 w 75"/>
                <a:gd name="T5" fmla="*/ 95 h 104"/>
                <a:gd name="T6" fmla="*/ 0 w 75"/>
                <a:gd name="T7" fmla="*/ 100 h 104"/>
                <a:gd name="T8" fmla="*/ 1 w 75"/>
                <a:gd name="T9" fmla="*/ 101 h 104"/>
                <a:gd name="T10" fmla="*/ 17 w 75"/>
                <a:gd name="T11" fmla="*/ 98 h 104"/>
                <a:gd name="T12" fmla="*/ 75 w 75"/>
                <a:gd name="T13" fmla="*/ 4 h 104"/>
              </a:gdLst>
              <a:ahLst/>
              <a:cxnLst>
                <a:cxn ang="0">
                  <a:pos x="T0" y="T1"/>
                </a:cxn>
                <a:cxn ang="0">
                  <a:pos x="T2" y="T3"/>
                </a:cxn>
                <a:cxn ang="0">
                  <a:pos x="T4" y="T5"/>
                </a:cxn>
                <a:cxn ang="0">
                  <a:pos x="T6" y="T7"/>
                </a:cxn>
                <a:cxn ang="0">
                  <a:pos x="T8" y="T9"/>
                </a:cxn>
                <a:cxn ang="0">
                  <a:pos x="T10" y="T11"/>
                </a:cxn>
                <a:cxn ang="0">
                  <a:pos x="T12" y="T13"/>
                </a:cxn>
              </a:cxnLst>
              <a:rect l="0" t="0" r="r" b="b"/>
              <a:pathLst>
                <a:path w="75" h="104">
                  <a:moveTo>
                    <a:pt x="75" y="4"/>
                  </a:moveTo>
                  <a:cubicBezTo>
                    <a:pt x="69" y="0"/>
                    <a:pt x="69" y="0"/>
                    <a:pt x="69" y="0"/>
                  </a:cubicBezTo>
                  <a:cubicBezTo>
                    <a:pt x="10" y="95"/>
                    <a:pt x="10" y="95"/>
                    <a:pt x="10" y="95"/>
                  </a:cubicBezTo>
                  <a:cubicBezTo>
                    <a:pt x="8" y="98"/>
                    <a:pt x="4" y="100"/>
                    <a:pt x="0" y="100"/>
                  </a:cubicBezTo>
                  <a:cubicBezTo>
                    <a:pt x="0" y="100"/>
                    <a:pt x="1" y="100"/>
                    <a:pt x="1" y="101"/>
                  </a:cubicBezTo>
                  <a:cubicBezTo>
                    <a:pt x="7" y="104"/>
                    <a:pt x="14" y="103"/>
                    <a:pt x="17" y="98"/>
                  </a:cubicBezTo>
                  <a:lnTo>
                    <a:pt x="75" y="4"/>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90" name="Freeform 89">
              <a:extLst>
                <a:ext uri="{FF2B5EF4-FFF2-40B4-BE49-F238E27FC236}">
                  <a16:creationId xmlns:a16="http://schemas.microsoft.com/office/drawing/2014/main" id="{5CB531F5-F581-407B-AD1B-F48E433B3885}"/>
                </a:ext>
              </a:extLst>
            </p:cNvPr>
            <p:cNvSpPr>
              <a:spLocks noEditPoints="1"/>
            </p:cNvSpPr>
            <p:nvPr/>
          </p:nvSpPr>
          <p:spPr bwMode="auto">
            <a:xfrm>
              <a:off x="2690893" y="2403638"/>
              <a:ext cx="166644" cy="121412"/>
            </a:xfrm>
            <a:custGeom>
              <a:avLst/>
              <a:gdLst>
                <a:gd name="T0" fmla="*/ 84 w 102"/>
                <a:gd name="T1" fmla="*/ 71 h 74"/>
                <a:gd name="T2" fmla="*/ 79 w 102"/>
                <a:gd name="T3" fmla="*/ 69 h 74"/>
                <a:gd name="T4" fmla="*/ 79 w 102"/>
                <a:gd name="T5" fmla="*/ 69 h 74"/>
                <a:gd name="T6" fmla="*/ 79 w 102"/>
                <a:gd name="T7" fmla="*/ 52 h 74"/>
                <a:gd name="T8" fmla="*/ 86 w 102"/>
                <a:gd name="T9" fmla="*/ 49 h 74"/>
                <a:gd name="T10" fmla="*/ 90 w 102"/>
                <a:gd name="T11" fmla="*/ 38 h 74"/>
                <a:gd name="T12" fmla="*/ 79 w 102"/>
                <a:gd name="T13" fmla="*/ 31 h 74"/>
                <a:gd name="T14" fmla="*/ 85 w 102"/>
                <a:gd name="T15" fmla="*/ 20 h 74"/>
                <a:gd name="T16" fmla="*/ 79 w 102"/>
                <a:gd name="T17" fmla="*/ 16 h 74"/>
                <a:gd name="T18" fmla="*/ 72 w 102"/>
                <a:gd name="T19" fmla="*/ 3 h 74"/>
                <a:gd name="T20" fmla="*/ 79 w 102"/>
                <a:gd name="T21" fmla="*/ 16 h 74"/>
                <a:gd name="T22" fmla="*/ 72 w 102"/>
                <a:gd name="T23" fmla="*/ 21 h 74"/>
                <a:gd name="T24" fmla="*/ 72 w 102"/>
                <a:gd name="T25" fmla="*/ 9 h 74"/>
                <a:gd name="T26" fmla="*/ 79 w 102"/>
                <a:gd name="T27" fmla="*/ 73 h 74"/>
                <a:gd name="T28" fmla="*/ 72 w 102"/>
                <a:gd name="T29" fmla="*/ 69 h 74"/>
                <a:gd name="T30" fmla="*/ 79 w 102"/>
                <a:gd name="T31" fmla="*/ 73 h 74"/>
                <a:gd name="T32" fmla="*/ 79 w 102"/>
                <a:gd name="T33" fmla="*/ 34 h 74"/>
                <a:gd name="T34" fmla="*/ 75 w 102"/>
                <a:gd name="T35" fmla="*/ 45 h 74"/>
                <a:gd name="T36" fmla="*/ 79 w 102"/>
                <a:gd name="T37" fmla="*/ 52 h 74"/>
                <a:gd name="T38" fmla="*/ 72 w 102"/>
                <a:gd name="T39" fmla="*/ 25 h 74"/>
                <a:gd name="T40" fmla="*/ 79 w 102"/>
                <a:gd name="T41" fmla="*/ 31 h 74"/>
                <a:gd name="T42" fmla="*/ 72 w 102"/>
                <a:gd name="T43" fmla="*/ 3 h 74"/>
                <a:gd name="T44" fmla="*/ 71 w 102"/>
                <a:gd name="T45" fmla="*/ 8 h 74"/>
                <a:gd name="T46" fmla="*/ 66 w 102"/>
                <a:gd name="T47" fmla="*/ 2 h 74"/>
                <a:gd name="T48" fmla="*/ 66 w 102"/>
                <a:gd name="T49" fmla="*/ 73 h 74"/>
                <a:gd name="T50" fmla="*/ 67 w 102"/>
                <a:gd name="T51" fmla="*/ 65 h 74"/>
                <a:gd name="T52" fmla="*/ 72 w 102"/>
                <a:gd name="T53" fmla="*/ 74 h 74"/>
                <a:gd name="T54" fmla="*/ 72 w 102"/>
                <a:gd name="T55" fmla="*/ 21 h 74"/>
                <a:gd name="T56" fmla="*/ 72 w 102"/>
                <a:gd name="T57" fmla="*/ 52 h 74"/>
                <a:gd name="T58" fmla="*/ 66 w 102"/>
                <a:gd name="T59" fmla="*/ 57 h 74"/>
                <a:gd name="T60" fmla="*/ 69 w 102"/>
                <a:gd name="T61" fmla="*/ 16 h 74"/>
                <a:gd name="T62" fmla="*/ 22 w 102"/>
                <a:gd name="T63" fmla="*/ 10 h 74"/>
                <a:gd name="T64" fmla="*/ 66 w 102"/>
                <a:gd name="T65" fmla="*/ 5 h 74"/>
                <a:gd name="T66" fmla="*/ 64 w 102"/>
                <a:gd name="T67" fmla="*/ 6 h 74"/>
                <a:gd name="T68" fmla="*/ 66 w 102"/>
                <a:gd name="T69" fmla="*/ 16 h 74"/>
                <a:gd name="T70" fmla="*/ 66 w 102"/>
                <a:gd name="T71" fmla="*/ 64 h 74"/>
                <a:gd name="T72" fmla="*/ 37 w 102"/>
                <a:gd name="T73" fmla="*/ 57 h 74"/>
                <a:gd name="T74" fmla="*/ 22 w 102"/>
                <a:gd name="T75" fmla="*/ 49 h 74"/>
                <a:gd name="T76" fmla="*/ 27 w 102"/>
                <a:gd name="T77" fmla="*/ 48 h 74"/>
                <a:gd name="T78" fmla="*/ 22 w 102"/>
                <a:gd name="T79" fmla="*/ 27 h 74"/>
                <a:gd name="T80" fmla="*/ 2 w 102"/>
                <a:gd name="T81" fmla="*/ 41 h 74"/>
                <a:gd name="T82" fmla="*/ 22 w 102"/>
                <a:gd name="T83" fmla="*/ 10 h 74"/>
                <a:gd name="T84" fmla="*/ 17 w 102"/>
                <a:gd name="T85" fmla="*/ 28 h 74"/>
                <a:gd name="T86" fmla="*/ 22 w 102"/>
                <a:gd name="T87" fmla="*/ 49 h 74"/>
                <a:gd name="T88" fmla="*/ 2 w 102"/>
                <a:gd name="T89" fmla="*/ 4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2" h="74">
                  <a:moveTo>
                    <a:pt x="79" y="7"/>
                  </a:moveTo>
                  <a:cubicBezTo>
                    <a:pt x="102" y="22"/>
                    <a:pt x="98" y="62"/>
                    <a:pt x="84" y="71"/>
                  </a:cubicBezTo>
                  <a:cubicBezTo>
                    <a:pt x="82" y="72"/>
                    <a:pt x="80" y="73"/>
                    <a:pt x="79" y="73"/>
                  </a:cubicBezTo>
                  <a:cubicBezTo>
                    <a:pt x="79" y="69"/>
                    <a:pt x="79" y="69"/>
                    <a:pt x="79" y="69"/>
                  </a:cubicBezTo>
                  <a:cubicBezTo>
                    <a:pt x="79" y="69"/>
                    <a:pt x="79" y="69"/>
                    <a:pt x="79" y="69"/>
                  </a:cubicBezTo>
                  <a:cubicBezTo>
                    <a:pt x="79" y="69"/>
                    <a:pt x="79" y="69"/>
                    <a:pt x="79" y="69"/>
                  </a:cubicBezTo>
                  <a:cubicBezTo>
                    <a:pt x="83" y="67"/>
                    <a:pt x="85" y="61"/>
                    <a:pt x="83" y="57"/>
                  </a:cubicBezTo>
                  <a:cubicBezTo>
                    <a:pt x="82" y="55"/>
                    <a:pt x="80" y="53"/>
                    <a:pt x="79" y="52"/>
                  </a:cubicBezTo>
                  <a:cubicBezTo>
                    <a:pt x="79" y="49"/>
                    <a:pt x="79" y="49"/>
                    <a:pt x="79" y="49"/>
                  </a:cubicBezTo>
                  <a:cubicBezTo>
                    <a:pt x="81" y="50"/>
                    <a:pt x="84" y="50"/>
                    <a:pt x="86" y="49"/>
                  </a:cubicBezTo>
                  <a:cubicBezTo>
                    <a:pt x="86" y="49"/>
                    <a:pt x="86" y="49"/>
                    <a:pt x="86" y="49"/>
                  </a:cubicBezTo>
                  <a:cubicBezTo>
                    <a:pt x="90" y="47"/>
                    <a:pt x="92" y="42"/>
                    <a:pt x="90" y="38"/>
                  </a:cubicBezTo>
                  <a:cubicBezTo>
                    <a:pt x="88" y="34"/>
                    <a:pt x="83" y="32"/>
                    <a:pt x="79" y="34"/>
                  </a:cubicBezTo>
                  <a:cubicBezTo>
                    <a:pt x="79" y="31"/>
                    <a:pt x="79" y="31"/>
                    <a:pt x="79" y="31"/>
                  </a:cubicBezTo>
                  <a:cubicBezTo>
                    <a:pt x="80" y="31"/>
                    <a:pt x="81" y="30"/>
                    <a:pt x="82" y="30"/>
                  </a:cubicBezTo>
                  <a:cubicBezTo>
                    <a:pt x="86" y="28"/>
                    <a:pt x="87" y="24"/>
                    <a:pt x="85" y="20"/>
                  </a:cubicBezTo>
                  <a:cubicBezTo>
                    <a:pt x="85" y="20"/>
                    <a:pt x="85" y="20"/>
                    <a:pt x="85" y="20"/>
                  </a:cubicBezTo>
                  <a:cubicBezTo>
                    <a:pt x="84" y="17"/>
                    <a:pt x="81" y="16"/>
                    <a:pt x="79" y="16"/>
                  </a:cubicBezTo>
                  <a:lnTo>
                    <a:pt x="79" y="7"/>
                  </a:lnTo>
                  <a:close/>
                  <a:moveTo>
                    <a:pt x="72" y="3"/>
                  </a:moveTo>
                  <a:cubicBezTo>
                    <a:pt x="74" y="4"/>
                    <a:pt x="76" y="5"/>
                    <a:pt x="79" y="7"/>
                  </a:cubicBezTo>
                  <a:cubicBezTo>
                    <a:pt x="79" y="16"/>
                    <a:pt x="79" y="16"/>
                    <a:pt x="79" y="16"/>
                  </a:cubicBezTo>
                  <a:cubicBezTo>
                    <a:pt x="77" y="16"/>
                    <a:pt x="76" y="16"/>
                    <a:pt x="75" y="17"/>
                  </a:cubicBezTo>
                  <a:cubicBezTo>
                    <a:pt x="73" y="17"/>
                    <a:pt x="72" y="19"/>
                    <a:pt x="72" y="21"/>
                  </a:cubicBezTo>
                  <a:cubicBezTo>
                    <a:pt x="72" y="13"/>
                    <a:pt x="72" y="13"/>
                    <a:pt x="72" y="13"/>
                  </a:cubicBezTo>
                  <a:cubicBezTo>
                    <a:pt x="72" y="12"/>
                    <a:pt x="72" y="10"/>
                    <a:pt x="72" y="9"/>
                  </a:cubicBezTo>
                  <a:cubicBezTo>
                    <a:pt x="72" y="3"/>
                    <a:pt x="72" y="3"/>
                    <a:pt x="72" y="3"/>
                  </a:cubicBezTo>
                  <a:close/>
                  <a:moveTo>
                    <a:pt x="79" y="73"/>
                  </a:moveTo>
                  <a:cubicBezTo>
                    <a:pt x="76" y="74"/>
                    <a:pt x="74" y="74"/>
                    <a:pt x="72" y="74"/>
                  </a:cubicBezTo>
                  <a:cubicBezTo>
                    <a:pt x="72" y="69"/>
                    <a:pt x="72" y="69"/>
                    <a:pt x="72" y="69"/>
                  </a:cubicBezTo>
                  <a:cubicBezTo>
                    <a:pt x="74" y="70"/>
                    <a:pt x="76" y="70"/>
                    <a:pt x="79" y="69"/>
                  </a:cubicBezTo>
                  <a:cubicBezTo>
                    <a:pt x="79" y="73"/>
                    <a:pt x="79" y="73"/>
                    <a:pt x="79" y="73"/>
                  </a:cubicBezTo>
                  <a:close/>
                  <a:moveTo>
                    <a:pt x="79" y="31"/>
                  </a:moveTo>
                  <a:cubicBezTo>
                    <a:pt x="79" y="34"/>
                    <a:pt x="79" y="34"/>
                    <a:pt x="79" y="34"/>
                  </a:cubicBezTo>
                  <a:cubicBezTo>
                    <a:pt x="78" y="34"/>
                    <a:pt x="78" y="34"/>
                    <a:pt x="78" y="34"/>
                  </a:cubicBezTo>
                  <a:cubicBezTo>
                    <a:pt x="74" y="36"/>
                    <a:pt x="73" y="41"/>
                    <a:pt x="75" y="45"/>
                  </a:cubicBezTo>
                  <a:cubicBezTo>
                    <a:pt x="76" y="47"/>
                    <a:pt x="77" y="48"/>
                    <a:pt x="79" y="49"/>
                  </a:cubicBezTo>
                  <a:cubicBezTo>
                    <a:pt x="79" y="52"/>
                    <a:pt x="79" y="52"/>
                    <a:pt x="79" y="52"/>
                  </a:cubicBezTo>
                  <a:cubicBezTo>
                    <a:pt x="76" y="51"/>
                    <a:pt x="74" y="51"/>
                    <a:pt x="72" y="52"/>
                  </a:cubicBezTo>
                  <a:cubicBezTo>
                    <a:pt x="72" y="25"/>
                    <a:pt x="72" y="25"/>
                    <a:pt x="72" y="25"/>
                  </a:cubicBezTo>
                  <a:cubicBezTo>
                    <a:pt x="72" y="26"/>
                    <a:pt x="72" y="26"/>
                    <a:pt x="72" y="26"/>
                  </a:cubicBezTo>
                  <a:cubicBezTo>
                    <a:pt x="73" y="29"/>
                    <a:pt x="76" y="31"/>
                    <a:pt x="79" y="31"/>
                  </a:cubicBezTo>
                  <a:close/>
                  <a:moveTo>
                    <a:pt x="66" y="2"/>
                  </a:moveTo>
                  <a:cubicBezTo>
                    <a:pt x="68" y="2"/>
                    <a:pt x="70" y="3"/>
                    <a:pt x="72" y="3"/>
                  </a:cubicBezTo>
                  <a:cubicBezTo>
                    <a:pt x="72" y="9"/>
                    <a:pt x="72" y="9"/>
                    <a:pt x="72" y="9"/>
                  </a:cubicBezTo>
                  <a:cubicBezTo>
                    <a:pt x="71" y="9"/>
                    <a:pt x="71" y="9"/>
                    <a:pt x="71" y="8"/>
                  </a:cubicBezTo>
                  <a:cubicBezTo>
                    <a:pt x="70" y="7"/>
                    <a:pt x="68" y="5"/>
                    <a:pt x="66" y="5"/>
                  </a:cubicBezTo>
                  <a:cubicBezTo>
                    <a:pt x="66" y="2"/>
                    <a:pt x="66" y="2"/>
                    <a:pt x="66" y="2"/>
                  </a:cubicBezTo>
                  <a:close/>
                  <a:moveTo>
                    <a:pt x="72" y="74"/>
                  </a:moveTo>
                  <a:cubicBezTo>
                    <a:pt x="70" y="74"/>
                    <a:pt x="68" y="73"/>
                    <a:pt x="66" y="73"/>
                  </a:cubicBezTo>
                  <a:cubicBezTo>
                    <a:pt x="66" y="64"/>
                    <a:pt x="66" y="64"/>
                    <a:pt x="66" y="64"/>
                  </a:cubicBezTo>
                  <a:cubicBezTo>
                    <a:pt x="66" y="64"/>
                    <a:pt x="67" y="64"/>
                    <a:pt x="67" y="65"/>
                  </a:cubicBezTo>
                  <a:cubicBezTo>
                    <a:pt x="68" y="67"/>
                    <a:pt x="70" y="68"/>
                    <a:pt x="72" y="69"/>
                  </a:cubicBezTo>
                  <a:cubicBezTo>
                    <a:pt x="72" y="74"/>
                    <a:pt x="72" y="74"/>
                    <a:pt x="72" y="74"/>
                  </a:cubicBezTo>
                  <a:close/>
                  <a:moveTo>
                    <a:pt x="72" y="13"/>
                  </a:moveTo>
                  <a:cubicBezTo>
                    <a:pt x="72" y="21"/>
                    <a:pt x="72" y="21"/>
                    <a:pt x="72" y="21"/>
                  </a:cubicBezTo>
                  <a:cubicBezTo>
                    <a:pt x="71" y="22"/>
                    <a:pt x="71" y="24"/>
                    <a:pt x="72" y="25"/>
                  </a:cubicBezTo>
                  <a:cubicBezTo>
                    <a:pt x="72" y="52"/>
                    <a:pt x="72" y="52"/>
                    <a:pt x="72" y="52"/>
                  </a:cubicBezTo>
                  <a:cubicBezTo>
                    <a:pt x="71" y="52"/>
                    <a:pt x="71" y="52"/>
                    <a:pt x="71" y="52"/>
                  </a:cubicBezTo>
                  <a:cubicBezTo>
                    <a:pt x="69" y="54"/>
                    <a:pt x="67" y="55"/>
                    <a:pt x="66" y="57"/>
                  </a:cubicBezTo>
                  <a:cubicBezTo>
                    <a:pt x="66" y="16"/>
                    <a:pt x="66" y="16"/>
                    <a:pt x="66" y="16"/>
                  </a:cubicBezTo>
                  <a:cubicBezTo>
                    <a:pt x="67" y="16"/>
                    <a:pt x="68" y="16"/>
                    <a:pt x="69" y="16"/>
                  </a:cubicBezTo>
                  <a:cubicBezTo>
                    <a:pt x="70" y="15"/>
                    <a:pt x="71" y="14"/>
                    <a:pt x="72" y="13"/>
                  </a:cubicBezTo>
                  <a:close/>
                  <a:moveTo>
                    <a:pt x="22" y="10"/>
                  </a:moveTo>
                  <a:cubicBezTo>
                    <a:pt x="41" y="2"/>
                    <a:pt x="55" y="0"/>
                    <a:pt x="66" y="2"/>
                  </a:cubicBezTo>
                  <a:cubicBezTo>
                    <a:pt x="66" y="5"/>
                    <a:pt x="66" y="5"/>
                    <a:pt x="66" y="5"/>
                  </a:cubicBezTo>
                  <a:cubicBezTo>
                    <a:pt x="65" y="5"/>
                    <a:pt x="65" y="6"/>
                    <a:pt x="64" y="6"/>
                  </a:cubicBezTo>
                  <a:cubicBezTo>
                    <a:pt x="64" y="6"/>
                    <a:pt x="64" y="6"/>
                    <a:pt x="64" y="6"/>
                  </a:cubicBezTo>
                  <a:cubicBezTo>
                    <a:pt x="61" y="7"/>
                    <a:pt x="60" y="11"/>
                    <a:pt x="61" y="13"/>
                  </a:cubicBezTo>
                  <a:cubicBezTo>
                    <a:pt x="62" y="15"/>
                    <a:pt x="64" y="16"/>
                    <a:pt x="66" y="16"/>
                  </a:cubicBezTo>
                  <a:cubicBezTo>
                    <a:pt x="66" y="57"/>
                    <a:pt x="66" y="57"/>
                    <a:pt x="66" y="57"/>
                  </a:cubicBezTo>
                  <a:cubicBezTo>
                    <a:pt x="66" y="59"/>
                    <a:pt x="66" y="62"/>
                    <a:pt x="66" y="64"/>
                  </a:cubicBezTo>
                  <a:cubicBezTo>
                    <a:pt x="66" y="73"/>
                    <a:pt x="66" y="73"/>
                    <a:pt x="66" y="73"/>
                  </a:cubicBezTo>
                  <a:cubicBezTo>
                    <a:pt x="56" y="68"/>
                    <a:pt x="48" y="56"/>
                    <a:pt x="37" y="57"/>
                  </a:cubicBezTo>
                  <a:cubicBezTo>
                    <a:pt x="32" y="57"/>
                    <a:pt x="27" y="58"/>
                    <a:pt x="22" y="57"/>
                  </a:cubicBezTo>
                  <a:cubicBezTo>
                    <a:pt x="22" y="49"/>
                    <a:pt x="22" y="49"/>
                    <a:pt x="22" y="49"/>
                  </a:cubicBezTo>
                  <a:cubicBezTo>
                    <a:pt x="24" y="49"/>
                    <a:pt x="25" y="48"/>
                    <a:pt x="27" y="48"/>
                  </a:cubicBezTo>
                  <a:cubicBezTo>
                    <a:pt x="27" y="48"/>
                    <a:pt x="27" y="48"/>
                    <a:pt x="27" y="48"/>
                  </a:cubicBezTo>
                  <a:cubicBezTo>
                    <a:pt x="32" y="45"/>
                    <a:pt x="34" y="38"/>
                    <a:pt x="32" y="33"/>
                  </a:cubicBezTo>
                  <a:cubicBezTo>
                    <a:pt x="30" y="29"/>
                    <a:pt x="26" y="27"/>
                    <a:pt x="22" y="27"/>
                  </a:cubicBezTo>
                  <a:lnTo>
                    <a:pt x="22" y="10"/>
                  </a:lnTo>
                  <a:close/>
                  <a:moveTo>
                    <a:pt x="2" y="41"/>
                  </a:moveTo>
                  <a:cubicBezTo>
                    <a:pt x="0" y="23"/>
                    <a:pt x="18" y="12"/>
                    <a:pt x="18" y="12"/>
                  </a:cubicBezTo>
                  <a:cubicBezTo>
                    <a:pt x="20" y="12"/>
                    <a:pt x="21" y="11"/>
                    <a:pt x="22" y="10"/>
                  </a:cubicBezTo>
                  <a:cubicBezTo>
                    <a:pt x="22" y="27"/>
                    <a:pt x="22" y="27"/>
                    <a:pt x="22" y="27"/>
                  </a:cubicBezTo>
                  <a:cubicBezTo>
                    <a:pt x="20" y="27"/>
                    <a:pt x="19" y="27"/>
                    <a:pt x="17" y="28"/>
                  </a:cubicBezTo>
                  <a:cubicBezTo>
                    <a:pt x="12" y="31"/>
                    <a:pt x="9" y="37"/>
                    <a:pt x="12" y="43"/>
                  </a:cubicBezTo>
                  <a:cubicBezTo>
                    <a:pt x="14" y="47"/>
                    <a:pt x="18" y="49"/>
                    <a:pt x="22" y="49"/>
                  </a:cubicBezTo>
                  <a:cubicBezTo>
                    <a:pt x="22" y="57"/>
                    <a:pt x="22" y="57"/>
                    <a:pt x="22" y="57"/>
                  </a:cubicBezTo>
                  <a:cubicBezTo>
                    <a:pt x="12" y="57"/>
                    <a:pt x="4" y="53"/>
                    <a:pt x="2" y="41"/>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91" name="Freeform 90">
              <a:extLst>
                <a:ext uri="{FF2B5EF4-FFF2-40B4-BE49-F238E27FC236}">
                  <a16:creationId xmlns:a16="http://schemas.microsoft.com/office/drawing/2014/main" id="{05AC170D-99BA-49E6-B7E8-039C8F34AC64}"/>
                </a:ext>
              </a:extLst>
            </p:cNvPr>
            <p:cNvSpPr>
              <a:spLocks/>
            </p:cNvSpPr>
            <p:nvPr/>
          </p:nvSpPr>
          <p:spPr bwMode="auto">
            <a:xfrm>
              <a:off x="1301796" y="3198768"/>
              <a:ext cx="154741" cy="199973"/>
            </a:xfrm>
            <a:custGeom>
              <a:avLst/>
              <a:gdLst>
                <a:gd name="T0" fmla="*/ 0 w 95"/>
                <a:gd name="T1" fmla="*/ 21 h 123"/>
                <a:gd name="T2" fmla="*/ 4 w 95"/>
                <a:gd name="T3" fmla="*/ 19 h 123"/>
                <a:gd name="T4" fmla="*/ 59 w 95"/>
                <a:gd name="T5" fmla="*/ 109 h 123"/>
                <a:gd name="T6" fmla="*/ 79 w 95"/>
                <a:gd name="T7" fmla="*/ 112 h 123"/>
                <a:gd name="T8" fmla="*/ 85 w 95"/>
                <a:gd name="T9" fmla="*/ 93 h 123"/>
                <a:gd name="T10" fmla="*/ 29 w 95"/>
                <a:gd name="T11" fmla="*/ 3 h 123"/>
                <a:gd name="T12" fmla="*/ 34 w 95"/>
                <a:gd name="T13" fmla="*/ 0 h 123"/>
                <a:gd name="T14" fmla="*/ 90 w 95"/>
                <a:gd name="T15" fmla="*/ 91 h 123"/>
                <a:gd name="T16" fmla="*/ 82 w 95"/>
                <a:gd name="T17" fmla="*/ 117 h 123"/>
                <a:gd name="T18" fmla="*/ 56 w 95"/>
                <a:gd name="T19" fmla="*/ 112 h 123"/>
                <a:gd name="T20" fmla="*/ 0 w 95"/>
                <a:gd name="T21" fmla="*/ 2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123">
                  <a:moveTo>
                    <a:pt x="0" y="21"/>
                  </a:moveTo>
                  <a:cubicBezTo>
                    <a:pt x="4" y="19"/>
                    <a:pt x="4" y="19"/>
                    <a:pt x="4" y="19"/>
                  </a:cubicBezTo>
                  <a:cubicBezTo>
                    <a:pt x="59" y="109"/>
                    <a:pt x="59" y="109"/>
                    <a:pt x="59" y="109"/>
                  </a:cubicBezTo>
                  <a:cubicBezTo>
                    <a:pt x="63" y="115"/>
                    <a:pt x="72" y="117"/>
                    <a:pt x="79" y="112"/>
                  </a:cubicBezTo>
                  <a:cubicBezTo>
                    <a:pt x="87" y="108"/>
                    <a:pt x="89" y="99"/>
                    <a:pt x="85" y="93"/>
                  </a:cubicBezTo>
                  <a:cubicBezTo>
                    <a:pt x="29" y="3"/>
                    <a:pt x="29" y="3"/>
                    <a:pt x="29" y="3"/>
                  </a:cubicBezTo>
                  <a:cubicBezTo>
                    <a:pt x="34" y="0"/>
                    <a:pt x="34" y="0"/>
                    <a:pt x="34" y="0"/>
                  </a:cubicBezTo>
                  <a:cubicBezTo>
                    <a:pt x="90" y="91"/>
                    <a:pt x="90" y="91"/>
                    <a:pt x="90" y="91"/>
                  </a:cubicBezTo>
                  <a:cubicBezTo>
                    <a:pt x="95" y="100"/>
                    <a:pt x="92" y="111"/>
                    <a:pt x="82" y="117"/>
                  </a:cubicBezTo>
                  <a:cubicBezTo>
                    <a:pt x="73" y="123"/>
                    <a:pt x="61" y="121"/>
                    <a:pt x="56" y="112"/>
                  </a:cubicBezTo>
                  <a:lnTo>
                    <a:pt x="0" y="21"/>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92" name="Freeform 91">
              <a:extLst>
                <a:ext uri="{FF2B5EF4-FFF2-40B4-BE49-F238E27FC236}">
                  <a16:creationId xmlns:a16="http://schemas.microsoft.com/office/drawing/2014/main" id="{EDACB815-C060-430C-A885-430D701A2704}"/>
                </a:ext>
              </a:extLst>
            </p:cNvPr>
            <p:cNvSpPr>
              <a:spLocks/>
            </p:cNvSpPr>
            <p:nvPr/>
          </p:nvSpPr>
          <p:spPr bwMode="auto">
            <a:xfrm>
              <a:off x="1292274" y="3191626"/>
              <a:ext cx="76180" cy="52374"/>
            </a:xfrm>
            <a:custGeom>
              <a:avLst/>
              <a:gdLst>
                <a:gd name="T0" fmla="*/ 1 w 47"/>
                <a:gd name="T1" fmla="*/ 30 h 32"/>
                <a:gd name="T2" fmla="*/ 6 w 47"/>
                <a:gd name="T3" fmla="*/ 31 h 32"/>
                <a:gd name="T4" fmla="*/ 44 w 47"/>
                <a:gd name="T5" fmla="*/ 7 h 32"/>
                <a:gd name="T6" fmla="*/ 46 w 47"/>
                <a:gd name="T7" fmla="*/ 2 h 32"/>
                <a:gd name="T8" fmla="*/ 41 w 47"/>
                <a:gd name="T9" fmla="*/ 1 h 32"/>
                <a:gd name="T10" fmla="*/ 2 w 47"/>
                <a:gd name="T11" fmla="*/ 25 h 32"/>
                <a:gd name="T12" fmla="*/ 1 w 47"/>
                <a:gd name="T13" fmla="*/ 30 h 32"/>
              </a:gdLst>
              <a:ahLst/>
              <a:cxnLst>
                <a:cxn ang="0">
                  <a:pos x="T0" y="T1"/>
                </a:cxn>
                <a:cxn ang="0">
                  <a:pos x="T2" y="T3"/>
                </a:cxn>
                <a:cxn ang="0">
                  <a:pos x="T4" y="T5"/>
                </a:cxn>
                <a:cxn ang="0">
                  <a:pos x="T6" y="T7"/>
                </a:cxn>
                <a:cxn ang="0">
                  <a:pos x="T8" y="T9"/>
                </a:cxn>
                <a:cxn ang="0">
                  <a:pos x="T10" y="T11"/>
                </a:cxn>
                <a:cxn ang="0">
                  <a:pos x="T12" y="T13"/>
                </a:cxn>
              </a:cxnLst>
              <a:rect l="0" t="0" r="r" b="b"/>
              <a:pathLst>
                <a:path w="47" h="32">
                  <a:moveTo>
                    <a:pt x="1" y="30"/>
                  </a:moveTo>
                  <a:cubicBezTo>
                    <a:pt x="2" y="32"/>
                    <a:pt x="4" y="32"/>
                    <a:pt x="6" y="31"/>
                  </a:cubicBezTo>
                  <a:cubicBezTo>
                    <a:pt x="44" y="7"/>
                    <a:pt x="44" y="7"/>
                    <a:pt x="44" y="7"/>
                  </a:cubicBezTo>
                  <a:cubicBezTo>
                    <a:pt x="46" y="6"/>
                    <a:pt x="47" y="4"/>
                    <a:pt x="46" y="2"/>
                  </a:cubicBezTo>
                  <a:cubicBezTo>
                    <a:pt x="45" y="1"/>
                    <a:pt x="42" y="0"/>
                    <a:pt x="41" y="1"/>
                  </a:cubicBezTo>
                  <a:cubicBezTo>
                    <a:pt x="2" y="25"/>
                    <a:pt x="2" y="25"/>
                    <a:pt x="2" y="25"/>
                  </a:cubicBezTo>
                  <a:cubicBezTo>
                    <a:pt x="1" y="26"/>
                    <a:pt x="0" y="28"/>
                    <a:pt x="1" y="30"/>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93" name="Freeform 92">
              <a:extLst>
                <a:ext uri="{FF2B5EF4-FFF2-40B4-BE49-F238E27FC236}">
                  <a16:creationId xmlns:a16="http://schemas.microsoft.com/office/drawing/2014/main" id="{6D5E6830-09EE-476D-A00E-291ED523CFA6}"/>
                </a:ext>
              </a:extLst>
            </p:cNvPr>
            <p:cNvSpPr>
              <a:spLocks/>
            </p:cNvSpPr>
            <p:nvPr/>
          </p:nvSpPr>
          <p:spPr bwMode="auto">
            <a:xfrm>
              <a:off x="1323222" y="3234477"/>
              <a:ext cx="104748" cy="144028"/>
            </a:xfrm>
            <a:custGeom>
              <a:avLst/>
              <a:gdLst>
                <a:gd name="T0" fmla="*/ 0 w 64"/>
                <a:gd name="T1" fmla="*/ 3 h 88"/>
                <a:gd name="T2" fmla="*/ 5 w 64"/>
                <a:gd name="T3" fmla="*/ 0 h 88"/>
                <a:gd name="T4" fmla="*/ 55 w 64"/>
                <a:gd name="T5" fmla="*/ 80 h 88"/>
                <a:gd name="T6" fmla="*/ 64 w 64"/>
                <a:gd name="T7" fmla="*/ 85 h 88"/>
                <a:gd name="T8" fmla="*/ 63 w 64"/>
                <a:gd name="T9" fmla="*/ 85 h 88"/>
                <a:gd name="T10" fmla="*/ 49 w 64"/>
                <a:gd name="T11" fmla="*/ 82 h 88"/>
                <a:gd name="T12" fmla="*/ 0 w 64"/>
                <a:gd name="T13" fmla="*/ 3 h 88"/>
              </a:gdLst>
              <a:ahLst/>
              <a:cxnLst>
                <a:cxn ang="0">
                  <a:pos x="T0" y="T1"/>
                </a:cxn>
                <a:cxn ang="0">
                  <a:pos x="T2" y="T3"/>
                </a:cxn>
                <a:cxn ang="0">
                  <a:pos x="T4" y="T5"/>
                </a:cxn>
                <a:cxn ang="0">
                  <a:pos x="T6" y="T7"/>
                </a:cxn>
                <a:cxn ang="0">
                  <a:pos x="T8" y="T9"/>
                </a:cxn>
                <a:cxn ang="0">
                  <a:pos x="T10" y="T11"/>
                </a:cxn>
                <a:cxn ang="0">
                  <a:pos x="T12" y="T13"/>
                </a:cxn>
              </a:cxnLst>
              <a:rect l="0" t="0" r="r" b="b"/>
              <a:pathLst>
                <a:path w="64" h="88">
                  <a:moveTo>
                    <a:pt x="0" y="3"/>
                  </a:moveTo>
                  <a:cubicBezTo>
                    <a:pt x="5" y="0"/>
                    <a:pt x="5" y="0"/>
                    <a:pt x="5" y="0"/>
                  </a:cubicBezTo>
                  <a:cubicBezTo>
                    <a:pt x="55" y="80"/>
                    <a:pt x="55" y="80"/>
                    <a:pt x="55" y="80"/>
                  </a:cubicBezTo>
                  <a:cubicBezTo>
                    <a:pt x="57" y="83"/>
                    <a:pt x="60" y="85"/>
                    <a:pt x="64" y="85"/>
                  </a:cubicBezTo>
                  <a:cubicBezTo>
                    <a:pt x="63" y="85"/>
                    <a:pt x="63" y="85"/>
                    <a:pt x="63" y="85"/>
                  </a:cubicBezTo>
                  <a:cubicBezTo>
                    <a:pt x="58" y="88"/>
                    <a:pt x="52" y="87"/>
                    <a:pt x="49" y="82"/>
                  </a:cubicBezTo>
                  <a:lnTo>
                    <a:pt x="0" y="3"/>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94" name="Freeform 93">
              <a:extLst>
                <a:ext uri="{FF2B5EF4-FFF2-40B4-BE49-F238E27FC236}">
                  <a16:creationId xmlns:a16="http://schemas.microsoft.com/office/drawing/2014/main" id="{666EA1E6-E8A5-46C0-A89D-3DCCBA544560}"/>
                </a:ext>
              </a:extLst>
            </p:cNvPr>
            <p:cNvSpPr>
              <a:spLocks noEditPoints="1"/>
            </p:cNvSpPr>
            <p:nvPr/>
          </p:nvSpPr>
          <p:spPr bwMode="auto">
            <a:xfrm>
              <a:off x="2321896" y="4436696"/>
              <a:ext cx="164263" cy="179738"/>
            </a:xfrm>
            <a:custGeom>
              <a:avLst/>
              <a:gdLst>
                <a:gd name="T0" fmla="*/ 78 w 101"/>
                <a:gd name="T1" fmla="*/ 51 h 110"/>
                <a:gd name="T2" fmla="*/ 75 w 101"/>
                <a:gd name="T3" fmla="*/ 63 h 110"/>
                <a:gd name="T4" fmla="*/ 75 w 101"/>
                <a:gd name="T5" fmla="*/ 73 h 110"/>
                <a:gd name="T6" fmla="*/ 77 w 101"/>
                <a:gd name="T7" fmla="*/ 74 h 110"/>
                <a:gd name="T8" fmla="*/ 86 w 101"/>
                <a:gd name="T9" fmla="*/ 86 h 110"/>
                <a:gd name="T10" fmla="*/ 75 w 101"/>
                <a:gd name="T11" fmla="*/ 80 h 110"/>
                <a:gd name="T12" fmla="*/ 75 w 101"/>
                <a:gd name="T13" fmla="*/ 22 h 110"/>
                <a:gd name="T14" fmla="*/ 86 w 101"/>
                <a:gd name="T15" fmla="*/ 15 h 110"/>
                <a:gd name="T16" fmla="*/ 77 w 101"/>
                <a:gd name="T17" fmla="*/ 28 h 110"/>
                <a:gd name="T18" fmla="*/ 75 w 101"/>
                <a:gd name="T19" fmla="*/ 28 h 110"/>
                <a:gd name="T20" fmla="*/ 98 w 101"/>
                <a:gd name="T21" fmla="*/ 48 h 110"/>
                <a:gd name="T22" fmla="*/ 83 w 101"/>
                <a:gd name="T23" fmla="*/ 51 h 110"/>
                <a:gd name="T24" fmla="*/ 98 w 101"/>
                <a:gd name="T25" fmla="*/ 53 h 110"/>
                <a:gd name="T26" fmla="*/ 98 w 101"/>
                <a:gd name="T27" fmla="*/ 48 h 110"/>
                <a:gd name="T28" fmla="*/ 52 w 101"/>
                <a:gd name="T29" fmla="*/ 110 h 110"/>
                <a:gd name="T30" fmla="*/ 66 w 101"/>
                <a:gd name="T31" fmla="*/ 74 h 110"/>
                <a:gd name="T32" fmla="*/ 75 w 101"/>
                <a:gd name="T33" fmla="*/ 39 h 110"/>
                <a:gd name="T34" fmla="*/ 50 w 101"/>
                <a:gd name="T35" fmla="*/ 29 h 110"/>
                <a:gd name="T36" fmla="*/ 72 w 101"/>
                <a:gd name="T37" fmla="*/ 51 h 110"/>
                <a:gd name="T38" fmla="*/ 62 w 101"/>
                <a:gd name="T39" fmla="*/ 70 h 110"/>
                <a:gd name="T40" fmla="*/ 60 w 101"/>
                <a:gd name="T41" fmla="*/ 85 h 110"/>
                <a:gd name="T42" fmla="*/ 50 w 101"/>
                <a:gd name="T43" fmla="*/ 110 h 110"/>
                <a:gd name="T44" fmla="*/ 75 w 101"/>
                <a:gd name="T45" fmla="*/ 28 h 110"/>
                <a:gd name="T46" fmla="*/ 74 w 101"/>
                <a:gd name="T47" fmla="*/ 24 h 110"/>
                <a:gd name="T48" fmla="*/ 75 w 101"/>
                <a:gd name="T49" fmla="*/ 73 h 110"/>
                <a:gd name="T50" fmla="*/ 74 w 101"/>
                <a:gd name="T51" fmla="*/ 78 h 110"/>
                <a:gd name="T52" fmla="*/ 75 w 101"/>
                <a:gd name="T53" fmla="*/ 73 h 110"/>
                <a:gd name="T54" fmla="*/ 50 w 101"/>
                <a:gd name="T55" fmla="*/ 0 h 110"/>
                <a:gd name="T56" fmla="*/ 53 w 101"/>
                <a:gd name="T57" fmla="*/ 3 h 110"/>
                <a:gd name="T58" fmla="*/ 50 w 101"/>
                <a:gd name="T59" fmla="*/ 18 h 110"/>
                <a:gd name="T60" fmla="*/ 50 w 101"/>
                <a:gd name="T61" fmla="*/ 23 h 110"/>
                <a:gd name="T62" fmla="*/ 25 w 101"/>
                <a:gd name="T63" fmla="*/ 63 h 110"/>
                <a:gd name="T64" fmla="*/ 35 w 101"/>
                <a:gd name="T65" fmla="*/ 96 h 110"/>
                <a:gd name="T66" fmla="*/ 50 w 101"/>
                <a:gd name="T67" fmla="*/ 110 h 110"/>
                <a:gd name="T68" fmla="*/ 41 w 101"/>
                <a:gd name="T69" fmla="*/ 85 h 110"/>
                <a:gd name="T70" fmla="*/ 39 w 101"/>
                <a:gd name="T71" fmla="*/ 70 h 110"/>
                <a:gd name="T72" fmla="*/ 34 w 101"/>
                <a:gd name="T73" fmla="*/ 35 h 110"/>
                <a:gd name="T74" fmla="*/ 50 w 101"/>
                <a:gd name="T75" fmla="*/ 23 h 110"/>
                <a:gd name="T76" fmla="*/ 50 w 101"/>
                <a:gd name="T77" fmla="*/ 18 h 110"/>
                <a:gd name="T78" fmla="*/ 48 w 101"/>
                <a:gd name="T79" fmla="*/ 3 h 110"/>
                <a:gd name="T80" fmla="*/ 25 w 101"/>
                <a:gd name="T81" fmla="*/ 80 h 110"/>
                <a:gd name="T82" fmla="*/ 27 w 101"/>
                <a:gd name="T83" fmla="*/ 74 h 110"/>
                <a:gd name="T84" fmla="*/ 25 w 101"/>
                <a:gd name="T85" fmla="*/ 80 h 110"/>
                <a:gd name="T86" fmla="*/ 25 w 101"/>
                <a:gd name="T87" fmla="*/ 22 h 110"/>
                <a:gd name="T88" fmla="*/ 27 w 101"/>
                <a:gd name="T89" fmla="*/ 28 h 110"/>
                <a:gd name="T90" fmla="*/ 25 w 101"/>
                <a:gd name="T91" fmla="*/ 39 h 110"/>
                <a:gd name="T92" fmla="*/ 25 w 101"/>
                <a:gd name="T93" fmla="*/ 63 h 110"/>
                <a:gd name="T94" fmla="*/ 25 w 101"/>
                <a:gd name="T95" fmla="*/ 22 h 110"/>
                <a:gd name="T96" fmla="*/ 23 w 101"/>
                <a:gd name="T97" fmla="*/ 28 h 110"/>
                <a:gd name="T98" fmla="*/ 15 w 101"/>
                <a:gd name="T99" fmla="*/ 19 h 110"/>
                <a:gd name="T100" fmla="*/ 18 w 101"/>
                <a:gd name="T101" fmla="*/ 15 h 110"/>
                <a:gd name="T102" fmla="*/ 25 w 101"/>
                <a:gd name="T103" fmla="*/ 73 h 110"/>
                <a:gd name="T104" fmla="*/ 18 w 101"/>
                <a:gd name="T105" fmla="*/ 86 h 110"/>
                <a:gd name="T106" fmla="*/ 15 w 101"/>
                <a:gd name="T107" fmla="*/ 83 h 110"/>
                <a:gd name="T108" fmla="*/ 23 w 101"/>
                <a:gd name="T109" fmla="*/ 74 h 110"/>
                <a:gd name="T110" fmla="*/ 18 w 101"/>
                <a:gd name="T111" fmla="*/ 51 h 110"/>
                <a:gd name="T112" fmla="*/ 15 w 101"/>
                <a:gd name="T113" fmla="*/ 48 h 110"/>
                <a:gd name="T114" fmla="*/ 0 w 101"/>
                <a:gd name="T115" fmla="*/ 51 h 110"/>
                <a:gd name="T116" fmla="*/ 15 w 101"/>
                <a:gd name="T117" fmla="*/ 5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10">
                  <a:moveTo>
                    <a:pt x="75" y="63"/>
                  </a:moveTo>
                  <a:cubicBezTo>
                    <a:pt x="77" y="59"/>
                    <a:pt x="78" y="55"/>
                    <a:pt x="78" y="51"/>
                  </a:cubicBezTo>
                  <a:cubicBezTo>
                    <a:pt x="78" y="47"/>
                    <a:pt x="77" y="43"/>
                    <a:pt x="75" y="39"/>
                  </a:cubicBezTo>
                  <a:cubicBezTo>
                    <a:pt x="75" y="63"/>
                    <a:pt x="75" y="63"/>
                    <a:pt x="75" y="63"/>
                  </a:cubicBezTo>
                  <a:close/>
                  <a:moveTo>
                    <a:pt x="75" y="80"/>
                  </a:moveTo>
                  <a:cubicBezTo>
                    <a:pt x="75" y="73"/>
                    <a:pt x="75" y="73"/>
                    <a:pt x="75" y="73"/>
                  </a:cubicBezTo>
                  <a:cubicBezTo>
                    <a:pt x="76" y="73"/>
                    <a:pt x="77" y="73"/>
                    <a:pt x="77" y="74"/>
                  </a:cubicBezTo>
                  <a:cubicBezTo>
                    <a:pt x="77" y="74"/>
                    <a:pt x="77" y="74"/>
                    <a:pt x="77" y="74"/>
                  </a:cubicBezTo>
                  <a:cubicBezTo>
                    <a:pt x="86" y="83"/>
                    <a:pt x="86" y="83"/>
                    <a:pt x="86" y="83"/>
                  </a:cubicBezTo>
                  <a:cubicBezTo>
                    <a:pt x="87" y="84"/>
                    <a:pt x="87" y="85"/>
                    <a:pt x="86" y="86"/>
                  </a:cubicBezTo>
                  <a:cubicBezTo>
                    <a:pt x="85" y="87"/>
                    <a:pt x="83" y="87"/>
                    <a:pt x="82" y="86"/>
                  </a:cubicBezTo>
                  <a:cubicBezTo>
                    <a:pt x="75" y="80"/>
                    <a:pt x="75" y="80"/>
                    <a:pt x="75" y="80"/>
                  </a:cubicBezTo>
                  <a:close/>
                  <a:moveTo>
                    <a:pt x="75" y="28"/>
                  </a:moveTo>
                  <a:cubicBezTo>
                    <a:pt x="75" y="22"/>
                    <a:pt x="75" y="22"/>
                    <a:pt x="75" y="22"/>
                  </a:cubicBezTo>
                  <a:cubicBezTo>
                    <a:pt x="82" y="15"/>
                    <a:pt x="82" y="15"/>
                    <a:pt x="82" y="15"/>
                  </a:cubicBezTo>
                  <a:cubicBezTo>
                    <a:pt x="83" y="14"/>
                    <a:pt x="85" y="14"/>
                    <a:pt x="86" y="15"/>
                  </a:cubicBezTo>
                  <a:cubicBezTo>
                    <a:pt x="87" y="16"/>
                    <a:pt x="87" y="18"/>
                    <a:pt x="86" y="19"/>
                  </a:cubicBezTo>
                  <a:cubicBezTo>
                    <a:pt x="77" y="28"/>
                    <a:pt x="77" y="28"/>
                    <a:pt x="77" y="28"/>
                  </a:cubicBezTo>
                  <a:cubicBezTo>
                    <a:pt x="77" y="28"/>
                    <a:pt x="77" y="28"/>
                    <a:pt x="77" y="28"/>
                  </a:cubicBezTo>
                  <a:cubicBezTo>
                    <a:pt x="77" y="28"/>
                    <a:pt x="76" y="28"/>
                    <a:pt x="75" y="28"/>
                  </a:cubicBezTo>
                  <a:close/>
                  <a:moveTo>
                    <a:pt x="98" y="48"/>
                  </a:moveTo>
                  <a:cubicBezTo>
                    <a:pt x="98" y="48"/>
                    <a:pt x="98" y="48"/>
                    <a:pt x="98" y="48"/>
                  </a:cubicBezTo>
                  <a:cubicBezTo>
                    <a:pt x="86" y="48"/>
                    <a:pt x="86" y="48"/>
                    <a:pt x="86" y="48"/>
                  </a:cubicBezTo>
                  <a:cubicBezTo>
                    <a:pt x="84" y="48"/>
                    <a:pt x="83" y="49"/>
                    <a:pt x="83" y="51"/>
                  </a:cubicBezTo>
                  <a:cubicBezTo>
                    <a:pt x="83" y="52"/>
                    <a:pt x="84" y="53"/>
                    <a:pt x="86" y="53"/>
                  </a:cubicBezTo>
                  <a:cubicBezTo>
                    <a:pt x="98" y="53"/>
                    <a:pt x="98" y="53"/>
                    <a:pt x="98" y="53"/>
                  </a:cubicBezTo>
                  <a:cubicBezTo>
                    <a:pt x="100" y="53"/>
                    <a:pt x="101" y="52"/>
                    <a:pt x="101" y="51"/>
                  </a:cubicBezTo>
                  <a:cubicBezTo>
                    <a:pt x="101" y="49"/>
                    <a:pt x="100" y="48"/>
                    <a:pt x="98" y="48"/>
                  </a:cubicBezTo>
                  <a:close/>
                  <a:moveTo>
                    <a:pt x="50" y="110"/>
                  </a:moveTo>
                  <a:cubicBezTo>
                    <a:pt x="52" y="110"/>
                    <a:pt x="52" y="110"/>
                    <a:pt x="52" y="110"/>
                  </a:cubicBezTo>
                  <a:cubicBezTo>
                    <a:pt x="60" y="110"/>
                    <a:pt x="66" y="104"/>
                    <a:pt x="66" y="96"/>
                  </a:cubicBezTo>
                  <a:cubicBezTo>
                    <a:pt x="66" y="74"/>
                    <a:pt x="66" y="74"/>
                    <a:pt x="66" y="74"/>
                  </a:cubicBezTo>
                  <a:cubicBezTo>
                    <a:pt x="70" y="71"/>
                    <a:pt x="73" y="67"/>
                    <a:pt x="75" y="63"/>
                  </a:cubicBezTo>
                  <a:cubicBezTo>
                    <a:pt x="75" y="39"/>
                    <a:pt x="75" y="39"/>
                    <a:pt x="75" y="39"/>
                  </a:cubicBezTo>
                  <a:cubicBezTo>
                    <a:pt x="71" y="29"/>
                    <a:pt x="61" y="23"/>
                    <a:pt x="50" y="23"/>
                  </a:cubicBezTo>
                  <a:cubicBezTo>
                    <a:pt x="50" y="29"/>
                    <a:pt x="50" y="29"/>
                    <a:pt x="50" y="29"/>
                  </a:cubicBezTo>
                  <a:cubicBezTo>
                    <a:pt x="56" y="29"/>
                    <a:pt x="62" y="31"/>
                    <a:pt x="66" y="35"/>
                  </a:cubicBezTo>
                  <a:cubicBezTo>
                    <a:pt x="70" y="39"/>
                    <a:pt x="72" y="45"/>
                    <a:pt x="72" y="51"/>
                  </a:cubicBezTo>
                  <a:cubicBezTo>
                    <a:pt x="72" y="59"/>
                    <a:pt x="68" y="66"/>
                    <a:pt x="62" y="70"/>
                  </a:cubicBezTo>
                  <a:cubicBezTo>
                    <a:pt x="62" y="70"/>
                    <a:pt x="62" y="70"/>
                    <a:pt x="62" y="70"/>
                  </a:cubicBezTo>
                  <a:cubicBezTo>
                    <a:pt x="61" y="70"/>
                    <a:pt x="60" y="71"/>
                    <a:pt x="60" y="72"/>
                  </a:cubicBezTo>
                  <a:cubicBezTo>
                    <a:pt x="60" y="85"/>
                    <a:pt x="60" y="85"/>
                    <a:pt x="60" y="85"/>
                  </a:cubicBezTo>
                  <a:cubicBezTo>
                    <a:pt x="50" y="85"/>
                    <a:pt x="50" y="85"/>
                    <a:pt x="50" y="85"/>
                  </a:cubicBezTo>
                  <a:cubicBezTo>
                    <a:pt x="50" y="110"/>
                    <a:pt x="50" y="110"/>
                    <a:pt x="50" y="110"/>
                  </a:cubicBezTo>
                  <a:close/>
                  <a:moveTo>
                    <a:pt x="75" y="22"/>
                  </a:moveTo>
                  <a:cubicBezTo>
                    <a:pt x="75" y="28"/>
                    <a:pt x="75" y="28"/>
                    <a:pt x="75" y="28"/>
                  </a:cubicBezTo>
                  <a:cubicBezTo>
                    <a:pt x="75" y="28"/>
                    <a:pt x="74" y="28"/>
                    <a:pt x="74" y="28"/>
                  </a:cubicBezTo>
                  <a:cubicBezTo>
                    <a:pt x="72" y="27"/>
                    <a:pt x="72" y="25"/>
                    <a:pt x="74" y="24"/>
                  </a:cubicBezTo>
                  <a:cubicBezTo>
                    <a:pt x="75" y="22"/>
                    <a:pt x="75" y="22"/>
                    <a:pt x="75" y="22"/>
                  </a:cubicBezTo>
                  <a:close/>
                  <a:moveTo>
                    <a:pt x="75" y="73"/>
                  </a:moveTo>
                  <a:cubicBezTo>
                    <a:pt x="75" y="80"/>
                    <a:pt x="75" y="80"/>
                    <a:pt x="75" y="80"/>
                  </a:cubicBezTo>
                  <a:cubicBezTo>
                    <a:pt x="74" y="78"/>
                    <a:pt x="74" y="78"/>
                    <a:pt x="74" y="78"/>
                  </a:cubicBezTo>
                  <a:cubicBezTo>
                    <a:pt x="72" y="77"/>
                    <a:pt x="72" y="75"/>
                    <a:pt x="74" y="74"/>
                  </a:cubicBezTo>
                  <a:cubicBezTo>
                    <a:pt x="74" y="73"/>
                    <a:pt x="75" y="73"/>
                    <a:pt x="75" y="73"/>
                  </a:cubicBezTo>
                  <a:close/>
                  <a:moveTo>
                    <a:pt x="50" y="18"/>
                  </a:moveTo>
                  <a:cubicBezTo>
                    <a:pt x="50" y="0"/>
                    <a:pt x="50" y="0"/>
                    <a:pt x="50" y="0"/>
                  </a:cubicBezTo>
                  <a:cubicBezTo>
                    <a:pt x="50" y="0"/>
                    <a:pt x="50" y="0"/>
                    <a:pt x="50" y="0"/>
                  </a:cubicBezTo>
                  <a:cubicBezTo>
                    <a:pt x="52" y="0"/>
                    <a:pt x="53" y="2"/>
                    <a:pt x="53" y="3"/>
                  </a:cubicBezTo>
                  <a:cubicBezTo>
                    <a:pt x="53" y="15"/>
                    <a:pt x="53" y="15"/>
                    <a:pt x="53" y="15"/>
                  </a:cubicBezTo>
                  <a:cubicBezTo>
                    <a:pt x="53" y="17"/>
                    <a:pt x="52" y="18"/>
                    <a:pt x="50" y="18"/>
                  </a:cubicBezTo>
                  <a:cubicBezTo>
                    <a:pt x="50" y="18"/>
                    <a:pt x="50" y="18"/>
                    <a:pt x="50" y="18"/>
                  </a:cubicBezTo>
                  <a:close/>
                  <a:moveTo>
                    <a:pt x="50" y="23"/>
                  </a:moveTo>
                  <a:cubicBezTo>
                    <a:pt x="39" y="23"/>
                    <a:pt x="30" y="29"/>
                    <a:pt x="25" y="39"/>
                  </a:cubicBezTo>
                  <a:cubicBezTo>
                    <a:pt x="25" y="63"/>
                    <a:pt x="25" y="63"/>
                    <a:pt x="25" y="63"/>
                  </a:cubicBezTo>
                  <a:cubicBezTo>
                    <a:pt x="27" y="68"/>
                    <a:pt x="31" y="71"/>
                    <a:pt x="35" y="74"/>
                  </a:cubicBezTo>
                  <a:cubicBezTo>
                    <a:pt x="35" y="96"/>
                    <a:pt x="35" y="96"/>
                    <a:pt x="35" y="96"/>
                  </a:cubicBezTo>
                  <a:cubicBezTo>
                    <a:pt x="35" y="104"/>
                    <a:pt x="41" y="110"/>
                    <a:pt x="49" y="110"/>
                  </a:cubicBezTo>
                  <a:cubicBezTo>
                    <a:pt x="50" y="110"/>
                    <a:pt x="50" y="110"/>
                    <a:pt x="50" y="110"/>
                  </a:cubicBezTo>
                  <a:cubicBezTo>
                    <a:pt x="50" y="85"/>
                    <a:pt x="50" y="85"/>
                    <a:pt x="50" y="85"/>
                  </a:cubicBezTo>
                  <a:cubicBezTo>
                    <a:pt x="41" y="85"/>
                    <a:pt x="41" y="85"/>
                    <a:pt x="41" y="85"/>
                  </a:cubicBezTo>
                  <a:cubicBezTo>
                    <a:pt x="41" y="72"/>
                    <a:pt x="41" y="72"/>
                    <a:pt x="41" y="72"/>
                  </a:cubicBezTo>
                  <a:cubicBezTo>
                    <a:pt x="41" y="71"/>
                    <a:pt x="40" y="71"/>
                    <a:pt x="39" y="70"/>
                  </a:cubicBezTo>
                  <a:cubicBezTo>
                    <a:pt x="33" y="66"/>
                    <a:pt x="28" y="59"/>
                    <a:pt x="28" y="51"/>
                  </a:cubicBezTo>
                  <a:cubicBezTo>
                    <a:pt x="28" y="45"/>
                    <a:pt x="30" y="39"/>
                    <a:pt x="34" y="35"/>
                  </a:cubicBezTo>
                  <a:cubicBezTo>
                    <a:pt x="39" y="31"/>
                    <a:pt x="44" y="29"/>
                    <a:pt x="50" y="29"/>
                  </a:cubicBezTo>
                  <a:cubicBezTo>
                    <a:pt x="50" y="23"/>
                    <a:pt x="50" y="23"/>
                    <a:pt x="50" y="23"/>
                  </a:cubicBezTo>
                  <a:close/>
                  <a:moveTo>
                    <a:pt x="50" y="0"/>
                  </a:moveTo>
                  <a:cubicBezTo>
                    <a:pt x="50" y="18"/>
                    <a:pt x="50" y="18"/>
                    <a:pt x="50" y="18"/>
                  </a:cubicBezTo>
                  <a:cubicBezTo>
                    <a:pt x="49" y="18"/>
                    <a:pt x="48" y="17"/>
                    <a:pt x="48" y="15"/>
                  </a:cubicBezTo>
                  <a:cubicBezTo>
                    <a:pt x="48" y="3"/>
                    <a:pt x="48" y="3"/>
                    <a:pt x="48" y="3"/>
                  </a:cubicBezTo>
                  <a:cubicBezTo>
                    <a:pt x="48" y="2"/>
                    <a:pt x="49" y="1"/>
                    <a:pt x="50" y="0"/>
                  </a:cubicBezTo>
                  <a:close/>
                  <a:moveTo>
                    <a:pt x="25" y="80"/>
                  </a:moveTo>
                  <a:cubicBezTo>
                    <a:pt x="25" y="73"/>
                    <a:pt x="25" y="73"/>
                    <a:pt x="25" y="73"/>
                  </a:cubicBezTo>
                  <a:cubicBezTo>
                    <a:pt x="26" y="73"/>
                    <a:pt x="27" y="73"/>
                    <a:pt x="27" y="74"/>
                  </a:cubicBezTo>
                  <a:cubicBezTo>
                    <a:pt x="28" y="75"/>
                    <a:pt x="28" y="77"/>
                    <a:pt x="27" y="78"/>
                  </a:cubicBezTo>
                  <a:cubicBezTo>
                    <a:pt x="25" y="80"/>
                    <a:pt x="25" y="80"/>
                    <a:pt x="25" y="80"/>
                  </a:cubicBezTo>
                  <a:close/>
                  <a:moveTo>
                    <a:pt x="25" y="28"/>
                  </a:moveTo>
                  <a:cubicBezTo>
                    <a:pt x="25" y="22"/>
                    <a:pt x="25" y="22"/>
                    <a:pt x="25" y="22"/>
                  </a:cubicBezTo>
                  <a:cubicBezTo>
                    <a:pt x="27" y="24"/>
                    <a:pt x="27" y="24"/>
                    <a:pt x="27" y="24"/>
                  </a:cubicBezTo>
                  <a:cubicBezTo>
                    <a:pt x="28" y="25"/>
                    <a:pt x="28" y="27"/>
                    <a:pt x="27" y="28"/>
                  </a:cubicBezTo>
                  <a:cubicBezTo>
                    <a:pt x="27" y="28"/>
                    <a:pt x="26" y="28"/>
                    <a:pt x="25" y="28"/>
                  </a:cubicBezTo>
                  <a:close/>
                  <a:moveTo>
                    <a:pt x="25" y="39"/>
                  </a:moveTo>
                  <a:cubicBezTo>
                    <a:pt x="23" y="42"/>
                    <a:pt x="22" y="46"/>
                    <a:pt x="22" y="51"/>
                  </a:cubicBezTo>
                  <a:cubicBezTo>
                    <a:pt x="22" y="55"/>
                    <a:pt x="23" y="59"/>
                    <a:pt x="25" y="63"/>
                  </a:cubicBezTo>
                  <a:cubicBezTo>
                    <a:pt x="25" y="39"/>
                    <a:pt x="25" y="39"/>
                    <a:pt x="25" y="39"/>
                  </a:cubicBezTo>
                  <a:close/>
                  <a:moveTo>
                    <a:pt x="25" y="22"/>
                  </a:moveTo>
                  <a:cubicBezTo>
                    <a:pt x="25" y="28"/>
                    <a:pt x="25" y="28"/>
                    <a:pt x="25" y="28"/>
                  </a:cubicBezTo>
                  <a:cubicBezTo>
                    <a:pt x="25" y="28"/>
                    <a:pt x="24" y="28"/>
                    <a:pt x="23" y="28"/>
                  </a:cubicBezTo>
                  <a:cubicBezTo>
                    <a:pt x="23" y="28"/>
                    <a:pt x="23" y="28"/>
                    <a:pt x="23" y="28"/>
                  </a:cubicBezTo>
                  <a:cubicBezTo>
                    <a:pt x="15" y="19"/>
                    <a:pt x="15" y="19"/>
                    <a:pt x="15" y="19"/>
                  </a:cubicBezTo>
                  <a:cubicBezTo>
                    <a:pt x="14" y="18"/>
                    <a:pt x="14" y="16"/>
                    <a:pt x="15" y="15"/>
                  </a:cubicBezTo>
                  <a:cubicBezTo>
                    <a:pt x="16" y="14"/>
                    <a:pt x="17" y="14"/>
                    <a:pt x="18" y="15"/>
                  </a:cubicBezTo>
                  <a:cubicBezTo>
                    <a:pt x="25" y="22"/>
                    <a:pt x="25" y="22"/>
                    <a:pt x="25" y="22"/>
                  </a:cubicBezTo>
                  <a:close/>
                  <a:moveTo>
                    <a:pt x="25" y="73"/>
                  </a:moveTo>
                  <a:cubicBezTo>
                    <a:pt x="25" y="80"/>
                    <a:pt x="25" y="80"/>
                    <a:pt x="25" y="80"/>
                  </a:cubicBezTo>
                  <a:cubicBezTo>
                    <a:pt x="18" y="86"/>
                    <a:pt x="18" y="86"/>
                    <a:pt x="18" y="86"/>
                  </a:cubicBezTo>
                  <a:cubicBezTo>
                    <a:pt x="17" y="87"/>
                    <a:pt x="16" y="87"/>
                    <a:pt x="15" y="86"/>
                  </a:cubicBezTo>
                  <a:cubicBezTo>
                    <a:pt x="14" y="85"/>
                    <a:pt x="14" y="84"/>
                    <a:pt x="15" y="83"/>
                  </a:cubicBezTo>
                  <a:cubicBezTo>
                    <a:pt x="23" y="74"/>
                    <a:pt x="23" y="74"/>
                    <a:pt x="23" y="74"/>
                  </a:cubicBezTo>
                  <a:cubicBezTo>
                    <a:pt x="23" y="74"/>
                    <a:pt x="23" y="74"/>
                    <a:pt x="23" y="74"/>
                  </a:cubicBezTo>
                  <a:cubicBezTo>
                    <a:pt x="24" y="74"/>
                    <a:pt x="25" y="73"/>
                    <a:pt x="25" y="73"/>
                  </a:cubicBezTo>
                  <a:close/>
                  <a:moveTo>
                    <a:pt x="18" y="51"/>
                  </a:moveTo>
                  <a:cubicBezTo>
                    <a:pt x="18" y="51"/>
                    <a:pt x="18" y="51"/>
                    <a:pt x="18" y="51"/>
                  </a:cubicBezTo>
                  <a:cubicBezTo>
                    <a:pt x="18" y="49"/>
                    <a:pt x="16" y="48"/>
                    <a:pt x="15" y="48"/>
                  </a:cubicBezTo>
                  <a:cubicBezTo>
                    <a:pt x="3" y="48"/>
                    <a:pt x="3" y="48"/>
                    <a:pt x="3" y="48"/>
                  </a:cubicBezTo>
                  <a:cubicBezTo>
                    <a:pt x="1" y="48"/>
                    <a:pt x="0" y="49"/>
                    <a:pt x="0" y="51"/>
                  </a:cubicBezTo>
                  <a:cubicBezTo>
                    <a:pt x="0" y="52"/>
                    <a:pt x="1" y="53"/>
                    <a:pt x="3" y="53"/>
                  </a:cubicBezTo>
                  <a:cubicBezTo>
                    <a:pt x="15" y="53"/>
                    <a:pt x="15" y="53"/>
                    <a:pt x="15" y="53"/>
                  </a:cubicBezTo>
                  <a:cubicBezTo>
                    <a:pt x="16" y="53"/>
                    <a:pt x="18" y="52"/>
                    <a:pt x="18" y="51"/>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95" name="Freeform 94">
              <a:extLst>
                <a:ext uri="{FF2B5EF4-FFF2-40B4-BE49-F238E27FC236}">
                  <a16:creationId xmlns:a16="http://schemas.microsoft.com/office/drawing/2014/main" id="{E85B0E86-10D6-4443-9141-C0556D43CD96}"/>
                </a:ext>
              </a:extLst>
            </p:cNvPr>
            <p:cNvSpPr>
              <a:spLocks/>
            </p:cNvSpPr>
            <p:nvPr/>
          </p:nvSpPr>
          <p:spPr bwMode="auto">
            <a:xfrm>
              <a:off x="2123113" y="3252332"/>
              <a:ext cx="47613" cy="45232"/>
            </a:xfrm>
            <a:custGeom>
              <a:avLst/>
              <a:gdLst>
                <a:gd name="T0" fmla="*/ 28 w 29"/>
                <a:gd name="T1" fmla="*/ 16 h 28"/>
                <a:gd name="T2" fmla="*/ 12 w 29"/>
                <a:gd name="T3" fmla="*/ 27 h 28"/>
                <a:gd name="T4" fmla="*/ 1 w 29"/>
                <a:gd name="T5" fmla="*/ 12 h 28"/>
                <a:gd name="T6" fmla="*/ 17 w 29"/>
                <a:gd name="T7" fmla="*/ 1 h 28"/>
                <a:gd name="T8" fmla="*/ 28 w 29"/>
                <a:gd name="T9" fmla="*/ 16 h 28"/>
              </a:gdLst>
              <a:ahLst/>
              <a:cxnLst>
                <a:cxn ang="0">
                  <a:pos x="T0" y="T1"/>
                </a:cxn>
                <a:cxn ang="0">
                  <a:pos x="T2" y="T3"/>
                </a:cxn>
                <a:cxn ang="0">
                  <a:pos x="T4" y="T5"/>
                </a:cxn>
                <a:cxn ang="0">
                  <a:pos x="T6" y="T7"/>
                </a:cxn>
                <a:cxn ang="0">
                  <a:pos x="T8" y="T9"/>
                </a:cxn>
              </a:cxnLst>
              <a:rect l="0" t="0" r="r" b="b"/>
              <a:pathLst>
                <a:path w="29" h="28">
                  <a:moveTo>
                    <a:pt x="28" y="16"/>
                  </a:moveTo>
                  <a:cubicBezTo>
                    <a:pt x="26" y="23"/>
                    <a:pt x="19" y="28"/>
                    <a:pt x="12" y="27"/>
                  </a:cubicBezTo>
                  <a:cubicBezTo>
                    <a:pt x="5" y="26"/>
                    <a:pt x="0" y="19"/>
                    <a:pt x="1" y="12"/>
                  </a:cubicBezTo>
                  <a:cubicBezTo>
                    <a:pt x="3" y="4"/>
                    <a:pt x="10" y="0"/>
                    <a:pt x="17" y="1"/>
                  </a:cubicBezTo>
                  <a:cubicBezTo>
                    <a:pt x="24" y="2"/>
                    <a:pt x="29" y="9"/>
                    <a:pt x="28" y="16"/>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96" name="Freeform 95">
              <a:extLst>
                <a:ext uri="{FF2B5EF4-FFF2-40B4-BE49-F238E27FC236}">
                  <a16:creationId xmlns:a16="http://schemas.microsoft.com/office/drawing/2014/main" id="{A6439BEA-FECD-437D-9791-6B0FCC3F4BE8}"/>
                </a:ext>
              </a:extLst>
            </p:cNvPr>
            <p:cNvSpPr>
              <a:spLocks/>
            </p:cNvSpPr>
            <p:nvPr/>
          </p:nvSpPr>
          <p:spPr bwMode="auto">
            <a:xfrm>
              <a:off x="2112400" y="3115446"/>
              <a:ext cx="44042" cy="147599"/>
            </a:xfrm>
            <a:custGeom>
              <a:avLst/>
              <a:gdLst>
                <a:gd name="T0" fmla="*/ 27 w 27"/>
                <a:gd name="T1" fmla="*/ 90 h 91"/>
                <a:gd name="T2" fmla="*/ 12 w 27"/>
                <a:gd name="T3" fmla="*/ 14 h 91"/>
                <a:gd name="T4" fmla="*/ 1 w 27"/>
                <a:gd name="T5" fmla="*/ 0 h 91"/>
                <a:gd name="T6" fmla="*/ 17 w 27"/>
                <a:gd name="T7" fmla="*/ 91 h 91"/>
                <a:gd name="T8" fmla="*/ 27 w 27"/>
                <a:gd name="T9" fmla="*/ 90 h 91"/>
              </a:gdLst>
              <a:ahLst/>
              <a:cxnLst>
                <a:cxn ang="0">
                  <a:pos x="T0" y="T1"/>
                </a:cxn>
                <a:cxn ang="0">
                  <a:pos x="T2" y="T3"/>
                </a:cxn>
                <a:cxn ang="0">
                  <a:pos x="T4" y="T5"/>
                </a:cxn>
                <a:cxn ang="0">
                  <a:pos x="T6" y="T7"/>
                </a:cxn>
                <a:cxn ang="0">
                  <a:pos x="T8" y="T9"/>
                </a:cxn>
              </a:cxnLst>
              <a:rect l="0" t="0" r="r" b="b"/>
              <a:pathLst>
                <a:path w="27" h="91">
                  <a:moveTo>
                    <a:pt x="27" y="90"/>
                  </a:moveTo>
                  <a:cubicBezTo>
                    <a:pt x="27" y="90"/>
                    <a:pt x="12" y="14"/>
                    <a:pt x="12" y="14"/>
                  </a:cubicBezTo>
                  <a:cubicBezTo>
                    <a:pt x="12" y="14"/>
                    <a:pt x="3" y="0"/>
                    <a:pt x="1" y="0"/>
                  </a:cubicBezTo>
                  <a:cubicBezTo>
                    <a:pt x="0" y="0"/>
                    <a:pt x="17" y="91"/>
                    <a:pt x="17" y="91"/>
                  </a:cubicBezTo>
                  <a:lnTo>
                    <a:pt x="27" y="90"/>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97" name="Freeform 96">
              <a:extLst>
                <a:ext uri="{FF2B5EF4-FFF2-40B4-BE49-F238E27FC236}">
                  <a16:creationId xmlns:a16="http://schemas.microsoft.com/office/drawing/2014/main" id="{BCEDA52F-BA29-44A5-8FAD-48F2AB105B0F}"/>
                </a:ext>
              </a:extLst>
            </p:cNvPr>
            <p:cNvSpPr>
              <a:spLocks/>
            </p:cNvSpPr>
            <p:nvPr/>
          </p:nvSpPr>
          <p:spPr bwMode="auto">
            <a:xfrm>
              <a:off x="2143349" y="3139252"/>
              <a:ext cx="95225" cy="127364"/>
            </a:xfrm>
            <a:custGeom>
              <a:avLst/>
              <a:gdLst>
                <a:gd name="T0" fmla="*/ 1 w 80"/>
                <a:gd name="T1" fmla="*/ 99 h 107"/>
                <a:gd name="T2" fmla="*/ 60 w 80"/>
                <a:gd name="T3" fmla="*/ 13 h 107"/>
                <a:gd name="T4" fmla="*/ 80 w 80"/>
                <a:gd name="T5" fmla="*/ 0 h 107"/>
                <a:gd name="T6" fmla="*/ 71 w 80"/>
                <a:gd name="T7" fmla="*/ 21 h 107"/>
                <a:gd name="T8" fmla="*/ 12 w 80"/>
                <a:gd name="T9" fmla="*/ 107 h 107"/>
                <a:gd name="T10" fmla="*/ 0 w 80"/>
                <a:gd name="T11" fmla="*/ 100 h 107"/>
                <a:gd name="T12" fmla="*/ 1 w 80"/>
                <a:gd name="T13" fmla="*/ 99 h 107"/>
              </a:gdLst>
              <a:ahLst/>
              <a:cxnLst>
                <a:cxn ang="0">
                  <a:pos x="T0" y="T1"/>
                </a:cxn>
                <a:cxn ang="0">
                  <a:pos x="T2" y="T3"/>
                </a:cxn>
                <a:cxn ang="0">
                  <a:pos x="T4" y="T5"/>
                </a:cxn>
                <a:cxn ang="0">
                  <a:pos x="T6" y="T7"/>
                </a:cxn>
                <a:cxn ang="0">
                  <a:pos x="T8" y="T9"/>
                </a:cxn>
                <a:cxn ang="0">
                  <a:pos x="T10" y="T11"/>
                </a:cxn>
                <a:cxn ang="0">
                  <a:pos x="T12" y="T13"/>
                </a:cxn>
              </a:cxnLst>
              <a:rect l="0" t="0" r="r" b="b"/>
              <a:pathLst>
                <a:path w="80" h="107">
                  <a:moveTo>
                    <a:pt x="1" y="99"/>
                  </a:moveTo>
                  <a:lnTo>
                    <a:pt x="60" y="13"/>
                  </a:lnTo>
                  <a:lnTo>
                    <a:pt x="80" y="0"/>
                  </a:lnTo>
                  <a:lnTo>
                    <a:pt x="71" y="21"/>
                  </a:lnTo>
                  <a:lnTo>
                    <a:pt x="12" y="107"/>
                  </a:lnTo>
                  <a:lnTo>
                    <a:pt x="0" y="100"/>
                  </a:lnTo>
                  <a:lnTo>
                    <a:pt x="1" y="99"/>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98" name="Freeform 97">
              <a:extLst>
                <a:ext uri="{FF2B5EF4-FFF2-40B4-BE49-F238E27FC236}">
                  <a16:creationId xmlns:a16="http://schemas.microsoft.com/office/drawing/2014/main" id="{B814FEB4-880E-4405-8B5D-CDAA0D1C18AE}"/>
                </a:ext>
              </a:extLst>
            </p:cNvPr>
            <p:cNvSpPr>
              <a:spLocks/>
            </p:cNvSpPr>
            <p:nvPr/>
          </p:nvSpPr>
          <p:spPr bwMode="auto">
            <a:xfrm>
              <a:off x="2135017" y="3286851"/>
              <a:ext cx="11903" cy="23806"/>
            </a:xfrm>
            <a:custGeom>
              <a:avLst/>
              <a:gdLst>
                <a:gd name="T0" fmla="*/ 2 w 7"/>
                <a:gd name="T1" fmla="*/ 3 h 15"/>
                <a:gd name="T2" fmla="*/ 5 w 7"/>
                <a:gd name="T3" fmla="*/ 1 h 15"/>
                <a:gd name="T4" fmla="*/ 7 w 7"/>
                <a:gd name="T5" fmla="*/ 3 h 15"/>
                <a:gd name="T6" fmla="*/ 5 w 7"/>
                <a:gd name="T7" fmla="*/ 13 h 15"/>
                <a:gd name="T8" fmla="*/ 3 w 7"/>
                <a:gd name="T9" fmla="*/ 15 h 15"/>
                <a:gd name="T10" fmla="*/ 1 w 7"/>
                <a:gd name="T11" fmla="*/ 12 h 15"/>
                <a:gd name="T12" fmla="*/ 2 w 7"/>
                <a:gd name="T13" fmla="*/ 3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2" y="3"/>
                  </a:moveTo>
                  <a:cubicBezTo>
                    <a:pt x="3" y="1"/>
                    <a:pt x="4" y="0"/>
                    <a:pt x="5" y="1"/>
                  </a:cubicBezTo>
                  <a:cubicBezTo>
                    <a:pt x="6" y="1"/>
                    <a:pt x="7" y="2"/>
                    <a:pt x="7" y="3"/>
                  </a:cubicBezTo>
                  <a:cubicBezTo>
                    <a:pt x="5" y="13"/>
                    <a:pt x="5" y="13"/>
                    <a:pt x="5" y="13"/>
                  </a:cubicBezTo>
                  <a:cubicBezTo>
                    <a:pt x="5" y="14"/>
                    <a:pt x="4" y="15"/>
                    <a:pt x="3" y="15"/>
                  </a:cubicBezTo>
                  <a:cubicBezTo>
                    <a:pt x="1" y="15"/>
                    <a:pt x="0" y="13"/>
                    <a:pt x="1" y="12"/>
                  </a:cubicBezTo>
                  <a:lnTo>
                    <a:pt x="2" y="3"/>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sp>
          <p:nvSpPr>
            <p:cNvPr id="99" name="Freeform 98">
              <a:extLst>
                <a:ext uri="{FF2B5EF4-FFF2-40B4-BE49-F238E27FC236}">
                  <a16:creationId xmlns:a16="http://schemas.microsoft.com/office/drawing/2014/main" id="{57968B81-F603-49C0-B305-B8AB1D519BF8}"/>
                </a:ext>
              </a:extLst>
            </p:cNvPr>
            <p:cNvSpPr>
              <a:spLocks noEditPoints="1"/>
            </p:cNvSpPr>
            <p:nvPr/>
          </p:nvSpPr>
          <p:spPr bwMode="auto">
            <a:xfrm>
              <a:off x="2096927" y="2081062"/>
              <a:ext cx="165454" cy="177357"/>
            </a:xfrm>
            <a:custGeom>
              <a:avLst/>
              <a:gdLst>
                <a:gd name="T0" fmla="*/ 78 w 101"/>
                <a:gd name="T1" fmla="*/ 50 h 109"/>
                <a:gd name="T2" fmla="*/ 76 w 101"/>
                <a:gd name="T3" fmla="*/ 62 h 109"/>
                <a:gd name="T4" fmla="*/ 76 w 101"/>
                <a:gd name="T5" fmla="*/ 73 h 109"/>
                <a:gd name="T6" fmla="*/ 78 w 101"/>
                <a:gd name="T7" fmla="*/ 73 h 109"/>
                <a:gd name="T8" fmla="*/ 86 w 101"/>
                <a:gd name="T9" fmla="*/ 86 h 109"/>
                <a:gd name="T10" fmla="*/ 76 w 101"/>
                <a:gd name="T11" fmla="*/ 79 h 109"/>
                <a:gd name="T12" fmla="*/ 76 w 101"/>
                <a:gd name="T13" fmla="*/ 22 h 109"/>
                <a:gd name="T14" fmla="*/ 86 w 101"/>
                <a:gd name="T15" fmla="*/ 15 h 109"/>
                <a:gd name="T16" fmla="*/ 78 w 101"/>
                <a:gd name="T17" fmla="*/ 27 h 109"/>
                <a:gd name="T18" fmla="*/ 76 w 101"/>
                <a:gd name="T19" fmla="*/ 28 h 109"/>
                <a:gd name="T20" fmla="*/ 99 w 101"/>
                <a:gd name="T21" fmla="*/ 48 h 109"/>
                <a:gd name="T22" fmla="*/ 84 w 101"/>
                <a:gd name="T23" fmla="*/ 50 h 109"/>
                <a:gd name="T24" fmla="*/ 99 w 101"/>
                <a:gd name="T25" fmla="*/ 53 h 109"/>
                <a:gd name="T26" fmla="*/ 99 w 101"/>
                <a:gd name="T27" fmla="*/ 48 h 109"/>
                <a:gd name="T28" fmla="*/ 53 w 101"/>
                <a:gd name="T29" fmla="*/ 109 h 109"/>
                <a:gd name="T30" fmla="*/ 66 w 101"/>
                <a:gd name="T31" fmla="*/ 73 h 109"/>
                <a:gd name="T32" fmla="*/ 76 w 101"/>
                <a:gd name="T33" fmla="*/ 38 h 109"/>
                <a:gd name="T34" fmla="*/ 51 w 101"/>
                <a:gd name="T35" fmla="*/ 28 h 109"/>
                <a:gd name="T36" fmla="*/ 73 w 101"/>
                <a:gd name="T37" fmla="*/ 50 h 109"/>
                <a:gd name="T38" fmla="*/ 62 w 101"/>
                <a:gd name="T39" fmla="*/ 69 h 109"/>
                <a:gd name="T40" fmla="*/ 61 w 101"/>
                <a:gd name="T41" fmla="*/ 84 h 109"/>
                <a:gd name="T42" fmla="*/ 51 w 101"/>
                <a:gd name="T43" fmla="*/ 109 h 109"/>
                <a:gd name="T44" fmla="*/ 76 w 101"/>
                <a:gd name="T45" fmla="*/ 28 h 109"/>
                <a:gd name="T46" fmla="*/ 74 w 101"/>
                <a:gd name="T47" fmla="*/ 23 h 109"/>
                <a:gd name="T48" fmla="*/ 76 w 101"/>
                <a:gd name="T49" fmla="*/ 73 h 109"/>
                <a:gd name="T50" fmla="*/ 74 w 101"/>
                <a:gd name="T51" fmla="*/ 77 h 109"/>
                <a:gd name="T52" fmla="*/ 76 w 101"/>
                <a:gd name="T53" fmla="*/ 73 h 109"/>
                <a:gd name="T54" fmla="*/ 51 w 101"/>
                <a:gd name="T55" fmla="*/ 0 h 109"/>
                <a:gd name="T56" fmla="*/ 53 w 101"/>
                <a:gd name="T57" fmla="*/ 2 h 109"/>
                <a:gd name="T58" fmla="*/ 51 w 101"/>
                <a:gd name="T59" fmla="*/ 17 h 109"/>
                <a:gd name="T60" fmla="*/ 51 w 101"/>
                <a:gd name="T61" fmla="*/ 22 h 109"/>
                <a:gd name="T62" fmla="*/ 26 w 101"/>
                <a:gd name="T63" fmla="*/ 62 h 109"/>
                <a:gd name="T64" fmla="*/ 35 w 101"/>
                <a:gd name="T65" fmla="*/ 95 h 109"/>
                <a:gd name="T66" fmla="*/ 51 w 101"/>
                <a:gd name="T67" fmla="*/ 109 h 109"/>
                <a:gd name="T68" fmla="*/ 41 w 101"/>
                <a:gd name="T69" fmla="*/ 84 h 109"/>
                <a:gd name="T70" fmla="*/ 40 w 101"/>
                <a:gd name="T71" fmla="*/ 69 h 109"/>
                <a:gd name="T72" fmla="*/ 35 w 101"/>
                <a:gd name="T73" fmla="*/ 35 h 109"/>
                <a:gd name="T74" fmla="*/ 51 w 101"/>
                <a:gd name="T75" fmla="*/ 22 h 109"/>
                <a:gd name="T76" fmla="*/ 51 w 101"/>
                <a:gd name="T77" fmla="*/ 17 h 109"/>
                <a:gd name="T78" fmla="*/ 48 w 101"/>
                <a:gd name="T79" fmla="*/ 2 h 109"/>
                <a:gd name="T80" fmla="*/ 26 w 101"/>
                <a:gd name="T81" fmla="*/ 79 h 109"/>
                <a:gd name="T82" fmla="*/ 28 w 101"/>
                <a:gd name="T83" fmla="*/ 73 h 109"/>
                <a:gd name="T84" fmla="*/ 26 w 101"/>
                <a:gd name="T85" fmla="*/ 79 h 109"/>
                <a:gd name="T86" fmla="*/ 26 w 101"/>
                <a:gd name="T87" fmla="*/ 21 h 109"/>
                <a:gd name="T88" fmla="*/ 28 w 101"/>
                <a:gd name="T89" fmla="*/ 27 h 109"/>
                <a:gd name="T90" fmla="*/ 26 w 101"/>
                <a:gd name="T91" fmla="*/ 38 h 109"/>
                <a:gd name="T92" fmla="*/ 26 w 101"/>
                <a:gd name="T93" fmla="*/ 62 h 109"/>
                <a:gd name="T94" fmla="*/ 26 w 101"/>
                <a:gd name="T95" fmla="*/ 21 h 109"/>
                <a:gd name="T96" fmla="*/ 24 w 101"/>
                <a:gd name="T97" fmla="*/ 27 h 109"/>
                <a:gd name="T98" fmla="*/ 15 w 101"/>
                <a:gd name="T99" fmla="*/ 18 h 109"/>
                <a:gd name="T100" fmla="*/ 19 w 101"/>
                <a:gd name="T101" fmla="*/ 15 h 109"/>
                <a:gd name="T102" fmla="*/ 26 w 101"/>
                <a:gd name="T103" fmla="*/ 73 h 109"/>
                <a:gd name="T104" fmla="*/ 19 w 101"/>
                <a:gd name="T105" fmla="*/ 86 h 109"/>
                <a:gd name="T106" fmla="*/ 15 w 101"/>
                <a:gd name="T107" fmla="*/ 82 h 109"/>
                <a:gd name="T108" fmla="*/ 24 w 101"/>
                <a:gd name="T109" fmla="*/ 73 h 109"/>
                <a:gd name="T110" fmla="*/ 18 w 101"/>
                <a:gd name="T111" fmla="*/ 50 h 109"/>
                <a:gd name="T112" fmla="*/ 15 w 101"/>
                <a:gd name="T113" fmla="*/ 48 h 109"/>
                <a:gd name="T114" fmla="*/ 0 w 101"/>
                <a:gd name="T115" fmla="*/ 50 h 109"/>
                <a:gd name="T116" fmla="*/ 15 w 101"/>
                <a:gd name="T117" fmla="*/ 5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09">
                  <a:moveTo>
                    <a:pt x="76" y="62"/>
                  </a:moveTo>
                  <a:cubicBezTo>
                    <a:pt x="78" y="58"/>
                    <a:pt x="78" y="54"/>
                    <a:pt x="78" y="50"/>
                  </a:cubicBezTo>
                  <a:cubicBezTo>
                    <a:pt x="78" y="46"/>
                    <a:pt x="78" y="42"/>
                    <a:pt x="76" y="38"/>
                  </a:cubicBezTo>
                  <a:cubicBezTo>
                    <a:pt x="76" y="62"/>
                    <a:pt x="76" y="62"/>
                    <a:pt x="76" y="62"/>
                  </a:cubicBezTo>
                  <a:close/>
                  <a:moveTo>
                    <a:pt x="76" y="79"/>
                  </a:moveTo>
                  <a:cubicBezTo>
                    <a:pt x="76" y="73"/>
                    <a:pt x="76" y="73"/>
                    <a:pt x="76" y="73"/>
                  </a:cubicBezTo>
                  <a:cubicBezTo>
                    <a:pt x="77" y="73"/>
                    <a:pt x="77" y="73"/>
                    <a:pt x="78" y="73"/>
                  </a:cubicBezTo>
                  <a:cubicBezTo>
                    <a:pt x="78" y="73"/>
                    <a:pt x="78" y="73"/>
                    <a:pt x="78" y="73"/>
                  </a:cubicBezTo>
                  <a:cubicBezTo>
                    <a:pt x="86" y="82"/>
                    <a:pt x="86" y="82"/>
                    <a:pt x="86" y="82"/>
                  </a:cubicBezTo>
                  <a:cubicBezTo>
                    <a:pt x="87" y="83"/>
                    <a:pt x="87" y="85"/>
                    <a:pt x="86" y="86"/>
                  </a:cubicBezTo>
                  <a:cubicBezTo>
                    <a:pt x="85" y="87"/>
                    <a:pt x="84" y="87"/>
                    <a:pt x="83" y="86"/>
                  </a:cubicBezTo>
                  <a:cubicBezTo>
                    <a:pt x="76" y="79"/>
                    <a:pt x="76" y="79"/>
                    <a:pt x="76" y="79"/>
                  </a:cubicBezTo>
                  <a:close/>
                  <a:moveTo>
                    <a:pt x="76" y="28"/>
                  </a:moveTo>
                  <a:cubicBezTo>
                    <a:pt x="76" y="22"/>
                    <a:pt x="76" y="22"/>
                    <a:pt x="76" y="22"/>
                  </a:cubicBezTo>
                  <a:cubicBezTo>
                    <a:pt x="83" y="15"/>
                    <a:pt x="83" y="15"/>
                    <a:pt x="83" y="15"/>
                  </a:cubicBezTo>
                  <a:cubicBezTo>
                    <a:pt x="84" y="14"/>
                    <a:pt x="85" y="14"/>
                    <a:pt x="86" y="15"/>
                  </a:cubicBezTo>
                  <a:cubicBezTo>
                    <a:pt x="87" y="16"/>
                    <a:pt x="87" y="17"/>
                    <a:pt x="86" y="18"/>
                  </a:cubicBezTo>
                  <a:cubicBezTo>
                    <a:pt x="78" y="27"/>
                    <a:pt x="78" y="27"/>
                    <a:pt x="78" y="27"/>
                  </a:cubicBezTo>
                  <a:cubicBezTo>
                    <a:pt x="78" y="27"/>
                    <a:pt x="78" y="27"/>
                    <a:pt x="78" y="27"/>
                  </a:cubicBezTo>
                  <a:cubicBezTo>
                    <a:pt x="77" y="28"/>
                    <a:pt x="77" y="28"/>
                    <a:pt x="76" y="28"/>
                  </a:cubicBezTo>
                  <a:close/>
                  <a:moveTo>
                    <a:pt x="99" y="48"/>
                  </a:moveTo>
                  <a:cubicBezTo>
                    <a:pt x="99" y="48"/>
                    <a:pt x="99" y="48"/>
                    <a:pt x="99" y="48"/>
                  </a:cubicBezTo>
                  <a:cubicBezTo>
                    <a:pt x="86" y="48"/>
                    <a:pt x="86" y="48"/>
                    <a:pt x="86" y="48"/>
                  </a:cubicBezTo>
                  <a:cubicBezTo>
                    <a:pt x="85" y="48"/>
                    <a:pt x="84" y="49"/>
                    <a:pt x="84" y="50"/>
                  </a:cubicBezTo>
                  <a:cubicBezTo>
                    <a:pt x="84" y="52"/>
                    <a:pt x="85" y="53"/>
                    <a:pt x="86" y="53"/>
                  </a:cubicBezTo>
                  <a:cubicBezTo>
                    <a:pt x="99" y="53"/>
                    <a:pt x="99" y="53"/>
                    <a:pt x="99" y="53"/>
                  </a:cubicBezTo>
                  <a:cubicBezTo>
                    <a:pt x="100" y="53"/>
                    <a:pt x="101" y="52"/>
                    <a:pt x="101" y="50"/>
                  </a:cubicBezTo>
                  <a:cubicBezTo>
                    <a:pt x="101" y="49"/>
                    <a:pt x="100" y="48"/>
                    <a:pt x="99" y="48"/>
                  </a:cubicBezTo>
                  <a:close/>
                  <a:moveTo>
                    <a:pt x="51" y="109"/>
                  </a:moveTo>
                  <a:cubicBezTo>
                    <a:pt x="53" y="109"/>
                    <a:pt x="53" y="109"/>
                    <a:pt x="53" y="109"/>
                  </a:cubicBezTo>
                  <a:cubicBezTo>
                    <a:pt x="60" y="109"/>
                    <a:pt x="66" y="103"/>
                    <a:pt x="66" y="95"/>
                  </a:cubicBezTo>
                  <a:cubicBezTo>
                    <a:pt x="66" y="73"/>
                    <a:pt x="66" y="73"/>
                    <a:pt x="66" y="73"/>
                  </a:cubicBezTo>
                  <a:cubicBezTo>
                    <a:pt x="70" y="70"/>
                    <a:pt x="74" y="67"/>
                    <a:pt x="76" y="62"/>
                  </a:cubicBezTo>
                  <a:cubicBezTo>
                    <a:pt x="76" y="38"/>
                    <a:pt x="76" y="38"/>
                    <a:pt x="76" y="38"/>
                  </a:cubicBezTo>
                  <a:cubicBezTo>
                    <a:pt x="71" y="29"/>
                    <a:pt x="62" y="22"/>
                    <a:pt x="51" y="22"/>
                  </a:cubicBezTo>
                  <a:cubicBezTo>
                    <a:pt x="51" y="28"/>
                    <a:pt x="51" y="28"/>
                    <a:pt x="51" y="28"/>
                  </a:cubicBezTo>
                  <a:cubicBezTo>
                    <a:pt x="57" y="28"/>
                    <a:pt x="62" y="31"/>
                    <a:pt x="66" y="35"/>
                  </a:cubicBezTo>
                  <a:cubicBezTo>
                    <a:pt x="70" y="39"/>
                    <a:pt x="73" y="44"/>
                    <a:pt x="73" y="50"/>
                  </a:cubicBezTo>
                  <a:cubicBezTo>
                    <a:pt x="73" y="58"/>
                    <a:pt x="68" y="65"/>
                    <a:pt x="62" y="69"/>
                  </a:cubicBezTo>
                  <a:cubicBezTo>
                    <a:pt x="62" y="69"/>
                    <a:pt x="62" y="69"/>
                    <a:pt x="62" y="69"/>
                  </a:cubicBezTo>
                  <a:cubicBezTo>
                    <a:pt x="61" y="70"/>
                    <a:pt x="61" y="71"/>
                    <a:pt x="61" y="72"/>
                  </a:cubicBezTo>
                  <a:cubicBezTo>
                    <a:pt x="61" y="84"/>
                    <a:pt x="61" y="84"/>
                    <a:pt x="61" y="84"/>
                  </a:cubicBezTo>
                  <a:cubicBezTo>
                    <a:pt x="51" y="84"/>
                    <a:pt x="51" y="84"/>
                    <a:pt x="51" y="84"/>
                  </a:cubicBezTo>
                  <a:cubicBezTo>
                    <a:pt x="51" y="109"/>
                    <a:pt x="51" y="109"/>
                    <a:pt x="51" y="109"/>
                  </a:cubicBezTo>
                  <a:close/>
                  <a:moveTo>
                    <a:pt x="76" y="22"/>
                  </a:moveTo>
                  <a:cubicBezTo>
                    <a:pt x="76" y="28"/>
                    <a:pt x="76" y="28"/>
                    <a:pt x="76" y="28"/>
                  </a:cubicBezTo>
                  <a:cubicBezTo>
                    <a:pt x="75" y="28"/>
                    <a:pt x="75" y="28"/>
                    <a:pt x="74" y="27"/>
                  </a:cubicBezTo>
                  <a:cubicBezTo>
                    <a:pt x="73" y="26"/>
                    <a:pt x="73" y="24"/>
                    <a:pt x="74" y="23"/>
                  </a:cubicBezTo>
                  <a:cubicBezTo>
                    <a:pt x="76" y="22"/>
                    <a:pt x="76" y="22"/>
                    <a:pt x="76" y="22"/>
                  </a:cubicBezTo>
                  <a:close/>
                  <a:moveTo>
                    <a:pt x="76" y="73"/>
                  </a:moveTo>
                  <a:cubicBezTo>
                    <a:pt x="76" y="79"/>
                    <a:pt x="76" y="79"/>
                    <a:pt x="76" y="79"/>
                  </a:cubicBezTo>
                  <a:cubicBezTo>
                    <a:pt x="74" y="77"/>
                    <a:pt x="74" y="77"/>
                    <a:pt x="74" y="77"/>
                  </a:cubicBezTo>
                  <a:cubicBezTo>
                    <a:pt x="73" y="76"/>
                    <a:pt x="73" y="74"/>
                    <a:pt x="74" y="73"/>
                  </a:cubicBezTo>
                  <a:cubicBezTo>
                    <a:pt x="75" y="73"/>
                    <a:pt x="75" y="73"/>
                    <a:pt x="76" y="73"/>
                  </a:cubicBezTo>
                  <a:close/>
                  <a:moveTo>
                    <a:pt x="51" y="17"/>
                  </a:moveTo>
                  <a:cubicBezTo>
                    <a:pt x="51" y="0"/>
                    <a:pt x="51" y="0"/>
                    <a:pt x="51" y="0"/>
                  </a:cubicBezTo>
                  <a:cubicBezTo>
                    <a:pt x="51" y="0"/>
                    <a:pt x="51" y="0"/>
                    <a:pt x="51" y="0"/>
                  </a:cubicBezTo>
                  <a:cubicBezTo>
                    <a:pt x="52" y="0"/>
                    <a:pt x="53" y="1"/>
                    <a:pt x="53" y="2"/>
                  </a:cubicBezTo>
                  <a:cubicBezTo>
                    <a:pt x="53" y="15"/>
                    <a:pt x="53" y="15"/>
                    <a:pt x="53" y="15"/>
                  </a:cubicBezTo>
                  <a:cubicBezTo>
                    <a:pt x="53" y="16"/>
                    <a:pt x="52" y="17"/>
                    <a:pt x="51" y="17"/>
                  </a:cubicBezTo>
                  <a:cubicBezTo>
                    <a:pt x="51" y="17"/>
                    <a:pt x="51" y="17"/>
                    <a:pt x="51" y="17"/>
                  </a:cubicBezTo>
                  <a:close/>
                  <a:moveTo>
                    <a:pt x="51" y="22"/>
                  </a:moveTo>
                  <a:cubicBezTo>
                    <a:pt x="40" y="22"/>
                    <a:pt x="30" y="29"/>
                    <a:pt x="26" y="38"/>
                  </a:cubicBezTo>
                  <a:cubicBezTo>
                    <a:pt x="26" y="62"/>
                    <a:pt x="26" y="62"/>
                    <a:pt x="26" y="62"/>
                  </a:cubicBezTo>
                  <a:cubicBezTo>
                    <a:pt x="28" y="67"/>
                    <a:pt x="31" y="71"/>
                    <a:pt x="35" y="74"/>
                  </a:cubicBezTo>
                  <a:cubicBezTo>
                    <a:pt x="35" y="95"/>
                    <a:pt x="35" y="95"/>
                    <a:pt x="35" y="95"/>
                  </a:cubicBezTo>
                  <a:cubicBezTo>
                    <a:pt x="35" y="103"/>
                    <a:pt x="42" y="109"/>
                    <a:pt x="49" y="109"/>
                  </a:cubicBezTo>
                  <a:cubicBezTo>
                    <a:pt x="51" y="109"/>
                    <a:pt x="51" y="109"/>
                    <a:pt x="51" y="109"/>
                  </a:cubicBezTo>
                  <a:cubicBezTo>
                    <a:pt x="51" y="84"/>
                    <a:pt x="51" y="84"/>
                    <a:pt x="51" y="84"/>
                  </a:cubicBezTo>
                  <a:cubicBezTo>
                    <a:pt x="41" y="84"/>
                    <a:pt x="41" y="84"/>
                    <a:pt x="41" y="84"/>
                  </a:cubicBezTo>
                  <a:cubicBezTo>
                    <a:pt x="41" y="72"/>
                    <a:pt x="41" y="72"/>
                    <a:pt x="41" y="72"/>
                  </a:cubicBezTo>
                  <a:cubicBezTo>
                    <a:pt x="41" y="71"/>
                    <a:pt x="41" y="70"/>
                    <a:pt x="40" y="69"/>
                  </a:cubicBezTo>
                  <a:cubicBezTo>
                    <a:pt x="33" y="66"/>
                    <a:pt x="28" y="58"/>
                    <a:pt x="28" y="50"/>
                  </a:cubicBezTo>
                  <a:cubicBezTo>
                    <a:pt x="28" y="44"/>
                    <a:pt x="31" y="39"/>
                    <a:pt x="35" y="35"/>
                  </a:cubicBezTo>
                  <a:cubicBezTo>
                    <a:pt x="39" y="31"/>
                    <a:pt x="44" y="28"/>
                    <a:pt x="51" y="28"/>
                  </a:cubicBezTo>
                  <a:cubicBezTo>
                    <a:pt x="51" y="22"/>
                    <a:pt x="51" y="22"/>
                    <a:pt x="51" y="22"/>
                  </a:cubicBezTo>
                  <a:close/>
                  <a:moveTo>
                    <a:pt x="51" y="0"/>
                  </a:moveTo>
                  <a:cubicBezTo>
                    <a:pt x="51" y="17"/>
                    <a:pt x="51" y="17"/>
                    <a:pt x="51" y="17"/>
                  </a:cubicBezTo>
                  <a:cubicBezTo>
                    <a:pt x="49" y="17"/>
                    <a:pt x="48" y="16"/>
                    <a:pt x="48" y="15"/>
                  </a:cubicBezTo>
                  <a:cubicBezTo>
                    <a:pt x="48" y="2"/>
                    <a:pt x="48" y="2"/>
                    <a:pt x="48" y="2"/>
                  </a:cubicBezTo>
                  <a:cubicBezTo>
                    <a:pt x="48" y="1"/>
                    <a:pt x="49" y="0"/>
                    <a:pt x="51" y="0"/>
                  </a:cubicBezTo>
                  <a:close/>
                  <a:moveTo>
                    <a:pt x="26" y="79"/>
                  </a:moveTo>
                  <a:cubicBezTo>
                    <a:pt x="26" y="73"/>
                    <a:pt x="26" y="73"/>
                    <a:pt x="26" y="73"/>
                  </a:cubicBezTo>
                  <a:cubicBezTo>
                    <a:pt x="26" y="73"/>
                    <a:pt x="27" y="73"/>
                    <a:pt x="28" y="73"/>
                  </a:cubicBezTo>
                  <a:cubicBezTo>
                    <a:pt x="29" y="74"/>
                    <a:pt x="29" y="76"/>
                    <a:pt x="28" y="77"/>
                  </a:cubicBezTo>
                  <a:cubicBezTo>
                    <a:pt x="26" y="79"/>
                    <a:pt x="26" y="79"/>
                    <a:pt x="26" y="79"/>
                  </a:cubicBezTo>
                  <a:close/>
                  <a:moveTo>
                    <a:pt x="26" y="28"/>
                  </a:moveTo>
                  <a:cubicBezTo>
                    <a:pt x="26" y="21"/>
                    <a:pt x="26" y="21"/>
                    <a:pt x="26" y="21"/>
                  </a:cubicBezTo>
                  <a:cubicBezTo>
                    <a:pt x="28" y="23"/>
                    <a:pt x="28" y="23"/>
                    <a:pt x="28" y="23"/>
                  </a:cubicBezTo>
                  <a:cubicBezTo>
                    <a:pt x="29" y="24"/>
                    <a:pt x="29" y="26"/>
                    <a:pt x="28" y="27"/>
                  </a:cubicBezTo>
                  <a:cubicBezTo>
                    <a:pt x="27" y="28"/>
                    <a:pt x="26" y="28"/>
                    <a:pt x="26" y="28"/>
                  </a:cubicBezTo>
                  <a:close/>
                  <a:moveTo>
                    <a:pt x="26" y="38"/>
                  </a:moveTo>
                  <a:cubicBezTo>
                    <a:pt x="24" y="42"/>
                    <a:pt x="23" y="46"/>
                    <a:pt x="23" y="50"/>
                  </a:cubicBezTo>
                  <a:cubicBezTo>
                    <a:pt x="23" y="55"/>
                    <a:pt x="24" y="59"/>
                    <a:pt x="26" y="62"/>
                  </a:cubicBezTo>
                  <a:cubicBezTo>
                    <a:pt x="26" y="38"/>
                    <a:pt x="26" y="38"/>
                    <a:pt x="26" y="38"/>
                  </a:cubicBezTo>
                  <a:close/>
                  <a:moveTo>
                    <a:pt x="26" y="21"/>
                  </a:moveTo>
                  <a:cubicBezTo>
                    <a:pt x="26" y="28"/>
                    <a:pt x="26" y="28"/>
                    <a:pt x="26" y="28"/>
                  </a:cubicBezTo>
                  <a:cubicBezTo>
                    <a:pt x="25" y="28"/>
                    <a:pt x="24" y="27"/>
                    <a:pt x="24" y="27"/>
                  </a:cubicBezTo>
                  <a:cubicBezTo>
                    <a:pt x="24" y="27"/>
                    <a:pt x="24" y="27"/>
                    <a:pt x="24" y="27"/>
                  </a:cubicBezTo>
                  <a:cubicBezTo>
                    <a:pt x="15" y="18"/>
                    <a:pt x="15" y="18"/>
                    <a:pt x="15" y="18"/>
                  </a:cubicBezTo>
                  <a:cubicBezTo>
                    <a:pt x="14" y="17"/>
                    <a:pt x="14" y="16"/>
                    <a:pt x="15" y="15"/>
                  </a:cubicBezTo>
                  <a:cubicBezTo>
                    <a:pt x="16" y="14"/>
                    <a:pt x="18" y="14"/>
                    <a:pt x="19" y="15"/>
                  </a:cubicBezTo>
                  <a:cubicBezTo>
                    <a:pt x="26" y="21"/>
                    <a:pt x="26" y="21"/>
                    <a:pt x="26" y="21"/>
                  </a:cubicBezTo>
                  <a:close/>
                  <a:moveTo>
                    <a:pt x="26" y="73"/>
                  </a:moveTo>
                  <a:cubicBezTo>
                    <a:pt x="26" y="79"/>
                    <a:pt x="26" y="79"/>
                    <a:pt x="26" y="79"/>
                  </a:cubicBezTo>
                  <a:cubicBezTo>
                    <a:pt x="19" y="86"/>
                    <a:pt x="19" y="86"/>
                    <a:pt x="19" y="86"/>
                  </a:cubicBezTo>
                  <a:cubicBezTo>
                    <a:pt x="18" y="87"/>
                    <a:pt x="16" y="87"/>
                    <a:pt x="15" y="86"/>
                  </a:cubicBezTo>
                  <a:cubicBezTo>
                    <a:pt x="14" y="85"/>
                    <a:pt x="14" y="83"/>
                    <a:pt x="15" y="82"/>
                  </a:cubicBezTo>
                  <a:cubicBezTo>
                    <a:pt x="24" y="73"/>
                    <a:pt x="24" y="73"/>
                    <a:pt x="24" y="73"/>
                  </a:cubicBezTo>
                  <a:cubicBezTo>
                    <a:pt x="24" y="73"/>
                    <a:pt x="24" y="73"/>
                    <a:pt x="24" y="73"/>
                  </a:cubicBezTo>
                  <a:cubicBezTo>
                    <a:pt x="24" y="73"/>
                    <a:pt x="25" y="73"/>
                    <a:pt x="26" y="73"/>
                  </a:cubicBezTo>
                  <a:close/>
                  <a:moveTo>
                    <a:pt x="18" y="50"/>
                  </a:moveTo>
                  <a:cubicBezTo>
                    <a:pt x="18" y="50"/>
                    <a:pt x="18" y="50"/>
                    <a:pt x="18" y="50"/>
                  </a:cubicBezTo>
                  <a:cubicBezTo>
                    <a:pt x="18" y="49"/>
                    <a:pt x="17" y="48"/>
                    <a:pt x="15" y="48"/>
                  </a:cubicBezTo>
                  <a:cubicBezTo>
                    <a:pt x="3" y="48"/>
                    <a:pt x="3" y="48"/>
                    <a:pt x="3" y="48"/>
                  </a:cubicBezTo>
                  <a:cubicBezTo>
                    <a:pt x="2" y="48"/>
                    <a:pt x="0" y="49"/>
                    <a:pt x="0" y="50"/>
                  </a:cubicBezTo>
                  <a:cubicBezTo>
                    <a:pt x="0" y="52"/>
                    <a:pt x="2" y="53"/>
                    <a:pt x="3" y="53"/>
                  </a:cubicBezTo>
                  <a:cubicBezTo>
                    <a:pt x="15" y="53"/>
                    <a:pt x="15" y="53"/>
                    <a:pt x="15" y="53"/>
                  </a:cubicBezTo>
                  <a:cubicBezTo>
                    <a:pt x="17" y="53"/>
                    <a:pt x="18" y="52"/>
                    <a:pt x="18" y="50"/>
                  </a:cubicBez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p>
              <a:endParaRPr lang="id-ID" sz="1012">
                <a:latin typeface="Microsoft YaHei" panose="020B0503020204020204" pitchFamily="34" charset="-122"/>
                <a:ea typeface="Microsoft YaHei" panose="020B0503020204020204" pitchFamily="34" charset="-122"/>
                <a:cs typeface="+mn-ea"/>
                <a:sym typeface="+mn-lt"/>
              </a:endParaRPr>
            </a:p>
          </p:txBody>
        </p:sp>
      </p:grpSp>
      <p:grpSp>
        <p:nvGrpSpPr>
          <p:cNvPr id="116" name="组合 115">
            <a:extLst>
              <a:ext uri="{FF2B5EF4-FFF2-40B4-BE49-F238E27FC236}">
                <a16:creationId xmlns:a16="http://schemas.microsoft.com/office/drawing/2014/main" id="{E08B8DC4-A1E1-4FB2-9E49-6E541D636ACB}"/>
              </a:ext>
            </a:extLst>
          </p:cNvPr>
          <p:cNvGrpSpPr/>
          <p:nvPr/>
        </p:nvGrpSpPr>
        <p:grpSpPr>
          <a:xfrm>
            <a:off x="138322" y="927989"/>
            <a:ext cx="4795186" cy="612215"/>
            <a:chOff x="478003" y="837506"/>
            <a:chExt cx="5545195" cy="612215"/>
          </a:xfrm>
        </p:grpSpPr>
        <p:sp>
          <p:nvSpPr>
            <p:cNvPr id="117" name="等腰三角形 133">
              <a:extLst>
                <a:ext uri="{FF2B5EF4-FFF2-40B4-BE49-F238E27FC236}">
                  <a16:creationId xmlns:a16="http://schemas.microsoft.com/office/drawing/2014/main" id="{BF3344C8-7295-43D5-9122-865C40F1EF34}"/>
                </a:ext>
              </a:extLst>
            </p:cNvPr>
            <p:cNvSpPr/>
            <p:nvPr/>
          </p:nvSpPr>
          <p:spPr>
            <a:xfrm rot="5400000">
              <a:off x="463619" y="1093590"/>
              <a:ext cx="208097" cy="179330"/>
            </a:xfrm>
            <a:prstGeom prst="triangle">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4E79"/>
                </a:solidFill>
                <a:latin typeface="Microsoft YaHei" panose="020B0503020204020204" pitchFamily="34" charset="-122"/>
                <a:ea typeface="Microsoft YaHei" panose="020B0503020204020204" pitchFamily="34" charset="-122"/>
              </a:endParaRPr>
            </a:p>
          </p:txBody>
        </p:sp>
        <p:sp>
          <p:nvSpPr>
            <p:cNvPr id="118" name="矩形 117">
              <a:extLst>
                <a:ext uri="{FF2B5EF4-FFF2-40B4-BE49-F238E27FC236}">
                  <a16:creationId xmlns:a16="http://schemas.microsoft.com/office/drawing/2014/main" id="{5B60DE74-6EE6-4127-8D53-A5072363280E}"/>
                </a:ext>
              </a:extLst>
            </p:cNvPr>
            <p:cNvSpPr/>
            <p:nvPr/>
          </p:nvSpPr>
          <p:spPr>
            <a:xfrm>
              <a:off x="657333" y="837506"/>
              <a:ext cx="5365865" cy="612215"/>
            </a:xfrm>
            <a:prstGeom prst="rect">
              <a:avLst/>
            </a:prstGeom>
            <a:noFill/>
            <a:ln>
              <a:noFill/>
            </a:ln>
          </p:spPr>
          <p:txBody>
            <a:bodyPr wrap="square" lIns="121917" tIns="60958" rIns="121917" bIns="60958">
              <a:spAutoFit/>
            </a:bodyPr>
            <a:lstStyle/>
            <a:p>
              <a:pPr>
                <a:lnSpc>
                  <a:spcPct val="125000"/>
                </a:lnSpc>
              </a:pPr>
              <a:r>
                <a:rPr lang="zh-CN" altLang="en-US" sz="2800" b="1" dirty="0">
                  <a:solidFill>
                    <a:srgbClr val="1F4E79"/>
                  </a:solidFill>
                  <a:latin typeface="Microsoft YaHei" panose="020B0503020204020204" pitchFamily="34" charset="-122"/>
                  <a:ea typeface="Microsoft YaHei" panose="020B0503020204020204" pitchFamily="34" charset="-122"/>
                  <a:cs typeface="Times New Roman" panose="02020603050405020304" pitchFamily="18" charset="0"/>
                </a:rPr>
                <a:t>创新点总结</a:t>
              </a:r>
            </a:p>
          </p:txBody>
        </p:sp>
      </p:grpSp>
      <p:sp>
        <p:nvSpPr>
          <p:cNvPr id="119" name="任意多边形 23">
            <a:extLst>
              <a:ext uri="{FF2B5EF4-FFF2-40B4-BE49-F238E27FC236}">
                <a16:creationId xmlns:a16="http://schemas.microsoft.com/office/drawing/2014/main" id="{A698DC82-921E-4562-9073-DE04ED311581}"/>
              </a:ext>
            </a:extLst>
          </p:cNvPr>
          <p:cNvSpPr/>
          <p:nvPr/>
        </p:nvSpPr>
        <p:spPr>
          <a:xfrm>
            <a:off x="3193750" y="1770633"/>
            <a:ext cx="990208" cy="378094"/>
          </a:xfrm>
          <a:custGeom>
            <a:avLst/>
            <a:gdLst>
              <a:gd name="connsiteX0" fmla="*/ 0 w 1495425"/>
              <a:gd name="connsiteY0" fmla="*/ 581025 h 581025"/>
              <a:gd name="connsiteX1" fmla="*/ 333375 w 1495425"/>
              <a:gd name="connsiteY1" fmla="*/ 0 h 581025"/>
              <a:gd name="connsiteX2" fmla="*/ 1238250 w 1495425"/>
              <a:gd name="connsiteY2" fmla="*/ 0 h 581025"/>
              <a:gd name="connsiteX3" fmla="*/ 1495425 w 1495425"/>
              <a:gd name="connsiteY3" fmla="*/ 0 h 581025"/>
              <a:gd name="connsiteX0" fmla="*/ 0 w 1238249"/>
              <a:gd name="connsiteY0" fmla="*/ 581025 h 581025"/>
              <a:gd name="connsiteX1" fmla="*/ 333375 w 1238249"/>
              <a:gd name="connsiteY1" fmla="*/ 0 h 581025"/>
              <a:gd name="connsiteX2" fmla="*/ 1238250 w 1238249"/>
              <a:gd name="connsiteY2" fmla="*/ 0 h 581025"/>
              <a:gd name="connsiteX0" fmla="*/ 0 w 2896333"/>
              <a:gd name="connsiteY0" fmla="*/ 581025 h 581025"/>
              <a:gd name="connsiteX1" fmla="*/ 333375 w 2896333"/>
              <a:gd name="connsiteY1" fmla="*/ 0 h 581025"/>
              <a:gd name="connsiteX2" fmla="*/ 2896333 w 2896333"/>
              <a:gd name="connsiteY2" fmla="*/ 0 h 581025"/>
            </a:gdLst>
            <a:ahLst/>
            <a:cxnLst>
              <a:cxn ang="0">
                <a:pos x="connsiteX0" y="connsiteY0"/>
              </a:cxn>
              <a:cxn ang="0">
                <a:pos x="connsiteX1" y="connsiteY1"/>
              </a:cxn>
              <a:cxn ang="0">
                <a:pos x="connsiteX2" y="connsiteY2"/>
              </a:cxn>
            </a:cxnLst>
            <a:rect l="l" t="t" r="r" b="b"/>
            <a:pathLst>
              <a:path w="2896333" h="581025">
                <a:moveTo>
                  <a:pt x="0" y="581025"/>
                </a:moveTo>
                <a:lnTo>
                  <a:pt x="333375" y="0"/>
                </a:lnTo>
                <a:lnTo>
                  <a:pt x="2896333" y="0"/>
                </a:lnTo>
              </a:path>
            </a:pathLst>
          </a:custGeom>
          <a:noFill/>
          <a:ln w="12700">
            <a:solidFill>
              <a:schemeClr val="bg1">
                <a:lumMod val="50000"/>
              </a:schemeClr>
            </a:solidFill>
            <a:prstDash val="dash"/>
            <a:headEnd type="oval"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lnSpc>
                <a:spcPct val="130000"/>
              </a:lnSpc>
              <a:spcBef>
                <a:spcPct val="0"/>
              </a:spcBef>
              <a:spcAft>
                <a:spcPct val="0"/>
              </a:spcAft>
              <a:defRPr/>
            </a:pPr>
            <a:endParaRPr lang="zh-CN" altLang="en-US" sz="2400" dirty="0">
              <a:solidFill>
                <a:schemeClr val="accent1"/>
              </a:solidFill>
              <a:latin typeface="Microsoft YaHei" panose="020B0503020204020204" pitchFamily="34" charset="-122"/>
              <a:ea typeface="Microsoft YaHei" panose="020B0503020204020204" pitchFamily="34" charset="-122"/>
              <a:cs typeface="+mn-ea"/>
              <a:sym typeface="+mn-lt"/>
            </a:endParaRPr>
          </a:p>
        </p:txBody>
      </p:sp>
      <p:sp>
        <p:nvSpPr>
          <p:cNvPr id="120" name="矩形 119">
            <a:extLst>
              <a:ext uri="{FF2B5EF4-FFF2-40B4-BE49-F238E27FC236}">
                <a16:creationId xmlns:a16="http://schemas.microsoft.com/office/drawing/2014/main" id="{AC26C381-EBD8-4B7D-8873-A6D52E8FE8F3}"/>
              </a:ext>
            </a:extLst>
          </p:cNvPr>
          <p:cNvSpPr>
            <a:spLocks noChangeArrowheads="1"/>
          </p:cNvSpPr>
          <p:nvPr/>
        </p:nvSpPr>
        <p:spPr bwMode="auto">
          <a:xfrm>
            <a:off x="4275206" y="1439254"/>
            <a:ext cx="685455" cy="597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130000"/>
              </a:lnSpc>
              <a:spcBef>
                <a:spcPct val="0"/>
              </a:spcBef>
              <a:spcAft>
                <a:spcPct val="0"/>
              </a:spcAft>
              <a:buClr>
                <a:srgbClr val="C00000"/>
              </a:buClr>
            </a:pPr>
            <a:r>
              <a:rPr lang="en-US" altLang="zh-CN" sz="2800" b="1" dirty="0">
                <a:latin typeface="Microsoft YaHei" panose="020B0503020204020204" pitchFamily="34" charset="-122"/>
                <a:ea typeface="Microsoft YaHei" panose="020B0503020204020204" pitchFamily="34" charset="-122"/>
                <a:cs typeface="+mn-ea"/>
                <a:sym typeface="+mn-lt"/>
              </a:rPr>
              <a:t>01</a:t>
            </a:r>
          </a:p>
        </p:txBody>
      </p:sp>
      <p:sp>
        <p:nvSpPr>
          <p:cNvPr id="121" name="矩形 120">
            <a:extLst>
              <a:ext uri="{FF2B5EF4-FFF2-40B4-BE49-F238E27FC236}">
                <a16:creationId xmlns:a16="http://schemas.microsoft.com/office/drawing/2014/main" id="{E040C040-1A6B-4DDD-95BD-AD92BFDDD231}"/>
              </a:ext>
            </a:extLst>
          </p:cNvPr>
          <p:cNvSpPr>
            <a:spLocks noChangeArrowheads="1"/>
          </p:cNvSpPr>
          <p:nvPr/>
        </p:nvSpPr>
        <p:spPr bwMode="auto">
          <a:xfrm>
            <a:off x="4275206" y="3190844"/>
            <a:ext cx="685455" cy="597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130000"/>
              </a:lnSpc>
              <a:spcBef>
                <a:spcPct val="0"/>
              </a:spcBef>
              <a:spcAft>
                <a:spcPct val="0"/>
              </a:spcAft>
              <a:buClr>
                <a:srgbClr val="C00000"/>
              </a:buClr>
            </a:pPr>
            <a:r>
              <a:rPr lang="en-US" altLang="zh-CN" sz="2800" b="1" dirty="0">
                <a:latin typeface="Microsoft YaHei" panose="020B0503020204020204" pitchFamily="34" charset="-122"/>
                <a:ea typeface="Microsoft YaHei" panose="020B0503020204020204" pitchFamily="34" charset="-122"/>
                <a:cs typeface="+mn-ea"/>
                <a:sym typeface="+mn-lt"/>
              </a:rPr>
              <a:t>02</a:t>
            </a:r>
          </a:p>
        </p:txBody>
      </p:sp>
      <p:sp>
        <p:nvSpPr>
          <p:cNvPr id="122" name="矩形 121">
            <a:extLst>
              <a:ext uri="{FF2B5EF4-FFF2-40B4-BE49-F238E27FC236}">
                <a16:creationId xmlns:a16="http://schemas.microsoft.com/office/drawing/2014/main" id="{9DCE63AD-807C-4805-BFCA-14B970E4CF54}"/>
              </a:ext>
            </a:extLst>
          </p:cNvPr>
          <p:cNvSpPr>
            <a:spLocks noChangeArrowheads="1"/>
          </p:cNvSpPr>
          <p:nvPr/>
        </p:nvSpPr>
        <p:spPr bwMode="auto">
          <a:xfrm>
            <a:off x="4275206" y="4942435"/>
            <a:ext cx="685455" cy="597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130000"/>
              </a:lnSpc>
              <a:spcBef>
                <a:spcPct val="0"/>
              </a:spcBef>
              <a:spcAft>
                <a:spcPct val="0"/>
              </a:spcAft>
              <a:buClr>
                <a:srgbClr val="C00000"/>
              </a:buClr>
            </a:pPr>
            <a:r>
              <a:rPr lang="en-US" altLang="zh-CN" sz="2800" b="1" dirty="0">
                <a:latin typeface="Microsoft YaHei" panose="020B0503020204020204" pitchFamily="34" charset="-122"/>
                <a:ea typeface="Microsoft YaHei" panose="020B0503020204020204" pitchFamily="34" charset="-122"/>
                <a:cs typeface="+mn-ea"/>
                <a:sym typeface="+mn-lt"/>
              </a:rPr>
              <a:t>03</a:t>
            </a:r>
          </a:p>
        </p:txBody>
      </p:sp>
      <p:sp>
        <p:nvSpPr>
          <p:cNvPr id="123" name="任意多边形 23">
            <a:extLst>
              <a:ext uri="{FF2B5EF4-FFF2-40B4-BE49-F238E27FC236}">
                <a16:creationId xmlns:a16="http://schemas.microsoft.com/office/drawing/2014/main" id="{903B3B91-4639-4CDE-8D84-023709408068}"/>
              </a:ext>
            </a:extLst>
          </p:cNvPr>
          <p:cNvSpPr/>
          <p:nvPr/>
        </p:nvSpPr>
        <p:spPr>
          <a:xfrm flipV="1">
            <a:off x="3229611" y="4945565"/>
            <a:ext cx="967885" cy="378094"/>
          </a:xfrm>
          <a:custGeom>
            <a:avLst/>
            <a:gdLst>
              <a:gd name="connsiteX0" fmla="*/ 0 w 1495425"/>
              <a:gd name="connsiteY0" fmla="*/ 581025 h 581025"/>
              <a:gd name="connsiteX1" fmla="*/ 333375 w 1495425"/>
              <a:gd name="connsiteY1" fmla="*/ 0 h 581025"/>
              <a:gd name="connsiteX2" fmla="*/ 1238250 w 1495425"/>
              <a:gd name="connsiteY2" fmla="*/ 0 h 581025"/>
              <a:gd name="connsiteX3" fmla="*/ 1495425 w 1495425"/>
              <a:gd name="connsiteY3" fmla="*/ 0 h 581025"/>
              <a:gd name="connsiteX0" fmla="*/ 0 w 1238249"/>
              <a:gd name="connsiteY0" fmla="*/ 581025 h 581025"/>
              <a:gd name="connsiteX1" fmla="*/ 333375 w 1238249"/>
              <a:gd name="connsiteY1" fmla="*/ 0 h 581025"/>
              <a:gd name="connsiteX2" fmla="*/ 1238250 w 1238249"/>
              <a:gd name="connsiteY2" fmla="*/ 0 h 581025"/>
              <a:gd name="connsiteX0" fmla="*/ 0 w 2896333"/>
              <a:gd name="connsiteY0" fmla="*/ 581025 h 581025"/>
              <a:gd name="connsiteX1" fmla="*/ 333375 w 2896333"/>
              <a:gd name="connsiteY1" fmla="*/ 0 h 581025"/>
              <a:gd name="connsiteX2" fmla="*/ 2896333 w 2896333"/>
              <a:gd name="connsiteY2" fmla="*/ 0 h 581025"/>
            </a:gdLst>
            <a:ahLst/>
            <a:cxnLst>
              <a:cxn ang="0">
                <a:pos x="connsiteX0" y="connsiteY0"/>
              </a:cxn>
              <a:cxn ang="0">
                <a:pos x="connsiteX1" y="connsiteY1"/>
              </a:cxn>
              <a:cxn ang="0">
                <a:pos x="connsiteX2" y="connsiteY2"/>
              </a:cxn>
            </a:cxnLst>
            <a:rect l="l" t="t" r="r" b="b"/>
            <a:pathLst>
              <a:path w="2896333" h="581025">
                <a:moveTo>
                  <a:pt x="0" y="581025"/>
                </a:moveTo>
                <a:lnTo>
                  <a:pt x="333375" y="0"/>
                </a:lnTo>
                <a:lnTo>
                  <a:pt x="2896333" y="0"/>
                </a:lnTo>
              </a:path>
            </a:pathLst>
          </a:custGeom>
          <a:noFill/>
          <a:ln w="12700">
            <a:solidFill>
              <a:schemeClr val="bg1">
                <a:lumMod val="50000"/>
              </a:schemeClr>
            </a:solidFill>
            <a:prstDash val="dash"/>
            <a:headEnd type="oval"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lnSpc>
                <a:spcPct val="130000"/>
              </a:lnSpc>
              <a:spcBef>
                <a:spcPct val="0"/>
              </a:spcBef>
              <a:spcAft>
                <a:spcPct val="0"/>
              </a:spcAft>
              <a:defRPr/>
            </a:pPr>
            <a:endParaRPr lang="zh-CN" altLang="en-US" sz="2400" dirty="0">
              <a:solidFill>
                <a:schemeClr val="accent1"/>
              </a:solidFill>
              <a:latin typeface="Microsoft YaHei" panose="020B0503020204020204" pitchFamily="34" charset="-122"/>
              <a:ea typeface="Microsoft YaHei" panose="020B0503020204020204" pitchFamily="34" charset="-122"/>
              <a:cs typeface="+mn-ea"/>
              <a:sym typeface="+mn-lt"/>
            </a:endParaRPr>
          </a:p>
        </p:txBody>
      </p:sp>
      <p:cxnSp>
        <p:nvCxnSpPr>
          <p:cNvPr id="124" name="直线连接符 6">
            <a:extLst>
              <a:ext uri="{FF2B5EF4-FFF2-40B4-BE49-F238E27FC236}">
                <a16:creationId xmlns:a16="http://schemas.microsoft.com/office/drawing/2014/main" id="{5619EA32-7853-4EE7-9B5C-100F7396F54D}"/>
              </a:ext>
            </a:extLst>
          </p:cNvPr>
          <p:cNvCxnSpPr>
            <a:cxnSpLocks/>
          </p:cNvCxnSpPr>
          <p:nvPr/>
        </p:nvCxnSpPr>
        <p:spPr>
          <a:xfrm>
            <a:off x="3387889" y="3600450"/>
            <a:ext cx="876574" cy="0"/>
          </a:xfrm>
          <a:prstGeom prst="line">
            <a:avLst/>
          </a:prstGeom>
          <a:noFill/>
          <a:ln w="12700">
            <a:solidFill>
              <a:schemeClr val="bg1">
                <a:lumMod val="50000"/>
              </a:schemeClr>
            </a:solidFill>
            <a:prstDash val="dash"/>
            <a:headEnd type="oval" w="med" len="med"/>
          </a:ln>
        </p:spPr>
        <p:style>
          <a:lnRef idx="2">
            <a:schemeClr val="accent1">
              <a:shade val="50000"/>
            </a:schemeClr>
          </a:lnRef>
          <a:fillRef idx="1">
            <a:schemeClr val="accent1"/>
          </a:fillRef>
          <a:effectRef idx="0">
            <a:schemeClr val="accent1"/>
          </a:effectRef>
          <a:fontRef idx="minor">
            <a:schemeClr val="lt1"/>
          </a:fontRef>
        </p:style>
      </p:cxnSp>
      <p:grpSp>
        <p:nvGrpSpPr>
          <p:cNvPr id="125" name="组合 124">
            <a:extLst>
              <a:ext uri="{FF2B5EF4-FFF2-40B4-BE49-F238E27FC236}">
                <a16:creationId xmlns:a16="http://schemas.microsoft.com/office/drawing/2014/main" id="{BDDD64C3-0847-49DE-95FC-8D63A87D663B}"/>
              </a:ext>
            </a:extLst>
          </p:cNvPr>
          <p:cNvGrpSpPr/>
          <p:nvPr/>
        </p:nvGrpSpPr>
        <p:grpSpPr>
          <a:xfrm>
            <a:off x="5026726" y="1310221"/>
            <a:ext cx="6485326" cy="1081234"/>
            <a:chOff x="5228601" y="1132096"/>
            <a:chExt cx="6485326" cy="1081234"/>
          </a:xfrm>
        </p:grpSpPr>
        <p:sp>
          <p:nvSpPr>
            <p:cNvPr id="126" name="矩形 125">
              <a:extLst>
                <a:ext uri="{FF2B5EF4-FFF2-40B4-BE49-F238E27FC236}">
                  <a16:creationId xmlns:a16="http://schemas.microsoft.com/office/drawing/2014/main" id="{08FF9924-D306-49FB-8E36-1BEE2921B92F}"/>
                </a:ext>
              </a:extLst>
            </p:cNvPr>
            <p:cNvSpPr/>
            <p:nvPr/>
          </p:nvSpPr>
          <p:spPr>
            <a:xfrm>
              <a:off x="5228601" y="1516408"/>
              <a:ext cx="6485326" cy="696922"/>
            </a:xfrm>
            <a:prstGeom prst="rect">
              <a:avLst/>
            </a:prstGeom>
          </p:spPr>
          <p:txBody>
            <a:bodyPr wrap="square">
              <a:spAutoFit/>
            </a:bodyPr>
            <a:lstStyle/>
            <a:p>
              <a:pPr algn="just">
                <a:lnSpc>
                  <a:spcPct val="114000"/>
                </a:lnSpc>
              </a:pPr>
              <a:r>
                <a:rPr kumimoji="1" lang="zh-CN" altLang="zh-CN" dirty="0">
                  <a:latin typeface="Microsoft YaHei" panose="020B0503020204020204" pitchFamily="34" charset="-122"/>
                  <a:ea typeface="Microsoft YaHei" panose="020B0503020204020204" pitchFamily="34" charset="-122"/>
                </a:rPr>
                <a:t>针对现有</a:t>
              </a:r>
              <a:r>
                <a:rPr kumimoji="1" lang="en-US" altLang="zh-CN" dirty="0">
                  <a:latin typeface="Microsoft YaHei" panose="020B0503020204020204" pitchFamily="34" charset="-122"/>
                  <a:ea typeface="Microsoft YaHei" panose="020B0503020204020204" pitchFamily="34" charset="-122"/>
                </a:rPr>
                <a:t>RUL</a:t>
              </a:r>
              <a:r>
                <a:rPr kumimoji="1" lang="zh-CN" altLang="zh-CN" dirty="0">
                  <a:latin typeface="Microsoft YaHei" panose="020B0503020204020204" pitchFamily="34" charset="-122"/>
                  <a:ea typeface="Microsoft YaHei" panose="020B0503020204020204" pitchFamily="34" charset="-122"/>
                </a:rPr>
                <a:t>预测模型普遍忽视设备内部物理结构、部件耦合关系。将设备组件空间关系有机的融入到传统时序预测模型中</a:t>
              </a:r>
              <a:endParaRPr lang="zh-CN" altLang="en-US" kern="100" dirty="0">
                <a:solidFill>
                  <a:srgbClr val="941100"/>
                </a:solidFill>
                <a:latin typeface="Microsoft YaHei" panose="020B0503020204020204" pitchFamily="34" charset="-122"/>
                <a:ea typeface="Microsoft YaHei" panose="020B0503020204020204" pitchFamily="34" charset="-122"/>
                <a:cs typeface="Times New Roman" panose="02020603050405020304" pitchFamily="18" charset="0"/>
                <a:sym typeface="+mn-lt"/>
              </a:endParaRPr>
            </a:p>
          </p:txBody>
        </p:sp>
        <p:sp>
          <p:nvSpPr>
            <p:cNvPr id="127" name="文本框 126">
              <a:extLst>
                <a:ext uri="{FF2B5EF4-FFF2-40B4-BE49-F238E27FC236}">
                  <a16:creationId xmlns:a16="http://schemas.microsoft.com/office/drawing/2014/main" id="{9DD2ACD0-C48F-4A8E-9CBE-7A350467775D}"/>
                </a:ext>
              </a:extLst>
            </p:cNvPr>
            <p:cNvSpPr txBox="1"/>
            <p:nvPr/>
          </p:nvSpPr>
          <p:spPr>
            <a:xfrm>
              <a:off x="5228601" y="1132096"/>
              <a:ext cx="6485326" cy="403957"/>
            </a:xfrm>
            <a:prstGeom prst="rect">
              <a:avLst/>
            </a:prstGeom>
            <a:noFill/>
          </p:spPr>
          <p:txBody>
            <a:bodyPr wrap="square">
              <a:spAutoFit/>
            </a:bodyPr>
            <a:lstStyle/>
            <a:p>
              <a:pPr>
                <a:lnSpc>
                  <a:spcPct val="125000"/>
                </a:lnSpc>
              </a:pPr>
              <a:r>
                <a:rPr lang="zh-CN" altLang="zh-CN" b="1" dirty="0">
                  <a:solidFill>
                    <a:srgbClr val="1F4E79"/>
                  </a:solidFill>
                  <a:latin typeface="Microsoft YaHei" panose="020B0503020204020204" pitchFamily="34" charset="-122"/>
                  <a:ea typeface="Microsoft YaHei" panose="020B0503020204020204" pitchFamily="34" charset="-122"/>
                  <a:cs typeface="Times New Roman" panose="02020603050405020304" pitchFamily="18" charset="0"/>
                </a:rPr>
                <a:t>先验知识引导的</a:t>
              </a:r>
              <a:r>
                <a:rPr lang="en-US" altLang="zh-CN" b="1" dirty="0">
                  <a:solidFill>
                    <a:srgbClr val="1F4E79"/>
                  </a:solidFill>
                  <a:latin typeface="Microsoft YaHei" panose="020B0503020204020204" pitchFamily="34" charset="-122"/>
                  <a:ea typeface="Microsoft YaHei" panose="020B0503020204020204" pitchFamily="34" charset="-122"/>
                  <a:cs typeface="Times New Roman" panose="02020603050405020304" pitchFamily="18" charset="0"/>
                </a:rPr>
                <a:t>RUL</a:t>
              </a:r>
              <a:r>
                <a:rPr lang="zh-CN" altLang="zh-CN" b="1" dirty="0">
                  <a:solidFill>
                    <a:srgbClr val="1F4E79"/>
                  </a:solidFill>
                  <a:latin typeface="Microsoft YaHei" panose="020B0503020204020204" pitchFamily="34" charset="-122"/>
                  <a:ea typeface="Microsoft YaHei" panose="020B0503020204020204" pitchFamily="34" charset="-122"/>
                  <a:cs typeface="Times New Roman" panose="02020603050405020304" pitchFamily="18" charset="0"/>
                </a:rPr>
                <a:t>预测模型</a:t>
              </a:r>
            </a:p>
          </p:txBody>
        </p:sp>
      </p:grpSp>
      <p:grpSp>
        <p:nvGrpSpPr>
          <p:cNvPr id="128" name="组合 127">
            <a:extLst>
              <a:ext uri="{FF2B5EF4-FFF2-40B4-BE49-F238E27FC236}">
                <a16:creationId xmlns:a16="http://schemas.microsoft.com/office/drawing/2014/main" id="{80049335-5C5D-4E31-88F9-FD6DFE9AC024}"/>
              </a:ext>
            </a:extLst>
          </p:cNvPr>
          <p:cNvGrpSpPr/>
          <p:nvPr/>
        </p:nvGrpSpPr>
        <p:grpSpPr>
          <a:xfrm>
            <a:off x="5015432" y="3075942"/>
            <a:ext cx="6485326" cy="1393336"/>
            <a:chOff x="5217307" y="2899906"/>
            <a:chExt cx="6485326" cy="1393336"/>
          </a:xfrm>
        </p:grpSpPr>
        <p:sp>
          <p:nvSpPr>
            <p:cNvPr id="129" name="矩形 128">
              <a:extLst>
                <a:ext uri="{FF2B5EF4-FFF2-40B4-BE49-F238E27FC236}">
                  <a16:creationId xmlns:a16="http://schemas.microsoft.com/office/drawing/2014/main" id="{51E4CEE2-3C7D-40D2-BED9-5E4D8CDF7B3A}"/>
                </a:ext>
              </a:extLst>
            </p:cNvPr>
            <p:cNvSpPr/>
            <p:nvPr/>
          </p:nvSpPr>
          <p:spPr>
            <a:xfrm>
              <a:off x="5228600" y="3277515"/>
              <a:ext cx="6474033" cy="1015727"/>
            </a:xfrm>
            <a:prstGeom prst="rect">
              <a:avLst/>
            </a:prstGeom>
          </p:spPr>
          <p:txBody>
            <a:bodyPr wrap="square">
              <a:spAutoFit/>
            </a:bodyPr>
            <a:lstStyle/>
            <a:p>
              <a:pPr algn="just">
                <a:lnSpc>
                  <a:spcPct val="114000"/>
                </a:lnSpc>
              </a:pPr>
              <a:r>
                <a:rPr kumimoji="1" lang="zh-CN" altLang="zh-CN" dirty="0">
                  <a:latin typeface="Microsoft YaHei" panose="020B0503020204020204" pitchFamily="34" charset="-122"/>
                  <a:ea typeface="Microsoft YaHei" panose="020B0503020204020204" pitchFamily="34" charset="-122"/>
                </a:rPr>
                <a:t>量化使用寿命的不确定性，并将剩余使用寿命预测得到的设备寿命变化信息融入设备维护决策中，实现预测到决策的维护过程。</a:t>
              </a:r>
              <a:endParaRPr kumimoji="1" lang="en-US" altLang="zh-CN" dirty="0">
                <a:latin typeface="Microsoft YaHei" panose="020B0503020204020204" pitchFamily="34" charset="-122"/>
                <a:ea typeface="Microsoft YaHei" panose="020B0503020204020204" pitchFamily="34" charset="-122"/>
              </a:endParaRPr>
            </a:p>
          </p:txBody>
        </p:sp>
        <p:sp>
          <p:nvSpPr>
            <p:cNvPr id="130" name="文本框 129">
              <a:extLst>
                <a:ext uri="{FF2B5EF4-FFF2-40B4-BE49-F238E27FC236}">
                  <a16:creationId xmlns:a16="http://schemas.microsoft.com/office/drawing/2014/main" id="{E730B90D-6E3C-4FF6-85F1-32693387639D}"/>
                </a:ext>
              </a:extLst>
            </p:cNvPr>
            <p:cNvSpPr txBox="1"/>
            <p:nvPr/>
          </p:nvSpPr>
          <p:spPr>
            <a:xfrm>
              <a:off x="5217307" y="2899906"/>
              <a:ext cx="6485326" cy="406971"/>
            </a:xfrm>
            <a:prstGeom prst="rect">
              <a:avLst/>
            </a:prstGeom>
            <a:noFill/>
          </p:spPr>
          <p:txBody>
            <a:bodyPr wrap="square">
              <a:spAutoFit/>
            </a:bodyPr>
            <a:lstStyle/>
            <a:p>
              <a:pPr marL="0" lvl="2">
                <a:lnSpc>
                  <a:spcPct val="125000"/>
                </a:lnSpc>
              </a:pPr>
              <a:r>
                <a:rPr lang="zh-CN" altLang="zh-CN" b="1" dirty="0">
                  <a:solidFill>
                    <a:srgbClr val="1F4E79"/>
                  </a:solidFill>
                  <a:latin typeface="Microsoft YaHei" panose="020B0503020204020204" pitchFamily="34" charset="-122"/>
                  <a:ea typeface="Microsoft YaHei" panose="020B0503020204020204" pitchFamily="34" charset="-122"/>
                  <a:cs typeface="Times New Roman" panose="02020603050405020304" pitchFamily="18" charset="0"/>
                </a:rPr>
                <a:t>基于深度强化学习的预测性设备维护</a:t>
              </a:r>
            </a:p>
          </p:txBody>
        </p:sp>
      </p:grpSp>
      <p:grpSp>
        <p:nvGrpSpPr>
          <p:cNvPr id="131" name="组合 130">
            <a:extLst>
              <a:ext uri="{FF2B5EF4-FFF2-40B4-BE49-F238E27FC236}">
                <a16:creationId xmlns:a16="http://schemas.microsoft.com/office/drawing/2014/main" id="{C7F6BD35-CAB6-4653-95E7-CC509AB764B4}"/>
              </a:ext>
            </a:extLst>
          </p:cNvPr>
          <p:cNvGrpSpPr/>
          <p:nvPr/>
        </p:nvGrpSpPr>
        <p:grpSpPr>
          <a:xfrm>
            <a:off x="5026725" y="4834961"/>
            <a:ext cx="6474033" cy="1078708"/>
            <a:chOff x="5228600" y="4656836"/>
            <a:chExt cx="6474033" cy="1078708"/>
          </a:xfrm>
        </p:grpSpPr>
        <p:sp>
          <p:nvSpPr>
            <p:cNvPr id="132" name="矩形 131">
              <a:extLst>
                <a:ext uri="{FF2B5EF4-FFF2-40B4-BE49-F238E27FC236}">
                  <a16:creationId xmlns:a16="http://schemas.microsoft.com/office/drawing/2014/main" id="{C3BAACB3-E60E-40C0-AFD5-9327C026DA2E}"/>
                </a:ext>
              </a:extLst>
            </p:cNvPr>
            <p:cNvSpPr/>
            <p:nvPr/>
          </p:nvSpPr>
          <p:spPr>
            <a:xfrm>
              <a:off x="5228601" y="5038622"/>
              <a:ext cx="6474032" cy="696922"/>
            </a:xfrm>
            <a:prstGeom prst="rect">
              <a:avLst/>
            </a:prstGeom>
          </p:spPr>
          <p:txBody>
            <a:bodyPr wrap="square">
              <a:spAutoFit/>
            </a:bodyPr>
            <a:lstStyle/>
            <a:p>
              <a:pPr algn="just">
                <a:lnSpc>
                  <a:spcPct val="114000"/>
                </a:lnSpc>
              </a:pPr>
              <a:r>
                <a:rPr kumimoji="1" lang="zh-CN" altLang="zh-CN" dirty="0">
                  <a:latin typeface="Microsoft YaHei" panose="020B0503020204020204" pitchFamily="34" charset="-122"/>
                  <a:ea typeface="Microsoft YaHei" panose="020B0503020204020204" pitchFamily="34" charset="-122"/>
                </a:rPr>
                <a:t>搭建一个有效的协同结构，实现以设备健康状态为驱动、以全局生产效率为反馈的闭环协同</a:t>
              </a:r>
              <a:r>
                <a:rPr kumimoji="1" lang="zh-CN" altLang="en-US" dirty="0">
                  <a:latin typeface="Microsoft YaHei" panose="020B0503020204020204" pitchFamily="34" charset="-122"/>
                  <a:ea typeface="Microsoft YaHei" panose="020B0503020204020204" pitchFamily="34" charset="-122"/>
                </a:rPr>
                <a:t>。</a:t>
              </a:r>
              <a:endParaRPr kumimoji="1" lang="zh-CN" altLang="zh-CN" dirty="0">
                <a:latin typeface="Microsoft YaHei" panose="020B0503020204020204" pitchFamily="34" charset="-122"/>
                <a:ea typeface="Microsoft YaHei" panose="020B0503020204020204" pitchFamily="34" charset="-122"/>
              </a:endParaRPr>
            </a:p>
          </p:txBody>
        </p:sp>
        <p:sp>
          <p:nvSpPr>
            <p:cNvPr id="133" name="文本框 132">
              <a:extLst>
                <a:ext uri="{FF2B5EF4-FFF2-40B4-BE49-F238E27FC236}">
                  <a16:creationId xmlns:a16="http://schemas.microsoft.com/office/drawing/2014/main" id="{212D6DFA-C387-4E1D-A1C2-1CFB146301BF}"/>
                </a:ext>
              </a:extLst>
            </p:cNvPr>
            <p:cNvSpPr txBox="1"/>
            <p:nvPr/>
          </p:nvSpPr>
          <p:spPr>
            <a:xfrm>
              <a:off x="5228600" y="4656836"/>
              <a:ext cx="6474031" cy="386196"/>
            </a:xfrm>
            <a:prstGeom prst="rect">
              <a:avLst/>
            </a:prstGeom>
            <a:noFill/>
          </p:spPr>
          <p:txBody>
            <a:bodyPr wrap="square">
              <a:spAutoFit/>
            </a:bodyPr>
            <a:lstStyle/>
            <a:p>
              <a:pPr lvl="0" algn="just">
                <a:lnSpc>
                  <a:spcPct val="115000"/>
                </a:lnSpc>
                <a:spcAft>
                  <a:spcPts val="780"/>
                </a:spcAft>
              </a:pPr>
              <a:r>
                <a:rPr lang="zh-CN" altLang="en-US" b="1" dirty="0">
                  <a:solidFill>
                    <a:srgbClr val="1F4E79"/>
                  </a:solidFill>
                  <a:latin typeface="Microsoft YaHei" panose="020B0503020204020204" pitchFamily="34" charset="-122"/>
                  <a:ea typeface="Microsoft YaHei" panose="020B0503020204020204" pitchFamily="34" charset="-122"/>
                  <a:cs typeface="Times New Roman" panose="02020603050405020304" pitchFamily="18" charset="0"/>
                </a:rPr>
                <a:t>面</a:t>
              </a:r>
              <a:r>
                <a:rPr lang="zh-CN" altLang="zh-CN" b="1" dirty="0">
                  <a:solidFill>
                    <a:srgbClr val="1F4E79"/>
                  </a:solidFill>
                  <a:latin typeface="Microsoft YaHei" panose="020B0503020204020204" pitchFamily="34" charset="-122"/>
                  <a:ea typeface="Microsoft YaHei" panose="020B0503020204020204" pitchFamily="34" charset="-122"/>
                  <a:cs typeface="Times New Roman" panose="02020603050405020304" pitchFamily="18" charset="0"/>
                </a:rPr>
                <a:t>向智能车间的维护</a:t>
              </a:r>
              <a:r>
                <a:rPr lang="en-US" altLang="zh-CN" b="1" dirty="0">
                  <a:solidFill>
                    <a:srgbClr val="1F4E79"/>
                  </a:soli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b="1" dirty="0">
                  <a:solidFill>
                    <a:srgbClr val="1F4E79"/>
                  </a:solidFill>
                  <a:latin typeface="Microsoft YaHei" panose="020B0503020204020204" pitchFamily="34" charset="-122"/>
                  <a:ea typeface="Microsoft YaHei" panose="020B0503020204020204" pitchFamily="34" charset="-122"/>
                  <a:cs typeface="Times New Roman" panose="02020603050405020304" pitchFamily="18" charset="0"/>
                </a:rPr>
                <a:t>调度协同优化</a:t>
              </a:r>
              <a:r>
                <a:rPr lang="zh-CN" altLang="en-US" b="1" dirty="0">
                  <a:solidFill>
                    <a:srgbClr val="1F4E79"/>
                  </a:solidFill>
                  <a:latin typeface="Microsoft YaHei" panose="020B0503020204020204" pitchFamily="34" charset="-122"/>
                  <a:ea typeface="Microsoft YaHei" panose="020B0503020204020204" pitchFamily="34" charset="-122"/>
                  <a:cs typeface="Times New Roman" panose="02020603050405020304" pitchFamily="18" charset="0"/>
                </a:rPr>
                <a:t>机制</a:t>
              </a:r>
              <a:endParaRPr lang="zh-CN" altLang="zh-CN" b="1" dirty="0">
                <a:solidFill>
                  <a:srgbClr val="1F4E79"/>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40078528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3">
            <a:extLst>
              <a:ext uri="{FF2B5EF4-FFF2-40B4-BE49-F238E27FC236}">
                <a16:creationId xmlns:a16="http://schemas.microsoft.com/office/drawing/2014/main" id="{BEE743BE-70E5-4BC7-B087-EAA82BD00EF2}"/>
              </a:ext>
            </a:extLst>
          </p:cNvPr>
          <p:cNvSpPr>
            <a:spLocks noChangeArrowheads="1"/>
          </p:cNvSpPr>
          <p:nvPr/>
        </p:nvSpPr>
        <p:spPr bwMode="auto">
          <a:xfrm>
            <a:off x="0" y="-328279"/>
            <a:ext cx="65" cy="656558"/>
          </a:xfrm>
          <a:prstGeom prst="rect">
            <a:avLst/>
          </a:prstGeom>
          <a:solidFill>
            <a:srgbClr val="EFEE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0784"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269" name="图片 268">
            <a:extLst>
              <a:ext uri="{FF2B5EF4-FFF2-40B4-BE49-F238E27FC236}">
                <a16:creationId xmlns:a16="http://schemas.microsoft.com/office/drawing/2014/main" id="{C4DC7501-3A3C-42A3-91ED-5CD5ABCAA5C5}"/>
              </a:ext>
            </a:extLst>
          </p:cNvPr>
          <p:cNvPicPr>
            <a:picLocks noChangeAspect="1"/>
          </p:cNvPicPr>
          <p:nvPr/>
        </p:nvPicPr>
        <p:blipFill>
          <a:blip r:embed="rId3"/>
          <a:stretch>
            <a:fillRect/>
          </a:stretch>
        </p:blipFill>
        <p:spPr>
          <a:xfrm>
            <a:off x="11300792" y="166376"/>
            <a:ext cx="674131" cy="674131"/>
          </a:xfrm>
          <a:prstGeom prst="rect">
            <a:avLst/>
          </a:prstGeom>
        </p:spPr>
      </p:pic>
      <p:cxnSp>
        <p:nvCxnSpPr>
          <p:cNvPr id="270" name="直接连接符 3">
            <a:extLst>
              <a:ext uri="{FF2B5EF4-FFF2-40B4-BE49-F238E27FC236}">
                <a16:creationId xmlns:a16="http://schemas.microsoft.com/office/drawing/2014/main" id="{C37F35FD-FF27-4C52-90DA-FABBD8DE340E}"/>
              </a:ext>
            </a:extLst>
          </p:cNvPr>
          <p:cNvCxnSpPr>
            <a:cxnSpLocks/>
          </p:cNvCxnSpPr>
          <p:nvPr/>
        </p:nvCxnSpPr>
        <p:spPr>
          <a:xfrm>
            <a:off x="0" y="835438"/>
            <a:ext cx="11105147" cy="0"/>
          </a:xfrm>
          <a:prstGeom prst="line">
            <a:avLst/>
          </a:prstGeom>
          <a:ln w="76200">
            <a:solidFill>
              <a:srgbClr val="0054A6"/>
            </a:solidFill>
          </a:ln>
        </p:spPr>
        <p:style>
          <a:lnRef idx="1">
            <a:schemeClr val="accent1"/>
          </a:lnRef>
          <a:fillRef idx="0">
            <a:schemeClr val="accent1"/>
          </a:fillRef>
          <a:effectRef idx="0">
            <a:schemeClr val="accent1"/>
          </a:effectRef>
          <a:fontRef idx="minor">
            <a:schemeClr val="tx1"/>
          </a:fontRef>
        </p:style>
      </p:cxnSp>
      <p:sp>
        <p:nvSpPr>
          <p:cNvPr id="271" name="矩形 270">
            <a:extLst>
              <a:ext uri="{FF2B5EF4-FFF2-40B4-BE49-F238E27FC236}">
                <a16:creationId xmlns:a16="http://schemas.microsoft.com/office/drawing/2014/main" id="{7C183573-A5E7-4167-B21E-8DA38CC841AE}"/>
              </a:ext>
            </a:extLst>
          </p:cNvPr>
          <p:cNvSpPr/>
          <p:nvPr/>
        </p:nvSpPr>
        <p:spPr>
          <a:xfrm>
            <a:off x="0" y="181976"/>
            <a:ext cx="3068053" cy="558709"/>
          </a:xfrm>
          <a:prstGeom prst="rect">
            <a:avLst/>
          </a:prstGeom>
          <a:solidFill>
            <a:schemeClr val="accent1">
              <a:lumMod val="75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黑体" panose="02010609060101010101" pitchFamily="49" charset="-122"/>
                <a:ea typeface="黑体" panose="02010609060101010101" pitchFamily="49" charset="-122"/>
              </a:rPr>
              <a:t>研究内容</a:t>
            </a:r>
            <a:r>
              <a:rPr lang="en-US" altLang="zh-CN" sz="2400" b="1" dirty="0">
                <a:latin typeface="黑体" panose="02010609060101010101" pitchFamily="49" charset="-122"/>
                <a:ea typeface="黑体" panose="02010609060101010101" pitchFamily="49" charset="-122"/>
              </a:rPr>
              <a:t>4</a:t>
            </a:r>
            <a:endParaRPr lang="zh-CN" altLang="en-US" sz="2400" b="1" dirty="0">
              <a:latin typeface="黑体" panose="02010609060101010101" pitchFamily="49" charset="-122"/>
              <a:ea typeface="黑体" panose="02010609060101010101" pitchFamily="49" charset="-122"/>
            </a:endParaRPr>
          </a:p>
        </p:txBody>
      </p:sp>
      <p:sp>
        <p:nvSpPr>
          <p:cNvPr id="15" name="文本框 21">
            <a:extLst>
              <a:ext uri="{FF2B5EF4-FFF2-40B4-BE49-F238E27FC236}">
                <a16:creationId xmlns:a16="http://schemas.microsoft.com/office/drawing/2014/main" id="{FAE42551-A630-443C-A131-5273017CDB42}"/>
              </a:ext>
            </a:extLst>
          </p:cNvPr>
          <p:cNvSpPr txBox="1"/>
          <p:nvPr/>
        </p:nvSpPr>
        <p:spPr>
          <a:xfrm>
            <a:off x="826512" y="1760217"/>
            <a:ext cx="9452122" cy="3367397"/>
          </a:xfrm>
          <a:prstGeom prst="rect">
            <a:avLst/>
          </a:prstGeom>
          <a:noFill/>
        </p:spPr>
        <p:txBody>
          <a:bodyPr wrap="square" rtlCol="0">
            <a:spAutoFit/>
          </a:bodyPr>
          <a:lstStyle/>
          <a:p>
            <a:pPr marL="285750" indent="-285750">
              <a:lnSpc>
                <a:spcPct val="150000"/>
              </a:lnSpc>
              <a:buFont typeface="Wingdings" panose="05000000000000000000" pitchFamily="2" charset="2"/>
              <a:buChar char="n"/>
            </a:pPr>
            <a:r>
              <a:rPr lang="zh-CN" altLang="zh-CN" kern="100" dirty="0">
                <a:solidFill>
                  <a:srgbClr val="000000"/>
                </a:solidFill>
                <a:latin typeface="微软雅黑" panose="020B0503020204020204" pitchFamily="34" charset="-122"/>
                <a:ea typeface="微软雅黑" panose="020B0503020204020204" pitchFamily="34" charset="-122"/>
                <a:cs typeface="+mn-ea"/>
              </a:rPr>
              <a:t>广泛的研究基础</a:t>
            </a:r>
            <a:endParaRPr lang="en-US" altLang="zh-CN" kern="100" dirty="0">
              <a:solidFill>
                <a:srgbClr val="000000"/>
              </a:solidFill>
              <a:latin typeface="微软雅黑" panose="020B0503020204020204" pitchFamily="34" charset="-122"/>
              <a:ea typeface="微软雅黑" panose="020B0503020204020204" pitchFamily="34" charset="-122"/>
              <a:cs typeface="+mn-ea"/>
            </a:endParaRPr>
          </a:p>
          <a:p>
            <a:pPr indent="457200">
              <a:lnSpc>
                <a:spcPct val="150000"/>
              </a:lnSpc>
            </a:pPr>
            <a:r>
              <a:rPr lang="zh-CN" altLang="zh-CN" dirty="0">
                <a:latin typeface="微软雅黑" panose="020B0503020204020204" pitchFamily="34" charset="-122"/>
                <a:ea typeface="微软雅黑" panose="020B0503020204020204" pitchFamily="34" charset="-122"/>
              </a:rPr>
              <a:t>本课题的研究具有广泛的研究基础：寿命预测、维护决策、维护与调度协同、强化学习领域是近年来的热门研究领域，国内外学术团队都有较多的研究成果，有较多的文献可供参考，可以指引本课题研究方向。</a:t>
            </a:r>
            <a:endParaRPr lang="en-US" altLang="zh-CN" dirty="0">
              <a:latin typeface="微软雅黑" panose="020B0503020204020204" pitchFamily="34" charset="-122"/>
              <a:ea typeface="微软雅黑" panose="020B0503020204020204" pitchFamily="34" charset="-122"/>
            </a:endParaRPr>
          </a:p>
          <a:p>
            <a:pPr indent="457200">
              <a:lnSpc>
                <a:spcPct val="150000"/>
              </a:lnSpc>
            </a:pPr>
            <a:r>
              <a:rPr lang="zh-CN" altLang="en-US" dirty="0">
                <a:latin typeface="微软雅黑" panose="020B0503020204020204" pitchFamily="34" charset="-122"/>
                <a:ea typeface="微软雅黑" panose="020B0503020204020204" pitchFamily="34" charset="-122"/>
              </a:rPr>
              <a:t>课题组有强化学习与系统集成经验，成员可互助解决模块联动问题，实验室配备高性能服务器与工业级数据接口设备，支持系统开发、模型训练与部署测试。</a:t>
            </a:r>
            <a:endParaRPr lang="en-US" altLang="zh-CN" dirty="0">
              <a:latin typeface="微软雅黑" panose="020B0503020204020204" pitchFamily="34" charset="-122"/>
              <a:ea typeface="微软雅黑" panose="020B0503020204020204" pitchFamily="34" charset="-122"/>
            </a:endParaRPr>
          </a:p>
          <a:p>
            <a:pPr indent="457200">
              <a:lnSpc>
                <a:spcPct val="150000"/>
              </a:lnSpc>
            </a:pPr>
            <a:r>
              <a:rPr lang="zh-CN" altLang="en-US" dirty="0">
                <a:latin typeface="微软雅黑" panose="020B0503020204020204" pitchFamily="34" charset="-122"/>
                <a:ea typeface="微软雅黑" panose="020B0503020204020204" pitchFamily="34" charset="-122"/>
              </a:rPr>
              <a:t>课题源于</a:t>
            </a:r>
            <a:r>
              <a:rPr lang="zh-CN" altLang="zh-CN" dirty="0">
                <a:latin typeface="微软雅黑" panose="020B0503020204020204" pitchFamily="34" charset="-122"/>
                <a:ea typeface="微软雅黑" panose="020B0503020204020204" pitchFamily="34" charset="-122"/>
              </a:rPr>
              <a:t>国家自然科学基金面上项目</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数据知识联合驱动的</a:t>
            </a:r>
            <a:r>
              <a:rPr lang="en-US" altLang="zh-CN" dirty="0">
                <a:latin typeface="微软雅黑" panose="020B0503020204020204" pitchFamily="34" charset="-122"/>
                <a:ea typeface="微软雅黑" panose="020B0503020204020204" pitchFamily="34" charset="-122"/>
              </a:rPr>
              <a:t>PHM</a:t>
            </a:r>
            <a:r>
              <a:rPr lang="zh-CN" altLang="zh-CN" dirty="0">
                <a:latin typeface="微软雅黑" panose="020B0503020204020204" pitchFamily="34" charset="-122"/>
                <a:ea typeface="微软雅黑" panose="020B0503020204020204" pitchFamily="34" charset="-122"/>
              </a:rPr>
              <a:t>协同型调度集成与优化</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有一定的支撑。</a:t>
            </a:r>
            <a:endParaRPr lang="en-US" altLang="zh-CN" dirty="0">
              <a:latin typeface="微软雅黑" panose="020B0503020204020204" pitchFamily="34" charset="-122"/>
              <a:ea typeface="微软雅黑" panose="020B0503020204020204" pitchFamily="34" charset="-122"/>
            </a:endParaRPr>
          </a:p>
        </p:txBody>
      </p:sp>
      <p:sp>
        <p:nvSpPr>
          <p:cNvPr id="16" name="文本框 21">
            <a:extLst>
              <a:ext uri="{FF2B5EF4-FFF2-40B4-BE49-F238E27FC236}">
                <a16:creationId xmlns:a16="http://schemas.microsoft.com/office/drawing/2014/main" id="{97E04C53-5FE4-481C-9411-226A264CB803}"/>
              </a:ext>
            </a:extLst>
          </p:cNvPr>
          <p:cNvSpPr txBox="1"/>
          <p:nvPr/>
        </p:nvSpPr>
        <p:spPr>
          <a:xfrm>
            <a:off x="826512" y="5231635"/>
            <a:ext cx="9452122" cy="1291957"/>
          </a:xfrm>
          <a:prstGeom prst="rect">
            <a:avLst/>
          </a:prstGeom>
          <a:noFill/>
        </p:spPr>
        <p:txBody>
          <a:bodyPr wrap="square" rtlCol="0">
            <a:spAutoFit/>
          </a:bodyPr>
          <a:lstStyle/>
          <a:p>
            <a:pPr marL="285750" indent="-285750">
              <a:lnSpc>
                <a:spcPct val="150000"/>
              </a:lnSpc>
              <a:buFont typeface="Wingdings" panose="05000000000000000000" pitchFamily="2" charset="2"/>
              <a:buChar char="n"/>
            </a:pPr>
            <a:r>
              <a:rPr lang="zh-CN" altLang="en-US" sz="1800" kern="100" dirty="0">
                <a:solidFill>
                  <a:srgbClr val="000000"/>
                </a:solidFill>
                <a:effectLst/>
                <a:latin typeface="微软雅黑" panose="020B0503020204020204" pitchFamily="34" charset="-122"/>
                <a:ea typeface="微软雅黑" panose="020B0503020204020204" pitchFamily="34" charset="-122"/>
                <a:cs typeface="+mn-ea"/>
              </a:rPr>
              <a:t>前期研究</a:t>
            </a:r>
            <a:r>
              <a:rPr lang="zh-CN" altLang="zh-CN" sz="1800" kern="100" dirty="0">
                <a:solidFill>
                  <a:srgbClr val="000000"/>
                </a:solidFill>
                <a:effectLst/>
                <a:latin typeface="微软雅黑" panose="020B0503020204020204" pitchFamily="34" charset="-122"/>
                <a:ea typeface="微软雅黑" panose="020B0503020204020204" pitchFamily="34" charset="-122"/>
                <a:cs typeface="+mn-ea"/>
              </a:rPr>
              <a:t>基础</a:t>
            </a:r>
            <a:endParaRPr lang="en-US" altLang="zh-CN" kern="100" dirty="0">
              <a:solidFill>
                <a:srgbClr val="000000"/>
              </a:solidFill>
              <a:latin typeface="微软雅黑" panose="020B0503020204020204" pitchFamily="34" charset="-122"/>
              <a:ea typeface="微软雅黑" panose="020B0503020204020204" pitchFamily="34" charset="-122"/>
              <a:cs typeface="+mn-ea"/>
            </a:endParaRPr>
          </a:p>
          <a:p>
            <a:pPr indent="457200">
              <a:lnSpc>
                <a:spcPct val="150000"/>
              </a:lnSpc>
            </a:pPr>
            <a:r>
              <a:rPr lang="zh-CN" altLang="en-US" dirty="0">
                <a:latin typeface="微软雅黑" panose="020B0503020204020204" pitchFamily="34" charset="-122"/>
                <a:ea typeface="微软雅黑" panose="020B0503020204020204" pitchFamily="34" charset="-122"/>
              </a:rPr>
              <a:t>已开展研究内容 </a:t>
            </a:r>
            <a:r>
              <a:rPr lang="en-US" altLang="zh-CN" dirty="0">
                <a:latin typeface="微软雅黑" panose="020B0503020204020204" pitchFamily="34" charset="-122"/>
                <a:ea typeface="微软雅黑" panose="020B0503020204020204" pitchFamily="34" charset="-122"/>
              </a:rPr>
              <a:t>1</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的相关研究，内容为</a:t>
            </a: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基于先验知识引导的设备剩余使用寿命预测，研究成果已被</a:t>
            </a:r>
            <a:r>
              <a:rPr lang="en-US" altLang="zh-CN" sz="1800" kern="100" dirty="0">
                <a:effectLst/>
                <a:latin typeface="微软雅黑" panose="020B0503020204020204" pitchFamily="34" charset="-122"/>
                <a:ea typeface="微软雅黑" panose="020B0503020204020204" pitchFamily="34" charset="-122"/>
              </a:rPr>
              <a:t>CAC2025</a:t>
            </a: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接收</a:t>
            </a:r>
            <a:endParaRPr lang="en-US" altLang="zh-CN" kern="100" dirty="0">
              <a:latin typeface="微软雅黑" panose="020B0503020204020204" pitchFamily="34" charset="-122"/>
              <a:ea typeface="微软雅黑" panose="020B0503020204020204" pitchFamily="34" charset="-122"/>
              <a:cs typeface="+mn-ea"/>
            </a:endParaRPr>
          </a:p>
        </p:txBody>
      </p:sp>
      <p:grpSp>
        <p:nvGrpSpPr>
          <p:cNvPr id="9" name="组合 8">
            <a:extLst>
              <a:ext uri="{FF2B5EF4-FFF2-40B4-BE49-F238E27FC236}">
                <a16:creationId xmlns:a16="http://schemas.microsoft.com/office/drawing/2014/main" id="{7C6BE5A5-1D2C-404F-A798-B0D174D39DB3}"/>
              </a:ext>
            </a:extLst>
          </p:cNvPr>
          <p:cNvGrpSpPr/>
          <p:nvPr/>
        </p:nvGrpSpPr>
        <p:grpSpPr>
          <a:xfrm>
            <a:off x="478003" y="980386"/>
            <a:ext cx="2385769" cy="612215"/>
            <a:chOff x="478003" y="837506"/>
            <a:chExt cx="2385769" cy="612215"/>
          </a:xfrm>
        </p:grpSpPr>
        <p:sp>
          <p:nvSpPr>
            <p:cNvPr id="10" name="等腰三角形 133">
              <a:extLst>
                <a:ext uri="{FF2B5EF4-FFF2-40B4-BE49-F238E27FC236}">
                  <a16:creationId xmlns:a16="http://schemas.microsoft.com/office/drawing/2014/main" id="{D2E934B2-39DF-4459-8B0D-9D38D4A60AEA}"/>
                </a:ext>
              </a:extLst>
            </p:cNvPr>
            <p:cNvSpPr/>
            <p:nvPr/>
          </p:nvSpPr>
          <p:spPr>
            <a:xfrm rot="5400000">
              <a:off x="463619" y="1093590"/>
              <a:ext cx="208097" cy="179330"/>
            </a:xfrm>
            <a:prstGeom prst="triangle">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3E95"/>
                </a:solidFill>
                <a:latin typeface="Microsoft YaHei" panose="020B0503020204020204" pitchFamily="34" charset="-122"/>
                <a:ea typeface="Microsoft YaHei" panose="020B0503020204020204" pitchFamily="34" charset="-122"/>
              </a:endParaRPr>
            </a:p>
          </p:txBody>
        </p:sp>
        <p:sp>
          <p:nvSpPr>
            <p:cNvPr id="11" name="矩形 10">
              <a:extLst>
                <a:ext uri="{FF2B5EF4-FFF2-40B4-BE49-F238E27FC236}">
                  <a16:creationId xmlns:a16="http://schemas.microsoft.com/office/drawing/2014/main" id="{1FE07685-D05E-4599-85EB-26A255E0C3B8}"/>
                </a:ext>
              </a:extLst>
            </p:cNvPr>
            <p:cNvSpPr/>
            <p:nvPr/>
          </p:nvSpPr>
          <p:spPr>
            <a:xfrm>
              <a:off x="657333" y="837506"/>
              <a:ext cx="2206439" cy="612215"/>
            </a:xfrm>
            <a:prstGeom prst="rect">
              <a:avLst/>
            </a:prstGeom>
            <a:noFill/>
            <a:ln>
              <a:noFill/>
            </a:ln>
          </p:spPr>
          <p:txBody>
            <a:bodyPr wrap="square" lIns="121917" tIns="60958" rIns="121917" bIns="60958">
              <a:spAutoFit/>
            </a:bodyPr>
            <a:lstStyle/>
            <a:p>
              <a:pPr>
                <a:lnSpc>
                  <a:spcPct val="125000"/>
                </a:lnSpc>
              </a:pPr>
              <a:r>
                <a:rPr lang="zh-CN" altLang="en-US" sz="2800" b="1" dirty="0">
                  <a:solidFill>
                    <a:srgbClr val="1F4E79"/>
                  </a:solidFill>
                  <a:latin typeface="Microsoft YaHei" panose="020B0503020204020204" pitchFamily="34" charset="-122"/>
                  <a:ea typeface="Microsoft YaHei" panose="020B0503020204020204" pitchFamily="34" charset="-122"/>
                  <a:cs typeface="Times New Roman" panose="02020603050405020304" pitchFamily="18" charset="0"/>
                </a:rPr>
                <a:t>可行性分析</a:t>
              </a:r>
            </a:p>
          </p:txBody>
        </p:sp>
      </p:grpSp>
    </p:spTree>
    <p:extLst>
      <p:ext uri="{BB962C8B-B14F-4D97-AF65-F5344CB8AC3E}">
        <p14:creationId xmlns:p14="http://schemas.microsoft.com/office/powerpoint/2010/main" val="39105037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0C800E5-A1B3-4306-BC1E-9FCC4A76230D}"/>
              </a:ext>
            </a:extLst>
          </p:cNvPr>
          <p:cNvSpPr/>
          <p:nvPr/>
        </p:nvSpPr>
        <p:spPr>
          <a:xfrm>
            <a:off x="-22934" y="0"/>
            <a:ext cx="12214934" cy="361696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highlight>
                <a:srgbClr val="FFFF00"/>
              </a:highlight>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a:extLst>
              <a:ext uri="{FF2B5EF4-FFF2-40B4-BE49-F238E27FC236}">
                <a16:creationId xmlns:a16="http://schemas.microsoft.com/office/drawing/2014/main" id="{986DBED7-A45E-41D4-BE4B-6F506990CE4E}"/>
              </a:ext>
            </a:extLst>
          </p:cNvPr>
          <p:cNvSpPr/>
          <p:nvPr/>
        </p:nvSpPr>
        <p:spPr>
          <a:xfrm>
            <a:off x="2953706" y="2922322"/>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rgbClr val="005A8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a:extLst>
              <a:ext uri="{FF2B5EF4-FFF2-40B4-BE49-F238E27FC236}">
                <a16:creationId xmlns:a16="http://schemas.microsoft.com/office/drawing/2014/main" id="{964112A8-51B9-42E0-A937-1FF3959A6007}"/>
              </a:ext>
            </a:extLst>
          </p:cNvPr>
          <p:cNvSpPr/>
          <p:nvPr/>
        </p:nvSpPr>
        <p:spPr>
          <a:xfrm>
            <a:off x="4516170" y="3273471"/>
            <a:ext cx="3159659" cy="646331"/>
          </a:xfrm>
          <a:prstGeom prst="rect">
            <a:avLst/>
          </a:prstGeom>
        </p:spPr>
        <p:txBody>
          <a:bodyPr wrap="square">
            <a:spAutoFit/>
          </a:bodyPr>
          <a:lstStyle/>
          <a:p>
            <a:pPr>
              <a:defRPr/>
            </a:pPr>
            <a:r>
              <a:rPr lang="zh-CN" altLang="en-US" sz="3600" b="1" dirty="0">
                <a:solidFill>
                  <a:prstClr val="black"/>
                </a:solidFill>
                <a:latin typeface="微软雅黑" panose="020B0503020204020204" pitchFamily="34" charset="-122"/>
                <a:ea typeface="微软雅黑" panose="020B0503020204020204" pitchFamily="34" charset="-122"/>
                <a:sym typeface="字魂105号-简雅黑" panose="00000500000000000000" pitchFamily="2" charset="-122"/>
              </a:rPr>
              <a:t>五、工作计划</a:t>
            </a:r>
            <a:endParaRPr kumimoji="0" lang="zh-CN" altLang="en-US" sz="3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字魂105号-简雅黑" panose="00000500000000000000" pitchFamily="2" charset="-122"/>
            </a:endParaRPr>
          </a:p>
        </p:txBody>
      </p:sp>
      <p:pic>
        <p:nvPicPr>
          <p:cNvPr id="7" name="图片 6"/>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4142030" y="754120"/>
            <a:ext cx="1308810" cy="1308810"/>
          </a:xfrm>
          <a:prstGeom prst="rect">
            <a:avLst/>
          </a:prstGeom>
        </p:spPr>
      </p:pic>
      <p:pic>
        <p:nvPicPr>
          <p:cNvPr id="8" name="图片 7"/>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5677420" y="968390"/>
            <a:ext cx="2434110" cy="840090"/>
          </a:xfrm>
          <a:prstGeom prst="rect">
            <a:avLst/>
          </a:prstGeom>
        </p:spPr>
      </p:pic>
    </p:spTree>
    <p:extLst>
      <p:ext uri="{BB962C8B-B14F-4D97-AF65-F5344CB8AC3E}">
        <p14:creationId xmlns:p14="http://schemas.microsoft.com/office/powerpoint/2010/main" val="32620771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p:cNvPicPr>
            <a:picLocks noChangeAspect="1"/>
          </p:cNvPicPr>
          <p:nvPr/>
        </p:nvPicPr>
        <p:blipFill>
          <a:blip r:embed="rId3"/>
          <a:stretch>
            <a:fillRect/>
          </a:stretch>
        </p:blipFill>
        <p:spPr>
          <a:xfrm>
            <a:off x="11300792" y="166376"/>
            <a:ext cx="674131" cy="674131"/>
          </a:xfrm>
          <a:prstGeom prst="rect">
            <a:avLst/>
          </a:prstGeom>
        </p:spPr>
      </p:pic>
      <p:cxnSp>
        <p:nvCxnSpPr>
          <p:cNvPr id="7" name="直接连接符 3">
            <a:extLst>
              <a:ext uri="{FF2B5EF4-FFF2-40B4-BE49-F238E27FC236}">
                <a16:creationId xmlns:a16="http://schemas.microsoft.com/office/drawing/2014/main" id="{BBBC9128-9103-485C-9395-11FF750F1C5D}"/>
              </a:ext>
            </a:extLst>
          </p:cNvPr>
          <p:cNvCxnSpPr>
            <a:cxnSpLocks/>
          </p:cNvCxnSpPr>
          <p:nvPr/>
        </p:nvCxnSpPr>
        <p:spPr>
          <a:xfrm>
            <a:off x="0" y="835438"/>
            <a:ext cx="11105147" cy="0"/>
          </a:xfrm>
          <a:prstGeom prst="line">
            <a:avLst/>
          </a:prstGeom>
          <a:ln w="76200">
            <a:solidFill>
              <a:srgbClr val="0054A6"/>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A78EEBB9-FFFA-4080-83A2-78122037D209}"/>
              </a:ext>
            </a:extLst>
          </p:cNvPr>
          <p:cNvSpPr/>
          <p:nvPr/>
        </p:nvSpPr>
        <p:spPr>
          <a:xfrm>
            <a:off x="0" y="181976"/>
            <a:ext cx="2107769" cy="558709"/>
          </a:xfrm>
          <a:prstGeom prst="rect">
            <a:avLst/>
          </a:prstGeom>
          <a:solidFill>
            <a:srgbClr val="2F5597"/>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黑体" panose="02010609060101010101" pitchFamily="49" charset="-122"/>
                <a:ea typeface="黑体" panose="02010609060101010101" pitchFamily="49" charset="-122"/>
              </a:rPr>
              <a:t>工作计划</a:t>
            </a:r>
          </a:p>
        </p:txBody>
      </p:sp>
      <p:sp>
        <p:nvSpPr>
          <p:cNvPr id="8" name="文本框 30">
            <a:extLst>
              <a:ext uri="{FF2B5EF4-FFF2-40B4-BE49-F238E27FC236}">
                <a16:creationId xmlns:a16="http://schemas.microsoft.com/office/drawing/2014/main" id="{52208F4A-1EFF-43C7-8700-032AEE7451D1}"/>
              </a:ext>
            </a:extLst>
          </p:cNvPr>
          <p:cNvSpPr txBox="1"/>
          <p:nvPr/>
        </p:nvSpPr>
        <p:spPr>
          <a:xfrm>
            <a:off x="684298" y="1303379"/>
            <a:ext cx="822417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以两个月为周期，完成本课题的各项相关工作</a:t>
            </a:r>
          </a:p>
        </p:txBody>
      </p:sp>
      <p:sp>
        <p:nvSpPr>
          <p:cNvPr id="9" name="文本框 32">
            <a:extLst>
              <a:ext uri="{FF2B5EF4-FFF2-40B4-BE49-F238E27FC236}">
                <a16:creationId xmlns:a16="http://schemas.microsoft.com/office/drawing/2014/main" id="{EDBA2840-B9A9-4FA5-BF8C-A7F315548D93}"/>
              </a:ext>
            </a:extLst>
          </p:cNvPr>
          <p:cNvSpPr txBox="1"/>
          <p:nvPr/>
        </p:nvSpPr>
        <p:spPr>
          <a:xfrm>
            <a:off x="925598" y="5750842"/>
            <a:ext cx="822417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n"/>
            </a:pPr>
            <a:r>
              <a:rPr lang="zh-CN" altLang="zh-CN" sz="1800" kern="100" dirty="0">
                <a:effectLst/>
                <a:latin typeface="微软雅黑" panose="020B0503020204020204" pitchFamily="34" charset="-122"/>
                <a:ea typeface="微软雅黑" panose="020B0503020204020204" pitchFamily="34" charset="-122"/>
                <a:cs typeface="+mj-ea"/>
              </a:rPr>
              <a:t>发表</a:t>
            </a:r>
            <a:r>
              <a:rPr lang="zh-CN" altLang="en-US" sz="1800" kern="100" dirty="0">
                <a:effectLst/>
                <a:latin typeface="微软雅黑" panose="020B0503020204020204" pitchFamily="34" charset="-122"/>
                <a:ea typeface="微软雅黑" panose="020B0503020204020204" pitchFamily="34" charset="-122"/>
                <a:cs typeface="+mj-ea"/>
              </a:rPr>
              <a:t>学术</a:t>
            </a:r>
            <a:r>
              <a:rPr lang="zh-CN" altLang="zh-CN" sz="1800" kern="100" dirty="0">
                <a:effectLst/>
                <a:latin typeface="微软雅黑" panose="020B0503020204020204" pitchFamily="34" charset="-122"/>
                <a:ea typeface="微软雅黑" panose="020B0503020204020204" pitchFamily="34" charset="-122"/>
                <a:cs typeface="+mj-ea"/>
              </a:rPr>
              <a:t>论文</a:t>
            </a:r>
            <a:r>
              <a:rPr lang="en-US" altLang="zh-CN" sz="1800" kern="100" dirty="0">
                <a:effectLst/>
                <a:latin typeface="微软雅黑" panose="020B0503020204020204" pitchFamily="34" charset="-122"/>
                <a:ea typeface="微软雅黑" panose="020B0503020204020204" pitchFamily="34" charset="-122"/>
                <a:cs typeface="+mj-ea"/>
              </a:rPr>
              <a:t>1-2</a:t>
            </a:r>
            <a:r>
              <a:rPr lang="zh-CN" altLang="zh-CN" sz="1800" kern="100" dirty="0">
                <a:effectLst/>
                <a:latin typeface="微软雅黑" panose="020B0503020204020204" pitchFamily="34" charset="-122"/>
                <a:ea typeface="微软雅黑" panose="020B0503020204020204" pitchFamily="34" charset="-122"/>
                <a:cs typeface="+mj-ea"/>
              </a:rPr>
              <a:t>篇，申请专利</a:t>
            </a:r>
            <a:r>
              <a:rPr lang="zh-CN" altLang="en-US" sz="1800" kern="100" dirty="0">
                <a:effectLst/>
                <a:latin typeface="微软雅黑" panose="020B0503020204020204" pitchFamily="34" charset="-122"/>
                <a:ea typeface="微软雅黑" panose="020B0503020204020204" pitchFamily="34" charset="-122"/>
                <a:cs typeface="+mj-ea"/>
              </a:rPr>
              <a:t>或软著</a:t>
            </a:r>
            <a:r>
              <a:rPr lang="en-US" altLang="zh-CN" sz="1800" kern="100" dirty="0">
                <a:effectLst/>
                <a:latin typeface="微软雅黑" panose="020B0503020204020204" pitchFamily="34" charset="-122"/>
                <a:ea typeface="微软雅黑" panose="020B0503020204020204" pitchFamily="34" charset="-122"/>
                <a:cs typeface="+mj-ea"/>
              </a:rPr>
              <a:t>1</a:t>
            </a:r>
            <a:r>
              <a:rPr lang="zh-CN" altLang="zh-CN" sz="1800" kern="100" dirty="0">
                <a:effectLst/>
                <a:latin typeface="微软雅黑" panose="020B0503020204020204" pitchFamily="34" charset="-122"/>
                <a:ea typeface="微软雅黑" panose="020B0503020204020204" pitchFamily="34" charset="-122"/>
                <a:cs typeface="+mj-ea"/>
              </a:rPr>
              <a:t>项</a:t>
            </a:r>
            <a:endParaRPr lang="zh-CN" altLang="en-US" dirty="0">
              <a:latin typeface="微软雅黑" panose="020B0503020204020204" pitchFamily="34" charset="-122"/>
              <a:ea typeface="微软雅黑" panose="020B0503020204020204" pitchFamily="34" charset="-122"/>
              <a:cs typeface="+mj-ea"/>
            </a:endParaRPr>
          </a:p>
        </p:txBody>
      </p:sp>
      <p:graphicFrame>
        <p:nvGraphicFramePr>
          <p:cNvPr id="10" name="表格 31">
            <a:extLst>
              <a:ext uri="{FF2B5EF4-FFF2-40B4-BE49-F238E27FC236}">
                <a16:creationId xmlns:a16="http://schemas.microsoft.com/office/drawing/2014/main" id="{520FE7DB-18C2-4EE4-AC26-A4592BF9AB92}"/>
              </a:ext>
            </a:extLst>
          </p:cNvPr>
          <p:cNvGraphicFramePr>
            <a:graphicFrameLocks noGrp="1"/>
          </p:cNvGraphicFramePr>
          <p:nvPr>
            <p:extLst>
              <p:ext uri="{D42A27DB-BD31-4B8C-83A1-F6EECF244321}">
                <p14:modId xmlns:p14="http://schemas.microsoft.com/office/powerpoint/2010/main" val="2686136415"/>
              </p:ext>
            </p:extLst>
          </p:nvPr>
        </p:nvGraphicFramePr>
        <p:xfrm>
          <a:off x="678793" y="1952460"/>
          <a:ext cx="10679571" cy="3517824"/>
        </p:xfrm>
        <a:graphic>
          <a:graphicData uri="http://schemas.openxmlformats.org/drawingml/2006/table">
            <a:tbl>
              <a:tblPr firstRow="1" bandRow="1">
                <a:tableStyleId>{5C22544A-7EE6-4342-B048-85BDC9FD1C3A}</a:tableStyleId>
              </a:tblPr>
              <a:tblGrid>
                <a:gridCol w="2744771">
                  <a:extLst>
                    <a:ext uri="{9D8B030D-6E8A-4147-A177-3AD203B41FA5}">
                      <a16:colId xmlns:a16="http://schemas.microsoft.com/office/drawing/2014/main" val="20000"/>
                    </a:ext>
                  </a:extLst>
                </a:gridCol>
                <a:gridCol w="5373278">
                  <a:extLst>
                    <a:ext uri="{9D8B030D-6E8A-4147-A177-3AD203B41FA5}">
                      <a16:colId xmlns:a16="http://schemas.microsoft.com/office/drawing/2014/main" val="20001"/>
                    </a:ext>
                  </a:extLst>
                </a:gridCol>
                <a:gridCol w="2561522">
                  <a:extLst>
                    <a:ext uri="{9D8B030D-6E8A-4147-A177-3AD203B41FA5}">
                      <a16:colId xmlns:a16="http://schemas.microsoft.com/office/drawing/2014/main" val="20002"/>
                    </a:ext>
                  </a:extLst>
                </a:gridCol>
              </a:tblGrid>
              <a:tr h="439728">
                <a:tc>
                  <a:txBody>
                    <a:bodyPr/>
                    <a:lstStyle/>
                    <a:p>
                      <a:pPr algn="ctr"/>
                      <a:r>
                        <a:rPr lang="zh-CN" altLang="en-US" dirty="0">
                          <a:latin typeface="+mj-ea"/>
                          <a:ea typeface="+mj-ea"/>
                        </a:rPr>
                        <a:t>起讫日期</a:t>
                      </a:r>
                    </a:p>
                  </a:txBody>
                  <a:tcPr anchor="ctr"/>
                </a:tc>
                <a:tc>
                  <a:txBody>
                    <a:bodyPr/>
                    <a:lstStyle/>
                    <a:p>
                      <a:pPr algn="ctr"/>
                      <a:r>
                        <a:rPr lang="zh-CN" altLang="en-US" dirty="0">
                          <a:latin typeface="+mj-ea"/>
                          <a:ea typeface="+mj-ea"/>
                        </a:rPr>
                        <a:t>主要研究内容</a:t>
                      </a:r>
                    </a:p>
                  </a:txBody>
                  <a:tcPr anchor="ctr"/>
                </a:tc>
                <a:tc>
                  <a:txBody>
                    <a:bodyPr/>
                    <a:lstStyle/>
                    <a:p>
                      <a:pPr algn="ctr"/>
                      <a:r>
                        <a:rPr lang="zh-CN" altLang="en-US" dirty="0">
                          <a:latin typeface="+mj-ea"/>
                          <a:ea typeface="+mj-ea"/>
                        </a:rPr>
                        <a:t>预期结果</a:t>
                      </a:r>
                    </a:p>
                  </a:txBody>
                  <a:tcPr anchor="ctr"/>
                </a:tc>
                <a:extLst>
                  <a:ext uri="{0D108BD9-81ED-4DB2-BD59-A6C34878D82A}">
                    <a16:rowId xmlns:a16="http://schemas.microsoft.com/office/drawing/2014/main" val="10000"/>
                  </a:ext>
                </a:extLst>
              </a:tr>
              <a:tr h="439728">
                <a:tc>
                  <a:txBody>
                    <a:bodyPr/>
                    <a:lstStyle/>
                    <a:p>
                      <a:pPr algn="ctr"/>
                      <a:r>
                        <a:rPr lang="en-US" altLang="zh-CN" b="1" dirty="0">
                          <a:solidFill>
                            <a:schemeClr val="bg1"/>
                          </a:solidFill>
                          <a:latin typeface="+mj-ea"/>
                          <a:ea typeface="+mj-ea"/>
                        </a:rPr>
                        <a:t>2025.9-2025.10</a:t>
                      </a:r>
                    </a:p>
                  </a:txBody>
                  <a:tcPr anchor="ctr">
                    <a:solidFill>
                      <a:srgbClr val="4472C4"/>
                    </a:solidFill>
                  </a:tcPr>
                </a:tc>
                <a:tc>
                  <a:txBody>
                    <a:bodyPr/>
                    <a:lstStyle/>
                    <a:p>
                      <a:pPr algn="ctr"/>
                      <a:r>
                        <a:rPr lang="zh-CN" altLang="en-US" dirty="0">
                          <a:latin typeface="+mj-ea"/>
                          <a:ea typeface="+mj-ea"/>
                        </a:rPr>
                        <a:t>国内外文献查阅域资料整理</a:t>
                      </a:r>
                    </a:p>
                  </a:txBody>
                  <a:tcPr anchor="ctr">
                    <a:solidFill>
                      <a:schemeClr val="bg2"/>
                    </a:solidFill>
                  </a:tcPr>
                </a:tc>
                <a:tc>
                  <a:txBody>
                    <a:bodyPr/>
                    <a:lstStyle/>
                    <a:p>
                      <a:pPr algn="ctr"/>
                      <a:r>
                        <a:rPr lang="zh-CN" altLang="en-US" dirty="0">
                          <a:latin typeface="+mj-ea"/>
                          <a:ea typeface="+mj-ea"/>
                        </a:rPr>
                        <a:t>调研报告</a:t>
                      </a:r>
                    </a:p>
                  </a:txBody>
                  <a:tcPr anchor="ctr">
                    <a:solidFill>
                      <a:schemeClr val="bg2"/>
                    </a:solidFill>
                  </a:tcPr>
                </a:tc>
                <a:extLst>
                  <a:ext uri="{0D108BD9-81ED-4DB2-BD59-A6C34878D82A}">
                    <a16:rowId xmlns:a16="http://schemas.microsoft.com/office/drawing/2014/main" val="10001"/>
                  </a:ext>
                </a:extLst>
              </a:tr>
              <a:tr h="439728">
                <a:tc>
                  <a:txBody>
                    <a:bodyPr/>
                    <a:lstStyle/>
                    <a:p>
                      <a:pPr algn="ctr"/>
                      <a:r>
                        <a:rPr lang="en-US" altLang="zh-CN" b="1" dirty="0">
                          <a:solidFill>
                            <a:schemeClr val="bg1"/>
                          </a:solidFill>
                          <a:latin typeface="+mj-ea"/>
                          <a:ea typeface="+mj-ea"/>
                        </a:rPr>
                        <a:t>2025.11-2026.1</a:t>
                      </a:r>
                    </a:p>
                  </a:txBody>
                  <a:tcPr anchor="ctr">
                    <a:solidFill>
                      <a:srgbClr val="4472C4"/>
                    </a:solidFill>
                  </a:tcPr>
                </a:tc>
                <a:tc>
                  <a:txBody>
                    <a:bodyPr/>
                    <a:lstStyle/>
                    <a:p>
                      <a:pPr algn="ctr"/>
                      <a:r>
                        <a:rPr lang="zh-CN" altLang="en-US" dirty="0">
                          <a:latin typeface="+mj-ea"/>
                          <a:ea typeface="+mj-ea"/>
                        </a:rPr>
                        <a:t>完成大论文的第一部分</a:t>
                      </a:r>
                    </a:p>
                  </a:txBody>
                  <a:tcPr anchor="ctr">
                    <a:solidFill>
                      <a:schemeClr val="bg1">
                        <a:lumMod val="95000"/>
                      </a:schemeClr>
                    </a:solidFill>
                  </a:tcPr>
                </a:tc>
                <a:tc>
                  <a:txBody>
                    <a:bodyPr/>
                    <a:lstStyle/>
                    <a:p>
                      <a:pPr algn="ctr"/>
                      <a:r>
                        <a:rPr lang="zh-CN" altLang="en-US" dirty="0">
                          <a:latin typeface="+mj-ea"/>
                          <a:ea typeface="+mj-ea"/>
                        </a:rPr>
                        <a:t>实验报告，形成小论文</a:t>
                      </a:r>
                    </a:p>
                  </a:txBody>
                  <a:tcPr anchor="ctr">
                    <a:solidFill>
                      <a:schemeClr val="bg1">
                        <a:lumMod val="95000"/>
                      </a:schemeClr>
                    </a:solidFill>
                  </a:tcPr>
                </a:tc>
                <a:extLst>
                  <a:ext uri="{0D108BD9-81ED-4DB2-BD59-A6C34878D82A}">
                    <a16:rowId xmlns:a16="http://schemas.microsoft.com/office/drawing/2014/main" val="10002"/>
                  </a:ext>
                </a:extLst>
              </a:tr>
              <a:tr h="439728">
                <a:tc>
                  <a:txBody>
                    <a:bodyPr/>
                    <a:lstStyle/>
                    <a:p>
                      <a:pPr algn="ctr"/>
                      <a:r>
                        <a:rPr lang="en-US" altLang="zh-CN" b="1" dirty="0">
                          <a:solidFill>
                            <a:schemeClr val="bg1"/>
                          </a:solidFill>
                          <a:latin typeface="+mj-ea"/>
                          <a:ea typeface="+mj-ea"/>
                        </a:rPr>
                        <a:t>2026.2-2026.4</a:t>
                      </a:r>
                    </a:p>
                  </a:txBody>
                  <a:tcPr anchor="ctr">
                    <a:solidFill>
                      <a:srgbClr val="4472C4"/>
                    </a:solidFill>
                  </a:tcPr>
                </a:tc>
                <a:tc>
                  <a:txBody>
                    <a:bodyPr/>
                    <a:lstStyle/>
                    <a:p>
                      <a:pPr algn="ctr"/>
                      <a:r>
                        <a:rPr lang="zh-CN" altLang="en-US" dirty="0">
                          <a:latin typeface="+mj-ea"/>
                          <a:ea typeface="+mj-ea"/>
                        </a:rPr>
                        <a:t>完成大论文的第二部分</a:t>
                      </a:r>
                    </a:p>
                  </a:txBody>
                  <a:tcPr anchor="ctr">
                    <a:solidFill>
                      <a:schemeClr val="bg2"/>
                    </a:solidFill>
                  </a:tcPr>
                </a:tc>
                <a:tc>
                  <a:txBody>
                    <a:bodyPr/>
                    <a:lstStyle/>
                    <a:p>
                      <a:pPr algn="ctr"/>
                      <a:r>
                        <a:rPr lang="zh-CN" altLang="en-US" dirty="0">
                          <a:latin typeface="+mj-ea"/>
                          <a:ea typeface="+mj-ea"/>
                        </a:rPr>
                        <a:t>实验报告</a:t>
                      </a:r>
                    </a:p>
                  </a:txBody>
                  <a:tcPr anchor="ctr">
                    <a:solidFill>
                      <a:schemeClr val="bg2"/>
                    </a:solidFill>
                  </a:tcPr>
                </a:tc>
                <a:extLst>
                  <a:ext uri="{0D108BD9-81ED-4DB2-BD59-A6C34878D82A}">
                    <a16:rowId xmlns:a16="http://schemas.microsoft.com/office/drawing/2014/main" val="10003"/>
                  </a:ext>
                </a:extLst>
              </a:tr>
              <a:tr h="439728">
                <a:tc>
                  <a:txBody>
                    <a:bodyPr/>
                    <a:lstStyle/>
                    <a:p>
                      <a:pPr algn="ctr"/>
                      <a:r>
                        <a:rPr lang="en-US" altLang="zh-CN" b="1" dirty="0">
                          <a:solidFill>
                            <a:schemeClr val="bg1"/>
                          </a:solidFill>
                          <a:latin typeface="+mj-ea"/>
                          <a:ea typeface="+mj-ea"/>
                        </a:rPr>
                        <a:t>2026.5-2026.7</a:t>
                      </a:r>
                    </a:p>
                  </a:txBody>
                  <a:tcPr anchor="ctr">
                    <a:solidFill>
                      <a:srgbClr val="4472C4"/>
                    </a:solidFill>
                  </a:tcPr>
                </a:tc>
                <a:tc>
                  <a:txBody>
                    <a:bodyPr/>
                    <a:lstStyle/>
                    <a:p>
                      <a:pPr algn="ctr"/>
                      <a:r>
                        <a:rPr lang="zh-CN" altLang="en-US" dirty="0">
                          <a:latin typeface="+mj-ea"/>
                          <a:ea typeface="+mj-ea"/>
                        </a:rPr>
                        <a:t>完成大论文的第三部分</a:t>
                      </a:r>
                    </a:p>
                  </a:txBody>
                  <a:tcPr anchor="ctr">
                    <a:solidFill>
                      <a:schemeClr val="bg1">
                        <a:lumMod val="95000"/>
                      </a:schemeClr>
                    </a:solidFill>
                  </a:tcPr>
                </a:tc>
                <a:tc>
                  <a:txBody>
                    <a:bodyPr/>
                    <a:lstStyle/>
                    <a:p>
                      <a:pPr algn="ctr"/>
                      <a:r>
                        <a:rPr lang="zh-CN" altLang="en-US" dirty="0">
                          <a:latin typeface="+mj-ea"/>
                          <a:ea typeface="+mj-ea"/>
                        </a:rPr>
                        <a:t>实验报告，形成专利</a:t>
                      </a:r>
                    </a:p>
                  </a:txBody>
                  <a:tcPr anchor="ctr">
                    <a:solidFill>
                      <a:schemeClr val="bg1">
                        <a:lumMod val="95000"/>
                      </a:schemeClr>
                    </a:solidFill>
                  </a:tcPr>
                </a:tc>
                <a:extLst>
                  <a:ext uri="{0D108BD9-81ED-4DB2-BD59-A6C34878D82A}">
                    <a16:rowId xmlns:a16="http://schemas.microsoft.com/office/drawing/2014/main" val="10004"/>
                  </a:ext>
                </a:extLst>
              </a:tr>
              <a:tr h="439728">
                <a:tc>
                  <a:txBody>
                    <a:bodyPr/>
                    <a:lstStyle/>
                    <a:p>
                      <a:pPr algn="ctr"/>
                      <a:r>
                        <a:rPr lang="en-US" altLang="zh-CN" b="1" dirty="0">
                          <a:solidFill>
                            <a:schemeClr val="bg1"/>
                          </a:solidFill>
                          <a:latin typeface="+mj-ea"/>
                          <a:ea typeface="+mj-ea"/>
                        </a:rPr>
                        <a:t>2026.8-2026.10</a:t>
                      </a:r>
                    </a:p>
                  </a:txBody>
                  <a:tcPr anchor="ctr">
                    <a:solidFill>
                      <a:srgbClr val="4472C4"/>
                    </a:solidFill>
                  </a:tcPr>
                </a:tc>
                <a:tc>
                  <a:txBody>
                    <a:bodyPr/>
                    <a:lstStyle/>
                    <a:p>
                      <a:pPr algn="ctr"/>
                      <a:r>
                        <a:rPr lang="zh-CN" altLang="en-US" dirty="0">
                          <a:latin typeface="+mj-ea"/>
                          <a:ea typeface="+mj-ea"/>
                        </a:rPr>
                        <a:t>完成大论文的第四部分</a:t>
                      </a: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zh-CN" altLang="en-US" dirty="0">
                          <a:latin typeface="+mj-ea"/>
                          <a:ea typeface="+mj-ea"/>
                        </a:rPr>
                        <a:t>实验报告</a:t>
                      </a:r>
                    </a:p>
                  </a:txBody>
                  <a:tcPr anchor="ctr">
                    <a:solidFill>
                      <a:schemeClr val="bg2"/>
                    </a:solidFill>
                  </a:tcPr>
                </a:tc>
                <a:extLst>
                  <a:ext uri="{0D108BD9-81ED-4DB2-BD59-A6C34878D82A}">
                    <a16:rowId xmlns:a16="http://schemas.microsoft.com/office/drawing/2014/main" val="10005"/>
                  </a:ext>
                </a:extLst>
              </a:tr>
              <a:tr h="439728">
                <a:tc>
                  <a:txBody>
                    <a:bodyPr/>
                    <a:lstStyle/>
                    <a:p>
                      <a:pPr algn="ctr"/>
                      <a:r>
                        <a:rPr lang="en-US" altLang="zh-CN" b="1" dirty="0">
                          <a:solidFill>
                            <a:schemeClr val="bg1"/>
                          </a:solidFill>
                          <a:latin typeface="+mj-ea"/>
                          <a:ea typeface="+mj-ea"/>
                        </a:rPr>
                        <a:t>2026.11-2027.1</a:t>
                      </a:r>
                    </a:p>
                  </a:txBody>
                  <a:tcPr anchor="ctr">
                    <a:solidFill>
                      <a:srgbClr val="4472C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zh-CN" altLang="en-US" dirty="0">
                          <a:latin typeface="+mj-ea"/>
                          <a:ea typeface="+mj-ea"/>
                        </a:rPr>
                        <a:t>整理报告，撰写大论文</a:t>
                      </a:r>
                    </a:p>
                  </a:txBody>
                  <a:tcPr anchor="ctr">
                    <a:solidFill>
                      <a:schemeClr val="bg1">
                        <a:lumMod val="95000"/>
                      </a:schemeClr>
                    </a:solidFill>
                  </a:tcPr>
                </a:tc>
                <a:tc>
                  <a:txBody>
                    <a:bodyPr/>
                    <a:lstStyle/>
                    <a:p>
                      <a:pPr algn="ctr"/>
                      <a:r>
                        <a:rPr lang="zh-CN" altLang="en-US" dirty="0">
                          <a:latin typeface="+mj-ea"/>
                          <a:ea typeface="+mj-ea"/>
                        </a:rPr>
                        <a:t>大论文初稿</a:t>
                      </a:r>
                    </a:p>
                  </a:txBody>
                  <a:tcPr anchor="ctr">
                    <a:solidFill>
                      <a:schemeClr val="bg1">
                        <a:lumMod val="95000"/>
                      </a:schemeClr>
                    </a:solidFill>
                  </a:tcPr>
                </a:tc>
                <a:extLst>
                  <a:ext uri="{0D108BD9-81ED-4DB2-BD59-A6C34878D82A}">
                    <a16:rowId xmlns:a16="http://schemas.microsoft.com/office/drawing/2014/main" val="10006"/>
                  </a:ext>
                </a:extLst>
              </a:tr>
              <a:tr h="439728">
                <a:tc>
                  <a:txBody>
                    <a:bodyPr/>
                    <a:lstStyle/>
                    <a:p>
                      <a:pPr algn="ctr"/>
                      <a:r>
                        <a:rPr lang="en-US" altLang="zh-CN" b="1" dirty="0">
                          <a:solidFill>
                            <a:schemeClr val="bg1"/>
                          </a:solidFill>
                          <a:latin typeface="+mj-ea"/>
                          <a:ea typeface="+mj-ea"/>
                        </a:rPr>
                        <a:t>2027.1-2027.3</a:t>
                      </a:r>
                    </a:p>
                  </a:txBody>
                  <a:tcPr anchor="ctr">
                    <a:solidFill>
                      <a:srgbClr val="4472C4"/>
                    </a:solidFill>
                  </a:tcPr>
                </a:tc>
                <a:tc>
                  <a:txBody>
                    <a:bodyPr/>
                    <a:lstStyle/>
                    <a:p>
                      <a:pPr algn="ctr"/>
                      <a:r>
                        <a:rPr lang="zh-CN" altLang="en-US" dirty="0">
                          <a:latin typeface="+mj-ea"/>
                          <a:ea typeface="+mj-ea"/>
                        </a:rPr>
                        <a:t>完成大论文</a:t>
                      </a:r>
                    </a:p>
                  </a:txBody>
                  <a:tcPr anchor="ctr">
                    <a:solidFill>
                      <a:schemeClr val="bg2"/>
                    </a:solidFill>
                  </a:tcPr>
                </a:tc>
                <a:tc>
                  <a:txBody>
                    <a:bodyPr/>
                    <a:lstStyle/>
                    <a:p>
                      <a:pPr algn="ctr"/>
                      <a:r>
                        <a:rPr lang="zh-CN" altLang="en-US" dirty="0">
                          <a:latin typeface="+mj-ea"/>
                          <a:ea typeface="+mj-ea"/>
                        </a:rPr>
                        <a:t>学位论文</a:t>
                      </a:r>
                    </a:p>
                  </a:txBody>
                  <a:tcPr anchor="ctr">
                    <a:solidFill>
                      <a:schemeClr val="bg2"/>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0599715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p:cNvPicPr>
            <a:picLocks noChangeAspect="1"/>
          </p:cNvPicPr>
          <p:nvPr/>
        </p:nvPicPr>
        <p:blipFill>
          <a:blip r:embed="rId3"/>
          <a:stretch>
            <a:fillRect/>
          </a:stretch>
        </p:blipFill>
        <p:spPr>
          <a:xfrm>
            <a:off x="11300792" y="166376"/>
            <a:ext cx="674131" cy="674131"/>
          </a:xfrm>
          <a:prstGeom prst="rect">
            <a:avLst/>
          </a:prstGeom>
        </p:spPr>
      </p:pic>
      <p:sp>
        <p:nvSpPr>
          <p:cNvPr id="8" name="文本框 1">
            <a:extLst>
              <a:ext uri="{FF2B5EF4-FFF2-40B4-BE49-F238E27FC236}">
                <a16:creationId xmlns:a16="http://schemas.microsoft.com/office/drawing/2014/main" id="{09A89A29-4D55-46AA-8049-42AE20C24303}"/>
              </a:ext>
            </a:extLst>
          </p:cNvPr>
          <p:cNvSpPr txBox="1"/>
          <p:nvPr/>
        </p:nvSpPr>
        <p:spPr>
          <a:xfrm>
            <a:off x="156938" y="366816"/>
            <a:ext cx="11817985" cy="6324808"/>
          </a:xfrm>
          <a:prstGeom prst="rect">
            <a:avLst/>
          </a:prstGeom>
        </p:spPr>
        <p:txBody>
          <a:bodyPr wrap="square">
            <a:spAutoFit/>
          </a:bodyPr>
          <a:lstStyle/>
          <a:p>
            <a:pPr lvl="0"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[1]</a:t>
            </a:r>
            <a:r>
              <a:rPr lang="en-US" altLang="zh-CN" sz="1600" b="0" i="0" dirty="0">
                <a:solidFill>
                  <a:srgbClr val="222222"/>
                </a:solidFill>
                <a:effectLst/>
                <a:latin typeface="Arial" panose="020B0604020202020204" pitchFamily="34" charset="0"/>
              </a:rPr>
              <a:t> Lee J, </a:t>
            </a:r>
            <a:r>
              <a:rPr lang="en-US" altLang="zh-CN" sz="1600" b="0" i="0" dirty="0" err="1">
                <a:solidFill>
                  <a:srgbClr val="222222"/>
                </a:solidFill>
                <a:effectLst/>
                <a:latin typeface="Arial" panose="020B0604020202020204" pitchFamily="34" charset="0"/>
              </a:rPr>
              <a:t>Mitici</a:t>
            </a:r>
            <a:r>
              <a:rPr lang="en-US" altLang="zh-CN" sz="1600" b="0" i="0" dirty="0">
                <a:solidFill>
                  <a:srgbClr val="222222"/>
                </a:solidFill>
                <a:effectLst/>
                <a:latin typeface="Arial" panose="020B0604020202020204" pitchFamily="34" charset="0"/>
              </a:rPr>
              <a:t> M. An integrated assessment of safety and efficiency of aircraft maintenance strategies using agent-based modelling and stochastic Petri nets[J]. Reliability Engineering &amp; System Safety, 2020, 202: 107052.</a:t>
            </a:r>
          </a:p>
          <a:p>
            <a:pPr lvl="0"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[2]J. Hu, J. Zhu, N. Sun, Y. Wei, Q. Qin. A Network-Based Two-Stage Robust Scheduling Strategy for the Aircraft Assembly System with Uncertain Duration. Computers &amp; Industrial Engineering, 2024, 188: 109911.</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[3]H. Zhu, S. Lu, C. Lu, R. N. Yang. A Reactive Scheduling Method for Disturbances in Aircraft Moving Assembly Line. Business &amp; Information Systems Engineering, 2020, 15(11): 4756-4772.</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[4]M. </a:t>
            </a:r>
            <a:r>
              <a:rPr lang="en-US" altLang="zh-CN" sz="1600" dirty="0" err="1">
                <a:latin typeface="Times New Roman" panose="02020603050405020304"/>
                <a:ea typeface="宋体" panose="02010600030101010101" pitchFamily="2" charset="-122"/>
              </a:rPr>
              <a:t>Irigo</a:t>
            </a:r>
            <a:r>
              <a:rPr lang="en-US" altLang="zh-CN" sz="1600" dirty="0">
                <a:latin typeface="Times New Roman" panose="02020603050405020304"/>
                <a:ea typeface="宋体" panose="02010600030101010101" pitchFamily="2" charset="-122"/>
              </a:rPr>
              <a:t>. A Branch-and-Bound Approach to Schedule a No-Wait </a:t>
            </a:r>
            <a:r>
              <a:rPr lang="en-US" altLang="zh-CN" sz="1600" dirty="0" err="1">
                <a:latin typeface="Times New Roman" panose="02020603050405020304"/>
                <a:ea typeface="宋体" panose="02010600030101010101" pitchFamily="2" charset="-122"/>
              </a:rPr>
              <a:t>Flowshop</a:t>
            </a:r>
            <a:r>
              <a:rPr lang="en-US" altLang="zh-CN" sz="1600" dirty="0">
                <a:latin typeface="Times New Roman" panose="02020603050405020304"/>
                <a:ea typeface="宋体" panose="02010600030101010101" pitchFamily="2" charset="-122"/>
              </a:rPr>
              <a:t> to Minimize the CVaR of the Residual Work Content. Computers &amp; Industrial Engineering, 2019, 129: 67-75.</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[5]S. Shan, Z. Hu, Z. Liu et al. An adaptive genetic algorithm for demand-driven and resource-constrained project scheduling in aircraft assembly. Information Technology and Management, 2017, 18: 41–53.</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[6]Z. Lu, Y. Ren, L. Wang, H. Zhu. A resource investment problem based on project splitting with time windows for aircraft moving assembly line. Computers &amp; Industrial Engineering, 2019, 135: 568-581.</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[7]Z. Bao, L. Chen. A </a:t>
            </a:r>
            <a:r>
              <a:rPr lang="en-US" altLang="zh-CN" sz="1600" dirty="0" err="1">
                <a:latin typeface="Times New Roman" panose="02020603050405020304"/>
                <a:ea typeface="宋体" panose="02010600030101010101" pitchFamily="2" charset="-122"/>
              </a:rPr>
              <a:t>Matheuristic</a:t>
            </a:r>
            <a:r>
              <a:rPr lang="en-US" altLang="zh-CN" sz="1600" dirty="0">
                <a:latin typeface="Times New Roman" panose="02020603050405020304"/>
                <a:ea typeface="宋体" panose="02010600030101010101" pitchFamily="2" charset="-122"/>
              </a:rPr>
              <a:t> Approach for the Aircraft Final Assembly Line Balancing Problem Considering Learning Curve. Proceedings of the 2023 IEEE International Conference on Industrial Engineering and Engineering Management (IEEM), Singapore, 2023: 1389-1393.</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[8]D. Lovato, R. Guillaume, C. Thierry et al. Aircraft final assembly line scheduling with user preferences and equity of work distribution. Flexible Services and Manufacturing Journal, 2025, 37: 348–366.</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[9]D. Wang, F. Qiao, L. Guan, K. </a:t>
            </a:r>
            <a:r>
              <a:rPr lang="en-US" altLang="zh-CN" sz="1600" dirty="0" err="1">
                <a:latin typeface="Times New Roman" panose="02020603050405020304"/>
                <a:ea typeface="宋体" panose="02010600030101010101" pitchFamily="2" charset="-122"/>
              </a:rPr>
              <a:t>Jlu</a:t>
            </a:r>
            <a:r>
              <a:rPr lang="en-US" altLang="zh-CN" sz="1600" dirty="0">
                <a:latin typeface="Times New Roman" panose="02020603050405020304"/>
                <a:ea typeface="宋体" panose="02010600030101010101" pitchFamily="2" charset="-122"/>
              </a:rPr>
              <a:t>, C. Ding, J. Shi. Human-Machine Collaborative Optimization Method for Dynamic Worker Allocation in Aircraft Final Assembly Lines. Computers &amp; Industrial Engineering, 2024, 194: 110370.</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[10]H. Cai, Q. Ye, Q. Zhao, L. Liu. An evolutionary knowledge transfer framework for solving workgroup reconfiguration problem in aircraft final assembly. Applied Soft Computing, 2024, 164: 111959.</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[11]X. Han, Y. He, Z. Chen. An integrated multi-objective production scheduling model considering the production quality state. Proceedings of the 2017 Prognostics and System Health Management Conference (PHM-Harbin), Harbin, 2017: 1-7.</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[12]G. S. Liu, H. D. Yang, M. B. Cheng. A three-stage decomposition approach for energy-aware scheduling with processing-time-dependent product quality. International Journal of Production Research, 2016, 55(11): 3073–3091.</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[13]Y. Fu, H. Wang, J. Wang, X. Pu. </a:t>
            </a:r>
            <a:r>
              <a:rPr lang="en-US" altLang="zh-CN" sz="1600" dirty="0" err="1">
                <a:latin typeface="Times New Roman" panose="02020603050405020304"/>
                <a:ea typeface="宋体" panose="02010600030101010101" pitchFamily="2" charset="-122"/>
              </a:rPr>
              <a:t>Multiobjective</a:t>
            </a:r>
            <a:r>
              <a:rPr lang="en-US" altLang="zh-CN" sz="1600" dirty="0">
                <a:latin typeface="Times New Roman" panose="02020603050405020304"/>
                <a:ea typeface="宋体" panose="02010600030101010101" pitchFamily="2" charset="-122"/>
              </a:rPr>
              <a:t> Modeling and Optimization for Scheduling a Stochastic Hybrid Flow Shop With Maximizing Processing Quality and Minimizing Total Tardiness. IEEE Systems Journal, 2021, 15(3): 4696-4707.</a:t>
            </a:r>
          </a:p>
        </p:txBody>
      </p:sp>
    </p:spTree>
    <p:extLst>
      <p:ext uri="{BB962C8B-B14F-4D97-AF65-F5344CB8AC3E}">
        <p14:creationId xmlns:p14="http://schemas.microsoft.com/office/powerpoint/2010/main" val="8770972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EF92167-871E-E9AC-8CEE-13386C12FAE3}"/>
              </a:ext>
            </a:extLst>
          </p:cNvPr>
          <p:cNvSpPr/>
          <p:nvPr/>
        </p:nvSpPr>
        <p:spPr>
          <a:xfrm>
            <a:off x="5630613" y="1864727"/>
            <a:ext cx="342816" cy="6723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232" rtl="0" eaLnBrk="1" latinLnBrk="0" hangingPunct="1">
              <a:defRPr sz="1800" kern="1200">
                <a:solidFill>
                  <a:schemeClr val="lt1"/>
                </a:solidFill>
                <a:latin typeface="+mn-lt"/>
                <a:ea typeface="+mn-ea"/>
                <a:cs typeface="+mn-cs"/>
              </a:defRPr>
            </a:lvl1pPr>
            <a:lvl2pPr marL="457116" algn="l" defTabSz="914232" rtl="0" eaLnBrk="1" latinLnBrk="0" hangingPunct="1">
              <a:defRPr sz="1800" kern="1200">
                <a:solidFill>
                  <a:schemeClr val="lt1"/>
                </a:solidFill>
                <a:latin typeface="+mn-lt"/>
                <a:ea typeface="+mn-ea"/>
                <a:cs typeface="+mn-cs"/>
              </a:defRPr>
            </a:lvl2pPr>
            <a:lvl3pPr marL="914232" algn="l" defTabSz="914232" rtl="0" eaLnBrk="1" latinLnBrk="0" hangingPunct="1">
              <a:defRPr sz="1800" kern="1200">
                <a:solidFill>
                  <a:schemeClr val="lt1"/>
                </a:solidFill>
                <a:latin typeface="+mn-lt"/>
                <a:ea typeface="+mn-ea"/>
                <a:cs typeface="+mn-cs"/>
              </a:defRPr>
            </a:lvl3pPr>
            <a:lvl4pPr marL="1371348" algn="l" defTabSz="914232" rtl="0" eaLnBrk="1" latinLnBrk="0" hangingPunct="1">
              <a:defRPr sz="1800" kern="1200">
                <a:solidFill>
                  <a:schemeClr val="lt1"/>
                </a:solidFill>
                <a:latin typeface="+mn-lt"/>
                <a:ea typeface="+mn-ea"/>
                <a:cs typeface="+mn-cs"/>
              </a:defRPr>
            </a:lvl4pPr>
            <a:lvl5pPr marL="1828464" algn="l" defTabSz="914232" rtl="0" eaLnBrk="1" latinLnBrk="0" hangingPunct="1">
              <a:defRPr sz="1800" kern="1200">
                <a:solidFill>
                  <a:schemeClr val="lt1"/>
                </a:solidFill>
                <a:latin typeface="+mn-lt"/>
                <a:ea typeface="+mn-ea"/>
                <a:cs typeface="+mn-cs"/>
              </a:defRPr>
            </a:lvl5pPr>
            <a:lvl6pPr marL="2285581" algn="l" defTabSz="914232" rtl="0" eaLnBrk="1" latinLnBrk="0" hangingPunct="1">
              <a:defRPr sz="1800" kern="1200">
                <a:solidFill>
                  <a:schemeClr val="lt1"/>
                </a:solidFill>
                <a:latin typeface="+mn-lt"/>
                <a:ea typeface="+mn-ea"/>
                <a:cs typeface="+mn-cs"/>
              </a:defRPr>
            </a:lvl6pPr>
            <a:lvl7pPr marL="2742696" algn="l" defTabSz="914232" rtl="0" eaLnBrk="1" latinLnBrk="0" hangingPunct="1">
              <a:defRPr sz="1800" kern="1200">
                <a:solidFill>
                  <a:schemeClr val="lt1"/>
                </a:solidFill>
                <a:latin typeface="+mn-lt"/>
                <a:ea typeface="+mn-ea"/>
                <a:cs typeface="+mn-cs"/>
              </a:defRPr>
            </a:lvl7pPr>
            <a:lvl8pPr marL="3199813" algn="l" defTabSz="914232" rtl="0" eaLnBrk="1" latinLnBrk="0" hangingPunct="1">
              <a:defRPr sz="1800" kern="1200">
                <a:solidFill>
                  <a:schemeClr val="lt1"/>
                </a:solidFill>
                <a:latin typeface="+mn-lt"/>
                <a:ea typeface="+mn-ea"/>
                <a:cs typeface="+mn-cs"/>
              </a:defRPr>
            </a:lvl8pPr>
            <a:lvl9pPr marL="3656929" algn="l" defTabSz="914232" rtl="0" eaLnBrk="1" latinLnBrk="0" hangingPunct="1">
              <a:defRPr sz="1800" kern="1200">
                <a:solidFill>
                  <a:schemeClr val="lt1"/>
                </a:solidFill>
                <a:latin typeface="+mn-lt"/>
                <a:ea typeface="+mn-ea"/>
                <a:cs typeface="+mn-cs"/>
              </a:defRPr>
            </a:lvl9pPr>
          </a:lstStyle>
          <a:p>
            <a:pPr algn="ctr"/>
            <a:endParaRPr lang="zh-CN" altLang="en-US" sz="2400"/>
          </a:p>
        </p:txBody>
      </p:sp>
      <p:sp>
        <p:nvSpPr>
          <p:cNvPr id="4" name="矩形 3">
            <a:extLst>
              <a:ext uri="{FF2B5EF4-FFF2-40B4-BE49-F238E27FC236}">
                <a16:creationId xmlns:a16="http://schemas.microsoft.com/office/drawing/2014/main" id="{A2F645F3-8699-882E-C660-F1FA947C3EB9}"/>
              </a:ext>
            </a:extLst>
          </p:cNvPr>
          <p:cNvSpPr/>
          <p:nvPr/>
        </p:nvSpPr>
        <p:spPr>
          <a:xfrm>
            <a:off x="5630614" y="1864727"/>
            <a:ext cx="2628255" cy="3295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232" rtl="0" eaLnBrk="1" latinLnBrk="0" hangingPunct="1">
              <a:defRPr sz="1800" kern="1200">
                <a:solidFill>
                  <a:schemeClr val="lt1"/>
                </a:solidFill>
                <a:latin typeface="+mn-lt"/>
                <a:ea typeface="+mn-ea"/>
                <a:cs typeface="+mn-cs"/>
              </a:defRPr>
            </a:lvl1pPr>
            <a:lvl2pPr marL="457116" algn="l" defTabSz="914232" rtl="0" eaLnBrk="1" latinLnBrk="0" hangingPunct="1">
              <a:defRPr sz="1800" kern="1200">
                <a:solidFill>
                  <a:schemeClr val="lt1"/>
                </a:solidFill>
                <a:latin typeface="+mn-lt"/>
                <a:ea typeface="+mn-ea"/>
                <a:cs typeface="+mn-cs"/>
              </a:defRPr>
            </a:lvl2pPr>
            <a:lvl3pPr marL="914232" algn="l" defTabSz="914232" rtl="0" eaLnBrk="1" latinLnBrk="0" hangingPunct="1">
              <a:defRPr sz="1800" kern="1200">
                <a:solidFill>
                  <a:schemeClr val="lt1"/>
                </a:solidFill>
                <a:latin typeface="+mn-lt"/>
                <a:ea typeface="+mn-ea"/>
                <a:cs typeface="+mn-cs"/>
              </a:defRPr>
            </a:lvl3pPr>
            <a:lvl4pPr marL="1371348" algn="l" defTabSz="914232" rtl="0" eaLnBrk="1" latinLnBrk="0" hangingPunct="1">
              <a:defRPr sz="1800" kern="1200">
                <a:solidFill>
                  <a:schemeClr val="lt1"/>
                </a:solidFill>
                <a:latin typeface="+mn-lt"/>
                <a:ea typeface="+mn-ea"/>
                <a:cs typeface="+mn-cs"/>
              </a:defRPr>
            </a:lvl4pPr>
            <a:lvl5pPr marL="1828464" algn="l" defTabSz="914232" rtl="0" eaLnBrk="1" latinLnBrk="0" hangingPunct="1">
              <a:defRPr sz="1800" kern="1200">
                <a:solidFill>
                  <a:schemeClr val="lt1"/>
                </a:solidFill>
                <a:latin typeface="+mn-lt"/>
                <a:ea typeface="+mn-ea"/>
                <a:cs typeface="+mn-cs"/>
              </a:defRPr>
            </a:lvl5pPr>
            <a:lvl6pPr marL="2285581" algn="l" defTabSz="914232" rtl="0" eaLnBrk="1" latinLnBrk="0" hangingPunct="1">
              <a:defRPr sz="1800" kern="1200">
                <a:solidFill>
                  <a:schemeClr val="lt1"/>
                </a:solidFill>
                <a:latin typeface="+mn-lt"/>
                <a:ea typeface="+mn-ea"/>
                <a:cs typeface="+mn-cs"/>
              </a:defRPr>
            </a:lvl6pPr>
            <a:lvl7pPr marL="2742696" algn="l" defTabSz="914232" rtl="0" eaLnBrk="1" latinLnBrk="0" hangingPunct="1">
              <a:defRPr sz="1800" kern="1200">
                <a:solidFill>
                  <a:schemeClr val="lt1"/>
                </a:solidFill>
                <a:latin typeface="+mn-lt"/>
                <a:ea typeface="+mn-ea"/>
                <a:cs typeface="+mn-cs"/>
              </a:defRPr>
            </a:lvl7pPr>
            <a:lvl8pPr marL="3199813" algn="l" defTabSz="914232" rtl="0" eaLnBrk="1" latinLnBrk="0" hangingPunct="1">
              <a:defRPr sz="1800" kern="1200">
                <a:solidFill>
                  <a:schemeClr val="lt1"/>
                </a:solidFill>
                <a:latin typeface="+mn-lt"/>
                <a:ea typeface="+mn-ea"/>
                <a:cs typeface="+mn-cs"/>
              </a:defRPr>
            </a:lvl8pPr>
            <a:lvl9pPr marL="3656929" algn="l" defTabSz="914232" rtl="0" eaLnBrk="1" latinLnBrk="0" hangingPunct="1">
              <a:defRPr sz="1800" kern="1200">
                <a:solidFill>
                  <a:schemeClr val="lt1"/>
                </a:solidFill>
                <a:latin typeface="+mn-lt"/>
                <a:ea typeface="+mn-ea"/>
                <a:cs typeface="+mn-cs"/>
              </a:defRPr>
            </a:lvl9pPr>
          </a:lstStyle>
          <a:p>
            <a:pPr algn="ctr"/>
            <a:endParaRPr lang="zh-CN" altLang="en-US" sz="2400"/>
          </a:p>
        </p:txBody>
      </p:sp>
      <p:sp>
        <p:nvSpPr>
          <p:cNvPr id="5" name="矩形 4">
            <a:extLst>
              <a:ext uri="{FF2B5EF4-FFF2-40B4-BE49-F238E27FC236}">
                <a16:creationId xmlns:a16="http://schemas.microsoft.com/office/drawing/2014/main" id="{AADC1B5B-4019-158E-0510-D95534E8C052}"/>
              </a:ext>
            </a:extLst>
          </p:cNvPr>
          <p:cNvSpPr/>
          <p:nvPr/>
        </p:nvSpPr>
        <p:spPr>
          <a:xfrm rot="5400000">
            <a:off x="6862496" y="3146826"/>
            <a:ext cx="2893709" cy="3295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232" rtl="0" eaLnBrk="1" latinLnBrk="0" hangingPunct="1">
              <a:defRPr sz="1800" kern="1200">
                <a:solidFill>
                  <a:schemeClr val="lt1"/>
                </a:solidFill>
                <a:latin typeface="+mn-lt"/>
                <a:ea typeface="+mn-ea"/>
                <a:cs typeface="+mn-cs"/>
              </a:defRPr>
            </a:lvl1pPr>
            <a:lvl2pPr marL="457116" algn="l" defTabSz="914232" rtl="0" eaLnBrk="1" latinLnBrk="0" hangingPunct="1">
              <a:defRPr sz="1800" kern="1200">
                <a:solidFill>
                  <a:schemeClr val="lt1"/>
                </a:solidFill>
                <a:latin typeface="+mn-lt"/>
                <a:ea typeface="+mn-ea"/>
                <a:cs typeface="+mn-cs"/>
              </a:defRPr>
            </a:lvl2pPr>
            <a:lvl3pPr marL="914232" algn="l" defTabSz="914232" rtl="0" eaLnBrk="1" latinLnBrk="0" hangingPunct="1">
              <a:defRPr sz="1800" kern="1200">
                <a:solidFill>
                  <a:schemeClr val="lt1"/>
                </a:solidFill>
                <a:latin typeface="+mn-lt"/>
                <a:ea typeface="+mn-ea"/>
                <a:cs typeface="+mn-cs"/>
              </a:defRPr>
            </a:lvl3pPr>
            <a:lvl4pPr marL="1371348" algn="l" defTabSz="914232" rtl="0" eaLnBrk="1" latinLnBrk="0" hangingPunct="1">
              <a:defRPr sz="1800" kern="1200">
                <a:solidFill>
                  <a:schemeClr val="lt1"/>
                </a:solidFill>
                <a:latin typeface="+mn-lt"/>
                <a:ea typeface="+mn-ea"/>
                <a:cs typeface="+mn-cs"/>
              </a:defRPr>
            </a:lvl4pPr>
            <a:lvl5pPr marL="1828464" algn="l" defTabSz="914232" rtl="0" eaLnBrk="1" latinLnBrk="0" hangingPunct="1">
              <a:defRPr sz="1800" kern="1200">
                <a:solidFill>
                  <a:schemeClr val="lt1"/>
                </a:solidFill>
                <a:latin typeface="+mn-lt"/>
                <a:ea typeface="+mn-ea"/>
                <a:cs typeface="+mn-cs"/>
              </a:defRPr>
            </a:lvl5pPr>
            <a:lvl6pPr marL="2285581" algn="l" defTabSz="914232" rtl="0" eaLnBrk="1" latinLnBrk="0" hangingPunct="1">
              <a:defRPr sz="1800" kern="1200">
                <a:solidFill>
                  <a:schemeClr val="lt1"/>
                </a:solidFill>
                <a:latin typeface="+mn-lt"/>
                <a:ea typeface="+mn-ea"/>
                <a:cs typeface="+mn-cs"/>
              </a:defRPr>
            </a:lvl6pPr>
            <a:lvl7pPr marL="2742696" algn="l" defTabSz="914232" rtl="0" eaLnBrk="1" latinLnBrk="0" hangingPunct="1">
              <a:defRPr sz="1800" kern="1200">
                <a:solidFill>
                  <a:schemeClr val="lt1"/>
                </a:solidFill>
                <a:latin typeface="+mn-lt"/>
                <a:ea typeface="+mn-ea"/>
                <a:cs typeface="+mn-cs"/>
              </a:defRPr>
            </a:lvl7pPr>
            <a:lvl8pPr marL="3199813" algn="l" defTabSz="914232" rtl="0" eaLnBrk="1" latinLnBrk="0" hangingPunct="1">
              <a:defRPr sz="1800" kern="1200">
                <a:solidFill>
                  <a:schemeClr val="lt1"/>
                </a:solidFill>
                <a:latin typeface="+mn-lt"/>
                <a:ea typeface="+mn-ea"/>
                <a:cs typeface="+mn-cs"/>
              </a:defRPr>
            </a:lvl8pPr>
            <a:lvl9pPr marL="3656929" algn="l" defTabSz="914232" rtl="0" eaLnBrk="1" latinLnBrk="0" hangingPunct="1">
              <a:defRPr sz="1800" kern="1200">
                <a:solidFill>
                  <a:schemeClr val="lt1"/>
                </a:solidFill>
                <a:latin typeface="+mn-lt"/>
                <a:ea typeface="+mn-ea"/>
                <a:cs typeface="+mn-cs"/>
              </a:defRPr>
            </a:lvl9pPr>
          </a:lstStyle>
          <a:p>
            <a:pPr algn="ctr"/>
            <a:endParaRPr lang="zh-CN" altLang="en-US" sz="2400"/>
          </a:p>
        </p:txBody>
      </p:sp>
      <p:sp>
        <p:nvSpPr>
          <p:cNvPr id="6" name="矩形 5">
            <a:extLst>
              <a:ext uri="{FF2B5EF4-FFF2-40B4-BE49-F238E27FC236}">
                <a16:creationId xmlns:a16="http://schemas.microsoft.com/office/drawing/2014/main" id="{9A8DDC8D-BA75-86E9-46EE-B550AC483C24}"/>
              </a:ext>
            </a:extLst>
          </p:cNvPr>
          <p:cNvSpPr/>
          <p:nvPr/>
        </p:nvSpPr>
        <p:spPr>
          <a:xfrm flipV="1">
            <a:off x="5630613" y="4086109"/>
            <a:ext cx="342816" cy="4570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232" rtl="0" eaLnBrk="1" latinLnBrk="0" hangingPunct="1">
              <a:defRPr sz="1800" kern="1200">
                <a:solidFill>
                  <a:schemeClr val="lt1"/>
                </a:solidFill>
                <a:latin typeface="+mn-lt"/>
                <a:ea typeface="+mn-ea"/>
                <a:cs typeface="+mn-cs"/>
              </a:defRPr>
            </a:lvl1pPr>
            <a:lvl2pPr marL="457116" algn="l" defTabSz="914232" rtl="0" eaLnBrk="1" latinLnBrk="0" hangingPunct="1">
              <a:defRPr sz="1800" kern="1200">
                <a:solidFill>
                  <a:schemeClr val="lt1"/>
                </a:solidFill>
                <a:latin typeface="+mn-lt"/>
                <a:ea typeface="+mn-ea"/>
                <a:cs typeface="+mn-cs"/>
              </a:defRPr>
            </a:lvl2pPr>
            <a:lvl3pPr marL="914232" algn="l" defTabSz="914232" rtl="0" eaLnBrk="1" latinLnBrk="0" hangingPunct="1">
              <a:defRPr sz="1800" kern="1200">
                <a:solidFill>
                  <a:schemeClr val="lt1"/>
                </a:solidFill>
                <a:latin typeface="+mn-lt"/>
                <a:ea typeface="+mn-ea"/>
                <a:cs typeface="+mn-cs"/>
              </a:defRPr>
            </a:lvl3pPr>
            <a:lvl4pPr marL="1371348" algn="l" defTabSz="914232" rtl="0" eaLnBrk="1" latinLnBrk="0" hangingPunct="1">
              <a:defRPr sz="1800" kern="1200">
                <a:solidFill>
                  <a:schemeClr val="lt1"/>
                </a:solidFill>
                <a:latin typeface="+mn-lt"/>
                <a:ea typeface="+mn-ea"/>
                <a:cs typeface="+mn-cs"/>
              </a:defRPr>
            </a:lvl4pPr>
            <a:lvl5pPr marL="1828464" algn="l" defTabSz="914232" rtl="0" eaLnBrk="1" latinLnBrk="0" hangingPunct="1">
              <a:defRPr sz="1800" kern="1200">
                <a:solidFill>
                  <a:schemeClr val="lt1"/>
                </a:solidFill>
                <a:latin typeface="+mn-lt"/>
                <a:ea typeface="+mn-ea"/>
                <a:cs typeface="+mn-cs"/>
              </a:defRPr>
            </a:lvl5pPr>
            <a:lvl6pPr marL="2285581" algn="l" defTabSz="914232" rtl="0" eaLnBrk="1" latinLnBrk="0" hangingPunct="1">
              <a:defRPr sz="1800" kern="1200">
                <a:solidFill>
                  <a:schemeClr val="lt1"/>
                </a:solidFill>
                <a:latin typeface="+mn-lt"/>
                <a:ea typeface="+mn-ea"/>
                <a:cs typeface="+mn-cs"/>
              </a:defRPr>
            </a:lvl6pPr>
            <a:lvl7pPr marL="2742696" algn="l" defTabSz="914232" rtl="0" eaLnBrk="1" latinLnBrk="0" hangingPunct="1">
              <a:defRPr sz="1800" kern="1200">
                <a:solidFill>
                  <a:schemeClr val="lt1"/>
                </a:solidFill>
                <a:latin typeface="+mn-lt"/>
                <a:ea typeface="+mn-ea"/>
                <a:cs typeface="+mn-cs"/>
              </a:defRPr>
            </a:lvl7pPr>
            <a:lvl8pPr marL="3199813" algn="l" defTabSz="914232" rtl="0" eaLnBrk="1" latinLnBrk="0" hangingPunct="1">
              <a:defRPr sz="1800" kern="1200">
                <a:solidFill>
                  <a:schemeClr val="lt1"/>
                </a:solidFill>
                <a:latin typeface="+mn-lt"/>
                <a:ea typeface="+mn-ea"/>
                <a:cs typeface="+mn-cs"/>
              </a:defRPr>
            </a:lvl8pPr>
            <a:lvl9pPr marL="3656929" algn="l" defTabSz="914232" rtl="0" eaLnBrk="1" latinLnBrk="0" hangingPunct="1">
              <a:defRPr sz="1800" kern="1200">
                <a:solidFill>
                  <a:schemeClr val="lt1"/>
                </a:solidFill>
                <a:latin typeface="+mn-lt"/>
                <a:ea typeface="+mn-ea"/>
                <a:cs typeface="+mn-cs"/>
              </a:defRPr>
            </a:lvl9pPr>
          </a:lstStyle>
          <a:p>
            <a:pPr algn="ctr"/>
            <a:endParaRPr lang="zh-CN" altLang="en-US" sz="2400"/>
          </a:p>
        </p:txBody>
      </p:sp>
      <p:sp>
        <p:nvSpPr>
          <p:cNvPr id="7" name="矩形 6">
            <a:extLst>
              <a:ext uri="{FF2B5EF4-FFF2-40B4-BE49-F238E27FC236}">
                <a16:creationId xmlns:a16="http://schemas.microsoft.com/office/drawing/2014/main" id="{39DD6E67-D5D9-6163-E6E5-00356277B265}"/>
              </a:ext>
            </a:extLst>
          </p:cNvPr>
          <p:cNvSpPr/>
          <p:nvPr/>
        </p:nvSpPr>
        <p:spPr>
          <a:xfrm flipV="1">
            <a:off x="5630614" y="4428926"/>
            <a:ext cx="2628255" cy="3295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232" rtl="0" eaLnBrk="1" latinLnBrk="0" hangingPunct="1">
              <a:defRPr sz="1800" kern="1200">
                <a:solidFill>
                  <a:schemeClr val="lt1"/>
                </a:solidFill>
                <a:latin typeface="+mn-lt"/>
                <a:ea typeface="+mn-ea"/>
                <a:cs typeface="+mn-cs"/>
              </a:defRPr>
            </a:lvl1pPr>
            <a:lvl2pPr marL="457116" algn="l" defTabSz="914232" rtl="0" eaLnBrk="1" latinLnBrk="0" hangingPunct="1">
              <a:defRPr sz="1800" kern="1200">
                <a:solidFill>
                  <a:schemeClr val="lt1"/>
                </a:solidFill>
                <a:latin typeface="+mn-lt"/>
                <a:ea typeface="+mn-ea"/>
                <a:cs typeface="+mn-cs"/>
              </a:defRPr>
            </a:lvl2pPr>
            <a:lvl3pPr marL="914232" algn="l" defTabSz="914232" rtl="0" eaLnBrk="1" latinLnBrk="0" hangingPunct="1">
              <a:defRPr sz="1800" kern="1200">
                <a:solidFill>
                  <a:schemeClr val="lt1"/>
                </a:solidFill>
                <a:latin typeface="+mn-lt"/>
                <a:ea typeface="+mn-ea"/>
                <a:cs typeface="+mn-cs"/>
              </a:defRPr>
            </a:lvl3pPr>
            <a:lvl4pPr marL="1371348" algn="l" defTabSz="914232" rtl="0" eaLnBrk="1" latinLnBrk="0" hangingPunct="1">
              <a:defRPr sz="1800" kern="1200">
                <a:solidFill>
                  <a:schemeClr val="lt1"/>
                </a:solidFill>
                <a:latin typeface="+mn-lt"/>
                <a:ea typeface="+mn-ea"/>
                <a:cs typeface="+mn-cs"/>
              </a:defRPr>
            </a:lvl4pPr>
            <a:lvl5pPr marL="1828464" algn="l" defTabSz="914232" rtl="0" eaLnBrk="1" latinLnBrk="0" hangingPunct="1">
              <a:defRPr sz="1800" kern="1200">
                <a:solidFill>
                  <a:schemeClr val="lt1"/>
                </a:solidFill>
                <a:latin typeface="+mn-lt"/>
                <a:ea typeface="+mn-ea"/>
                <a:cs typeface="+mn-cs"/>
              </a:defRPr>
            </a:lvl5pPr>
            <a:lvl6pPr marL="2285581" algn="l" defTabSz="914232" rtl="0" eaLnBrk="1" latinLnBrk="0" hangingPunct="1">
              <a:defRPr sz="1800" kern="1200">
                <a:solidFill>
                  <a:schemeClr val="lt1"/>
                </a:solidFill>
                <a:latin typeface="+mn-lt"/>
                <a:ea typeface="+mn-ea"/>
                <a:cs typeface="+mn-cs"/>
              </a:defRPr>
            </a:lvl6pPr>
            <a:lvl7pPr marL="2742696" algn="l" defTabSz="914232" rtl="0" eaLnBrk="1" latinLnBrk="0" hangingPunct="1">
              <a:defRPr sz="1800" kern="1200">
                <a:solidFill>
                  <a:schemeClr val="lt1"/>
                </a:solidFill>
                <a:latin typeface="+mn-lt"/>
                <a:ea typeface="+mn-ea"/>
                <a:cs typeface="+mn-cs"/>
              </a:defRPr>
            </a:lvl7pPr>
            <a:lvl8pPr marL="3199813" algn="l" defTabSz="914232" rtl="0" eaLnBrk="1" latinLnBrk="0" hangingPunct="1">
              <a:defRPr sz="1800" kern="1200">
                <a:solidFill>
                  <a:schemeClr val="lt1"/>
                </a:solidFill>
                <a:latin typeface="+mn-lt"/>
                <a:ea typeface="+mn-ea"/>
                <a:cs typeface="+mn-cs"/>
              </a:defRPr>
            </a:lvl8pPr>
            <a:lvl9pPr marL="3656929" algn="l" defTabSz="914232" rtl="0" eaLnBrk="1" latinLnBrk="0" hangingPunct="1">
              <a:defRPr sz="1800" kern="1200">
                <a:solidFill>
                  <a:schemeClr val="lt1"/>
                </a:solidFill>
                <a:latin typeface="+mn-lt"/>
                <a:ea typeface="+mn-ea"/>
                <a:cs typeface="+mn-cs"/>
              </a:defRPr>
            </a:lvl9pPr>
          </a:lstStyle>
          <a:p>
            <a:pPr algn="ctr"/>
            <a:endParaRPr lang="zh-CN" altLang="en-US" sz="2400"/>
          </a:p>
        </p:txBody>
      </p:sp>
      <p:sp>
        <p:nvSpPr>
          <p:cNvPr id="8" name="TextBox 27">
            <a:extLst>
              <a:ext uri="{FF2B5EF4-FFF2-40B4-BE49-F238E27FC236}">
                <a16:creationId xmlns:a16="http://schemas.microsoft.com/office/drawing/2014/main" id="{B2454A97-6378-E6F5-15B0-1676C486BD6C}"/>
              </a:ext>
            </a:extLst>
          </p:cNvPr>
          <p:cNvSpPr txBox="1"/>
          <p:nvPr/>
        </p:nvSpPr>
        <p:spPr>
          <a:xfrm>
            <a:off x="1249429" y="3361122"/>
            <a:ext cx="6255031" cy="656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defPPr>
              <a:defRPr lang="zh-CN"/>
            </a:defPPr>
            <a:lvl1pPr marL="0" algn="l" defTabSz="914232" rtl="0" eaLnBrk="1" latinLnBrk="0" hangingPunct="1">
              <a:defRPr sz="1800" kern="1200">
                <a:solidFill>
                  <a:schemeClr val="tx1"/>
                </a:solidFill>
                <a:latin typeface="+mn-lt"/>
                <a:ea typeface="+mn-ea"/>
                <a:cs typeface="+mn-cs"/>
              </a:defRPr>
            </a:lvl1pPr>
            <a:lvl2pPr marL="457116" algn="l" defTabSz="914232" rtl="0" eaLnBrk="1" latinLnBrk="0" hangingPunct="1">
              <a:defRPr sz="1800" kern="1200">
                <a:solidFill>
                  <a:schemeClr val="tx1"/>
                </a:solidFill>
                <a:latin typeface="+mn-lt"/>
                <a:ea typeface="+mn-ea"/>
                <a:cs typeface="+mn-cs"/>
              </a:defRPr>
            </a:lvl2pPr>
            <a:lvl3pPr marL="914232" algn="l" defTabSz="914232" rtl="0" eaLnBrk="1" latinLnBrk="0" hangingPunct="1">
              <a:defRPr sz="1800" kern="1200">
                <a:solidFill>
                  <a:schemeClr val="tx1"/>
                </a:solidFill>
                <a:latin typeface="+mn-lt"/>
                <a:ea typeface="+mn-ea"/>
                <a:cs typeface="+mn-cs"/>
              </a:defRPr>
            </a:lvl3pPr>
            <a:lvl4pPr marL="1371348" algn="l" defTabSz="914232" rtl="0" eaLnBrk="1" latinLnBrk="0" hangingPunct="1">
              <a:defRPr sz="1800" kern="1200">
                <a:solidFill>
                  <a:schemeClr val="tx1"/>
                </a:solidFill>
                <a:latin typeface="+mn-lt"/>
                <a:ea typeface="+mn-ea"/>
                <a:cs typeface="+mn-cs"/>
              </a:defRPr>
            </a:lvl4pPr>
            <a:lvl5pPr marL="1828464" algn="l" defTabSz="914232" rtl="0" eaLnBrk="1" latinLnBrk="0" hangingPunct="1">
              <a:defRPr sz="1800" kern="1200">
                <a:solidFill>
                  <a:schemeClr val="tx1"/>
                </a:solidFill>
                <a:latin typeface="+mn-lt"/>
                <a:ea typeface="+mn-ea"/>
                <a:cs typeface="+mn-cs"/>
              </a:defRPr>
            </a:lvl5pPr>
            <a:lvl6pPr marL="2285581" algn="l" defTabSz="914232" rtl="0" eaLnBrk="1" latinLnBrk="0" hangingPunct="1">
              <a:defRPr sz="1800" kern="1200">
                <a:solidFill>
                  <a:schemeClr val="tx1"/>
                </a:solidFill>
                <a:latin typeface="+mn-lt"/>
                <a:ea typeface="+mn-ea"/>
                <a:cs typeface="+mn-cs"/>
              </a:defRPr>
            </a:lvl6pPr>
            <a:lvl7pPr marL="2742696" algn="l" defTabSz="914232" rtl="0" eaLnBrk="1" latinLnBrk="0" hangingPunct="1">
              <a:defRPr sz="1800" kern="1200">
                <a:solidFill>
                  <a:schemeClr val="tx1"/>
                </a:solidFill>
                <a:latin typeface="+mn-lt"/>
                <a:ea typeface="+mn-ea"/>
                <a:cs typeface="+mn-cs"/>
              </a:defRPr>
            </a:lvl7pPr>
            <a:lvl8pPr marL="3199813" algn="l" defTabSz="914232" rtl="0" eaLnBrk="1" latinLnBrk="0" hangingPunct="1">
              <a:defRPr sz="1800" kern="1200">
                <a:solidFill>
                  <a:schemeClr val="tx1"/>
                </a:solidFill>
                <a:latin typeface="+mn-lt"/>
                <a:ea typeface="+mn-ea"/>
                <a:cs typeface="+mn-cs"/>
              </a:defRPr>
            </a:lvl8pPr>
            <a:lvl9pPr marL="3656929" algn="l" defTabSz="914232" rtl="0" eaLnBrk="1" latinLnBrk="0" hangingPunct="1">
              <a:defRPr sz="1800" kern="1200">
                <a:solidFill>
                  <a:schemeClr val="tx1"/>
                </a:solidFill>
                <a:latin typeface="+mn-lt"/>
                <a:ea typeface="+mn-ea"/>
                <a:cs typeface="+mn-cs"/>
              </a:defRPr>
            </a:lvl9pPr>
          </a:lstStyle>
          <a:p>
            <a:pPr algn="r"/>
            <a:r>
              <a:rPr lang="zh-CN" altLang="en-US" sz="4267" dirty="0">
                <a:solidFill>
                  <a:srgbClr val="2F5597"/>
                </a:solidFill>
                <a:latin typeface="微软雅黑" panose="020B0503020204020204" pitchFamily="34" charset="-122"/>
                <a:ea typeface="微软雅黑" panose="020B0503020204020204" pitchFamily="34" charset="-122"/>
              </a:rPr>
              <a:t>请各位老师们批评指正！</a:t>
            </a:r>
          </a:p>
        </p:txBody>
      </p:sp>
      <p:sp>
        <p:nvSpPr>
          <p:cNvPr id="9" name="TextBox 28">
            <a:extLst>
              <a:ext uri="{FF2B5EF4-FFF2-40B4-BE49-F238E27FC236}">
                <a16:creationId xmlns:a16="http://schemas.microsoft.com/office/drawing/2014/main" id="{AFA90EEB-7D70-A63E-FD5B-9041274F8800}"/>
              </a:ext>
            </a:extLst>
          </p:cNvPr>
          <p:cNvSpPr txBox="1"/>
          <p:nvPr/>
        </p:nvSpPr>
        <p:spPr>
          <a:xfrm>
            <a:off x="4080445" y="2618178"/>
            <a:ext cx="3424014" cy="656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defPPr>
              <a:defRPr lang="zh-CN"/>
            </a:defPPr>
            <a:lvl1pPr marL="0" algn="l" defTabSz="914232" rtl="0" eaLnBrk="1" latinLnBrk="0" hangingPunct="1">
              <a:defRPr sz="1800" kern="1200">
                <a:solidFill>
                  <a:schemeClr val="tx1"/>
                </a:solidFill>
                <a:latin typeface="+mn-lt"/>
                <a:ea typeface="+mn-ea"/>
                <a:cs typeface="+mn-cs"/>
              </a:defRPr>
            </a:lvl1pPr>
            <a:lvl2pPr marL="457116" algn="l" defTabSz="914232" rtl="0" eaLnBrk="1" latinLnBrk="0" hangingPunct="1">
              <a:defRPr sz="1800" kern="1200">
                <a:solidFill>
                  <a:schemeClr val="tx1"/>
                </a:solidFill>
                <a:latin typeface="+mn-lt"/>
                <a:ea typeface="+mn-ea"/>
                <a:cs typeface="+mn-cs"/>
              </a:defRPr>
            </a:lvl2pPr>
            <a:lvl3pPr marL="914232" algn="l" defTabSz="914232" rtl="0" eaLnBrk="1" latinLnBrk="0" hangingPunct="1">
              <a:defRPr sz="1800" kern="1200">
                <a:solidFill>
                  <a:schemeClr val="tx1"/>
                </a:solidFill>
                <a:latin typeface="+mn-lt"/>
                <a:ea typeface="+mn-ea"/>
                <a:cs typeface="+mn-cs"/>
              </a:defRPr>
            </a:lvl3pPr>
            <a:lvl4pPr marL="1371348" algn="l" defTabSz="914232" rtl="0" eaLnBrk="1" latinLnBrk="0" hangingPunct="1">
              <a:defRPr sz="1800" kern="1200">
                <a:solidFill>
                  <a:schemeClr val="tx1"/>
                </a:solidFill>
                <a:latin typeface="+mn-lt"/>
                <a:ea typeface="+mn-ea"/>
                <a:cs typeface="+mn-cs"/>
              </a:defRPr>
            </a:lvl4pPr>
            <a:lvl5pPr marL="1828464" algn="l" defTabSz="914232" rtl="0" eaLnBrk="1" latinLnBrk="0" hangingPunct="1">
              <a:defRPr sz="1800" kern="1200">
                <a:solidFill>
                  <a:schemeClr val="tx1"/>
                </a:solidFill>
                <a:latin typeface="+mn-lt"/>
                <a:ea typeface="+mn-ea"/>
                <a:cs typeface="+mn-cs"/>
              </a:defRPr>
            </a:lvl5pPr>
            <a:lvl6pPr marL="2285581" algn="l" defTabSz="914232" rtl="0" eaLnBrk="1" latinLnBrk="0" hangingPunct="1">
              <a:defRPr sz="1800" kern="1200">
                <a:solidFill>
                  <a:schemeClr val="tx1"/>
                </a:solidFill>
                <a:latin typeface="+mn-lt"/>
                <a:ea typeface="+mn-ea"/>
                <a:cs typeface="+mn-cs"/>
              </a:defRPr>
            </a:lvl6pPr>
            <a:lvl7pPr marL="2742696" algn="l" defTabSz="914232" rtl="0" eaLnBrk="1" latinLnBrk="0" hangingPunct="1">
              <a:defRPr sz="1800" kern="1200">
                <a:solidFill>
                  <a:schemeClr val="tx1"/>
                </a:solidFill>
                <a:latin typeface="+mn-lt"/>
                <a:ea typeface="+mn-ea"/>
                <a:cs typeface="+mn-cs"/>
              </a:defRPr>
            </a:lvl7pPr>
            <a:lvl8pPr marL="3199813" algn="l" defTabSz="914232" rtl="0" eaLnBrk="1" latinLnBrk="0" hangingPunct="1">
              <a:defRPr sz="1800" kern="1200">
                <a:solidFill>
                  <a:schemeClr val="tx1"/>
                </a:solidFill>
                <a:latin typeface="+mn-lt"/>
                <a:ea typeface="+mn-ea"/>
                <a:cs typeface="+mn-cs"/>
              </a:defRPr>
            </a:lvl8pPr>
            <a:lvl9pPr marL="3656929" algn="l" defTabSz="914232" rtl="0" eaLnBrk="1" latinLnBrk="0" hangingPunct="1">
              <a:defRPr sz="1800" kern="1200">
                <a:solidFill>
                  <a:schemeClr val="tx1"/>
                </a:solidFill>
                <a:latin typeface="+mn-lt"/>
                <a:ea typeface="+mn-ea"/>
                <a:cs typeface="+mn-cs"/>
              </a:defRPr>
            </a:lvl9pPr>
          </a:lstStyle>
          <a:p>
            <a:pPr algn="r"/>
            <a:r>
              <a:rPr lang="en-US" altLang="zh-CN" sz="4267" b="1" dirty="0">
                <a:solidFill>
                  <a:srgbClr val="2F5597"/>
                </a:solidFill>
                <a:latin typeface="微软雅黑" panose="020B0503020204020204" pitchFamily="34" charset="-122"/>
                <a:ea typeface="微软雅黑" panose="020B0503020204020204" pitchFamily="34" charset="-122"/>
              </a:rPr>
              <a:t>THANK YOU</a:t>
            </a:r>
            <a:endParaRPr lang="zh-CN" altLang="en-US" sz="4267" b="1" dirty="0">
              <a:solidFill>
                <a:srgbClr val="2F559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455921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 name="COMMONDATA" val="eyJoZGlkIjoiOGQ1ODBjNzVjODJmNDU0MTRkNTIwOTc5MzUyNzU2Zjc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 name="KSO_WM_SPECIAL_SOURCE" val="bdnull"/>
</p:tagLst>
</file>

<file path=ppt/tags/tag8.xml><?xml version="1.0" encoding="utf-8"?>
<p:tagLst xmlns:a="http://schemas.openxmlformats.org/drawingml/2006/main" xmlns:r="http://schemas.openxmlformats.org/officeDocument/2006/relationships" xmlns:p="http://schemas.openxmlformats.org/presentationml/2006/main">
  <p:tag name="TABLE_ENDDRAG_ORIGIN_RECT" val="816*292"/>
  <p:tag name="TABLE_ENDDRAG_RECT" val="65*93*816*292"/>
</p:tagLst>
</file>

<file path=ppt/tags/tag9.xml><?xml version="1.0" encoding="utf-8"?>
<p:tagLst xmlns:a="http://schemas.openxmlformats.org/drawingml/2006/main" xmlns:r="http://schemas.openxmlformats.org/officeDocument/2006/relationships" xmlns:p="http://schemas.openxmlformats.org/presentationml/2006/main">
  <p:tag name="TABLE_ENDDRAG_ORIGIN_RECT" val="816*292"/>
  <p:tag name="TABLE_ENDDRAG_RECT" val="65*93*816*292"/>
</p:tagLst>
</file>

<file path=ppt/tags/tag10.xml><?xml version="1.0" encoding="utf-8"?>
<p:tagLst xmlns:a="http://schemas.openxmlformats.org/drawingml/2006/main" xmlns:r="http://schemas.openxmlformats.org/officeDocument/2006/relationships" xmlns:p="http://schemas.openxmlformats.org/presentationml/2006/main">
  <p:tag name="TABLE_ENDDRAG_ORIGIN_RECT" val="816*292"/>
  <p:tag name="TABLE_ENDDRAG_RECT" val="65*93*816*292"/>
</p:tagLst>
</file>

<file path=ppt/tags/tag11.xml><?xml version="1.0" encoding="utf-8"?>
<p:tagLst xmlns:a="http://schemas.openxmlformats.org/drawingml/2006/main" xmlns:r="http://schemas.openxmlformats.org/officeDocument/2006/relationships" xmlns:p="http://schemas.openxmlformats.org/presentationml/2006/main">
  <p:tag name="TABLE_ENDDRAG_ORIGIN_RECT" val="816*292"/>
  <p:tag name="TABLE_ENDDRAG_RECT" val="65*93*816*292"/>
</p:tagLst>
</file>

<file path=ppt/tags/tag12.xml><?xml version="1.0" encoding="utf-8"?>
<p:tagLst xmlns:a="http://schemas.openxmlformats.org/drawingml/2006/main" xmlns:r="http://schemas.openxmlformats.org/officeDocument/2006/relationships" xmlns:p="http://schemas.openxmlformats.org/presentationml/2006/main">
  <p:tag name="TABLE_ENDDRAG_ORIGIN_RECT" val="816*292"/>
  <p:tag name="TABLE_ENDDRAG_RECT" val="65*93*816*29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13490</TotalTime>
  <Words>5698</Words>
  <Application>Microsoft Office PowerPoint</Application>
  <PresentationFormat>宽屏</PresentationFormat>
  <Paragraphs>391</Paragraphs>
  <Slides>25</Slides>
  <Notes>24</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25</vt:i4>
      </vt:variant>
    </vt:vector>
  </HeadingPairs>
  <TitlesOfParts>
    <vt:vector size="40" baseType="lpstr">
      <vt:lpstr>ElsevierGulliver</vt:lpstr>
      <vt:lpstr>quote-cjk-patch</vt:lpstr>
      <vt:lpstr>system-ui</vt:lpstr>
      <vt:lpstr>等线</vt:lpstr>
      <vt:lpstr>等线 Light</vt:lpstr>
      <vt:lpstr>黑体</vt:lpstr>
      <vt:lpstr>宋体</vt:lpstr>
      <vt:lpstr>Microsoft YaHei</vt:lpstr>
      <vt:lpstr>Microsoft YaHei</vt:lpstr>
      <vt:lpstr>字魂105号-简雅黑</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cby</dc:creator>
  <cp:lastModifiedBy>泽旭 张</cp:lastModifiedBy>
  <cp:revision>863</cp:revision>
  <dcterms:created xsi:type="dcterms:W3CDTF">2019-01-04T06:52:00Z</dcterms:created>
  <dcterms:modified xsi:type="dcterms:W3CDTF">2025-10-23T04:46:23Z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E603F60409434F948E1F130777E4D2F5_13</vt:lpwstr>
  </property>
  <property fmtid="{D5CDD505-2E9C-101B-9397-08002B2CF9AE}" pid="3" name="KSOProductBuildVer">
    <vt:lpwstr>2052-12.1.0.16120</vt:lpwstr>
  </property>
</Properties>
</file>