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2.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notesSlides/notesSlide3.xml" ContentType="application/vnd.openxmlformats-officedocument.presentationml.notesSlide+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9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10.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notesSlides/notesSlide11.xml" ContentType="application/vnd.openxmlformats-officedocument.presentationml.notesSlide+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346" r:id="rId2"/>
    <p:sldId id="347" r:id="rId3"/>
    <p:sldId id="348" r:id="rId4"/>
    <p:sldId id="368" r:id="rId5"/>
    <p:sldId id="370" r:id="rId6"/>
    <p:sldId id="371" r:id="rId7"/>
    <p:sldId id="372" r:id="rId8"/>
    <p:sldId id="357" r:id="rId9"/>
    <p:sldId id="374" r:id="rId10"/>
    <p:sldId id="375" r:id="rId11"/>
    <p:sldId id="377" r:id="rId12"/>
    <p:sldId id="378" r:id="rId13"/>
    <p:sldId id="362" r:id="rId14"/>
    <p:sldId id="379" r:id="rId15"/>
    <p:sldId id="364" r:id="rId16"/>
    <p:sldId id="365" r:id="rId17"/>
    <p:sldId id="366" r:id="rId18"/>
    <p:sldId id="367" r:id="rId19"/>
  </p:sldIdLst>
  <p:sldSz cx="12192000" cy="6858000"/>
  <p:notesSz cx="6858000" cy="9144000"/>
  <p:custDataLst>
    <p:tags r:id="rId2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2"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78" autoAdjust="0"/>
    <p:restoredTop sz="79936" autoAdjust="0"/>
  </p:normalViewPr>
  <p:slideViewPr>
    <p:cSldViewPr snapToGrid="0" showGuides="1">
      <p:cViewPr varScale="1">
        <p:scale>
          <a:sx n="89" d="100"/>
          <a:sy n="89" d="100"/>
        </p:scale>
        <p:origin x="1296" y="84"/>
      </p:cViewPr>
      <p:guideLst>
        <p:guide orient="horz" pos="2132"/>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43"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844"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2025/10/22</a:t>
            </a:fld>
            <a:endParaRPr lang="zh-CN" altLang="en-US"/>
          </a:p>
        </p:txBody>
      </p:sp>
      <p:sp>
        <p:nvSpPr>
          <p:cNvPr id="1048845"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846"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47"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848"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8" name="幻灯片图像占位符 1"/>
          <p:cNvSpPr>
            <a:spLocks noGrp="1" noRot="1" noChangeAspect="1"/>
          </p:cNvSpPr>
          <p:nvPr>
            <p:ph type="sldImg"/>
          </p:nvPr>
        </p:nvSpPr>
        <p:spPr/>
      </p:sp>
      <p:sp>
        <p:nvSpPr>
          <p:cNvPr id="1048699" name="备注占位符 2"/>
          <p:cNvSpPr>
            <a:spLocks noGrp="1"/>
          </p:cNvSpPr>
          <p:nvPr>
            <p:ph type="body" idx="1"/>
          </p:nvPr>
        </p:nvSpPr>
        <p:spPr/>
        <p:txBody>
          <a:bodyPr/>
          <a:lstStyle/>
          <a:p>
            <a:r>
              <a:rPr lang="zh-CN" altLang="en-US" dirty="0"/>
              <a:t>尊敬的评委老师 大家好！我是黄炘宇，接下来我将进行开题汇报</a:t>
            </a:r>
            <a:endParaRPr lang="en-US" altLang="zh-CN" dirty="0"/>
          </a:p>
          <a:p>
            <a:r>
              <a:rPr lang="zh-CN" altLang="en-US" dirty="0"/>
              <a:t>我的研究课题是：</a:t>
            </a:r>
            <a:r>
              <a:rPr lang="zh-CN" altLang="en-US" sz="1200" b="1" kern="1200" dirty="0">
                <a:solidFill>
                  <a:schemeClr val="bg1"/>
                </a:solidFill>
                <a:latin typeface="+mj-ea"/>
                <a:ea typeface="+mn-ea"/>
                <a:cs typeface="+mn-cs"/>
              </a:rPr>
              <a:t>考虑复杂返工场景的飞机脉动装配线多智能体协同调度研究</a:t>
            </a:r>
            <a:endParaRPr lang="zh-CN" altLang="en-US" sz="1200" b="1" kern="1200" dirty="0">
              <a:solidFill>
                <a:schemeClr val="bg1"/>
              </a:solidFill>
              <a:latin typeface="+mj-ea"/>
              <a:ea typeface="+mn-ea"/>
              <a:cs typeface="+mn-cs"/>
              <a:sym typeface="+mn-ea"/>
            </a:endParaRPr>
          </a:p>
          <a:p>
            <a:endParaRPr lang="zh-CN" altLang="en-US" dirty="0"/>
          </a:p>
        </p:txBody>
      </p:sp>
      <p:sp>
        <p:nvSpPr>
          <p:cNvPr id="1048700" name="灯片编号占位符 3"/>
          <p:cNvSpPr>
            <a:spLocks noGrp="1"/>
          </p:cNvSpPr>
          <p:nvPr>
            <p:ph type="sldNum" sz="quarter" idx="10"/>
          </p:nvPr>
        </p:nvSpPr>
        <p:spPr/>
        <p:txBody>
          <a:bodyPr/>
          <a:lstStyle/>
          <a:p>
            <a:fld id="{20DF6D40-62BD-4332-A45C-BC60E90CE6F1}"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7" name="幻灯片图像占位符 1"/>
          <p:cNvSpPr>
            <a:spLocks noGrp="1" noRot="1" noChangeAspect="1"/>
          </p:cNvSpPr>
          <p:nvPr>
            <p:ph type="sldImg"/>
          </p:nvPr>
        </p:nvSpPr>
        <p:spPr/>
      </p:sp>
      <p:sp>
        <p:nvSpPr>
          <p:cNvPr id="1048688" name="备注占位符 2"/>
          <p:cNvSpPr>
            <a:spLocks noGrp="1"/>
          </p:cNvSpPr>
          <p:nvPr>
            <p:ph type="body" idx="1"/>
          </p:nvPr>
        </p:nvSpPr>
        <p:spPr/>
        <p:txBody>
          <a:bodyPr/>
          <a:lstStyle/>
          <a:p>
            <a:endParaRPr lang="zh-CN" altLang="en-US" dirty="0"/>
          </a:p>
        </p:txBody>
      </p:sp>
      <p:sp>
        <p:nvSpPr>
          <p:cNvPr id="1048689" name="灯片编号占位符 3"/>
          <p:cNvSpPr>
            <a:spLocks noGrp="1"/>
          </p:cNvSpPr>
          <p:nvPr>
            <p:ph type="sldNum" sz="quarter" idx="5"/>
          </p:nvPr>
        </p:nvSpPr>
        <p:spPr/>
        <p:txBody>
          <a:bodyPr/>
          <a:lstStyle/>
          <a:p>
            <a:fld id="{F05682C6-BE15-415E-9985-CDCE9943C8CC}"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2" name="幻灯片图像占位符 1"/>
          <p:cNvSpPr>
            <a:spLocks noGrp="1" noRot="1" noChangeAspect="1"/>
          </p:cNvSpPr>
          <p:nvPr>
            <p:ph type="sldImg"/>
          </p:nvPr>
        </p:nvSpPr>
        <p:spPr/>
      </p:sp>
      <p:sp>
        <p:nvSpPr>
          <p:cNvPr id="104865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srgbClr val="FF0000"/>
                </a:solidFill>
                <a:effectLst/>
                <a:latin typeface="微软雅黑" panose="020B0503020204020204" charset="-122"/>
                <a:ea typeface="微软雅黑" panose="020B0503020204020204" charset="-122"/>
                <a:cs typeface="Times New Roman" panose="02020603050405020304" pitchFamily="18" charset="0"/>
              </a:rPr>
              <a:t>中国制造2025战略目标旨在推动我国从制造大国迈向制造强国。</a:t>
            </a:r>
            <a:r>
              <a:rPr lang="zh-CN" altLang="zh-CN" sz="800" b="1" kern="1200" dirty="0">
                <a:solidFill>
                  <a:schemeClr val="tx1"/>
                </a:solidFill>
                <a:effectLst/>
                <a:latin typeface="+mn-lt"/>
                <a:ea typeface="+mn-ea"/>
                <a:cs typeface="+mn-cs"/>
              </a:rPr>
              <a:t>航空装备制造</a:t>
            </a:r>
            <a:r>
              <a:rPr lang="zh-CN" altLang="en-US" sz="800" b="1" kern="1200" dirty="0">
                <a:solidFill>
                  <a:schemeClr val="tx1"/>
                </a:solidFill>
                <a:effectLst/>
                <a:latin typeface="+mn-lt"/>
                <a:ea typeface="+mn-ea"/>
                <a:cs typeface="+mn-cs"/>
              </a:rPr>
              <a:t>正</a:t>
            </a:r>
            <a:r>
              <a:rPr lang="zh-CN" altLang="zh-CN" sz="800" b="1" kern="1200" dirty="0">
                <a:solidFill>
                  <a:schemeClr val="tx1"/>
                </a:solidFill>
                <a:effectLst/>
                <a:latin typeface="+mn-lt"/>
                <a:ea typeface="+mn-ea"/>
                <a:cs typeface="+mn-cs"/>
              </a:rPr>
              <a:t>是“中国制造</a:t>
            </a:r>
            <a:r>
              <a:rPr lang="en-US" altLang="zh-CN" sz="800" b="1" kern="1200" dirty="0">
                <a:solidFill>
                  <a:schemeClr val="tx1"/>
                </a:solidFill>
                <a:effectLst/>
                <a:latin typeface="+mn-lt"/>
                <a:ea typeface="+mn-ea"/>
                <a:cs typeface="+mn-cs"/>
              </a:rPr>
              <a:t> 2025</a:t>
            </a:r>
            <a:r>
              <a:rPr lang="zh-CN" altLang="zh-CN" sz="800" b="1" kern="1200" dirty="0">
                <a:solidFill>
                  <a:schemeClr val="tx1"/>
                </a:solidFill>
                <a:effectLst/>
                <a:latin typeface="+mn-lt"/>
                <a:ea typeface="+mn-ea"/>
                <a:cs typeface="+mn-cs"/>
              </a:rPr>
              <a:t>”战略中明确的十大重点发展领域之一。</a:t>
            </a:r>
            <a:r>
              <a:rPr lang="zh-CN" altLang="en-US" sz="800" b="1" strike="noStrike" dirty="0">
                <a:solidFill>
                  <a:srgbClr val="000F82"/>
                </a:solidFill>
                <a:latin typeface="微软雅黑" panose="020B0503020204020204" charset="-122"/>
                <a:ea typeface="微软雅黑" panose="020B0503020204020204" charset="-122"/>
              </a:rPr>
              <a:t>飞机制造的发展</a:t>
            </a:r>
            <a:r>
              <a:rPr lang="zh-CN" altLang="en-US" sz="800" b="1" strike="noStrike" dirty="0">
                <a:solidFill>
                  <a:srgbClr val="000F82"/>
                </a:solidFill>
                <a:latin typeface="微软雅黑" panose="020B0503020204020204" pitchFamily="34" charset="-122"/>
                <a:ea typeface="微软雅黑" panose="020B0503020204020204" pitchFamily="34" charset="-122"/>
              </a:rPr>
              <a:t>集中反映了</a:t>
            </a:r>
            <a:r>
              <a:rPr lang="zh-CN" altLang="en-US" sz="800" b="1" strike="noStrike" dirty="0">
                <a:solidFill>
                  <a:srgbClr val="000F82"/>
                </a:solidFill>
                <a:latin typeface="微软雅黑" panose="020B0503020204020204" charset="-122"/>
                <a:ea typeface="微软雅黑" panose="020B0503020204020204" charset="-122"/>
              </a:rPr>
              <a:t>国家综合国力、工业基础和科技水平，</a:t>
            </a:r>
            <a:r>
              <a:rPr lang="zh-CN" altLang="en-US" sz="800" b="1" strike="noStrike" dirty="0">
                <a:latin typeface="华文中宋" panose="02010600040101010101" charset="-122"/>
                <a:ea typeface="华文中宋" panose="02010600040101010101" charset="-122"/>
                <a:sym typeface="+mn-ea"/>
              </a:rPr>
              <a:t>是</a:t>
            </a:r>
            <a:r>
              <a:rPr lang="zh-CN" altLang="en-US" sz="800" b="1" strike="noStrike" dirty="0">
                <a:solidFill>
                  <a:srgbClr val="C00000"/>
                </a:solidFill>
                <a:latin typeface="华文中宋" panose="02010600040101010101" charset="-122"/>
                <a:ea typeface="华文中宋" panose="02010600040101010101" charset="-122"/>
                <a:sym typeface="+mn-ea"/>
              </a:rPr>
              <a:t>国家制造业综合实力</a:t>
            </a:r>
            <a:r>
              <a:rPr lang="zh-CN" altLang="en-US" sz="800" b="1" strike="noStrike" dirty="0">
                <a:latin typeface="华文中宋" panose="02010600040101010101" charset="-122"/>
                <a:ea typeface="华文中宋" panose="02010600040101010101" charset="-122"/>
                <a:sym typeface="+mn-ea"/>
              </a:rPr>
              <a:t>的重要体现。</a:t>
            </a:r>
            <a:r>
              <a:rPr lang="zh-CN" altLang="en-US" sz="800" b="1" dirty="0"/>
              <a:t>飞机装配作为飞机制造的核心环节，占总生产时间的</a:t>
            </a:r>
            <a:r>
              <a:rPr lang="en-US" altLang="zh-CN" sz="800" b="1" dirty="0"/>
              <a:t>50%</a:t>
            </a:r>
            <a:r>
              <a:rPr lang="zh-CN" altLang="en-US" sz="800" b="1" dirty="0"/>
              <a:t>，总制造成本的</a:t>
            </a:r>
            <a:r>
              <a:rPr lang="en-US" altLang="zh-CN" sz="800" b="1" dirty="0"/>
              <a:t>20%</a:t>
            </a:r>
            <a:r>
              <a:rPr lang="zh-CN" altLang="en-US" sz="800" b="1" dirty="0"/>
              <a:t>以上</a:t>
            </a:r>
            <a:r>
              <a:rPr lang="zh-CN" altLang="en-US" sz="800" b="1" dirty="0">
                <a:solidFill>
                  <a:srgbClr val="000F82"/>
                </a:solidFill>
                <a:latin typeface="微软雅黑" panose="020B0503020204020204" charset="-122"/>
                <a:ea typeface="微软雅黑" panose="020B0503020204020204" charset="-122"/>
              </a:rPr>
              <a:t>，</a:t>
            </a:r>
            <a:r>
              <a:rPr lang="zh-CN" altLang="en-US" sz="800" b="1" dirty="0">
                <a:latin typeface="华文中宋" panose="02010600040101010101" charset="-122"/>
                <a:ea typeface="华文中宋" panose="02010600040101010101" charset="-122"/>
              </a:rPr>
              <a:t>直接决定了飞机最终的</a:t>
            </a:r>
            <a:r>
              <a:rPr lang="zh-CN" altLang="en-US" sz="800" b="1" dirty="0">
                <a:solidFill>
                  <a:srgbClr val="C00000"/>
                </a:solidFill>
                <a:latin typeface="华文中宋" panose="02010600040101010101" charset="-122"/>
                <a:ea typeface="华文中宋" panose="02010600040101010101" charset="-122"/>
              </a:rPr>
              <a:t>产出效率与供应能力。</a:t>
            </a:r>
            <a:r>
              <a:rPr lang="zh-CN" altLang="en-US" sz="800" b="1" dirty="0"/>
              <a:t>脉动装配线是 当前主流飞机制造企业的主要装配形式，具有固定节拍脉动式移动、资源分散且相对独立等特点。</a:t>
            </a:r>
            <a:r>
              <a:rPr lang="zh-CN" altLang="zh-CN" sz="800" b="1" kern="1200" dirty="0">
                <a:solidFill>
                  <a:schemeClr val="tx1"/>
                </a:solidFill>
                <a:effectLst/>
                <a:latin typeface="+mn-lt"/>
                <a:ea typeface="+mn-ea"/>
                <a:cs typeface="+mn-cs"/>
              </a:rPr>
              <a:t>优化装配阶段的管理和工艺流程，提高作业效率和质量，是提升飞机制造水平的关键所在。</a:t>
            </a:r>
            <a:endParaRPr lang="en-US" altLang="zh-CN" sz="8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800" b="1" kern="1200" dirty="0">
                <a:solidFill>
                  <a:schemeClr val="tx1"/>
                </a:solidFill>
                <a:effectLst/>
                <a:latin typeface="+mn-lt"/>
                <a:ea typeface="+mn-ea"/>
                <a:cs typeface="+mn-cs"/>
              </a:rPr>
              <a:t>飞机脉动装配线的主要特征包括 紧前约束稀疏、多型号共线等，同时也面临着许多的动态挑战包括工序装配时间波动、设备老化、物料到达变更等。当前</a:t>
            </a:r>
            <a:r>
              <a:rPr lang="zh-CN" altLang="zh-CN" sz="800" b="1" dirty="0">
                <a:latin typeface="微软雅黑" panose="020B0503020204020204" charset="-122"/>
                <a:ea typeface="微软雅黑" panose="020B0503020204020204" charset="-122"/>
              </a:rPr>
              <a:t>如何在复杂场景</a:t>
            </a:r>
            <a:r>
              <a:rPr lang="zh-CN" altLang="en-US" sz="800" b="1" dirty="0">
                <a:latin typeface="微软雅黑" panose="020B0503020204020204" charset="-122"/>
                <a:ea typeface="微软雅黑" panose="020B0503020204020204" charset="-122"/>
              </a:rPr>
              <a:t>与动态挑战</a:t>
            </a:r>
            <a:r>
              <a:rPr lang="zh-CN" altLang="zh-CN" sz="800" b="1" dirty="0">
                <a:latin typeface="微软雅黑" panose="020B0503020204020204" charset="-122"/>
                <a:ea typeface="微软雅黑" panose="020B0503020204020204" charset="-122"/>
              </a:rPr>
              <a:t>下</a:t>
            </a:r>
            <a:r>
              <a:rPr lang="zh-CN" altLang="en-US" sz="800" b="1" dirty="0">
                <a:latin typeface="微软雅黑" panose="020B0503020204020204" charset="-122"/>
                <a:ea typeface="微软雅黑" panose="020B0503020204020204" charset="-122"/>
              </a:rPr>
              <a:t>提高生产质量并构建面向不确定性的高效调度机制，</a:t>
            </a:r>
            <a:r>
              <a:rPr lang="zh-CN" altLang="zh-CN" sz="800" b="1" dirty="0">
                <a:solidFill>
                  <a:srgbClr val="C00000"/>
                </a:solidFill>
                <a:latin typeface="微软雅黑" panose="020B0503020204020204" charset="-122"/>
                <a:ea typeface="微软雅黑" panose="020B0503020204020204" charset="-122"/>
              </a:rPr>
              <a:t>成为飞机制造业亟待解决的关键问题</a:t>
            </a:r>
            <a:r>
              <a:rPr lang="zh-CN" altLang="zh-CN" sz="800" b="1" dirty="0">
                <a:latin typeface="微软雅黑" panose="020B0503020204020204" charset="-122"/>
                <a:ea typeface="微软雅黑" panose="020B0503020204020204" charset="-122"/>
              </a:rPr>
              <a:t>。</a:t>
            </a:r>
            <a:r>
              <a:rPr lang="en-US" altLang="zh-CN" sz="800" b="1" dirty="0">
                <a:latin typeface="微软雅黑" panose="020B0503020204020204" charset="-122"/>
                <a:ea typeface="微软雅黑" panose="020B0503020204020204" charset="-122"/>
              </a:rPr>
              <a:t> </a:t>
            </a:r>
            <a:r>
              <a:rPr lang="zh-CN" altLang="en-US" sz="800" b="1" dirty="0">
                <a:latin typeface="微软雅黑" panose="020B0503020204020204" charset="-122"/>
                <a:ea typeface="微软雅黑" panose="020B0503020204020204" charset="-122"/>
              </a:rPr>
              <a:t>因此，</a:t>
            </a:r>
            <a:r>
              <a:rPr lang="zh-CN" altLang="en-US" sz="800" b="1" dirty="0">
                <a:solidFill>
                  <a:srgbClr val="000F82"/>
                </a:solidFill>
                <a:latin typeface="微软雅黑" panose="020B0503020204020204" charset="-122"/>
                <a:ea typeface="微软雅黑" panose="020B0503020204020204" charset="-122"/>
              </a:rPr>
              <a:t>考虑</a:t>
            </a:r>
            <a:r>
              <a:rPr lang="zh-CN" altLang="en-US" sz="800" b="1" dirty="0">
                <a:solidFill>
                  <a:srgbClr val="C00000"/>
                </a:solidFill>
                <a:latin typeface="微软雅黑" panose="020B0503020204020204" charset="-122"/>
                <a:ea typeface="微软雅黑" panose="020B0503020204020204" charset="-122"/>
              </a:rPr>
              <a:t>动态情况下飞机脉动装配调度</a:t>
            </a:r>
            <a:r>
              <a:rPr lang="zh-CN" altLang="en-US" sz="800" b="1" dirty="0">
                <a:solidFill>
                  <a:srgbClr val="000F82"/>
                </a:solidFill>
                <a:latin typeface="微软雅黑" panose="020B0503020204020204" charset="-122"/>
                <a:ea typeface="微软雅黑" panose="020B0503020204020204" charset="-122"/>
              </a:rPr>
              <a:t>的研究和实践具有极其显著的意义</a:t>
            </a:r>
            <a:endParaRPr lang="en-US" altLang="zh-CN" sz="800" b="1" dirty="0">
              <a:solidFill>
                <a:srgbClr val="002060"/>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8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8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800" b="1" i="0" u="none" strike="noStrike" kern="1200" cap="none" spc="0" normalizeH="0" baseline="0" noProof="0" dirty="0">
              <a:ln>
                <a:noFill/>
              </a:ln>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800" b="1" i="0" u="none" strike="noStrike" kern="1200" cap="none" spc="0" normalizeH="0" baseline="0" noProof="0" dirty="0">
              <a:ln>
                <a:noFill/>
              </a:ln>
              <a:solidFill>
                <a:srgbClr val="FF0000"/>
              </a:solidFill>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800" b="1" i="0" u="none" strike="noStrike" kern="1200" cap="none" spc="0" normalizeH="0" baseline="0" noProof="0" dirty="0">
              <a:ln>
                <a:noFill/>
              </a:ln>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654" name="灯片编号占位符 3"/>
          <p:cNvSpPr>
            <a:spLocks noGrp="1"/>
          </p:cNvSpPr>
          <p:nvPr>
            <p:ph type="sldNum" sz="quarter" idx="5"/>
          </p:nvPr>
        </p:nvSpPr>
        <p:spPr/>
        <p:txBody>
          <a:bodyPr/>
          <a:lstStyle/>
          <a:p>
            <a:fld id="{11F0D06E-EB29-4662-B5EC-0BDFC722356E}"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567B2-4B89-0736-876E-A5BD43BA2977}"/>
            </a:ext>
          </a:extLst>
        </p:cNvPr>
        <p:cNvGrpSpPr/>
        <p:nvPr/>
      </p:nvGrpSpPr>
      <p:grpSpPr>
        <a:xfrm>
          <a:off x="0" y="0"/>
          <a:ext cx="0" cy="0"/>
          <a:chOff x="0" y="0"/>
          <a:chExt cx="0" cy="0"/>
        </a:xfrm>
      </p:grpSpPr>
      <p:sp>
        <p:nvSpPr>
          <p:cNvPr id="1048629" name="幻灯片图像占位符 1">
            <a:extLst>
              <a:ext uri="{FF2B5EF4-FFF2-40B4-BE49-F238E27FC236}">
                <a16:creationId xmlns:a16="http://schemas.microsoft.com/office/drawing/2014/main" id="{22C2C342-2E95-E358-A1AA-1CD466575851}"/>
              </a:ext>
            </a:extLst>
          </p:cNvPr>
          <p:cNvSpPr>
            <a:spLocks noGrp="1" noRot="1" noChangeAspect="1"/>
          </p:cNvSpPr>
          <p:nvPr>
            <p:ph type="sldImg"/>
          </p:nvPr>
        </p:nvSpPr>
        <p:spPr/>
      </p:sp>
      <p:sp>
        <p:nvSpPr>
          <p:cNvPr id="1048630" name="备注占位符 2">
            <a:extLst>
              <a:ext uri="{FF2B5EF4-FFF2-40B4-BE49-F238E27FC236}">
                <a16:creationId xmlns:a16="http://schemas.microsoft.com/office/drawing/2014/main" id="{1352D91D-BB34-2DBF-8E2B-D6354C8950C5}"/>
              </a:ext>
            </a:extLst>
          </p:cNvPr>
          <p:cNvSpPr>
            <a:spLocks noGrp="1"/>
          </p:cNvSpPr>
          <p:nvPr>
            <p:ph type="body" idx="1"/>
          </p:nvPr>
        </p:nvSpPr>
        <p:spPr/>
        <p:txBody>
          <a:bodyPr/>
          <a:lstStyle/>
          <a:p>
            <a:r>
              <a:rPr lang="zh-CN" altLang="en-US" dirty="0"/>
              <a:t>接着是考虑返工的飞机脉动线调度</a:t>
            </a:r>
            <a:endParaRPr lang="en-US" altLang="zh-CN" dirty="0"/>
          </a:p>
          <a:p>
            <a:pPr algn="just">
              <a:lnSpc>
                <a:spcPct val="150000"/>
              </a:lnSpc>
            </a:pPr>
            <a:r>
              <a:rPr lang="zh-CN" altLang="en-US" sz="1200" b="0" dirty="0">
                <a:solidFill>
                  <a:srgbClr val="0C4994"/>
                </a:solidFill>
                <a:latin typeface="Times New Roman" panose="02020603050405020304" pitchFamily="18" charset="0"/>
                <a:ea typeface="微软雅黑" panose="020B0503020204020204" charset="-122"/>
                <a:cs typeface="Times New Roman" panose="02020603050405020304" pitchFamily="18" charset="0"/>
              </a:rPr>
              <a:t>在脉动装配中，</a:t>
            </a:r>
            <a:r>
              <a:rPr lang="zh-CN" altLang="en-US" sz="1200" b="0" dirty="0">
                <a:solidFill>
                  <a:srgbClr val="C00000"/>
                </a:solidFill>
                <a:latin typeface="Times New Roman" panose="02020603050405020304" pitchFamily="18" charset="0"/>
                <a:ea typeface="微软雅黑" panose="020B0503020204020204" charset="-122"/>
                <a:cs typeface="Times New Roman" panose="02020603050405020304" pitchFamily="18" charset="0"/>
              </a:rPr>
              <a:t>质量缺陷</a:t>
            </a:r>
            <a:r>
              <a:rPr lang="zh-CN" altLang="en-US" sz="1200" b="0" dirty="0">
                <a:solidFill>
                  <a:srgbClr val="0C4994"/>
                </a:solidFill>
                <a:latin typeface="Times New Roman" panose="02020603050405020304" pitchFamily="18" charset="0"/>
                <a:ea typeface="微软雅黑" panose="020B0503020204020204" charset="-122"/>
                <a:cs typeface="Times New Roman" panose="02020603050405020304" pitchFamily="18" charset="0"/>
              </a:rPr>
              <a:t>并非偶发噪声，而是由工序复杂度、工人熟练度与疲劳、工序长度等人因工艺因素共同驱动；对部分工序而言，还需要人</a:t>
            </a:r>
            <a:r>
              <a:rPr lang="en-US" altLang="zh-CN" sz="1200" b="0" dirty="0">
                <a:solidFill>
                  <a:srgbClr val="0C4994"/>
                </a:solidFill>
                <a:latin typeface="Times New Roman" panose="02020603050405020304" pitchFamily="18" charset="0"/>
                <a:ea typeface="微软雅黑" panose="020B0503020204020204" charset="-122"/>
                <a:cs typeface="Times New Roman" panose="02020603050405020304" pitchFamily="18" charset="0"/>
              </a:rPr>
              <a:t>–</a:t>
            </a:r>
            <a:r>
              <a:rPr lang="zh-CN" altLang="en-US" sz="1200" b="0" dirty="0">
                <a:solidFill>
                  <a:srgbClr val="0C4994"/>
                </a:solidFill>
                <a:latin typeface="Times New Roman" panose="02020603050405020304" pitchFamily="18" charset="0"/>
                <a:ea typeface="微软雅黑" panose="020B0503020204020204" charset="-122"/>
                <a:cs typeface="Times New Roman" panose="02020603050405020304" pitchFamily="18" charset="0"/>
              </a:rPr>
              <a:t>机协同，设备退化会进一步放大缺陷风险。在</a:t>
            </a:r>
            <a:r>
              <a:rPr lang="zh-CN" altLang="en-US" sz="1200" b="0" dirty="0">
                <a:solidFill>
                  <a:srgbClr val="C00000"/>
                </a:solidFill>
              </a:rPr>
              <a:t>飞机装配</a:t>
            </a:r>
            <a:r>
              <a:rPr lang="zh-CN" altLang="en-US" sz="1200" b="0" dirty="0">
                <a:solidFill>
                  <a:srgbClr val="0C4994"/>
                </a:solidFill>
                <a:latin typeface="Times New Roman" panose="02020603050405020304" pitchFamily="18" charset="0"/>
                <a:ea typeface="微软雅黑" panose="020B0503020204020204" charset="-122"/>
                <a:cs typeface="Times New Roman" panose="02020603050405020304" pitchFamily="18" charset="0"/>
              </a:rPr>
              <a:t>这一零部件成本高、</a:t>
            </a:r>
            <a:r>
              <a:rPr lang="zh-CN" altLang="en-US" sz="1200" b="0" dirty="0">
                <a:solidFill>
                  <a:srgbClr val="C00000"/>
                </a:solidFill>
              </a:rPr>
              <a:t>报废受限</a:t>
            </a:r>
            <a:r>
              <a:rPr lang="zh-CN" altLang="en-US" sz="1200" b="0" dirty="0">
                <a:solidFill>
                  <a:srgbClr val="0C4994"/>
                </a:solidFill>
                <a:latin typeface="Times New Roman" panose="02020603050405020304" pitchFamily="18" charset="0"/>
                <a:ea typeface="微软雅黑" panose="020B0503020204020204" charset="-122"/>
                <a:cs typeface="Times New Roman" panose="02020603050405020304" pitchFamily="18" charset="0"/>
              </a:rPr>
              <a:t>的场景下</a:t>
            </a:r>
            <a:r>
              <a:rPr lang="zh-CN" altLang="en-US" sz="1200" b="0" dirty="0"/>
              <a:t>，</a:t>
            </a:r>
            <a:r>
              <a:rPr lang="zh-CN" altLang="en-US" sz="1200" b="0" dirty="0">
                <a:solidFill>
                  <a:srgbClr val="C00000"/>
                </a:solidFill>
              </a:rPr>
              <a:t>返工</a:t>
            </a:r>
            <a:r>
              <a:rPr lang="zh-CN" altLang="en-US" sz="1200" b="0" dirty="0">
                <a:solidFill>
                  <a:srgbClr val="0C4994"/>
                </a:solidFill>
                <a:latin typeface="Times New Roman" panose="02020603050405020304" pitchFamily="18" charset="0"/>
                <a:ea typeface="微软雅黑" panose="020B0503020204020204" charset="-122"/>
                <a:cs typeface="Times New Roman" panose="02020603050405020304" pitchFamily="18" charset="0"/>
              </a:rPr>
              <a:t>成为处理产品缺陷的主要手段。</a:t>
            </a:r>
            <a:endParaRPr lang="en-US" altLang="zh-CN" sz="1200" b="0" dirty="0">
              <a:solidFill>
                <a:srgbClr val="0C4994"/>
              </a:solidFill>
              <a:latin typeface="Times New Roman" panose="02020603050405020304" pitchFamily="18" charset="0"/>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更关键的是，</a:t>
            </a:r>
            <a:r>
              <a:rPr lang="zh-CN" altLang="en-US" b="1" dirty="0"/>
              <a:t>返工和调度是双向耦合</a:t>
            </a:r>
            <a:r>
              <a:rPr lang="zh-CN" altLang="en-US" dirty="0"/>
              <a:t>的：我们</a:t>
            </a:r>
            <a:r>
              <a:rPr lang="zh-CN" altLang="en-US" sz="1200" b="1" dirty="0">
                <a:solidFill>
                  <a:srgbClr val="000F82"/>
                </a:solidFill>
                <a:latin typeface="微软雅黑" panose="020B0503020204020204" charset="-122"/>
                <a:ea typeface="微软雅黑" panose="020B0503020204020204" charset="-122"/>
              </a:rPr>
              <a:t>如何工序分配，派遣不同熟练度、疲劳度的工人，分配不同劣化程度的机器都会影响到加工的质量</a:t>
            </a:r>
            <a:r>
              <a:rPr lang="zh-CN" altLang="en-US" dirty="0"/>
              <a:t>；反过来，缺陷又会改变队列与节拍。在航空装配里，返工</a:t>
            </a:r>
            <a:r>
              <a:rPr lang="zh-CN" altLang="en-US" b="1" dirty="0"/>
              <a:t>不是小概率噪声，而是强扰动</a:t>
            </a:r>
            <a:r>
              <a:rPr lang="zh-CN" altLang="en-US" dirty="0"/>
              <a:t>：它会打断节拍、把瓶颈往下游推。仅把返工当外部噪声处理，调度策略很难稳定。因此，就引出了我们的关键研究问题，包括</a:t>
            </a:r>
            <a:r>
              <a:rPr lang="zh-CN" altLang="en-US" sz="1200" b="0" dirty="0">
                <a:latin typeface="+mn-ea"/>
                <a:ea typeface="+mn-ea"/>
                <a:cs typeface="+mn-ea"/>
              </a:rPr>
              <a:t>如何高效高质量地生成返工扰动下的脉动线调度方案、如何将质量控制与调度决策紧密结合，形成闭环优化、如何对多元异构资源进行状态表征并实现协同优化</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dirty="0">
              <a:latin typeface="+mn-ea"/>
              <a:ea typeface="+mn-ea"/>
              <a:cs typeface="+mn-ea"/>
            </a:endParaRPr>
          </a:p>
          <a:p>
            <a:endParaRPr lang="zh-CN" altLang="en-US" dirty="0"/>
          </a:p>
          <a:p>
            <a:pPr marL="0" marR="0" lvl="0" indent="0" algn="l" defTabSz="914400" rtl="0" eaLnBrk="1" fontAlgn="auto" latinLnBrk="0" hangingPunct="1">
              <a:lnSpc>
                <a:spcPct val="100000"/>
              </a:lnSpc>
              <a:spcBef>
                <a:spcPts val="0"/>
              </a:spcBef>
              <a:spcAft>
                <a:spcPts val="0"/>
              </a:spcAft>
              <a:buClrTx/>
              <a:buSzTx/>
              <a:buFontTx/>
              <a:buNone/>
            </a:pPr>
            <a:endParaRPr lang="zh-CN" altLang="en-US"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631" name="灯片编号占位符 3">
            <a:extLst>
              <a:ext uri="{FF2B5EF4-FFF2-40B4-BE49-F238E27FC236}">
                <a16:creationId xmlns:a16="http://schemas.microsoft.com/office/drawing/2014/main" id="{A57B79A6-A849-C59D-EB37-BD3FD2FE7C6A}"/>
              </a:ext>
            </a:extLst>
          </p:cNvPr>
          <p:cNvSpPr>
            <a:spLocks noGrp="1"/>
          </p:cNvSpPr>
          <p:nvPr>
            <p:ph type="sldNum" sz="quarter" idx="5"/>
          </p:nvPr>
        </p:nvSpPr>
        <p:spPr/>
        <p:txBody>
          <a:bodyPr/>
          <a:lstStyle/>
          <a:p>
            <a:fld id="{11F0D06E-EB29-4662-B5EC-0BDFC722356E}" type="slidenum">
              <a:rPr lang="zh-CN" altLang="en-US" smtClean="0"/>
              <a:t>4</a:t>
            </a:fld>
            <a:endParaRPr lang="zh-CN" altLang="en-US"/>
          </a:p>
        </p:txBody>
      </p:sp>
    </p:spTree>
    <p:extLst>
      <p:ext uri="{BB962C8B-B14F-4D97-AF65-F5344CB8AC3E}">
        <p14:creationId xmlns:p14="http://schemas.microsoft.com/office/powerpoint/2010/main" val="1213998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13DF0-D9E9-0318-2D50-FAAF074D7F55}"/>
            </a:ext>
          </a:extLst>
        </p:cNvPr>
        <p:cNvGrpSpPr/>
        <p:nvPr/>
      </p:nvGrpSpPr>
      <p:grpSpPr>
        <a:xfrm>
          <a:off x="0" y="0"/>
          <a:ext cx="0" cy="0"/>
          <a:chOff x="0" y="0"/>
          <a:chExt cx="0" cy="0"/>
        </a:xfrm>
      </p:grpSpPr>
      <p:sp>
        <p:nvSpPr>
          <p:cNvPr id="1048591" name="幻灯片图像占位符 1">
            <a:extLst>
              <a:ext uri="{FF2B5EF4-FFF2-40B4-BE49-F238E27FC236}">
                <a16:creationId xmlns:a16="http://schemas.microsoft.com/office/drawing/2014/main" id="{D28E884C-CF43-C378-673F-7E1715685674}"/>
              </a:ext>
            </a:extLst>
          </p:cNvPr>
          <p:cNvSpPr>
            <a:spLocks noGrp="1" noRot="1" noChangeAspect="1"/>
          </p:cNvSpPr>
          <p:nvPr>
            <p:ph type="sldImg"/>
          </p:nvPr>
        </p:nvSpPr>
        <p:spPr/>
      </p:sp>
      <p:sp>
        <p:nvSpPr>
          <p:cNvPr id="1048592" name="备注占位符 2">
            <a:extLst>
              <a:ext uri="{FF2B5EF4-FFF2-40B4-BE49-F238E27FC236}">
                <a16:creationId xmlns:a16="http://schemas.microsoft.com/office/drawing/2014/main" id="{2438E7ED-92A5-8534-F52B-C552F99F3DB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r>
              <a:rPr lang="zh-CN" altLang="en-US" sz="1200" kern="1200" dirty="0">
                <a:solidFill>
                  <a:schemeClr val="tx1"/>
                </a:solidFill>
                <a:effectLst/>
                <a:latin typeface="+mn-lt"/>
                <a:ea typeface="+mn-ea"/>
                <a:cs typeface="+mn-cs"/>
              </a:rPr>
              <a:t>首先是飞机脉动线动态调度文献调研。当前关于飞机脉动装配线的研究，多聚焦于无扰动场景下的静态调度问题；仅有少量学者逐步关注动态调度领域。在现有动态调度相关文献中，研究者通常将生产过程中的不确定性划分为作业时长波动、资源可用性变化、物料交付延迟、生产需求变更及人因干扰等类型，并开展了一系列代表性研究</a:t>
            </a:r>
            <a:r>
              <a:rPr lang="zh-CN" altLang="en-US" sz="1200" strike="noStrike" kern="1200" dirty="0">
                <a:solidFill>
                  <a:schemeClr val="tx1"/>
                </a:solidFill>
                <a:effectLst/>
                <a:latin typeface="+mn-lt"/>
                <a:ea typeface="+mn-ea"/>
                <a:cs typeface="+mn-cs"/>
              </a:rPr>
              <a:t>。</a:t>
            </a:r>
            <a:endParaRPr lang="en-US" altLang="zh-CN" sz="1200"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sz="1200" kern="1200" dirty="0">
                <a:solidFill>
                  <a:schemeClr val="tx1"/>
                </a:solidFill>
                <a:effectLst/>
                <a:latin typeface="+mn-lt"/>
                <a:ea typeface="+mn-ea"/>
                <a:cs typeface="+mn-cs"/>
              </a:rPr>
              <a:t>然而，现有飞机脉动装配线动态调度研究仍存在明显不足：第一，研究关注的扰动类型较为局限，多集中于工序时间波动、物料交付延迟等常规场景，对飞机脉动装配中难以避免的装配质量缺陷及返工行为所引发的扰动，缺乏针对性研究；第二，部分研究在处理动态因素时存在局限性 </a:t>
            </a:r>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将人员疲劳、资源实时可用性、设备能力波动等动态特征，简化表征为静态参数或硬约束条件，采用一次性规划或大时间窗滚动优化的方式求解，导致调度方案的在线响应能力不足，难以适配生产过程中的实时动态变化。</a:t>
            </a:r>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593" name="灯片编号占位符 3">
            <a:extLst>
              <a:ext uri="{FF2B5EF4-FFF2-40B4-BE49-F238E27FC236}">
                <a16:creationId xmlns:a16="http://schemas.microsoft.com/office/drawing/2014/main" id="{B54A9A40-E474-07A4-F848-B986BC9E11AC}"/>
              </a:ext>
            </a:extLst>
          </p:cNvPr>
          <p:cNvSpPr>
            <a:spLocks noGrp="1"/>
          </p:cNvSpPr>
          <p:nvPr>
            <p:ph type="sldNum" sz="quarter" idx="5"/>
          </p:nvPr>
        </p:nvSpPr>
        <p:spPr/>
        <p:txBody>
          <a:bodyPr/>
          <a:lstStyle/>
          <a:p>
            <a:fld id="{11F0D06E-EB29-4662-B5EC-0BDFC722356E}" type="slidenum">
              <a:rPr lang="zh-CN" altLang="en-US" smtClean="0"/>
              <a:t>5</a:t>
            </a:fld>
            <a:endParaRPr lang="zh-CN" altLang="en-US"/>
          </a:p>
        </p:txBody>
      </p:sp>
    </p:spTree>
    <p:extLst>
      <p:ext uri="{BB962C8B-B14F-4D97-AF65-F5344CB8AC3E}">
        <p14:creationId xmlns:p14="http://schemas.microsoft.com/office/powerpoint/2010/main" val="624158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75C46-6DB8-E32C-A6F3-8AE66CD5E3EB}"/>
            </a:ext>
          </a:extLst>
        </p:cNvPr>
        <p:cNvGrpSpPr/>
        <p:nvPr/>
      </p:nvGrpSpPr>
      <p:grpSpPr>
        <a:xfrm>
          <a:off x="0" y="0"/>
          <a:ext cx="0" cy="0"/>
          <a:chOff x="0" y="0"/>
          <a:chExt cx="0" cy="0"/>
        </a:xfrm>
      </p:grpSpPr>
      <p:sp>
        <p:nvSpPr>
          <p:cNvPr id="1048591" name="幻灯片图像占位符 1">
            <a:extLst>
              <a:ext uri="{FF2B5EF4-FFF2-40B4-BE49-F238E27FC236}">
                <a16:creationId xmlns:a16="http://schemas.microsoft.com/office/drawing/2014/main" id="{B27DB100-76E8-551E-D10C-5B9389E6D7D9}"/>
              </a:ext>
            </a:extLst>
          </p:cNvPr>
          <p:cNvSpPr>
            <a:spLocks noGrp="1" noRot="1" noChangeAspect="1"/>
          </p:cNvSpPr>
          <p:nvPr>
            <p:ph type="sldImg"/>
          </p:nvPr>
        </p:nvSpPr>
        <p:spPr/>
      </p:sp>
      <p:sp>
        <p:nvSpPr>
          <p:cNvPr id="1048592" name="备注占位符 2">
            <a:extLst>
              <a:ext uri="{FF2B5EF4-FFF2-40B4-BE49-F238E27FC236}">
                <a16:creationId xmlns:a16="http://schemas.microsoft.com/office/drawing/2014/main" id="{FC8DEC21-DBE9-018F-F855-E838A9CD855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在制造领域，产品质量是决定生产价值与市场竞争力的核心要素，而优化生产调度目标则是提升加工质量的关键途径 </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将质量控制与生产调度进行联合优化，能够有效增强生产过程的可靠性，同时提升制造系统的整体运行效率。</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以往影响生产价值的关键研究对加工质量的关注普遍不足：在生产调度决策中，大多以 “时间维度” 为核心导向（如最小化生产周期、降低设备闲置率），却忽略了加工质量这一因素。即使有所考虑，质量控制与生产调度这两大核心环节在制造系统分析中多被独立处理。这种 “分而治之” 的研究模式虽能实现单一环节的局部性能优化，却难以达成整个生产系统的全局最优。</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同时现有关于质量控制与生产调度联合优化的研究也大多聚焦于单机系统或单产品制造过程，难以适应现代柔性制造环境中多任务关联、多资源耦合的复杂需求。这一研究缺口在飞机脉动装配线等复杂制造场景中更为突出 </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针对脉动线特性的质量控制与生产调度联合优化研究，目前仍处于相对欠缺的状态。</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pPr>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593" name="灯片编号占位符 3">
            <a:extLst>
              <a:ext uri="{FF2B5EF4-FFF2-40B4-BE49-F238E27FC236}">
                <a16:creationId xmlns:a16="http://schemas.microsoft.com/office/drawing/2014/main" id="{23272B3A-9561-D7CC-5F46-0C4361E21C00}"/>
              </a:ext>
            </a:extLst>
          </p:cNvPr>
          <p:cNvSpPr>
            <a:spLocks noGrp="1"/>
          </p:cNvSpPr>
          <p:nvPr>
            <p:ph type="sldNum" sz="quarter" idx="5"/>
          </p:nvPr>
        </p:nvSpPr>
        <p:spPr/>
        <p:txBody>
          <a:bodyPr/>
          <a:lstStyle/>
          <a:p>
            <a:fld id="{11F0D06E-EB29-4662-B5EC-0BDFC722356E}" type="slidenum">
              <a:rPr lang="zh-CN" altLang="en-US" smtClean="0"/>
              <a:t>6</a:t>
            </a:fld>
            <a:endParaRPr lang="zh-CN" altLang="en-US"/>
          </a:p>
        </p:txBody>
      </p:sp>
    </p:spTree>
    <p:extLst>
      <p:ext uri="{BB962C8B-B14F-4D97-AF65-F5344CB8AC3E}">
        <p14:creationId xmlns:p14="http://schemas.microsoft.com/office/powerpoint/2010/main" val="25003308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21B4B-3A25-2279-1E04-034EDDAD629C}"/>
            </a:ext>
          </a:extLst>
        </p:cNvPr>
        <p:cNvGrpSpPr/>
        <p:nvPr/>
      </p:nvGrpSpPr>
      <p:grpSpPr>
        <a:xfrm>
          <a:off x="0" y="0"/>
          <a:ext cx="0" cy="0"/>
          <a:chOff x="0" y="0"/>
          <a:chExt cx="0" cy="0"/>
        </a:xfrm>
      </p:grpSpPr>
      <p:sp>
        <p:nvSpPr>
          <p:cNvPr id="1048591" name="幻灯片图像占位符 1">
            <a:extLst>
              <a:ext uri="{FF2B5EF4-FFF2-40B4-BE49-F238E27FC236}">
                <a16:creationId xmlns:a16="http://schemas.microsoft.com/office/drawing/2014/main" id="{3EE43386-9FDB-DA6F-9688-E148B8402B5B}"/>
              </a:ext>
            </a:extLst>
          </p:cNvPr>
          <p:cNvSpPr>
            <a:spLocks noGrp="1" noRot="1" noChangeAspect="1"/>
          </p:cNvSpPr>
          <p:nvPr>
            <p:ph type="sldImg"/>
          </p:nvPr>
        </p:nvSpPr>
        <p:spPr/>
      </p:sp>
      <p:sp>
        <p:nvSpPr>
          <p:cNvPr id="1048592" name="备注占位符 2">
            <a:extLst>
              <a:ext uri="{FF2B5EF4-FFF2-40B4-BE49-F238E27FC236}">
                <a16:creationId xmlns:a16="http://schemas.microsoft.com/office/drawing/2014/main" id="{685E4EE6-7F12-EEEA-B414-4A662A58C826}"/>
              </a:ext>
            </a:extLst>
          </p:cNvPr>
          <p:cNvSpPr>
            <a:spLocks noGrp="1"/>
          </p:cNvSpPr>
          <p:nvPr>
            <p:ph type="body" idx="1"/>
          </p:nvPr>
        </p:nvSpPr>
        <p:spPr/>
        <p:txBody>
          <a:bodyPr/>
          <a:lstStyle/>
          <a:p>
            <a:r>
              <a:rPr lang="zh-CN" altLang="en-US" dirty="0"/>
              <a:t>针对前面提到的多任务关联、多资源耦合的调度问题。现有的调度方法各有缺陷。常见的规则与启发式方法：它们实现快、易解释，但在频繁扰动下往往需要</a:t>
            </a:r>
            <a:r>
              <a:rPr lang="zh-CN" altLang="en-US" b="1" dirty="0"/>
              <a:t>反复重求解</a:t>
            </a:r>
            <a:r>
              <a:rPr lang="zh-CN" altLang="en-US" dirty="0"/>
              <a:t>，成本高。元启发式方法在线计算负担重，求解速度慢；而集中式或单智能体的</a:t>
            </a:r>
            <a:r>
              <a:rPr lang="en-US" altLang="zh-CN" dirty="0"/>
              <a:t>RL</a:t>
            </a:r>
            <a:r>
              <a:rPr lang="zh-CN" altLang="en-US" dirty="0"/>
              <a:t>通常依赖</a:t>
            </a:r>
            <a:r>
              <a:rPr lang="zh-CN" altLang="en-US" b="1" dirty="0"/>
              <a:t>近全局观测</a:t>
            </a:r>
            <a:r>
              <a:rPr lang="zh-CN" altLang="en-US" dirty="0"/>
              <a:t>，扩展到多主体多资源时</a:t>
            </a:r>
            <a:r>
              <a:rPr lang="zh-CN" altLang="en-US" b="1" dirty="0"/>
              <a:t>易失稳、通信压力大</a:t>
            </a:r>
            <a:r>
              <a:rPr lang="zh-CN" altLang="en-US" dirty="0"/>
              <a:t>。因此需要一种能够处理复杂资源变动，多维度任务的求解方法。而在广阔的调度领域多智能体强化学习方法已逐步受到关注并展现出良好潜力。</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按学习范式划分，多智能体</a:t>
            </a:r>
            <a:r>
              <a:rPr lang="en-US" altLang="zh-CN" dirty="0"/>
              <a:t>RL</a:t>
            </a:r>
            <a:r>
              <a:rPr lang="zh-CN" altLang="en-US" dirty="0"/>
              <a:t>主要包括</a:t>
            </a:r>
            <a:r>
              <a:rPr lang="zh-CN" altLang="en-US" b="1" dirty="0"/>
              <a:t>基于值函数</a:t>
            </a:r>
            <a:r>
              <a:rPr lang="zh-CN" altLang="en-US" dirty="0"/>
              <a:t>与</a:t>
            </a:r>
            <a:r>
              <a:rPr lang="zh-CN" altLang="en-US" b="1" dirty="0"/>
              <a:t>基于策略梯度</a:t>
            </a:r>
            <a:r>
              <a:rPr lang="zh-CN" altLang="en-US" dirty="0"/>
              <a:t>两大类，前者推理快、适合离散</a:t>
            </a:r>
            <a:r>
              <a:rPr lang="en-US" altLang="zh-CN" dirty="0"/>
              <a:t>/</a:t>
            </a:r>
            <a:r>
              <a:rPr lang="zh-CN" altLang="en-US" dirty="0"/>
              <a:t>组合动作，后者表达力强、适合连续</a:t>
            </a:r>
            <a:r>
              <a:rPr lang="en-US" altLang="zh-CN" dirty="0"/>
              <a:t>/</a:t>
            </a:r>
            <a:r>
              <a:rPr lang="zh-CN" altLang="en-US" dirty="0"/>
              <a:t>混合决策。</a:t>
            </a:r>
          </a:p>
          <a:p>
            <a:r>
              <a:rPr lang="zh-CN" altLang="en-US" dirty="0"/>
              <a:t>反过来看脉动线的结构：按站位分区、各站</a:t>
            </a:r>
            <a:r>
              <a:rPr lang="zh-CN" altLang="en-US" b="1" dirty="0"/>
              <a:t>局部可观测</a:t>
            </a:r>
            <a:r>
              <a:rPr lang="zh-CN" altLang="en-US" dirty="0"/>
              <a:t>；工人状态、以及部分工序的机器状态</a:t>
            </a:r>
            <a:r>
              <a:rPr lang="zh-CN" altLang="en-US" b="1" dirty="0"/>
              <a:t>高度异质</a:t>
            </a:r>
            <a:r>
              <a:rPr lang="en-US" altLang="zh-CN" dirty="0"/>
              <a:t>——</a:t>
            </a:r>
            <a:r>
              <a:rPr lang="zh-CN" altLang="en-US" dirty="0"/>
              <a:t>这些特征</a:t>
            </a:r>
            <a:r>
              <a:rPr lang="zh-CN" altLang="en-US" b="1" dirty="0"/>
              <a:t>天然契合分布式。因此多智能体协同有了用武之地。</a:t>
            </a:r>
            <a:endParaRPr lang="en-US" altLang="zh-CN" dirty="0"/>
          </a:p>
        </p:txBody>
      </p:sp>
      <p:sp>
        <p:nvSpPr>
          <p:cNvPr id="1048593" name="灯片编号占位符 3">
            <a:extLst>
              <a:ext uri="{FF2B5EF4-FFF2-40B4-BE49-F238E27FC236}">
                <a16:creationId xmlns:a16="http://schemas.microsoft.com/office/drawing/2014/main" id="{BFC64243-AA63-2A29-3C61-8D4C45841719}"/>
              </a:ext>
            </a:extLst>
          </p:cNvPr>
          <p:cNvSpPr>
            <a:spLocks noGrp="1"/>
          </p:cNvSpPr>
          <p:nvPr>
            <p:ph type="sldNum" sz="quarter" idx="5"/>
          </p:nvPr>
        </p:nvSpPr>
        <p:spPr/>
        <p:txBody>
          <a:bodyPr/>
          <a:lstStyle/>
          <a:p>
            <a:fld id="{11F0D06E-EB29-4662-B5EC-0BDFC722356E}" type="slidenum">
              <a:rPr lang="zh-CN" altLang="en-US" smtClean="0"/>
              <a:t>7</a:t>
            </a:fld>
            <a:endParaRPr lang="zh-CN" altLang="en-US"/>
          </a:p>
        </p:txBody>
      </p:sp>
    </p:spTree>
    <p:extLst>
      <p:ext uri="{BB962C8B-B14F-4D97-AF65-F5344CB8AC3E}">
        <p14:creationId xmlns:p14="http://schemas.microsoft.com/office/powerpoint/2010/main" val="24589423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6" name="幻灯片图像占位符 1"/>
          <p:cNvSpPr>
            <a:spLocks noGrp="1" noRot="1" noChangeAspect="1"/>
          </p:cNvSpPr>
          <p:nvPr>
            <p:ph type="sldImg"/>
          </p:nvPr>
        </p:nvSpPr>
        <p:spPr/>
      </p:sp>
      <p:sp>
        <p:nvSpPr>
          <p:cNvPr id="1048727"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因此就引出了我的研究课题 ：</a:t>
            </a:r>
            <a:r>
              <a:rPr lang="zh-CN" altLang="en-US" sz="1200" b="1" dirty="0">
                <a:solidFill>
                  <a:srgbClr val="000F82"/>
                </a:solidFill>
                <a:latin typeface="微软雅黑" panose="020B0503020204020204" charset="-122"/>
                <a:ea typeface="微软雅黑" panose="020B0503020204020204" charset="-122"/>
              </a:rPr>
              <a:t>考虑复杂返工场景的飞机脉动装配线多智能体协同调度研究</a:t>
            </a:r>
            <a:endParaRPr lang="zh-CN" altLang="en-US" sz="1200" b="1" dirty="0">
              <a:solidFill>
                <a:srgbClr val="000F82"/>
              </a:solidFill>
              <a:latin typeface="微软雅黑" panose="020B0503020204020204" charset="-122"/>
              <a:ea typeface="微软雅黑" panose="020B0503020204020204" charset="-122"/>
              <a:sym typeface="+mn-ea"/>
            </a:endParaRPr>
          </a:p>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728" name="灯片编号占位符 3"/>
          <p:cNvSpPr>
            <a:spLocks noGrp="1"/>
          </p:cNvSpPr>
          <p:nvPr>
            <p:ph type="sldNum" sz="quarter" idx="5"/>
          </p:nvPr>
        </p:nvSpPr>
        <p:spPr/>
        <p:txBody>
          <a:bodyPr/>
          <a:lstStyle/>
          <a:p>
            <a:fld id="{11F0D06E-EB29-4662-B5EC-0BDFC722356E}"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316EC-5F78-A26A-DDA1-27ABA288D9C9}"/>
            </a:ext>
          </a:extLst>
        </p:cNvPr>
        <p:cNvGrpSpPr/>
        <p:nvPr/>
      </p:nvGrpSpPr>
      <p:grpSpPr>
        <a:xfrm>
          <a:off x="0" y="0"/>
          <a:ext cx="0" cy="0"/>
          <a:chOff x="0" y="0"/>
          <a:chExt cx="0" cy="0"/>
        </a:xfrm>
      </p:grpSpPr>
      <p:sp>
        <p:nvSpPr>
          <p:cNvPr id="1048732" name="幻灯片图像占位符 1">
            <a:extLst>
              <a:ext uri="{FF2B5EF4-FFF2-40B4-BE49-F238E27FC236}">
                <a16:creationId xmlns:a16="http://schemas.microsoft.com/office/drawing/2014/main" id="{6574789A-26E9-8432-9B7A-EB88176EDA3B}"/>
              </a:ext>
            </a:extLst>
          </p:cNvPr>
          <p:cNvSpPr>
            <a:spLocks noGrp="1" noRot="1" noChangeAspect="1"/>
          </p:cNvSpPr>
          <p:nvPr>
            <p:ph type="sldImg"/>
          </p:nvPr>
        </p:nvSpPr>
        <p:spPr/>
      </p:sp>
      <p:sp>
        <p:nvSpPr>
          <p:cNvPr id="1048733" name="备注占位符 2">
            <a:extLst>
              <a:ext uri="{FF2B5EF4-FFF2-40B4-BE49-F238E27FC236}">
                <a16:creationId xmlns:a16="http://schemas.microsoft.com/office/drawing/2014/main" id="{5568C4B4-20A1-E2F1-16A7-CEDC5402BFF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r>
              <a:rPr kumimoji="0" lang="zh-CN" altLang="en-US"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本页是我的整个研究内容</a:t>
            </a:r>
            <a:endPar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左边是我的整个研究内容框架</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研究内容一，</a:t>
            </a:r>
            <a:r>
              <a:rPr lang="zh-CN" altLang="en-US" kern="100" dirty="0">
                <a:latin typeface="+mn-ea"/>
                <a:cs typeface="+mn-ea"/>
              </a:rPr>
              <a:t>针对飞机脉动装配线装配过程中时有发生的返工现象进行问题建模，并构建了一个多智能协同体框架。</a:t>
            </a:r>
            <a:endParaRPr lang="en-US" altLang="zh-CN" kern="100" dirty="0">
              <a:latin typeface="+mn-ea"/>
              <a:cs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研究内容二，</a:t>
            </a:r>
            <a:r>
              <a:rPr lang="zh-CN" altLang="en-US" dirty="0"/>
              <a:t>在研究内容</a:t>
            </a:r>
            <a:r>
              <a:rPr lang="en-US" altLang="zh-CN" dirty="0"/>
              <a:t>1</a:t>
            </a:r>
            <a:r>
              <a:rPr lang="zh-CN" altLang="en-US" dirty="0"/>
              <a:t>的基础上，融合工人疲劳度与工序质量缺陷模型，采用改进的多智能体强化学习算法，实现对人因返工场景下生产调度与质量控制的协同优化。</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研究内容三，</a:t>
            </a:r>
            <a:r>
              <a:rPr lang="zh-CN" altLang="en-US" dirty="0"/>
              <a:t>前两部分工作的基础上，本研究进一步将设备退化、维护策略与生产调度结合，通过分层协同框架，不仅优化了站位内的工序排序和工人派工，还实现了站间协调、错峰休息与维护。</a:t>
            </a:r>
            <a:endParaRPr lang="zh-CN" altLang="en-US" strike="sngStrik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研究内容四，</a:t>
            </a:r>
            <a:r>
              <a:rPr lang="zh-CN" altLang="en-US" kern="100" dirty="0">
                <a:latin typeface="+mn-ea"/>
                <a:cs typeface="+mn-ea"/>
              </a:rPr>
              <a:t>搭建飞机脉动装配线可视化调度与监测平台，进行实例验证和进一步完善上述理论和技术成果。</a:t>
            </a:r>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734" name="灯片编号占位符 3">
            <a:extLst>
              <a:ext uri="{FF2B5EF4-FFF2-40B4-BE49-F238E27FC236}">
                <a16:creationId xmlns:a16="http://schemas.microsoft.com/office/drawing/2014/main" id="{306BB64D-6904-F2AE-6F0A-AD6640BDF068}"/>
              </a:ext>
            </a:extLst>
          </p:cNvPr>
          <p:cNvSpPr>
            <a:spLocks noGrp="1"/>
          </p:cNvSpPr>
          <p:nvPr>
            <p:ph type="sldNum" sz="quarter" idx="5"/>
          </p:nvPr>
        </p:nvSpPr>
        <p:spPr/>
        <p:txBody>
          <a:bodyPr/>
          <a:lstStyle/>
          <a:p>
            <a:fld id="{11F0D06E-EB29-4662-B5EC-0BDFC722356E}" type="slidenum">
              <a:rPr lang="zh-CN" altLang="en-US" smtClean="0"/>
              <a:t>9</a:t>
            </a:fld>
            <a:endParaRPr lang="zh-CN" altLang="en-US"/>
          </a:p>
        </p:txBody>
      </p:sp>
    </p:spTree>
    <p:extLst>
      <p:ext uri="{BB962C8B-B14F-4D97-AF65-F5344CB8AC3E}">
        <p14:creationId xmlns:p14="http://schemas.microsoft.com/office/powerpoint/2010/main" val="40485167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0E267-B384-C516-F746-2E3CA6FEC1C3}"/>
            </a:ext>
          </a:extLst>
        </p:cNvPr>
        <p:cNvGrpSpPr/>
        <p:nvPr/>
      </p:nvGrpSpPr>
      <p:grpSpPr>
        <a:xfrm>
          <a:off x="0" y="0"/>
          <a:ext cx="0" cy="0"/>
          <a:chOff x="0" y="0"/>
          <a:chExt cx="0" cy="0"/>
        </a:xfrm>
      </p:grpSpPr>
      <p:sp>
        <p:nvSpPr>
          <p:cNvPr id="1048739" name="幻灯片图像占位符 1">
            <a:extLst>
              <a:ext uri="{FF2B5EF4-FFF2-40B4-BE49-F238E27FC236}">
                <a16:creationId xmlns:a16="http://schemas.microsoft.com/office/drawing/2014/main" id="{02429672-606F-1220-7273-244F91096348}"/>
              </a:ext>
            </a:extLst>
          </p:cNvPr>
          <p:cNvSpPr>
            <a:spLocks noGrp="1" noRot="1" noChangeAspect="1"/>
          </p:cNvSpPr>
          <p:nvPr>
            <p:ph type="sldImg"/>
          </p:nvPr>
        </p:nvSpPr>
        <p:spPr/>
      </p:sp>
      <p:sp>
        <p:nvSpPr>
          <p:cNvPr id="1048740" name="备注占位符 2">
            <a:extLst>
              <a:ext uri="{FF2B5EF4-FFF2-40B4-BE49-F238E27FC236}">
                <a16:creationId xmlns:a16="http://schemas.microsoft.com/office/drawing/2014/main" id="{3F71041A-9248-A8F3-51C8-41BDC1381ED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r>
              <a:rPr kumimoji="0" lang="zh-CN" altLang="en-US" sz="1200" b="1" i="0" u="none" strike="noStrike" kern="1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研究内容一，随机返工下的飞机脉动装配线动态调度</a:t>
            </a:r>
            <a:endParaRPr kumimoji="0" lang="en-US" altLang="zh-CN" sz="1200" b="1" i="0" u="none" strike="noStrike" kern="1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首先</a:t>
            </a:r>
            <a:r>
              <a:rPr lang="zh-CN" altLang="en-US" dirty="0"/>
              <a:t>考虑飞机脉动装配过程中可能会发生随机返工。即在每道工序完成后，会判断是否需要返工，</a:t>
            </a:r>
            <a:r>
              <a:rPr lang="zh-CN" altLang="en-US" sz="1200" dirty="0"/>
              <a:t>若需要，工序会回退到待加工工序集。</a:t>
            </a:r>
            <a:endParaRPr kumimoji="0" lang="en-US" altLang="zh-CN" sz="1200" b="0" i="0" u="none" strike="noStrike" kern="1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接着构建每个站位的智能体包括工人派工智能体和工序排序智能体。</a:t>
            </a:r>
            <a:r>
              <a:rPr lang="zh-CN" altLang="en-US" dirty="0"/>
              <a:t>采用多智能体分布式强化学习，分别优化 </a:t>
            </a:r>
            <a:r>
              <a:rPr lang="zh-CN" altLang="en-US" b="1" dirty="0"/>
              <a:t>工序排序</a:t>
            </a:r>
            <a:r>
              <a:rPr lang="zh-CN" altLang="en-US" dirty="0"/>
              <a:t> 和 </a:t>
            </a:r>
            <a:r>
              <a:rPr lang="zh-CN" altLang="en-US" b="1" dirty="0"/>
              <a:t>工人派工</a:t>
            </a:r>
            <a:r>
              <a:rPr lang="zh-CN" altLang="en-US" dirty="0"/>
              <a:t> 两个子任务。</a:t>
            </a:r>
            <a:r>
              <a:rPr lang="zh-CN" altLang="en-US" sz="1200" dirty="0"/>
              <a:t>混合网络集成来自两个调度智能体和全局状态的信息，生成一个全局的期望函数，来</a:t>
            </a:r>
            <a:r>
              <a:rPr lang="zh-CN" altLang="en-US" sz="1200" b="1" dirty="0"/>
              <a:t>指导调度决策。</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t>接着是三点改进</a:t>
            </a:r>
            <a:r>
              <a:rPr lang="zh-CN" altLang="en-US" sz="1200" dirty="0"/>
              <a:t>。</a:t>
            </a:r>
            <a:r>
              <a:rPr lang="en-US" altLang="zh-CN" sz="1200" dirty="0"/>
              <a:t>1.</a:t>
            </a:r>
            <a:r>
              <a:rPr lang="zh-CN" altLang="en-US" sz="1200" dirty="0"/>
              <a:t>加入注意力机制，</a:t>
            </a:r>
            <a:r>
              <a:rPr lang="zh-CN" altLang="en-US" b="0" dirty="0"/>
              <a:t>动态地调整不同特征的重要性，使得模型可以在处理输入时，聚焦于对决策最重要的部分。</a:t>
            </a:r>
            <a:r>
              <a:rPr lang="en-US" altLang="zh-CN" b="1" dirty="0"/>
              <a:t>2.</a:t>
            </a:r>
            <a:r>
              <a:rPr lang="zh-CN" altLang="en-US" b="1" dirty="0"/>
              <a:t>残差连接</a:t>
            </a:r>
            <a:r>
              <a:rPr lang="zh-CN" altLang="en-US" dirty="0"/>
              <a:t>（</a:t>
            </a:r>
            <a:r>
              <a:rPr lang="en-US" altLang="zh-CN" sz="1200" kern="1200" dirty="0">
                <a:solidFill>
                  <a:schemeClr val="tx1"/>
                </a:solidFill>
                <a:latin typeface="+mn-lt"/>
                <a:ea typeface="+mn-ea"/>
                <a:cs typeface="+mn-cs"/>
              </a:rPr>
              <a:t>residual</a:t>
            </a:r>
            <a:r>
              <a:rPr lang="zh-CN" altLang="en-US" dirty="0"/>
              <a:t>）则帮助网络 </a:t>
            </a:r>
            <a:r>
              <a:rPr lang="zh-CN" altLang="en-US" b="1" dirty="0"/>
              <a:t>更容易地学习到恒等映射</a:t>
            </a:r>
            <a:r>
              <a:rPr lang="zh-CN" altLang="en-US" dirty="0"/>
              <a:t>，从而使得网络训练更加稳定 </a:t>
            </a:r>
            <a:r>
              <a:rPr kumimoji="0" lang="en-US" altLang="zh-CN" sz="1200" b="1" i="0" u="none" strike="noStrike" kern="1200" cap="none" spc="0" normalizeH="0" baseline="0" dirty="0">
                <a:ln>
                  <a:noFill/>
                </a:ln>
                <a:solidFill>
                  <a:schemeClr val="tx1"/>
                </a:solidFill>
                <a:effectLst/>
                <a:uLnTx/>
                <a:uFillTx/>
                <a:latin typeface="+mn-lt"/>
                <a:ea typeface="+mn-ea"/>
                <a:cs typeface="+mn-cs"/>
              </a:rPr>
              <a:t>3</a:t>
            </a:r>
            <a:r>
              <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zh-CN" altLang="en-US" sz="12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在训练计算损失时，除了基础损失外，还加入了</a:t>
            </a:r>
            <a:r>
              <a:rPr kumimoji="0" lang="en-US" altLang="zh-CN" sz="12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CVaR</a:t>
            </a:r>
            <a:r>
              <a:rPr kumimoji="0" lang="zh-CN" altLang="en-US" sz="12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罚项。它可以将尾部样本的影响放大，逼迫</a:t>
            </a:r>
            <a:r>
              <a:rPr lang="zh-CN" altLang="zh-CN" sz="1200" b="1" kern="1200" dirty="0">
                <a:solidFill>
                  <a:schemeClr val="tx1"/>
                </a:solidFill>
                <a:effectLst/>
                <a:latin typeface="+mn-lt"/>
                <a:ea typeface="+mn-ea"/>
                <a:cs typeface="+mn-cs"/>
              </a:rPr>
              <a:t>策略</a:t>
            </a:r>
            <a:r>
              <a:rPr lang="zh-CN" altLang="zh-CN" sz="1200" kern="1200" dirty="0">
                <a:solidFill>
                  <a:schemeClr val="tx1"/>
                </a:solidFill>
                <a:effectLst/>
                <a:latin typeface="+mn-lt"/>
                <a:ea typeface="+mn-ea"/>
                <a:cs typeface="+mn-cs"/>
              </a:rPr>
              <a:t>提前学会为极端情况留出反应空间</a:t>
            </a:r>
            <a:r>
              <a:rPr lang="zh-CN" altLang="en-US" sz="1200" kern="1200" dirty="0">
                <a:solidFill>
                  <a:schemeClr val="tx1"/>
                </a:solidFill>
                <a:effectLst/>
                <a:latin typeface="+mn-lt"/>
                <a:ea typeface="+mn-ea"/>
                <a:cs typeface="+mn-cs"/>
              </a:rPr>
              <a:t>，</a:t>
            </a:r>
            <a:r>
              <a:rPr kumimoji="0" lang="zh-CN" altLang="en-US" sz="1200" b="0" i="0" u="none" strike="sng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若返工</a:t>
            </a:r>
            <a:r>
              <a:rPr lang="zh-CN" altLang="zh-CN" sz="1200" strike="sngStrike" kern="1200" dirty="0">
                <a:solidFill>
                  <a:schemeClr val="tx1"/>
                </a:solidFill>
                <a:effectLst/>
                <a:latin typeface="+mn-lt"/>
                <a:ea typeface="+mn-ea"/>
                <a:cs typeface="+mn-cs"/>
              </a:rPr>
              <a:t>恰好击中</a:t>
            </a:r>
            <a:r>
              <a:rPr lang="zh-CN" altLang="zh-CN" sz="1200" b="0" strike="sngStrike" kern="1200" dirty="0">
                <a:solidFill>
                  <a:schemeClr val="tx1"/>
                </a:solidFill>
                <a:effectLst/>
                <a:latin typeface="+mn-lt"/>
                <a:ea typeface="+mn-ea"/>
                <a:cs typeface="+mn-cs"/>
              </a:rPr>
              <a:t>后期</a:t>
            </a:r>
            <a:r>
              <a:rPr lang="en-US" altLang="zh-CN" sz="1200" b="0" strike="sngStrike" kern="1200" dirty="0">
                <a:solidFill>
                  <a:schemeClr val="tx1"/>
                </a:solidFill>
                <a:effectLst/>
                <a:latin typeface="+mn-lt"/>
                <a:ea typeface="+mn-ea"/>
                <a:cs typeface="+mn-cs"/>
              </a:rPr>
              <a:t>+</a:t>
            </a:r>
            <a:r>
              <a:rPr lang="zh-CN" altLang="zh-CN" sz="1200" b="0" strike="sngStrike" kern="1200" dirty="0">
                <a:solidFill>
                  <a:schemeClr val="tx1"/>
                </a:solidFill>
                <a:effectLst/>
                <a:latin typeface="+mn-lt"/>
                <a:ea typeface="+mn-ea"/>
                <a:cs typeface="+mn-cs"/>
              </a:rPr>
              <a:t>瓶颈站位，</a:t>
            </a:r>
            <a:r>
              <a:rPr lang="zh-CN" altLang="en-US" sz="1200" b="0" strike="sngStrike" kern="1200" dirty="0">
                <a:solidFill>
                  <a:schemeClr val="tx1"/>
                </a:solidFill>
                <a:effectLst/>
                <a:latin typeface="+mn-lt"/>
                <a:ea typeface="+mn-ea"/>
                <a:cs typeface="+mn-cs"/>
              </a:rPr>
              <a:t>节拍</a:t>
            </a:r>
            <a:r>
              <a:rPr lang="zh-CN" altLang="zh-CN" sz="1200" b="0" strike="sngStrike" kern="1200" dirty="0">
                <a:solidFill>
                  <a:schemeClr val="tx1"/>
                </a:solidFill>
                <a:effectLst/>
                <a:latin typeface="+mn-lt"/>
                <a:ea typeface="+mn-ea"/>
                <a:cs typeface="+mn-cs"/>
              </a:rPr>
              <a:t>会被成倍拉长</a:t>
            </a:r>
            <a:endParaRPr kumimoji="0" lang="en-US" altLang="zh-CN" sz="1200" b="0" i="0" u="none" strike="sng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p:txBody>
      </p:sp>
      <p:sp>
        <p:nvSpPr>
          <p:cNvPr id="1048741" name="灯片编号占位符 3">
            <a:extLst>
              <a:ext uri="{FF2B5EF4-FFF2-40B4-BE49-F238E27FC236}">
                <a16:creationId xmlns:a16="http://schemas.microsoft.com/office/drawing/2014/main" id="{687E269B-5844-0B78-4788-19E15BA63BC1}"/>
              </a:ext>
            </a:extLst>
          </p:cNvPr>
          <p:cNvSpPr>
            <a:spLocks noGrp="1"/>
          </p:cNvSpPr>
          <p:nvPr>
            <p:ph type="sldNum" sz="quarter" idx="5"/>
          </p:nvPr>
        </p:nvSpPr>
        <p:spPr/>
        <p:txBody>
          <a:bodyPr/>
          <a:lstStyle/>
          <a:p>
            <a:fld id="{11F0D06E-EB29-4662-B5EC-0BDFC722356E}" type="slidenum">
              <a:rPr lang="zh-CN" altLang="en-US" smtClean="0"/>
              <a:t>10</a:t>
            </a:fld>
            <a:endParaRPr lang="zh-CN" altLang="en-US"/>
          </a:p>
        </p:txBody>
      </p:sp>
    </p:spTree>
    <p:extLst>
      <p:ext uri="{BB962C8B-B14F-4D97-AF65-F5344CB8AC3E}">
        <p14:creationId xmlns:p14="http://schemas.microsoft.com/office/powerpoint/2010/main" val="39937548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1D531-26B2-48DD-D4F2-88157147F602}"/>
            </a:ext>
          </a:extLst>
        </p:cNvPr>
        <p:cNvGrpSpPr/>
        <p:nvPr/>
      </p:nvGrpSpPr>
      <p:grpSpPr>
        <a:xfrm>
          <a:off x="0" y="0"/>
          <a:ext cx="0" cy="0"/>
          <a:chOff x="0" y="0"/>
          <a:chExt cx="0" cy="0"/>
        </a:xfrm>
      </p:grpSpPr>
      <p:sp>
        <p:nvSpPr>
          <p:cNvPr id="1048746" name="幻灯片图像占位符 1">
            <a:extLst>
              <a:ext uri="{FF2B5EF4-FFF2-40B4-BE49-F238E27FC236}">
                <a16:creationId xmlns:a16="http://schemas.microsoft.com/office/drawing/2014/main" id="{BD647DD9-3A14-A49C-2EE3-6B60266DC29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1048747" name="备注占位符 2">
                <a:extLst>
                  <a:ext uri="{FF2B5EF4-FFF2-40B4-BE49-F238E27FC236}">
                    <a16:creationId xmlns:a16="http://schemas.microsoft.com/office/drawing/2014/main" id="{989FCFF2-307F-74E4-079F-35E341ACC6FB}"/>
                  </a:ext>
                </a:extLst>
              </p:cNvPr>
              <p:cNvSpPr>
                <a:spLocks noGrp="1"/>
              </p:cNvSpPr>
              <p:nvPr>
                <p:ph type="body" idx="1"/>
              </p:nvPr>
            </p:nvSpPr>
            <p:spPr/>
            <p:txBody>
              <a:bodyPr/>
              <a:lstStyle/>
              <a:p>
                <a:r>
                  <a:rPr lang="zh-CN" altLang="en-US" b="1" dirty="0"/>
                  <a:t>接下来是研究内容二，</a:t>
                </a:r>
                <a:r>
                  <a:rPr lang="zh-CN" altLang="en-US" sz="1200" dirty="0"/>
                  <a:t>人因返工下的飞机脉动装配线生产调度与质量控制的联合优化  </a:t>
                </a:r>
                <a:endParaRPr lang="en-US" altLang="zh-CN" sz="1200" dirty="0"/>
              </a:p>
              <a:p>
                <a:pPr algn="just">
                  <a:lnSpc>
                    <a:spcPct val="150000"/>
                  </a:lnSpc>
                </a:pPr>
                <a:r>
                  <a:rPr lang="zh-CN" altLang="en-US" sz="1200" dirty="0"/>
                  <a:t>由于引入工人疲劳度，须构建工人疲劳度模型，以提升对内部工人资源状态的感知能力；不再将返工视为外源随机干扰，则需要构建与工人状态关联的质量模型；智能体决策需兼顾效率与质量，实现双维度平衡。</a:t>
                </a:r>
                <a:endParaRPr lang="en-US" altLang="zh-CN" sz="1200" dirty="0"/>
              </a:p>
              <a:p>
                <a:r>
                  <a:rPr lang="zh-CN" altLang="en-US" b="1" dirty="0"/>
                  <a:t>接着是“工人疲劳与质量控制”。</a:t>
                </a:r>
                <a:br>
                  <a:rPr lang="zh-CN" altLang="en-US" dirty="0"/>
                </a:br>
                <a:r>
                  <a:rPr lang="zh-CN" altLang="en-US" dirty="0"/>
                  <a:t>将工人疲劳建成“</a:t>
                </a:r>
                <a:r>
                  <a:rPr lang="zh-CN" altLang="en-US" b="1" dirty="0"/>
                  <a:t>累积</a:t>
                </a:r>
                <a:r>
                  <a:rPr lang="en-US" altLang="zh-CN" b="1" dirty="0"/>
                  <a:t>—</a:t>
                </a:r>
                <a:r>
                  <a:rPr lang="zh-CN" altLang="en-US" b="1" dirty="0"/>
                  <a:t>恢复</a:t>
                </a:r>
                <a:r>
                  <a:rPr lang="zh-CN" altLang="en-US" dirty="0"/>
                  <a:t>”机制：连续工作疲劳上升，插入短休疲劳下降，并且长工序会让疲劳上升更快。基于疲劳 、熟练度 ，我们计算每次加工的</a:t>
                </a:r>
                <a:r>
                  <a:rPr lang="zh-CN" altLang="en-US" b="1" dirty="0"/>
                  <a:t>质量缺陷强度</a:t>
                </a:r>
                <a:r>
                  <a:rPr lang="zh-CN" altLang="en-US" dirty="0"/>
                  <a:t> 同时返工操作的发生时机也不仅仅是事件驱动返工，还包括了质量不达标的基于状态的返工。。这样把“人因</a:t>
                </a:r>
                <a:r>
                  <a:rPr lang="en-US" altLang="zh-CN" dirty="0"/>
                  <a:t>—</a:t>
                </a:r>
                <a:r>
                  <a:rPr lang="zh-CN" altLang="en-US" dirty="0"/>
                  <a:t>质量</a:t>
                </a:r>
                <a:r>
                  <a:rPr lang="en-US" altLang="zh-CN" dirty="0"/>
                  <a:t>—</a:t>
                </a:r>
                <a:r>
                  <a:rPr lang="zh-CN" altLang="en-US" dirty="0"/>
                  <a:t>返工”紧密闭环到调度环境里。</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最后是智能体更新</a:t>
                </a:r>
                <a:br>
                  <a:rPr lang="zh-CN" altLang="en-US" dirty="0"/>
                </a:br>
                <a:r>
                  <a:rPr lang="zh-CN" altLang="en-US" dirty="0"/>
                  <a:t>站位内我们同时做三类决策：</a:t>
                </a:r>
                <a:r>
                  <a:rPr lang="zh-CN" altLang="en-US" b="1" dirty="0"/>
                  <a:t>工序排序</a:t>
                </a:r>
                <a:r>
                  <a:rPr lang="zh-CN" altLang="en-US" dirty="0"/>
                  <a:t>、</a:t>
                </a:r>
                <a:r>
                  <a:rPr lang="zh-CN" altLang="en-US" b="1" dirty="0"/>
                  <a:t>工人派工、短休插入</a:t>
                </a:r>
                <a:r>
                  <a:rPr lang="zh-CN" altLang="en-US" dirty="0"/>
                  <a:t>。</a:t>
                </a:r>
                <a:r>
                  <a:rPr lang="zh-CN" altLang="en-US" sz="1200" dirty="0"/>
                  <a:t>引入工人短休智能体，通过实时分析工人状态，自动判断休息需求并匹配休息时间。</a:t>
                </a:r>
                <a:endParaRPr lang="zh-CN" altLang="zh-CN" sz="1200" dirty="0"/>
              </a:p>
              <a:p>
                <a:r>
                  <a:rPr lang="zh-CN" altLang="en-US" dirty="0"/>
                  <a:t>对应的两个一阶目标是：</a:t>
                </a:r>
                <a:r>
                  <a:rPr lang="zh-CN" altLang="en-US" b="1" dirty="0"/>
                  <a:t>最小化最大站位节拍</a:t>
                </a:r>
                <a:r>
                  <a:rPr lang="zh-CN" altLang="en-US" dirty="0"/>
                  <a:t>，以及</a:t>
                </a:r>
                <a:r>
                  <a:rPr lang="zh-CN" altLang="en-US" b="1" dirty="0"/>
                  <a:t>最小化返工次数</a:t>
                </a:r>
                <a:r>
                  <a:rPr lang="zh-CN" altLang="en-US" dirty="0"/>
                  <a:t>。</a:t>
                </a:r>
                <a:endParaRPr lang="en-US" altLang="zh-CN" dirty="0"/>
              </a:p>
              <a:p>
                <a:r>
                  <a:rPr lang="zh-CN" altLang="en-US" b="1" dirty="0"/>
                  <a:t>最后是“分布式演员</a:t>
                </a:r>
                <a:r>
                  <a:rPr lang="en-US" altLang="zh-CN" b="1" dirty="0"/>
                  <a:t>–</a:t>
                </a:r>
                <a:r>
                  <a:rPr lang="zh-CN" altLang="en-US" b="1" dirty="0"/>
                  <a:t>集中式评论家（</a:t>
                </a:r>
                <a:r>
                  <a:rPr lang="en-US" altLang="zh-CN" b="1" dirty="0"/>
                  <a:t>CTDE</a:t>
                </a:r>
                <a:r>
                  <a:rPr lang="zh-CN" altLang="en-US" b="1" dirty="0"/>
                  <a:t>）结构”。</a:t>
                </a:r>
                <a:br>
                  <a:rPr lang="zh-CN" altLang="en-US" dirty="0"/>
                </a:br>
                <a:r>
                  <a:rPr lang="zh-CN" altLang="en-US" dirty="0"/>
                  <a:t>研究内容二使用</a:t>
                </a:r>
                <a:r>
                  <a:rPr lang="zh-CN" altLang="en-US" b="1" dirty="0"/>
                  <a:t>改进的 </a:t>
                </a:r>
                <a:r>
                  <a:rPr lang="en-US" altLang="zh-CN" b="1" dirty="0"/>
                  <a:t>MAPPO</a:t>
                </a:r>
                <a:r>
                  <a:rPr lang="zh-CN" altLang="en-US" dirty="0"/>
                  <a:t>。每个站位部署三类</a:t>
                </a:r>
                <a:r>
                  <a:rPr lang="zh-CN" altLang="en-US" b="1" dirty="0"/>
                  <a:t>分布式演员</a:t>
                </a:r>
                <a:r>
                  <a:rPr lang="en-US" altLang="zh-CN" dirty="0"/>
                  <a:t>——</a:t>
                </a:r>
                <a:r>
                  <a:rPr lang="zh-CN" altLang="en-US" dirty="0"/>
                  <a:t>排序、派工、短休</a:t>
                </a:r>
                <a:r>
                  <a:rPr lang="en-US" altLang="zh-CN" dirty="0"/>
                  <a:t>——</a:t>
                </a:r>
                <a:r>
                  <a:rPr lang="zh-CN" altLang="en-US" dirty="0"/>
                  <a:t>它们仅基于</a:t>
                </a:r>
                <a:r>
                  <a:rPr lang="zh-CN" altLang="en-US" b="1" dirty="0"/>
                  <a:t>站位内局部观测</a:t>
                </a:r>
                <a:r>
                  <a:rPr lang="zh-CN" altLang="en-US" dirty="0"/>
                  <a:t>做协同决策，并通过</a:t>
                </a:r>
                <a:r>
                  <a:rPr lang="zh-CN" altLang="en-US" b="1" dirty="0"/>
                  <a:t>动作可行性掩码</a:t>
                </a:r>
                <a:r>
                  <a:rPr lang="zh-CN" altLang="en-US" dirty="0"/>
                  <a:t>严格满足工艺和资源约束。训练阶段引入</a:t>
                </a:r>
                <a:r>
                  <a:rPr lang="zh-CN" altLang="en-US" b="1" dirty="0"/>
                  <a:t>集中式评论家</a:t>
                </a:r>
                <a:r>
                  <a:rPr lang="zh-CN" altLang="en-US" dirty="0"/>
                  <a:t>，读取全局压缩状态与多目标权重，对当前状态</a:t>
                </a:r>
                <a:r>
                  <a:rPr lang="en-US" altLang="zh-CN" dirty="0"/>
                  <a:t>—</a:t>
                </a:r>
                <a:r>
                  <a:rPr lang="zh-CN" altLang="en-US" dirty="0"/>
                  <a:t>动作</a:t>
                </a:r>
                <a:r>
                  <a:rPr lang="zh-CN" altLang="en-US" b="1" dirty="0"/>
                  <a:t>给出价值</a:t>
                </a:r>
                <a:r>
                  <a:rPr lang="en-US" altLang="zh-CN" b="1" dirty="0"/>
                  <a:t>/</a:t>
                </a:r>
                <a:r>
                  <a:rPr lang="zh-CN" altLang="en-US" b="1" dirty="0"/>
                  <a:t>优势</a:t>
                </a:r>
                <a:r>
                  <a:rPr lang="zh-CN" altLang="en-US" dirty="0"/>
                  <a:t>，用于 </a:t>
                </a:r>
                <a:r>
                  <a:rPr lang="en-US" altLang="zh-CN" dirty="0"/>
                  <a:t>PPO-clip </a:t>
                </a:r>
                <a:r>
                  <a:rPr lang="zh-CN" altLang="en-US" dirty="0"/>
                  <a:t>与 </a:t>
                </a:r>
                <a:r>
                  <a:rPr lang="en-US" altLang="zh-CN" dirty="0"/>
                  <a:t>GAE </a:t>
                </a:r>
                <a:r>
                  <a:rPr lang="zh-CN" altLang="en-US" dirty="0"/>
                  <a:t>的稳定更新。上线执行时，只需本地演员独立运行，不依赖全局信息</a:t>
                </a:r>
              </a:p>
              <a:p>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mc:Choice>
        <mc:Fallback xmlns="">
          <p:sp>
            <p:nvSpPr>
              <p:cNvPr id="1048747" name="备注占位符 2">
                <a:extLst>
                  <a:ext uri="{FF2B5EF4-FFF2-40B4-BE49-F238E27FC236}">
                    <a16:creationId xmlns:a16="http://schemas.microsoft.com/office/drawing/2014/main" id="{989FCFF2-307F-74E4-079F-35E341ACC6FB}"/>
                  </a:ext>
                </a:extLst>
              </p:cNvPr>
              <p:cNvSpPr>
                <a:spLocks noGrp="1"/>
              </p:cNvSpPr>
              <p:nvPr>
                <p:ph type="body" idx="1"/>
              </p:nvPr>
            </p:nvSpPr>
            <p:spPr/>
            <p:txBody>
              <a:bodyPr/>
              <a:lstStyle/>
              <a:p>
                <a:r>
                  <a:rPr lang="zh-CN" altLang="en-US" b="1" dirty="0"/>
                  <a:t>接下来是研究内容二，</a:t>
                </a:r>
                <a:r>
                  <a:rPr lang="zh-CN" altLang="en-US" sz="1200" dirty="0"/>
                  <a:t>人因返工下的调度与质量控制的联合优化  </a:t>
                </a:r>
                <a:endParaRPr lang="en-US" altLang="zh-CN" sz="1200" dirty="0"/>
              </a:p>
              <a:p>
                <a:r>
                  <a:rPr lang="zh-CN" altLang="en-US" b="1" dirty="0"/>
                  <a:t>首先是“工人疲劳与质量控制”。</a:t>
                </a:r>
                <a:br>
                  <a:rPr lang="zh-CN" altLang="en-US" dirty="0"/>
                </a:br>
                <a:r>
                  <a:rPr lang="zh-CN" altLang="en-US" dirty="0"/>
                  <a:t>我把工人疲劳建成“</a:t>
                </a:r>
                <a:r>
                  <a:rPr lang="zh-CN" altLang="en-US" b="1" dirty="0"/>
                  <a:t>累积</a:t>
                </a:r>
                <a:r>
                  <a:rPr lang="en-US" altLang="zh-CN" b="1" dirty="0"/>
                  <a:t>—</a:t>
                </a:r>
                <a:r>
                  <a:rPr lang="zh-CN" altLang="en-US" b="1" dirty="0"/>
                  <a:t>恢复</a:t>
                </a:r>
                <a:r>
                  <a:rPr lang="zh-CN" altLang="en-US" dirty="0"/>
                  <a:t>”机制：连续工作疲劳 </a:t>
                </a:r>
                <a:r>
                  <a:rPr lang="zh-CN" altLang="en-US" sz="1200" i="0" kern="1200">
                    <a:solidFill>
                      <a:schemeClr val="tx1"/>
                    </a:solidFill>
                    <a:latin typeface="+mn-lt"/>
                    <a:ea typeface="+mn-ea"/>
                    <a:cs typeface="+mn-cs"/>
                  </a:rPr>
                  <a:t>𝐹</a:t>
                </a:r>
                <a:r>
                  <a:rPr lang="zh-CN" altLang="en-US" dirty="0"/>
                  <a:t>上升，插入短休疲劳下降，并且长工序会让疲劳上升更快。基于疲劳 </a:t>
                </a:r>
                <a:r>
                  <a:rPr lang="zh-CN" altLang="en-US" sz="1200" i="0" kern="1200">
                    <a:solidFill>
                      <a:schemeClr val="tx1"/>
                    </a:solidFill>
                    <a:latin typeface="+mn-lt"/>
                    <a:ea typeface="+mn-ea"/>
                    <a:cs typeface="+mn-cs"/>
                  </a:rPr>
                  <a:t>𝐹</a:t>
                </a:r>
                <a:r>
                  <a:rPr lang="zh-CN" altLang="en-US" dirty="0"/>
                  <a:t>、固定熟练度 </a:t>
                </a:r>
                <a:r>
                  <a:rPr lang="zh-CN" altLang="en-US" sz="1200" i="0" kern="1200">
                    <a:solidFill>
                      <a:schemeClr val="tx1"/>
                    </a:solidFill>
                    <a:latin typeface="+mn-lt"/>
                    <a:ea typeface="+mn-ea"/>
                    <a:cs typeface="+mn-cs"/>
                  </a:rPr>
                  <a:t>𝜃</a:t>
                </a:r>
                <a:r>
                  <a:rPr lang="zh-CN" altLang="en-US" dirty="0"/>
                  <a:t>和工序复杂度 </a:t>
                </a:r>
                <a:r>
                  <a:rPr lang="zh-CN" altLang="en-US" sz="1200" i="0" kern="1200">
                    <a:solidFill>
                      <a:schemeClr val="tx1"/>
                    </a:solidFill>
                    <a:latin typeface="+mn-lt"/>
                    <a:ea typeface="+mn-ea"/>
                    <a:cs typeface="+mn-cs"/>
                  </a:rPr>
                  <a:t>𝐶</a:t>
                </a:r>
                <a:r>
                  <a:rPr lang="zh-CN" altLang="en-US" dirty="0"/>
                  <a:t>，我们计算每次加工的</a:t>
                </a:r>
                <a:r>
                  <a:rPr lang="zh-CN" altLang="en-US" b="1" dirty="0"/>
                  <a:t>质量缺陷强度</a:t>
                </a:r>
                <a:r>
                  <a:rPr lang="zh-CN" altLang="en-US" dirty="0"/>
                  <a:t> </a:t>
                </a:r>
                <a:r>
                  <a:rPr lang="zh-CN" altLang="en-US" sz="1200" i="0" kern="1200">
                    <a:solidFill>
                      <a:schemeClr val="tx1"/>
                    </a:solidFill>
                    <a:latin typeface="+mn-lt"/>
                    <a:ea typeface="+mn-ea"/>
                    <a:cs typeface="+mn-cs"/>
                  </a:rPr>
                  <a:t>𝐷_(𝑖</a:t>
                </a:r>
                <a:r>
                  <a:rPr lang="en-US" altLang="zh-CN" sz="1200" i="0" kern="1200">
                    <a:solidFill>
                      <a:schemeClr val="tx1"/>
                    </a:solidFill>
                    <a:latin typeface="+mn-lt"/>
                    <a:ea typeface="+mn-ea"/>
                    <a:cs typeface="+mn-cs"/>
                  </a:rPr>
                  <a:t>,</a:t>
                </a:r>
                <a:r>
                  <a:rPr lang="zh-CN" altLang="en-US" sz="1200" i="0" kern="1200">
                    <a:solidFill>
                      <a:schemeClr val="tx1"/>
                    </a:solidFill>
                    <a:latin typeface="+mn-lt"/>
                    <a:ea typeface="+mn-ea"/>
                    <a:cs typeface="+mn-cs"/>
                  </a:rPr>
                  <a:t>𝑗) (𝑡)∈(</a:t>
                </a:r>
                <a:r>
                  <a:rPr lang="en-US" altLang="zh-CN" sz="1200" i="0" kern="1200">
                    <a:solidFill>
                      <a:schemeClr val="tx1"/>
                    </a:solidFill>
                    <a:latin typeface="+mn-lt"/>
                    <a:ea typeface="+mn-ea"/>
                    <a:cs typeface="+mn-cs"/>
                  </a:rPr>
                  <a:t>0</a:t>
                </a:r>
                <a:r>
                  <a:rPr lang="zh-CN" altLang="en-US" sz="1200" i="0" kern="1200">
                    <a:solidFill>
                      <a:schemeClr val="tx1"/>
                    </a:solidFill>
                    <a:latin typeface="+mn-lt"/>
                    <a:ea typeface="+mn-ea"/>
                    <a:cs typeface="+mn-cs"/>
                  </a:rPr>
                  <a:t>ⓜ,</a:t>
                </a:r>
                <a:r>
                  <a:rPr lang="en-US" altLang="zh-CN" sz="1200" i="0" kern="1200">
                    <a:solidFill>
                      <a:schemeClr val="tx1"/>
                    </a:solidFill>
                    <a:latin typeface="+mn-lt"/>
                    <a:ea typeface="+mn-ea"/>
                    <a:cs typeface="+mn-cs"/>
                  </a:rPr>
                  <a:t>1</a:t>
                </a:r>
                <a:r>
                  <a:rPr lang="zh-CN" altLang="en-US" sz="1200" i="0" kern="1200">
                    <a:solidFill>
                      <a:schemeClr val="tx1"/>
                    </a:solidFill>
                    <a:latin typeface="+mn-lt"/>
                    <a:ea typeface="+mn-ea"/>
                    <a:cs typeface="+mn-cs"/>
                  </a:rPr>
                  <a:t>)</a:t>
                </a:r>
                <a:r>
                  <a:rPr lang="zh-CN" altLang="en-US" dirty="0"/>
                  <a:t>。如果 </a:t>
                </a:r>
                <a:r>
                  <a:rPr lang="zh-CN" altLang="en-US" sz="1200" i="0" kern="1200">
                    <a:solidFill>
                      <a:schemeClr val="tx1"/>
                    </a:solidFill>
                    <a:latin typeface="+mn-lt"/>
                    <a:ea typeface="+mn-ea"/>
                    <a:cs typeface="+mn-cs"/>
                  </a:rPr>
                  <a:t>𝐷</a:t>
                </a:r>
                <a:r>
                  <a:rPr lang="zh-CN" altLang="en-US" dirty="0"/>
                  <a:t>超过阈值 </a:t>
                </a:r>
                <a:r>
                  <a:rPr lang="zh-CN" altLang="en-US" sz="1200" i="0" kern="1200">
                    <a:solidFill>
                      <a:schemeClr val="tx1"/>
                    </a:solidFill>
                    <a:latin typeface="+mn-lt"/>
                    <a:ea typeface="+mn-ea"/>
                    <a:cs typeface="+mn-cs"/>
                  </a:rPr>
                  <a:t>𝜏</a:t>
                </a:r>
                <a:r>
                  <a:rPr lang="zh-CN" altLang="en-US" dirty="0"/>
                  <a:t>就</a:t>
                </a:r>
                <a:r>
                  <a:rPr lang="zh-CN" altLang="en-US" b="1" dirty="0"/>
                  <a:t>必返工</a:t>
                </a:r>
                <a:r>
                  <a:rPr lang="zh-CN" altLang="en-US" dirty="0"/>
                  <a:t>；若低于阈值，则</a:t>
                </a:r>
                <a:r>
                  <a:rPr lang="zh-CN" altLang="en-US" sz="1200" dirty="0"/>
                  <a:t>通过缺陷值计算返工概率来进行概率返工</a:t>
                </a:r>
                <a:r>
                  <a:rPr lang="zh-CN" altLang="en-US" dirty="0"/>
                  <a:t>。这样把“人因</a:t>
                </a:r>
                <a:r>
                  <a:rPr lang="en-US" altLang="zh-CN" dirty="0"/>
                  <a:t>—</a:t>
                </a:r>
                <a:r>
                  <a:rPr lang="zh-CN" altLang="en-US" dirty="0"/>
                  <a:t>质量</a:t>
                </a:r>
                <a:r>
                  <a:rPr lang="en-US" altLang="zh-CN" dirty="0"/>
                  <a:t>—</a:t>
                </a:r>
                <a:r>
                  <a:rPr lang="zh-CN" altLang="en-US" dirty="0"/>
                  <a:t>返工”紧密闭环到调度环境里。</a:t>
                </a:r>
              </a:p>
              <a:p>
                <a:r>
                  <a:rPr lang="zh-CN" altLang="en-US" b="1" dirty="0"/>
                  <a:t>接着是“联合优化问题与决策变量”。</a:t>
                </a:r>
                <a:br>
                  <a:rPr lang="zh-CN" altLang="en-US" dirty="0"/>
                </a:br>
                <a:r>
                  <a:rPr lang="zh-CN" altLang="en-US" dirty="0"/>
                  <a:t>站位内我们同时做三类决策：</a:t>
                </a:r>
                <a:r>
                  <a:rPr lang="zh-CN" altLang="en-US" b="1" dirty="0"/>
                  <a:t>工序排序</a:t>
                </a:r>
                <a:r>
                  <a:rPr lang="zh-CN" altLang="en-US" dirty="0"/>
                  <a:t>（选哪道先做）、</a:t>
                </a:r>
                <a:r>
                  <a:rPr lang="zh-CN" altLang="en-US" b="1" dirty="0"/>
                  <a:t>工人派工</a:t>
                </a:r>
                <a:r>
                  <a:rPr lang="zh-CN" altLang="en-US" dirty="0"/>
                  <a:t>（谁来做）、</a:t>
                </a:r>
                <a:r>
                  <a:rPr lang="zh-CN" altLang="en-US" b="1" dirty="0"/>
                  <a:t>短休插入</a:t>
                </a:r>
                <a:r>
                  <a:rPr lang="zh-CN" altLang="en-US" dirty="0"/>
                  <a:t>（是否先休息再做）。对应的两个一阶目标是：</a:t>
                </a:r>
                <a:r>
                  <a:rPr lang="zh-CN" altLang="en-US" b="1" dirty="0"/>
                  <a:t>最小化最大站位节拍</a:t>
                </a:r>
                <a:r>
                  <a:rPr lang="zh-CN" altLang="en-US" dirty="0"/>
                  <a:t>，以及</a:t>
                </a:r>
                <a:r>
                  <a:rPr lang="zh-CN" altLang="en-US" b="1" dirty="0"/>
                  <a:t>最小化返工次数</a:t>
                </a:r>
                <a:r>
                  <a:rPr lang="zh-CN" altLang="en-US" dirty="0"/>
                  <a:t>。</a:t>
                </a:r>
                <a:endParaRPr lang="en-US" altLang="zh-CN" dirty="0"/>
              </a:p>
              <a:p>
                <a:r>
                  <a:rPr lang="zh-CN" altLang="en-US" b="1" dirty="0"/>
                  <a:t>最后是“分布式演员</a:t>
                </a:r>
                <a:r>
                  <a:rPr lang="en-US" altLang="zh-CN" b="1" dirty="0"/>
                  <a:t>–</a:t>
                </a:r>
                <a:r>
                  <a:rPr lang="zh-CN" altLang="en-US" b="1" dirty="0"/>
                  <a:t>集中式评论家（</a:t>
                </a:r>
                <a:r>
                  <a:rPr lang="en-US" altLang="zh-CN" b="1" dirty="0"/>
                  <a:t>CTDE</a:t>
                </a:r>
                <a:r>
                  <a:rPr lang="zh-CN" altLang="en-US" b="1" dirty="0"/>
                  <a:t>）结构”。</a:t>
                </a:r>
                <a:br>
                  <a:rPr lang="zh-CN" altLang="en-US" dirty="0"/>
                </a:br>
                <a:r>
                  <a:rPr lang="zh-CN" altLang="en-US" dirty="0"/>
                  <a:t>研究内容二使用</a:t>
                </a:r>
                <a:r>
                  <a:rPr lang="zh-CN" altLang="en-US" b="1" dirty="0"/>
                  <a:t>改进的 </a:t>
                </a:r>
                <a:r>
                  <a:rPr lang="en-US" altLang="zh-CN" b="1" dirty="0"/>
                  <a:t>MAPPO</a:t>
                </a:r>
                <a:r>
                  <a:rPr lang="zh-CN" altLang="en-US" dirty="0"/>
                  <a:t>。每个站位部署三类</a:t>
                </a:r>
                <a:r>
                  <a:rPr lang="zh-CN" altLang="en-US" b="1" dirty="0"/>
                  <a:t>分布式演员</a:t>
                </a:r>
                <a:r>
                  <a:rPr lang="en-US" altLang="zh-CN" dirty="0"/>
                  <a:t>——</a:t>
                </a:r>
                <a:r>
                  <a:rPr lang="zh-CN" altLang="en-US" dirty="0"/>
                  <a:t>排序、派工、短休</a:t>
                </a:r>
                <a:r>
                  <a:rPr lang="en-US" altLang="zh-CN" dirty="0"/>
                  <a:t>——</a:t>
                </a:r>
                <a:r>
                  <a:rPr lang="zh-CN" altLang="en-US" dirty="0"/>
                  <a:t>它们仅基于</a:t>
                </a:r>
                <a:r>
                  <a:rPr lang="zh-CN" altLang="en-US" b="1" dirty="0"/>
                  <a:t>站位内局部观测</a:t>
                </a:r>
                <a:r>
                  <a:rPr lang="zh-CN" altLang="en-US" dirty="0"/>
                  <a:t>做协同决策，并通过</a:t>
                </a:r>
                <a:r>
                  <a:rPr lang="zh-CN" altLang="en-US" b="1" dirty="0"/>
                  <a:t>动作可行性掩码</a:t>
                </a:r>
                <a:r>
                  <a:rPr lang="zh-CN" altLang="en-US" dirty="0"/>
                  <a:t>严格满足工艺和资源约束。训练阶段引入</a:t>
                </a:r>
                <a:r>
                  <a:rPr lang="zh-CN" altLang="en-US" b="1" dirty="0"/>
                  <a:t>集中式评论家</a:t>
                </a:r>
                <a:r>
                  <a:rPr lang="zh-CN" altLang="en-US" dirty="0"/>
                  <a:t>，读取全局压缩状态与多目标权重，对当前状态</a:t>
                </a:r>
                <a:r>
                  <a:rPr lang="en-US" altLang="zh-CN" dirty="0"/>
                  <a:t>—</a:t>
                </a:r>
                <a:r>
                  <a:rPr lang="zh-CN" altLang="en-US" dirty="0"/>
                  <a:t>动作</a:t>
                </a:r>
                <a:r>
                  <a:rPr lang="zh-CN" altLang="en-US" b="1" dirty="0"/>
                  <a:t>给出价值</a:t>
                </a:r>
                <a:r>
                  <a:rPr lang="en-US" altLang="zh-CN" b="1" dirty="0"/>
                  <a:t>/</a:t>
                </a:r>
                <a:r>
                  <a:rPr lang="zh-CN" altLang="en-US" b="1" dirty="0"/>
                  <a:t>优势</a:t>
                </a:r>
                <a:r>
                  <a:rPr lang="zh-CN" altLang="en-US" dirty="0"/>
                  <a:t>，用于 </a:t>
                </a:r>
                <a:r>
                  <a:rPr lang="en-US" altLang="zh-CN" dirty="0"/>
                  <a:t>PPO-clip </a:t>
                </a:r>
                <a:r>
                  <a:rPr lang="zh-CN" altLang="en-US" dirty="0"/>
                  <a:t>与 </a:t>
                </a:r>
                <a:r>
                  <a:rPr lang="en-US" altLang="zh-CN" dirty="0"/>
                  <a:t>GAE </a:t>
                </a:r>
                <a:r>
                  <a:rPr lang="zh-CN" altLang="en-US" dirty="0"/>
                  <a:t>的稳定更新。上线执行时，只需本地演员独立运行，不依赖全局信息</a:t>
                </a:r>
              </a:p>
              <a:p>
                <a:endPar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mc:Fallback>
      </mc:AlternateContent>
      <p:sp>
        <p:nvSpPr>
          <p:cNvPr id="1048748" name="灯片编号占位符 3">
            <a:extLst>
              <a:ext uri="{FF2B5EF4-FFF2-40B4-BE49-F238E27FC236}">
                <a16:creationId xmlns:a16="http://schemas.microsoft.com/office/drawing/2014/main" id="{872BB370-1070-FE3C-F2D2-D8F1CF8CC9CF}"/>
              </a:ext>
            </a:extLst>
          </p:cNvPr>
          <p:cNvSpPr>
            <a:spLocks noGrp="1"/>
          </p:cNvSpPr>
          <p:nvPr>
            <p:ph type="sldNum" sz="quarter" idx="5"/>
          </p:nvPr>
        </p:nvSpPr>
        <p:spPr/>
        <p:txBody>
          <a:bodyPr/>
          <a:lstStyle/>
          <a:p>
            <a:fld id="{11F0D06E-EB29-4662-B5EC-0BDFC722356E}" type="slidenum">
              <a:rPr lang="zh-CN" altLang="en-US" smtClean="0"/>
              <a:t>11</a:t>
            </a:fld>
            <a:endParaRPr lang="zh-CN" altLang="en-US"/>
          </a:p>
        </p:txBody>
      </p:sp>
    </p:spTree>
    <p:extLst>
      <p:ext uri="{BB962C8B-B14F-4D97-AF65-F5344CB8AC3E}">
        <p14:creationId xmlns:p14="http://schemas.microsoft.com/office/powerpoint/2010/main" val="30869349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E995E-CB77-D3DE-9516-AD49E5F83EBD}"/>
            </a:ext>
          </a:extLst>
        </p:cNvPr>
        <p:cNvGrpSpPr/>
        <p:nvPr/>
      </p:nvGrpSpPr>
      <p:grpSpPr>
        <a:xfrm>
          <a:off x="0" y="0"/>
          <a:ext cx="0" cy="0"/>
          <a:chOff x="0" y="0"/>
          <a:chExt cx="0" cy="0"/>
        </a:xfrm>
      </p:grpSpPr>
      <p:sp>
        <p:nvSpPr>
          <p:cNvPr id="1048753" name="幻灯片图像占位符 1">
            <a:extLst>
              <a:ext uri="{FF2B5EF4-FFF2-40B4-BE49-F238E27FC236}">
                <a16:creationId xmlns:a16="http://schemas.microsoft.com/office/drawing/2014/main" id="{97F33868-9637-A959-B721-539984C25EDD}"/>
              </a:ext>
            </a:extLst>
          </p:cNvPr>
          <p:cNvSpPr>
            <a:spLocks noGrp="1" noRot="1" noChangeAspect="1"/>
          </p:cNvSpPr>
          <p:nvPr>
            <p:ph type="sldImg"/>
          </p:nvPr>
        </p:nvSpPr>
        <p:spPr/>
      </p:sp>
      <p:sp>
        <p:nvSpPr>
          <p:cNvPr id="1048754" name="备注占位符 2">
            <a:extLst>
              <a:ext uri="{FF2B5EF4-FFF2-40B4-BE49-F238E27FC236}">
                <a16:creationId xmlns:a16="http://schemas.microsoft.com/office/drawing/2014/main" id="{2380CAA4-7D8B-77E8-C5AA-13512BD533B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r>
              <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接下来是研究内容三</a:t>
            </a:r>
            <a:r>
              <a:rPr lang="zh-CN" altLang="en-US" sz="1200" kern="100" dirty="0">
                <a:latin typeface="微软雅黑" panose="020B0503020204020204" charset="-122"/>
                <a:ea typeface="微软雅黑" panose="020B0503020204020204" charset="-122"/>
                <a:cs typeface="Times New Roman" panose="02020603050405020304" pitchFamily="18" charset="0"/>
              </a:rPr>
              <a:t>人机因返工下的飞机脉动装配线多智能体分层协同优化</a:t>
            </a:r>
            <a:endParaRPr lang="en-US" altLang="zh-CN" sz="1200" kern="100" dirty="0">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pPr>
            <a:r>
              <a:rPr lang="zh-CN" altLang="zh-CN" sz="1200" kern="1200" dirty="0">
                <a:solidFill>
                  <a:schemeClr val="tx1"/>
                </a:solidFill>
                <a:effectLst/>
                <a:latin typeface="+mn-lt"/>
                <a:ea typeface="+mn-ea"/>
                <a:cs typeface="+mn-cs"/>
              </a:rPr>
              <a:t>在飞机脉动装配线中，站位节拍与交付稳定性不仅取决于调度与人因质量，还显著受制于</a:t>
            </a:r>
            <a:r>
              <a:rPr lang="zh-CN" altLang="zh-CN" sz="1200" b="1" kern="1200" dirty="0">
                <a:solidFill>
                  <a:schemeClr val="tx1"/>
                </a:solidFill>
                <a:effectLst/>
                <a:latin typeface="+mn-lt"/>
                <a:ea typeface="+mn-ea"/>
                <a:cs typeface="+mn-cs"/>
              </a:rPr>
              <a:t>关键设备</a:t>
            </a:r>
            <a:r>
              <a:rPr lang="en-US" altLang="zh-CN" sz="1200" b="1" kern="1200" dirty="0">
                <a:solidFill>
                  <a:schemeClr val="tx1"/>
                </a:solidFill>
                <a:effectLst/>
                <a:latin typeface="+mn-lt"/>
                <a:ea typeface="+mn-ea"/>
                <a:cs typeface="+mn-cs"/>
              </a:rPr>
              <a:t>/</a:t>
            </a:r>
            <a:r>
              <a:rPr lang="zh-CN" altLang="zh-CN" sz="1200" b="1" kern="1200" dirty="0">
                <a:solidFill>
                  <a:schemeClr val="tx1"/>
                </a:solidFill>
                <a:effectLst/>
                <a:latin typeface="+mn-lt"/>
                <a:ea typeface="+mn-ea"/>
                <a:cs typeface="+mn-cs"/>
              </a:rPr>
              <a:t>工装的健康演化</a:t>
            </a:r>
            <a:r>
              <a:rPr lang="zh-CN" altLang="zh-CN" sz="1200" kern="1200" dirty="0">
                <a:solidFill>
                  <a:schemeClr val="tx1"/>
                </a:solidFill>
                <a:effectLst/>
                <a:latin typeface="+mn-lt"/>
                <a:ea typeface="+mn-ea"/>
                <a:cs typeface="+mn-cs"/>
              </a:rPr>
              <a:t>与</a:t>
            </a:r>
            <a:r>
              <a:rPr lang="zh-CN" altLang="zh-CN" sz="1200" b="1" kern="1200" dirty="0">
                <a:solidFill>
                  <a:schemeClr val="tx1"/>
                </a:solidFill>
                <a:effectLst/>
                <a:latin typeface="+mn-lt"/>
                <a:ea typeface="+mn-ea"/>
                <a:cs typeface="+mn-cs"/>
              </a:rPr>
              <a:t>维护策略</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sz="1200" kern="1200" dirty="0">
                <a:solidFill>
                  <a:schemeClr val="tx1"/>
                </a:solidFill>
                <a:effectLst/>
                <a:latin typeface="+mn-lt"/>
                <a:ea typeface="+mn-ea"/>
                <a:cs typeface="+mn-cs"/>
              </a:rPr>
              <a:t>机器退化机制的融入使得系统内部资源的异构属性与耦合关系进一步凸显，资源状态空间呈现高维度、强动态的复杂特征，对感知表征提出了更高要求。在此背景下，单一层次的多智能体决策框架因决策颗粒度与系统复杂度不匹配而表现出局限性，因此需将整体决策任务进行结构化拆解，形成分层协同的决策架构以应对复杂场景挑战。</a:t>
            </a:r>
            <a:r>
              <a:rPr lang="zh-CN" altLang="zh-CN" sz="1200" kern="1200" dirty="0">
                <a:solidFill>
                  <a:schemeClr val="tx1"/>
                </a:solidFill>
                <a:effectLst/>
                <a:latin typeface="+mn-lt"/>
                <a:ea typeface="+mn-ea"/>
                <a:cs typeface="+mn-cs"/>
              </a:rPr>
              <a:t>基于前两块工作（随机返工下的站位重调度；人因返工下的联合优化），本研究进一步把</a:t>
            </a:r>
            <a:r>
              <a:rPr lang="zh-CN" altLang="zh-CN" sz="1200" b="1" kern="1200" dirty="0">
                <a:solidFill>
                  <a:schemeClr val="tx1"/>
                </a:solidFill>
                <a:effectLst/>
                <a:latin typeface="+mn-lt"/>
                <a:ea typeface="+mn-ea"/>
                <a:cs typeface="+mn-cs"/>
              </a:rPr>
              <a:t>设备退化与维护动作</a:t>
            </a:r>
            <a:r>
              <a:rPr lang="zh-CN" altLang="zh-CN" sz="1200" kern="1200" dirty="0">
                <a:solidFill>
                  <a:schemeClr val="tx1"/>
                </a:solidFill>
                <a:effectLst/>
                <a:latin typeface="+mn-lt"/>
                <a:ea typeface="+mn-ea"/>
                <a:cs typeface="+mn-cs"/>
              </a:rPr>
              <a:t>纳入同一时域，形成</a:t>
            </a:r>
            <a:r>
              <a:rPr lang="en-US" altLang="zh-CN" sz="1200" kern="1200" dirty="0">
                <a:solidFill>
                  <a:schemeClr val="tx1"/>
                </a:solidFill>
                <a:effectLst/>
                <a:latin typeface="+mn-lt"/>
                <a:ea typeface="+mn-ea"/>
                <a:cs typeface="+mn-cs"/>
              </a:rPr>
              <a:t>“</a:t>
            </a:r>
            <a:r>
              <a:rPr lang="zh-CN" altLang="zh-CN" sz="1200" b="1" kern="1200" dirty="0">
                <a:solidFill>
                  <a:schemeClr val="tx1"/>
                </a:solidFill>
                <a:effectLst/>
                <a:latin typeface="+mn-lt"/>
                <a:ea typeface="+mn-ea"/>
                <a:cs typeface="+mn-cs"/>
              </a:rPr>
              <a:t>人</a:t>
            </a:r>
            <a:r>
              <a:rPr lang="en-US" altLang="zh-CN" sz="1200" b="1" kern="1200" dirty="0">
                <a:solidFill>
                  <a:schemeClr val="tx1"/>
                </a:solidFill>
                <a:effectLst/>
                <a:latin typeface="+mn-lt"/>
                <a:ea typeface="+mn-ea"/>
                <a:cs typeface="+mn-cs"/>
              </a:rPr>
              <a:t>—</a:t>
            </a:r>
            <a:r>
              <a:rPr lang="zh-CN" altLang="zh-CN" sz="1200" b="1" kern="1200" dirty="0">
                <a:solidFill>
                  <a:schemeClr val="tx1"/>
                </a:solidFill>
                <a:effectLst/>
                <a:latin typeface="+mn-lt"/>
                <a:ea typeface="+mn-ea"/>
                <a:cs typeface="+mn-cs"/>
              </a:rPr>
              <a:t>机</a:t>
            </a:r>
            <a:r>
              <a:rPr lang="en-US" altLang="zh-CN" sz="1200" b="1" kern="1200" dirty="0">
                <a:solidFill>
                  <a:schemeClr val="tx1"/>
                </a:solidFill>
                <a:effectLst/>
                <a:latin typeface="+mn-lt"/>
                <a:ea typeface="+mn-ea"/>
                <a:cs typeface="+mn-cs"/>
              </a:rPr>
              <a:t>—</a:t>
            </a:r>
            <a:r>
              <a:rPr lang="zh-CN" altLang="zh-CN" sz="1200" b="1" kern="1200" dirty="0">
                <a:solidFill>
                  <a:schemeClr val="tx1"/>
                </a:solidFill>
                <a:effectLst/>
                <a:latin typeface="+mn-lt"/>
                <a:ea typeface="+mn-ea"/>
                <a:cs typeface="+mn-cs"/>
              </a:rPr>
              <a:t>工序</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统一闭环</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本部分研究内容采用分层框架设计，</a:t>
            </a:r>
            <a:r>
              <a:rPr lang="zh-CN" altLang="en-US" dirty="0"/>
              <a:t>将整线决策拆为两层：</a:t>
            </a:r>
            <a:br>
              <a:rPr lang="zh-CN" altLang="en-US" dirty="0"/>
            </a:br>
            <a:r>
              <a:rPr lang="zh-CN" altLang="en-US" dirty="0"/>
              <a:t>上层用 </a:t>
            </a:r>
            <a:r>
              <a:rPr lang="en-US" altLang="zh-CN" b="1" dirty="0"/>
              <a:t>Graph-IPPO</a:t>
            </a:r>
            <a:r>
              <a:rPr lang="zh-CN" altLang="en-US" dirty="0"/>
              <a:t> 做“低频、时间窗级”的</a:t>
            </a:r>
            <a:r>
              <a:rPr lang="zh-CN" altLang="en-US" b="1" dirty="0"/>
              <a:t>短休</a:t>
            </a:r>
            <a:r>
              <a:rPr lang="en-US" altLang="zh-CN" b="1" dirty="0"/>
              <a:t>/</a:t>
            </a:r>
            <a:r>
              <a:rPr lang="zh-CN" altLang="en-US" b="1" dirty="0"/>
              <a:t>维护</a:t>
            </a:r>
            <a:r>
              <a:rPr lang="zh-CN" altLang="en-US" dirty="0"/>
              <a:t>协调；采用图编码，节点对应各站的局部状态，边体现站间耦合（不可并停约束、返工是否进行）</a:t>
            </a:r>
            <a:r>
              <a:rPr lang="zh-CN" altLang="en-US" b="1" strike="sngStrike" dirty="0"/>
              <a:t>错峰与合规</a:t>
            </a:r>
            <a:r>
              <a:rPr lang="zh-CN" altLang="en-US" strike="sngStrike" dirty="0"/>
              <a:t>；</a:t>
            </a:r>
            <a:br>
              <a:rPr lang="zh-CN" altLang="en-US" dirty="0"/>
            </a:br>
            <a:r>
              <a:rPr lang="zh-CN" altLang="en-US" dirty="0"/>
              <a:t>下层用 </a:t>
            </a:r>
            <a:r>
              <a:rPr lang="en-US" altLang="zh-CN" b="1" dirty="0"/>
              <a:t>MAPPO</a:t>
            </a:r>
            <a:r>
              <a:rPr lang="zh-CN" altLang="en-US" dirty="0"/>
              <a:t> 做“高频、工序级”的</a:t>
            </a:r>
            <a:r>
              <a:rPr lang="zh-CN" altLang="en-US" b="1" dirty="0"/>
              <a:t>工序排序 </a:t>
            </a:r>
            <a:r>
              <a:rPr lang="en-US" altLang="zh-CN" b="1" dirty="0"/>
              <a:t>× </a:t>
            </a:r>
            <a:r>
              <a:rPr lang="zh-CN" altLang="en-US" b="1" dirty="0"/>
              <a:t>工人派工</a:t>
            </a:r>
            <a:r>
              <a:rPr lang="zh-CN" altLang="en-US" dirty="0"/>
              <a:t>执行；</a:t>
            </a:r>
            <a:br>
              <a:rPr lang="zh-CN" altLang="en-US" dirty="0"/>
            </a:br>
            <a:r>
              <a:rPr lang="zh-CN" altLang="en-US" dirty="0"/>
              <a:t>两层通过“</a:t>
            </a:r>
            <a:r>
              <a:rPr lang="zh-CN" altLang="en-US" b="1" dirty="0"/>
              <a:t>时间窗 → 掩码</a:t>
            </a:r>
            <a:r>
              <a:rPr lang="zh-CN" altLang="en-US" dirty="0"/>
              <a:t>”接口解耦。</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pPr>
            <a:r>
              <a:rPr lang="zh-CN" altLang="en-US"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训练流程：</a:t>
            </a:r>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1.</a:t>
            </a:r>
            <a:r>
              <a:rPr lang="zh-CN" altLang="en-US" b="1" dirty="0"/>
              <a:t>下层（</a:t>
            </a:r>
            <a:r>
              <a:rPr lang="en-US" altLang="zh-CN" b="1" dirty="0"/>
              <a:t>MAPPO</a:t>
            </a:r>
            <a:r>
              <a:rPr lang="zh-CN" altLang="en-US" b="1" dirty="0"/>
              <a:t>）先训练好并冻结</a:t>
            </a:r>
            <a:r>
              <a:rPr lang="zh-CN" altLang="en-US" dirty="0"/>
              <a:t>，让站位分配</a:t>
            </a:r>
            <a:r>
              <a:rPr lang="en-US" altLang="zh-CN" dirty="0"/>
              <a:t>/</a:t>
            </a:r>
            <a:r>
              <a:rPr lang="zh-CN" altLang="en-US" dirty="0"/>
              <a:t>工人派工在给定约束下稳定执行；</a:t>
            </a:r>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2.</a:t>
            </a:r>
            <a:r>
              <a:rPr lang="zh-CN" altLang="en-US" dirty="0"/>
              <a:t>用 </a:t>
            </a:r>
            <a:r>
              <a:rPr lang="en-US" altLang="zh-CN" dirty="0"/>
              <a:t>Graph-IPPO </a:t>
            </a:r>
            <a:r>
              <a:rPr lang="zh-CN" altLang="en-US" dirty="0"/>
              <a:t>训练上层</a:t>
            </a:r>
            <a:r>
              <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rPr>
              <a:t>3.</a:t>
            </a:r>
            <a:r>
              <a:rPr lang="zh-CN" altLang="en-US" dirty="0"/>
              <a:t>上层稳定后，</a:t>
            </a:r>
            <a:r>
              <a:rPr lang="zh-CN" altLang="en-US" b="1" dirty="0"/>
              <a:t>解冻下层</a:t>
            </a:r>
            <a:r>
              <a:rPr lang="zh-CN" altLang="en-US" dirty="0"/>
              <a:t>以小学习率做</a:t>
            </a:r>
            <a:r>
              <a:rPr lang="zh-CN" altLang="en-US" b="1" dirty="0"/>
              <a:t>轻联合微调</a:t>
            </a:r>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755" name="灯片编号占位符 3">
            <a:extLst>
              <a:ext uri="{FF2B5EF4-FFF2-40B4-BE49-F238E27FC236}">
                <a16:creationId xmlns:a16="http://schemas.microsoft.com/office/drawing/2014/main" id="{9C9658CE-8DDF-E21E-6FE1-0CA1DFCB9A32}"/>
              </a:ext>
            </a:extLst>
          </p:cNvPr>
          <p:cNvSpPr>
            <a:spLocks noGrp="1"/>
          </p:cNvSpPr>
          <p:nvPr>
            <p:ph type="sldNum" sz="quarter" idx="5"/>
          </p:nvPr>
        </p:nvSpPr>
        <p:spPr/>
        <p:txBody>
          <a:bodyPr/>
          <a:lstStyle/>
          <a:p>
            <a:fld id="{11F0D06E-EB29-4662-B5EC-0BDFC722356E}" type="slidenum">
              <a:rPr lang="zh-CN" altLang="en-US" smtClean="0"/>
              <a:t>12</a:t>
            </a:fld>
            <a:endParaRPr lang="zh-CN" altLang="en-US"/>
          </a:p>
        </p:txBody>
      </p:sp>
    </p:spTree>
    <p:extLst>
      <p:ext uri="{BB962C8B-B14F-4D97-AF65-F5344CB8AC3E}">
        <p14:creationId xmlns:p14="http://schemas.microsoft.com/office/powerpoint/2010/main" val="345132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0" name="幻灯片图像占位符 1"/>
          <p:cNvSpPr>
            <a:spLocks noGrp="1" noRot="1" noChangeAspect="1"/>
          </p:cNvSpPr>
          <p:nvPr>
            <p:ph type="sldImg"/>
          </p:nvPr>
        </p:nvSpPr>
        <p:spPr/>
      </p:sp>
      <p:sp>
        <p:nvSpPr>
          <p:cNvPr id="1048761"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本人已经开展飞机脉动装配线的相关研究，针对工人离岗导致的站位资源失衡问题，提出基于改进合同网算法与非支配排序遗传算法的分布式重调度方法实现了站位间工人资源 的动态调整，并在实际航空飞机装配线上进行验证，研究成果已被</a:t>
            </a:r>
            <a:r>
              <a:rPr lang="en-US" altLang="zh-CN" dirty="0"/>
              <a:t>CPCC</a:t>
            </a:r>
            <a:r>
              <a:rPr lang="zh-CN" altLang="en-US" dirty="0"/>
              <a:t>接收。</a:t>
            </a:r>
            <a:r>
              <a:rPr lang="zh-CN" altLang="en-US" kern="100" dirty="0">
                <a:latin typeface="+mn-ea"/>
                <a:cs typeface="+mn-ea"/>
              </a:rPr>
              <a:t>本人已开展研究内容</a:t>
            </a:r>
            <a:r>
              <a:rPr lang="en-US" altLang="zh-CN" kern="100" dirty="0">
                <a:latin typeface="+mn-ea"/>
                <a:cs typeface="+mn-ea"/>
              </a:rPr>
              <a:t>1</a:t>
            </a:r>
            <a:r>
              <a:rPr lang="zh-CN" altLang="en-US" kern="100" dirty="0">
                <a:latin typeface="+mn-ea"/>
                <a:cs typeface="+mn-ea"/>
              </a:rPr>
              <a:t>的相关研究，已经完成部分实验。</a:t>
            </a:r>
            <a:endParaRPr lang="en-US" altLang="zh-CN" kern="100" dirty="0">
              <a:latin typeface="+mn-ea"/>
              <a:cs typeface="+mn-ea"/>
            </a:endParaRPr>
          </a:p>
          <a:p>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762" name="灯片编号占位符 3"/>
          <p:cNvSpPr>
            <a:spLocks noGrp="1"/>
          </p:cNvSpPr>
          <p:nvPr>
            <p:ph type="sldNum" sz="quarter" idx="5"/>
          </p:nvPr>
        </p:nvSpPr>
        <p:spPr/>
        <p:txBody>
          <a:bodyPr/>
          <a:lstStyle/>
          <a:p>
            <a:fld id="{11F0D06E-EB29-4662-B5EC-0BDFC722356E}"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492A6-2107-F4B6-B01B-4FBCB8B3AB3F}"/>
            </a:ext>
          </a:extLst>
        </p:cNvPr>
        <p:cNvGrpSpPr/>
        <p:nvPr/>
      </p:nvGrpSpPr>
      <p:grpSpPr>
        <a:xfrm>
          <a:off x="0" y="0"/>
          <a:ext cx="0" cy="0"/>
          <a:chOff x="0" y="0"/>
          <a:chExt cx="0" cy="0"/>
        </a:xfrm>
      </p:grpSpPr>
      <p:sp>
        <p:nvSpPr>
          <p:cNvPr id="1048760" name="幻灯片图像占位符 1">
            <a:extLst>
              <a:ext uri="{FF2B5EF4-FFF2-40B4-BE49-F238E27FC236}">
                <a16:creationId xmlns:a16="http://schemas.microsoft.com/office/drawing/2014/main" id="{7593FF3A-DF5D-CFC5-434C-A9617D2A29D5}"/>
              </a:ext>
            </a:extLst>
          </p:cNvPr>
          <p:cNvSpPr>
            <a:spLocks noGrp="1" noRot="1" noChangeAspect="1"/>
          </p:cNvSpPr>
          <p:nvPr>
            <p:ph type="sldImg"/>
          </p:nvPr>
        </p:nvSpPr>
        <p:spPr/>
      </p:sp>
      <p:sp>
        <p:nvSpPr>
          <p:cNvPr id="1048761" name="备注占位符 2">
            <a:extLst>
              <a:ext uri="{FF2B5EF4-FFF2-40B4-BE49-F238E27FC236}">
                <a16:creationId xmlns:a16="http://schemas.microsoft.com/office/drawing/2014/main" id="{42B114BB-7EEC-6BF1-C28B-A4EA2F7FAD9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本人已经开展飞机脉动装配线的相关研究，针对工人离岗导致的站位资源失衡问题，提出基于改进合同网算法与非支配排序遗传算法的分布式重调度方法实现了站位间工人资源 的动态调整，并在实际航空飞机装配线上进行验证，研究成果已被</a:t>
            </a:r>
            <a:r>
              <a:rPr lang="en-US" altLang="zh-CN" dirty="0"/>
              <a:t>CPCC</a:t>
            </a:r>
            <a:r>
              <a:rPr lang="zh-CN" altLang="en-US" dirty="0"/>
              <a:t>接收。</a:t>
            </a:r>
            <a:r>
              <a:rPr lang="zh-CN" altLang="en-US" kern="100" dirty="0">
                <a:latin typeface="+mn-ea"/>
                <a:cs typeface="+mn-ea"/>
              </a:rPr>
              <a:t>本人已开展研究内容</a:t>
            </a:r>
            <a:r>
              <a:rPr lang="en-US" altLang="zh-CN" kern="100" dirty="0">
                <a:latin typeface="+mn-ea"/>
                <a:cs typeface="+mn-ea"/>
              </a:rPr>
              <a:t>1</a:t>
            </a:r>
            <a:r>
              <a:rPr lang="zh-CN" altLang="en-US" kern="100" dirty="0">
                <a:latin typeface="+mn-ea"/>
                <a:cs typeface="+mn-ea"/>
              </a:rPr>
              <a:t>的相关研究，已经完成部分实验。</a:t>
            </a:r>
            <a:endParaRPr lang="en-US" altLang="zh-CN" kern="100" dirty="0">
              <a:latin typeface="+mn-ea"/>
              <a:cs typeface="+mn-ea"/>
            </a:endParaRPr>
          </a:p>
          <a:p>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762" name="灯片编号占位符 3">
            <a:extLst>
              <a:ext uri="{FF2B5EF4-FFF2-40B4-BE49-F238E27FC236}">
                <a16:creationId xmlns:a16="http://schemas.microsoft.com/office/drawing/2014/main" id="{AE74EC61-D10B-09C2-635A-626022B02B23}"/>
              </a:ext>
            </a:extLst>
          </p:cNvPr>
          <p:cNvSpPr>
            <a:spLocks noGrp="1"/>
          </p:cNvSpPr>
          <p:nvPr>
            <p:ph type="sldNum" sz="quarter" idx="5"/>
          </p:nvPr>
        </p:nvSpPr>
        <p:spPr/>
        <p:txBody>
          <a:bodyPr/>
          <a:lstStyle/>
          <a:p>
            <a:fld id="{11F0D06E-EB29-4662-B5EC-0BDFC722356E}" type="slidenum">
              <a:rPr lang="zh-CN" altLang="en-US" smtClean="0"/>
              <a:t>14</a:t>
            </a:fld>
            <a:endParaRPr lang="zh-CN" altLang="en-US"/>
          </a:p>
        </p:txBody>
      </p:sp>
    </p:spTree>
    <p:extLst>
      <p:ext uri="{BB962C8B-B14F-4D97-AF65-F5344CB8AC3E}">
        <p14:creationId xmlns:p14="http://schemas.microsoft.com/office/powerpoint/2010/main" val="28107370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5" name="幻灯片图像占位符 1"/>
          <p:cNvSpPr>
            <a:spLocks noGrp="1" noRot="1" noChangeAspect="1"/>
          </p:cNvSpPr>
          <p:nvPr>
            <p:ph type="sldImg"/>
          </p:nvPr>
        </p:nvSpPr>
        <p:spPr/>
      </p:sp>
      <p:sp>
        <p:nvSpPr>
          <p:cNvPr id="1048776"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777" name="灯片编号占位符 3"/>
          <p:cNvSpPr>
            <a:spLocks noGrp="1"/>
          </p:cNvSpPr>
          <p:nvPr>
            <p:ph type="sldNum" sz="quarter" idx="5"/>
          </p:nvPr>
        </p:nvSpPr>
        <p:spPr/>
        <p:txBody>
          <a:bodyPr/>
          <a:lstStyle/>
          <a:p>
            <a:fld id="{11F0D06E-EB29-4662-B5EC-0BDFC722356E}"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1" name="幻灯片图像占位符 1"/>
          <p:cNvSpPr>
            <a:spLocks noGrp="1" noRot="1" noChangeAspect="1"/>
          </p:cNvSpPr>
          <p:nvPr>
            <p:ph type="sldImg"/>
          </p:nvPr>
        </p:nvSpPr>
        <p:spPr/>
      </p:sp>
      <p:sp>
        <p:nvSpPr>
          <p:cNvPr id="1048782"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783" name="灯片编号占位符 3"/>
          <p:cNvSpPr>
            <a:spLocks noGrp="1"/>
          </p:cNvSpPr>
          <p:nvPr>
            <p:ph type="sldNum" sz="quarter" idx="5"/>
          </p:nvPr>
        </p:nvSpPr>
        <p:spPr/>
        <p:txBody>
          <a:bodyPr/>
          <a:lstStyle/>
          <a:p>
            <a:fld id="{11F0D06E-EB29-4662-B5EC-0BDFC722356E}"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7" name="幻灯片图像占位符 1"/>
          <p:cNvSpPr>
            <a:spLocks noGrp="1" noRot="1" noChangeAspect="1"/>
          </p:cNvSpPr>
          <p:nvPr>
            <p:ph type="sldImg"/>
          </p:nvPr>
        </p:nvSpPr>
        <p:spPr/>
      </p:sp>
      <p:sp>
        <p:nvSpPr>
          <p:cNvPr id="1048788"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endParaRPr lang="en-US" altLang="zh-CN" sz="12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sp>
        <p:nvSpPr>
          <p:cNvPr id="1048789" name="灯片编号占位符 3"/>
          <p:cNvSpPr>
            <a:spLocks noGrp="1"/>
          </p:cNvSpPr>
          <p:nvPr>
            <p:ph type="sldNum" sz="quarter" idx="5"/>
          </p:nvPr>
        </p:nvSpPr>
        <p:spPr/>
        <p:txBody>
          <a:bodyPr/>
          <a:lstStyle/>
          <a:p>
            <a:fld id="{11F0D06E-EB29-4662-B5EC-0BDFC722356E}"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4" name="幻灯片图像占位符 1"/>
          <p:cNvSpPr>
            <a:spLocks noGrp="1" noRot="1" noChangeAspect="1"/>
          </p:cNvSpPr>
          <p:nvPr>
            <p:ph type="sldImg"/>
          </p:nvPr>
        </p:nvSpPr>
        <p:spPr/>
      </p:sp>
      <p:sp>
        <p:nvSpPr>
          <p:cNvPr id="1048795" name="备注占位符 2"/>
          <p:cNvSpPr>
            <a:spLocks noGrp="1"/>
          </p:cNvSpPr>
          <p:nvPr>
            <p:ph type="body" idx="1"/>
          </p:nvPr>
        </p:nvSpPr>
        <p:spPr/>
        <p:txBody>
          <a:bodyPr/>
          <a:lstStyle/>
          <a:p>
            <a:endParaRPr lang="zh-CN" altLang="en-US" dirty="0"/>
          </a:p>
        </p:txBody>
      </p:sp>
      <p:sp>
        <p:nvSpPr>
          <p:cNvPr id="1048796" name="灯片编号占位符 3"/>
          <p:cNvSpPr>
            <a:spLocks noGrp="1"/>
          </p:cNvSpPr>
          <p:nvPr>
            <p:ph type="sldNum" sz="quarter" idx="5"/>
          </p:nvPr>
        </p:nvSpPr>
        <p:spPr/>
        <p:txBody>
          <a:bodyPr/>
          <a:lstStyle/>
          <a:p>
            <a:fld id="{20DF6D40-62BD-4332-A45C-BC60E90CE6F1}" type="slidenum">
              <a:rPr lang="zh-CN" altLang="en-US" smtClean="0"/>
              <a:t>18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1.xml"/><Relationship Id="rId5" Type="http://schemas.openxmlformats.org/officeDocument/2006/relationships/tags" Target="../tags/tag17.xml"/><Relationship Id="rId4" Type="http://schemas.openxmlformats.org/officeDocument/2006/relationships/tags" Target="../tags/tag16.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slideMaster" Target="../slideMasters/slideMaster1.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slideMaster" Target="../slideMasters/slideMaster1.xml"/><Relationship Id="rId4" Type="http://schemas.openxmlformats.org/officeDocument/2006/relationships/tags" Target="../tags/tag40.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6.xml"/><Relationship Id="rId7" Type="http://schemas.openxmlformats.org/officeDocument/2006/relationships/slideMaster" Target="../slideMasters/slideMaster1.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slideMaster" Target="../slideMasters/slideMaster1.xml"/><Relationship Id="rId5" Type="http://schemas.openxmlformats.org/officeDocument/2006/relationships/tags" Target="../tags/tag54.xml"/><Relationship Id="rId4" Type="http://schemas.openxmlformats.org/officeDocument/2006/relationships/tags" Target="../tags/tag53.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slideMaster" Target="../slideMasters/slideMaster1.xml"/><Relationship Id="rId4" Type="http://schemas.openxmlformats.org/officeDocument/2006/relationships/tags" Target="../tags/tag58.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Master" Target="../slideMasters/slideMaster1.xml"/><Relationship Id="rId5" Type="http://schemas.openxmlformats.org/officeDocument/2006/relationships/tags" Target="../tags/tag63.xml"/><Relationship Id="rId4" Type="http://schemas.openxmlformats.org/officeDocument/2006/relationships/tags" Target="../tags/tag6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581"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1048582"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048583"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2025/10/22</a:t>
            </a:fld>
            <a:endParaRPr lang="zh-CN" altLang="en-US"/>
          </a:p>
        </p:txBody>
      </p:sp>
      <p:sp>
        <p:nvSpPr>
          <p:cNvPr id="1048584" name="页脚占位符 16"/>
          <p:cNvSpPr>
            <a:spLocks noGrp="1"/>
          </p:cNvSpPr>
          <p:nvPr>
            <p:ph type="ftr" sz="quarter" idx="11"/>
            <p:custDataLst>
              <p:tags r:id="rId4"/>
            </p:custDataLst>
          </p:nvPr>
        </p:nvSpPr>
        <p:spPr/>
        <p:txBody>
          <a:bodyPr/>
          <a:lstStyle/>
          <a:p>
            <a:endParaRPr lang="zh-CN" altLang="en-US" dirty="0"/>
          </a:p>
        </p:txBody>
      </p:sp>
      <p:sp>
        <p:nvSpPr>
          <p:cNvPr id="1048585"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664"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1048665"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666"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2025/10/22</a:t>
            </a:fld>
            <a:endParaRPr lang="zh-CN" altLang="en-US"/>
          </a:p>
        </p:txBody>
      </p:sp>
      <p:sp>
        <p:nvSpPr>
          <p:cNvPr id="1048667" name="页脚占位符 4"/>
          <p:cNvSpPr>
            <a:spLocks noGrp="1"/>
          </p:cNvSpPr>
          <p:nvPr>
            <p:ph type="ftr" sz="quarter" idx="11"/>
            <p:custDataLst>
              <p:tags r:id="rId4"/>
            </p:custDataLst>
          </p:nvPr>
        </p:nvSpPr>
        <p:spPr/>
        <p:txBody>
          <a:bodyPr/>
          <a:lstStyle/>
          <a:p>
            <a:endParaRPr lang="zh-CN" altLang="en-US"/>
          </a:p>
        </p:txBody>
      </p:sp>
      <p:sp>
        <p:nvSpPr>
          <p:cNvPr id="1048668"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815"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1048816"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1048817"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2025/10/22</a:t>
            </a:fld>
            <a:endParaRPr lang="zh-CN" altLang="en-US"/>
          </a:p>
        </p:txBody>
      </p:sp>
      <p:sp>
        <p:nvSpPr>
          <p:cNvPr id="1048818" name="页脚占位符 4"/>
          <p:cNvSpPr>
            <a:spLocks noGrp="1"/>
          </p:cNvSpPr>
          <p:nvPr>
            <p:ph type="ftr" sz="quarter" idx="11"/>
            <p:custDataLst>
              <p:tags r:id="rId4"/>
            </p:custDataLst>
          </p:nvPr>
        </p:nvSpPr>
        <p:spPr/>
        <p:txBody>
          <a:bodyPr/>
          <a:lstStyle/>
          <a:p>
            <a:endParaRPr lang="zh-CN" altLang="en-US"/>
          </a:p>
        </p:txBody>
      </p:sp>
      <p:sp>
        <p:nvSpPr>
          <p:cNvPr id="1048819"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820"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1048821"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22"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48823"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2025/10/22</a:t>
            </a:fld>
            <a:endParaRPr lang="zh-CN" altLang="en-US"/>
          </a:p>
        </p:txBody>
      </p:sp>
      <p:sp>
        <p:nvSpPr>
          <p:cNvPr id="1048824" name="页脚占位符 5"/>
          <p:cNvSpPr>
            <a:spLocks noGrp="1"/>
          </p:cNvSpPr>
          <p:nvPr>
            <p:ph type="ftr" sz="quarter" idx="11"/>
            <p:custDataLst>
              <p:tags r:id="rId5"/>
            </p:custDataLst>
          </p:nvPr>
        </p:nvSpPr>
        <p:spPr/>
        <p:txBody>
          <a:bodyPr/>
          <a:lstStyle/>
          <a:p>
            <a:endParaRPr lang="zh-CN" altLang="en-US"/>
          </a:p>
        </p:txBody>
      </p:sp>
      <p:sp>
        <p:nvSpPr>
          <p:cNvPr id="1048825"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826"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1048827"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1048828"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29"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1048830"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31"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2025/10/22</a:t>
            </a:fld>
            <a:endParaRPr lang="zh-CN" altLang="en-US"/>
          </a:p>
        </p:txBody>
      </p:sp>
      <p:sp>
        <p:nvSpPr>
          <p:cNvPr id="1048832" name="页脚占位符 7"/>
          <p:cNvSpPr>
            <a:spLocks noGrp="1"/>
          </p:cNvSpPr>
          <p:nvPr>
            <p:ph type="ftr" sz="quarter" idx="11"/>
            <p:custDataLst>
              <p:tags r:id="rId7"/>
            </p:custDataLst>
          </p:nvPr>
        </p:nvSpPr>
        <p:spPr/>
        <p:txBody>
          <a:bodyPr/>
          <a:lstStyle/>
          <a:p>
            <a:endParaRPr lang="zh-CN" altLang="en-US"/>
          </a:p>
        </p:txBody>
      </p:sp>
      <p:sp>
        <p:nvSpPr>
          <p:cNvPr id="1048833"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797"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1048798"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2025/10/22</a:t>
            </a:fld>
            <a:endParaRPr lang="zh-CN" altLang="en-US"/>
          </a:p>
        </p:txBody>
      </p:sp>
      <p:sp>
        <p:nvSpPr>
          <p:cNvPr id="1048799" name="页脚占位符 3"/>
          <p:cNvSpPr>
            <a:spLocks noGrp="1"/>
          </p:cNvSpPr>
          <p:nvPr>
            <p:ph type="ftr" sz="quarter" idx="11"/>
            <p:custDataLst>
              <p:tags r:id="rId3"/>
            </p:custDataLst>
          </p:nvPr>
        </p:nvSpPr>
        <p:spPr/>
        <p:txBody>
          <a:bodyPr/>
          <a:lstStyle/>
          <a:p>
            <a:endParaRPr lang="zh-CN" altLang="en-US"/>
          </a:p>
        </p:txBody>
      </p:sp>
      <p:sp>
        <p:nvSpPr>
          <p:cNvPr id="1048800"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834"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2025/10/22</a:t>
            </a:fld>
            <a:endParaRPr lang="zh-CN" altLang="en-US"/>
          </a:p>
        </p:txBody>
      </p:sp>
      <p:sp>
        <p:nvSpPr>
          <p:cNvPr id="1048835" name="页脚占位符 2"/>
          <p:cNvSpPr>
            <a:spLocks noGrp="1"/>
          </p:cNvSpPr>
          <p:nvPr>
            <p:ph type="ftr" sz="quarter" idx="11"/>
            <p:custDataLst>
              <p:tags r:id="rId2"/>
            </p:custDataLst>
          </p:nvPr>
        </p:nvSpPr>
        <p:spPr/>
        <p:txBody>
          <a:bodyPr/>
          <a:lstStyle/>
          <a:p>
            <a:endParaRPr lang="zh-CN" altLang="en-US"/>
          </a:p>
        </p:txBody>
      </p:sp>
      <p:sp>
        <p:nvSpPr>
          <p:cNvPr id="1048836"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1048837"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1048838"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1048839"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2025/10/22</a:t>
            </a:fld>
            <a:endParaRPr lang="zh-CN" altLang="en-US" dirty="0"/>
          </a:p>
        </p:txBody>
      </p:sp>
      <p:sp>
        <p:nvSpPr>
          <p:cNvPr id="1048840" name="页脚占位符 5"/>
          <p:cNvSpPr>
            <a:spLocks noGrp="1"/>
          </p:cNvSpPr>
          <p:nvPr>
            <p:ph type="ftr" sz="quarter" idx="11"/>
            <p:custDataLst>
              <p:tags r:id="rId4"/>
            </p:custDataLst>
          </p:nvPr>
        </p:nvSpPr>
        <p:spPr/>
        <p:txBody>
          <a:bodyPr/>
          <a:lstStyle/>
          <a:p>
            <a:endParaRPr lang="zh-CN" altLang="en-US" dirty="0"/>
          </a:p>
        </p:txBody>
      </p:sp>
      <p:sp>
        <p:nvSpPr>
          <p:cNvPr id="1048841"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1048842"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48806"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1048807"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48808"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2025/10/22</a:t>
            </a:fld>
            <a:endParaRPr lang="zh-CN" altLang="en-US"/>
          </a:p>
        </p:txBody>
      </p:sp>
      <p:sp>
        <p:nvSpPr>
          <p:cNvPr id="1048809" name="页脚占位符 4"/>
          <p:cNvSpPr>
            <a:spLocks noGrp="1"/>
          </p:cNvSpPr>
          <p:nvPr>
            <p:ph type="ftr" sz="quarter" idx="11"/>
            <p:custDataLst>
              <p:tags r:id="rId4"/>
            </p:custDataLst>
          </p:nvPr>
        </p:nvSpPr>
        <p:spPr/>
        <p:txBody>
          <a:bodyPr/>
          <a:lstStyle/>
          <a:p>
            <a:endParaRPr lang="zh-CN" altLang="en-US"/>
          </a:p>
        </p:txBody>
      </p:sp>
      <p:sp>
        <p:nvSpPr>
          <p:cNvPr id="1048810"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1048811"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2025/10/22</a:t>
            </a:fld>
            <a:endParaRPr lang="zh-CN" altLang="en-US"/>
          </a:p>
        </p:txBody>
      </p:sp>
      <p:sp>
        <p:nvSpPr>
          <p:cNvPr id="1048812" name="页脚占位符 3"/>
          <p:cNvSpPr>
            <a:spLocks noGrp="1"/>
          </p:cNvSpPr>
          <p:nvPr>
            <p:ph type="ftr" sz="quarter" idx="11"/>
            <p:custDataLst>
              <p:tags r:id="rId2"/>
            </p:custDataLst>
          </p:nvPr>
        </p:nvSpPr>
        <p:spPr/>
        <p:txBody>
          <a:bodyPr/>
          <a:lstStyle/>
          <a:p>
            <a:endParaRPr lang="zh-CN" altLang="en-US"/>
          </a:p>
        </p:txBody>
      </p:sp>
      <p:sp>
        <p:nvSpPr>
          <p:cNvPr id="1048813"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048814"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1048801"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2025/10/22</a:t>
            </a:fld>
            <a:endParaRPr lang="zh-CN" altLang="en-US"/>
          </a:p>
        </p:txBody>
      </p:sp>
      <p:sp>
        <p:nvSpPr>
          <p:cNvPr id="1048802" name="页脚占位符 3"/>
          <p:cNvSpPr>
            <a:spLocks noGrp="1"/>
          </p:cNvSpPr>
          <p:nvPr>
            <p:ph type="ftr" sz="quarter" idx="11"/>
            <p:custDataLst>
              <p:tags r:id="rId2"/>
            </p:custDataLst>
          </p:nvPr>
        </p:nvSpPr>
        <p:spPr/>
        <p:txBody>
          <a:bodyPr/>
          <a:lstStyle/>
          <a:p>
            <a:endParaRPr lang="zh-CN" altLang="en-US"/>
          </a:p>
        </p:txBody>
      </p:sp>
      <p:sp>
        <p:nvSpPr>
          <p:cNvPr id="1048803"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048804"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1048805"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1048577"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48578"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2025/10/22</a:t>
            </a:fld>
            <a:endParaRPr lang="zh-CN" altLang="en-US"/>
          </a:p>
        </p:txBody>
      </p:sp>
      <p:sp>
        <p:nvSpPr>
          <p:cNvPr id="1048579"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048580"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tags" Target="../tags/tag76.xml"/><Relationship Id="rId18" Type="http://schemas.openxmlformats.org/officeDocument/2006/relationships/tags" Target="../tags/tag81.xml"/><Relationship Id="rId3" Type="http://schemas.openxmlformats.org/officeDocument/2006/relationships/tags" Target="../tags/tag66.xml"/><Relationship Id="rId21" Type="http://schemas.openxmlformats.org/officeDocument/2006/relationships/notesSlide" Target="../notesSlides/notesSlide2.xml"/><Relationship Id="rId7" Type="http://schemas.openxmlformats.org/officeDocument/2006/relationships/tags" Target="../tags/tag70.xml"/><Relationship Id="rId12" Type="http://schemas.openxmlformats.org/officeDocument/2006/relationships/tags" Target="../tags/tag75.xml"/><Relationship Id="rId17" Type="http://schemas.openxmlformats.org/officeDocument/2006/relationships/tags" Target="../tags/tag80.xml"/><Relationship Id="rId2" Type="http://schemas.openxmlformats.org/officeDocument/2006/relationships/tags" Target="../tags/tag65.xml"/><Relationship Id="rId16" Type="http://schemas.openxmlformats.org/officeDocument/2006/relationships/tags" Target="../tags/tag79.xml"/><Relationship Id="rId20" Type="http://schemas.openxmlformats.org/officeDocument/2006/relationships/slideLayout" Target="../slideLayouts/slideLayout2.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tags" Target="../tags/tag74.xml"/><Relationship Id="rId5" Type="http://schemas.openxmlformats.org/officeDocument/2006/relationships/tags" Target="../tags/tag68.xml"/><Relationship Id="rId15" Type="http://schemas.openxmlformats.org/officeDocument/2006/relationships/tags" Target="../tags/tag78.xml"/><Relationship Id="rId10" Type="http://schemas.openxmlformats.org/officeDocument/2006/relationships/tags" Target="../tags/tag73.xml"/><Relationship Id="rId19" Type="http://schemas.openxmlformats.org/officeDocument/2006/relationships/tags" Target="../tags/tag82.xml"/><Relationship Id="rId4" Type="http://schemas.openxmlformats.org/officeDocument/2006/relationships/tags" Target="../tags/tag67.xml"/><Relationship Id="rId9" Type="http://schemas.openxmlformats.org/officeDocument/2006/relationships/tags" Target="../tags/tag72.xml"/><Relationship Id="rId14" Type="http://schemas.openxmlformats.org/officeDocument/2006/relationships/tags" Target="../tags/tag77.xml"/></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1.xml"/><Relationship Id="rId13" Type="http://schemas.openxmlformats.org/officeDocument/2006/relationships/image" Target="../media/image6.gif"/><Relationship Id="rId3" Type="http://schemas.openxmlformats.org/officeDocument/2006/relationships/tags" Target="../tags/tag85.xml"/><Relationship Id="rId7" Type="http://schemas.openxmlformats.org/officeDocument/2006/relationships/tags" Target="../tags/tag89.xml"/><Relationship Id="rId12" Type="http://schemas.openxmlformats.org/officeDocument/2006/relationships/image" Target="../media/image5.png"/><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image" Target="../media/image4.png"/><Relationship Id="rId5" Type="http://schemas.openxmlformats.org/officeDocument/2006/relationships/tags" Target="../tags/tag87.xml"/><Relationship Id="rId10" Type="http://schemas.openxmlformats.org/officeDocument/2006/relationships/image" Target="../media/image3.jpeg"/><Relationship Id="rId4" Type="http://schemas.openxmlformats.org/officeDocument/2006/relationships/tags" Target="../tags/tag86.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tags" Target="../tags/tag92.xml"/><Relationship Id="rId7" Type="http://schemas.openxmlformats.org/officeDocument/2006/relationships/image" Target="../media/image5.png"/><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image" Target="../media/image4.png"/><Relationship Id="rId5" Type="http://schemas.openxmlformats.org/officeDocument/2006/relationships/notesSlide" Target="../notesSlides/notesSlide4.xml"/><Relationship Id="rId4"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9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tags" Target="../tags/tag96.xml"/><Relationship Id="rId7" Type="http://schemas.openxmlformats.org/officeDocument/2006/relationships/image" Target="../media/image7.pn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image" Target="../media/image4.png"/><Relationship Id="rId5" Type="http://schemas.openxmlformats.org/officeDocument/2006/relationships/notesSlide" Target="../notesSlides/notesSlide10.xml"/><Relationship Id="rId10" Type="http://schemas.openxmlformats.org/officeDocument/2006/relationships/image" Target="../media/image10.svg"/><Relationship Id="rId4" Type="http://schemas.openxmlformats.org/officeDocument/2006/relationships/slideLayout" Target="../slideLayouts/slideLayout1.xml"/><Relationship Id="rId9" Type="http://schemas.openxmlformats.org/officeDocument/2006/relationships/image" Target="../media/image9.png"/></Relationships>
</file>

<file path=ppt/slides/_rels/slide1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tags" Target="../tags/tag99.xml"/><Relationship Id="rId7" Type="http://schemas.openxmlformats.org/officeDocument/2006/relationships/image" Target="../media/image7.png"/><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image" Target="../media/image4.png"/><Relationship Id="rId5" Type="http://schemas.openxmlformats.org/officeDocument/2006/relationships/notesSlide" Target="../notesSlides/notesSlide11.xml"/><Relationship Id="rId10" Type="http://schemas.openxmlformats.org/officeDocument/2006/relationships/image" Target="../media/image10.svg"/><Relationship Id="rId4" Type="http://schemas.openxmlformats.org/officeDocument/2006/relationships/slideLayout" Target="../slideLayouts/slideLayout1.xml"/><Relationship Id="rId9" Type="http://schemas.openxmlformats.org/officeDocument/2006/relationships/image" Target="../media/image9.png"/></Relationships>
</file>

<file path=ppt/slides/_rels/slide1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tags" Target="../tags/tag102.xml"/><Relationship Id="rId7" Type="http://schemas.openxmlformats.org/officeDocument/2006/relationships/image" Target="../media/image7.png"/><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image" Target="../media/image4.png"/><Relationship Id="rId5" Type="http://schemas.openxmlformats.org/officeDocument/2006/relationships/notesSlide" Target="../notesSlides/notesSlide12.xml"/><Relationship Id="rId10" Type="http://schemas.openxmlformats.org/officeDocument/2006/relationships/image" Target="../media/image10.svg"/><Relationship Id="rId4" Type="http://schemas.openxmlformats.org/officeDocument/2006/relationships/slideLayout" Target="../slideLayouts/slideLayout1.xml"/><Relationship Id="rId9"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0" name="矩形 4"/>
          <p:cNvSpPr/>
          <p:nvPr/>
        </p:nvSpPr>
        <p:spPr>
          <a:xfrm>
            <a:off x="2081" y="1990089"/>
            <a:ext cx="12189743" cy="307912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endParaRPr>
          </a:p>
        </p:txBody>
      </p:sp>
      <p:sp>
        <p:nvSpPr>
          <p:cNvPr id="1048693" name="圆角矩形 10"/>
          <p:cNvSpPr/>
          <p:nvPr/>
        </p:nvSpPr>
        <p:spPr>
          <a:xfrm>
            <a:off x="2199318" y="5663858"/>
            <a:ext cx="2336496" cy="395927"/>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endParaRPr>
          </a:p>
        </p:txBody>
      </p:sp>
      <p:sp>
        <p:nvSpPr>
          <p:cNvPr id="1048695" name="文本框 7"/>
          <p:cNvSpPr txBox="1"/>
          <p:nvPr/>
        </p:nvSpPr>
        <p:spPr>
          <a:xfrm>
            <a:off x="83185" y="1990090"/>
            <a:ext cx="12189460" cy="2898140"/>
          </a:xfrm>
          <a:prstGeom prst="rect">
            <a:avLst/>
          </a:prstGeom>
          <a:noFill/>
        </p:spPr>
        <p:txBody>
          <a:bodyPr wrap="square" rtlCol="0" anchor="ctr" anchorCtr="0">
            <a:noAutofit/>
          </a:bodyPr>
          <a:lstStyle/>
          <a:p>
            <a:pPr algn="ctr">
              <a:lnSpc>
                <a:spcPct val="125000"/>
              </a:lnSpc>
            </a:pPr>
            <a:r>
              <a:rPr lang="zh-CN" altLang="en-US" sz="4800" b="1" dirty="0">
                <a:solidFill>
                  <a:schemeClr val="bg1"/>
                </a:solidFill>
                <a:latin typeface="+mj-ea"/>
                <a:ea typeface="+mj-ea"/>
              </a:rPr>
              <a:t>考虑复杂返工场景的飞机脉动装配线</a:t>
            </a:r>
            <a:endParaRPr lang="en-US" altLang="zh-CN" sz="4800" b="1" dirty="0">
              <a:solidFill>
                <a:schemeClr val="bg1"/>
              </a:solidFill>
              <a:latin typeface="+mj-ea"/>
              <a:ea typeface="+mj-ea"/>
            </a:endParaRPr>
          </a:p>
          <a:p>
            <a:pPr algn="ctr">
              <a:lnSpc>
                <a:spcPct val="125000"/>
              </a:lnSpc>
            </a:pPr>
            <a:r>
              <a:rPr lang="zh-CN" altLang="en-US" sz="4800" b="1" dirty="0">
                <a:solidFill>
                  <a:schemeClr val="bg1"/>
                </a:solidFill>
                <a:latin typeface="+mj-ea"/>
                <a:ea typeface="+mj-ea"/>
              </a:rPr>
              <a:t>多智能体协同调度研究</a:t>
            </a:r>
            <a:endParaRPr lang="zh-CN" altLang="en-US" sz="4800" b="1" dirty="0">
              <a:solidFill>
                <a:schemeClr val="bg1"/>
              </a:solidFill>
              <a:latin typeface="+mj-ea"/>
              <a:ea typeface="+mj-ea"/>
              <a:sym typeface="+mn-ea"/>
            </a:endParaRPr>
          </a:p>
        </p:txBody>
      </p:sp>
      <p:sp>
        <p:nvSpPr>
          <p:cNvPr id="1048696" name="文本框 8"/>
          <p:cNvSpPr txBox="1"/>
          <p:nvPr/>
        </p:nvSpPr>
        <p:spPr>
          <a:xfrm>
            <a:off x="2311247" y="5695020"/>
            <a:ext cx="2136124" cy="337185"/>
          </a:xfrm>
          <a:prstGeom prst="rect">
            <a:avLst/>
          </a:prstGeom>
          <a:noFill/>
        </p:spPr>
        <p:txBody>
          <a:bodyPr wrap="square" rtlCol="0">
            <a:spAutoFit/>
          </a:bodyPr>
          <a:lstStyle/>
          <a:p>
            <a:pPr algn="ctr"/>
            <a:r>
              <a:rPr kumimoji="1" lang="zh-CN" altLang="en-US" sz="1600" b="1" dirty="0">
                <a:solidFill>
                  <a:schemeClr val="bg1"/>
                </a:solidFill>
                <a:latin typeface="微软雅黑" panose="020B0503020204020204" charset="-122"/>
                <a:ea typeface="微软雅黑" panose="020B0503020204020204" charset="-122"/>
              </a:rPr>
              <a:t>答辩人：黄炘宇</a:t>
            </a:r>
            <a:endParaRPr kumimoji="1" lang="en-US" altLang="zh-CN" sz="1600" b="1" dirty="0">
              <a:solidFill>
                <a:schemeClr val="bg1"/>
              </a:solidFill>
              <a:latin typeface="微软雅黑" panose="020B0503020204020204" charset="-122"/>
              <a:ea typeface="微软雅黑" panose="020B0503020204020204" charset="-122"/>
            </a:endParaRPr>
          </a:p>
        </p:txBody>
      </p:sp>
      <p:grpSp>
        <p:nvGrpSpPr>
          <p:cNvPr id="66" name="组合 18"/>
          <p:cNvGrpSpPr/>
          <p:nvPr/>
        </p:nvGrpSpPr>
        <p:grpSpPr>
          <a:xfrm>
            <a:off x="4552253" y="926274"/>
            <a:ext cx="3087810" cy="816709"/>
            <a:chOff x="4632728" y="981012"/>
            <a:chExt cx="3088382" cy="816860"/>
          </a:xfrm>
        </p:grpSpPr>
        <p:pic>
          <p:nvPicPr>
            <p:cNvPr id="2097162" name="Picture 2" descr="C:\Users\Asaskaa\Desktop\1.png"/>
            <p:cNvPicPr>
              <a:picLocks noChangeAspect="1" noChangeArrowheads="1"/>
            </p:cNvPicPr>
            <p:nvPr/>
          </p:nvPicPr>
          <p:blipFill rotWithShape="1">
            <a:blip r:embed="rId3" cstate="print"/>
            <a:srcRect l="13505" r="13805"/>
            <a:stretch>
              <a:fillRect/>
            </a:stretch>
          </p:blipFill>
          <p:spPr bwMode="auto">
            <a:xfrm>
              <a:off x="4632728" y="1053530"/>
              <a:ext cx="865967" cy="744342"/>
            </a:xfrm>
            <a:prstGeom prst="rect">
              <a:avLst/>
            </a:prstGeom>
            <a:noFill/>
          </p:spPr>
        </p:pic>
        <p:pic>
          <p:nvPicPr>
            <p:cNvPr id="2097163" name="Picture 3" descr="C:\Users\Asaskaa\Desktop\3.png"/>
            <p:cNvPicPr>
              <a:picLocks noChangeAspect="1" noChangeArrowheads="1"/>
            </p:cNvPicPr>
            <p:nvPr/>
          </p:nvPicPr>
          <p:blipFill rotWithShape="1">
            <a:blip r:embed="rId4" cstate="print"/>
            <a:srcRect l="31933" t="22857" r="9687" b="25687"/>
            <a:stretch>
              <a:fillRect/>
            </a:stretch>
          </p:blipFill>
          <p:spPr bwMode="auto">
            <a:xfrm>
              <a:off x="5498695" y="981012"/>
              <a:ext cx="2222415" cy="816860"/>
            </a:xfrm>
            <a:prstGeom prst="rect">
              <a:avLst/>
            </a:prstGeom>
            <a:noFill/>
          </p:spPr>
        </p:pic>
      </p:grpSp>
      <p:sp>
        <p:nvSpPr>
          <p:cNvPr id="2" name="圆角矩形 11">
            <a:extLst>
              <a:ext uri="{FF2B5EF4-FFF2-40B4-BE49-F238E27FC236}">
                <a16:creationId xmlns:a16="http://schemas.microsoft.com/office/drawing/2014/main" id="{1962DA8E-BE2E-4658-A4E1-A301E39E2B6B}"/>
              </a:ext>
            </a:extLst>
          </p:cNvPr>
          <p:cNvSpPr/>
          <p:nvPr/>
        </p:nvSpPr>
        <p:spPr>
          <a:xfrm>
            <a:off x="7760710" y="5661016"/>
            <a:ext cx="2336496" cy="395927"/>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endParaRPr>
          </a:p>
        </p:txBody>
      </p:sp>
      <p:sp>
        <p:nvSpPr>
          <p:cNvPr id="3" name="文本框 9">
            <a:extLst>
              <a:ext uri="{FF2B5EF4-FFF2-40B4-BE49-F238E27FC236}">
                <a16:creationId xmlns:a16="http://schemas.microsoft.com/office/drawing/2014/main" id="{BF8CB4DD-B3C7-B77C-DFF2-3B006F364DF1}"/>
              </a:ext>
            </a:extLst>
          </p:cNvPr>
          <p:cNvSpPr txBox="1"/>
          <p:nvPr/>
        </p:nvSpPr>
        <p:spPr>
          <a:xfrm>
            <a:off x="7765313" y="5695020"/>
            <a:ext cx="2327077" cy="337185"/>
          </a:xfrm>
          <a:prstGeom prst="rect">
            <a:avLst/>
          </a:prstGeom>
          <a:noFill/>
        </p:spPr>
        <p:txBody>
          <a:bodyPr wrap="square" rtlCol="0">
            <a:spAutoFit/>
          </a:bodyPr>
          <a:lstStyle/>
          <a:p>
            <a:pPr algn="ctr"/>
            <a:r>
              <a:rPr kumimoji="1" lang="zh-CN" sz="1600" b="1" dirty="0">
                <a:solidFill>
                  <a:schemeClr val="bg1"/>
                </a:solidFill>
                <a:latin typeface="微软雅黑" panose="020B0503020204020204" charset="-122"/>
                <a:ea typeface="微软雅黑" panose="020B0503020204020204" charset="-122"/>
              </a:rPr>
              <a:t>导师：乔非</a:t>
            </a:r>
            <a:r>
              <a:rPr kumimoji="1" lang="en-US" altLang="zh-CN" sz="1600" b="1" dirty="0">
                <a:solidFill>
                  <a:schemeClr val="bg1"/>
                </a:solidFill>
                <a:latin typeface="微软雅黑" panose="020B0503020204020204" charset="-122"/>
                <a:ea typeface="微软雅黑" panose="020B0503020204020204" charset="-122"/>
              </a:rPr>
              <a:t> </a:t>
            </a:r>
            <a:r>
              <a:rPr kumimoji="1" lang="zh-CN" altLang="en-US" sz="1600" b="1" dirty="0">
                <a:solidFill>
                  <a:schemeClr val="bg1"/>
                </a:solidFill>
                <a:latin typeface="微软雅黑" panose="020B0503020204020204" charset="-122"/>
                <a:ea typeface="微软雅黑" panose="020B0503020204020204" charset="-122"/>
              </a:rPr>
              <a:t>教授</a:t>
            </a:r>
            <a:endParaRPr kumimoji="1" lang="zh-CN" sz="1600" b="1" dirty="0">
              <a:solidFill>
                <a:schemeClr val="bg1"/>
              </a:solidFill>
              <a:latin typeface="微软雅黑" panose="020B0503020204020204" charset="-122"/>
              <a:ea typeface="微软雅黑" panose="020B0503020204020204" charset="-122"/>
            </a:endParaRPr>
          </a:p>
        </p:txBody>
      </p:sp>
      <p:sp>
        <p:nvSpPr>
          <p:cNvPr id="4" name="圆角矩形 11">
            <a:extLst>
              <a:ext uri="{FF2B5EF4-FFF2-40B4-BE49-F238E27FC236}">
                <a16:creationId xmlns:a16="http://schemas.microsoft.com/office/drawing/2014/main" id="{BCA9671E-EB25-8D0A-D2A8-D07558EB783F}"/>
              </a:ext>
            </a:extLst>
          </p:cNvPr>
          <p:cNvSpPr/>
          <p:nvPr/>
        </p:nvSpPr>
        <p:spPr>
          <a:xfrm>
            <a:off x="4998624" y="5661016"/>
            <a:ext cx="2336496" cy="395927"/>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endParaRPr>
          </a:p>
        </p:txBody>
      </p:sp>
      <p:sp>
        <p:nvSpPr>
          <p:cNvPr id="5" name="文本框 9">
            <a:extLst>
              <a:ext uri="{FF2B5EF4-FFF2-40B4-BE49-F238E27FC236}">
                <a16:creationId xmlns:a16="http://schemas.microsoft.com/office/drawing/2014/main" id="{C5C411AD-1526-CACE-38F4-E700C86A8D32}"/>
              </a:ext>
            </a:extLst>
          </p:cNvPr>
          <p:cNvSpPr txBox="1"/>
          <p:nvPr/>
        </p:nvSpPr>
        <p:spPr>
          <a:xfrm>
            <a:off x="5003227" y="5695020"/>
            <a:ext cx="2327077" cy="337185"/>
          </a:xfrm>
          <a:prstGeom prst="rect">
            <a:avLst/>
          </a:prstGeom>
          <a:noFill/>
        </p:spPr>
        <p:txBody>
          <a:bodyPr wrap="square" rtlCol="0">
            <a:spAutoFit/>
          </a:bodyPr>
          <a:lstStyle/>
          <a:p>
            <a:pPr algn="ctr"/>
            <a:r>
              <a:rPr kumimoji="1" lang="zh-CN" altLang="en-US" sz="1600" b="1" dirty="0">
                <a:solidFill>
                  <a:schemeClr val="bg1"/>
                </a:solidFill>
                <a:latin typeface="微软雅黑" panose="020B0503020204020204" charset="-122"/>
                <a:ea typeface="微软雅黑" panose="020B0503020204020204" charset="-122"/>
              </a:rPr>
              <a:t>学号</a:t>
            </a:r>
            <a:r>
              <a:rPr kumimoji="1" lang="zh-CN" sz="1600" b="1" dirty="0">
                <a:solidFill>
                  <a:schemeClr val="bg1"/>
                </a:solidFill>
                <a:latin typeface="微软雅黑" panose="020B0503020204020204" charset="-122"/>
                <a:ea typeface="微软雅黑" panose="020B0503020204020204" charset="-122"/>
              </a:rPr>
              <a:t>：</a:t>
            </a:r>
            <a:r>
              <a:rPr kumimoji="1" lang="en-US" altLang="zh-CN" sz="1600" b="1" dirty="0">
                <a:solidFill>
                  <a:schemeClr val="bg1"/>
                </a:solidFill>
                <a:latin typeface="微软雅黑" panose="020B0503020204020204" charset="-122"/>
                <a:ea typeface="微软雅黑" panose="020B0503020204020204" charset="-122"/>
              </a:rPr>
              <a:t>2432000</a:t>
            </a:r>
            <a:endParaRPr kumimoji="1" lang="zh-CN" sz="1600" b="1" dirty="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组合 13"/>
          <p:cNvGrpSpPr/>
          <p:nvPr/>
        </p:nvGrpSpPr>
        <p:grpSpPr>
          <a:xfrm>
            <a:off x="0" y="0"/>
            <a:ext cx="4651513" cy="6858000"/>
            <a:chOff x="0" y="0"/>
            <a:chExt cx="4651513" cy="6858000"/>
          </a:xfrm>
          <a:solidFill>
            <a:srgbClr val="005BAE"/>
          </a:solidFill>
        </p:grpSpPr>
        <p:grpSp>
          <p:nvGrpSpPr>
            <p:cNvPr id="58" name="组合 12"/>
            <p:cNvGrpSpPr/>
            <p:nvPr/>
          </p:nvGrpSpPr>
          <p:grpSpPr>
            <a:xfrm>
              <a:off x="0" y="0"/>
              <a:ext cx="4651513" cy="6858000"/>
              <a:chOff x="0" y="0"/>
              <a:chExt cx="4651513" cy="6858000"/>
            </a:xfrm>
            <a:grpFill/>
          </p:grpSpPr>
          <p:sp>
            <p:nvSpPr>
              <p:cNvPr id="1048669" name="矩形 4"/>
              <p:cNvSpPr/>
              <p:nvPr/>
            </p:nvSpPr>
            <p:spPr>
              <a:xfrm>
                <a:off x="0" y="0"/>
                <a:ext cx="4651513"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48670" name="文本框 8"/>
              <p:cNvSpPr txBox="1"/>
              <p:nvPr/>
            </p:nvSpPr>
            <p:spPr>
              <a:xfrm>
                <a:off x="3536013" y="4081670"/>
                <a:ext cx="982979" cy="2544418"/>
              </a:xfrm>
              <a:prstGeom prst="rect">
                <a:avLst/>
              </a:prstGeom>
              <a:grpFill/>
            </p:spPr>
            <p:txBody>
              <a:bodyPr vert="eaVert" wrap="square" rtlCol="0">
                <a:spAutoFit/>
              </a:bodyPr>
              <a:lstStyle/>
              <a:p>
                <a:pPr algn="ctr"/>
                <a:r>
                  <a:rPr lang="en-US" altLang="zh-CN" sz="4800" b="1" dirty="0">
                    <a:solidFill>
                      <a:schemeClr val="bg1"/>
                    </a:solidFill>
                  </a:rPr>
                  <a:t>Content</a:t>
                </a:r>
                <a:endParaRPr lang="zh-CN" altLang="en-US" sz="4800" b="1" dirty="0">
                  <a:solidFill>
                    <a:schemeClr val="bg1"/>
                  </a:solidFill>
                </a:endParaRPr>
              </a:p>
            </p:txBody>
          </p:sp>
        </p:grpSp>
        <p:sp>
          <p:nvSpPr>
            <p:cNvPr id="1048671" name="矩形 6"/>
            <p:cNvSpPr/>
            <p:nvPr/>
          </p:nvSpPr>
          <p:spPr>
            <a:xfrm>
              <a:off x="808382" y="1782419"/>
              <a:ext cx="3045613" cy="1646581"/>
            </a:xfrm>
            <a:prstGeom prst="rect">
              <a:avLst/>
            </a:prstGeom>
            <a:grp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200" b="1" dirty="0"/>
                <a:t>目录</a:t>
              </a:r>
            </a:p>
          </p:txBody>
        </p:sp>
      </p:grpSp>
      <p:grpSp>
        <p:nvGrpSpPr>
          <p:cNvPr id="59" name="组合 31"/>
          <p:cNvGrpSpPr/>
          <p:nvPr>
            <p:custDataLst>
              <p:tags r:id="rId1"/>
            </p:custDataLst>
          </p:nvPr>
        </p:nvGrpSpPr>
        <p:grpSpPr>
          <a:xfrm>
            <a:off x="5271511" y="1640262"/>
            <a:ext cx="3438937" cy="461665"/>
            <a:chOff x="5247396" y="2156695"/>
            <a:chExt cx="3438937" cy="461665"/>
          </a:xfrm>
        </p:grpSpPr>
        <p:sp>
          <p:nvSpPr>
            <p:cNvPr id="1048672" name="椭圆 18"/>
            <p:cNvSpPr/>
            <p:nvPr>
              <p:custDataLst>
                <p:tags r:id="rId17"/>
              </p:custDataLst>
            </p:nvPr>
          </p:nvSpPr>
          <p:spPr>
            <a:xfrm>
              <a:off x="6408565" y="2292623"/>
              <a:ext cx="145774" cy="145774"/>
            </a:xfrm>
            <a:prstGeom prst="ellipse">
              <a:avLst/>
            </a:prstGeom>
            <a:solidFill>
              <a:srgbClr val="0054A6"/>
            </a:solidFill>
            <a:ln>
              <a:solidFill>
                <a:srgbClr val="0054A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73" name="文本框 23"/>
            <p:cNvSpPr txBox="1"/>
            <p:nvPr>
              <p:custDataLst>
                <p:tags r:id="rId18"/>
              </p:custDataLst>
            </p:nvPr>
          </p:nvSpPr>
          <p:spPr>
            <a:xfrm>
              <a:off x="5247396" y="2156695"/>
              <a:ext cx="893381" cy="461665"/>
            </a:xfrm>
            <a:prstGeom prst="rect">
              <a:avLst/>
            </a:prstGeom>
            <a:noFill/>
          </p:spPr>
          <p:txBody>
            <a:bodyPr wrap="square" rtlCol="0">
              <a:spAutoFit/>
            </a:bodyPr>
            <a:lstStyle/>
            <a:p>
              <a:pPr algn="ctr"/>
              <a:r>
                <a:rPr lang="en-US" altLang="zh-CN" sz="2400" b="1" dirty="0">
                  <a:solidFill>
                    <a:srgbClr val="0054A6"/>
                  </a:solidFill>
                </a:rPr>
                <a:t>01</a:t>
              </a:r>
              <a:endParaRPr lang="zh-CN" altLang="en-US" sz="2400" b="1" dirty="0">
                <a:solidFill>
                  <a:srgbClr val="0054A6"/>
                </a:solidFill>
              </a:endParaRPr>
            </a:p>
          </p:txBody>
        </p:sp>
        <p:sp>
          <p:nvSpPr>
            <p:cNvPr id="1048674" name="文本框 27"/>
            <p:cNvSpPr txBox="1"/>
            <p:nvPr>
              <p:custDataLst>
                <p:tags r:id="rId19"/>
              </p:custDataLst>
            </p:nvPr>
          </p:nvSpPr>
          <p:spPr>
            <a:xfrm>
              <a:off x="7168391" y="2156695"/>
              <a:ext cx="1517942" cy="461665"/>
            </a:xfrm>
            <a:prstGeom prst="rect">
              <a:avLst/>
            </a:prstGeom>
            <a:noFill/>
          </p:spPr>
          <p:txBody>
            <a:bodyPr wrap="square" rtlCol="0">
              <a:spAutoFit/>
            </a:bodyPr>
            <a:lstStyle/>
            <a:p>
              <a:r>
                <a:rPr lang="zh-CN" altLang="en-US" sz="2400" b="1" dirty="0">
                  <a:solidFill>
                    <a:srgbClr val="0054A6"/>
                  </a:solidFill>
                </a:rPr>
                <a:t>研究背景</a:t>
              </a:r>
            </a:p>
          </p:txBody>
        </p:sp>
      </p:grpSp>
      <p:grpSp>
        <p:nvGrpSpPr>
          <p:cNvPr id="60" name="组合 32"/>
          <p:cNvGrpSpPr/>
          <p:nvPr>
            <p:custDataLst>
              <p:tags r:id="rId2"/>
            </p:custDataLst>
          </p:nvPr>
        </p:nvGrpSpPr>
        <p:grpSpPr>
          <a:xfrm>
            <a:off x="5271045" y="2523073"/>
            <a:ext cx="5473607" cy="461666"/>
            <a:chOff x="5247397" y="3051218"/>
            <a:chExt cx="5473607" cy="461666"/>
          </a:xfrm>
        </p:grpSpPr>
        <p:sp>
          <p:nvSpPr>
            <p:cNvPr id="1048675" name="椭圆 19"/>
            <p:cNvSpPr/>
            <p:nvPr>
              <p:custDataLst>
                <p:tags r:id="rId14"/>
              </p:custDataLst>
            </p:nvPr>
          </p:nvSpPr>
          <p:spPr>
            <a:xfrm>
              <a:off x="6408565" y="3209165"/>
              <a:ext cx="145774" cy="145774"/>
            </a:xfrm>
            <a:prstGeom prst="ellipse">
              <a:avLst/>
            </a:prstGeom>
            <a:solidFill>
              <a:srgbClr val="0054A6"/>
            </a:solidFill>
            <a:ln>
              <a:solidFill>
                <a:srgbClr val="005B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76" name="文本框 24"/>
            <p:cNvSpPr txBox="1"/>
            <p:nvPr>
              <p:custDataLst>
                <p:tags r:id="rId15"/>
              </p:custDataLst>
            </p:nvPr>
          </p:nvSpPr>
          <p:spPr>
            <a:xfrm>
              <a:off x="5247397" y="3051219"/>
              <a:ext cx="893381" cy="461665"/>
            </a:xfrm>
            <a:prstGeom prst="rect">
              <a:avLst/>
            </a:prstGeom>
            <a:noFill/>
          </p:spPr>
          <p:txBody>
            <a:bodyPr wrap="square" rtlCol="0">
              <a:spAutoFit/>
            </a:bodyPr>
            <a:lstStyle/>
            <a:p>
              <a:pPr algn="ctr"/>
              <a:r>
                <a:rPr lang="en-US" altLang="zh-CN" sz="2400" b="1" dirty="0">
                  <a:solidFill>
                    <a:srgbClr val="0054A6"/>
                  </a:solidFill>
                </a:rPr>
                <a:t>02</a:t>
              </a:r>
              <a:endParaRPr lang="zh-CN" altLang="en-US" sz="2400" b="1" dirty="0">
                <a:solidFill>
                  <a:srgbClr val="0054A6"/>
                </a:solidFill>
              </a:endParaRPr>
            </a:p>
          </p:txBody>
        </p:sp>
        <p:sp>
          <p:nvSpPr>
            <p:cNvPr id="1048677" name="文本框 28"/>
            <p:cNvSpPr txBox="1"/>
            <p:nvPr>
              <p:custDataLst>
                <p:tags r:id="rId16"/>
              </p:custDataLst>
            </p:nvPr>
          </p:nvSpPr>
          <p:spPr>
            <a:xfrm>
              <a:off x="7168390" y="3051218"/>
              <a:ext cx="3552614" cy="461665"/>
            </a:xfrm>
            <a:prstGeom prst="rect">
              <a:avLst/>
            </a:prstGeom>
            <a:noFill/>
          </p:spPr>
          <p:txBody>
            <a:bodyPr wrap="square" rtlCol="0">
              <a:spAutoFit/>
            </a:bodyPr>
            <a:lstStyle/>
            <a:p>
              <a:r>
                <a:rPr lang="zh-CN" altLang="en-US" sz="2400" b="1" dirty="0">
                  <a:solidFill>
                    <a:srgbClr val="0054A6"/>
                  </a:solidFill>
                </a:rPr>
                <a:t>文献综述</a:t>
              </a:r>
            </a:p>
          </p:txBody>
        </p:sp>
      </p:grpSp>
      <p:grpSp>
        <p:nvGrpSpPr>
          <p:cNvPr id="61" name="组合 33"/>
          <p:cNvGrpSpPr/>
          <p:nvPr>
            <p:custDataLst>
              <p:tags r:id="rId3"/>
            </p:custDataLst>
          </p:nvPr>
        </p:nvGrpSpPr>
        <p:grpSpPr>
          <a:xfrm>
            <a:off x="5259503" y="3417598"/>
            <a:ext cx="5485149" cy="461665"/>
            <a:chOff x="5235855" y="3945743"/>
            <a:chExt cx="5485149" cy="461665"/>
          </a:xfrm>
        </p:grpSpPr>
        <p:sp>
          <p:nvSpPr>
            <p:cNvPr id="1048678" name="椭圆 20"/>
            <p:cNvSpPr/>
            <p:nvPr>
              <p:custDataLst>
                <p:tags r:id="rId11"/>
              </p:custDataLst>
            </p:nvPr>
          </p:nvSpPr>
          <p:spPr>
            <a:xfrm>
              <a:off x="6408565" y="4103689"/>
              <a:ext cx="145774" cy="145774"/>
            </a:xfrm>
            <a:prstGeom prst="ellipse">
              <a:avLst/>
            </a:prstGeom>
            <a:solidFill>
              <a:srgbClr val="0054A6"/>
            </a:solidFill>
            <a:ln>
              <a:solidFill>
                <a:srgbClr val="005B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79" name="文本框 25"/>
            <p:cNvSpPr txBox="1"/>
            <p:nvPr>
              <p:custDataLst>
                <p:tags r:id="rId12"/>
              </p:custDataLst>
            </p:nvPr>
          </p:nvSpPr>
          <p:spPr>
            <a:xfrm>
              <a:off x="5235855" y="3945743"/>
              <a:ext cx="893381" cy="461665"/>
            </a:xfrm>
            <a:prstGeom prst="rect">
              <a:avLst/>
            </a:prstGeom>
            <a:noFill/>
          </p:spPr>
          <p:txBody>
            <a:bodyPr wrap="square" rtlCol="0">
              <a:spAutoFit/>
            </a:bodyPr>
            <a:lstStyle/>
            <a:p>
              <a:pPr algn="ctr"/>
              <a:r>
                <a:rPr lang="en-US" altLang="zh-CN" sz="2400" b="1" dirty="0">
                  <a:solidFill>
                    <a:srgbClr val="0054A6"/>
                  </a:solidFill>
                </a:rPr>
                <a:t>03</a:t>
              </a:r>
              <a:endParaRPr lang="zh-CN" altLang="en-US" sz="2400" b="1" dirty="0">
                <a:solidFill>
                  <a:srgbClr val="0054A6"/>
                </a:solidFill>
              </a:endParaRPr>
            </a:p>
          </p:txBody>
        </p:sp>
        <p:sp>
          <p:nvSpPr>
            <p:cNvPr id="1048680" name="文本框 29"/>
            <p:cNvSpPr txBox="1"/>
            <p:nvPr>
              <p:custDataLst>
                <p:tags r:id="rId13"/>
              </p:custDataLst>
            </p:nvPr>
          </p:nvSpPr>
          <p:spPr>
            <a:xfrm>
              <a:off x="7168390" y="3945743"/>
              <a:ext cx="3552614" cy="461665"/>
            </a:xfrm>
            <a:prstGeom prst="rect">
              <a:avLst/>
            </a:prstGeom>
            <a:noFill/>
          </p:spPr>
          <p:txBody>
            <a:bodyPr wrap="square" rtlCol="0">
              <a:spAutoFit/>
            </a:bodyPr>
            <a:lstStyle/>
            <a:p>
              <a:r>
                <a:rPr lang="zh-CN" altLang="en-US" sz="2400" b="1" dirty="0">
                  <a:solidFill>
                    <a:srgbClr val="0054A6"/>
                  </a:solidFill>
                </a:rPr>
                <a:t>研究内容</a:t>
              </a:r>
            </a:p>
          </p:txBody>
        </p:sp>
      </p:grpSp>
      <p:grpSp>
        <p:nvGrpSpPr>
          <p:cNvPr id="62" name="组合 34"/>
          <p:cNvGrpSpPr/>
          <p:nvPr>
            <p:custDataLst>
              <p:tags r:id="rId4"/>
            </p:custDataLst>
          </p:nvPr>
        </p:nvGrpSpPr>
        <p:grpSpPr>
          <a:xfrm>
            <a:off x="5271044" y="4312122"/>
            <a:ext cx="5473608" cy="461665"/>
            <a:chOff x="5247396" y="4840267"/>
            <a:chExt cx="5473608" cy="461665"/>
          </a:xfrm>
        </p:grpSpPr>
        <p:sp>
          <p:nvSpPr>
            <p:cNvPr id="1048681" name="椭圆 21"/>
            <p:cNvSpPr/>
            <p:nvPr>
              <p:custDataLst>
                <p:tags r:id="rId8"/>
              </p:custDataLst>
            </p:nvPr>
          </p:nvSpPr>
          <p:spPr>
            <a:xfrm>
              <a:off x="6408565" y="4976190"/>
              <a:ext cx="145774" cy="145774"/>
            </a:xfrm>
            <a:prstGeom prst="ellipse">
              <a:avLst/>
            </a:prstGeom>
            <a:solidFill>
              <a:srgbClr val="0054A6"/>
            </a:solidFill>
            <a:ln>
              <a:solidFill>
                <a:srgbClr val="005B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82" name="文本框 26"/>
            <p:cNvSpPr txBox="1"/>
            <p:nvPr>
              <p:custDataLst>
                <p:tags r:id="rId9"/>
              </p:custDataLst>
            </p:nvPr>
          </p:nvSpPr>
          <p:spPr>
            <a:xfrm>
              <a:off x="5247396" y="4840267"/>
              <a:ext cx="893381" cy="461665"/>
            </a:xfrm>
            <a:prstGeom prst="rect">
              <a:avLst/>
            </a:prstGeom>
            <a:noFill/>
          </p:spPr>
          <p:txBody>
            <a:bodyPr wrap="square" rtlCol="0">
              <a:spAutoFit/>
            </a:bodyPr>
            <a:lstStyle/>
            <a:p>
              <a:pPr algn="ctr"/>
              <a:r>
                <a:rPr lang="en-US" altLang="zh-CN" sz="2400" b="1" dirty="0">
                  <a:solidFill>
                    <a:srgbClr val="0054A6"/>
                  </a:solidFill>
                </a:rPr>
                <a:t>04</a:t>
              </a:r>
              <a:endParaRPr lang="zh-CN" altLang="en-US" sz="2400" b="1" dirty="0">
                <a:solidFill>
                  <a:srgbClr val="0054A6"/>
                </a:solidFill>
              </a:endParaRPr>
            </a:p>
          </p:txBody>
        </p:sp>
        <p:sp>
          <p:nvSpPr>
            <p:cNvPr id="1048683" name="文本框 30"/>
            <p:cNvSpPr txBox="1"/>
            <p:nvPr>
              <p:custDataLst>
                <p:tags r:id="rId10"/>
              </p:custDataLst>
            </p:nvPr>
          </p:nvSpPr>
          <p:spPr>
            <a:xfrm>
              <a:off x="7168390" y="4840267"/>
              <a:ext cx="3552614" cy="461665"/>
            </a:xfrm>
            <a:prstGeom prst="rect">
              <a:avLst/>
            </a:prstGeom>
            <a:noFill/>
          </p:spPr>
          <p:txBody>
            <a:bodyPr wrap="square" rtlCol="0">
              <a:spAutoFit/>
            </a:bodyPr>
            <a:lstStyle/>
            <a:p>
              <a:r>
                <a:rPr lang="zh-CN" altLang="en-US" sz="2400" b="1" dirty="0">
                  <a:solidFill>
                    <a:srgbClr val="0054A6"/>
                  </a:solidFill>
                </a:rPr>
                <a:t>技术路线</a:t>
              </a:r>
            </a:p>
          </p:txBody>
        </p:sp>
      </p:grpSp>
      <p:sp>
        <p:nvSpPr>
          <p:cNvPr id="1048684" name="椭圆 21"/>
          <p:cNvSpPr/>
          <p:nvPr>
            <p:custDataLst>
              <p:tags r:id="rId5"/>
            </p:custDataLst>
          </p:nvPr>
        </p:nvSpPr>
        <p:spPr>
          <a:xfrm>
            <a:off x="6432213" y="5320546"/>
            <a:ext cx="145774" cy="145774"/>
          </a:xfrm>
          <a:prstGeom prst="ellipse">
            <a:avLst/>
          </a:prstGeom>
          <a:solidFill>
            <a:srgbClr val="0054A6"/>
          </a:solidFill>
          <a:ln>
            <a:solidFill>
              <a:srgbClr val="005B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85" name="文本框 26"/>
          <p:cNvSpPr txBox="1"/>
          <p:nvPr>
            <p:custDataLst>
              <p:tags r:id="rId6"/>
            </p:custDataLst>
          </p:nvPr>
        </p:nvSpPr>
        <p:spPr>
          <a:xfrm>
            <a:off x="5271044" y="5162600"/>
            <a:ext cx="893381" cy="461665"/>
          </a:xfrm>
          <a:prstGeom prst="rect">
            <a:avLst/>
          </a:prstGeom>
          <a:noFill/>
        </p:spPr>
        <p:txBody>
          <a:bodyPr wrap="square" rtlCol="0">
            <a:spAutoFit/>
          </a:bodyPr>
          <a:lstStyle/>
          <a:p>
            <a:pPr algn="ctr"/>
            <a:r>
              <a:rPr lang="en-US" altLang="zh-CN" sz="2400" b="1" dirty="0">
                <a:solidFill>
                  <a:srgbClr val="0054A6"/>
                </a:solidFill>
              </a:rPr>
              <a:t>05</a:t>
            </a:r>
            <a:endParaRPr lang="zh-CN" altLang="en-US" sz="2400" b="1" dirty="0">
              <a:solidFill>
                <a:srgbClr val="0054A6"/>
              </a:solidFill>
            </a:endParaRPr>
          </a:p>
        </p:txBody>
      </p:sp>
      <p:sp>
        <p:nvSpPr>
          <p:cNvPr id="1048686" name="文本框 29"/>
          <p:cNvSpPr txBox="1"/>
          <p:nvPr>
            <p:custDataLst>
              <p:tags r:id="rId7"/>
            </p:custDataLst>
          </p:nvPr>
        </p:nvSpPr>
        <p:spPr>
          <a:xfrm>
            <a:off x="7192038" y="5162599"/>
            <a:ext cx="3552614" cy="461665"/>
          </a:xfrm>
          <a:prstGeom prst="rect">
            <a:avLst/>
          </a:prstGeom>
          <a:noFill/>
        </p:spPr>
        <p:txBody>
          <a:bodyPr wrap="square" rtlCol="0">
            <a:spAutoFit/>
          </a:bodyPr>
          <a:lstStyle/>
          <a:p>
            <a:r>
              <a:rPr lang="zh-CN" altLang="en-US" sz="2400" b="1" dirty="0">
                <a:solidFill>
                  <a:srgbClr val="0054A6"/>
                </a:solidFill>
              </a:rPr>
              <a:t>工作计划</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A302F3D2-D9CA-5CDE-AABA-4009DE30B608}"/>
              </a:ext>
            </a:extLst>
          </p:cNvPr>
          <p:cNvPicPr>
            <a:picLocks noChangeAspect="1"/>
          </p:cNvPicPr>
          <p:nvPr/>
        </p:nvPicPr>
        <p:blipFill>
          <a:blip r:embed="rId10" cstate="print">
            <a:extLst>
              <a:ext uri="{28A0092B-C50C-407E-A947-70E740481C1C}">
                <a14:useLocalDpi xmlns:a14="http://schemas.microsoft.com/office/drawing/2010/main" val="0"/>
              </a:ext>
            </a:extLst>
          </a:blip>
          <a:srcRect t="14014" b="10948"/>
          <a:stretch>
            <a:fillRect/>
          </a:stretch>
        </p:blipFill>
        <p:spPr>
          <a:xfrm>
            <a:off x="6204018" y="1118341"/>
            <a:ext cx="5598485" cy="2362570"/>
          </a:xfrm>
          <a:prstGeom prst="rect">
            <a:avLst/>
          </a:prstGeom>
        </p:spPr>
      </p:pic>
      <p:sp>
        <p:nvSpPr>
          <p:cNvPr id="1048641" name="稻壳儿小白白(http://dwz.cn/Wu2UP)"/>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57" name="图片 17"/>
          <p:cNvPicPr>
            <a:picLocks noChangeAspect="1"/>
          </p:cNvPicPr>
          <p:nvPr/>
        </p:nvPicPr>
        <p:blipFill rotWithShape="1">
          <a:blip r:embed="rId11" cstate="print"/>
          <a:srcRect r="855"/>
          <a:stretch>
            <a:fillRect/>
          </a:stretch>
        </p:blipFill>
        <p:spPr>
          <a:xfrm>
            <a:off x="10301625" y="20910"/>
            <a:ext cx="1809525" cy="526143"/>
          </a:xfrm>
          <a:prstGeom prst="rect">
            <a:avLst/>
          </a:prstGeom>
        </p:spPr>
      </p:pic>
      <p:sp>
        <p:nvSpPr>
          <p:cNvPr id="1048642" name="标题 1"/>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1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研究背景</a:t>
            </a:r>
          </a:p>
        </p:txBody>
      </p:sp>
      <p:sp>
        <p:nvSpPr>
          <p:cNvPr id="1048643" name="矩形 8"/>
          <p:cNvSpPr/>
          <p:nvPr>
            <p:custDataLst>
              <p:tags r:id="rId1"/>
            </p:custDataLst>
          </p:nvPr>
        </p:nvSpPr>
        <p:spPr>
          <a:xfrm>
            <a:off x="145084" y="775442"/>
            <a:ext cx="11839487" cy="409074"/>
          </a:xfrm>
          <a:prstGeom prst="rect">
            <a:avLst/>
          </a:prstGeom>
          <a:solidFill>
            <a:schemeClr val="accent1"/>
          </a:solidFill>
          <a:ln w="28575" cmpd="sng">
            <a:solidFill>
              <a:schemeClr val="accent1">
                <a:shade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latin typeface="微软雅黑" panose="020B0503020204020204" charset="-122"/>
                <a:ea typeface="微软雅黑" panose="020B0503020204020204" charset="-122"/>
              </a:rPr>
              <a:t>飞机脉动装配线与调度挑战</a:t>
            </a:r>
          </a:p>
        </p:txBody>
      </p:sp>
      <p:pic>
        <p:nvPicPr>
          <p:cNvPr id="2097158" name="图形 9" descr="纸飞机"/>
          <p:cNvPicPr>
            <a:picLocks noChangeAspect="1"/>
          </p:cNvPicPr>
          <p:nvPr>
            <p:custDataLst>
              <p:tags r:id="rId2"/>
            </p:custDataLst>
          </p:nvPr>
        </p:nvPicPr>
        <p:blipFill>
          <a:blip r:embed="rId12"/>
          <a:stretch>
            <a:fillRect/>
          </a:stretch>
        </p:blipFill>
        <p:spPr>
          <a:xfrm>
            <a:off x="276661" y="751379"/>
            <a:ext cx="457200" cy="457200"/>
          </a:xfrm>
          <a:prstGeom prst="rect">
            <a:avLst/>
          </a:prstGeom>
        </p:spPr>
      </p:pic>
      <p:sp>
        <p:nvSpPr>
          <p:cNvPr id="1048644" name="矩形 13"/>
          <p:cNvSpPr/>
          <p:nvPr>
            <p:custDataLst>
              <p:tags r:id="rId3"/>
            </p:custDataLst>
          </p:nvPr>
        </p:nvSpPr>
        <p:spPr>
          <a:xfrm>
            <a:off x="6132818" y="1184515"/>
            <a:ext cx="5851753" cy="4998469"/>
          </a:xfrm>
          <a:prstGeom prst="rect">
            <a:avLst/>
          </a:prstGeom>
          <a:noFill/>
          <a:ln w="19050">
            <a:solidFill>
              <a:schemeClr val="accent5">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5" name="矩形 14"/>
          <p:cNvSpPr/>
          <p:nvPr/>
        </p:nvSpPr>
        <p:spPr>
          <a:xfrm>
            <a:off x="137628" y="6290552"/>
            <a:ext cx="11846943" cy="461665"/>
          </a:xfrm>
          <a:prstGeom prst="rect">
            <a:avLst/>
          </a:prstGeom>
          <a:noFill/>
          <a:ln w="38100">
            <a:solidFill>
              <a:srgbClr val="C00000"/>
            </a:solidFill>
          </a:ln>
          <a:effectLst/>
        </p:spPr>
        <p:txBody>
          <a:bodyPr wrap="square" anchor="ctr">
            <a:spAutoFit/>
          </a:bodyPr>
          <a:lstStyle/>
          <a:p>
            <a:pPr algn="ctr"/>
            <a:r>
              <a:rPr lang="zh-CN" altLang="en-US" sz="2400" b="1" dirty="0">
                <a:solidFill>
                  <a:srgbClr val="000F82"/>
                </a:solidFill>
                <a:latin typeface="微软雅黑" panose="020B0503020204020204" charset="-122"/>
                <a:ea typeface="微软雅黑" panose="020B0503020204020204" charset="-122"/>
              </a:rPr>
              <a:t>考虑</a:t>
            </a:r>
            <a:r>
              <a:rPr lang="zh-CN" altLang="en-US" sz="2400" b="1" dirty="0">
                <a:solidFill>
                  <a:srgbClr val="C00000"/>
                </a:solidFill>
                <a:latin typeface="微软雅黑" panose="020B0503020204020204" charset="-122"/>
                <a:ea typeface="微软雅黑" panose="020B0503020204020204" charset="-122"/>
              </a:rPr>
              <a:t>动态情况下飞机脉动装配调度</a:t>
            </a:r>
            <a:r>
              <a:rPr lang="zh-CN" altLang="en-US" sz="2400" b="1" dirty="0">
                <a:solidFill>
                  <a:srgbClr val="000F82"/>
                </a:solidFill>
                <a:latin typeface="微软雅黑" panose="020B0503020204020204" charset="-122"/>
                <a:ea typeface="微软雅黑" panose="020B0503020204020204" charset="-122"/>
              </a:rPr>
              <a:t>的研究和实践具有极其显著的意义</a:t>
            </a:r>
            <a:endParaRPr lang="en-US" altLang="zh-CN" sz="2000" b="1" dirty="0">
              <a:solidFill>
                <a:srgbClr val="002060"/>
              </a:solidFill>
              <a:latin typeface="微软雅黑" panose="020B0503020204020204" charset="-122"/>
              <a:ea typeface="微软雅黑" panose="020B0503020204020204" charset="-122"/>
            </a:endParaRPr>
          </a:p>
        </p:txBody>
      </p:sp>
      <p:sp>
        <p:nvSpPr>
          <p:cNvPr id="1048646" name="矩形 3"/>
          <p:cNvSpPr/>
          <p:nvPr>
            <p:custDataLst>
              <p:tags r:id="rId4"/>
            </p:custDataLst>
          </p:nvPr>
        </p:nvSpPr>
        <p:spPr>
          <a:xfrm>
            <a:off x="137628" y="1184514"/>
            <a:ext cx="5851753" cy="4998469"/>
          </a:xfrm>
          <a:prstGeom prst="rect">
            <a:avLst/>
          </a:prstGeom>
          <a:noFill/>
          <a:ln w="19050">
            <a:solidFill>
              <a:schemeClr val="accent5">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7" name="文本框 41"/>
          <p:cNvSpPr txBox="1"/>
          <p:nvPr>
            <p:custDataLst>
              <p:tags r:id="rId5"/>
            </p:custDataLst>
          </p:nvPr>
        </p:nvSpPr>
        <p:spPr>
          <a:xfrm>
            <a:off x="101393" y="4360456"/>
            <a:ext cx="5924222" cy="1750864"/>
          </a:xfrm>
          <a:prstGeom prst="rect">
            <a:avLst/>
          </a:prstGeom>
          <a:noFill/>
        </p:spPr>
        <p:txBody>
          <a:bodyPr wrap="square">
            <a:spAutoFit/>
          </a:bodyPr>
          <a:lstStyle/>
          <a:p>
            <a:pPr marL="285750" indent="-285750">
              <a:lnSpc>
                <a:spcPct val="200000"/>
              </a:lnSpc>
              <a:buFont typeface="Wingdings" panose="05000000000000000000" pitchFamily="2" charset="2"/>
              <a:buChar char="Ø"/>
            </a:pPr>
            <a:r>
              <a:rPr lang="zh-CN" altLang="en-US" sz="1400" b="1" dirty="0">
                <a:solidFill>
                  <a:srgbClr val="000F82"/>
                </a:solidFill>
                <a:latin typeface="微软雅黑" panose="020B0503020204020204" charset="-122"/>
                <a:ea typeface="微软雅黑" panose="020B0503020204020204" charset="-122"/>
              </a:rPr>
              <a:t>中国制造</a:t>
            </a:r>
            <a:r>
              <a:rPr lang="en-US" altLang="zh-CN" sz="1400" b="1" dirty="0">
                <a:solidFill>
                  <a:srgbClr val="000F82"/>
                </a:solidFill>
                <a:latin typeface="微软雅黑" panose="020B0503020204020204" charset="-122"/>
                <a:ea typeface="微软雅黑" panose="020B0503020204020204" charset="-122"/>
              </a:rPr>
              <a:t>2025</a:t>
            </a:r>
            <a:r>
              <a:rPr lang="zh-CN" altLang="en-US" sz="1400" b="1" dirty="0">
                <a:solidFill>
                  <a:srgbClr val="000F82"/>
                </a:solidFill>
                <a:latin typeface="微软雅黑" panose="020B0503020204020204" charset="-122"/>
                <a:ea typeface="微软雅黑" panose="020B0503020204020204" charset="-122"/>
              </a:rPr>
              <a:t>致力于实现中国从制造大国向制造强国的转变。</a:t>
            </a:r>
            <a:endParaRPr lang="en-US" altLang="zh-CN" sz="1400" b="1" dirty="0">
              <a:solidFill>
                <a:srgbClr val="000F82"/>
              </a:solidFill>
              <a:latin typeface="微软雅黑" panose="020B0503020204020204" charset="-122"/>
              <a:ea typeface="微软雅黑" panose="020B0503020204020204" charset="-122"/>
            </a:endParaRPr>
          </a:p>
          <a:p>
            <a:pPr marL="285750" indent="-285750">
              <a:lnSpc>
                <a:spcPct val="200000"/>
              </a:lnSpc>
              <a:buFont typeface="Wingdings" panose="05000000000000000000" pitchFamily="2" charset="2"/>
              <a:buChar char="Ø"/>
            </a:pPr>
            <a:r>
              <a:rPr lang="zh-CN" altLang="en-US" sz="1400" b="1" dirty="0">
                <a:solidFill>
                  <a:srgbClr val="000F82"/>
                </a:solidFill>
                <a:latin typeface="微软雅黑" panose="020B0503020204020204" charset="-122"/>
                <a:ea typeface="微软雅黑" panose="020B0503020204020204" charset="-122"/>
              </a:rPr>
              <a:t>飞机制造的发展</a:t>
            </a:r>
            <a:r>
              <a:rPr lang="zh-CN" altLang="en-US" sz="1400" b="1" dirty="0">
                <a:solidFill>
                  <a:srgbClr val="000F82"/>
                </a:solidFill>
                <a:latin typeface="微软雅黑" panose="020B0503020204020204" pitchFamily="34" charset="-122"/>
                <a:ea typeface="微软雅黑" panose="020B0503020204020204" pitchFamily="34" charset="-122"/>
              </a:rPr>
              <a:t>集中体现</a:t>
            </a:r>
            <a:r>
              <a:rPr lang="zh-CN" altLang="en-US" sz="1400" b="1" dirty="0">
                <a:solidFill>
                  <a:srgbClr val="000F82"/>
                </a:solidFill>
                <a:latin typeface="微软雅黑" panose="020B0503020204020204" charset="-122"/>
                <a:ea typeface="微软雅黑" panose="020B0503020204020204" charset="-122"/>
              </a:rPr>
              <a:t>国家综合国力、工业基础和科技水平。</a:t>
            </a:r>
            <a:endParaRPr lang="en-US" altLang="zh-CN" sz="1400" b="1" dirty="0">
              <a:solidFill>
                <a:srgbClr val="000F82"/>
              </a:solidFill>
              <a:latin typeface="微软雅黑" panose="020B0503020204020204" charset="-122"/>
              <a:ea typeface="微软雅黑" panose="020B0503020204020204" charset="-122"/>
            </a:endParaRPr>
          </a:p>
          <a:p>
            <a:pPr marL="285750" lvl="0" indent="-285750">
              <a:lnSpc>
                <a:spcPct val="200000"/>
              </a:lnSpc>
              <a:buFont typeface="Wingdings" panose="05000000000000000000" pitchFamily="2" charset="2"/>
              <a:buChar char="Ø"/>
              <a:defRPr/>
            </a:pPr>
            <a:r>
              <a:rPr lang="zh-CN" altLang="en-US" sz="1400" b="1" dirty="0">
                <a:solidFill>
                  <a:srgbClr val="000F82"/>
                </a:solidFill>
                <a:latin typeface="微软雅黑" panose="020B0503020204020204" charset="-122"/>
                <a:ea typeface="微软雅黑" panose="020B0503020204020204" charset="-122"/>
              </a:rPr>
              <a:t>飞机装配作为飞机制造的核心环节，直接决定了飞机最终的产出效率与供应能力</a:t>
            </a:r>
            <a:r>
              <a:rPr lang="en-US" altLang="zh-CN" sz="1400" b="1" dirty="0">
                <a:solidFill>
                  <a:srgbClr val="000F82"/>
                </a:solidFill>
                <a:latin typeface="微软雅黑" panose="020B0503020204020204" charset="-122"/>
                <a:ea typeface="微软雅黑" panose="020B0503020204020204" charset="-122"/>
              </a:rPr>
              <a:t>[1]</a:t>
            </a:r>
            <a:r>
              <a:rPr lang="zh-CN" altLang="en-US" sz="1400" b="1" dirty="0">
                <a:solidFill>
                  <a:srgbClr val="000F82"/>
                </a:solidFill>
                <a:latin typeface="微软雅黑" panose="020B0503020204020204" charset="-122"/>
                <a:ea typeface="微软雅黑" panose="020B0503020204020204" charset="-122"/>
              </a:rPr>
              <a:t>。脉动装配当前主流飞机制造企业的装配方式。</a:t>
            </a:r>
            <a:endParaRPr lang="en-US" altLang="zh-CN" sz="1400" b="1" dirty="0">
              <a:solidFill>
                <a:srgbClr val="000F82"/>
              </a:solidFill>
              <a:latin typeface="微软雅黑" panose="020B0503020204020204" charset="-122"/>
              <a:ea typeface="微软雅黑" panose="020B0503020204020204" charset="-122"/>
            </a:endParaRPr>
          </a:p>
        </p:txBody>
      </p:sp>
      <p:sp>
        <p:nvSpPr>
          <p:cNvPr id="1048649" name="箭头: 下 43"/>
          <p:cNvSpPr/>
          <p:nvPr>
            <p:custDataLst>
              <p:tags r:id="rId6"/>
            </p:custDataLst>
          </p:nvPr>
        </p:nvSpPr>
        <p:spPr>
          <a:xfrm rot="10800000">
            <a:off x="2913677" y="4130074"/>
            <a:ext cx="245090" cy="419888"/>
          </a:xfrm>
          <a:prstGeom prst="downArrow">
            <a:avLst/>
          </a:prstGeom>
          <a:solidFill>
            <a:schemeClr val="bg2">
              <a:lumMod val="9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50" name="文本框 45"/>
          <p:cNvSpPr txBox="1"/>
          <p:nvPr>
            <p:custDataLst>
              <p:tags r:id="rId7"/>
            </p:custDataLst>
          </p:nvPr>
        </p:nvSpPr>
        <p:spPr>
          <a:xfrm>
            <a:off x="180310" y="3744650"/>
            <a:ext cx="5711825" cy="369332"/>
          </a:xfrm>
          <a:prstGeom prst="rect">
            <a:avLst/>
          </a:prstGeom>
          <a:noFill/>
        </p:spPr>
        <p:txBody>
          <a:bodyPr wrap="square">
            <a:spAutoFit/>
          </a:bodyPr>
          <a:lstStyle/>
          <a:p>
            <a:pPr algn="ctr"/>
            <a:r>
              <a:rPr lang="zh-CN" sz="1800" b="1" kern="100" dirty="0">
                <a:solidFill>
                  <a:srgbClr val="C00000"/>
                </a:solidFill>
                <a:effectLst/>
                <a:latin typeface="微软雅黑" panose="020B0503020204020204" charset="-122"/>
                <a:ea typeface="微软雅黑" panose="020B0503020204020204" charset="-122"/>
                <a:cs typeface="Times New Roman" panose="02020603050405020304" pitchFamily="18" charset="0"/>
              </a:rPr>
              <a:t>加强</a:t>
            </a:r>
            <a:r>
              <a:rPr lang="zh-CN" altLang="en-US" b="1" kern="100" dirty="0">
                <a:solidFill>
                  <a:srgbClr val="C00000"/>
                </a:solidFill>
                <a:latin typeface="微软雅黑" panose="020B0503020204020204" charset="-122"/>
                <a:ea typeface="微软雅黑" panose="020B0503020204020204" charset="-122"/>
                <a:cs typeface="Times New Roman" panose="02020603050405020304" pitchFamily="18" charset="0"/>
              </a:rPr>
              <a:t>飞机装配高质量高效率</a:t>
            </a:r>
            <a:r>
              <a:rPr lang="zh-CN" sz="1800" b="1" kern="100" dirty="0">
                <a:solidFill>
                  <a:srgbClr val="C00000"/>
                </a:solidFill>
                <a:effectLst/>
                <a:latin typeface="微软雅黑" panose="020B0503020204020204" charset="-122"/>
                <a:ea typeface="微软雅黑" panose="020B0503020204020204" charset="-122"/>
                <a:cs typeface="Times New Roman" panose="02020603050405020304" pitchFamily="18" charset="0"/>
              </a:rPr>
              <a:t>的研究</a:t>
            </a:r>
          </a:p>
        </p:txBody>
      </p:sp>
      <p:pic>
        <p:nvPicPr>
          <p:cNvPr id="2" name="图片 1" descr="图片包含 室内, 飞机, 桌子, 镜子">
            <a:extLst>
              <a:ext uri="{FF2B5EF4-FFF2-40B4-BE49-F238E27FC236}">
                <a16:creationId xmlns:a16="http://schemas.microsoft.com/office/drawing/2014/main" id="{5FDD36D0-59C9-4DE3-1641-CDC8B73A6A10}"/>
              </a:ext>
            </a:extLst>
          </p:cNvPr>
          <p:cNvPicPr>
            <a:picLocks noChangeAspect="1"/>
          </p:cNvPicPr>
          <p:nvPr/>
        </p:nvPicPr>
        <p:blipFill>
          <a:blip r:embed="rId13"/>
          <a:stretch>
            <a:fillRect/>
          </a:stretch>
        </p:blipFill>
        <p:spPr>
          <a:xfrm>
            <a:off x="733861" y="1232642"/>
            <a:ext cx="4836585" cy="2403794"/>
          </a:xfrm>
          <a:prstGeom prst="rect">
            <a:avLst/>
          </a:prstGeom>
          <a:effectLst>
            <a:outerShdw blurRad="50800" dist="38100" dir="2700000" algn="tl" rotWithShape="0">
              <a:prstClr val="black">
                <a:alpha val="40000"/>
              </a:prstClr>
            </a:outerShdw>
          </a:effectLst>
        </p:spPr>
      </p:pic>
      <p:sp>
        <p:nvSpPr>
          <p:cNvPr id="3" name="文本框 2">
            <a:extLst>
              <a:ext uri="{FF2B5EF4-FFF2-40B4-BE49-F238E27FC236}">
                <a16:creationId xmlns:a16="http://schemas.microsoft.com/office/drawing/2014/main" id="{B7C501EE-F44F-4973-C757-579F85106E59}"/>
              </a:ext>
            </a:extLst>
          </p:cNvPr>
          <p:cNvSpPr txBox="1"/>
          <p:nvPr/>
        </p:nvSpPr>
        <p:spPr>
          <a:xfrm>
            <a:off x="6204018" y="3273135"/>
            <a:ext cx="3360839" cy="2362570"/>
          </a:xfrm>
          <a:prstGeom prst="rect">
            <a:avLst/>
          </a:prstGeom>
          <a:noFill/>
        </p:spPr>
        <p:txBody>
          <a:bodyPr wrap="square" rtlCol="0">
            <a:spAutoFit/>
          </a:bodyPr>
          <a:lstStyle/>
          <a:p>
            <a:pPr>
              <a:lnSpc>
                <a:spcPct val="150000"/>
              </a:lnSpc>
            </a:pPr>
            <a:r>
              <a:rPr kumimoji="1" lang="zh-CN" altLang="en-US" sz="1600" b="1" dirty="0">
                <a:latin typeface="Microsoft YaHei" panose="020B0503020204020204" pitchFamily="34" charset="-122"/>
                <a:ea typeface="Microsoft YaHei" panose="020B0503020204020204" pitchFamily="34" charset="-122"/>
              </a:rPr>
              <a:t>飞机脉动装配线特征</a:t>
            </a:r>
            <a:endParaRPr kumimoji="1" lang="en-US" altLang="zh-CN" sz="1600" b="1" dirty="0">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pPr>
            <a:r>
              <a:rPr kumimoji="1" lang="zh-CN" altLang="en-US" sz="1400" dirty="0">
                <a:latin typeface="Microsoft YaHei" panose="020B0503020204020204" pitchFamily="34" charset="-122"/>
                <a:ea typeface="Microsoft YaHei" panose="020B0503020204020204" pitchFamily="34" charset="-122"/>
              </a:rPr>
              <a:t>紧前约束稀疏</a:t>
            </a:r>
            <a:endParaRPr kumimoji="1" lang="en-US" altLang="zh-CN" sz="1400" dirty="0">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pPr>
            <a:r>
              <a:rPr kumimoji="1" lang="zh-CN" altLang="en-US" sz="1400" dirty="0">
                <a:latin typeface="Microsoft YaHei" panose="020B0503020204020204" pitchFamily="34" charset="-122"/>
                <a:ea typeface="Microsoft YaHei" panose="020B0503020204020204" pitchFamily="34" charset="-122"/>
              </a:rPr>
              <a:t>手工装配工序占比高</a:t>
            </a:r>
            <a:endParaRPr kumimoji="1" lang="en-US" altLang="zh-CN" sz="1400" dirty="0">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pPr>
            <a:r>
              <a:rPr kumimoji="1" lang="zh-CN" altLang="en-US" sz="1400" dirty="0">
                <a:latin typeface="Microsoft YaHei" panose="020B0503020204020204" pitchFamily="34" charset="-122"/>
                <a:ea typeface="Microsoft YaHei" panose="020B0503020204020204" pitchFamily="34" charset="-122"/>
              </a:rPr>
              <a:t>试制与批产并存</a:t>
            </a:r>
            <a:endParaRPr kumimoji="1" lang="en-US" altLang="zh-CN" sz="1400" dirty="0">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pPr>
            <a:r>
              <a:rPr kumimoji="1" lang="zh-CN" altLang="en-US" sz="1400" dirty="0">
                <a:latin typeface="Microsoft YaHei" panose="020B0503020204020204" pitchFamily="34" charset="-122"/>
                <a:ea typeface="Microsoft YaHei" panose="020B0503020204020204" pitchFamily="34" charset="-122"/>
              </a:rPr>
              <a:t>多型号共线</a:t>
            </a:r>
            <a:endParaRPr kumimoji="1" lang="en-US" altLang="zh-CN" sz="1400" dirty="0">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pPr>
            <a:r>
              <a:rPr kumimoji="1" lang="zh-CN" altLang="en-US" sz="1400" dirty="0">
                <a:latin typeface="Microsoft YaHei" panose="020B0503020204020204" pitchFamily="34" charset="-122"/>
                <a:ea typeface="Microsoft YaHei" panose="020B0503020204020204" pitchFamily="34" charset="-122"/>
              </a:rPr>
              <a:t>物料约束</a:t>
            </a:r>
            <a:endParaRPr kumimoji="1" lang="en-US" altLang="zh-CN" sz="1400" dirty="0">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pPr>
            <a:r>
              <a:rPr kumimoji="1" lang="en-US" altLang="zh-CN" sz="1400" dirty="0">
                <a:latin typeface="Microsoft YaHei" panose="020B0503020204020204" pitchFamily="34" charset="-122"/>
                <a:ea typeface="Microsoft YaHei" panose="020B0503020204020204" pitchFamily="34" charset="-122"/>
              </a:rPr>
              <a:t>…</a:t>
            </a:r>
          </a:p>
        </p:txBody>
      </p:sp>
      <p:sp>
        <p:nvSpPr>
          <p:cNvPr id="4" name="文本框 3">
            <a:extLst>
              <a:ext uri="{FF2B5EF4-FFF2-40B4-BE49-F238E27FC236}">
                <a16:creationId xmlns:a16="http://schemas.microsoft.com/office/drawing/2014/main" id="{24313D70-F614-FC6C-DA58-8ED40F5B6906}"/>
              </a:ext>
            </a:extLst>
          </p:cNvPr>
          <p:cNvSpPr txBox="1"/>
          <p:nvPr/>
        </p:nvSpPr>
        <p:spPr>
          <a:xfrm>
            <a:off x="9017885" y="3270435"/>
            <a:ext cx="3234163" cy="2362570"/>
          </a:xfrm>
          <a:prstGeom prst="rect">
            <a:avLst/>
          </a:prstGeom>
          <a:noFill/>
        </p:spPr>
        <p:txBody>
          <a:bodyPr wrap="square" rtlCol="0">
            <a:spAutoFit/>
          </a:bodyPr>
          <a:lstStyle/>
          <a:p>
            <a:pPr>
              <a:lnSpc>
                <a:spcPct val="150000"/>
              </a:lnSpc>
            </a:pPr>
            <a:r>
              <a:rPr kumimoji="1" lang="zh-CN" altLang="en-US" sz="1600" b="1" dirty="0">
                <a:latin typeface="Microsoft YaHei" panose="020B0503020204020204" pitchFamily="34" charset="-122"/>
                <a:ea typeface="Microsoft YaHei" panose="020B0503020204020204" pitchFamily="34" charset="-122"/>
              </a:rPr>
              <a:t>动态挑战</a:t>
            </a:r>
            <a:endParaRPr kumimoji="1" lang="en-US" altLang="zh-CN" sz="1600" b="1" dirty="0">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pPr>
            <a:r>
              <a:rPr kumimoji="1" lang="zh-CN" altLang="en-US" sz="1400" dirty="0">
                <a:latin typeface="Microsoft YaHei" panose="020B0503020204020204" pitchFamily="34" charset="-122"/>
                <a:ea typeface="Microsoft YaHei" panose="020B0503020204020204" pitchFamily="34" charset="-122"/>
              </a:rPr>
              <a:t>工序的装配时间波动</a:t>
            </a:r>
            <a:endParaRPr kumimoji="1" lang="en-US" altLang="zh-CN" sz="1400" dirty="0">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pPr>
            <a:r>
              <a:rPr kumimoji="1" lang="zh-CN" altLang="en-US" sz="1400" dirty="0">
                <a:latin typeface="Microsoft YaHei" panose="020B0503020204020204" pitchFamily="34" charset="-122"/>
                <a:ea typeface="Microsoft YaHei" panose="020B0503020204020204" pitchFamily="34" charset="-122"/>
              </a:rPr>
              <a:t>人员技能差异、疲劳等因素</a:t>
            </a:r>
            <a:endParaRPr kumimoji="1" lang="en-US" altLang="zh-CN" sz="1400" dirty="0">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pPr>
            <a:r>
              <a:rPr kumimoji="1" lang="zh-CN" altLang="en-US" sz="1400" dirty="0">
                <a:latin typeface="Microsoft YaHei" panose="020B0503020204020204" pitchFamily="34" charset="-122"/>
                <a:ea typeface="Microsoft YaHei" panose="020B0503020204020204" pitchFamily="34" charset="-122"/>
              </a:rPr>
              <a:t>装配设备老化、故障等</a:t>
            </a:r>
            <a:endParaRPr kumimoji="1" lang="en-US" altLang="zh-CN" sz="1400" dirty="0">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pPr>
            <a:r>
              <a:rPr kumimoji="1" lang="zh-CN" altLang="en-US" sz="1400" dirty="0">
                <a:latin typeface="Microsoft YaHei" panose="020B0503020204020204" pitchFamily="34" charset="-122"/>
                <a:ea typeface="Microsoft YaHei" panose="020B0503020204020204" pitchFamily="34" charset="-122"/>
              </a:rPr>
              <a:t>物料到达变更、质量缺陷返工等</a:t>
            </a:r>
            <a:endParaRPr kumimoji="1" lang="en-US" altLang="zh-CN" sz="1400" dirty="0">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pPr>
            <a:r>
              <a:rPr kumimoji="1" lang="zh-CN" altLang="en-US" sz="1400" dirty="0">
                <a:latin typeface="Microsoft YaHei" panose="020B0503020204020204" pitchFamily="34" charset="-122"/>
                <a:ea typeface="Microsoft YaHei" panose="020B0503020204020204" pitchFamily="34" charset="-122"/>
              </a:rPr>
              <a:t>产品换型、工艺变更</a:t>
            </a:r>
            <a:endParaRPr kumimoji="1" lang="en-US" altLang="zh-CN" sz="1400" dirty="0">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pPr>
            <a:r>
              <a:rPr kumimoji="1" lang="en-US" altLang="zh-CN" sz="1400" dirty="0">
                <a:latin typeface="Microsoft YaHei" panose="020B0503020204020204" pitchFamily="34" charset="-122"/>
                <a:ea typeface="Microsoft YaHei" panose="020B0503020204020204" pitchFamily="34" charset="-122"/>
              </a:rPr>
              <a:t>…</a:t>
            </a:r>
          </a:p>
        </p:txBody>
      </p:sp>
      <p:sp>
        <p:nvSpPr>
          <p:cNvPr id="14" name="文本框 13">
            <a:extLst>
              <a:ext uri="{FF2B5EF4-FFF2-40B4-BE49-F238E27FC236}">
                <a16:creationId xmlns:a16="http://schemas.microsoft.com/office/drawing/2014/main" id="{5B822AB5-32F5-73AA-DA9A-7AB077072372}"/>
              </a:ext>
            </a:extLst>
          </p:cNvPr>
          <p:cNvSpPr txBox="1"/>
          <p:nvPr/>
        </p:nvSpPr>
        <p:spPr>
          <a:xfrm>
            <a:off x="6109102" y="5613813"/>
            <a:ext cx="6051726" cy="584775"/>
          </a:xfrm>
          <a:prstGeom prst="rect">
            <a:avLst/>
          </a:prstGeom>
          <a:noFill/>
        </p:spPr>
        <p:txBody>
          <a:bodyPr wrap="square">
            <a:spAutoFit/>
          </a:bodyPr>
          <a:lstStyle/>
          <a:p>
            <a:r>
              <a:rPr lang="zh-CN" altLang="zh-CN" sz="1600" b="1" dirty="0">
                <a:latin typeface="微软雅黑" panose="020B0503020204020204" charset="-122"/>
                <a:ea typeface="微软雅黑" panose="020B0503020204020204" charset="-122"/>
              </a:rPr>
              <a:t>当前，如何在复杂场景</a:t>
            </a:r>
            <a:r>
              <a:rPr lang="zh-CN" altLang="en-US" sz="1600" b="1" dirty="0">
                <a:latin typeface="微软雅黑" panose="020B0503020204020204" charset="-122"/>
                <a:ea typeface="微软雅黑" panose="020B0503020204020204" charset="-122"/>
              </a:rPr>
              <a:t>与动态挑战</a:t>
            </a:r>
            <a:r>
              <a:rPr lang="zh-CN" altLang="zh-CN" sz="1600" b="1" dirty="0">
                <a:latin typeface="微软雅黑" panose="020B0503020204020204" charset="-122"/>
                <a:ea typeface="微软雅黑" panose="020B0503020204020204" charset="-122"/>
              </a:rPr>
              <a:t>下</a:t>
            </a:r>
            <a:r>
              <a:rPr lang="zh-CN" altLang="en-US" sz="1600" b="1" dirty="0">
                <a:latin typeface="微软雅黑" panose="020B0503020204020204" charset="-122"/>
                <a:ea typeface="微软雅黑" panose="020B0503020204020204" charset="-122"/>
              </a:rPr>
              <a:t>提高生产质量并构建面向不确定性的高效调度机制，</a:t>
            </a:r>
            <a:r>
              <a:rPr lang="zh-CN" altLang="zh-CN" sz="1600" b="1" dirty="0">
                <a:solidFill>
                  <a:srgbClr val="C00000"/>
                </a:solidFill>
                <a:latin typeface="微软雅黑" panose="020B0503020204020204" charset="-122"/>
                <a:ea typeface="微软雅黑" panose="020B0503020204020204" charset="-122"/>
              </a:rPr>
              <a:t>成为飞机制造业亟待解决的关键问题</a:t>
            </a:r>
            <a:r>
              <a:rPr lang="zh-CN" altLang="zh-CN" sz="1600" b="1" dirty="0">
                <a:latin typeface="微软雅黑" panose="020B0503020204020204" charset="-122"/>
                <a:ea typeface="微软雅黑" panose="020B0503020204020204" charset="-122"/>
              </a:rPr>
              <a:t>。</a:t>
            </a:r>
            <a:endParaRPr lang="zh-CN" altLang="en-US" sz="1600" b="1" dirty="0">
              <a:latin typeface="微软雅黑" panose="020B0503020204020204" charset="-122"/>
              <a:ea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B60D6-4F3D-A25D-1289-C92418BC74E8}"/>
            </a:ext>
          </a:extLst>
        </p:cNvPr>
        <p:cNvGrpSpPr/>
        <p:nvPr/>
      </p:nvGrpSpPr>
      <p:grpSpPr>
        <a:xfrm>
          <a:off x="0" y="0"/>
          <a:ext cx="0" cy="0"/>
          <a:chOff x="0" y="0"/>
          <a:chExt cx="0" cy="0"/>
        </a:xfrm>
      </p:grpSpPr>
      <p:sp>
        <p:nvSpPr>
          <p:cNvPr id="1048601" name="稻壳儿小白白(http://dwz.cn/Wu2UP)">
            <a:extLst>
              <a:ext uri="{FF2B5EF4-FFF2-40B4-BE49-F238E27FC236}">
                <a16:creationId xmlns:a16="http://schemas.microsoft.com/office/drawing/2014/main" id="{9DC54050-EB34-2286-5A0E-05505EA2F19D}"/>
              </a:ext>
            </a:extLst>
          </p:cNvPr>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54" name="图片 17">
            <a:extLst>
              <a:ext uri="{FF2B5EF4-FFF2-40B4-BE49-F238E27FC236}">
                <a16:creationId xmlns:a16="http://schemas.microsoft.com/office/drawing/2014/main" id="{D4112F15-872D-0816-D91B-1E8BD2A1892D}"/>
              </a:ext>
            </a:extLst>
          </p:cNvPr>
          <p:cNvPicPr>
            <a:picLocks noChangeAspect="1"/>
          </p:cNvPicPr>
          <p:nvPr/>
        </p:nvPicPr>
        <p:blipFill rotWithShape="1">
          <a:blip r:embed="rId6" cstate="print"/>
          <a:srcRect r="855"/>
          <a:stretch>
            <a:fillRect/>
          </a:stretch>
        </p:blipFill>
        <p:spPr>
          <a:xfrm>
            <a:off x="10301625" y="20910"/>
            <a:ext cx="1809525" cy="526143"/>
          </a:xfrm>
          <a:prstGeom prst="rect">
            <a:avLst/>
          </a:prstGeom>
        </p:spPr>
      </p:pic>
      <p:sp>
        <p:nvSpPr>
          <p:cNvPr id="1048602" name="标题 1">
            <a:extLst>
              <a:ext uri="{FF2B5EF4-FFF2-40B4-BE49-F238E27FC236}">
                <a16:creationId xmlns:a16="http://schemas.microsoft.com/office/drawing/2014/main" id="{1507497E-F753-93D5-198E-86E55B9A5015}"/>
              </a:ext>
            </a:extLst>
          </p:cNvPr>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1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研究背景</a:t>
            </a:r>
          </a:p>
        </p:txBody>
      </p:sp>
      <p:sp>
        <p:nvSpPr>
          <p:cNvPr id="1048603" name="矩形 8">
            <a:extLst>
              <a:ext uri="{FF2B5EF4-FFF2-40B4-BE49-F238E27FC236}">
                <a16:creationId xmlns:a16="http://schemas.microsoft.com/office/drawing/2014/main" id="{373E8CB4-F64F-81D1-173D-2785941B4998}"/>
              </a:ext>
            </a:extLst>
          </p:cNvPr>
          <p:cNvSpPr/>
          <p:nvPr>
            <p:custDataLst>
              <p:tags r:id="rId1"/>
            </p:custDataLst>
          </p:nvPr>
        </p:nvSpPr>
        <p:spPr>
          <a:xfrm>
            <a:off x="145084" y="775442"/>
            <a:ext cx="11839487" cy="409074"/>
          </a:xfrm>
          <a:prstGeom prst="rect">
            <a:avLst/>
          </a:prstGeom>
          <a:solidFill>
            <a:schemeClr val="accent1"/>
          </a:solidFill>
          <a:ln w="28575" cmpd="sng">
            <a:solidFill>
              <a:schemeClr val="accent1">
                <a:shade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t>考虑返工的飞机脉动装配线调度</a:t>
            </a:r>
            <a:endParaRPr lang="zh-CN" altLang="en-US" sz="2400" b="1" dirty="0">
              <a:solidFill>
                <a:schemeClr val="bg1"/>
              </a:solidFill>
              <a:latin typeface="微软雅黑" panose="020B0503020204020204" charset="-122"/>
              <a:ea typeface="微软雅黑" panose="020B0503020204020204" charset="-122"/>
            </a:endParaRPr>
          </a:p>
        </p:txBody>
      </p:sp>
      <p:pic>
        <p:nvPicPr>
          <p:cNvPr id="2097155" name="图形 9" descr="纸飞机">
            <a:extLst>
              <a:ext uri="{FF2B5EF4-FFF2-40B4-BE49-F238E27FC236}">
                <a16:creationId xmlns:a16="http://schemas.microsoft.com/office/drawing/2014/main" id="{FED63241-7D75-447F-C6D3-606340143381}"/>
              </a:ext>
            </a:extLst>
          </p:cNvPr>
          <p:cNvPicPr>
            <a:picLocks noChangeAspect="1"/>
          </p:cNvPicPr>
          <p:nvPr>
            <p:custDataLst>
              <p:tags r:id="rId2"/>
            </p:custDataLst>
          </p:nvPr>
        </p:nvPicPr>
        <p:blipFill>
          <a:blip r:embed="rId7"/>
          <a:stretch>
            <a:fillRect/>
          </a:stretch>
        </p:blipFill>
        <p:spPr>
          <a:xfrm>
            <a:off x="276661" y="751379"/>
            <a:ext cx="457200" cy="457200"/>
          </a:xfrm>
          <a:prstGeom prst="rect">
            <a:avLst/>
          </a:prstGeom>
        </p:spPr>
      </p:pic>
      <p:sp>
        <p:nvSpPr>
          <p:cNvPr id="1048604" name="矩形 82">
            <a:extLst>
              <a:ext uri="{FF2B5EF4-FFF2-40B4-BE49-F238E27FC236}">
                <a16:creationId xmlns:a16="http://schemas.microsoft.com/office/drawing/2014/main" id="{12754123-E4A7-8244-57BF-2941FC8F4AE9}"/>
              </a:ext>
            </a:extLst>
          </p:cNvPr>
          <p:cNvSpPr/>
          <p:nvPr/>
        </p:nvSpPr>
        <p:spPr>
          <a:xfrm>
            <a:off x="2356746" y="1616667"/>
            <a:ext cx="9186208" cy="1170940"/>
          </a:xfrm>
          <a:prstGeom prst="rect">
            <a:avLst/>
          </a:prstGeom>
          <a:noFill/>
          <a:ln>
            <a:noFill/>
          </a:ln>
        </p:spPr>
        <p:txBody>
          <a:bodyPr wrap="square" lIns="121917" tIns="60958" rIns="121917" bIns="60958" anchor="ctr" anchorCtr="0">
            <a:noAutofit/>
          </a:bodyPr>
          <a:lstStyle/>
          <a:p>
            <a:pPr algn="just">
              <a:lnSpc>
                <a:spcPct val="150000"/>
              </a:lnSpc>
            </a:pPr>
            <a:r>
              <a:rPr lang="zh-CN" altLang="en-US" sz="1600" b="1" dirty="0">
                <a:solidFill>
                  <a:srgbClr val="0C4994"/>
                </a:solidFill>
                <a:latin typeface="Times New Roman" panose="02020603050405020304" pitchFamily="18" charset="0"/>
                <a:ea typeface="微软雅黑" panose="020B0503020204020204" charset="-122"/>
                <a:cs typeface="Times New Roman" panose="02020603050405020304" pitchFamily="18" charset="0"/>
              </a:rPr>
              <a:t>在脉动装配中，</a:t>
            </a:r>
            <a:r>
              <a:rPr lang="zh-CN" altLang="en-US" sz="1600" b="1" dirty="0">
                <a:solidFill>
                  <a:srgbClr val="C00000"/>
                </a:solidFill>
                <a:latin typeface="Times New Roman" panose="02020603050405020304" pitchFamily="18" charset="0"/>
                <a:ea typeface="微软雅黑" panose="020B0503020204020204" charset="-122"/>
                <a:cs typeface="Times New Roman" panose="02020603050405020304" pitchFamily="18" charset="0"/>
              </a:rPr>
              <a:t>质量缺陷</a:t>
            </a:r>
            <a:r>
              <a:rPr lang="zh-CN" altLang="en-US" sz="1600" b="1" dirty="0">
                <a:solidFill>
                  <a:srgbClr val="0C4994"/>
                </a:solidFill>
                <a:latin typeface="Times New Roman" panose="02020603050405020304" pitchFamily="18" charset="0"/>
                <a:ea typeface="微软雅黑" panose="020B0503020204020204" charset="-122"/>
                <a:cs typeface="Times New Roman" panose="02020603050405020304" pitchFamily="18" charset="0"/>
              </a:rPr>
              <a:t>并非偶发噪声，而是由工序复杂度、工人熟练度与疲劳等人因工艺因素共同导致；对部分需要人</a:t>
            </a:r>
            <a:r>
              <a:rPr lang="en-US" altLang="zh-CN" sz="1600" b="1" dirty="0">
                <a:solidFill>
                  <a:srgbClr val="0C4994"/>
                </a:solidFill>
                <a:latin typeface="Times New Roman" panose="02020603050405020304" pitchFamily="18" charset="0"/>
                <a:ea typeface="微软雅黑" panose="020B0503020204020204" charset="-122"/>
                <a:cs typeface="Times New Roman" panose="02020603050405020304" pitchFamily="18" charset="0"/>
              </a:rPr>
              <a:t>–</a:t>
            </a:r>
            <a:r>
              <a:rPr lang="zh-CN" altLang="en-US" sz="1600" b="1" dirty="0">
                <a:solidFill>
                  <a:srgbClr val="0C4994"/>
                </a:solidFill>
                <a:latin typeface="Times New Roman" panose="02020603050405020304" pitchFamily="18" charset="0"/>
                <a:ea typeface="微软雅黑" panose="020B0503020204020204" charset="-122"/>
                <a:cs typeface="Times New Roman" panose="02020603050405020304" pitchFamily="18" charset="0"/>
              </a:rPr>
              <a:t>机协同的工序而言，设备退化会进一步放大缺陷风险。在</a:t>
            </a:r>
            <a:r>
              <a:rPr lang="zh-CN" altLang="en-US" sz="1600" b="1" dirty="0">
                <a:solidFill>
                  <a:srgbClr val="C00000"/>
                </a:solidFill>
              </a:rPr>
              <a:t>飞机装配</a:t>
            </a:r>
            <a:r>
              <a:rPr lang="zh-CN" altLang="en-US" sz="1600" b="1" dirty="0">
                <a:solidFill>
                  <a:srgbClr val="0C4994"/>
                </a:solidFill>
                <a:latin typeface="Times New Roman" panose="02020603050405020304" pitchFamily="18" charset="0"/>
                <a:ea typeface="微软雅黑" panose="020B0503020204020204" charset="-122"/>
                <a:cs typeface="Times New Roman" panose="02020603050405020304" pitchFamily="18" charset="0"/>
              </a:rPr>
              <a:t>这一零部件成本高、</a:t>
            </a:r>
            <a:r>
              <a:rPr lang="zh-CN" altLang="en-US" sz="1600" b="1" dirty="0">
                <a:solidFill>
                  <a:srgbClr val="C00000"/>
                </a:solidFill>
              </a:rPr>
              <a:t>报废受限</a:t>
            </a:r>
            <a:r>
              <a:rPr lang="zh-CN" altLang="en-US" sz="1600" b="1" dirty="0">
                <a:solidFill>
                  <a:srgbClr val="0C4994"/>
                </a:solidFill>
                <a:latin typeface="Times New Roman" panose="02020603050405020304" pitchFamily="18" charset="0"/>
                <a:ea typeface="微软雅黑" panose="020B0503020204020204" charset="-122"/>
                <a:cs typeface="Times New Roman" panose="02020603050405020304" pitchFamily="18" charset="0"/>
              </a:rPr>
              <a:t>的场景下</a:t>
            </a:r>
            <a:r>
              <a:rPr lang="zh-CN" altLang="en-US" sz="1600" dirty="0"/>
              <a:t>，</a:t>
            </a:r>
            <a:r>
              <a:rPr lang="zh-CN" altLang="en-US" sz="1600" b="1" dirty="0">
                <a:solidFill>
                  <a:srgbClr val="C00000"/>
                </a:solidFill>
              </a:rPr>
              <a:t>返工</a:t>
            </a:r>
            <a:r>
              <a:rPr lang="zh-CN" altLang="en-US" sz="1600" b="1" dirty="0">
                <a:solidFill>
                  <a:srgbClr val="0C4994"/>
                </a:solidFill>
                <a:latin typeface="Times New Roman" panose="02020603050405020304" pitchFamily="18" charset="0"/>
                <a:ea typeface="微软雅黑" panose="020B0503020204020204" charset="-122"/>
                <a:cs typeface="Times New Roman" panose="02020603050405020304" pitchFamily="18" charset="0"/>
              </a:rPr>
              <a:t>成为处理产品缺陷的主要手段。</a:t>
            </a:r>
            <a:endParaRPr lang="en-US" altLang="zh-CN" sz="1600" b="1" dirty="0">
              <a:solidFill>
                <a:srgbClr val="0C4994"/>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48605" name="圆角矩形 85">
            <a:extLst>
              <a:ext uri="{FF2B5EF4-FFF2-40B4-BE49-F238E27FC236}">
                <a16:creationId xmlns:a16="http://schemas.microsoft.com/office/drawing/2014/main" id="{497EC942-A628-747E-3CEE-2504C2AED24F}"/>
              </a:ext>
            </a:extLst>
          </p:cNvPr>
          <p:cNvSpPr/>
          <p:nvPr/>
        </p:nvSpPr>
        <p:spPr>
          <a:xfrm>
            <a:off x="1560830" y="1604010"/>
            <a:ext cx="832485" cy="1167130"/>
          </a:xfrm>
          <a:prstGeom prst="round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b="1" dirty="0">
              <a:latin typeface="Times New Roman" panose="02020603050405020304" pitchFamily="18" charset="0"/>
              <a:ea typeface="微软雅黑" panose="020B0503020204020204" charset="-122"/>
              <a:cs typeface="Times New Roman" panose="02020603050405020304" pitchFamily="18" charset="0"/>
            </a:endParaRPr>
          </a:p>
        </p:txBody>
      </p:sp>
      <p:sp>
        <p:nvSpPr>
          <p:cNvPr id="1048606" name="圆角矩形 86">
            <a:extLst>
              <a:ext uri="{FF2B5EF4-FFF2-40B4-BE49-F238E27FC236}">
                <a16:creationId xmlns:a16="http://schemas.microsoft.com/office/drawing/2014/main" id="{14BB8CFD-490F-601B-4BB0-F0C872893915}"/>
              </a:ext>
            </a:extLst>
          </p:cNvPr>
          <p:cNvSpPr/>
          <p:nvPr/>
        </p:nvSpPr>
        <p:spPr>
          <a:xfrm>
            <a:off x="526415" y="1546336"/>
            <a:ext cx="743585" cy="2871470"/>
          </a:xfrm>
          <a:prstGeom prst="round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r>
              <a:rPr lang="zh-CN" altLang="en-US" b="1" dirty="0">
                <a:latin typeface="Times New Roman" panose="02020603050405020304" pitchFamily="18" charset="0"/>
                <a:ea typeface="微软雅黑" panose="020B0503020204020204" charset="-122"/>
                <a:cs typeface="Times New Roman" panose="02020603050405020304" pitchFamily="18" charset="0"/>
              </a:rPr>
              <a:t>飞机脉动装配生产调度</a:t>
            </a:r>
          </a:p>
        </p:txBody>
      </p:sp>
      <p:sp>
        <p:nvSpPr>
          <p:cNvPr id="1048607" name="左大括号 88">
            <a:extLst>
              <a:ext uri="{FF2B5EF4-FFF2-40B4-BE49-F238E27FC236}">
                <a16:creationId xmlns:a16="http://schemas.microsoft.com/office/drawing/2014/main" id="{748A0044-9FF1-B9AB-A225-0D6AC6587D0D}"/>
              </a:ext>
            </a:extLst>
          </p:cNvPr>
          <p:cNvSpPr/>
          <p:nvPr/>
        </p:nvSpPr>
        <p:spPr>
          <a:xfrm>
            <a:off x="1268095" y="2058670"/>
            <a:ext cx="301625" cy="1838960"/>
          </a:xfrm>
          <a:prstGeom prst="leftBrace">
            <a:avLst>
              <a:gd name="adj1" fmla="val 47767"/>
              <a:gd name="adj2" fmla="val 50000"/>
            </a:avLst>
          </a:prstGeom>
          <a:ln w="19050">
            <a:solidFill>
              <a:srgbClr val="5B9BD5"/>
            </a:solidFill>
          </a:ln>
        </p:spPr>
        <p:style>
          <a:lnRef idx="1">
            <a:schemeClr val="accent1"/>
          </a:lnRef>
          <a:fillRef idx="0">
            <a:schemeClr val="accent1"/>
          </a:fillRef>
          <a:effectRef idx="0">
            <a:schemeClr val="accent1"/>
          </a:effectRef>
          <a:fontRef idx="minor">
            <a:schemeClr val="tx1"/>
          </a:fontRef>
        </p:style>
        <p:txBody>
          <a:bodyPr lIns="121917" tIns="60958" rIns="121917" bIns="60958"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48608" name="圆角矩形 89">
            <a:extLst>
              <a:ext uri="{FF2B5EF4-FFF2-40B4-BE49-F238E27FC236}">
                <a16:creationId xmlns:a16="http://schemas.microsoft.com/office/drawing/2014/main" id="{C8B2C062-8F15-5A11-03C5-7FBDCA4B390E}"/>
              </a:ext>
            </a:extLst>
          </p:cNvPr>
          <p:cNvSpPr/>
          <p:nvPr/>
        </p:nvSpPr>
        <p:spPr>
          <a:xfrm>
            <a:off x="2273299" y="1602740"/>
            <a:ext cx="9269655" cy="1174750"/>
          </a:xfrm>
          <a:prstGeom prst="roundRect">
            <a:avLst/>
          </a:prstGeom>
          <a:noFill/>
          <a:ln w="22225">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b="1" dirty="0">
              <a:latin typeface="Times New Roman" panose="02020603050405020304" pitchFamily="18" charset="0"/>
              <a:ea typeface="微软雅黑" panose="020B0503020204020204" charset="-122"/>
              <a:cs typeface="Times New Roman" panose="02020603050405020304" pitchFamily="18" charset="0"/>
            </a:endParaRPr>
          </a:p>
        </p:txBody>
      </p:sp>
      <p:sp>
        <p:nvSpPr>
          <p:cNvPr id="1048609" name="矩形 90">
            <a:extLst>
              <a:ext uri="{FF2B5EF4-FFF2-40B4-BE49-F238E27FC236}">
                <a16:creationId xmlns:a16="http://schemas.microsoft.com/office/drawing/2014/main" id="{6E11492F-CD4D-EC6B-C9C2-14BA906CC07B}"/>
              </a:ext>
            </a:extLst>
          </p:cNvPr>
          <p:cNvSpPr/>
          <p:nvPr/>
        </p:nvSpPr>
        <p:spPr>
          <a:xfrm>
            <a:off x="2410459" y="3276600"/>
            <a:ext cx="9225839" cy="776300"/>
          </a:xfrm>
          <a:prstGeom prst="rect">
            <a:avLst/>
          </a:prstGeom>
        </p:spPr>
        <p:txBody>
          <a:bodyPr wrap="square" lIns="121917" tIns="60958" rIns="121917" bIns="60958" anchor="ctr" anchorCtr="0">
            <a:noAutofit/>
          </a:bodyPr>
          <a:lstStyle/>
          <a:p>
            <a:pPr algn="just">
              <a:lnSpc>
                <a:spcPct val="150000"/>
              </a:lnSpc>
            </a:pPr>
            <a:r>
              <a:rPr lang="zh-CN" altLang="en-US" sz="1600" b="1" dirty="0">
                <a:solidFill>
                  <a:srgbClr val="000F82"/>
                </a:solidFill>
                <a:latin typeface="微软雅黑" panose="020B0503020204020204" charset="-122"/>
                <a:ea typeface="微软雅黑" panose="020B0503020204020204" charset="-122"/>
              </a:rPr>
              <a:t>脉动装配的</a:t>
            </a:r>
            <a:r>
              <a:rPr lang="zh-CN" altLang="en-US" sz="1600" b="1" dirty="0">
                <a:solidFill>
                  <a:srgbClr val="C00000"/>
                </a:solidFill>
                <a:latin typeface="微软雅黑" panose="020B0503020204020204" charset="-122"/>
                <a:ea typeface="微软雅黑" panose="020B0503020204020204" charset="-122"/>
              </a:rPr>
              <a:t>调度与返工呈双向耦合</a:t>
            </a:r>
            <a:r>
              <a:rPr lang="zh-CN" altLang="en-US" sz="1600" b="1" dirty="0">
                <a:solidFill>
                  <a:srgbClr val="000F82"/>
                </a:solidFill>
                <a:latin typeface="微软雅黑" panose="020B0503020204020204" charset="-122"/>
                <a:ea typeface="微软雅黑" panose="020B0503020204020204" charset="-122"/>
              </a:rPr>
              <a:t>：如何工序分配，派遣不同熟练度、疲劳度的工人，分配不同劣化程度的机器都会</a:t>
            </a:r>
            <a:r>
              <a:rPr lang="zh-CN" altLang="en-US" sz="1600" b="1" dirty="0">
                <a:solidFill>
                  <a:srgbClr val="C00000"/>
                </a:solidFill>
                <a:latin typeface="微软雅黑" panose="020B0503020204020204" charset="-122"/>
                <a:ea typeface="微软雅黑" panose="020B0503020204020204" charset="-122"/>
              </a:rPr>
              <a:t>影响到加工的质量</a:t>
            </a:r>
            <a:r>
              <a:rPr lang="zh-CN" altLang="en-US" sz="1600" b="1" dirty="0">
                <a:solidFill>
                  <a:srgbClr val="000F82"/>
                </a:solidFill>
                <a:latin typeface="微软雅黑" panose="020B0503020204020204" charset="-122"/>
                <a:ea typeface="微软雅黑" panose="020B0503020204020204" charset="-122"/>
              </a:rPr>
              <a:t>；反过来质量缺陷带来的返工又会</a:t>
            </a:r>
            <a:r>
              <a:rPr lang="zh-CN" altLang="en-US" sz="1600" b="1" dirty="0">
                <a:solidFill>
                  <a:srgbClr val="C00000"/>
                </a:solidFill>
                <a:latin typeface="微软雅黑" panose="020B0503020204020204" charset="-122"/>
                <a:ea typeface="微软雅黑" panose="020B0503020204020204" charset="-122"/>
              </a:rPr>
              <a:t>拖慢节拍</a:t>
            </a:r>
            <a:r>
              <a:rPr lang="zh-CN" altLang="en-US" sz="1600" b="1" dirty="0">
                <a:solidFill>
                  <a:srgbClr val="000F82"/>
                </a:solidFill>
                <a:latin typeface="微软雅黑" panose="020B0503020204020204" charset="-122"/>
                <a:ea typeface="微软雅黑" panose="020B0503020204020204" charset="-122"/>
              </a:rPr>
              <a:t>。仅把返工当外部噪声处理，调度策略很难稳定。</a:t>
            </a:r>
          </a:p>
        </p:txBody>
      </p:sp>
      <p:sp>
        <p:nvSpPr>
          <p:cNvPr id="1048610" name="圆角矩形 91">
            <a:extLst>
              <a:ext uri="{FF2B5EF4-FFF2-40B4-BE49-F238E27FC236}">
                <a16:creationId xmlns:a16="http://schemas.microsoft.com/office/drawing/2014/main" id="{847CC30E-1903-5BE2-135C-86F20A1D4597}"/>
              </a:ext>
            </a:extLst>
          </p:cNvPr>
          <p:cNvSpPr/>
          <p:nvPr/>
        </p:nvSpPr>
        <p:spPr>
          <a:xfrm>
            <a:off x="2317115" y="3096327"/>
            <a:ext cx="9225839" cy="1210338"/>
          </a:xfrm>
          <a:prstGeom prst="roundRect">
            <a:avLst/>
          </a:prstGeom>
          <a:noFill/>
          <a:ln w="22225">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b="1" dirty="0">
              <a:latin typeface="Times New Roman" panose="02020603050405020304" pitchFamily="18" charset="0"/>
              <a:ea typeface="微软雅黑" panose="020B0503020204020204" charset="-122"/>
              <a:cs typeface="Times New Roman" panose="02020603050405020304" pitchFamily="18" charset="0"/>
            </a:endParaRPr>
          </a:p>
        </p:txBody>
      </p:sp>
      <p:sp>
        <p:nvSpPr>
          <p:cNvPr id="1048613" name="圆角矩形 99">
            <a:extLst>
              <a:ext uri="{FF2B5EF4-FFF2-40B4-BE49-F238E27FC236}">
                <a16:creationId xmlns:a16="http://schemas.microsoft.com/office/drawing/2014/main" id="{4EBD5503-5F83-18BE-D569-7923641C6DC9}"/>
              </a:ext>
            </a:extLst>
          </p:cNvPr>
          <p:cNvSpPr/>
          <p:nvPr/>
        </p:nvSpPr>
        <p:spPr>
          <a:xfrm>
            <a:off x="384174" y="1456055"/>
            <a:ext cx="11427721" cy="3033395"/>
          </a:xfrm>
          <a:prstGeom prst="roundRect">
            <a:avLst>
              <a:gd name="adj" fmla="val 8503"/>
            </a:avLst>
          </a:prstGeom>
          <a:noFill/>
          <a:ln w="22225">
            <a:solidFill>
              <a:srgbClr val="5B9BD5"/>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48616" name="矩形 31">
            <a:extLst>
              <a:ext uri="{FF2B5EF4-FFF2-40B4-BE49-F238E27FC236}">
                <a16:creationId xmlns:a16="http://schemas.microsoft.com/office/drawing/2014/main" id="{3071AD88-5CA4-40AB-F020-300278ECBFA5}"/>
              </a:ext>
            </a:extLst>
          </p:cNvPr>
          <p:cNvSpPr/>
          <p:nvPr/>
        </p:nvSpPr>
        <p:spPr>
          <a:xfrm>
            <a:off x="1565910" y="1647190"/>
            <a:ext cx="838835" cy="1129665"/>
          </a:xfrm>
          <a:prstGeom prst="rect">
            <a:avLst/>
          </a:prstGeom>
        </p:spPr>
        <p:txBody>
          <a:bodyPr wrap="square" anchor="ctr" anchorCtr="0">
            <a:noAutofit/>
          </a:bodyPr>
          <a:lstStyle/>
          <a:p>
            <a:pPr algn="ctr"/>
            <a:r>
              <a:rPr lang="zh-CN" altLang="en-US" b="1" dirty="0">
                <a:solidFill>
                  <a:schemeClr val="bg1"/>
                </a:solidFill>
                <a:latin typeface="Times New Roman" panose="02020603050405020304" pitchFamily="18" charset="0"/>
                <a:ea typeface="微软雅黑" panose="020B0503020204020204" charset="-122"/>
                <a:cs typeface="Times New Roman" panose="02020603050405020304" pitchFamily="18" charset="0"/>
              </a:rPr>
              <a:t>质量与</a:t>
            </a:r>
            <a:endParaRPr lang="en-US" altLang="zh-CN" b="1" dirty="0">
              <a:solidFill>
                <a:schemeClr val="bg1"/>
              </a:solidFill>
              <a:latin typeface="Times New Roman" panose="02020603050405020304" pitchFamily="18" charset="0"/>
              <a:ea typeface="微软雅黑" panose="020B0503020204020204" charset="-122"/>
              <a:cs typeface="Times New Roman" panose="02020603050405020304" pitchFamily="18" charset="0"/>
            </a:endParaRPr>
          </a:p>
          <a:p>
            <a:pPr algn="ctr"/>
            <a:r>
              <a:rPr lang="zh-CN" altLang="en-US" b="1" dirty="0">
                <a:solidFill>
                  <a:schemeClr val="bg1"/>
                </a:solidFill>
                <a:latin typeface="Times New Roman" panose="02020603050405020304" pitchFamily="18" charset="0"/>
                <a:ea typeface="微软雅黑" panose="020B0503020204020204" charset="-122"/>
                <a:cs typeface="Times New Roman" panose="02020603050405020304" pitchFamily="18" charset="0"/>
              </a:rPr>
              <a:t>返工</a:t>
            </a:r>
          </a:p>
        </p:txBody>
      </p:sp>
      <p:sp>
        <p:nvSpPr>
          <p:cNvPr id="1048617" name="圆角矩形 145">
            <a:extLst>
              <a:ext uri="{FF2B5EF4-FFF2-40B4-BE49-F238E27FC236}">
                <a16:creationId xmlns:a16="http://schemas.microsoft.com/office/drawing/2014/main" id="{C0B57853-C099-041C-4A77-6288B50E981B}"/>
              </a:ext>
            </a:extLst>
          </p:cNvPr>
          <p:cNvSpPr/>
          <p:nvPr/>
        </p:nvSpPr>
        <p:spPr>
          <a:xfrm>
            <a:off x="1572260" y="3086209"/>
            <a:ext cx="832485" cy="1222901"/>
          </a:xfrm>
          <a:prstGeom prst="round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b="1" dirty="0">
              <a:latin typeface="Times New Roman" panose="02020603050405020304" pitchFamily="18" charset="0"/>
              <a:ea typeface="微软雅黑" panose="020B0503020204020204" charset="-122"/>
              <a:cs typeface="Times New Roman" panose="02020603050405020304" pitchFamily="18" charset="0"/>
            </a:endParaRPr>
          </a:p>
        </p:txBody>
      </p:sp>
      <p:sp>
        <p:nvSpPr>
          <p:cNvPr id="1048618" name="矩形 146">
            <a:extLst>
              <a:ext uri="{FF2B5EF4-FFF2-40B4-BE49-F238E27FC236}">
                <a16:creationId xmlns:a16="http://schemas.microsoft.com/office/drawing/2014/main" id="{BAE2BAD0-E29E-F4C8-083C-297D5B882DBD}"/>
              </a:ext>
            </a:extLst>
          </p:cNvPr>
          <p:cNvSpPr/>
          <p:nvPr/>
        </p:nvSpPr>
        <p:spPr>
          <a:xfrm>
            <a:off x="1569085" y="3239135"/>
            <a:ext cx="838835" cy="941070"/>
          </a:xfrm>
          <a:prstGeom prst="rect">
            <a:avLst/>
          </a:prstGeom>
        </p:spPr>
        <p:txBody>
          <a:bodyPr wrap="square" anchor="ctr" anchorCtr="0">
            <a:noAutofit/>
          </a:bodyPr>
          <a:lstStyle/>
          <a:p>
            <a:pPr algn="ctr"/>
            <a:r>
              <a:rPr lang="zh-CN" altLang="en-US" b="1" dirty="0">
                <a:solidFill>
                  <a:schemeClr val="bg1"/>
                </a:solidFill>
                <a:latin typeface="Times New Roman" panose="02020603050405020304" pitchFamily="18" charset="0"/>
                <a:ea typeface="微软雅黑" panose="020B0503020204020204" charset="-122"/>
                <a:cs typeface="Times New Roman" panose="02020603050405020304" pitchFamily="18" charset="0"/>
              </a:rPr>
              <a:t>返工与</a:t>
            </a:r>
          </a:p>
          <a:p>
            <a:pPr algn="ctr"/>
            <a:r>
              <a:rPr lang="zh-CN" altLang="en-US" b="1" dirty="0">
                <a:solidFill>
                  <a:schemeClr val="bg1"/>
                </a:solidFill>
                <a:latin typeface="Times New Roman" panose="02020603050405020304" pitchFamily="18" charset="0"/>
                <a:ea typeface="微软雅黑" panose="020B0503020204020204" charset="-122"/>
                <a:cs typeface="Times New Roman" panose="02020603050405020304" pitchFamily="18" charset="0"/>
              </a:rPr>
              <a:t>调度</a:t>
            </a:r>
          </a:p>
        </p:txBody>
      </p:sp>
      <p:sp>
        <p:nvSpPr>
          <p:cNvPr id="1048624" name="任意多边形: 形状 11">
            <a:extLst>
              <a:ext uri="{FF2B5EF4-FFF2-40B4-BE49-F238E27FC236}">
                <a16:creationId xmlns:a16="http://schemas.microsoft.com/office/drawing/2014/main" id="{A6153C76-089F-ABC5-081D-8F53C11AFA5E}"/>
              </a:ext>
            </a:extLst>
          </p:cNvPr>
          <p:cNvSpPr/>
          <p:nvPr/>
        </p:nvSpPr>
        <p:spPr>
          <a:xfrm flipV="1">
            <a:off x="5770934" y="4315701"/>
            <a:ext cx="587785" cy="448104"/>
          </a:xfrm>
          <a:custGeom>
            <a:avLst/>
            <a:gdLst>
              <a:gd name="connsiteX0" fmla="*/ 1829836 w 3659671"/>
              <a:gd name="connsiteY0" fmla="*/ 0 h 5221922"/>
              <a:gd name="connsiteX1" fmla="*/ 2744236 w 3659671"/>
              <a:gd name="connsiteY1" fmla="*/ 1025479 h 5221922"/>
              <a:gd name="connsiteX2" fmla="*/ 2186407 w 3659671"/>
              <a:gd name="connsiteY2" fmla="*/ 1025479 h 5221922"/>
              <a:gd name="connsiteX3" fmla="*/ 2185603 w 3659671"/>
              <a:gd name="connsiteY3" fmla="*/ 1093353 h 5221922"/>
              <a:gd name="connsiteX4" fmla="*/ 2727829 w 3659671"/>
              <a:gd name="connsiteY4" fmla="*/ 3563174 h 5221922"/>
              <a:gd name="connsiteX5" fmla="*/ 3563896 w 3659671"/>
              <a:gd name="connsiteY5" fmla="*/ 5096147 h 5221922"/>
              <a:gd name="connsiteX6" fmla="*/ 3659671 w 3659671"/>
              <a:gd name="connsiteY6" fmla="*/ 5221922 h 5221922"/>
              <a:gd name="connsiteX7" fmla="*/ 0 w 3659671"/>
              <a:gd name="connsiteY7" fmla="*/ 5221922 h 5221922"/>
              <a:gd name="connsiteX8" fmla="*/ 95777 w 3659671"/>
              <a:gd name="connsiteY8" fmla="*/ 5096145 h 5221922"/>
              <a:gd name="connsiteX9" fmla="*/ 931844 w 3659671"/>
              <a:gd name="connsiteY9" fmla="*/ 3563172 h 5221922"/>
              <a:gd name="connsiteX10" fmla="*/ 1474070 w 3659671"/>
              <a:gd name="connsiteY10" fmla="*/ 1093351 h 5221922"/>
              <a:gd name="connsiteX11" fmla="*/ 1473265 w 3659671"/>
              <a:gd name="connsiteY11" fmla="*/ 1025479 h 5221922"/>
              <a:gd name="connsiteX12" fmla="*/ 915436 w 3659671"/>
              <a:gd name="connsiteY12" fmla="*/ 1025479 h 5221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9671" h="5221922">
                <a:moveTo>
                  <a:pt x="1829836" y="0"/>
                </a:moveTo>
                <a:lnTo>
                  <a:pt x="2744236" y="1025479"/>
                </a:lnTo>
                <a:lnTo>
                  <a:pt x="2186407" y="1025479"/>
                </a:lnTo>
                <a:lnTo>
                  <a:pt x="2185603" y="1093353"/>
                </a:lnTo>
                <a:cubicBezTo>
                  <a:pt x="2203211" y="1854161"/>
                  <a:pt x="2380074" y="2708036"/>
                  <a:pt x="2727829" y="3563174"/>
                </a:cubicBezTo>
                <a:cubicBezTo>
                  <a:pt x="2959665" y="4133266"/>
                  <a:pt x="3245505" y="4649949"/>
                  <a:pt x="3563896" y="5096147"/>
                </a:cubicBezTo>
                <a:lnTo>
                  <a:pt x="3659671" y="5221922"/>
                </a:lnTo>
                <a:lnTo>
                  <a:pt x="0" y="5221922"/>
                </a:lnTo>
                <a:lnTo>
                  <a:pt x="95777" y="5096145"/>
                </a:lnTo>
                <a:cubicBezTo>
                  <a:pt x="414167" y="4649947"/>
                  <a:pt x="700007" y="4133264"/>
                  <a:pt x="931844" y="3563172"/>
                </a:cubicBezTo>
                <a:cubicBezTo>
                  <a:pt x="1279598" y="2708034"/>
                  <a:pt x="1456462" y="1854159"/>
                  <a:pt x="1474070" y="1093351"/>
                </a:cubicBezTo>
                <a:lnTo>
                  <a:pt x="1473265" y="1025479"/>
                </a:lnTo>
                <a:lnTo>
                  <a:pt x="915436" y="1025479"/>
                </a:lnTo>
                <a:close/>
              </a:path>
            </a:pathLst>
          </a:custGeom>
          <a:gradFill>
            <a:gsLst>
              <a:gs pos="0">
                <a:srgbClr val="5B9BD5"/>
              </a:gs>
              <a:gs pos="81000">
                <a:schemeClr val="bg1">
                  <a:alpha val="0"/>
                </a:schemeClr>
              </a:gs>
            </a:gsLst>
            <a:lin ang="54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Light" panose="020B0502040204020203" pitchFamily="34" charset="-122"/>
              <a:cs typeface="Times New Roman" panose="02020603050405020304" pitchFamily="18" charset="0"/>
            </a:endParaRPr>
          </a:p>
        </p:txBody>
      </p:sp>
      <p:grpSp>
        <p:nvGrpSpPr>
          <p:cNvPr id="43" name="组合 1">
            <a:extLst>
              <a:ext uri="{FF2B5EF4-FFF2-40B4-BE49-F238E27FC236}">
                <a16:creationId xmlns:a16="http://schemas.microsoft.com/office/drawing/2014/main" id="{F4B2CE36-4774-8BAF-EA2E-52AB3E11299B}"/>
              </a:ext>
            </a:extLst>
          </p:cNvPr>
          <p:cNvGrpSpPr/>
          <p:nvPr/>
        </p:nvGrpSpPr>
        <p:grpSpPr>
          <a:xfrm>
            <a:off x="2392711" y="4772841"/>
            <a:ext cx="7736026" cy="1800225"/>
            <a:chOff x="2586421" y="4365898"/>
            <a:chExt cx="7736026" cy="1800225"/>
          </a:xfrm>
        </p:grpSpPr>
        <p:sp>
          <p:nvSpPr>
            <p:cNvPr id="1048625" name="矩形: 圆角 447">
              <a:extLst>
                <a:ext uri="{FF2B5EF4-FFF2-40B4-BE49-F238E27FC236}">
                  <a16:creationId xmlns:a16="http://schemas.microsoft.com/office/drawing/2014/main" id="{6BFA4774-8E66-4FF2-910F-5BAF8AE85406}"/>
                </a:ext>
              </a:extLst>
            </p:cNvPr>
            <p:cNvSpPr/>
            <p:nvPr>
              <p:custDataLst>
                <p:tags r:id="rId3"/>
              </p:custDataLst>
            </p:nvPr>
          </p:nvSpPr>
          <p:spPr>
            <a:xfrm>
              <a:off x="2586421" y="4583703"/>
              <a:ext cx="7569835" cy="1582420"/>
            </a:xfrm>
            <a:prstGeom prst="roundRect">
              <a:avLst>
                <a:gd name="adj" fmla="val 6534"/>
              </a:avLst>
            </a:prstGeom>
            <a:solidFill>
              <a:schemeClr val="bg1"/>
            </a:solidFill>
            <a:ln w="12700">
              <a:solidFill>
                <a:schemeClr val="accent1"/>
              </a:solidFill>
            </a:ln>
            <a:effectLst>
              <a:outerShdw blurRad="127000" dist="50800" dir="2700000" algn="tl" rotWithShape="0">
                <a:srgbClr val="02377E">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400" b="1">
                <a:solidFill>
                  <a:schemeClr val="bg1"/>
                </a:solidFill>
                <a:latin typeface="Times New Roman" panose="02020603050405020304" pitchFamily="18" charset="0"/>
                <a:cs typeface="Times New Roman" panose="02020603050405020304" pitchFamily="18" charset="0"/>
                <a:sym typeface="+mn-lt"/>
              </a:endParaRPr>
            </a:p>
          </p:txBody>
        </p:sp>
        <p:sp>
          <p:nvSpPr>
            <p:cNvPr id="1048626" name="文本框 96">
              <a:extLst>
                <a:ext uri="{FF2B5EF4-FFF2-40B4-BE49-F238E27FC236}">
                  <a16:creationId xmlns:a16="http://schemas.microsoft.com/office/drawing/2014/main" id="{8BC9EE74-D94A-73BD-E72F-FF544F91B6F4}"/>
                </a:ext>
              </a:extLst>
            </p:cNvPr>
            <p:cNvSpPr txBox="1"/>
            <p:nvPr/>
          </p:nvSpPr>
          <p:spPr>
            <a:xfrm>
              <a:off x="2849310" y="4831988"/>
              <a:ext cx="7473137" cy="1211357"/>
            </a:xfrm>
            <a:prstGeom prst="rect">
              <a:avLst/>
            </a:prstGeom>
            <a:noFill/>
          </p:spPr>
          <p:txBody>
            <a:bodyPr wrap="square">
              <a:spAutoFit/>
            </a:bodyPr>
            <a:lstStyle>
              <a:defPPr>
                <a:defRPr lang="zh-CN"/>
              </a:defPPr>
              <a:lvl1pPr algn="ctr">
                <a:lnSpc>
                  <a:spcPts val="2000"/>
                </a:lnSpc>
                <a:defRPr sz="1400" kern="100">
                  <a:effectLst/>
                  <a:latin typeface="微软雅黑" panose="020B0503020204020204" charset="-122"/>
                  <a:ea typeface="微软雅黑" panose="020B0503020204020204" charset="-122"/>
                  <a:cs typeface="Times New Roman" panose="02020603050405020304" pitchFamily="18" charset="0"/>
                </a:defRPr>
              </a:lvl1pPr>
            </a:lstStyle>
            <a:p>
              <a:pPr marL="285750" indent="-285750" algn="l">
                <a:lnSpc>
                  <a:spcPct val="125000"/>
                </a:lnSpc>
                <a:buFont typeface="Wingdings" panose="05000000000000000000" pitchFamily="2" charset="2"/>
                <a:buChar char="Ø"/>
              </a:pPr>
              <a:r>
                <a:rPr lang="zh-CN" altLang="en-US" sz="2000" b="1" dirty="0">
                  <a:latin typeface="+mn-ea"/>
                  <a:ea typeface="+mn-ea"/>
                  <a:cs typeface="+mn-ea"/>
                </a:rPr>
                <a:t>如何高效高质量地生成返工扰动下的脉动线调度方案</a:t>
              </a:r>
              <a:endParaRPr lang="en-US" altLang="zh-CN" sz="2000" b="1" dirty="0">
                <a:latin typeface="+mn-ea"/>
                <a:ea typeface="+mn-ea"/>
                <a:cs typeface="+mn-ea"/>
              </a:endParaRPr>
            </a:p>
            <a:p>
              <a:pPr marL="285750" indent="-285750" algn="l">
                <a:lnSpc>
                  <a:spcPct val="125000"/>
                </a:lnSpc>
                <a:buFont typeface="Wingdings" panose="05000000000000000000" pitchFamily="2" charset="2"/>
                <a:buChar char="Ø"/>
              </a:pPr>
              <a:r>
                <a:rPr lang="zh-CN" altLang="en-US" sz="2000" b="1" dirty="0">
                  <a:latin typeface="+mn-ea"/>
                  <a:ea typeface="+mn-ea"/>
                  <a:cs typeface="+mn-ea"/>
                </a:rPr>
                <a:t>如何将质量控制与调度决策紧密结合，形成闭环优化</a:t>
              </a:r>
            </a:p>
            <a:p>
              <a:pPr marL="285750" indent="-285750" algn="l">
                <a:lnSpc>
                  <a:spcPct val="125000"/>
                </a:lnSpc>
                <a:buFont typeface="Wingdings" panose="05000000000000000000" pitchFamily="2" charset="2"/>
                <a:buChar char="Ø"/>
              </a:pPr>
              <a:r>
                <a:rPr lang="zh-CN" altLang="en-US" sz="2000" b="1" dirty="0"/>
                <a:t>如何对多元异构资源进行状态表征并实现协同优化</a:t>
              </a:r>
            </a:p>
          </p:txBody>
        </p:sp>
        <p:sp>
          <p:nvSpPr>
            <p:cNvPr id="1048627" name="矩形: 圆角 164">
              <a:extLst>
                <a:ext uri="{FF2B5EF4-FFF2-40B4-BE49-F238E27FC236}">
                  <a16:creationId xmlns:a16="http://schemas.microsoft.com/office/drawing/2014/main" id="{780B5AD0-AFC3-690B-4450-7E23B08DC045}"/>
                </a:ext>
              </a:extLst>
            </p:cNvPr>
            <p:cNvSpPr/>
            <p:nvPr/>
          </p:nvSpPr>
          <p:spPr>
            <a:xfrm>
              <a:off x="4667834" y="4365898"/>
              <a:ext cx="3256888" cy="430421"/>
            </a:xfrm>
            <a:prstGeom prst="roundRect">
              <a:avLst>
                <a:gd name="adj" fmla="val 31641"/>
              </a:avLst>
            </a:prstGeom>
            <a:solidFill>
              <a:srgbClr val="FB6E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48628" name="文本框 37">
              <a:extLst>
                <a:ext uri="{FF2B5EF4-FFF2-40B4-BE49-F238E27FC236}">
                  <a16:creationId xmlns:a16="http://schemas.microsoft.com/office/drawing/2014/main" id="{8944C094-4DCC-B18D-03E7-55989F1501C5}"/>
                </a:ext>
              </a:extLst>
            </p:cNvPr>
            <p:cNvSpPr txBox="1"/>
            <p:nvPr/>
          </p:nvSpPr>
          <p:spPr>
            <a:xfrm>
              <a:off x="4659375" y="4383408"/>
              <a:ext cx="3256887" cy="447039"/>
            </a:xfrm>
            <a:prstGeom prst="rect">
              <a:avLst/>
            </a:prstGeom>
            <a:noFill/>
          </p:spPr>
          <p:txBody>
            <a:bodyPr wrap="square">
              <a:spAutoFit/>
            </a:bodyPr>
            <a:lstStyle>
              <a:defPPr>
                <a:defRPr lang="zh-CN"/>
              </a:defPPr>
              <a:lvl1pPr>
                <a:defRPr sz="2800" b="1">
                  <a:solidFill>
                    <a:srgbClr val="02377E"/>
                  </a:solidFill>
                  <a:latin typeface="微软雅黑" panose="020B0503020204020204" charset="-122"/>
                  <a:ea typeface="微软雅黑" panose="020B0503020204020204" charset="-122"/>
                </a:defRPr>
              </a:lvl1pPr>
            </a:lstStyle>
            <a:p>
              <a:pPr algn="ctr"/>
              <a:r>
                <a:rPr lang="zh-CN" altLang="en-US" sz="2100" dirty="0">
                  <a:solidFill>
                    <a:schemeClr val="bg1"/>
                  </a:solidFill>
                  <a:latin typeface="Times New Roman" panose="02020603050405020304" pitchFamily="18" charset="0"/>
                  <a:cs typeface="Times New Roman" panose="02020603050405020304" pitchFamily="18" charset="0"/>
                </a:rPr>
                <a:t>关键研究问题</a:t>
              </a:r>
            </a:p>
          </p:txBody>
        </p:sp>
      </p:grpSp>
    </p:spTree>
    <p:extLst>
      <p:ext uri="{BB962C8B-B14F-4D97-AF65-F5344CB8AC3E}">
        <p14:creationId xmlns:p14="http://schemas.microsoft.com/office/powerpoint/2010/main" val="2731374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FA497-D9B4-ACF1-41FD-1D9E814E11B1}"/>
            </a:ext>
          </a:extLst>
        </p:cNvPr>
        <p:cNvGrpSpPr/>
        <p:nvPr/>
      </p:nvGrpSpPr>
      <p:grpSpPr>
        <a:xfrm>
          <a:off x="0" y="0"/>
          <a:ext cx="0" cy="0"/>
          <a:chOff x="0" y="0"/>
          <a:chExt cx="0" cy="0"/>
        </a:xfrm>
      </p:grpSpPr>
      <p:sp>
        <p:nvSpPr>
          <p:cNvPr id="1048586" name="稻壳儿小白白(http://dwz.cn/Wu2UP)">
            <a:extLst>
              <a:ext uri="{FF2B5EF4-FFF2-40B4-BE49-F238E27FC236}">
                <a16:creationId xmlns:a16="http://schemas.microsoft.com/office/drawing/2014/main" id="{00181638-AF7E-C782-DE5F-B6F8CC5893DD}"/>
              </a:ext>
            </a:extLst>
          </p:cNvPr>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52" name="图片 17">
            <a:extLst>
              <a:ext uri="{FF2B5EF4-FFF2-40B4-BE49-F238E27FC236}">
                <a16:creationId xmlns:a16="http://schemas.microsoft.com/office/drawing/2014/main" id="{0BCC9735-B97F-839C-2AE3-38C37041495F}"/>
              </a:ext>
            </a:extLst>
          </p:cNvPr>
          <p:cNvPicPr>
            <a:picLocks noChangeAspect="1"/>
          </p:cNvPicPr>
          <p:nvPr/>
        </p:nvPicPr>
        <p:blipFill rotWithShape="1">
          <a:blip r:embed="rId3" cstate="print"/>
          <a:srcRect r="855"/>
          <a:stretch>
            <a:fillRect/>
          </a:stretch>
        </p:blipFill>
        <p:spPr>
          <a:xfrm>
            <a:off x="10301625" y="20910"/>
            <a:ext cx="1809525" cy="526143"/>
          </a:xfrm>
          <a:prstGeom prst="rect">
            <a:avLst/>
          </a:prstGeom>
        </p:spPr>
      </p:pic>
      <p:sp>
        <p:nvSpPr>
          <p:cNvPr id="1048587" name="标题 1">
            <a:extLst>
              <a:ext uri="{FF2B5EF4-FFF2-40B4-BE49-F238E27FC236}">
                <a16:creationId xmlns:a16="http://schemas.microsoft.com/office/drawing/2014/main" id="{0EAA5C0D-F1E4-231A-C777-35B6851CDE48}"/>
              </a:ext>
            </a:extLst>
          </p:cNvPr>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2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文献综述</a:t>
            </a:r>
          </a:p>
        </p:txBody>
      </p:sp>
      <p:sp>
        <p:nvSpPr>
          <p:cNvPr id="1048588" name="等腰三角形 8">
            <a:extLst>
              <a:ext uri="{FF2B5EF4-FFF2-40B4-BE49-F238E27FC236}">
                <a16:creationId xmlns:a16="http://schemas.microsoft.com/office/drawing/2014/main" id="{5B3AF17C-EAB4-369D-9202-9DF823DEF4C7}"/>
              </a:ext>
            </a:extLst>
          </p:cNvPr>
          <p:cNvSpPr/>
          <p:nvPr/>
        </p:nvSpPr>
        <p:spPr>
          <a:xfrm rot="5400000">
            <a:off x="463619" y="788479"/>
            <a:ext cx="208097" cy="179330"/>
          </a:xfrm>
          <a:prstGeom prst="triangle">
            <a:avLst/>
          </a:prstGeom>
          <a:solidFill>
            <a:srgbClr val="0C49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3E95"/>
              </a:solidFill>
            </a:endParaRPr>
          </a:p>
        </p:txBody>
      </p:sp>
      <p:sp>
        <p:nvSpPr>
          <p:cNvPr id="1048589" name="矩形 10">
            <a:extLst>
              <a:ext uri="{FF2B5EF4-FFF2-40B4-BE49-F238E27FC236}">
                <a16:creationId xmlns:a16="http://schemas.microsoft.com/office/drawing/2014/main" id="{5777057C-5499-107A-A379-52A783FEBD85}"/>
              </a:ext>
            </a:extLst>
          </p:cNvPr>
          <p:cNvSpPr/>
          <p:nvPr/>
        </p:nvSpPr>
        <p:spPr>
          <a:xfrm>
            <a:off x="657333" y="575003"/>
            <a:ext cx="3665285" cy="542389"/>
          </a:xfrm>
          <a:prstGeom prst="rect">
            <a:avLst/>
          </a:prstGeom>
          <a:noFill/>
          <a:ln>
            <a:noFill/>
          </a:ln>
        </p:spPr>
        <p:txBody>
          <a:bodyPr wrap="square" lIns="121917" tIns="60958" rIns="121917" bIns="60958">
            <a:spAutoFit/>
          </a:bodyPr>
          <a:lstStyle/>
          <a:p>
            <a:pPr>
              <a:lnSpc>
                <a:spcPct val="125000"/>
              </a:lnSpc>
            </a:pPr>
            <a:r>
              <a:rPr lang="zh-CN" altLang="en-US" sz="2400"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rPr>
              <a:t>飞机脉动装配线动态调度</a:t>
            </a:r>
          </a:p>
        </p:txBody>
      </p:sp>
      <p:sp>
        <p:nvSpPr>
          <p:cNvPr id="1048590" name="矩形 14">
            <a:extLst>
              <a:ext uri="{FF2B5EF4-FFF2-40B4-BE49-F238E27FC236}">
                <a16:creationId xmlns:a16="http://schemas.microsoft.com/office/drawing/2014/main" id="{AB0D2DF6-1224-265E-760B-C959AAB9E169}"/>
              </a:ext>
            </a:extLst>
          </p:cNvPr>
          <p:cNvSpPr/>
          <p:nvPr/>
        </p:nvSpPr>
        <p:spPr>
          <a:xfrm>
            <a:off x="234099" y="5397852"/>
            <a:ext cx="11733687" cy="1323439"/>
          </a:xfrm>
          <a:prstGeom prst="rect">
            <a:avLst/>
          </a:prstGeom>
          <a:noFill/>
          <a:ln w="38100">
            <a:solidFill>
              <a:srgbClr val="C00000"/>
            </a:solidFill>
          </a:ln>
          <a:effectLst/>
        </p:spPr>
        <p:txBody>
          <a:bodyPr wrap="square" anchor="ctr">
            <a:spAutoFit/>
          </a:bodyPr>
          <a:lstStyle/>
          <a:p>
            <a:pPr marL="342900" indent="-342900" algn="just">
              <a:buFont typeface="Wingdings" panose="05000000000000000000" pitchFamily="2" charset="2"/>
              <a:buChar char="Ø"/>
            </a:pPr>
            <a:r>
              <a:rPr lang="zh-CN" altLang="en-US" sz="2000" b="1" dirty="0">
                <a:solidFill>
                  <a:srgbClr val="C00000"/>
                </a:solidFill>
                <a:latin typeface="微软雅黑" panose="020B0503020204020204" charset="-122"/>
                <a:ea typeface="微软雅黑" panose="020B0503020204020204" charset="-122"/>
              </a:rPr>
              <a:t>扰动类型局限：</a:t>
            </a:r>
            <a:r>
              <a:rPr lang="zh-CN" altLang="en-US" sz="2000" b="1" dirty="0">
                <a:solidFill>
                  <a:srgbClr val="000F82"/>
                </a:solidFill>
                <a:latin typeface="微软雅黑" panose="020B0503020204020204" charset="-122"/>
                <a:ea typeface="微软雅黑" panose="020B0503020204020204" charset="-122"/>
              </a:rPr>
              <a:t>现有研究的扰动多集中工序时间波动、物料延误等，对飞机脉动线中不可避免出现的装配质量缺陷与返工扰动的研究不足。</a:t>
            </a:r>
            <a:endParaRPr lang="en-US" altLang="zh-CN" sz="2000" b="1" dirty="0">
              <a:solidFill>
                <a:srgbClr val="000F82"/>
              </a:solidFill>
              <a:latin typeface="微软雅黑" panose="020B0503020204020204" charset="-122"/>
              <a:ea typeface="微软雅黑" panose="020B0503020204020204" charset="-122"/>
            </a:endParaRPr>
          </a:p>
          <a:p>
            <a:pPr marL="342900" indent="-342900" algn="just">
              <a:buFont typeface="Wingdings" panose="05000000000000000000" pitchFamily="2" charset="2"/>
              <a:buChar char="Ø"/>
            </a:pPr>
            <a:r>
              <a:rPr lang="zh-CN" altLang="en-US" sz="2000" b="1" dirty="0">
                <a:solidFill>
                  <a:srgbClr val="C00000"/>
                </a:solidFill>
                <a:latin typeface="微软雅黑" panose="020B0503020204020204" charset="-122"/>
                <a:ea typeface="微软雅黑" panose="020B0503020204020204" charset="-122"/>
              </a:rPr>
              <a:t>动态处理局限：</a:t>
            </a:r>
            <a:r>
              <a:rPr lang="zh-CN" altLang="en-US" sz="2000" b="1" dirty="0">
                <a:solidFill>
                  <a:srgbClr val="000F82"/>
                </a:solidFill>
                <a:latin typeface="微软雅黑" panose="020B0503020204020204" charset="-122"/>
                <a:ea typeface="微软雅黑" panose="020B0503020204020204" charset="-122"/>
              </a:rPr>
              <a:t>部分研究将人员疲劳、资源实时可用性、设备能力波动等状态，简化表征为静态参数或硬约束条件，采用一次性规划或大时间窗滚动优化的方式求解，导致调度方案的在线响应能力不足。</a:t>
            </a:r>
            <a:endParaRPr lang="en-US" altLang="zh-CN" sz="2000" b="1" dirty="0">
              <a:solidFill>
                <a:srgbClr val="000F82"/>
              </a:solidFill>
              <a:latin typeface="微软雅黑" panose="020B0503020204020204" charset="-122"/>
              <a:ea typeface="微软雅黑" panose="020B0503020204020204" charset="-122"/>
            </a:endParaRPr>
          </a:p>
        </p:txBody>
      </p:sp>
      <p:sp>
        <p:nvSpPr>
          <p:cNvPr id="2" name="矩形 1">
            <a:extLst>
              <a:ext uri="{FF2B5EF4-FFF2-40B4-BE49-F238E27FC236}">
                <a16:creationId xmlns:a16="http://schemas.microsoft.com/office/drawing/2014/main" id="{739445F4-612E-D6B0-14EC-D6F7FBDF8EC0}"/>
              </a:ext>
            </a:extLst>
          </p:cNvPr>
          <p:cNvSpPr/>
          <p:nvPr/>
        </p:nvSpPr>
        <p:spPr>
          <a:xfrm>
            <a:off x="80843" y="2895968"/>
            <a:ext cx="1265878" cy="94790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宋体" panose="02010600030101010101" pitchFamily="2" charset="-122"/>
                <a:ea typeface="宋体" panose="02010600030101010101" pitchFamily="2" charset="-122"/>
              </a:rPr>
              <a:t>脉动线动态调度问题</a:t>
            </a:r>
          </a:p>
        </p:txBody>
      </p:sp>
      <p:sp>
        <p:nvSpPr>
          <p:cNvPr id="3" name="左大括号 2">
            <a:extLst>
              <a:ext uri="{FF2B5EF4-FFF2-40B4-BE49-F238E27FC236}">
                <a16:creationId xmlns:a16="http://schemas.microsoft.com/office/drawing/2014/main" id="{106219F1-4A3D-270C-C2E7-F3EE18D2929D}"/>
              </a:ext>
            </a:extLst>
          </p:cNvPr>
          <p:cNvSpPr/>
          <p:nvPr/>
        </p:nvSpPr>
        <p:spPr>
          <a:xfrm>
            <a:off x="1404403" y="1602048"/>
            <a:ext cx="315671" cy="3426483"/>
          </a:xfrm>
          <a:prstGeom prst="leftBrace">
            <a:avLst>
              <a:gd name="adj1" fmla="val 0"/>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500"/>
          </a:p>
        </p:txBody>
      </p:sp>
      <p:sp>
        <p:nvSpPr>
          <p:cNvPr id="5" name="文本框 4">
            <a:extLst>
              <a:ext uri="{FF2B5EF4-FFF2-40B4-BE49-F238E27FC236}">
                <a16:creationId xmlns:a16="http://schemas.microsoft.com/office/drawing/2014/main" id="{BFF8D8F1-E5AE-7AF5-CE16-F13750C3F04E}"/>
              </a:ext>
            </a:extLst>
          </p:cNvPr>
          <p:cNvSpPr txBox="1"/>
          <p:nvPr/>
        </p:nvSpPr>
        <p:spPr>
          <a:xfrm>
            <a:off x="1865107" y="1486420"/>
            <a:ext cx="1148477" cy="553998"/>
          </a:xfrm>
          <a:prstGeom prst="rect">
            <a:avLst/>
          </a:prstGeom>
          <a:noFill/>
        </p:spPr>
        <p:txBody>
          <a:bodyPr wrap="square" rtlCol="0">
            <a:spAutoFit/>
          </a:bodyPr>
          <a:lstStyle/>
          <a:p>
            <a:pPr algn="ctr"/>
            <a:r>
              <a:rPr lang="zh-CN" altLang="en-US" sz="1500" dirty="0">
                <a:latin typeface="宋体" panose="02010600030101010101" pitchFamily="2" charset="-122"/>
                <a:ea typeface="宋体" panose="02010600030101010101" pitchFamily="2" charset="-122"/>
              </a:rPr>
              <a:t>作业时长波动</a:t>
            </a:r>
          </a:p>
        </p:txBody>
      </p:sp>
      <p:sp>
        <p:nvSpPr>
          <p:cNvPr id="6" name="文本框 5">
            <a:extLst>
              <a:ext uri="{FF2B5EF4-FFF2-40B4-BE49-F238E27FC236}">
                <a16:creationId xmlns:a16="http://schemas.microsoft.com/office/drawing/2014/main" id="{4B076025-5D63-78B6-5C06-22D9EA55CC36}"/>
              </a:ext>
            </a:extLst>
          </p:cNvPr>
          <p:cNvSpPr txBox="1"/>
          <p:nvPr/>
        </p:nvSpPr>
        <p:spPr>
          <a:xfrm>
            <a:off x="1864763" y="2720910"/>
            <a:ext cx="1224412" cy="553998"/>
          </a:xfrm>
          <a:prstGeom prst="rect">
            <a:avLst/>
          </a:prstGeom>
          <a:noFill/>
        </p:spPr>
        <p:txBody>
          <a:bodyPr wrap="square" rtlCol="0">
            <a:spAutoFit/>
          </a:bodyPr>
          <a:lstStyle/>
          <a:p>
            <a:pPr algn="ctr"/>
            <a:r>
              <a:rPr lang="zh-CN" altLang="en-US" sz="1500" dirty="0">
                <a:latin typeface="宋体" panose="02010600030101010101" pitchFamily="2" charset="-122"/>
                <a:ea typeface="宋体" panose="02010600030101010101" pitchFamily="2" charset="-122"/>
              </a:rPr>
              <a:t>资源可用性不确定</a:t>
            </a:r>
          </a:p>
        </p:txBody>
      </p:sp>
      <p:sp>
        <p:nvSpPr>
          <p:cNvPr id="7" name="文本框 6">
            <a:extLst>
              <a:ext uri="{FF2B5EF4-FFF2-40B4-BE49-F238E27FC236}">
                <a16:creationId xmlns:a16="http://schemas.microsoft.com/office/drawing/2014/main" id="{B4E93D3F-83E4-5327-67C5-E2E3C293EF52}"/>
              </a:ext>
            </a:extLst>
          </p:cNvPr>
          <p:cNvSpPr txBox="1"/>
          <p:nvPr/>
        </p:nvSpPr>
        <p:spPr>
          <a:xfrm>
            <a:off x="1913949" y="4193746"/>
            <a:ext cx="1100216" cy="553998"/>
          </a:xfrm>
          <a:prstGeom prst="rect">
            <a:avLst/>
          </a:prstGeom>
          <a:noFill/>
        </p:spPr>
        <p:txBody>
          <a:bodyPr wrap="square" rtlCol="0">
            <a:spAutoFit/>
          </a:bodyPr>
          <a:lstStyle/>
          <a:p>
            <a:pPr algn="ctr"/>
            <a:r>
              <a:rPr lang="zh-CN" altLang="en-US" sz="1500" dirty="0">
                <a:latin typeface="宋体" panose="02010600030101010101" pitchFamily="2" charset="-122"/>
                <a:ea typeface="宋体" panose="02010600030101010101" pitchFamily="2" charset="-122"/>
              </a:rPr>
              <a:t>人员偏好</a:t>
            </a:r>
            <a:r>
              <a:rPr lang="en-US" altLang="zh-CN" sz="1500" dirty="0">
                <a:latin typeface="宋体" panose="02010600030101010101" pitchFamily="2" charset="-122"/>
                <a:ea typeface="宋体" panose="02010600030101010101" pitchFamily="2" charset="-122"/>
              </a:rPr>
              <a:t>/</a:t>
            </a:r>
            <a:r>
              <a:rPr lang="zh-CN" altLang="en-US" sz="1500" dirty="0">
                <a:latin typeface="宋体" panose="02010600030101010101" pitchFamily="2" charset="-122"/>
                <a:ea typeface="宋体" panose="02010600030101010101" pitchFamily="2" charset="-122"/>
              </a:rPr>
              <a:t>短缺</a:t>
            </a:r>
          </a:p>
        </p:txBody>
      </p:sp>
      <p:cxnSp>
        <p:nvCxnSpPr>
          <p:cNvPr id="8" name="直接连接符 7">
            <a:extLst>
              <a:ext uri="{FF2B5EF4-FFF2-40B4-BE49-F238E27FC236}">
                <a16:creationId xmlns:a16="http://schemas.microsoft.com/office/drawing/2014/main" id="{DA21EABC-4266-615D-EE06-932339C2E678}"/>
              </a:ext>
            </a:extLst>
          </p:cNvPr>
          <p:cNvCxnSpPr>
            <a:cxnSpLocks/>
          </p:cNvCxnSpPr>
          <p:nvPr/>
        </p:nvCxnSpPr>
        <p:spPr>
          <a:xfrm flipV="1">
            <a:off x="3111250" y="1587461"/>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573572A2-B343-10C6-771C-E42BF1E86033}"/>
              </a:ext>
            </a:extLst>
          </p:cNvPr>
          <p:cNvCxnSpPr>
            <a:cxnSpLocks/>
          </p:cNvCxnSpPr>
          <p:nvPr/>
        </p:nvCxnSpPr>
        <p:spPr>
          <a:xfrm flipV="1">
            <a:off x="3111250" y="2969144"/>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5167ACB4-172C-B664-623B-121ACEE5F458}"/>
              </a:ext>
            </a:extLst>
          </p:cNvPr>
          <p:cNvCxnSpPr>
            <a:cxnSpLocks/>
          </p:cNvCxnSpPr>
          <p:nvPr/>
        </p:nvCxnSpPr>
        <p:spPr>
          <a:xfrm flipV="1">
            <a:off x="3111250" y="4374908"/>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13EA29E8-D4B2-D84F-C311-732DEA6C3EDC}"/>
              </a:ext>
            </a:extLst>
          </p:cNvPr>
          <p:cNvSpPr txBox="1"/>
          <p:nvPr/>
        </p:nvSpPr>
        <p:spPr>
          <a:xfrm>
            <a:off x="3718063" y="1463064"/>
            <a:ext cx="2445554" cy="553998"/>
          </a:xfrm>
          <a:prstGeom prst="rect">
            <a:avLst/>
          </a:prstGeom>
          <a:noFill/>
        </p:spPr>
        <p:txBody>
          <a:bodyPr wrap="square" rtlCol="0">
            <a:spAutoFit/>
          </a:bodyPr>
          <a:lstStyle/>
          <a:p>
            <a:pPr algn="just"/>
            <a:r>
              <a:rPr lang="zh-CN" altLang="en-US" sz="1500" dirty="0">
                <a:latin typeface="宋体" panose="02010600030101010101" pitchFamily="2" charset="-122"/>
                <a:ea typeface="宋体" panose="02010600030101010101" pitchFamily="2" charset="-122"/>
              </a:rPr>
              <a:t>工序加工时间波动，误差扩散可能引发站位拥堵</a:t>
            </a:r>
          </a:p>
        </p:txBody>
      </p:sp>
      <p:sp>
        <p:nvSpPr>
          <p:cNvPr id="12" name="文本框 11">
            <a:extLst>
              <a:ext uri="{FF2B5EF4-FFF2-40B4-BE49-F238E27FC236}">
                <a16:creationId xmlns:a16="http://schemas.microsoft.com/office/drawing/2014/main" id="{14256E55-C274-F543-4C93-520DCE4BFC9C}"/>
              </a:ext>
            </a:extLst>
          </p:cNvPr>
          <p:cNvSpPr txBox="1"/>
          <p:nvPr/>
        </p:nvSpPr>
        <p:spPr>
          <a:xfrm>
            <a:off x="3733767" y="2694197"/>
            <a:ext cx="2478302" cy="553998"/>
          </a:xfrm>
          <a:prstGeom prst="rect">
            <a:avLst/>
          </a:prstGeom>
          <a:noFill/>
        </p:spPr>
        <p:txBody>
          <a:bodyPr wrap="square" rtlCol="0">
            <a:spAutoFit/>
          </a:bodyPr>
          <a:lstStyle/>
          <a:p>
            <a:pPr algn="just"/>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工人或机器资源不确定或者受限</a:t>
            </a:r>
          </a:p>
        </p:txBody>
      </p:sp>
      <p:sp>
        <p:nvSpPr>
          <p:cNvPr id="13" name="文本框 12">
            <a:extLst>
              <a:ext uri="{FF2B5EF4-FFF2-40B4-BE49-F238E27FC236}">
                <a16:creationId xmlns:a16="http://schemas.microsoft.com/office/drawing/2014/main" id="{BBE7BF19-6E66-9D99-B147-0DE46D1E0F21}"/>
              </a:ext>
            </a:extLst>
          </p:cNvPr>
          <p:cNvSpPr txBox="1"/>
          <p:nvPr/>
        </p:nvSpPr>
        <p:spPr>
          <a:xfrm>
            <a:off x="3733767" y="4122782"/>
            <a:ext cx="2478302" cy="553998"/>
          </a:xfrm>
          <a:prstGeom prst="rect">
            <a:avLst/>
          </a:prstGeom>
          <a:noFill/>
        </p:spPr>
        <p:txBody>
          <a:bodyPr wrap="square" rtlCol="0">
            <a:spAutoFit/>
          </a:bodyPr>
          <a:lstStyle/>
          <a:p>
            <a:pPr algn="just"/>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工人到岗数量与个人偏好变化，影响分配与移动</a:t>
            </a:r>
          </a:p>
        </p:txBody>
      </p:sp>
      <p:cxnSp>
        <p:nvCxnSpPr>
          <p:cNvPr id="14" name="直接连接符 13">
            <a:extLst>
              <a:ext uri="{FF2B5EF4-FFF2-40B4-BE49-F238E27FC236}">
                <a16:creationId xmlns:a16="http://schemas.microsoft.com/office/drawing/2014/main" id="{667535D0-6FEC-DB16-B842-3B487506289F}"/>
              </a:ext>
            </a:extLst>
          </p:cNvPr>
          <p:cNvCxnSpPr>
            <a:cxnSpLocks/>
          </p:cNvCxnSpPr>
          <p:nvPr/>
        </p:nvCxnSpPr>
        <p:spPr>
          <a:xfrm>
            <a:off x="1566824" y="1487347"/>
            <a:ext cx="3825" cy="3587482"/>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9F90924C-D3DA-E258-6581-2B6BAB26EB5D}"/>
              </a:ext>
            </a:extLst>
          </p:cNvPr>
          <p:cNvCxnSpPr>
            <a:cxnSpLocks/>
          </p:cNvCxnSpPr>
          <p:nvPr/>
        </p:nvCxnSpPr>
        <p:spPr>
          <a:xfrm flipV="1">
            <a:off x="6266479" y="1592891"/>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2A608CE6-C747-7199-E1FC-6CB814A8A9BB}"/>
              </a:ext>
            </a:extLst>
          </p:cNvPr>
          <p:cNvCxnSpPr>
            <a:cxnSpLocks/>
          </p:cNvCxnSpPr>
          <p:nvPr/>
        </p:nvCxnSpPr>
        <p:spPr>
          <a:xfrm flipV="1">
            <a:off x="6266479" y="2974574"/>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0F5E8CB2-8A86-E15A-430F-358260D10CD4}"/>
              </a:ext>
            </a:extLst>
          </p:cNvPr>
          <p:cNvCxnSpPr>
            <a:cxnSpLocks/>
          </p:cNvCxnSpPr>
          <p:nvPr/>
        </p:nvCxnSpPr>
        <p:spPr>
          <a:xfrm flipV="1">
            <a:off x="6266479" y="4380338"/>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5FA18A46-82CC-5A13-5BBC-42C9908B71B9}"/>
              </a:ext>
            </a:extLst>
          </p:cNvPr>
          <p:cNvSpPr txBox="1"/>
          <p:nvPr/>
        </p:nvSpPr>
        <p:spPr>
          <a:xfrm>
            <a:off x="1900729" y="1135065"/>
            <a:ext cx="1227183" cy="369332"/>
          </a:xfrm>
          <a:prstGeom prst="rect">
            <a:avLst/>
          </a:prstGeom>
          <a:noFill/>
        </p:spPr>
        <p:txBody>
          <a:bodyPr wrap="square">
            <a:spAutoFit/>
          </a:bodyPr>
          <a:lstStyle/>
          <a:p>
            <a:r>
              <a:rPr kumimoji="1" lang="zh-CN" altLang="en-US" dirty="0">
                <a:solidFill>
                  <a:srgbClr val="4883C0"/>
                </a:solidFill>
                <a:latin typeface="Microsoft YaHei" panose="020B0503020204020204" pitchFamily="34" charset="-122"/>
                <a:ea typeface="Microsoft YaHei" panose="020B0503020204020204" pitchFamily="34" charset="-122"/>
              </a:rPr>
              <a:t>动态事件</a:t>
            </a:r>
            <a:endParaRPr lang="zh-CN" altLang="en-US" dirty="0"/>
          </a:p>
        </p:txBody>
      </p:sp>
      <p:sp>
        <p:nvSpPr>
          <p:cNvPr id="21" name="文本框 20">
            <a:extLst>
              <a:ext uri="{FF2B5EF4-FFF2-40B4-BE49-F238E27FC236}">
                <a16:creationId xmlns:a16="http://schemas.microsoft.com/office/drawing/2014/main" id="{6488AF07-4B5A-8326-8606-453888960957}"/>
              </a:ext>
            </a:extLst>
          </p:cNvPr>
          <p:cNvSpPr txBox="1"/>
          <p:nvPr/>
        </p:nvSpPr>
        <p:spPr>
          <a:xfrm>
            <a:off x="6841595" y="1473866"/>
            <a:ext cx="1449627" cy="323165"/>
          </a:xfrm>
          <a:prstGeom prst="rect">
            <a:avLst/>
          </a:prstGeom>
          <a:noFill/>
        </p:spPr>
        <p:txBody>
          <a:bodyPr wrap="square" rtlCol="0">
            <a:spAutoFit/>
          </a:bodyPr>
          <a:lstStyle/>
          <a:p>
            <a:pPr algn="just"/>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Hu</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等 </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2024 [2]</a:t>
            </a:r>
            <a:endParaRPr lang="zh-CN" altLang="en-US" sz="15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 name="文本框 21">
            <a:extLst>
              <a:ext uri="{FF2B5EF4-FFF2-40B4-BE49-F238E27FC236}">
                <a16:creationId xmlns:a16="http://schemas.microsoft.com/office/drawing/2014/main" id="{7DC86903-96CE-7A1D-18D8-9DCC49DF2B67}"/>
              </a:ext>
            </a:extLst>
          </p:cNvPr>
          <p:cNvSpPr txBox="1"/>
          <p:nvPr/>
        </p:nvSpPr>
        <p:spPr>
          <a:xfrm>
            <a:off x="6841595" y="2800930"/>
            <a:ext cx="1880698" cy="553998"/>
          </a:xfrm>
          <a:prstGeom prst="rect">
            <a:avLst/>
          </a:prstGeom>
          <a:noFill/>
        </p:spPr>
        <p:txBody>
          <a:bodyPr wrap="square" rtlCol="0">
            <a:spAutoFit/>
          </a:bodyPr>
          <a:lstStyle/>
          <a:p>
            <a:pPr algn="just"/>
            <a:r>
              <a:rPr lang="en-US" altLang="zh-CN" sz="1500" dirty="0" err="1">
                <a:latin typeface="Times New Roman" panose="02020603050405020304" pitchFamily="18" charset="0"/>
                <a:ea typeface="宋体" panose="02010600030101010101" pitchFamily="2" charset="-122"/>
                <a:cs typeface="Times New Roman" panose="02020603050405020304" pitchFamily="18" charset="0"/>
              </a:rPr>
              <a:t>Irigo</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 2019 [4]</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[5]-[7]</a:t>
            </a:r>
            <a:endParaRPr lang="zh-CN" altLang="en-US" sz="15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 name="文本框 22">
            <a:extLst>
              <a:ext uri="{FF2B5EF4-FFF2-40B4-BE49-F238E27FC236}">
                <a16:creationId xmlns:a16="http://schemas.microsoft.com/office/drawing/2014/main" id="{7EE32CD5-5B0F-9FCB-7F4E-BA65EB1A407B}"/>
              </a:ext>
            </a:extLst>
          </p:cNvPr>
          <p:cNvSpPr txBox="1"/>
          <p:nvPr/>
        </p:nvSpPr>
        <p:spPr>
          <a:xfrm>
            <a:off x="6836614" y="4203963"/>
            <a:ext cx="1463814" cy="323165"/>
          </a:xfrm>
          <a:prstGeom prst="rect">
            <a:avLst/>
          </a:prstGeom>
          <a:noFill/>
        </p:spPr>
        <p:txBody>
          <a:bodyPr wrap="square" rtlCol="0">
            <a:spAutoFit/>
          </a:bodyPr>
          <a:lstStyle/>
          <a:p>
            <a:pPr algn="just"/>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Wang</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等 </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2024 [9]</a:t>
            </a:r>
            <a:endParaRPr lang="zh-CN" altLang="en-US" sz="1500"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4" name="直接连接符 23">
            <a:extLst>
              <a:ext uri="{FF2B5EF4-FFF2-40B4-BE49-F238E27FC236}">
                <a16:creationId xmlns:a16="http://schemas.microsoft.com/office/drawing/2014/main" id="{8C779CF0-576E-61D5-CF1C-F9DEDADBD4A6}"/>
              </a:ext>
            </a:extLst>
          </p:cNvPr>
          <p:cNvCxnSpPr>
            <a:cxnSpLocks/>
          </p:cNvCxnSpPr>
          <p:nvPr/>
        </p:nvCxnSpPr>
        <p:spPr>
          <a:xfrm flipV="1">
            <a:off x="9048737" y="1592891"/>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01920407-5129-5999-D0CB-5F06361DF11C}"/>
              </a:ext>
            </a:extLst>
          </p:cNvPr>
          <p:cNvCxnSpPr>
            <a:cxnSpLocks/>
          </p:cNvCxnSpPr>
          <p:nvPr/>
        </p:nvCxnSpPr>
        <p:spPr>
          <a:xfrm flipV="1">
            <a:off x="9048737" y="2974574"/>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C95602BD-DE92-E6AB-83EB-6192A8D22EE3}"/>
              </a:ext>
            </a:extLst>
          </p:cNvPr>
          <p:cNvCxnSpPr>
            <a:cxnSpLocks/>
          </p:cNvCxnSpPr>
          <p:nvPr/>
        </p:nvCxnSpPr>
        <p:spPr>
          <a:xfrm flipV="1">
            <a:off x="9048737" y="4380338"/>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DFDB511C-44F7-245B-21F8-8CAE65B9F076}"/>
              </a:ext>
            </a:extLst>
          </p:cNvPr>
          <p:cNvSpPr txBox="1"/>
          <p:nvPr/>
        </p:nvSpPr>
        <p:spPr>
          <a:xfrm>
            <a:off x="10389591" y="1143226"/>
            <a:ext cx="646331" cy="369332"/>
          </a:xfrm>
          <a:prstGeom prst="rect">
            <a:avLst/>
          </a:prstGeom>
          <a:noFill/>
        </p:spPr>
        <p:txBody>
          <a:bodyPr wrap="none" rtlCol="0">
            <a:spAutoFit/>
          </a:bodyPr>
          <a:lstStyle/>
          <a:p>
            <a:r>
              <a:rPr kumimoji="1" lang="zh-CN" altLang="en-US" dirty="0">
                <a:solidFill>
                  <a:srgbClr val="4883C0"/>
                </a:solidFill>
                <a:latin typeface="Microsoft YaHei" panose="020B0503020204020204" pitchFamily="34" charset="-122"/>
                <a:ea typeface="Microsoft YaHei" panose="020B0503020204020204" pitchFamily="34" charset="-122"/>
              </a:rPr>
              <a:t>方法</a:t>
            </a:r>
          </a:p>
        </p:txBody>
      </p:sp>
      <p:sp>
        <p:nvSpPr>
          <p:cNvPr id="29" name="文本框 28">
            <a:extLst>
              <a:ext uri="{FF2B5EF4-FFF2-40B4-BE49-F238E27FC236}">
                <a16:creationId xmlns:a16="http://schemas.microsoft.com/office/drawing/2014/main" id="{57FC095F-B6C9-CB00-ED0D-85767901FFD5}"/>
              </a:ext>
            </a:extLst>
          </p:cNvPr>
          <p:cNvSpPr txBox="1"/>
          <p:nvPr/>
        </p:nvSpPr>
        <p:spPr>
          <a:xfrm>
            <a:off x="9584237" y="1482728"/>
            <a:ext cx="2325632" cy="553998"/>
          </a:xfrm>
          <a:prstGeom prst="rect">
            <a:avLst/>
          </a:prstGeom>
          <a:noFill/>
        </p:spPr>
        <p:txBody>
          <a:bodyPr wrap="square" rtlCol="0">
            <a:spAutoFit/>
          </a:bodyPr>
          <a:lstStyle/>
          <a:p>
            <a:pPr algn="just"/>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网络指标识别关键工作</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+NSGA-II</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重分配</a:t>
            </a:r>
          </a:p>
        </p:txBody>
      </p:sp>
      <p:sp>
        <p:nvSpPr>
          <p:cNvPr id="30" name="文本框 29">
            <a:extLst>
              <a:ext uri="{FF2B5EF4-FFF2-40B4-BE49-F238E27FC236}">
                <a16:creationId xmlns:a16="http://schemas.microsoft.com/office/drawing/2014/main" id="{820523DE-939A-28B3-5A85-F81729A93DED}"/>
              </a:ext>
            </a:extLst>
          </p:cNvPr>
          <p:cNvSpPr txBox="1"/>
          <p:nvPr/>
        </p:nvSpPr>
        <p:spPr>
          <a:xfrm>
            <a:off x="9547920" y="2821797"/>
            <a:ext cx="2421956" cy="553998"/>
          </a:xfrm>
          <a:prstGeom prst="rect">
            <a:avLst/>
          </a:prstGeom>
          <a:noFill/>
        </p:spPr>
        <p:txBody>
          <a:bodyPr wrap="square" rtlCol="0">
            <a:spAutoFit/>
          </a:bodyPr>
          <a:lstStyle/>
          <a:p>
            <a:pPr algn="just"/>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分支定界、自适应的遗传算法</a:t>
            </a:r>
          </a:p>
        </p:txBody>
      </p:sp>
      <p:sp>
        <p:nvSpPr>
          <p:cNvPr id="31" name="文本框 30">
            <a:extLst>
              <a:ext uri="{FF2B5EF4-FFF2-40B4-BE49-F238E27FC236}">
                <a16:creationId xmlns:a16="http://schemas.microsoft.com/office/drawing/2014/main" id="{0BB26BFF-E543-10D0-3CA0-0B1FA5561E50}"/>
              </a:ext>
            </a:extLst>
          </p:cNvPr>
          <p:cNvSpPr txBox="1"/>
          <p:nvPr/>
        </p:nvSpPr>
        <p:spPr>
          <a:xfrm>
            <a:off x="9545831" y="4231722"/>
            <a:ext cx="2333849" cy="553998"/>
          </a:xfrm>
          <a:prstGeom prst="rect">
            <a:avLst/>
          </a:prstGeom>
          <a:noFill/>
        </p:spPr>
        <p:txBody>
          <a:bodyPr wrap="square" rtlCol="0">
            <a:spAutoFit/>
          </a:bodyPr>
          <a:lstStyle/>
          <a:p>
            <a:pPr algn="just"/>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邻域搜索</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改进的</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NSGA-II</a:t>
            </a:r>
            <a:endParaRPr lang="zh-CN" altLang="en-US" sz="1500"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32" name="直接连接符 31">
            <a:extLst>
              <a:ext uri="{FF2B5EF4-FFF2-40B4-BE49-F238E27FC236}">
                <a16:creationId xmlns:a16="http://schemas.microsoft.com/office/drawing/2014/main" id="{6F33C601-9599-E238-0923-3A183F049575}"/>
              </a:ext>
            </a:extLst>
          </p:cNvPr>
          <p:cNvCxnSpPr>
            <a:cxnSpLocks/>
          </p:cNvCxnSpPr>
          <p:nvPr/>
        </p:nvCxnSpPr>
        <p:spPr>
          <a:xfrm>
            <a:off x="1557867" y="2307588"/>
            <a:ext cx="17250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036D2379-1907-590E-DA6D-DE86754C92FC}"/>
              </a:ext>
            </a:extLst>
          </p:cNvPr>
          <p:cNvSpPr txBox="1"/>
          <p:nvPr/>
        </p:nvSpPr>
        <p:spPr>
          <a:xfrm>
            <a:off x="1910438" y="2033037"/>
            <a:ext cx="1089113" cy="553998"/>
          </a:xfrm>
          <a:prstGeom prst="rect">
            <a:avLst/>
          </a:prstGeom>
          <a:noFill/>
        </p:spPr>
        <p:txBody>
          <a:bodyPr wrap="square" rtlCol="0">
            <a:spAutoFit/>
          </a:bodyPr>
          <a:lstStyle/>
          <a:p>
            <a:pPr algn="ctr"/>
            <a:r>
              <a:rPr lang="zh-CN" altLang="en-US" sz="1500" dirty="0">
                <a:latin typeface="宋体" panose="02010600030101010101" pitchFamily="2" charset="-122"/>
                <a:ea typeface="宋体" panose="02010600030101010101" pitchFamily="2" charset="-122"/>
              </a:rPr>
              <a:t>物料交付不确定</a:t>
            </a:r>
          </a:p>
        </p:txBody>
      </p:sp>
      <p:cxnSp>
        <p:nvCxnSpPr>
          <p:cNvPr id="34" name="直接连接符 33">
            <a:extLst>
              <a:ext uri="{FF2B5EF4-FFF2-40B4-BE49-F238E27FC236}">
                <a16:creationId xmlns:a16="http://schemas.microsoft.com/office/drawing/2014/main" id="{05C2094B-7AFB-151E-3E73-2AD321833D59}"/>
              </a:ext>
            </a:extLst>
          </p:cNvPr>
          <p:cNvCxnSpPr>
            <a:cxnSpLocks/>
          </p:cNvCxnSpPr>
          <p:nvPr/>
        </p:nvCxnSpPr>
        <p:spPr>
          <a:xfrm flipV="1">
            <a:off x="3111250" y="2299200"/>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DA381FB6-233D-F0D0-F6A3-A406EF326CDA}"/>
              </a:ext>
            </a:extLst>
          </p:cNvPr>
          <p:cNvSpPr txBox="1"/>
          <p:nvPr/>
        </p:nvSpPr>
        <p:spPr>
          <a:xfrm>
            <a:off x="3733767" y="2051397"/>
            <a:ext cx="2459487" cy="553998"/>
          </a:xfrm>
          <a:prstGeom prst="rect">
            <a:avLst/>
          </a:prstGeom>
          <a:noFill/>
        </p:spPr>
        <p:txBody>
          <a:bodyPr wrap="square" rtlCol="0">
            <a:spAutoFit/>
          </a:bodyPr>
          <a:lstStyle/>
          <a:p>
            <a:pPr algn="just"/>
            <a:r>
              <a:rPr lang="zh-CN" altLang="en-US" sz="1500" dirty="0">
                <a:latin typeface="宋体" panose="02010600030101010101" pitchFamily="2" charset="-122"/>
                <a:ea typeface="宋体" panose="02010600030101010101" pitchFamily="2" charset="-122"/>
              </a:rPr>
              <a:t>物料延误</a:t>
            </a:r>
            <a:r>
              <a:rPr lang="en-US" altLang="zh-CN" sz="1500" dirty="0">
                <a:latin typeface="宋体" panose="02010600030101010101" pitchFamily="2" charset="-122"/>
                <a:ea typeface="宋体" panose="02010600030101010101" pitchFamily="2" charset="-122"/>
              </a:rPr>
              <a:t>/</a:t>
            </a:r>
            <a:r>
              <a:rPr lang="zh-CN" altLang="en-US" sz="1500" dirty="0">
                <a:latin typeface="宋体" panose="02010600030101010101" pitchFamily="2" charset="-122"/>
                <a:ea typeface="宋体" panose="02010600030101010101" pitchFamily="2" charset="-122"/>
              </a:rPr>
              <a:t>缺件导致计划打乱，需反应式重排</a:t>
            </a:r>
          </a:p>
        </p:txBody>
      </p:sp>
      <p:cxnSp>
        <p:nvCxnSpPr>
          <p:cNvPr id="36" name="直接连接符 35">
            <a:extLst>
              <a:ext uri="{FF2B5EF4-FFF2-40B4-BE49-F238E27FC236}">
                <a16:creationId xmlns:a16="http://schemas.microsoft.com/office/drawing/2014/main" id="{7EC83025-98F9-0174-D493-14069001EC25}"/>
              </a:ext>
            </a:extLst>
          </p:cNvPr>
          <p:cNvCxnSpPr>
            <a:cxnSpLocks/>
          </p:cNvCxnSpPr>
          <p:nvPr/>
        </p:nvCxnSpPr>
        <p:spPr>
          <a:xfrm flipV="1">
            <a:off x="6266479" y="2304630"/>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38C47942-31FA-CE2C-F8A2-2377FE390005}"/>
              </a:ext>
            </a:extLst>
          </p:cNvPr>
          <p:cNvSpPr txBox="1"/>
          <p:nvPr/>
        </p:nvSpPr>
        <p:spPr>
          <a:xfrm>
            <a:off x="6831448" y="2111992"/>
            <a:ext cx="1462752" cy="323165"/>
          </a:xfrm>
          <a:prstGeom prst="rect">
            <a:avLst/>
          </a:prstGeom>
          <a:noFill/>
        </p:spPr>
        <p:txBody>
          <a:bodyPr wrap="square" rtlCol="0">
            <a:spAutoFit/>
          </a:bodyPr>
          <a:lstStyle/>
          <a:p>
            <a:pPr algn="just"/>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Zhu</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等 </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2020 [3]</a:t>
            </a:r>
            <a:endParaRPr lang="zh-CN" altLang="en-US" sz="1500"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38" name="直接连接符 37">
            <a:extLst>
              <a:ext uri="{FF2B5EF4-FFF2-40B4-BE49-F238E27FC236}">
                <a16:creationId xmlns:a16="http://schemas.microsoft.com/office/drawing/2014/main" id="{62BDC4FD-7681-5F4C-6E29-7E538097B1E0}"/>
              </a:ext>
            </a:extLst>
          </p:cNvPr>
          <p:cNvCxnSpPr>
            <a:cxnSpLocks/>
          </p:cNvCxnSpPr>
          <p:nvPr/>
        </p:nvCxnSpPr>
        <p:spPr>
          <a:xfrm flipV="1">
            <a:off x="9048737" y="2304630"/>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3284B432-FC8E-DE7A-7438-EF5478BC5E89}"/>
              </a:ext>
            </a:extLst>
          </p:cNvPr>
          <p:cNvSpPr txBox="1"/>
          <p:nvPr/>
        </p:nvSpPr>
        <p:spPr>
          <a:xfrm>
            <a:off x="9547920" y="2162876"/>
            <a:ext cx="2421956" cy="553998"/>
          </a:xfrm>
          <a:prstGeom prst="rect">
            <a:avLst/>
          </a:prstGeom>
          <a:noFill/>
        </p:spPr>
        <p:txBody>
          <a:bodyPr wrap="square" rtlCol="0">
            <a:spAutoFit/>
          </a:bodyPr>
          <a:lstStyle/>
          <a:p>
            <a:pPr algn="just"/>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基于</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SVDD</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的响应式调度方法</a:t>
            </a:r>
          </a:p>
        </p:txBody>
      </p:sp>
      <p:cxnSp>
        <p:nvCxnSpPr>
          <p:cNvPr id="40" name="直接连接符 39">
            <a:extLst>
              <a:ext uri="{FF2B5EF4-FFF2-40B4-BE49-F238E27FC236}">
                <a16:creationId xmlns:a16="http://schemas.microsoft.com/office/drawing/2014/main" id="{D232BC00-A490-1EE7-87D4-40F10B6686EB}"/>
              </a:ext>
            </a:extLst>
          </p:cNvPr>
          <p:cNvCxnSpPr>
            <a:cxnSpLocks/>
          </p:cNvCxnSpPr>
          <p:nvPr/>
        </p:nvCxnSpPr>
        <p:spPr>
          <a:xfrm>
            <a:off x="1574800" y="3711830"/>
            <a:ext cx="15556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08442A63-8007-1F7E-C4EF-821160F93410}"/>
              </a:ext>
            </a:extLst>
          </p:cNvPr>
          <p:cNvSpPr txBox="1"/>
          <p:nvPr/>
        </p:nvSpPr>
        <p:spPr>
          <a:xfrm>
            <a:off x="1964212" y="3418665"/>
            <a:ext cx="1100216" cy="784830"/>
          </a:xfrm>
          <a:prstGeom prst="rect">
            <a:avLst/>
          </a:prstGeom>
          <a:noFill/>
        </p:spPr>
        <p:txBody>
          <a:bodyPr wrap="square" rtlCol="0">
            <a:spAutoFit/>
          </a:bodyPr>
          <a:lstStyle/>
          <a:p>
            <a:pPr algn="ctr"/>
            <a:r>
              <a:rPr lang="zh-CN" altLang="en-US" sz="1500" dirty="0">
                <a:latin typeface="宋体" panose="02010600030101010101" pitchFamily="2" charset="-122"/>
                <a:ea typeface="宋体" panose="02010600030101010101" pitchFamily="2" charset="-122"/>
              </a:rPr>
              <a:t>人因压力</a:t>
            </a:r>
            <a:r>
              <a:rPr lang="en-US" altLang="zh-CN" sz="1500" dirty="0">
                <a:latin typeface="宋体" panose="02010600030101010101" pitchFamily="2" charset="-122"/>
                <a:ea typeface="宋体" panose="02010600030101010101" pitchFamily="2" charset="-122"/>
              </a:rPr>
              <a:t>/</a:t>
            </a:r>
            <a:r>
              <a:rPr lang="zh-CN" altLang="en-US" sz="1500" dirty="0">
                <a:latin typeface="宋体" panose="02010600030101010101" pitchFamily="2" charset="-122"/>
                <a:ea typeface="宋体" panose="02010600030101010101" pitchFamily="2" charset="-122"/>
              </a:rPr>
              <a:t>疲劳与公平</a:t>
            </a:r>
          </a:p>
        </p:txBody>
      </p:sp>
      <p:cxnSp>
        <p:nvCxnSpPr>
          <p:cNvPr id="42" name="直接连接符 41">
            <a:extLst>
              <a:ext uri="{FF2B5EF4-FFF2-40B4-BE49-F238E27FC236}">
                <a16:creationId xmlns:a16="http://schemas.microsoft.com/office/drawing/2014/main" id="{4B699E52-DD4F-A1C0-C1B8-0BFA975BF4FC}"/>
              </a:ext>
            </a:extLst>
          </p:cNvPr>
          <p:cNvCxnSpPr>
            <a:cxnSpLocks/>
          </p:cNvCxnSpPr>
          <p:nvPr/>
        </p:nvCxnSpPr>
        <p:spPr>
          <a:xfrm flipV="1">
            <a:off x="3111250" y="3703442"/>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8E843CEE-A87E-FECB-B014-ED45407E499B}"/>
              </a:ext>
            </a:extLst>
          </p:cNvPr>
          <p:cNvSpPr txBox="1"/>
          <p:nvPr/>
        </p:nvSpPr>
        <p:spPr>
          <a:xfrm>
            <a:off x="3689240" y="3439320"/>
            <a:ext cx="2537972" cy="553998"/>
          </a:xfrm>
          <a:prstGeom prst="rect">
            <a:avLst/>
          </a:prstGeom>
          <a:noFill/>
        </p:spPr>
        <p:txBody>
          <a:bodyPr wrap="square" rtlCol="0">
            <a:spAutoFit/>
          </a:bodyPr>
          <a:lstStyle/>
          <a:p>
            <a:pPr algn="just"/>
            <a:r>
              <a:rPr lang="zh-CN" altLang="en-US" sz="1500" dirty="0">
                <a:latin typeface="宋体" panose="02010600030101010101" pitchFamily="2" charset="-122"/>
                <a:ea typeface="宋体" panose="02010600030101010101" pitchFamily="2" charset="-122"/>
              </a:rPr>
              <a:t>高强度作业带来压力</a:t>
            </a:r>
            <a:r>
              <a:rPr lang="en-US" altLang="zh-CN" sz="1500" dirty="0">
                <a:latin typeface="宋体" panose="02010600030101010101" pitchFamily="2" charset="-122"/>
                <a:ea typeface="宋体" panose="02010600030101010101" pitchFamily="2" charset="-122"/>
              </a:rPr>
              <a:t>/</a:t>
            </a:r>
            <a:r>
              <a:rPr lang="zh-CN" altLang="en-US" sz="1500" dirty="0">
                <a:latin typeface="宋体" panose="02010600030101010101" pitchFamily="2" charset="-122"/>
                <a:ea typeface="宋体" panose="02010600030101010101" pitchFamily="2" charset="-122"/>
              </a:rPr>
              <a:t>疲劳，需要兼顾工作量与公平</a:t>
            </a:r>
          </a:p>
        </p:txBody>
      </p:sp>
      <p:cxnSp>
        <p:nvCxnSpPr>
          <p:cNvPr id="44" name="直接连接符 43">
            <a:extLst>
              <a:ext uri="{FF2B5EF4-FFF2-40B4-BE49-F238E27FC236}">
                <a16:creationId xmlns:a16="http://schemas.microsoft.com/office/drawing/2014/main" id="{05F2B891-05ED-826C-DA3A-B764531208E6}"/>
              </a:ext>
            </a:extLst>
          </p:cNvPr>
          <p:cNvCxnSpPr>
            <a:cxnSpLocks/>
          </p:cNvCxnSpPr>
          <p:nvPr/>
        </p:nvCxnSpPr>
        <p:spPr>
          <a:xfrm flipV="1">
            <a:off x="6266479" y="3708872"/>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EF1ADB2D-CD3B-1C91-EA55-A51525442CE2}"/>
              </a:ext>
            </a:extLst>
          </p:cNvPr>
          <p:cNvSpPr txBox="1"/>
          <p:nvPr/>
        </p:nvSpPr>
        <p:spPr>
          <a:xfrm>
            <a:off x="6850261" y="3539911"/>
            <a:ext cx="1993865" cy="323165"/>
          </a:xfrm>
          <a:prstGeom prst="rect">
            <a:avLst/>
          </a:prstGeom>
          <a:noFill/>
        </p:spPr>
        <p:txBody>
          <a:bodyPr wrap="square" rtlCol="0">
            <a:spAutoFit/>
          </a:bodyPr>
          <a:lstStyle/>
          <a:p>
            <a:pPr algn="just"/>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Lovato</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等 </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2025 [8]</a:t>
            </a:r>
            <a:endParaRPr lang="zh-CN" altLang="en-US" sz="1500"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46" name="直接连接符 45">
            <a:extLst>
              <a:ext uri="{FF2B5EF4-FFF2-40B4-BE49-F238E27FC236}">
                <a16:creationId xmlns:a16="http://schemas.microsoft.com/office/drawing/2014/main" id="{26C909BC-8D18-7DE6-8132-2CD8F8FDDC29}"/>
              </a:ext>
            </a:extLst>
          </p:cNvPr>
          <p:cNvCxnSpPr>
            <a:cxnSpLocks/>
          </p:cNvCxnSpPr>
          <p:nvPr/>
        </p:nvCxnSpPr>
        <p:spPr>
          <a:xfrm flipV="1">
            <a:off x="9048737" y="3708872"/>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373991DF-D5D1-B2DE-5B79-9DA0C33D08F5}"/>
              </a:ext>
            </a:extLst>
          </p:cNvPr>
          <p:cNvSpPr txBox="1"/>
          <p:nvPr/>
        </p:nvSpPr>
        <p:spPr>
          <a:xfrm>
            <a:off x="9545831" y="3538593"/>
            <a:ext cx="2421956" cy="323165"/>
          </a:xfrm>
          <a:prstGeom prst="rect">
            <a:avLst/>
          </a:prstGeom>
          <a:noFill/>
        </p:spPr>
        <p:txBody>
          <a:bodyPr wrap="square" rtlCol="0">
            <a:spAutoFit/>
          </a:bodyPr>
          <a:lstStyle/>
          <a:p>
            <a:pPr lvl="0">
              <a:defRPr/>
            </a:pP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约束规划</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+CPLEX</a:t>
            </a:r>
            <a:endParaRPr lang="zh-CN" altLang="en-US" sz="15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8" name="文本框 47">
            <a:extLst>
              <a:ext uri="{FF2B5EF4-FFF2-40B4-BE49-F238E27FC236}">
                <a16:creationId xmlns:a16="http://schemas.microsoft.com/office/drawing/2014/main" id="{FE45CCBF-3E03-7DA3-E71D-540DC5D2E87B}"/>
              </a:ext>
            </a:extLst>
          </p:cNvPr>
          <p:cNvSpPr txBox="1"/>
          <p:nvPr/>
        </p:nvSpPr>
        <p:spPr>
          <a:xfrm>
            <a:off x="4169309" y="1130984"/>
            <a:ext cx="1107996" cy="369332"/>
          </a:xfrm>
          <a:prstGeom prst="rect">
            <a:avLst/>
          </a:prstGeom>
          <a:noFill/>
        </p:spPr>
        <p:txBody>
          <a:bodyPr wrap="none" rtlCol="0">
            <a:spAutoFit/>
          </a:bodyPr>
          <a:lstStyle/>
          <a:p>
            <a:r>
              <a:rPr kumimoji="1" lang="zh-CN" altLang="en-US" dirty="0">
                <a:solidFill>
                  <a:srgbClr val="4883C0"/>
                </a:solidFill>
                <a:latin typeface="Microsoft YaHei" panose="020B0503020204020204" pitchFamily="34" charset="-122"/>
                <a:ea typeface="Microsoft YaHei" panose="020B0503020204020204" pitchFamily="34" charset="-122"/>
              </a:rPr>
              <a:t>具体描述</a:t>
            </a:r>
          </a:p>
        </p:txBody>
      </p:sp>
      <p:sp>
        <p:nvSpPr>
          <p:cNvPr id="49" name="文本框 48">
            <a:extLst>
              <a:ext uri="{FF2B5EF4-FFF2-40B4-BE49-F238E27FC236}">
                <a16:creationId xmlns:a16="http://schemas.microsoft.com/office/drawing/2014/main" id="{0458E101-6733-2184-A4E9-E8C12388B380}"/>
              </a:ext>
            </a:extLst>
          </p:cNvPr>
          <p:cNvSpPr txBox="1"/>
          <p:nvPr/>
        </p:nvSpPr>
        <p:spPr>
          <a:xfrm>
            <a:off x="6985603" y="1133335"/>
            <a:ext cx="1338828" cy="369332"/>
          </a:xfrm>
          <a:prstGeom prst="rect">
            <a:avLst/>
          </a:prstGeom>
          <a:noFill/>
        </p:spPr>
        <p:txBody>
          <a:bodyPr wrap="none" rtlCol="0">
            <a:spAutoFit/>
          </a:bodyPr>
          <a:lstStyle/>
          <a:p>
            <a:r>
              <a:rPr kumimoji="1" lang="zh-CN" altLang="en-US" dirty="0">
                <a:solidFill>
                  <a:srgbClr val="4883C0"/>
                </a:solidFill>
                <a:latin typeface="Microsoft YaHei" panose="020B0503020204020204" pitchFamily="34" charset="-122"/>
                <a:ea typeface="Microsoft YaHei" panose="020B0503020204020204" pitchFamily="34" charset="-122"/>
              </a:rPr>
              <a:t>代表性研究</a:t>
            </a:r>
          </a:p>
        </p:txBody>
      </p:sp>
      <p:cxnSp>
        <p:nvCxnSpPr>
          <p:cNvPr id="56" name="直接连接符 55">
            <a:extLst>
              <a:ext uri="{FF2B5EF4-FFF2-40B4-BE49-F238E27FC236}">
                <a16:creationId xmlns:a16="http://schemas.microsoft.com/office/drawing/2014/main" id="{DC0D4A63-BB1B-D291-015F-20253C4C19C8}"/>
              </a:ext>
            </a:extLst>
          </p:cNvPr>
          <p:cNvCxnSpPr>
            <a:cxnSpLocks/>
          </p:cNvCxnSpPr>
          <p:nvPr/>
        </p:nvCxnSpPr>
        <p:spPr>
          <a:xfrm>
            <a:off x="1553115" y="4418539"/>
            <a:ext cx="15556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925E2869-9447-BA77-64ED-20EB32D613DD}"/>
              </a:ext>
            </a:extLst>
          </p:cNvPr>
          <p:cNvCxnSpPr>
            <a:cxnSpLocks/>
          </p:cNvCxnSpPr>
          <p:nvPr/>
        </p:nvCxnSpPr>
        <p:spPr>
          <a:xfrm>
            <a:off x="1570649" y="2874798"/>
            <a:ext cx="15556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7DDE7A4E-DC85-99FF-2BF2-F54FD32CFE46}"/>
              </a:ext>
            </a:extLst>
          </p:cNvPr>
          <p:cNvSpPr txBox="1"/>
          <p:nvPr/>
        </p:nvSpPr>
        <p:spPr>
          <a:xfrm>
            <a:off x="1954380" y="4853304"/>
            <a:ext cx="1100216" cy="323165"/>
          </a:xfrm>
          <a:prstGeom prst="rect">
            <a:avLst/>
          </a:prstGeom>
          <a:noFill/>
        </p:spPr>
        <p:txBody>
          <a:bodyPr wrap="square" rtlCol="0">
            <a:spAutoFit/>
          </a:bodyPr>
          <a:lstStyle/>
          <a:p>
            <a:pPr algn="ctr"/>
            <a:r>
              <a:rPr lang="zh-CN" altLang="en-US" sz="1500" dirty="0">
                <a:latin typeface="宋体" panose="02010600030101010101" pitchFamily="2" charset="-122"/>
                <a:ea typeface="宋体" panose="02010600030101010101" pitchFamily="2" charset="-122"/>
              </a:rPr>
              <a:t>产品变更</a:t>
            </a:r>
          </a:p>
        </p:txBody>
      </p:sp>
      <p:cxnSp>
        <p:nvCxnSpPr>
          <p:cNvPr id="2097153" name="直接连接符 2097152">
            <a:extLst>
              <a:ext uri="{FF2B5EF4-FFF2-40B4-BE49-F238E27FC236}">
                <a16:creationId xmlns:a16="http://schemas.microsoft.com/office/drawing/2014/main" id="{CB29DB4E-44A7-5890-0C49-9F97B60A102A}"/>
              </a:ext>
            </a:extLst>
          </p:cNvPr>
          <p:cNvCxnSpPr>
            <a:cxnSpLocks/>
          </p:cNvCxnSpPr>
          <p:nvPr/>
        </p:nvCxnSpPr>
        <p:spPr>
          <a:xfrm flipV="1">
            <a:off x="3078906" y="5033732"/>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97154" name="直接连接符 2097153">
            <a:extLst>
              <a:ext uri="{FF2B5EF4-FFF2-40B4-BE49-F238E27FC236}">
                <a16:creationId xmlns:a16="http://schemas.microsoft.com/office/drawing/2014/main" id="{E39F8066-E9D9-D52B-45CF-86153DA378E1}"/>
              </a:ext>
            </a:extLst>
          </p:cNvPr>
          <p:cNvCxnSpPr>
            <a:cxnSpLocks/>
          </p:cNvCxnSpPr>
          <p:nvPr/>
        </p:nvCxnSpPr>
        <p:spPr>
          <a:xfrm flipV="1">
            <a:off x="9044879" y="5028531"/>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97155" name="直接连接符 2097154">
            <a:extLst>
              <a:ext uri="{FF2B5EF4-FFF2-40B4-BE49-F238E27FC236}">
                <a16:creationId xmlns:a16="http://schemas.microsoft.com/office/drawing/2014/main" id="{AD415088-4894-55DC-79E3-4783597D3CF9}"/>
              </a:ext>
            </a:extLst>
          </p:cNvPr>
          <p:cNvCxnSpPr>
            <a:cxnSpLocks/>
          </p:cNvCxnSpPr>
          <p:nvPr/>
        </p:nvCxnSpPr>
        <p:spPr>
          <a:xfrm flipV="1">
            <a:off x="6266478" y="5033447"/>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97160" name="文本框 2097159">
            <a:extLst>
              <a:ext uri="{FF2B5EF4-FFF2-40B4-BE49-F238E27FC236}">
                <a16:creationId xmlns:a16="http://schemas.microsoft.com/office/drawing/2014/main" id="{703F0F3D-BDBA-BECF-9AB2-5447E040C71B}"/>
              </a:ext>
            </a:extLst>
          </p:cNvPr>
          <p:cNvSpPr txBox="1"/>
          <p:nvPr/>
        </p:nvSpPr>
        <p:spPr>
          <a:xfrm>
            <a:off x="3732584" y="4789874"/>
            <a:ext cx="2469337" cy="553998"/>
          </a:xfrm>
          <a:prstGeom prst="rect">
            <a:avLst/>
          </a:prstGeom>
          <a:noFill/>
        </p:spPr>
        <p:txBody>
          <a:bodyPr wrap="square" rtlCol="0">
            <a:spAutoFit/>
          </a:bodyPr>
          <a:lstStyle/>
          <a:p>
            <a:pPr algn="just"/>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机型切换、工艺变化引发工作组重构与资源再配置</a:t>
            </a:r>
          </a:p>
        </p:txBody>
      </p:sp>
      <p:sp>
        <p:nvSpPr>
          <p:cNvPr id="2097162" name="文本框 2097161">
            <a:extLst>
              <a:ext uri="{FF2B5EF4-FFF2-40B4-BE49-F238E27FC236}">
                <a16:creationId xmlns:a16="http://schemas.microsoft.com/office/drawing/2014/main" id="{0482FDDA-0638-0BC1-0899-B18EF29C8BA2}"/>
              </a:ext>
            </a:extLst>
          </p:cNvPr>
          <p:cNvSpPr txBox="1"/>
          <p:nvPr/>
        </p:nvSpPr>
        <p:spPr>
          <a:xfrm>
            <a:off x="6879900" y="4867945"/>
            <a:ext cx="1626531" cy="323165"/>
          </a:xfrm>
          <a:prstGeom prst="rect">
            <a:avLst/>
          </a:prstGeom>
          <a:noFill/>
        </p:spPr>
        <p:txBody>
          <a:bodyPr wrap="square">
            <a:spAutoFit/>
          </a:bodyPr>
          <a:lstStyle/>
          <a:p>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Cai</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等 </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2024 [10]</a:t>
            </a:r>
            <a:endParaRPr lang="zh-CN" altLang="en-US" sz="1500" dirty="0"/>
          </a:p>
        </p:txBody>
      </p:sp>
      <p:cxnSp>
        <p:nvCxnSpPr>
          <p:cNvPr id="2097168" name="直接连接符 2097167">
            <a:extLst>
              <a:ext uri="{FF2B5EF4-FFF2-40B4-BE49-F238E27FC236}">
                <a16:creationId xmlns:a16="http://schemas.microsoft.com/office/drawing/2014/main" id="{C1B99724-67E8-394F-2F52-8B076606E7A6}"/>
              </a:ext>
            </a:extLst>
          </p:cNvPr>
          <p:cNvCxnSpPr>
            <a:cxnSpLocks/>
          </p:cNvCxnSpPr>
          <p:nvPr/>
        </p:nvCxnSpPr>
        <p:spPr>
          <a:xfrm>
            <a:off x="3301621" y="1543533"/>
            <a:ext cx="7089" cy="3531296"/>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097169" name="直接连接符 2097168">
            <a:extLst>
              <a:ext uri="{FF2B5EF4-FFF2-40B4-BE49-F238E27FC236}">
                <a16:creationId xmlns:a16="http://schemas.microsoft.com/office/drawing/2014/main" id="{6B20C51C-A880-85FC-F703-BD538722135A}"/>
              </a:ext>
            </a:extLst>
          </p:cNvPr>
          <p:cNvCxnSpPr>
            <a:cxnSpLocks/>
          </p:cNvCxnSpPr>
          <p:nvPr/>
        </p:nvCxnSpPr>
        <p:spPr>
          <a:xfrm>
            <a:off x="9269714" y="1519396"/>
            <a:ext cx="1" cy="3555433"/>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097170" name="直接连接符 2097169">
            <a:extLst>
              <a:ext uri="{FF2B5EF4-FFF2-40B4-BE49-F238E27FC236}">
                <a16:creationId xmlns:a16="http://schemas.microsoft.com/office/drawing/2014/main" id="{CF390478-E291-F486-38F1-491458C1EE43}"/>
              </a:ext>
            </a:extLst>
          </p:cNvPr>
          <p:cNvCxnSpPr>
            <a:cxnSpLocks/>
          </p:cNvCxnSpPr>
          <p:nvPr/>
        </p:nvCxnSpPr>
        <p:spPr>
          <a:xfrm>
            <a:off x="6521758" y="1538103"/>
            <a:ext cx="0" cy="3536726"/>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097171" name="文本框 2097170">
            <a:extLst>
              <a:ext uri="{FF2B5EF4-FFF2-40B4-BE49-F238E27FC236}">
                <a16:creationId xmlns:a16="http://schemas.microsoft.com/office/drawing/2014/main" id="{F8CCD8A0-CFF7-B05C-F3AB-8240A4042E99}"/>
              </a:ext>
            </a:extLst>
          </p:cNvPr>
          <p:cNvSpPr txBox="1"/>
          <p:nvPr/>
        </p:nvSpPr>
        <p:spPr>
          <a:xfrm>
            <a:off x="9545830" y="4860513"/>
            <a:ext cx="2333849" cy="323165"/>
          </a:xfrm>
          <a:prstGeom prst="rect">
            <a:avLst/>
          </a:prstGeom>
          <a:noFill/>
        </p:spPr>
        <p:txBody>
          <a:bodyPr wrap="square" rtlCol="0">
            <a:spAutoFit/>
          </a:bodyPr>
          <a:lstStyle/>
          <a:p>
            <a:pPr algn="just"/>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基于进化知识转移的</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EA</a:t>
            </a:r>
            <a:endParaRPr lang="zh-CN" altLang="en-US" sz="15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181610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EBFB8-E3DF-2349-3AAC-DC2640CB1774}"/>
            </a:ext>
          </a:extLst>
        </p:cNvPr>
        <p:cNvGrpSpPr/>
        <p:nvPr/>
      </p:nvGrpSpPr>
      <p:grpSpPr>
        <a:xfrm>
          <a:off x="0" y="0"/>
          <a:ext cx="0" cy="0"/>
          <a:chOff x="0" y="0"/>
          <a:chExt cx="0" cy="0"/>
        </a:xfrm>
      </p:grpSpPr>
      <p:sp>
        <p:nvSpPr>
          <p:cNvPr id="1048586" name="稻壳儿小白白(http://dwz.cn/Wu2UP)">
            <a:extLst>
              <a:ext uri="{FF2B5EF4-FFF2-40B4-BE49-F238E27FC236}">
                <a16:creationId xmlns:a16="http://schemas.microsoft.com/office/drawing/2014/main" id="{1BA6C1D2-7DCE-030A-F573-DFEB6BF918CF}"/>
              </a:ext>
            </a:extLst>
          </p:cNvPr>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52" name="图片 17">
            <a:extLst>
              <a:ext uri="{FF2B5EF4-FFF2-40B4-BE49-F238E27FC236}">
                <a16:creationId xmlns:a16="http://schemas.microsoft.com/office/drawing/2014/main" id="{5BC3993C-A044-A893-CF1E-FDADCC82ACDA}"/>
              </a:ext>
            </a:extLst>
          </p:cNvPr>
          <p:cNvPicPr>
            <a:picLocks noChangeAspect="1"/>
          </p:cNvPicPr>
          <p:nvPr/>
        </p:nvPicPr>
        <p:blipFill rotWithShape="1">
          <a:blip r:embed="rId4" cstate="print"/>
          <a:srcRect r="855"/>
          <a:stretch>
            <a:fillRect/>
          </a:stretch>
        </p:blipFill>
        <p:spPr>
          <a:xfrm>
            <a:off x="10301625" y="20910"/>
            <a:ext cx="1809525" cy="526143"/>
          </a:xfrm>
          <a:prstGeom prst="rect">
            <a:avLst/>
          </a:prstGeom>
        </p:spPr>
      </p:pic>
      <p:sp>
        <p:nvSpPr>
          <p:cNvPr id="1048587" name="标题 1">
            <a:extLst>
              <a:ext uri="{FF2B5EF4-FFF2-40B4-BE49-F238E27FC236}">
                <a16:creationId xmlns:a16="http://schemas.microsoft.com/office/drawing/2014/main" id="{616F9490-16CE-17E3-A32F-60D69E420DDD}"/>
              </a:ext>
            </a:extLst>
          </p:cNvPr>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2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文献综述</a:t>
            </a:r>
          </a:p>
        </p:txBody>
      </p:sp>
      <p:sp>
        <p:nvSpPr>
          <p:cNvPr id="1048590" name="矩形 14">
            <a:extLst>
              <a:ext uri="{FF2B5EF4-FFF2-40B4-BE49-F238E27FC236}">
                <a16:creationId xmlns:a16="http://schemas.microsoft.com/office/drawing/2014/main" id="{C4AEBBAE-EEEB-329E-726F-47CABF108D3F}"/>
              </a:ext>
            </a:extLst>
          </p:cNvPr>
          <p:cNvSpPr/>
          <p:nvPr/>
        </p:nvSpPr>
        <p:spPr>
          <a:xfrm>
            <a:off x="234099" y="5428629"/>
            <a:ext cx="11733687" cy="1261884"/>
          </a:xfrm>
          <a:prstGeom prst="rect">
            <a:avLst/>
          </a:prstGeom>
          <a:noFill/>
          <a:ln w="38100">
            <a:solidFill>
              <a:srgbClr val="C00000"/>
            </a:solidFill>
          </a:ln>
          <a:effectLst/>
        </p:spPr>
        <p:txBody>
          <a:bodyPr wrap="square" anchor="ctr">
            <a:spAutoFit/>
          </a:bodyPr>
          <a:lstStyle/>
          <a:p>
            <a:pPr marL="342900" indent="-342900" algn="just">
              <a:buFont typeface="Wingdings" panose="05000000000000000000" pitchFamily="2" charset="2"/>
              <a:buChar char="Ø"/>
            </a:pPr>
            <a:r>
              <a:rPr lang="zh-CN" altLang="en-US" sz="1900" b="1" dirty="0">
                <a:solidFill>
                  <a:srgbClr val="C00000"/>
                </a:solidFill>
                <a:latin typeface="微软雅黑" panose="020B0503020204020204" charset="-122"/>
                <a:ea typeface="微软雅黑" panose="020B0503020204020204" charset="-122"/>
              </a:rPr>
              <a:t>处理方法局限</a:t>
            </a:r>
            <a:r>
              <a:rPr lang="zh-CN" altLang="en-US" sz="1900" b="1" dirty="0">
                <a:solidFill>
                  <a:srgbClr val="000F82"/>
                </a:solidFill>
                <a:latin typeface="微软雅黑" panose="020B0503020204020204" charset="-122"/>
                <a:ea typeface="微软雅黑" panose="020B0503020204020204" charset="-122"/>
              </a:rPr>
              <a:t>：以往研究对加工质量的关注不足，在生产调度决策中，大多以“时间维度”为核心导向。即使有所考虑，质量管控与生产调度这两大核心环节在制造系统分析中也多被独立处理。</a:t>
            </a:r>
            <a:endParaRPr lang="en-US" altLang="zh-CN" sz="1900" b="1" dirty="0">
              <a:solidFill>
                <a:srgbClr val="000F82"/>
              </a:solidFill>
              <a:latin typeface="微软雅黑" panose="020B0503020204020204" charset="-122"/>
              <a:ea typeface="微软雅黑" panose="020B0503020204020204" charset="-122"/>
            </a:endParaRPr>
          </a:p>
          <a:p>
            <a:pPr marL="342900" indent="-342900" algn="just">
              <a:buFont typeface="Wingdings" panose="05000000000000000000" pitchFamily="2" charset="2"/>
              <a:buChar char="Ø"/>
            </a:pPr>
            <a:r>
              <a:rPr lang="zh-CN" altLang="en-US" sz="1900" b="1" dirty="0">
                <a:solidFill>
                  <a:srgbClr val="C00000"/>
                </a:solidFill>
                <a:latin typeface="微软雅黑" panose="020B0503020204020204" charset="-122"/>
                <a:ea typeface="微软雅黑" panose="020B0503020204020204" charset="-122"/>
              </a:rPr>
              <a:t>研究场景局限：</a:t>
            </a:r>
            <a:r>
              <a:rPr lang="zh-CN" altLang="en-US" sz="1900" b="1" dirty="0">
                <a:solidFill>
                  <a:srgbClr val="000F82"/>
                </a:solidFill>
                <a:latin typeface="微软雅黑" panose="020B0503020204020204" charset="-122"/>
                <a:ea typeface="微软雅黑" panose="020B0503020204020204" charset="-122"/>
              </a:rPr>
              <a:t>多数聚焦于单机系统或单产品制造过程，难以适应现代柔性制造环境中多任务关联、多资源耦合的复杂现状。这一研究缺口在飞机脉动装配线等复杂制造场景中更为突出。 </a:t>
            </a:r>
            <a:endParaRPr lang="en-US" altLang="zh-CN" sz="1900" b="1" dirty="0">
              <a:solidFill>
                <a:srgbClr val="000F82"/>
              </a:solidFill>
              <a:latin typeface="微软雅黑" panose="020B0503020204020204" charset="-122"/>
              <a:ea typeface="微软雅黑" panose="020B0503020204020204" charset="-122"/>
            </a:endParaRPr>
          </a:p>
        </p:txBody>
      </p:sp>
      <p:sp>
        <p:nvSpPr>
          <p:cNvPr id="4" name="等腰三角形 8">
            <a:extLst>
              <a:ext uri="{FF2B5EF4-FFF2-40B4-BE49-F238E27FC236}">
                <a16:creationId xmlns:a16="http://schemas.microsoft.com/office/drawing/2014/main" id="{52ADCFB9-52E4-9A9E-C67D-9E807BCDC83B}"/>
              </a:ext>
            </a:extLst>
          </p:cNvPr>
          <p:cNvSpPr/>
          <p:nvPr/>
        </p:nvSpPr>
        <p:spPr>
          <a:xfrm rot="5400000">
            <a:off x="463619" y="788479"/>
            <a:ext cx="208097" cy="179330"/>
          </a:xfrm>
          <a:prstGeom prst="triangle">
            <a:avLst/>
          </a:prstGeom>
          <a:solidFill>
            <a:srgbClr val="0C49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3E95"/>
              </a:solidFill>
            </a:endParaRPr>
          </a:p>
        </p:txBody>
      </p:sp>
      <p:sp>
        <p:nvSpPr>
          <p:cNvPr id="15" name="矩形 10">
            <a:extLst>
              <a:ext uri="{FF2B5EF4-FFF2-40B4-BE49-F238E27FC236}">
                <a16:creationId xmlns:a16="http://schemas.microsoft.com/office/drawing/2014/main" id="{0D3953B6-DDC3-C068-51ED-B535A94531BE}"/>
              </a:ext>
            </a:extLst>
          </p:cNvPr>
          <p:cNvSpPr/>
          <p:nvPr/>
        </p:nvSpPr>
        <p:spPr>
          <a:xfrm>
            <a:off x="657332" y="575003"/>
            <a:ext cx="4606329" cy="542389"/>
          </a:xfrm>
          <a:prstGeom prst="rect">
            <a:avLst/>
          </a:prstGeom>
          <a:noFill/>
          <a:ln>
            <a:noFill/>
          </a:ln>
        </p:spPr>
        <p:txBody>
          <a:bodyPr wrap="square" lIns="121917" tIns="60958" rIns="121917" bIns="60958">
            <a:spAutoFit/>
          </a:bodyPr>
          <a:lstStyle/>
          <a:p>
            <a:pPr>
              <a:lnSpc>
                <a:spcPct val="125000"/>
              </a:lnSpc>
            </a:pPr>
            <a:r>
              <a:rPr lang="zh-CN" altLang="en-US" sz="2400"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rPr>
              <a:t>生产调度与质量控制的联合优化</a:t>
            </a:r>
          </a:p>
        </p:txBody>
      </p:sp>
      <p:graphicFrame>
        <p:nvGraphicFramePr>
          <p:cNvPr id="19" name="表格 18">
            <a:extLst>
              <a:ext uri="{FF2B5EF4-FFF2-40B4-BE49-F238E27FC236}">
                <a16:creationId xmlns:a16="http://schemas.microsoft.com/office/drawing/2014/main" id="{95F6ADE3-B589-5846-1F71-F565C99392E7}"/>
              </a:ext>
            </a:extLst>
          </p:cNvPr>
          <p:cNvGraphicFramePr>
            <a:graphicFrameLocks noGrp="1"/>
          </p:cNvGraphicFramePr>
          <p:nvPr>
            <p:custDataLst>
              <p:tags r:id="rId1"/>
            </p:custDataLst>
            <p:extLst>
              <p:ext uri="{D42A27DB-BD31-4B8C-83A1-F6EECF244321}">
                <p14:modId xmlns:p14="http://schemas.microsoft.com/office/powerpoint/2010/main" val="2507026268"/>
              </p:ext>
            </p:extLst>
          </p:nvPr>
        </p:nvGraphicFramePr>
        <p:xfrm>
          <a:off x="234099" y="1190245"/>
          <a:ext cx="11733686" cy="4120515"/>
        </p:xfrm>
        <a:graphic>
          <a:graphicData uri="http://schemas.openxmlformats.org/drawingml/2006/table">
            <a:tbl>
              <a:tblPr firstRow="1" bandRow="1">
                <a:tableStyleId>{5C22544A-7EE6-4342-B048-85BDC9FD1C3A}</a:tableStyleId>
              </a:tblPr>
              <a:tblGrid>
                <a:gridCol w="1224311">
                  <a:extLst>
                    <a:ext uri="{9D8B030D-6E8A-4147-A177-3AD203B41FA5}">
                      <a16:colId xmlns:a16="http://schemas.microsoft.com/office/drawing/2014/main" val="20000"/>
                    </a:ext>
                  </a:extLst>
                </a:gridCol>
                <a:gridCol w="1284790">
                  <a:extLst>
                    <a:ext uri="{9D8B030D-6E8A-4147-A177-3AD203B41FA5}">
                      <a16:colId xmlns:a16="http://schemas.microsoft.com/office/drawing/2014/main" val="20002"/>
                    </a:ext>
                  </a:extLst>
                </a:gridCol>
                <a:gridCol w="2720051">
                  <a:extLst>
                    <a:ext uri="{9D8B030D-6E8A-4147-A177-3AD203B41FA5}">
                      <a16:colId xmlns:a16="http://schemas.microsoft.com/office/drawing/2014/main" val="20003"/>
                    </a:ext>
                  </a:extLst>
                </a:gridCol>
                <a:gridCol w="6504534">
                  <a:extLst>
                    <a:ext uri="{9D8B030D-6E8A-4147-A177-3AD203B41FA5}">
                      <a16:colId xmlns:a16="http://schemas.microsoft.com/office/drawing/2014/main" val="20004"/>
                    </a:ext>
                  </a:extLst>
                </a:gridCol>
              </a:tblGrid>
              <a:tr h="414020">
                <a:tc>
                  <a:txBody>
                    <a:bodyPr/>
                    <a:lstStyle/>
                    <a:p>
                      <a:pPr algn="ctr"/>
                      <a:r>
                        <a:rPr kumimoji="1" lang="zh-CN" altLang="en-US" sz="1600" kern="1200" dirty="0">
                          <a:solidFill>
                            <a:schemeClr val="bg1"/>
                          </a:solidFill>
                          <a:latin typeface="Microsoft YaHei" panose="020B0503020204020204" pitchFamily="34" charset="-122"/>
                          <a:ea typeface="Microsoft YaHei" panose="020B0503020204020204" pitchFamily="34" charset="-122"/>
                          <a:cs typeface="+mn-cs"/>
                        </a:rPr>
                        <a:t>代表性研究</a:t>
                      </a:r>
                    </a:p>
                  </a:txBody>
                  <a:tcPr/>
                </a:tc>
                <a:tc>
                  <a:txBody>
                    <a:bodyPr/>
                    <a:lstStyle/>
                    <a:p>
                      <a:pPr marL="0" algn="ctr" defTabSz="914400" rtl="0" eaLnBrk="1" latinLnBrk="0" hangingPunct="1"/>
                      <a:r>
                        <a:rPr kumimoji="1" lang="zh-CN" altLang="en-US" sz="1600" b="1" kern="1200" dirty="0">
                          <a:solidFill>
                            <a:schemeClr val="bg1"/>
                          </a:solidFill>
                          <a:latin typeface="Microsoft YaHei" panose="020B0503020204020204" pitchFamily="34" charset="-122"/>
                          <a:ea typeface="Microsoft YaHei" panose="020B0503020204020204" pitchFamily="34" charset="-122"/>
                          <a:cs typeface="+mn-cs"/>
                        </a:rPr>
                        <a:t>求解方法</a:t>
                      </a:r>
                    </a:p>
                  </a:txBody>
                  <a:tcPr/>
                </a:tc>
                <a:tc>
                  <a:txBody>
                    <a:bodyPr/>
                    <a:lstStyle/>
                    <a:p>
                      <a:pPr marL="0" algn="ctr" defTabSz="914400" rtl="0" eaLnBrk="1" latinLnBrk="0" hangingPunct="1"/>
                      <a:r>
                        <a:rPr kumimoji="1" lang="zh-CN" altLang="en-US" sz="1600" b="1" kern="1200" dirty="0">
                          <a:solidFill>
                            <a:schemeClr val="bg1"/>
                          </a:solidFill>
                          <a:latin typeface="Microsoft YaHei" panose="020B0503020204020204" pitchFamily="34" charset="-122"/>
                          <a:ea typeface="Microsoft YaHei" panose="020B0503020204020204" pitchFamily="34" charset="-122"/>
                          <a:cs typeface="+mn-cs"/>
                        </a:rPr>
                        <a:t>优化目标</a:t>
                      </a:r>
                    </a:p>
                  </a:txBody>
                  <a:tcPr/>
                </a:tc>
                <a:tc>
                  <a:txBody>
                    <a:bodyPr/>
                    <a:lstStyle/>
                    <a:p>
                      <a:pPr marL="0" algn="ctr" defTabSz="914400" rtl="0" eaLnBrk="1" latinLnBrk="0" hangingPunct="1"/>
                      <a:r>
                        <a:rPr kumimoji="1" lang="zh-CN" altLang="en-US" sz="1600" b="1" kern="1200" dirty="0">
                          <a:solidFill>
                            <a:schemeClr val="bg1"/>
                          </a:solidFill>
                          <a:latin typeface="Microsoft YaHei" panose="020B0503020204020204" pitchFamily="34" charset="-122"/>
                          <a:ea typeface="Microsoft YaHei" panose="020B0503020204020204" pitchFamily="34" charset="-122"/>
                          <a:cs typeface="+mn-cs"/>
                        </a:rPr>
                        <a:t>联合优化思路</a:t>
                      </a:r>
                    </a:p>
                  </a:txBody>
                  <a:tcPr/>
                </a:tc>
                <a:extLst>
                  <a:ext uri="{0D108BD9-81ED-4DB2-BD59-A6C34878D82A}">
                    <a16:rowId xmlns:a16="http://schemas.microsoft.com/office/drawing/2014/main" val="10000"/>
                  </a:ext>
                </a:extLst>
              </a:tr>
              <a:tr h="575945">
                <a:tc>
                  <a:txBody>
                    <a:bodyPr/>
                    <a:lstStyle/>
                    <a:p>
                      <a:pPr marL="0" algn="ctr" defTabSz="914400" rtl="0" eaLnBrk="1" latinLnBrk="0" hangingPunct="1"/>
                      <a:r>
                        <a:rPr lang="en-US" altLang="zh-CN"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Han</a:t>
                      </a:r>
                      <a:r>
                        <a:rPr lang="zh-CN" altLang="en-US" sz="1400" kern="1200" dirty="0">
                          <a:solidFill>
                            <a:schemeClr val="tx1"/>
                          </a:solidFill>
                          <a:latin typeface="宋体" panose="02010600030101010101" pitchFamily="2" charset="-122"/>
                          <a:ea typeface="宋体" panose="02010600030101010101" pitchFamily="2" charset="-122"/>
                          <a:cs typeface="+mn-cs"/>
                        </a:rPr>
                        <a:t>等 </a:t>
                      </a:r>
                      <a:r>
                        <a:rPr lang="en-US" altLang="zh-CN" sz="1400" kern="1200" dirty="0">
                          <a:solidFill>
                            <a:schemeClr val="tx1"/>
                          </a:solidFill>
                          <a:latin typeface="宋体" panose="02010600030101010101" pitchFamily="2" charset="-122"/>
                          <a:ea typeface="宋体" panose="02010600030101010101" pitchFamily="2" charset="-122"/>
                          <a:cs typeface="+mn-cs"/>
                        </a:rPr>
                        <a:t>2017[11]</a:t>
                      </a:r>
                    </a:p>
                  </a:txBody>
                  <a:tcPr anchor="ctr"/>
                </a:tc>
                <a:tc>
                  <a:txBody>
                    <a:bodyPr/>
                    <a:lstStyle/>
                    <a:p>
                      <a:pPr algn="ctr"/>
                      <a:r>
                        <a:rPr lang="zh-CN" altLang="en-US" sz="1400" kern="1200" dirty="0">
                          <a:solidFill>
                            <a:schemeClr val="tx1"/>
                          </a:solidFill>
                          <a:latin typeface="宋体" panose="02010600030101010101" pitchFamily="2" charset="-122"/>
                          <a:ea typeface="宋体" panose="02010600030101010101" pitchFamily="2" charset="-122"/>
                          <a:cs typeface="+mn-cs"/>
                        </a:rPr>
                        <a:t>启发式算法（</a:t>
                      </a:r>
                      <a:r>
                        <a:rPr lang="en-US" altLang="zh-CN" sz="1400" kern="1200" dirty="0">
                          <a:solidFill>
                            <a:schemeClr val="tx1"/>
                          </a:solidFill>
                          <a:latin typeface="宋体" panose="02010600030101010101" pitchFamily="2" charset="-122"/>
                          <a:ea typeface="宋体" panose="02010600030101010101" pitchFamily="2" charset="-122"/>
                          <a:cs typeface="+mn-cs"/>
                        </a:rPr>
                        <a:t>HA</a:t>
                      </a:r>
                      <a:r>
                        <a:rPr lang="zh-CN" altLang="en-US" sz="1400" kern="1200" dirty="0">
                          <a:solidFill>
                            <a:schemeClr val="tx1"/>
                          </a:solidFill>
                          <a:latin typeface="宋体" panose="02010600030101010101" pitchFamily="2" charset="-122"/>
                          <a:ea typeface="宋体" panose="02010600030101010101" pitchFamily="2" charset="-122"/>
                          <a:cs typeface="+mn-cs"/>
                        </a:rPr>
                        <a:t>）</a:t>
                      </a:r>
                    </a:p>
                  </a:txBody>
                  <a:tcPr anchor="ctr"/>
                </a:tc>
                <a:tc>
                  <a:txBody>
                    <a:bodyPr/>
                    <a:lstStyle/>
                    <a:p>
                      <a:pPr algn="just"/>
                      <a:r>
                        <a:rPr lang="zh-CN" altLang="en-US" sz="1400" kern="1200" dirty="0">
                          <a:solidFill>
                            <a:schemeClr val="tx1"/>
                          </a:solidFill>
                          <a:latin typeface="宋体" panose="02010600030101010101" pitchFamily="2" charset="-122"/>
                          <a:ea typeface="宋体" panose="02010600030101010101" pitchFamily="2" charset="-122"/>
                          <a:cs typeface="+mn-cs"/>
                        </a:rPr>
                        <a:t>最小化最大完工时间</a:t>
                      </a:r>
                      <a:endParaRPr lang="en-US" altLang="zh-CN" sz="1400" kern="1200" dirty="0">
                        <a:solidFill>
                          <a:schemeClr val="tx1"/>
                        </a:solidFill>
                        <a:latin typeface="宋体" panose="02010600030101010101" pitchFamily="2" charset="-122"/>
                        <a:ea typeface="宋体" panose="02010600030101010101" pitchFamily="2" charset="-122"/>
                        <a:cs typeface="+mn-cs"/>
                      </a:endParaRPr>
                    </a:p>
                    <a:p>
                      <a:pPr algn="just"/>
                      <a:r>
                        <a:rPr lang="zh-CN" altLang="en-US" sz="1400" kern="1200" dirty="0">
                          <a:solidFill>
                            <a:schemeClr val="tx1"/>
                          </a:solidFill>
                          <a:latin typeface="宋体" panose="02010600030101010101" pitchFamily="2" charset="-122"/>
                          <a:ea typeface="宋体" panose="02010600030101010101" pitchFamily="2" charset="-122"/>
                          <a:cs typeface="+mn-cs"/>
                        </a:rPr>
                        <a:t>最大化产品质量状态</a:t>
                      </a:r>
                    </a:p>
                  </a:txBody>
                  <a:tcPr anchor="ctr"/>
                </a:tc>
                <a:tc>
                  <a:txBody>
                    <a:bodyPr/>
                    <a:lstStyle/>
                    <a:p>
                      <a:pPr algn="l">
                        <a:buClrTx/>
                        <a:buSzTx/>
                        <a:buFontTx/>
                      </a:pPr>
                      <a:r>
                        <a:rPr lang="zh-CN" altLang="en-US" sz="1400" kern="1200" dirty="0">
                          <a:solidFill>
                            <a:schemeClr val="tx1"/>
                          </a:solidFill>
                          <a:latin typeface="宋体" panose="02010600030101010101" pitchFamily="2" charset="-122"/>
                          <a:ea typeface="宋体" panose="02010600030101010101" pitchFamily="2" charset="-122"/>
                          <a:cs typeface="+mn-cs"/>
                        </a:rPr>
                        <a:t>工序加工</a:t>
                      </a:r>
                      <a:r>
                        <a:rPr lang="zh-CN" altLang="en-US" sz="1400" kern="1200" dirty="0">
                          <a:solidFill>
                            <a:srgbClr val="C00000"/>
                          </a:solidFill>
                          <a:latin typeface="宋体" panose="02010600030101010101" pitchFamily="2" charset="-122"/>
                          <a:ea typeface="宋体" panose="02010600030101010101" pitchFamily="2" charset="-122"/>
                          <a:cs typeface="+mn-cs"/>
                        </a:rPr>
                        <a:t>质量</a:t>
                      </a:r>
                      <a:r>
                        <a:rPr lang="zh-CN" altLang="en-US" sz="1400" kern="1200" dirty="0">
                          <a:solidFill>
                            <a:schemeClr val="tx1"/>
                          </a:solidFill>
                          <a:latin typeface="宋体" panose="02010600030101010101" pitchFamily="2" charset="-122"/>
                          <a:ea typeface="宋体" panose="02010600030101010101" pitchFamily="2" charset="-122"/>
                          <a:cs typeface="+mn-cs"/>
                        </a:rPr>
                        <a:t>受</a:t>
                      </a:r>
                      <a:r>
                        <a:rPr lang="zh-CN" altLang="en-US" sz="1400" kern="1200" dirty="0">
                          <a:solidFill>
                            <a:srgbClr val="C00000"/>
                          </a:solidFill>
                          <a:latin typeface="宋体" panose="02010600030101010101" pitchFamily="2" charset="-122"/>
                          <a:ea typeface="宋体" panose="02010600030101010101" pitchFamily="2" charset="-122"/>
                          <a:cs typeface="+mn-cs"/>
                        </a:rPr>
                        <a:t>紧前工序以及当前工序加工机器状态</a:t>
                      </a:r>
                      <a:r>
                        <a:rPr lang="zh-CN" altLang="en-US" sz="1400" kern="1200" dirty="0">
                          <a:solidFill>
                            <a:schemeClr val="tx1"/>
                          </a:solidFill>
                          <a:latin typeface="宋体" panose="02010600030101010101" pitchFamily="2" charset="-122"/>
                          <a:ea typeface="宋体" panose="02010600030101010101" pitchFamily="2" charset="-122"/>
                          <a:cs typeface="+mn-cs"/>
                        </a:rPr>
                        <a:t>影响</a:t>
                      </a:r>
                    </a:p>
                    <a:p>
                      <a:pPr algn="l">
                        <a:buClrTx/>
                        <a:buSzTx/>
                        <a:buFontTx/>
                      </a:pPr>
                      <a:r>
                        <a:rPr lang="zh-CN" altLang="en-US" sz="1400" kern="1200" dirty="0">
                          <a:solidFill>
                            <a:schemeClr val="tx1"/>
                          </a:solidFill>
                          <a:latin typeface="宋体" panose="02010600030101010101" pitchFamily="2" charset="-122"/>
                          <a:ea typeface="宋体" panose="02010600030101010101" pitchFamily="2" charset="-122"/>
                          <a:cs typeface="+mn-cs"/>
                        </a:rPr>
                        <a:t>后续工序设备选择规则中设备优先级由质量状态、设备性能、时间成本综合决定</a:t>
                      </a:r>
                    </a:p>
                  </a:txBody>
                  <a:tcPr anchor="ctr"/>
                </a:tc>
                <a:extLst>
                  <a:ext uri="{0D108BD9-81ED-4DB2-BD59-A6C34878D82A}">
                    <a16:rowId xmlns:a16="http://schemas.microsoft.com/office/drawing/2014/main" val="10001"/>
                  </a:ext>
                </a:extLst>
              </a:tr>
              <a:tr h="574675">
                <a:tc>
                  <a:txBody>
                    <a:bodyPr/>
                    <a:lstStyle/>
                    <a:p>
                      <a:pPr marL="0" algn="ctr" defTabSz="914400" rtl="0" eaLnBrk="1" latinLnBrk="0" hangingPunct="1"/>
                      <a:r>
                        <a:rPr lang="en-US" altLang="zh-CN"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Liu</a:t>
                      </a:r>
                      <a:r>
                        <a:rPr lang="zh-CN" altLang="en-US" sz="1400" kern="1200" dirty="0">
                          <a:solidFill>
                            <a:schemeClr val="tx1"/>
                          </a:solidFill>
                          <a:latin typeface="宋体" panose="02010600030101010101" pitchFamily="2" charset="-122"/>
                          <a:ea typeface="宋体" panose="02010600030101010101" pitchFamily="2" charset="-122"/>
                          <a:cs typeface="+mn-cs"/>
                        </a:rPr>
                        <a:t>等 </a:t>
                      </a:r>
                      <a:r>
                        <a:rPr lang="en-US" altLang="zh-CN" sz="1400" kern="1200" dirty="0">
                          <a:solidFill>
                            <a:schemeClr val="tx1"/>
                          </a:solidFill>
                          <a:latin typeface="宋体" panose="02010600030101010101" pitchFamily="2" charset="-122"/>
                          <a:ea typeface="宋体" panose="02010600030101010101" pitchFamily="2" charset="-122"/>
                          <a:cs typeface="+mn-cs"/>
                        </a:rPr>
                        <a:t>2017[12]</a:t>
                      </a:r>
                    </a:p>
                  </a:txBody>
                  <a:tcPr anchor="ctr"/>
                </a:tc>
                <a:tc>
                  <a:txBody>
                    <a:bodyPr/>
                    <a:lstStyle/>
                    <a:p>
                      <a:pPr algn="ctr">
                        <a:buClrTx/>
                        <a:buSzTx/>
                        <a:buFontTx/>
                      </a:pPr>
                      <a:r>
                        <a:rPr lang="zh-CN" altLang="en-US" sz="1400" kern="1200" dirty="0">
                          <a:solidFill>
                            <a:schemeClr val="tx1"/>
                          </a:solidFill>
                          <a:latin typeface="宋体" panose="02010600030101010101" pitchFamily="2" charset="-122"/>
                          <a:ea typeface="宋体" panose="02010600030101010101" pitchFamily="2" charset="-122"/>
                          <a:cs typeface="+mn-cs"/>
                        </a:rPr>
                        <a:t>三阶段分解方法</a:t>
                      </a:r>
                      <a:r>
                        <a:rPr lang="en-US" altLang="zh-CN" sz="1400" kern="1200" dirty="0">
                          <a:solidFill>
                            <a:schemeClr val="tx1"/>
                          </a:solidFill>
                          <a:latin typeface="宋体" panose="02010600030101010101" pitchFamily="2" charset="-122"/>
                          <a:ea typeface="宋体" panose="02010600030101010101" pitchFamily="2" charset="-122"/>
                          <a:cs typeface="+mn-cs"/>
                        </a:rPr>
                        <a:t>+</a:t>
                      </a:r>
                      <a:r>
                        <a:rPr lang="zh-CN" altLang="en-US" sz="1400" kern="1200" dirty="0">
                          <a:solidFill>
                            <a:schemeClr val="tx1"/>
                          </a:solidFill>
                          <a:latin typeface="宋体" panose="02010600030101010101" pitchFamily="2" charset="-122"/>
                          <a:ea typeface="宋体" panose="02010600030101010101" pitchFamily="2" charset="-122"/>
                          <a:cs typeface="+mn-cs"/>
                        </a:rPr>
                        <a:t>迭代</a:t>
                      </a:r>
                    </a:p>
                  </a:txBody>
                  <a:tcPr anchor="ctr"/>
                </a:tc>
                <a:tc>
                  <a:txBody>
                    <a:bodyPr/>
                    <a:lstStyle/>
                    <a:p>
                      <a:pPr algn="just">
                        <a:buClrTx/>
                        <a:buSzTx/>
                        <a:buFontTx/>
                      </a:pPr>
                      <a:r>
                        <a:rPr lang="zh-CN" altLang="en-US" sz="1400" kern="1200" dirty="0">
                          <a:solidFill>
                            <a:schemeClr val="tx1"/>
                          </a:solidFill>
                          <a:latin typeface="宋体" panose="02010600030101010101" pitchFamily="2" charset="-122"/>
                          <a:ea typeface="宋体" panose="02010600030101010101" pitchFamily="2" charset="-122"/>
                          <a:cs typeface="+mn-cs"/>
                        </a:rPr>
                        <a:t>最小化质量达标前提下的总能耗</a:t>
                      </a:r>
                    </a:p>
                  </a:txBody>
                  <a:tcPr anchor="ctr"/>
                </a:tc>
                <a:tc>
                  <a:txBody>
                    <a:bodyPr/>
                    <a:lstStyle/>
                    <a:p>
                      <a:pPr algn="l"/>
                      <a:r>
                        <a:rPr lang="zh-CN" altLang="en-US" sz="1400" kern="1200" dirty="0">
                          <a:solidFill>
                            <a:schemeClr val="tx1"/>
                          </a:solidFill>
                          <a:latin typeface="宋体" panose="02010600030101010101" pitchFamily="2" charset="-122"/>
                          <a:ea typeface="宋体" panose="02010600030101010101" pitchFamily="2" charset="-122"/>
                          <a:cs typeface="+mn-cs"/>
                        </a:rPr>
                        <a:t>将</a:t>
                      </a:r>
                      <a:r>
                        <a:rPr lang="zh-CN" altLang="en-US" sz="1400" kern="1200" dirty="0">
                          <a:solidFill>
                            <a:srgbClr val="C00000"/>
                          </a:solidFill>
                          <a:latin typeface="宋体" panose="02010600030101010101" pitchFamily="2" charset="-122"/>
                          <a:ea typeface="宋体" panose="02010600030101010101" pitchFamily="2" charset="-122"/>
                          <a:cs typeface="+mn-cs"/>
                        </a:rPr>
                        <a:t>质量控制嵌入生产调度的各个环节</a:t>
                      </a:r>
                      <a:r>
                        <a:rPr lang="zh-CN" altLang="en-US" sz="1400" kern="1200" dirty="0">
                          <a:solidFill>
                            <a:schemeClr val="tx1"/>
                          </a:solidFill>
                          <a:latin typeface="宋体" panose="02010600030101010101" pitchFamily="2" charset="-122"/>
                          <a:ea typeface="宋体" panose="02010600030101010101" pitchFamily="2" charset="-122"/>
                          <a:cs typeface="+mn-cs"/>
                        </a:rPr>
                        <a:t>，建立生产速度</a:t>
                      </a:r>
                      <a:r>
                        <a:rPr lang="en-US" altLang="zh-CN" sz="1400" kern="1200" dirty="0">
                          <a:solidFill>
                            <a:schemeClr val="tx1"/>
                          </a:solidFill>
                          <a:latin typeface="宋体" panose="02010600030101010101" pitchFamily="2" charset="-122"/>
                          <a:ea typeface="宋体" panose="02010600030101010101" pitchFamily="2" charset="-122"/>
                          <a:cs typeface="+mn-cs"/>
                        </a:rPr>
                        <a:t>-</a:t>
                      </a:r>
                      <a:r>
                        <a:rPr lang="zh-CN" altLang="en-US" sz="1400" kern="1200" dirty="0">
                          <a:solidFill>
                            <a:schemeClr val="tx1"/>
                          </a:solidFill>
                          <a:latin typeface="宋体" panose="02010600030101010101" pitchFamily="2" charset="-122"/>
                          <a:ea typeface="宋体" panose="02010600030101010101" pitchFamily="2" charset="-122"/>
                          <a:cs typeface="+mn-cs"/>
                        </a:rPr>
                        <a:t>质量</a:t>
                      </a:r>
                      <a:r>
                        <a:rPr lang="en-US" altLang="zh-CN" sz="1400" kern="1200" dirty="0">
                          <a:solidFill>
                            <a:schemeClr val="tx1"/>
                          </a:solidFill>
                          <a:latin typeface="宋体" panose="02010600030101010101" pitchFamily="2" charset="-122"/>
                          <a:ea typeface="宋体" panose="02010600030101010101" pitchFamily="2" charset="-122"/>
                          <a:cs typeface="+mn-cs"/>
                        </a:rPr>
                        <a:t>-</a:t>
                      </a:r>
                      <a:r>
                        <a:rPr lang="zh-CN" altLang="en-US" sz="1400" kern="1200" dirty="0">
                          <a:solidFill>
                            <a:schemeClr val="tx1"/>
                          </a:solidFill>
                          <a:latin typeface="宋体" panose="02010600030101010101" pitchFamily="2" charset="-122"/>
                          <a:ea typeface="宋体" panose="02010600030101010101" pitchFamily="2" charset="-122"/>
                          <a:cs typeface="+mn-cs"/>
                        </a:rPr>
                        <a:t>能耗三者的量化模型</a:t>
                      </a:r>
                    </a:p>
                  </a:txBody>
                  <a:tcPr anchor="ctr"/>
                </a:tc>
                <a:extLst>
                  <a:ext uri="{0D108BD9-81ED-4DB2-BD59-A6C34878D82A}">
                    <a16:rowId xmlns:a16="http://schemas.microsoft.com/office/drawing/2014/main" val="10002"/>
                  </a:ext>
                </a:extLst>
              </a:tr>
              <a:tr h="575310">
                <a:tc>
                  <a:txBody>
                    <a:bodyPr/>
                    <a:lstStyle/>
                    <a:p>
                      <a:pPr marL="0" algn="ctr" defTabSz="914400" rtl="0" eaLnBrk="1" latinLnBrk="0" hangingPunct="1"/>
                      <a:r>
                        <a:rPr lang="en-US" altLang="zh-CN"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Fu</a:t>
                      </a:r>
                      <a:r>
                        <a:rPr lang="zh-CN" altLang="en-US" sz="1400" kern="1200" dirty="0">
                          <a:solidFill>
                            <a:schemeClr val="tx1"/>
                          </a:solidFill>
                          <a:latin typeface="宋体" panose="02010600030101010101" pitchFamily="2" charset="-122"/>
                          <a:ea typeface="宋体" panose="02010600030101010101" pitchFamily="2" charset="-122"/>
                          <a:cs typeface="+mn-cs"/>
                        </a:rPr>
                        <a:t>等 </a:t>
                      </a:r>
                      <a:r>
                        <a:rPr lang="en-US" altLang="zh-CN" sz="1400" kern="1200" dirty="0">
                          <a:solidFill>
                            <a:schemeClr val="tx1"/>
                          </a:solidFill>
                          <a:latin typeface="宋体" panose="02010600030101010101" pitchFamily="2" charset="-122"/>
                          <a:ea typeface="宋体" panose="02010600030101010101" pitchFamily="2" charset="-122"/>
                          <a:cs typeface="+mn-cs"/>
                        </a:rPr>
                        <a:t>2020[13]</a:t>
                      </a:r>
                    </a:p>
                  </a:txBody>
                  <a:tcPr anchor="ctr"/>
                </a:tc>
                <a:tc>
                  <a:txBody>
                    <a:bodyPr/>
                    <a:lstStyle/>
                    <a:p>
                      <a:pPr algn="ctr"/>
                      <a:r>
                        <a:rPr lang="zh-CN" altLang="en-US" sz="1400" kern="1200" dirty="0">
                          <a:solidFill>
                            <a:schemeClr val="tx1"/>
                          </a:solidFill>
                          <a:latin typeface="宋体" panose="02010600030101010101" pitchFamily="2" charset="-122"/>
                          <a:ea typeface="宋体" panose="02010600030101010101" pitchFamily="2" charset="-122"/>
                          <a:cs typeface="+mn-cs"/>
                        </a:rPr>
                        <a:t>多目标人工蜂群算法</a:t>
                      </a:r>
                    </a:p>
                  </a:txBody>
                  <a:tcPr anchor="ctr"/>
                </a:tc>
                <a:tc>
                  <a:txBody>
                    <a:bodyPr/>
                    <a:lstStyle/>
                    <a:p>
                      <a:pPr algn="just"/>
                      <a:r>
                        <a:rPr lang="zh-CN" altLang="en-US" sz="1400" kern="1200" dirty="0">
                          <a:solidFill>
                            <a:schemeClr val="tx1"/>
                          </a:solidFill>
                          <a:latin typeface="宋体" panose="02010600030101010101" pitchFamily="2" charset="-122"/>
                          <a:ea typeface="宋体" panose="02010600030101010101" pitchFamily="2" charset="-122"/>
                          <a:cs typeface="+mn-cs"/>
                        </a:rPr>
                        <a:t>最小化质量成本</a:t>
                      </a:r>
                      <a:endParaRPr lang="en-US" altLang="zh-CN" sz="1400" kern="1200" dirty="0">
                        <a:solidFill>
                          <a:schemeClr val="tx1"/>
                        </a:solidFill>
                        <a:latin typeface="宋体" panose="02010600030101010101" pitchFamily="2" charset="-122"/>
                        <a:ea typeface="宋体" panose="02010600030101010101" pitchFamily="2" charset="-122"/>
                        <a:cs typeface="+mn-cs"/>
                      </a:endParaRPr>
                    </a:p>
                    <a:p>
                      <a:pPr algn="just"/>
                      <a:r>
                        <a:rPr lang="zh-CN" altLang="en-US" sz="1400" kern="1200" dirty="0">
                          <a:solidFill>
                            <a:schemeClr val="tx1"/>
                          </a:solidFill>
                          <a:latin typeface="宋体" panose="02010600030101010101" pitchFamily="2" charset="-122"/>
                          <a:ea typeface="宋体" panose="02010600030101010101" pitchFamily="2" charset="-122"/>
                          <a:cs typeface="+mn-cs"/>
                        </a:rPr>
                        <a:t>最小化总延迟</a:t>
                      </a:r>
                    </a:p>
                  </a:txBody>
                  <a:tcPr anchor="ctr"/>
                </a:tc>
                <a:tc>
                  <a:txBody>
                    <a:bodyPr/>
                    <a:lstStyle/>
                    <a:p>
                      <a:pPr algn="l"/>
                      <a:r>
                        <a:rPr lang="zh-CN" altLang="en-US" sz="1400" kern="1200" dirty="0">
                          <a:solidFill>
                            <a:schemeClr val="tx1"/>
                          </a:solidFill>
                          <a:latin typeface="宋体" panose="02010600030101010101" pitchFamily="2" charset="-122"/>
                          <a:ea typeface="宋体" panose="02010600030101010101" pitchFamily="2" charset="-122"/>
                          <a:cs typeface="+mn-cs"/>
                        </a:rPr>
                        <a:t>质量成本函数量化加工质量，</a:t>
                      </a:r>
                      <a:r>
                        <a:rPr lang="zh-CN" altLang="en-US" sz="1400" kern="1200" dirty="0">
                          <a:solidFill>
                            <a:srgbClr val="C00000"/>
                          </a:solidFill>
                          <a:latin typeface="宋体" panose="02010600030101010101" pitchFamily="2" charset="-122"/>
                          <a:ea typeface="宋体" panose="02010600030101010101" pitchFamily="2" charset="-122"/>
                          <a:cs typeface="+mn-cs"/>
                        </a:rPr>
                        <a:t>质量成本</a:t>
                      </a:r>
                      <a:r>
                        <a:rPr lang="zh-CN" altLang="en-US" sz="1400" kern="1200" dirty="0">
                          <a:solidFill>
                            <a:schemeClr val="tx1"/>
                          </a:solidFill>
                          <a:latin typeface="宋体" panose="02010600030101010101" pitchFamily="2" charset="-122"/>
                          <a:ea typeface="宋体" panose="02010600030101010101" pitchFamily="2" charset="-122"/>
                          <a:cs typeface="+mn-cs"/>
                        </a:rPr>
                        <a:t>与</a:t>
                      </a:r>
                      <a:r>
                        <a:rPr lang="zh-CN" altLang="en-US" sz="1400" kern="1200" dirty="0">
                          <a:solidFill>
                            <a:srgbClr val="C00000"/>
                          </a:solidFill>
                          <a:latin typeface="宋体" panose="02010600030101010101" pitchFamily="2" charset="-122"/>
                          <a:ea typeface="宋体" panose="02010600030101010101" pitchFamily="2" charset="-122"/>
                          <a:cs typeface="+mn-cs"/>
                        </a:rPr>
                        <a:t>加工资源投入（材料、工时、设备成本）</a:t>
                      </a:r>
                      <a:r>
                        <a:rPr lang="zh-CN" altLang="en-US" sz="1400" kern="1200" dirty="0">
                          <a:solidFill>
                            <a:schemeClr val="tx1"/>
                          </a:solidFill>
                          <a:latin typeface="宋体" panose="02010600030101010101" pitchFamily="2" charset="-122"/>
                          <a:ea typeface="宋体" panose="02010600030101010101" pitchFamily="2" charset="-122"/>
                          <a:cs typeface="+mn-cs"/>
                        </a:rPr>
                        <a:t>和</a:t>
                      </a:r>
                      <a:r>
                        <a:rPr lang="zh-CN" altLang="en-US" sz="1400" kern="1200" dirty="0">
                          <a:solidFill>
                            <a:srgbClr val="C00000"/>
                          </a:solidFill>
                          <a:latin typeface="宋体" panose="02010600030101010101" pitchFamily="2" charset="-122"/>
                          <a:ea typeface="宋体" panose="02010600030101010101" pitchFamily="2" charset="-122"/>
                          <a:cs typeface="+mn-cs"/>
                        </a:rPr>
                        <a:t>质量风险（不合格率）正相关</a:t>
                      </a:r>
                      <a:r>
                        <a:rPr lang="zh-CN" altLang="en-US" sz="1400" kern="1200" dirty="0">
                          <a:solidFill>
                            <a:schemeClr val="tx1"/>
                          </a:solidFill>
                          <a:latin typeface="宋体" panose="02010600030101010101" pitchFamily="2" charset="-122"/>
                          <a:ea typeface="宋体" panose="02010600030101010101" pitchFamily="2" charset="-122"/>
                          <a:cs typeface="+mn-cs"/>
                        </a:rPr>
                        <a:t>，且后序工序质量问题会因累积前序成本导致更高损失。</a:t>
                      </a:r>
                    </a:p>
                  </a:txBody>
                  <a:tcPr anchor="ctr"/>
                </a:tc>
                <a:extLst>
                  <a:ext uri="{0D108BD9-81ED-4DB2-BD59-A6C34878D82A}">
                    <a16:rowId xmlns:a16="http://schemas.microsoft.com/office/drawing/2014/main" val="10003"/>
                  </a:ext>
                </a:extLst>
              </a:tr>
              <a:tr h="574675">
                <a:tc>
                  <a:txBody>
                    <a:bodyPr/>
                    <a:lstStyle/>
                    <a:p>
                      <a:pPr marL="0" algn="ctr" defTabSz="914400" rtl="0" eaLnBrk="1" latinLnBrk="0" hangingPunct="1"/>
                      <a:r>
                        <a:rPr lang="en-US" altLang="zh-CN"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Chen</a:t>
                      </a:r>
                      <a:r>
                        <a:rPr lang="zh-CN" altLang="en-US" sz="1400" kern="1200" dirty="0">
                          <a:solidFill>
                            <a:schemeClr val="tx1"/>
                          </a:solidFill>
                          <a:latin typeface="宋体" panose="02010600030101010101" pitchFamily="2" charset="-122"/>
                          <a:ea typeface="宋体" panose="02010600030101010101" pitchFamily="2" charset="-122"/>
                          <a:cs typeface="+mn-cs"/>
                        </a:rPr>
                        <a:t>等 </a:t>
                      </a:r>
                      <a:r>
                        <a:rPr lang="en-US" altLang="zh-CN" sz="1400" kern="1200" dirty="0">
                          <a:solidFill>
                            <a:schemeClr val="tx1"/>
                          </a:solidFill>
                          <a:latin typeface="宋体" panose="02010600030101010101" pitchFamily="2" charset="-122"/>
                          <a:ea typeface="宋体" panose="02010600030101010101" pitchFamily="2" charset="-122"/>
                          <a:cs typeface="+mn-cs"/>
                        </a:rPr>
                        <a:t>2023[14]</a:t>
                      </a:r>
                    </a:p>
                  </a:txBody>
                  <a:tcPr anchor="ctr"/>
                </a:tc>
                <a:tc>
                  <a:txBody>
                    <a:bodyPr/>
                    <a:lstStyle/>
                    <a:p>
                      <a:pPr algn="ctr"/>
                      <a:r>
                        <a:rPr lang="zh-CN" altLang="en-US" sz="1400" kern="1200" dirty="0">
                          <a:solidFill>
                            <a:schemeClr val="tx1"/>
                          </a:solidFill>
                          <a:latin typeface="宋体" panose="02010600030101010101" pitchFamily="2" charset="-122"/>
                          <a:ea typeface="宋体" panose="02010600030101010101" pitchFamily="2" charset="-122"/>
                          <a:cs typeface="+mn-cs"/>
                        </a:rPr>
                        <a:t>字典序优化方法</a:t>
                      </a:r>
                    </a:p>
                  </a:txBody>
                  <a:tcPr anchor="ctr"/>
                </a:tc>
                <a:tc>
                  <a:txBody>
                    <a:bodyPr/>
                    <a:lstStyle/>
                    <a:p>
                      <a:pPr algn="just"/>
                      <a:r>
                        <a:rPr lang="zh-CN" altLang="en-US" sz="1400" kern="1200" dirty="0">
                          <a:solidFill>
                            <a:schemeClr val="tx1"/>
                          </a:solidFill>
                          <a:latin typeface="宋体" panose="02010600030101010101" pitchFamily="2" charset="-122"/>
                          <a:ea typeface="宋体" panose="02010600030101010101" pitchFamily="2" charset="-122"/>
                          <a:cs typeface="+mn-cs"/>
                        </a:rPr>
                        <a:t>最小化总质量损失</a:t>
                      </a:r>
                      <a:endParaRPr lang="en-US" altLang="zh-CN" sz="1400" kern="1200" dirty="0">
                        <a:solidFill>
                          <a:schemeClr val="tx1"/>
                        </a:solidFill>
                        <a:latin typeface="宋体" panose="02010600030101010101" pitchFamily="2" charset="-122"/>
                        <a:ea typeface="宋体" panose="02010600030101010101" pitchFamily="2" charset="-122"/>
                        <a:cs typeface="+mn-cs"/>
                      </a:endParaRPr>
                    </a:p>
                    <a:p>
                      <a:pPr algn="just"/>
                      <a:r>
                        <a:rPr lang="zh-CN" altLang="en-US" sz="1400" kern="1200" dirty="0">
                          <a:solidFill>
                            <a:schemeClr val="tx1"/>
                          </a:solidFill>
                          <a:latin typeface="宋体" panose="02010600030101010101" pitchFamily="2" charset="-122"/>
                          <a:ea typeface="宋体" panose="02010600030101010101" pitchFamily="2" charset="-122"/>
                          <a:cs typeface="+mn-cs"/>
                        </a:rPr>
                        <a:t>最小化总延时</a:t>
                      </a:r>
                    </a:p>
                  </a:txBody>
                  <a:tcPr anchor="ctr"/>
                </a:tc>
                <a:tc>
                  <a:txBody>
                    <a:bodyPr/>
                    <a:lstStyle/>
                    <a:p>
                      <a:pPr algn="l"/>
                      <a:r>
                        <a:rPr lang="zh-CN" altLang="en-US" sz="1400" kern="1200" dirty="0">
                          <a:solidFill>
                            <a:schemeClr val="tx1"/>
                          </a:solidFill>
                          <a:latin typeface="宋体" panose="02010600030101010101" pitchFamily="2" charset="-122"/>
                          <a:ea typeface="宋体" panose="02010600030101010101" pitchFamily="2" charset="-122"/>
                          <a:cs typeface="+mn-cs"/>
                        </a:rPr>
                        <a:t>隐半马尔可夫模型建模设备退化过程，量化</a:t>
                      </a:r>
                      <a:r>
                        <a:rPr lang="zh-CN" altLang="en-US" sz="1400" kern="1200" dirty="0">
                          <a:solidFill>
                            <a:srgbClr val="C00000"/>
                          </a:solidFill>
                          <a:latin typeface="宋体" panose="02010600030101010101" pitchFamily="2" charset="-122"/>
                          <a:ea typeface="宋体" panose="02010600030101010101" pitchFamily="2" charset="-122"/>
                          <a:cs typeface="+mn-cs"/>
                        </a:rPr>
                        <a:t>设备状态对质量的影响</a:t>
                      </a:r>
                      <a:r>
                        <a:rPr lang="en-US" altLang="zh-CN" sz="1400" kern="1200" dirty="0">
                          <a:solidFill>
                            <a:schemeClr val="tx1"/>
                          </a:solidFill>
                          <a:latin typeface="宋体" panose="02010600030101010101" pitchFamily="2" charset="-122"/>
                          <a:ea typeface="宋体" panose="02010600030101010101" pitchFamily="2" charset="-122"/>
                          <a:cs typeface="+mn-cs"/>
                        </a:rPr>
                        <a:t>.</a:t>
                      </a:r>
                      <a:r>
                        <a:rPr lang="zh-CN" altLang="en-US" sz="1400" kern="1200" dirty="0">
                          <a:solidFill>
                            <a:schemeClr val="tx1"/>
                          </a:solidFill>
                          <a:latin typeface="宋体" panose="02010600030101010101" pitchFamily="2" charset="-122"/>
                          <a:ea typeface="宋体" panose="02010600030101010101" pitchFamily="2" charset="-122"/>
                          <a:cs typeface="+mn-cs"/>
                        </a:rPr>
                        <a:t>将精密工件优先分配至状态好的设备。</a:t>
                      </a:r>
                    </a:p>
                  </a:txBody>
                  <a:tcPr anchor="ctr"/>
                </a:tc>
                <a:extLst>
                  <a:ext uri="{0D108BD9-81ED-4DB2-BD59-A6C34878D82A}">
                    <a16:rowId xmlns:a16="http://schemas.microsoft.com/office/drawing/2014/main" val="10004"/>
                  </a:ext>
                </a:extLst>
              </a:tr>
              <a:tr h="422275">
                <a:tc>
                  <a:txBody>
                    <a:bodyPr/>
                    <a:lstStyle/>
                    <a:p>
                      <a:pPr marL="0" algn="ctr" defTabSz="914400" rtl="0" eaLnBrk="1" latinLnBrk="0" hangingPunct="1"/>
                      <a:r>
                        <a:rPr lang="en-US" altLang="zh-CN" sz="1400"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Len</a:t>
                      </a:r>
                      <a:r>
                        <a:rPr lang="zh-CN" altLang="en-US" sz="1400" kern="1200" dirty="0">
                          <a:solidFill>
                            <a:schemeClr val="tx1"/>
                          </a:solidFill>
                          <a:latin typeface="宋体" panose="02010600030101010101" pitchFamily="2" charset="-122"/>
                          <a:ea typeface="宋体" panose="02010600030101010101" pitchFamily="2" charset="-122"/>
                          <a:cs typeface="+mn-cs"/>
                        </a:rPr>
                        <a:t>等 </a:t>
                      </a:r>
                      <a:r>
                        <a:rPr lang="en-US" altLang="zh-CN" sz="1400" kern="1200" dirty="0">
                          <a:solidFill>
                            <a:schemeClr val="tx1"/>
                          </a:solidFill>
                          <a:latin typeface="宋体" panose="02010600030101010101" pitchFamily="2" charset="-122"/>
                          <a:ea typeface="宋体" panose="02010600030101010101" pitchFamily="2" charset="-122"/>
                          <a:cs typeface="+mn-cs"/>
                        </a:rPr>
                        <a:t>2023[15]</a:t>
                      </a:r>
                    </a:p>
                  </a:txBody>
                  <a:tcPr anchor="ctr"/>
                </a:tc>
                <a:tc>
                  <a:txBody>
                    <a:bodyPr/>
                    <a:lstStyle/>
                    <a:p>
                      <a:pPr algn="ctr"/>
                      <a:r>
                        <a:rPr lang="zh-CN" altLang="en-US" sz="1400" kern="1200" dirty="0">
                          <a:solidFill>
                            <a:schemeClr val="tx1"/>
                          </a:solidFill>
                          <a:latin typeface="宋体" panose="02010600030101010101" pitchFamily="2" charset="-122"/>
                          <a:ea typeface="宋体" panose="02010600030101010101" pitchFamily="2" charset="-122"/>
                          <a:cs typeface="+mn-cs"/>
                        </a:rPr>
                        <a:t>混合整数线性规划</a:t>
                      </a:r>
                    </a:p>
                  </a:txBody>
                  <a:tcPr anchor="ctr"/>
                </a:tc>
                <a:tc>
                  <a:txBody>
                    <a:bodyPr/>
                    <a:lstStyle/>
                    <a:p>
                      <a:pPr algn="just"/>
                      <a:r>
                        <a:rPr lang="zh-CN" altLang="en-US" sz="1400" kern="1200" dirty="0">
                          <a:solidFill>
                            <a:schemeClr val="tx1"/>
                          </a:solidFill>
                          <a:latin typeface="宋体" panose="02010600030101010101" pitchFamily="2" charset="-122"/>
                          <a:ea typeface="宋体" panose="02010600030101010101" pitchFamily="2" charset="-122"/>
                          <a:cs typeface="+mn-cs"/>
                        </a:rPr>
                        <a:t>最小化质量损失</a:t>
                      </a:r>
                      <a:endParaRPr lang="en-US" altLang="zh-CN" sz="1400" kern="1200" dirty="0">
                        <a:solidFill>
                          <a:schemeClr val="tx1"/>
                        </a:solidFill>
                        <a:latin typeface="宋体" panose="02010600030101010101" pitchFamily="2" charset="-122"/>
                        <a:ea typeface="宋体" panose="02010600030101010101" pitchFamily="2" charset="-122"/>
                        <a:cs typeface="+mn-cs"/>
                      </a:endParaRPr>
                    </a:p>
                    <a:p>
                      <a:pPr algn="just"/>
                      <a:r>
                        <a:rPr lang="zh-CN" altLang="en-US" sz="1400" kern="1200" dirty="0">
                          <a:solidFill>
                            <a:schemeClr val="tx1"/>
                          </a:solidFill>
                          <a:latin typeface="宋体" panose="02010600030101010101" pitchFamily="2" charset="-122"/>
                          <a:ea typeface="宋体" panose="02010600030101010101" pitchFamily="2" charset="-122"/>
                          <a:cs typeface="+mn-cs"/>
                        </a:rPr>
                        <a:t>最小化最大完工时间</a:t>
                      </a:r>
                    </a:p>
                  </a:txBody>
                  <a:tcPr anchor="ctr"/>
                </a:tc>
                <a:tc>
                  <a:txBody>
                    <a:bodyPr/>
                    <a:lstStyle/>
                    <a:p>
                      <a:pPr algn="l"/>
                      <a:r>
                        <a:rPr lang="zh-CN" altLang="en-US" sz="1400" kern="1200" dirty="0">
                          <a:solidFill>
                            <a:schemeClr val="tx1"/>
                          </a:solidFill>
                          <a:latin typeface="宋体" panose="02010600030101010101" pitchFamily="2" charset="-122"/>
                          <a:ea typeface="宋体" panose="02010600030101010101" pitchFamily="2" charset="-122"/>
                          <a:cs typeface="+mn-cs"/>
                        </a:rPr>
                        <a:t>将质量因素嵌入生产计划与控制的全流程</a:t>
                      </a:r>
                    </a:p>
                  </a:txBody>
                  <a:tcPr anchor="ctr"/>
                </a:tc>
                <a:extLst>
                  <a:ext uri="{0D108BD9-81ED-4DB2-BD59-A6C34878D82A}">
                    <a16:rowId xmlns:a16="http://schemas.microsoft.com/office/drawing/2014/main" val="10005"/>
                  </a:ext>
                </a:extLst>
              </a:tr>
              <a:tr h="422275">
                <a:tc>
                  <a:txBody>
                    <a:bodyPr/>
                    <a:lstStyle/>
                    <a:p>
                      <a:pPr marL="0" algn="ctr" defTabSz="914400" rtl="0" eaLnBrk="1" latinLnBrk="0" hangingPunct="1"/>
                      <a:r>
                        <a:rPr lang="en-US" altLang="zh-CN" sz="1400" kern="1200" dirty="0">
                          <a:solidFill>
                            <a:schemeClr val="tx1"/>
                          </a:solidFill>
                          <a:latin typeface="宋体" panose="02010600030101010101" pitchFamily="2" charset="-122"/>
                          <a:ea typeface="宋体" panose="02010600030101010101" pitchFamily="2" charset="-122"/>
                          <a:cs typeface="+mn-cs"/>
                        </a:rPr>
                        <a:t>Ks</a:t>
                      </a:r>
                      <a:r>
                        <a:rPr lang="zh-CN" altLang="en-US" sz="1400" kern="1200" dirty="0">
                          <a:solidFill>
                            <a:schemeClr val="tx1"/>
                          </a:solidFill>
                          <a:latin typeface="宋体" panose="02010600030101010101" pitchFamily="2" charset="-122"/>
                          <a:ea typeface="宋体" panose="02010600030101010101" pitchFamily="2" charset="-122"/>
                          <a:cs typeface="+mn-cs"/>
                        </a:rPr>
                        <a:t>等 </a:t>
                      </a:r>
                      <a:r>
                        <a:rPr lang="en-US" altLang="zh-CN" sz="1400" kern="1200" dirty="0">
                          <a:solidFill>
                            <a:schemeClr val="tx1"/>
                          </a:solidFill>
                          <a:latin typeface="宋体" panose="02010600030101010101" pitchFamily="2" charset="-122"/>
                          <a:ea typeface="宋体" panose="02010600030101010101" pitchFamily="2" charset="-122"/>
                          <a:cs typeface="+mn-cs"/>
                        </a:rPr>
                        <a:t>2023[16]</a:t>
                      </a:r>
                    </a:p>
                  </a:txBody>
                  <a:tcPr anchor="ctr"/>
                </a:tc>
                <a:tc>
                  <a:txBody>
                    <a:bodyPr/>
                    <a:lstStyle/>
                    <a:p>
                      <a:pPr algn="ctr"/>
                      <a:r>
                        <a:rPr lang="en-US" altLang="zh-CN" sz="1400" kern="1200" dirty="0">
                          <a:solidFill>
                            <a:schemeClr val="tx1"/>
                          </a:solidFill>
                          <a:latin typeface="宋体" panose="02010600030101010101" pitchFamily="2" charset="-122"/>
                          <a:ea typeface="宋体" panose="02010600030101010101" pitchFamily="2" charset="-122"/>
                          <a:cs typeface="+mn-cs"/>
                        </a:rPr>
                        <a:t>VDAC</a:t>
                      </a:r>
                      <a:r>
                        <a:rPr lang="zh-CN" altLang="en-US" sz="1400" kern="1200" dirty="0">
                          <a:solidFill>
                            <a:schemeClr val="tx1"/>
                          </a:solidFill>
                          <a:latin typeface="宋体" panose="02010600030101010101" pitchFamily="2" charset="-122"/>
                          <a:ea typeface="宋体" panose="02010600030101010101" pitchFamily="2" charset="-122"/>
                          <a:cs typeface="+mn-cs"/>
                        </a:rPr>
                        <a:t>算法</a:t>
                      </a:r>
                    </a:p>
                  </a:txBody>
                  <a:tcPr anchor="ctr"/>
                </a:tc>
                <a:tc>
                  <a:txBody>
                    <a:bodyPr/>
                    <a:lstStyle/>
                    <a:p>
                      <a:pPr marL="0" algn="just" defTabSz="914400" rtl="0" eaLnBrk="1" latinLnBrk="0" hangingPunct="1"/>
                      <a:r>
                        <a:rPr lang="zh-CN" altLang="en-US" sz="1400" kern="1200" dirty="0">
                          <a:solidFill>
                            <a:schemeClr val="tx1"/>
                          </a:solidFill>
                          <a:latin typeface="宋体" panose="02010600030101010101" pitchFamily="2" charset="-122"/>
                          <a:ea typeface="宋体" panose="02010600030101010101" pitchFamily="2" charset="-122"/>
                          <a:cs typeface="+mn-cs"/>
                        </a:rPr>
                        <a:t>最小化永久生产损失与质量损失</a:t>
                      </a:r>
                      <a:endParaRPr lang="en-US" altLang="zh-CN" sz="1400" kern="1200" dirty="0">
                        <a:solidFill>
                          <a:schemeClr val="tx1"/>
                        </a:solidFill>
                        <a:latin typeface="宋体" panose="02010600030101010101" pitchFamily="2" charset="-122"/>
                        <a:ea typeface="宋体" panose="02010600030101010101" pitchFamily="2" charset="-122"/>
                        <a:cs typeface="+mn-cs"/>
                      </a:endParaRPr>
                    </a:p>
                    <a:p>
                      <a:pPr marL="0" algn="just" defTabSz="914400" rtl="0" eaLnBrk="1" latinLnBrk="0" hangingPunct="1"/>
                      <a:r>
                        <a:rPr lang="zh-CN" altLang="en-US" sz="1400" kern="1200" dirty="0">
                          <a:solidFill>
                            <a:schemeClr val="tx1"/>
                          </a:solidFill>
                          <a:latin typeface="宋体" panose="02010600030101010101" pitchFamily="2" charset="-122"/>
                          <a:ea typeface="宋体" panose="02010600030101010101" pitchFamily="2" charset="-122"/>
                          <a:cs typeface="+mn-cs"/>
                        </a:rPr>
                        <a:t>最大化合格产品产量</a:t>
                      </a:r>
                      <a:endParaRPr lang="en-US" altLang="zh-CN" sz="1400" kern="1200" dirty="0">
                        <a:solidFill>
                          <a:schemeClr val="tx1"/>
                        </a:solidFill>
                        <a:latin typeface="宋体" panose="02010600030101010101" pitchFamily="2" charset="-122"/>
                        <a:ea typeface="宋体" panose="02010600030101010101" pitchFamily="2" charset="-122"/>
                        <a:cs typeface="+mn-cs"/>
                      </a:endParaRPr>
                    </a:p>
                    <a:p>
                      <a:pPr marL="0" algn="just" defTabSz="914400" rtl="0" eaLnBrk="1" latinLnBrk="0" hangingPunct="1"/>
                      <a:r>
                        <a:rPr lang="zh-CN" altLang="en-US" sz="1400" kern="1200" dirty="0">
                          <a:solidFill>
                            <a:schemeClr val="tx1"/>
                          </a:solidFill>
                          <a:latin typeface="宋体" panose="02010600030101010101" pitchFamily="2" charset="-122"/>
                          <a:ea typeface="宋体" panose="02010600030101010101" pitchFamily="2" charset="-122"/>
                          <a:cs typeface="+mn-cs"/>
                        </a:rPr>
                        <a:t>最小化维护与生产的协同成本</a:t>
                      </a:r>
                    </a:p>
                  </a:txBody>
                  <a:tcPr anchor="ctr"/>
                </a:tc>
                <a:tc>
                  <a:txBody>
                    <a:bodyPr/>
                    <a:lstStyle/>
                    <a:p>
                      <a:pPr algn="l"/>
                      <a:r>
                        <a:rPr lang="zh-CN" altLang="en-US" sz="1400" kern="1200" dirty="0">
                          <a:solidFill>
                            <a:schemeClr val="tx1"/>
                          </a:solidFill>
                          <a:latin typeface="宋体" panose="02010600030101010101" pitchFamily="2" charset="-122"/>
                          <a:ea typeface="宋体" panose="02010600030101010101" pitchFamily="2" charset="-122"/>
                          <a:cs typeface="+mn-cs"/>
                        </a:rPr>
                        <a:t>工具状态通过离散马尔可夫链建模，基于状态的维护；机器人基于状态的维护以及基于时间的维护。分维护等级，维护后健康状态上限下降。</a:t>
                      </a:r>
                      <a:endParaRPr lang="en-US" altLang="zh-CN" sz="1400" kern="1200" dirty="0">
                        <a:solidFill>
                          <a:schemeClr val="tx1"/>
                        </a:solidFill>
                        <a:latin typeface="宋体" panose="02010600030101010101" pitchFamily="2" charset="-122"/>
                        <a:ea typeface="宋体" panose="02010600030101010101" pitchFamily="2" charset="-122"/>
                        <a:cs typeface="+mn-cs"/>
                      </a:endParaRPr>
                    </a:p>
                    <a:p>
                      <a:pPr algn="l"/>
                      <a:r>
                        <a:rPr lang="zh-CN" altLang="en-US" sz="1400" kern="1200" dirty="0">
                          <a:solidFill>
                            <a:srgbClr val="C00000"/>
                          </a:solidFill>
                          <a:latin typeface="宋体" panose="02010600030101010101" pitchFamily="2" charset="-122"/>
                          <a:ea typeface="宋体" panose="02010600030101010101" pitchFamily="2" charset="-122"/>
                          <a:cs typeface="+mn-cs"/>
                        </a:rPr>
                        <a:t>质量水平</a:t>
                      </a:r>
                      <a:r>
                        <a:rPr lang="zh-CN" altLang="en-US" sz="1400" kern="1200" dirty="0">
                          <a:solidFill>
                            <a:schemeClr val="tx1"/>
                          </a:solidFill>
                          <a:latin typeface="宋体" panose="02010600030101010101" pitchFamily="2" charset="-122"/>
                          <a:ea typeface="宋体" panose="02010600030101010101" pitchFamily="2" charset="-122"/>
                          <a:cs typeface="+mn-cs"/>
                        </a:rPr>
                        <a:t>由</a:t>
                      </a:r>
                      <a:r>
                        <a:rPr lang="zh-CN" altLang="en-US" sz="1400" kern="1200" dirty="0">
                          <a:solidFill>
                            <a:srgbClr val="C00000"/>
                          </a:solidFill>
                          <a:latin typeface="宋体" panose="02010600030101010101" pitchFamily="2" charset="-122"/>
                          <a:ea typeface="宋体" panose="02010600030101010101" pitchFamily="2" charset="-122"/>
                          <a:cs typeface="+mn-cs"/>
                        </a:rPr>
                        <a:t>工具状态、机器人维护状态和生产调度参数</a:t>
                      </a:r>
                      <a:r>
                        <a:rPr lang="zh-CN" altLang="en-US" sz="1400" kern="1200" dirty="0">
                          <a:solidFill>
                            <a:schemeClr val="tx1"/>
                          </a:solidFill>
                          <a:latin typeface="宋体" panose="02010600030101010101" pitchFamily="2" charset="-122"/>
                          <a:ea typeface="宋体" panose="02010600030101010101" pitchFamily="2" charset="-122"/>
                          <a:cs typeface="+mn-cs"/>
                        </a:rPr>
                        <a:t>共同决定。</a:t>
                      </a:r>
                      <a:endParaRPr lang="en-US" altLang="zh-CN" sz="1400" kern="1200" dirty="0">
                        <a:solidFill>
                          <a:schemeClr val="tx1"/>
                        </a:solidFill>
                        <a:latin typeface="宋体" panose="02010600030101010101" pitchFamily="2" charset="-122"/>
                        <a:ea typeface="宋体" panose="02010600030101010101" pitchFamily="2" charset="-122"/>
                        <a:cs typeface="+mn-cs"/>
                      </a:endParaRPr>
                    </a:p>
                  </a:txBody>
                  <a:tcPr anchor="ctr"/>
                </a:tc>
                <a:extLst>
                  <a:ext uri="{0D108BD9-81ED-4DB2-BD59-A6C34878D82A}">
                    <a16:rowId xmlns:a16="http://schemas.microsoft.com/office/drawing/2014/main" val="1092691178"/>
                  </a:ext>
                </a:extLst>
              </a:tr>
            </a:tbl>
          </a:graphicData>
        </a:graphic>
      </p:graphicFrame>
    </p:spTree>
    <p:extLst>
      <p:ext uri="{BB962C8B-B14F-4D97-AF65-F5344CB8AC3E}">
        <p14:creationId xmlns:p14="http://schemas.microsoft.com/office/powerpoint/2010/main" val="1146389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39579-5B68-B079-5FD7-5F930B92898A}"/>
            </a:ext>
          </a:extLst>
        </p:cNvPr>
        <p:cNvGrpSpPr/>
        <p:nvPr/>
      </p:nvGrpSpPr>
      <p:grpSpPr>
        <a:xfrm>
          <a:off x="0" y="0"/>
          <a:ext cx="0" cy="0"/>
          <a:chOff x="0" y="0"/>
          <a:chExt cx="0" cy="0"/>
        </a:xfrm>
      </p:grpSpPr>
      <p:sp>
        <p:nvSpPr>
          <p:cNvPr id="1048586" name="稻壳儿小白白(http://dwz.cn/Wu2UP)">
            <a:extLst>
              <a:ext uri="{FF2B5EF4-FFF2-40B4-BE49-F238E27FC236}">
                <a16:creationId xmlns:a16="http://schemas.microsoft.com/office/drawing/2014/main" id="{1F1411E9-D472-B3E4-D46A-CB33919B3463}"/>
              </a:ext>
            </a:extLst>
          </p:cNvPr>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52" name="图片 17">
            <a:extLst>
              <a:ext uri="{FF2B5EF4-FFF2-40B4-BE49-F238E27FC236}">
                <a16:creationId xmlns:a16="http://schemas.microsoft.com/office/drawing/2014/main" id="{3E7D1CDE-E3B3-AB33-9DCA-27BCE24BB191}"/>
              </a:ext>
            </a:extLst>
          </p:cNvPr>
          <p:cNvPicPr>
            <a:picLocks noChangeAspect="1"/>
          </p:cNvPicPr>
          <p:nvPr/>
        </p:nvPicPr>
        <p:blipFill rotWithShape="1">
          <a:blip r:embed="rId3" cstate="print"/>
          <a:srcRect r="855"/>
          <a:stretch>
            <a:fillRect/>
          </a:stretch>
        </p:blipFill>
        <p:spPr>
          <a:xfrm>
            <a:off x="10301625" y="20910"/>
            <a:ext cx="1809525" cy="526143"/>
          </a:xfrm>
          <a:prstGeom prst="rect">
            <a:avLst/>
          </a:prstGeom>
        </p:spPr>
      </p:pic>
      <p:sp>
        <p:nvSpPr>
          <p:cNvPr id="1048587" name="标题 1">
            <a:extLst>
              <a:ext uri="{FF2B5EF4-FFF2-40B4-BE49-F238E27FC236}">
                <a16:creationId xmlns:a16="http://schemas.microsoft.com/office/drawing/2014/main" id="{F3E48206-A069-37D1-3312-331A8AF82619}"/>
              </a:ext>
            </a:extLst>
          </p:cNvPr>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2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文献综述</a:t>
            </a:r>
          </a:p>
        </p:txBody>
      </p:sp>
      <p:sp>
        <p:nvSpPr>
          <p:cNvPr id="1048590" name="矩形 14">
            <a:extLst>
              <a:ext uri="{FF2B5EF4-FFF2-40B4-BE49-F238E27FC236}">
                <a16:creationId xmlns:a16="http://schemas.microsoft.com/office/drawing/2014/main" id="{162D2143-7FFF-2A59-5128-C4C22AB29B60}"/>
              </a:ext>
            </a:extLst>
          </p:cNvPr>
          <p:cNvSpPr/>
          <p:nvPr/>
        </p:nvSpPr>
        <p:spPr>
          <a:xfrm>
            <a:off x="234099" y="5408038"/>
            <a:ext cx="11733687" cy="1200329"/>
          </a:xfrm>
          <a:prstGeom prst="rect">
            <a:avLst/>
          </a:prstGeom>
          <a:noFill/>
          <a:ln w="38100">
            <a:solidFill>
              <a:srgbClr val="C00000"/>
            </a:solidFill>
          </a:ln>
          <a:effectLst/>
        </p:spPr>
        <p:txBody>
          <a:bodyPr wrap="square" anchor="ctr">
            <a:spAutoFit/>
          </a:bodyPr>
          <a:lstStyle/>
          <a:p>
            <a:pPr marL="342900" indent="-342900" algn="just">
              <a:buFont typeface="Wingdings" panose="05000000000000000000" pitchFamily="2" charset="2"/>
              <a:buChar char="Ø"/>
            </a:pPr>
            <a:r>
              <a:rPr lang="zh-CN" altLang="en-US" b="1" dirty="0">
                <a:solidFill>
                  <a:srgbClr val="000F82"/>
                </a:solidFill>
                <a:latin typeface="微软雅黑" panose="020B0503020204020204" charset="-122"/>
                <a:ea typeface="微软雅黑" panose="020B0503020204020204" charset="-122"/>
              </a:rPr>
              <a:t>规则与启发式方法，实现快、易解释，但在频繁扰动下需反复重求解，</a:t>
            </a:r>
            <a:r>
              <a:rPr lang="zh-CN" altLang="en-US" b="1" dirty="0">
                <a:solidFill>
                  <a:srgbClr val="C00000"/>
                </a:solidFill>
                <a:latin typeface="微软雅黑" panose="020B0503020204020204" charset="-122"/>
                <a:ea typeface="微软雅黑" panose="020B0503020204020204" charset="-122"/>
              </a:rPr>
              <a:t>成本高</a:t>
            </a:r>
            <a:r>
              <a:rPr lang="zh-CN" altLang="en-US" b="1" dirty="0">
                <a:solidFill>
                  <a:srgbClr val="000F82"/>
                </a:solidFill>
                <a:latin typeface="微软雅黑" panose="020B0503020204020204" charset="-122"/>
                <a:ea typeface="微软雅黑" panose="020B0503020204020204" charset="-122"/>
              </a:rPr>
              <a:t>。元启发式方法在线</a:t>
            </a:r>
            <a:r>
              <a:rPr lang="zh-CN" altLang="en-US" b="1" dirty="0">
                <a:solidFill>
                  <a:srgbClr val="C00000"/>
                </a:solidFill>
                <a:latin typeface="微软雅黑" panose="020B0503020204020204" charset="-122"/>
                <a:ea typeface="微软雅黑" panose="020B0503020204020204" charset="-122"/>
              </a:rPr>
              <a:t>计算负担重，求解速度慢</a:t>
            </a:r>
            <a:r>
              <a:rPr lang="zh-CN" altLang="en-US" b="1" dirty="0">
                <a:solidFill>
                  <a:srgbClr val="000F82"/>
                </a:solidFill>
                <a:latin typeface="微软雅黑" panose="020B0503020204020204" charset="-122"/>
                <a:ea typeface="微软雅黑" panose="020B0503020204020204" charset="-122"/>
              </a:rPr>
              <a:t>；而集中式或单智能体的</a:t>
            </a:r>
            <a:r>
              <a:rPr lang="en-US" altLang="zh-CN" b="1" dirty="0">
                <a:solidFill>
                  <a:srgbClr val="000F82"/>
                </a:solidFill>
                <a:latin typeface="微软雅黑" panose="020B0503020204020204" charset="-122"/>
                <a:ea typeface="微软雅黑" panose="020B0503020204020204" charset="-122"/>
              </a:rPr>
              <a:t>RL</a:t>
            </a:r>
            <a:r>
              <a:rPr lang="zh-CN" altLang="en-US" b="1" dirty="0">
                <a:solidFill>
                  <a:srgbClr val="000F82"/>
                </a:solidFill>
                <a:latin typeface="微软雅黑" panose="020B0503020204020204" charset="-122"/>
                <a:ea typeface="微软雅黑" panose="020B0503020204020204" charset="-122"/>
              </a:rPr>
              <a:t>通常</a:t>
            </a:r>
            <a:r>
              <a:rPr lang="zh-CN" altLang="en-US" b="1" dirty="0">
                <a:solidFill>
                  <a:srgbClr val="C00000"/>
                </a:solidFill>
                <a:latin typeface="微软雅黑" panose="020B0503020204020204" charset="-122"/>
                <a:ea typeface="微软雅黑" panose="020B0503020204020204" charset="-122"/>
              </a:rPr>
              <a:t>依赖近全局观测</a:t>
            </a:r>
            <a:r>
              <a:rPr lang="zh-CN" altLang="en-US" b="1" dirty="0">
                <a:solidFill>
                  <a:srgbClr val="000F82"/>
                </a:solidFill>
                <a:latin typeface="微软雅黑" panose="020B0503020204020204" charset="-122"/>
                <a:ea typeface="微软雅黑" panose="020B0503020204020204" charset="-122"/>
              </a:rPr>
              <a:t>，扩展到多主体多资源时</a:t>
            </a:r>
            <a:r>
              <a:rPr lang="zh-CN" altLang="en-US" b="1" dirty="0">
                <a:solidFill>
                  <a:srgbClr val="C00000"/>
                </a:solidFill>
                <a:latin typeface="微软雅黑" panose="020B0503020204020204" charset="-122"/>
                <a:ea typeface="微软雅黑" panose="020B0503020204020204" charset="-122"/>
              </a:rPr>
              <a:t>易失稳、通信压力大</a:t>
            </a:r>
            <a:r>
              <a:rPr lang="zh-CN" altLang="en-US" dirty="0"/>
              <a:t>。</a:t>
            </a:r>
            <a:endParaRPr lang="en-US" altLang="zh-CN" dirty="0"/>
          </a:p>
          <a:p>
            <a:pPr marL="342900" indent="-342900" algn="just">
              <a:buFont typeface="Wingdings" panose="05000000000000000000" pitchFamily="2" charset="2"/>
              <a:buChar char="Ø"/>
            </a:pPr>
            <a:r>
              <a:rPr lang="zh-CN" altLang="en-US" b="1" dirty="0">
                <a:solidFill>
                  <a:srgbClr val="000F82"/>
                </a:solidFill>
                <a:latin typeface="微软雅黑" panose="020B0503020204020204" charset="-122"/>
                <a:ea typeface="微软雅黑" panose="020B0503020204020204" charset="-122"/>
              </a:rPr>
              <a:t>目前采用多智能体强化学习解决脉动线调度问题还是</a:t>
            </a:r>
            <a:r>
              <a:rPr lang="zh-CN" altLang="en-US" b="1" dirty="0">
                <a:solidFill>
                  <a:srgbClr val="C00000"/>
                </a:solidFill>
                <a:latin typeface="微软雅黑" panose="020B0503020204020204" charset="-122"/>
                <a:ea typeface="微软雅黑" panose="020B0503020204020204" charset="-122"/>
              </a:rPr>
              <a:t>处于空白</a:t>
            </a:r>
            <a:r>
              <a:rPr lang="zh-CN" altLang="en-US" b="1" dirty="0">
                <a:solidFill>
                  <a:srgbClr val="000F82"/>
                </a:solidFill>
                <a:latin typeface="微软雅黑" panose="020B0503020204020204" charset="-122"/>
                <a:ea typeface="微软雅黑" panose="020B0503020204020204" charset="-122"/>
              </a:rPr>
              <a:t>，但在更广泛的调度领域已逐步受到关注并展现出</a:t>
            </a:r>
            <a:r>
              <a:rPr lang="zh-CN" altLang="en-US" b="1" dirty="0">
                <a:solidFill>
                  <a:srgbClr val="C00000"/>
                </a:solidFill>
                <a:latin typeface="微软雅黑" panose="020B0503020204020204" charset="-122"/>
                <a:ea typeface="微软雅黑" panose="020B0503020204020204" charset="-122"/>
              </a:rPr>
              <a:t>良好潜力</a:t>
            </a:r>
            <a:r>
              <a:rPr lang="zh-CN" altLang="en-US" b="1" dirty="0">
                <a:solidFill>
                  <a:srgbClr val="000F82"/>
                </a:solidFill>
                <a:latin typeface="微软雅黑" panose="020B0503020204020204" charset="-122"/>
                <a:ea typeface="微软雅黑" panose="020B0503020204020204" charset="-122"/>
              </a:rPr>
              <a:t>。</a:t>
            </a:r>
            <a:endParaRPr lang="en-US" altLang="zh-CN" b="1" dirty="0">
              <a:solidFill>
                <a:srgbClr val="000F82"/>
              </a:solidFill>
              <a:latin typeface="微软雅黑" panose="020B0503020204020204" charset="-122"/>
              <a:ea typeface="微软雅黑" panose="020B0503020204020204" charset="-122"/>
            </a:endParaRPr>
          </a:p>
        </p:txBody>
      </p:sp>
      <p:sp>
        <p:nvSpPr>
          <p:cNvPr id="4" name="等腰三角形 8">
            <a:extLst>
              <a:ext uri="{FF2B5EF4-FFF2-40B4-BE49-F238E27FC236}">
                <a16:creationId xmlns:a16="http://schemas.microsoft.com/office/drawing/2014/main" id="{A21479AD-6461-16FC-3738-13E9065CBEE7}"/>
              </a:ext>
            </a:extLst>
          </p:cNvPr>
          <p:cNvSpPr/>
          <p:nvPr/>
        </p:nvSpPr>
        <p:spPr>
          <a:xfrm rot="5400000">
            <a:off x="463619" y="788479"/>
            <a:ext cx="208097" cy="179330"/>
          </a:xfrm>
          <a:prstGeom prst="triangle">
            <a:avLst/>
          </a:prstGeom>
          <a:solidFill>
            <a:srgbClr val="0C49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3E95"/>
              </a:solidFill>
            </a:endParaRPr>
          </a:p>
        </p:txBody>
      </p:sp>
      <p:sp>
        <p:nvSpPr>
          <p:cNvPr id="15" name="矩形 10">
            <a:extLst>
              <a:ext uri="{FF2B5EF4-FFF2-40B4-BE49-F238E27FC236}">
                <a16:creationId xmlns:a16="http://schemas.microsoft.com/office/drawing/2014/main" id="{0C6F28BC-5CF7-BDF8-6AF7-B46EC17ED06F}"/>
              </a:ext>
            </a:extLst>
          </p:cNvPr>
          <p:cNvSpPr/>
          <p:nvPr/>
        </p:nvSpPr>
        <p:spPr>
          <a:xfrm>
            <a:off x="657333" y="575003"/>
            <a:ext cx="4263110" cy="542389"/>
          </a:xfrm>
          <a:prstGeom prst="rect">
            <a:avLst/>
          </a:prstGeom>
          <a:noFill/>
          <a:ln>
            <a:noFill/>
          </a:ln>
        </p:spPr>
        <p:txBody>
          <a:bodyPr wrap="square" lIns="121917" tIns="60958" rIns="121917" bIns="60958">
            <a:spAutoFit/>
          </a:bodyPr>
          <a:lstStyle/>
          <a:p>
            <a:pPr>
              <a:lnSpc>
                <a:spcPct val="125000"/>
              </a:lnSpc>
            </a:pPr>
            <a:r>
              <a:rPr lang="zh-CN" altLang="en-US" sz="2400"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rPr>
              <a:t>多智能体强化学习调度方法</a:t>
            </a:r>
          </a:p>
        </p:txBody>
      </p:sp>
      <p:graphicFrame>
        <p:nvGraphicFramePr>
          <p:cNvPr id="2" name="表格 1">
            <a:extLst>
              <a:ext uri="{FF2B5EF4-FFF2-40B4-BE49-F238E27FC236}">
                <a16:creationId xmlns:a16="http://schemas.microsoft.com/office/drawing/2014/main" id="{77073B41-26BA-915C-B42B-B97E0CF7E7CF}"/>
              </a:ext>
            </a:extLst>
          </p:cNvPr>
          <p:cNvGraphicFramePr>
            <a:graphicFrameLocks noGrp="1"/>
          </p:cNvGraphicFramePr>
          <p:nvPr>
            <p:extLst>
              <p:ext uri="{D42A27DB-BD31-4B8C-83A1-F6EECF244321}">
                <p14:modId xmlns:p14="http://schemas.microsoft.com/office/powerpoint/2010/main" val="477178271"/>
              </p:ext>
            </p:extLst>
          </p:nvPr>
        </p:nvGraphicFramePr>
        <p:xfrm>
          <a:off x="692859" y="1145345"/>
          <a:ext cx="10860854" cy="3987518"/>
        </p:xfrm>
        <a:graphic>
          <a:graphicData uri="http://schemas.openxmlformats.org/drawingml/2006/table">
            <a:tbl>
              <a:tblPr firstRow="1" bandRow="1">
                <a:tableStyleId>{5940675A-B579-460E-94D1-54222C63F5DA}</a:tableStyleId>
              </a:tblPr>
              <a:tblGrid>
                <a:gridCol w="593341">
                  <a:extLst>
                    <a:ext uri="{9D8B030D-6E8A-4147-A177-3AD203B41FA5}">
                      <a16:colId xmlns:a16="http://schemas.microsoft.com/office/drawing/2014/main" val="2176183"/>
                    </a:ext>
                  </a:extLst>
                </a:gridCol>
                <a:gridCol w="688011">
                  <a:extLst>
                    <a:ext uri="{9D8B030D-6E8A-4147-A177-3AD203B41FA5}">
                      <a16:colId xmlns:a16="http://schemas.microsoft.com/office/drawing/2014/main" val="1218550047"/>
                    </a:ext>
                  </a:extLst>
                </a:gridCol>
                <a:gridCol w="3283733">
                  <a:extLst>
                    <a:ext uri="{9D8B030D-6E8A-4147-A177-3AD203B41FA5}">
                      <a16:colId xmlns:a16="http://schemas.microsoft.com/office/drawing/2014/main" val="997834706"/>
                    </a:ext>
                  </a:extLst>
                </a:gridCol>
                <a:gridCol w="4714395">
                  <a:extLst>
                    <a:ext uri="{9D8B030D-6E8A-4147-A177-3AD203B41FA5}">
                      <a16:colId xmlns:a16="http://schemas.microsoft.com/office/drawing/2014/main" val="1580758840"/>
                    </a:ext>
                  </a:extLst>
                </a:gridCol>
                <a:gridCol w="1581374">
                  <a:extLst>
                    <a:ext uri="{9D8B030D-6E8A-4147-A177-3AD203B41FA5}">
                      <a16:colId xmlns:a16="http://schemas.microsoft.com/office/drawing/2014/main" val="4102120278"/>
                    </a:ext>
                  </a:extLst>
                </a:gridCol>
              </a:tblGrid>
              <a:tr h="348024">
                <a:tc rowSpan="9">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dk1"/>
                          </a:solidFill>
                          <a:latin typeface="SimSun" panose="02010600030101010101" pitchFamily="2" charset="-122"/>
                          <a:ea typeface="SimSun" panose="02010600030101010101" pitchFamily="2" charset="-122"/>
                          <a:cs typeface="+mn-cs"/>
                        </a:rPr>
                        <a:t>多智能体强化学习</a:t>
                      </a:r>
                    </a:p>
                    <a:p>
                      <a:endParaRPr sz="1400" dirty="0"/>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28575" cap="flat" cmpd="sng" algn="ctr">
                      <a:solidFill>
                        <a:srgbClr val="3B5E98"/>
                      </a:solidFill>
                      <a:prstDash val="solid"/>
                      <a:round/>
                      <a:headEnd type="none" w="med" len="med"/>
                      <a:tailEnd type="none" w="med" len="med"/>
                    </a:lnT>
                    <a:lnB w="28575" cap="flat" cmpd="sng" algn="ctr">
                      <a:solidFill>
                        <a:srgbClr val="3B5E98"/>
                      </a:solidFill>
                      <a:prstDash val="solid"/>
                      <a:round/>
                      <a:headEnd type="none" w="med" len="med"/>
                      <a:tailEnd type="none" w="med" len="med"/>
                    </a:lnB>
                  </a:tcPr>
                </a:tc>
                <a:tc gridSpan="2">
                  <a:txBody>
                    <a:bodyPr/>
                    <a:lstStyle/>
                    <a:p>
                      <a:pPr marL="0" algn="ctr" defTabSz="914400" rtl="0" eaLnBrk="1" latinLnBrk="0" hangingPunct="1"/>
                      <a:r>
                        <a:rPr kumimoji="1" lang="zh-CN" altLang="en-US" sz="1800" kern="1200" dirty="0">
                          <a:solidFill>
                            <a:srgbClr val="4883C0"/>
                          </a:solidFill>
                          <a:latin typeface="Microsoft YaHei" panose="020B0503020204020204" pitchFamily="34" charset="-122"/>
                          <a:ea typeface="Microsoft YaHei" panose="020B0503020204020204" pitchFamily="34" charset="-122"/>
                          <a:cs typeface="+mn-cs"/>
                        </a:rPr>
                        <a:t>按照学习范式分类</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28575" cap="flat" cmpd="sng" algn="ctr">
                      <a:solidFill>
                        <a:srgbClr val="3B5E98"/>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hMerge="1">
                  <a:txBody>
                    <a:bodyPr/>
                    <a:lstStyle/>
                    <a:p>
                      <a:endParaRPr dirty="0"/>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28575" cap="flat" cmpd="sng" algn="ctr">
                      <a:solidFill>
                        <a:srgbClr val="3B5E98"/>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0" algn="ctr" defTabSz="914400" rtl="0" eaLnBrk="1" latinLnBrk="0" hangingPunct="1"/>
                      <a:r>
                        <a:rPr kumimoji="1" lang="zh-CN" altLang="en-US" sz="1800" kern="1200" dirty="0">
                          <a:solidFill>
                            <a:srgbClr val="4883C0"/>
                          </a:solidFill>
                          <a:latin typeface="Microsoft YaHei" panose="020B0503020204020204" pitchFamily="34" charset="-122"/>
                          <a:ea typeface="Microsoft YaHei" panose="020B0503020204020204" pitchFamily="34" charset="-122"/>
                          <a:cs typeface="+mn-cs"/>
                        </a:rPr>
                        <a:t>应用或简介</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28575" cap="flat" cmpd="sng" algn="ctr">
                      <a:solidFill>
                        <a:srgbClr val="3B5E98"/>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0" algn="ctr" defTabSz="914400" rtl="0" eaLnBrk="1" latinLnBrk="0" hangingPunct="1"/>
                      <a:r>
                        <a:rPr kumimoji="1" lang="zh-CN" altLang="en-US" sz="1800" kern="1200" dirty="0">
                          <a:solidFill>
                            <a:srgbClr val="4883C0"/>
                          </a:solidFill>
                          <a:latin typeface="Microsoft YaHei" panose="020B0503020204020204" pitchFamily="34" charset="-122"/>
                          <a:ea typeface="Microsoft YaHei" panose="020B0503020204020204" pitchFamily="34" charset="-122"/>
                          <a:cs typeface="+mn-cs"/>
                        </a:rPr>
                        <a:t>优点</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rgbClr val="3B5E98"/>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370909478"/>
                  </a:ext>
                </a:extLst>
              </a:tr>
              <a:tr h="290020">
                <a:tc vMerge="1">
                  <a:txBody>
                    <a:bodyPr/>
                    <a:lstStyle/>
                    <a:p>
                      <a:endParaRPr dirty="0"/>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28575" cap="flat" cmpd="sng" algn="ctr">
                      <a:solidFill>
                        <a:srgbClr val="3B5E98"/>
                      </a:solidFill>
                      <a:prstDash val="solid"/>
                      <a:round/>
                      <a:headEnd type="none" w="med" len="med"/>
                      <a:tailEnd type="none" w="med" len="med"/>
                    </a:lnT>
                    <a:lnB w="28575" cap="flat" cmpd="sng" algn="ctr">
                      <a:solidFill>
                        <a:srgbClr val="3B5E98"/>
                      </a:solidFill>
                      <a:prstDash val="solid"/>
                      <a:round/>
                      <a:headEnd type="none" w="med" len="med"/>
                      <a:tailEnd type="none" w="med" len="med"/>
                    </a:lnB>
                  </a:tcPr>
                </a:tc>
                <a:tc rowSpan="5">
                  <a:txBody>
                    <a:bodyPr/>
                    <a:lstStyle/>
                    <a:p>
                      <a:pPr marL="0" algn="ctr" defTabSz="914400" rtl="0" eaLnBrk="1" latinLnBrk="0" hangingPunct="1"/>
                      <a:r>
                        <a:rPr lang="zh-CN" altLang="en-US" sz="1400" kern="1200" dirty="0">
                          <a:solidFill>
                            <a:schemeClr val="dk1"/>
                          </a:solidFill>
                          <a:latin typeface="SimSun" panose="02010600030101010101" pitchFamily="2" charset="-122"/>
                          <a:ea typeface="SimSun" panose="02010600030101010101" pitchFamily="2" charset="-122"/>
                          <a:cs typeface="+mn-cs"/>
                        </a:rPr>
                        <a:t>基于值函数</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tcPr>
                </a:tc>
                <a:tc>
                  <a:txBody>
                    <a:bodyPr/>
                    <a:lstStyle/>
                    <a:p>
                      <a:pPr marL="0" algn="just" defTabSz="914400" rtl="0" eaLnBrk="1" latinLnBrk="0" hangingPunct="1"/>
                      <a:r>
                        <a:rPr lang="zh-CN" altLang="en-US" sz="1400" kern="1200" dirty="0">
                          <a:solidFill>
                            <a:schemeClr val="dk1"/>
                          </a:solidFill>
                          <a:latin typeface="SimSun" panose="02010600030101010101" pitchFamily="2" charset="-122"/>
                          <a:ea typeface="SimSun" panose="02010600030101010101" pitchFamily="2" charset="-122"/>
                          <a:cs typeface="+mn-cs"/>
                        </a:rPr>
                        <a:t>基于价值混合的（</a:t>
                      </a:r>
                      <a:r>
                        <a:rPr lang="en-US" altLang="zh-CN" sz="1400" kern="1200" dirty="0">
                          <a:solidFill>
                            <a:schemeClr val="dk1"/>
                          </a:solidFill>
                          <a:latin typeface="SimSun" panose="02010600030101010101" pitchFamily="2" charset="-122"/>
                          <a:ea typeface="SimSun" panose="02010600030101010101" pitchFamily="2" charset="-122"/>
                          <a:cs typeface="+mn-cs"/>
                        </a:rPr>
                        <a:t>QMIX</a:t>
                      </a:r>
                      <a:r>
                        <a:rPr lang="zh-CN" altLang="en-US" sz="1400" kern="1200" dirty="0">
                          <a:solidFill>
                            <a:schemeClr val="dk1"/>
                          </a:solidFill>
                          <a:latin typeface="SimSun" panose="02010600030101010101" pitchFamily="2" charset="-122"/>
                          <a:ea typeface="SimSun" panose="02010600030101010101" pitchFamily="2" charset="-122"/>
                          <a:cs typeface="+mn-cs"/>
                        </a:rPr>
                        <a:t>）</a:t>
                      </a:r>
                      <a:r>
                        <a:rPr lang="en-US" altLang="zh-CN" sz="1400" kern="1200" dirty="0">
                          <a:solidFill>
                            <a:schemeClr val="dk1"/>
                          </a:solidFill>
                          <a:latin typeface="SimSun" panose="02010600030101010101" pitchFamily="2" charset="-122"/>
                          <a:ea typeface="SimSun" panose="02010600030101010101" pitchFamily="2" charset="-122"/>
                          <a:cs typeface="+mn-cs"/>
                        </a:rPr>
                        <a:t>[17][18]</a:t>
                      </a:r>
                      <a:endParaRPr lang="zh-CN" altLang="en-US" sz="1400" kern="1200" dirty="0">
                        <a:solidFill>
                          <a:schemeClr val="dk1"/>
                        </a:solidFill>
                        <a:latin typeface="SimSun" panose="02010600030101010101" pitchFamily="2" charset="-122"/>
                        <a:ea typeface="SimSun" panose="02010600030101010101" pitchFamily="2" charset="-122"/>
                        <a:cs typeface="+mn-cs"/>
                      </a:endParaRP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0" algn="just" defTabSz="914400" rtl="0" eaLnBrk="1" latinLnBrk="0" hangingPunct="1"/>
                      <a:r>
                        <a:rPr lang="zh-CN" altLang="zh-CN" sz="1400" kern="1200" dirty="0">
                          <a:solidFill>
                            <a:schemeClr val="dk1"/>
                          </a:solidFill>
                          <a:latin typeface="SimSun" panose="02010600030101010101" pitchFamily="2" charset="-122"/>
                          <a:ea typeface="SimSun" panose="02010600030101010101" pitchFamily="2" charset="-122"/>
                          <a:cs typeface="+mn-cs"/>
                        </a:rPr>
                        <a:t>资源抢占环境中的作业调度问题</a:t>
                      </a:r>
                      <a:r>
                        <a:rPr lang="zh-CN" altLang="en-US" sz="1400" kern="1200" dirty="0">
                          <a:solidFill>
                            <a:schemeClr val="dk1"/>
                          </a:solidFill>
                          <a:latin typeface="SimSun" panose="02010600030101010101" pitchFamily="2" charset="-122"/>
                          <a:ea typeface="SimSun" panose="02010600030101010101" pitchFamily="2" charset="-122"/>
                          <a:cs typeface="+mn-cs"/>
                        </a:rPr>
                        <a:t>；作业顺序与运输时间可变的作业调度问题。</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rowSpan="5">
                  <a:txBody>
                    <a:bodyPr/>
                    <a:lstStyle/>
                    <a:p>
                      <a:pPr marL="0" algn="l" defTabSz="914400" rtl="0" eaLnBrk="1" latinLnBrk="0" hangingPunct="1"/>
                      <a:r>
                        <a:rPr lang="en-US" altLang="zh-CN" sz="1400" kern="1200" dirty="0">
                          <a:solidFill>
                            <a:schemeClr val="dk1"/>
                          </a:solidFill>
                          <a:latin typeface="SimSun" panose="02010600030101010101" pitchFamily="2" charset="-122"/>
                          <a:ea typeface="SimSun" panose="02010600030101010101" pitchFamily="2" charset="-122"/>
                          <a:cs typeface="+mn-cs"/>
                        </a:rPr>
                        <a:t>1.</a:t>
                      </a:r>
                      <a:r>
                        <a:rPr lang="zh-CN" altLang="en-US" sz="1400" kern="1200" dirty="0">
                          <a:solidFill>
                            <a:schemeClr val="dk1"/>
                          </a:solidFill>
                          <a:latin typeface="SimSun" panose="02010600030101010101" pitchFamily="2" charset="-122"/>
                          <a:ea typeface="SimSun" panose="02010600030101010101" pitchFamily="2" charset="-122"/>
                          <a:cs typeface="+mn-cs"/>
                        </a:rPr>
                        <a:t>推理快、样本效率较高；</a:t>
                      </a:r>
                      <a:endParaRPr lang="en-US" altLang="zh-CN" sz="1400" kern="1200" dirty="0">
                        <a:solidFill>
                          <a:schemeClr val="dk1"/>
                        </a:solidFill>
                        <a:latin typeface="SimSun" panose="02010600030101010101" pitchFamily="2" charset="-122"/>
                        <a:ea typeface="SimSun" panose="02010600030101010101" pitchFamily="2" charset="-122"/>
                        <a:cs typeface="+mn-cs"/>
                      </a:endParaRPr>
                    </a:p>
                    <a:p>
                      <a:pPr marL="0" algn="l" defTabSz="914400" rtl="0" eaLnBrk="1" latinLnBrk="0" hangingPunct="1"/>
                      <a:r>
                        <a:rPr lang="en-US" altLang="zh-CN" sz="1400" kern="1200" dirty="0">
                          <a:solidFill>
                            <a:schemeClr val="dk1"/>
                          </a:solidFill>
                          <a:latin typeface="SimSun" panose="02010600030101010101" pitchFamily="2" charset="-122"/>
                          <a:ea typeface="SimSun" panose="02010600030101010101" pitchFamily="2" charset="-122"/>
                          <a:cs typeface="+mn-cs"/>
                        </a:rPr>
                        <a:t>2.</a:t>
                      </a:r>
                      <a:r>
                        <a:rPr lang="zh-CN" altLang="en-US" sz="1400" kern="1200" dirty="0">
                          <a:solidFill>
                            <a:schemeClr val="dk1"/>
                          </a:solidFill>
                          <a:latin typeface="SimSun" panose="02010600030101010101" pitchFamily="2" charset="-122"/>
                          <a:ea typeface="SimSun" panose="02010600030101010101" pitchFamily="2" charset="-122"/>
                          <a:cs typeface="+mn-cs"/>
                        </a:rPr>
                        <a:t>适合</a:t>
                      </a:r>
                      <a:r>
                        <a:rPr lang="zh-CN" altLang="en-US" sz="1400" kern="1200" dirty="0">
                          <a:solidFill>
                            <a:srgbClr val="C00000"/>
                          </a:solidFill>
                          <a:latin typeface="SimSun" panose="02010600030101010101" pitchFamily="2" charset="-122"/>
                          <a:ea typeface="SimSun" panose="02010600030101010101" pitchFamily="2" charset="-122"/>
                          <a:cs typeface="+mn-cs"/>
                        </a:rPr>
                        <a:t>离散</a:t>
                      </a:r>
                      <a:r>
                        <a:rPr lang="en-US" altLang="zh-CN" sz="1400" kern="1200" dirty="0">
                          <a:solidFill>
                            <a:srgbClr val="C00000"/>
                          </a:solidFill>
                          <a:latin typeface="SimSun" panose="02010600030101010101" pitchFamily="2" charset="-122"/>
                          <a:ea typeface="SimSun" panose="02010600030101010101" pitchFamily="2" charset="-122"/>
                          <a:cs typeface="+mn-cs"/>
                        </a:rPr>
                        <a:t>/</a:t>
                      </a:r>
                      <a:r>
                        <a:rPr lang="zh-CN" altLang="en-US" sz="1400" kern="1200" dirty="0">
                          <a:solidFill>
                            <a:srgbClr val="C00000"/>
                          </a:solidFill>
                          <a:latin typeface="SimSun" panose="02010600030101010101" pitchFamily="2" charset="-122"/>
                          <a:ea typeface="SimSun" panose="02010600030101010101" pitchFamily="2" charset="-122"/>
                          <a:cs typeface="+mn-cs"/>
                        </a:rPr>
                        <a:t>组合动作</a:t>
                      </a:r>
                      <a:r>
                        <a:rPr lang="zh-CN" altLang="en-US" sz="1400" kern="1200" dirty="0">
                          <a:solidFill>
                            <a:schemeClr val="dk1"/>
                          </a:solidFill>
                          <a:latin typeface="SimSun" panose="02010600030101010101" pitchFamily="2" charset="-122"/>
                          <a:ea typeface="SimSun" panose="02010600030101010101" pitchFamily="2" charset="-122"/>
                          <a:cs typeface="+mn-cs"/>
                        </a:rPr>
                        <a:t>与强协作；</a:t>
                      </a:r>
                      <a:endParaRPr lang="en-US" altLang="zh-CN" sz="1400" kern="1200" dirty="0">
                        <a:solidFill>
                          <a:schemeClr val="dk1"/>
                        </a:solidFill>
                        <a:latin typeface="SimSun" panose="02010600030101010101" pitchFamily="2" charset="-122"/>
                        <a:ea typeface="SimSun" panose="02010600030101010101" pitchFamily="2" charset="-122"/>
                        <a:cs typeface="+mn-cs"/>
                      </a:endParaRPr>
                    </a:p>
                    <a:p>
                      <a:pPr marL="0" algn="l" defTabSz="914400" rtl="0" eaLnBrk="1" latinLnBrk="0" hangingPunct="1"/>
                      <a:r>
                        <a:rPr lang="en-US" altLang="zh-CN" sz="1400" kern="1200" dirty="0">
                          <a:solidFill>
                            <a:schemeClr val="dk1"/>
                          </a:solidFill>
                          <a:latin typeface="SimSun" panose="02010600030101010101" pitchFamily="2" charset="-122"/>
                          <a:ea typeface="SimSun" panose="02010600030101010101" pitchFamily="2" charset="-122"/>
                          <a:cs typeface="+mn-cs"/>
                        </a:rPr>
                        <a:t>3.</a:t>
                      </a:r>
                      <a:r>
                        <a:rPr lang="zh-CN" altLang="en-US" sz="1400" kern="1200" dirty="0">
                          <a:solidFill>
                            <a:schemeClr val="dk1"/>
                          </a:solidFill>
                          <a:latin typeface="SimSun" panose="02010600030101010101" pitchFamily="2" charset="-122"/>
                          <a:ea typeface="SimSun" panose="02010600030101010101" pitchFamily="2" charset="-122"/>
                          <a:cs typeface="+mn-cs"/>
                        </a:rPr>
                        <a:t>集中式训练下训练稳定、</a:t>
                      </a:r>
                      <a:r>
                        <a:rPr lang="zh-CN" altLang="en-US" sz="1400" kern="1200" dirty="0">
                          <a:solidFill>
                            <a:srgbClr val="C00000"/>
                          </a:solidFill>
                          <a:latin typeface="SimSun" panose="02010600030101010101" pitchFamily="2" charset="-122"/>
                          <a:ea typeface="SimSun" panose="02010600030101010101" pitchFamily="2" charset="-122"/>
                          <a:cs typeface="+mn-cs"/>
                        </a:rPr>
                        <a:t>易扩展到多站</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2888417708"/>
                  </a:ext>
                </a:extLst>
              </a:tr>
              <a:tr h="290020">
                <a:tc vMerge="1">
                  <a:txBody>
                    <a:bodyPr/>
                    <a:lstStyle/>
                    <a:p>
                      <a:endParaRPr lang="zh-CN" altLang="en-US"/>
                    </a:p>
                  </a:txBody>
                  <a:tcPr/>
                </a:tc>
                <a:tc vMerge="1">
                  <a:txBody>
                    <a:bodyPr/>
                    <a:lstStyle/>
                    <a:p>
                      <a:endParaRPr lang="zh-CN" altLang="en-US"/>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1400" kern="1200" dirty="0">
                          <a:solidFill>
                            <a:schemeClr val="dk1"/>
                          </a:solidFill>
                          <a:latin typeface="SimSun" panose="02010600030101010101" pitchFamily="2" charset="-122"/>
                          <a:ea typeface="SimSun" panose="02010600030101010101" pitchFamily="2" charset="-122"/>
                          <a:cs typeface="+mn-cs"/>
                        </a:rPr>
                        <a:t>基于双深度</a:t>
                      </a:r>
                      <a:r>
                        <a:rPr lang="en-US" altLang="zh-CN" sz="1400" kern="1200" dirty="0">
                          <a:solidFill>
                            <a:schemeClr val="dk1"/>
                          </a:solidFill>
                          <a:latin typeface="SimSun" panose="02010600030101010101" pitchFamily="2" charset="-122"/>
                          <a:ea typeface="SimSun" panose="02010600030101010101" pitchFamily="2" charset="-122"/>
                          <a:cs typeface="+mn-cs"/>
                        </a:rPr>
                        <a:t>Q</a:t>
                      </a:r>
                      <a:r>
                        <a:rPr lang="zh-CN" altLang="en-US" sz="1400" kern="1200" dirty="0">
                          <a:solidFill>
                            <a:schemeClr val="dk1"/>
                          </a:solidFill>
                          <a:latin typeface="SimSun" panose="02010600030101010101" pitchFamily="2" charset="-122"/>
                          <a:ea typeface="SimSun" panose="02010600030101010101" pitchFamily="2" charset="-122"/>
                          <a:cs typeface="+mn-cs"/>
                        </a:rPr>
                        <a:t>网络（</a:t>
                      </a:r>
                      <a:r>
                        <a:rPr lang="en-US" altLang="zh-CN" sz="1400" kern="1200" dirty="0">
                          <a:solidFill>
                            <a:schemeClr val="dk1"/>
                          </a:solidFill>
                          <a:latin typeface="SimSun" panose="02010600030101010101" pitchFamily="2" charset="-122"/>
                          <a:ea typeface="SimSun" panose="02010600030101010101" pitchFamily="2" charset="-122"/>
                          <a:cs typeface="+mn-cs"/>
                        </a:rPr>
                        <a:t>DDQN</a:t>
                      </a:r>
                      <a:r>
                        <a:rPr lang="zh-CN" altLang="en-US" sz="1400" kern="1200" dirty="0">
                          <a:solidFill>
                            <a:schemeClr val="dk1"/>
                          </a:solidFill>
                          <a:latin typeface="SimSun" panose="02010600030101010101" pitchFamily="2" charset="-122"/>
                          <a:ea typeface="SimSun" panose="02010600030101010101" pitchFamily="2" charset="-122"/>
                          <a:cs typeface="+mn-cs"/>
                        </a:rPr>
                        <a:t>）</a:t>
                      </a:r>
                      <a:r>
                        <a:rPr lang="en-US" altLang="zh-CN" sz="1400" kern="1200" dirty="0">
                          <a:solidFill>
                            <a:schemeClr val="dk1"/>
                          </a:solidFill>
                          <a:latin typeface="SimSun" panose="02010600030101010101" pitchFamily="2" charset="-122"/>
                          <a:ea typeface="SimSun" panose="02010600030101010101" pitchFamily="2" charset="-122"/>
                          <a:cs typeface="+mn-cs"/>
                        </a:rPr>
                        <a:t>[19][20]</a:t>
                      </a:r>
                      <a:endParaRPr lang="zh-CN" altLang="en-US" sz="1400" kern="1200" dirty="0">
                        <a:solidFill>
                          <a:schemeClr val="dk1"/>
                        </a:solidFill>
                        <a:latin typeface="SimSun" panose="02010600030101010101" pitchFamily="2" charset="-122"/>
                        <a:ea typeface="SimSun" panose="02010600030101010101" pitchFamily="2" charset="-122"/>
                        <a:cs typeface="+mn-cs"/>
                      </a:endParaRP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1400" kern="1200" dirty="0">
                          <a:solidFill>
                            <a:schemeClr val="dk1"/>
                          </a:solidFill>
                          <a:latin typeface="SimSun" panose="02010600030101010101" pitchFamily="2" charset="-122"/>
                          <a:ea typeface="SimSun" panose="02010600030101010101" pitchFamily="2" charset="-122"/>
                          <a:cs typeface="+mn-cs"/>
                        </a:rPr>
                        <a:t>随机作业到达的作业调度问题</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vMerge="1">
                  <a:txBody>
                    <a:bodyPr/>
                    <a:lstStyle/>
                    <a:p>
                      <a:endParaRPr lang="zh-CN" altLang="en-US"/>
                    </a:p>
                  </a:txBody>
                  <a:tcPr/>
                </a:tc>
                <a:extLst>
                  <a:ext uri="{0D108BD9-81ED-4DB2-BD59-A6C34878D82A}">
                    <a16:rowId xmlns:a16="http://schemas.microsoft.com/office/drawing/2014/main" val="2834832324"/>
                  </a:ext>
                </a:extLst>
              </a:tr>
              <a:tr h="290020">
                <a:tc vMerge="1">
                  <a:txBody>
                    <a:bodyPr/>
                    <a:lstStyle/>
                    <a:p>
                      <a:endParaRPr lang="zh-CN" altLang="en-US"/>
                    </a:p>
                  </a:txBody>
                  <a:tcPr/>
                </a:tc>
                <a:tc vMerge="1">
                  <a:txBody>
                    <a:bodyPr/>
                    <a:lstStyle/>
                    <a:p>
                      <a:endParaRPr lang="zh-CN" altLang="en-US" dirty="0"/>
                    </a:p>
                  </a:txBody>
                  <a:tcPr/>
                </a:tc>
                <a:tc>
                  <a:txBody>
                    <a:bodyPr/>
                    <a:lstStyle/>
                    <a:p>
                      <a:pPr marL="0" algn="just" defTabSz="914400" rtl="0" eaLnBrk="1" latinLnBrk="0" hangingPunct="1"/>
                      <a:r>
                        <a:rPr lang="zh-CN" altLang="zh-CN" sz="1400" kern="1200" dirty="0">
                          <a:solidFill>
                            <a:schemeClr val="dk1"/>
                          </a:solidFill>
                          <a:latin typeface="SimSun" panose="02010600030101010101" pitchFamily="2" charset="-122"/>
                          <a:ea typeface="SimSun" panose="02010600030101010101" pitchFamily="2" charset="-122"/>
                          <a:cs typeface="+mn-cs"/>
                        </a:rPr>
                        <a:t>基于价值分解的</a:t>
                      </a:r>
                      <a:r>
                        <a:rPr lang="zh-CN" altLang="en-US" sz="1400" kern="1200" dirty="0">
                          <a:solidFill>
                            <a:schemeClr val="dk1"/>
                          </a:solidFill>
                          <a:latin typeface="SimSun" panose="02010600030101010101" pitchFamily="2" charset="-122"/>
                          <a:ea typeface="SimSun" panose="02010600030101010101" pitchFamily="2" charset="-122"/>
                          <a:cs typeface="+mn-cs"/>
                        </a:rPr>
                        <a:t>（</a:t>
                      </a:r>
                      <a:r>
                        <a:rPr lang="en-US" altLang="zh-CN" sz="1400" kern="1200" dirty="0">
                          <a:solidFill>
                            <a:schemeClr val="dk1"/>
                          </a:solidFill>
                          <a:latin typeface="SimSun" panose="02010600030101010101" pitchFamily="2" charset="-122"/>
                          <a:ea typeface="SimSun" panose="02010600030101010101" pitchFamily="2" charset="-122"/>
                          <a:cs typeface="+mn-cs"/>
                        </a:rPr>
                        <a:t>VNS</a:t>
                      </a:r>
                      <a:r>
                        <a:rPr lang="zh-CN" altLang="en-US" sz="1400" kern="1200" dirty="0">
                          <a:solidFill>
                            <a:schemeClr val="dk1"/>
                          </a:solidFill>
                          <a:latin typeface="SimSun" panose="02010600030101010101" pitchFamily="2" charset="-122"/>
                          <a:ea typeface="SimSun" panose="02010600030101010101" pitchFamily="2" charset="-122"/>
                          <a:cs typeface="+mn-cs"/>
                        </a:rPr>
                        <a:t>）</a:t>
                      </a:r>
                      <a:r>
                        <a:rPr lang="en-US" altLang="zh-CN" sz="1400" kern="1200" dirty="0">
                          <a:solidFill>
                            <a:schemeClr val="dk1"/>
                          </a:solidFill>
                          <a:latin typeface="SimSun" panose="02010600030101010101" pitchFamily="2" charset="-122"/>
                          <a:ea typeface="SimSun" panose="02010600030101010101" pitchFamily="2" charset="-122"/>
                          <a:cs typeface="+mn-cs"/>
                        </a:rPr>
                        <a:t>[21]</a:t>
                      </a:r>
                      <a:endParaRPr lang="zh-CN" altLang="en-US" sz="1400" kern="1200" dirty="0">
                        <a:solidFill>
                          <a:schemeClr val="dk1"/>
                        </a:solidFill>
                        <a:latin typeface="SimSun" panose="02010600030101010101" pitchFamily="2" charset="-122"/>
                        <a:ea typeface="SimSun" panose="02010600030101010101" pitchFamily="2" charset="-122"/>
                        <a:cs typeface="+mn-cs"/>
                      </a:endParaRP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0" algn="just" defTabSz="914400" rtl="0" eaLnBrk="1" latinLnBrk="0" hangingPunct="1"/>
                      <a:r>
                        <a:rPr lang="zh-CN" altLang="en-US" sz="1400" kern="1200" dirty="0">
                          <a:solidFill>
                            <a:schemeClr val="dk1"/>
                          </a:solidFill>
                          <a:latin typeface="SimSun" panose="02010600030101010101" pitchFamily="2" charset="-122"/>
                          <a:ea typeface="SimSun" panose="02010600030101010101" pitchFamily="2" charset="-122"/>
                          <a:cs typeface="+mn-cs"/>
                        </a:rPr>
                        <a:t>考虑维护动作和检查间隔的航空发动机维护问题</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vMerge="1">
                  <a:txBody>
                    <a:bodyPr/>
                    <a:lstStyle/>
                    <a:p>
                      <a:endParaRPr lang="zh-CN" altLang="en-US"/>
                    </a:p>
                  </a:txBody>
                  <a:tcPr/>
                </a:tc>
                <a:extLst>
                  <a:ext uri="{0D108BD9-81ED-4DB2-BD59-A6C34878D82A}">
                    <a16:rowId xmlns:a16="http://schemas.microsoft.com/office/drawing/2014/main" val="3724994143"/>
                  </a:ext>
                </a:extLst>
              </a:tr>
              <a:tr h="493035">
                <a:tc vMerge="1">
                  <a:txBody>
                    <a:bodyPr/>
                    <a:lstStyle/>
                    <a:p>
                      <a:pPr marL="0" algn="ctr" defTabSz="914400" rtl="0" eaLnBrk="1" latinLnBrk="0" hangingPunct="1"/>
                      <a:endParaRPr lang="zh-CN"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lnR w="12700" cap="flat" cmpd="sng" algn="ctr">
                      <a:solidFill>
                        <a:srgbClr val="3B5E98"/>
                      </a:solidFill>
                      <a:prstDash val="solid"/>
                      <a:round/>
                      <a:headEnd type="none" w="med" len="med"/>
                      <a:tailEnd type="none" w="med" len="med"/>
                    </a:lnR>
                    <a:lnT w="28575" cap="flat" cmpd="sng" algn="ctr">
                      <a:solidFill>
                        <a:srgbClr val="3B5E98"/>
                      </a:solidFill>
                      <a:prstDash val="solid"/>
                      <a:round/>
                      <a:headEnd type="none" w="med" len="med"/>
                      <a:tailEnd type="none" w="med" len="med"/>
                    </a:lnT>
                    <a:lnB w="12700" cap="flat" cmpd="sng" algn="ctr">
                      <a:solidFill>
                        <a:srgbClr val="3B5E98"/>
                      </a:solidFill>
                      <a:prstDash val="solid"/>
                      <a:round/>
                      <a:headEnd type="none" w="med" len="med"/>
                      <a:tailEnd type="none" w="med" len="med"/>
                    </a:lnB>
                  </a:tcPr>
                </a:tc>
                <a:tc vMerge="1">
                  <a:txBody>
                    <a:bodyPr/>
                    <a:lstStyle/>
                    <a:p>
                      <a:endParaRPr dirty="0"/>
                    </a:p>
                  </a:txBody>
                  <a:tcPr anchor="ctr">
                    <a:lnL w="12700"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0" algn="just" defTabSz="914400" rtl="0" eaLnBrk="1" latinLnBrk="0" hangingPunct="1"/>
                      <a:r>
                        <a:rPr lang="zh-CN" altLang="en-US" sz="1400" kern="1200" dirty="0">
                          <a:solidFill>
                            <a:schemeClr val="dk1"/>
                          </a:solidFill>
                          <a:latin typeface="SimSun" panose="02010600030101010101" pitchFamily="2" charset="-122"/>
                          <a:ea typeface="SimSun" panose="02010600030101010101" pitchFamily="2" charset="-122"/>
                          <a:cs typeface="+mn-cs"/>
                        </a:rPr>
                        <a:t>基于价值转移的（</a:t>
                      </a:r>
                      <a:r>
                        <a:rPr lang="en-US" altLang="zh-CN" sz="1400" kern="1200" dirty="0">
                          <a:solidFill>
                            <a:schemeClr val="dk1"/>
                          </a:solidFill>
                          <a:latin typeface="SimSun" panose="02010600030101010101" pitchFamily="2" charset="-122"/>
                          <a:ea typeface="SimSun" panose="02010600030101010101" pitchFamily="2" charset="-122"/>
                          <a:cs typeface="+mn-cs"/>
                        </a:rPr>
                        <a:t>QTRAN</a:t>
                      </a:r>
                      <a:r>
                        <a:rPr lang="zh-CN" altLang="en-US" sz="1400" kern="1200" dirty="0">
                          <a:solidFill>
                            <a:schemeClr val="dk1"/>
                          </a:solidFill>
                          <a:latin typeface="SimSun" panose="02010600030101010101" pitchFamily="2" charset="-122"/>
                          <a:ea typeface="SimSun" panose="02010600030101010101" pitchFamily="2" charset="-122"/>
                          <a:cs typeface="+mn-cs"/>
                        </a:rPr>
                        <a:t>）</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0" algn="just" defTabSz="914400" rtl="0" eaLnBrk="1" latinLnBrk="0" hangingPunct="1"/>
                      <a:r>
                        <a:rPr lang="zh-CN" altLang="en-US" sz="1400" kern="1200" dirty="0">
                          <a:solidFill>
                            <a:schemeClr val="dk1"/>
                          </a:solidFill>
                          <a:latin typeface="SimSun" panose="02010600030101010101" pitchFamily="2" charset="-122"/>
                          <a:ea typeface="SimSun" panose="02010600030101010101" pitchFamily="2" charset="-122"/>
                          <a:cs typeface="+mn-cs"/>
                        </a:rPr>
                        <a:t>通过变换放宽单调性假设，提升联合 </a:t>
                      </a:r>
                      <a:r>
                        <a:rPr lang="en-US" altLang="zh-CN" sz="1400" kern="1200" dirty="0">
                          <a:solidFill>
                            <a:schemeClr val="dk1"/>
                          </a:solidFill>
                          <a:latin typeface="SimSun" panose="02010600030101010101" pitchFamily="2" charset="-122"/>
                          <a:ea typeface="SimSun" panose="02010600030101010101" pitchFamily="2" charset="-122"/>
                          <a:cs typeface="+mn-cs"/>
                        </a:rPr>
                        <a:t>Q </a:t>
                      </a:r>
                      <a:r>
                        <a:rPr lang="zh-CN" altLang="en-US" sz="1400" kern="1200" dirty="0">
                          <a:solidFill>
                            <a:schemeClr val="dk1"/>
                          </a:solidFill>
                          <a:latin typeface="SimSun" panose="02010600030101010101" pitchFamily="2" charset="-122"/>
                          <a:ea typeface="SimSun" panose="02010600030101010101" pitchFamily="2" charset="-122"/>
                          <a:cs typeface="+mn-cs"/>
                        </a:rPr>
                        <a:t>的表达力；训练更难、稳定性敏感</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vMerge="1">
                  <a:txBody>
                    <a:bodyPr/>
                    <a:lstStyle/>
                    <a:p>
                      <a:pPr marL="0" algn="ctr" defTabSz="914400" rtl="0" eaLnBrk="1" latinLnBrk="0" hangingPunct="1"/>
                      <a:endParaRPr lang="zh-CN" altLang="en-US" sz="1400" kern="1200" dirty="0">
                        <a:solidFill>
                          <a:schemeClr val="dk1"/>
                        </a:solidFill>
                        <a:latin typeface="SimSun" panose="02010600030101010101" pitchFamily="2" charset="-122"/>
                        <a:ea typeface="SimSun" panose="02010600030101010101" pitchFamily="2" charset="-122"/>
                        <a:cs typeface="+mn-cs"/>
                      </a:endParaRP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9525" cap="flat" cmpd="sng" algn="ctr">
                      <a:solidFill>
                        <a:srgbClr val="3B5E98"/>
                      </a:solidFill>
                      <a:prstDash val="solid"/>
                      <a:round/>
                      <a:headEnd type="none" w="med" len="med"/>
                      <a:tailEnd type="none" w="med" len="med"/>
                    </a:lnT>
                    <a:lnB w="9525" cap="flat" cmpd="sng" algn="ctr">
                      <a:solidFill>
                        <a:srgbClr val="3B5E98"/>
                      </a:solidFill>
                      <a:prstDash val="solid"/>
                      <a:round/>
                      <a:headEnd type="none" w="med" len="med"/>
                      <a:tailEnd type="none" w="med" len="med"/>
                    </a:lnB>
                  </a:tcPr>
                </a:tc>
                <a:extLst>
                  <a:ext uri="{0D108BD9-81ED-4DB2-BD59-A6C34878D82A}">
                    <a16:rowId xmlns:a16="http://schemas.microsoft.com/office/drawing/2014/main" val="1252176705"/>
                  </a:ext>
                </a:extLst>
              </a:tr>
              <a:tr h="364651">
                <a:tc vMerge="1">
                  <a:txBody>
                    <a:bodyPr/>
                    <a:lstStyle/>
                    <a:p>
                      <a:endParaRPr lang="zh-CN" altLang="en-US"/>
                    </a:p>
                  </a:txBody>
                  <a:tcPr/>
                </a:tc>
                <a:tc vMerge="1">
                  <a:txBody>
                    <a:bodyPr/>
                    <a:lstStyle/>
                    <a:p>
                      <a:endParaRPr lang="zh-CN" altLang="en-US"/>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1400" kern="1200" dirty="0">
                          <a:solidFill>
                            <a:schemeClr val="dk1"/>
                          </a:solidFill>
                          <a:latin typeface="SimSun" panose="02010600030101010101" pitchFamily="2" charset="-122"/>
                          <a:ea typeface="SimSun" panose="02010600030101010101" pitchFamily="2" charset="-122"/>
                          <a:cs typeface="+mn-cs"/>
                        </a:rPr>
                        <a:t>独立</a:t>
                      </a:r>
                      <a:r>
                        <a:rPr lang="en-US" altLang="zh-CN" sz="1400" kern="1200" dirty="0">
                          <a:solidFill>
                            <a:schemeClr val="dk1"/>
                          </a:solidFill>
                          <a:latin typeface="SimSun" panose="02010600030101010101" pitchFamily="2" charset="-122"/>
                          <a:ea typeface="SimSun" panose="02010600030101010101" pitchFamily="2" charset="-122"/>
                          <a:cs typeface="+mn-cs"/>
                        </a:rPr>
                        <a:t>Q</a:t>
                      </a:r>
                      <a:r>
                        <a:rPr lang="zh-CN" altLang="en-US" sz="1400" kern="1200" dirty="0">
                          <a:solidFill>
                            <a:schemeClr val="dk1"/>
                          </a:solidFill>
                          <a:latin typeface="SimSun" panose="02010600030101010101" pitchFamily="2" charset="-122"/>
                          <a:ea typeface="SimSun" panose="02010600030101010101" pitchFamily="2" charset="-122"/>
                          <a:cs typeface="+mn-cs"/>
                        </a:rPr>
                        <a:t>学习（</a:t>
                      </a:r>
                      <a:r>
                        <a:rPr lang="en-US" altLang="zh-CN" sz="1400" kern="1200" dirty="0">
                          <a:solidFill>
                            <a:schemeClr val="dk1"/>
                          </a:solidFill>
                          <a:latin typeface="SimSun" panose="02010600030101010101" pitchFamily="2" charset="-122"/>
                          <a:ea typeface="SimSun" panose="02010600030101010101" pitchFamily="2" charset="-122"/>
                          <a:cs typeface="+mn-cs"/>
                        </a:rPr>
                        <a:t>IQL</a:t>
                      </a:r>
                      <a:r>
                        <a:rPr lang="zh-CN" altLang="en-US" sz="1400" kern="1200" dirty="0">
                          <a:solidFill>
                            <a:schemeClr val="dk1"/>
                          </a:solidFill>
                          <a:latin typeface="SimSun" panose="02010600030101010101" pitchFamily="2" charset="-122"/>
                          <a:ea typeface="SimSun" panose="02010600030101010101" pitchFamily="2" charset="-122"/>
                          <a:cs typeface="+mn-cs"/>
                        </a:rPr>
                        <a:t>）</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1400" kern="1200" dirty="0">
                          <a:solidFill>
                            <a:schemeClr val="dk1"/>
                          </a:solidFill>
                          <a:latin typeface="SimSun" panose="02010600030101010101" pitchFamily="2" charset="-122"/>
                          <a:ea typeface="SimSun" panose="02010600030101010101" pitchFamily="2" charset="-122"/>
                          <a:cs typeface="+mn-cs"/>
                        </a:rPr>
                        <a:t>各智能体把他人视作环境；可并行，但易不平稳</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vMerge="1">
                  <a:txBody>
                    <a:bodyPr/>
                    <a:lstStyle/>
                    <a:p>
                      <a:endParaRPr lang="zh-CN" altLang="en-US"/>
                    </a:p>
                  </a:txBody>
                  <a:tcPr/>
                </a:tc>
                <a:extLst>
                  <a:ext uri="{0D108BD9-81ED-4DB2-BD59-A6C34878D82A}">
                    <a16:rowId xmlns:a16="http://schemas.microsoft.com/office/drawing/2014/main" val="2070656914"/>
                  </a:ext>
                </a:extLst>
              </a:tr>
              <a:tr h="493859">
                <a:tc vMerge="1">
                  <a:txBody>
                    <a:bodyPr/>
                    <a:lstStyle/>
                    <a:p>
                      <a:endParaRPr dirty="0"/>
                    </a:p>
                  </a:txBody>
                  <a:tcPr anchor="ctr">
                    <a:lnL w="9525" cap="flat" cmpd="sng" algn="ctr">
                      <a:solidFill>
                        <a:srgbClr val="3B5E98"/>
                      </a:solidFill>
                      <a:prstDash val="solid"/>
                      <a:round/>
                      <a:headEnd type="none" w="med" len="med"/>
                      <a:tailEnd type="none" w="med" len="med"/>
                    </a:lnL>
                    <a:lnR w="12700" cap="flat" cmpd="sng" algn="ctr">
                      <a:solidFill>
                        <a:srgbClr val="3B5E98"/>
                      </a:solidFill>
                      <a:prstDash val="solid"/>
                      <a:round/>
                      <a:headEnd type="none" w="med" len="med"/>
                      <a:tailEnd type="none" w="med" len="med"/>
                    </a:lnR>
                    <a:lnT w="28575" cap="flat" cmpd="sng" algn="ctr">
                      <a:solidFill>
                        <a:srgbClr val="3B5E98"/>
                      </a:solidFill>
                      <a:prstDash val="solid"/>
                      <a:round/>
                      <a:headEnd type="none" w="med" len="med"/>
                      <a:tailEnd type="none" w="med" len="med"/>
                    </a:lnT>
                    <a:lnB w="28575" cap="flat" cmpd="sng" algn="ctr">
                      <a:solidFill>
                        <a:srgbClr val="3B5E98"/>
                      </a:solidFill>
                      <a:prstDash val="solid"/>
                      <a:round/>
                      <a:headEnd type="none" w="med" len="med"/>
                      <a:tailEnd type="none" w="med" len="med"/>
                    </a:lnB>
                  </a:tcPr>
                </a:tc>
                <a:tc rowSpan="3">
                  <a:txBody>
                    <a:bodyPr/>
                    <a:lstStyle/>
                    <a:p>
                      <a:pPr marL="0" algn="ctr" defTabSz="914400" rtl="0" eaLnBrk="1" latinLnBrk="0" hangingPunct="1"/>
                      <a:r>
                        <a:rPr lang="zh-CN" altLang="en-US" sz="1400" kern="1200" dirty="0">
                          <a:solidFill>
                            <a:schemeClr val="dk1"/>
                          </a:solidFill>
                          <a:latin typeface="SimSun" panose="02010600030101010101" pitchFamily="2" charset="-122"/>
                          <a:ea typeface="SimSun" panose="02010600030101010101" pitchFamily="2" charset="-122"/>
                          <a:cs typeface="+mn-cs"/>
                        </a:rPr>
                        <a:t>基于策略梯度</a:t>
                      </a:r>
                    </a:p>
                  </a:txBody>
                  <a:tcPr anchor="ctr">
                    <a:lnL w="12700"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tcPr>
                </a:tc>
                <a:tc>
                  <a:txBody>
                    <a:bodyPr/>
                    <a:lstStyle/>
                    <a:p>
                      <a:pPr marL="0" algn="just" defTabSz="914400" rtl="0" eaLnBrk="1" latinLnBrk="0" hangingPunct="1"/>
                      <a:r>
                        <a:rPr lang="zh-CN" altLang="zh-CN" sz="1400" kern="1200" dirty="0">
                          <a:solidFill>
                            <a:schemeClr val="dk1"/>
                          </a:solidFill>
                          <a:latin typeface="SimSun" panose="02010600030101010101" pitchFamily="2" charset="-122"/>
                          <a:ea typeface="SimSun" panose="02010600030101010101" pitchFamily="2" charset="-122"/>
                          <a:cs typeface="+mn-cs"/>
                        </a:rPr>
                        <a:t>深度确定性策略梯度算法</a:t>
                      </a:r>
                      <a:r>
                        <a:rPr lang="en-US" altLang="zh-CN" sz="1400" kern="1200" dirty="0">
                          <a:solidFill>
                            <a:schemeClr val="dk1"/>
                          </a:solidFill>
                          <a:latin typeface="SimSun" panose="02010600030101010101" pitchFamily="2" charset="-122"/>
                          <a:ea typeface="SimSun" panose="02010600030101010101" pitchFamily="2" charset="-122"/>
                          <a:cs typeface="+mn-cs"/>
                        </a:rPr>
                        <a:t>(MADDPG)[22]</a:t>
                      </a:r>
                      <a:endParaRPr lang="zh-CN" altLang="en-US" sz="1400" kern="1200" dirty="0">
                        <a:solidFill>
                          <a:schemeClr val="dk1"/>
                        </a:solidFill>
                        <a:latin typeface="SimSun" panose="02010600030101010101" pitchFamily="2" charset="-122"/>
                        <a:ea typeface="SimSun" panose="02010600030101010101" pitchFamily="2" charset="-122"/>
                        <a:cs typeface="+mn-cs"/>
                      </a:endParaRP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0" algn="just" defTabSz="914400" rtl="0" eaLnBrk="1" latinLnBrk="0" hangingPunct="1"/>
                      <a:r>
                        <a:rPr lang="zh-CN" altLang="en-US" sz="1400" kern="1200" dirty="0">
                          <a:solidFill>
                            <a:schemeClr val="dk1"/>
                          </a:solidFill>
                          <a:latin typeface="SimSun" panose="02010600030101010101" pitchFamily="2" charset="-122"/>
                          <a:ea typeface="SimSun" panose="02010600030101010101" pitchFamily="2" charset="-122"/>
                          <a:cs typeface="+mn-cs"/>
                        </a:rPr>
                        <a:t>考虑定制产品的柔性混合生产调度问题</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kern="1200" dirty="0">
                          <a:solidFill>
                            <a:schemeClr val="dk1"/>
                          </a:solidFill>
                          <a:latin typeface="SimSun" panose="02010600030101010101" pitchFamily="2" charset="-122"/>
                          <a:ea typeface="SimSun" panose="02010600030101010101" pitchFamily="2" charset="-122"/>
                          <a:cs typeface="+mn-cs"/>
                        </a:rPr>
                        <a:t>1.</a:t>
                      </a:r>
                      <a:r>
                        <a:rPr lang="zh-CN" altLang="en-US" sz="1400" kern="1200" dirty="0">
                          <a:solidFill>
                            <a:schemeClr val="dk1"/>
                          </a:solidFill>
                          <a:latin typeface="SimSun" panose="02010600030101010101" pitchFamily="2" charset="-122"/>
                          <a:ea typeface="SimSun" panose="02010600030101010101" pitchFamily="2" charset="-122"/>
                          <a:cs typeface="+mn-cs"/>
                        </a:rPr>
                        <a:t>表达力强，天然支持连续</a:t>
                      </a:r>
                      <a:r>
                        <a:rPr lang="en-US" altLang="zh-CN" sz="1400" kern="1200" dirty="0">
                          <a:solidFill>
                            <a:schemeClr val="dk1"/>
                          </a:solidFill>
                          <a:latin typeface="SimSun" panose="02010600030101010101" pitchFamily="2" charset="-122"/>
                          <a:ea typeface="SimSun" panose="02010600030101010101" pitchFamily="2" charset="-122"/>
                          <a:cs typeface="+mn-cs"/>
                        </a:rPr>
                        <a:t>/</a:t>
                      </a:r>
                      <a:r>
                        <a:rPr lang="zh-CN" altLang="en-US" sz="1400" kern="1200" dirty="0">
                          <a:solidFill>
                            <a:schemeClr val="dk1"/>
                          </a:solidFill>
                          <a:latin typeface="SimSun" panose="02010600030101010101" pitchFamily="2" charset="-122"/>
                          <a:ea typeface="SimSun" panose="02010600030101010101" pitchFamily="2" charset="-122"/>
                          <a:cs typeface="+mn-cs"/>
                        </a:rPr>
                        <a:t>混合动作；</a:t>
                      </a:r>
                      <a:endParaRPr lang="en-US" altLang="zh-CN" sz="1400" kern="1200" dirty="0">
                        <a:solidFill>
                          <a:schemeClr val="dk1"/>
                        </a:solidFill>
                        <a:latin typeface="SimSun" panose="02010600030101010101" pitchFamily="2" charset="-122"/>
                        <a:ea typeface="SimSun"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kern="1200" dirty="0">
                          <a:solidFill>
                            <a:schemeClr val="dk1"/>
                          </a:solidFill>
                          <a:latin typeface="SimSun" panose="02010600030101010101" pitchFamily="2" charset="-122"/>
                          <a:ea typeface="SimSun" panose="02010600030101010101" pitchFamily="2" charset="-122"/>
                          <a:cs typeface="+mn-cs"/>
                        </a:rPr>
                        <a:t>2.</a:t>
                      </a:r>
                      <a:r>
                        <a:rPr lang="zh-CN" altLang="en-US" sz="1400" kern="1200" dirty="0">
                          <a:solidFill>
                            <a:schemeClr val="dk1"/>
                          </a:solidFill>
                          <a:latin typeface="SimSun" panose="02010600030101010101" pitchFamily="2" charset="-122"/>
                          <a:ea typeface="SimSun" panose="02010600030101010101" pitchFamily="2" charset="-122"/>
                          <a:cs typeface="+mn-cs"/>
                        </a:rPr>
                        <a:t>易融入</a:t>
                      </a:r>
                      <a:r>
                        <a:rPr lang="zh-CN" altLang="en-US" sz="1400" kern="1200" dirty="0">
                          <a:solidFill>
                            <a:srgbClr val="C00000"/>
                          </a:solidFill>
                          <a:latin typeface="SimSun" panose="02010600030101010101" pitchFamily="2" charset="-122"/>
                          <a:ea typeface="SimSun" panose="02010600030101010101" pitchFamily="2" charset="-122"/>
                          <a:cs typeface="+mn-cs"/>
                        </a:rPr>
                        <a:t>多目标、约束</a:t>
                      </a:r>
                      <a:r>
                        <a:rPr lang="en-US" altLang="zh-CN" sz="1400" kern="1200" dirty="0">
                          <a:solidFill>
                            <a:srgbClr val="C00000"/>
                          </a:solidFill>
                          <a:latin typeface="SimSun" panose="02010600030101010101" pitchFamily="2" charset="-122"/>
                          <a:ea typeface="SimSun" panose="02010600030101010101" pitchFamily="2" charset="-122"/>
                          <a:cs typeface="+mn-cs"/>
                        </a:rPr>
                        <a:t>/</a:t>
                      </a:r>
                      <a:r>
                        <a:rPr lang="zh-CN" altLang="en-US" sz="1400" kern="1200" dirty="0">
                          <a:solidFill>
                            <a:srgbClr val="C00000"/>
                          </a:solidFill>
                          <a:latin typeface="SimSun" panose="02010600030101010101" pitchFamily="2" charset="-122"/>
                          <a:ea typeface="SimSun" panose="02010600030101010101" pitchFamily="2" charset="-122"/>
                          <a:cs typeface="+mn-cs"/>
                        </a:rPr>
                        <a:t>风险</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1136073185"/>
                  </a:ext>
                </a:extLst>
              </a:tr>
              <a:tr h="527345">
                <a:tc vMerge="1">
                  <a:txBody>
                    <a:bodyPr/>
                    <a:lstStyle/>
                    <a:p>
                      <a:endParaRPr sz="1400" dirty="0"/>
                    </a:p>
                  </a:txBody>
                  <a:tcPr anchor="ctr">
                    <a:lnL w="9525" cap="flat" cmpd="sng" algn="ctr">
                      <a:solidFill>
                        <a:srgbClr val="3B5E98"/>
                      </a:solidFill>
                      <a:prstDash val="solid"/>
                      <a:round/>
                      <a:headEnd type="none" w="med" len="med"/>
                      <a:tailEnd type="none" w="med" len="med"/>
                    </a:lnL>
                    <a:lnR w="12700" cap="flat" cmpd="sng" algn="ctr">
                      <a:solidFill>
                        <a:srgbClr val="3B5E98"/>
                      </a:solidFill>
                      <a:prstDash val="solid"/>
                      <a:round/>
                      <a:headEnd type="none" w="med" len="med"/>
                      <a:tailEnd type="none" w="med" len="med"/>
                    </a:lnR>
                    <a:lnT w="28575" cap="flat" cmpd="sng" algn="ctr">
                      <a:solidFill>
                        <a:srgbClr val="3B5E98"/>
                      </a:solidFill>
                      <a:prstDash val="solid"/>
                      <a:round/>
                      <a:headEnd type="none" w="med" len="med"/>
                      <a:tailEnd type="none" w="med" len="med"/>
                    </a:lnT>
                    <a:lnB w="28575" cap="flat" cmpd="sng" algn="ctr">
                      <a:solidFill>
                        <a:srgbClr val="3B5E98"/>
                      </a:solidFill>
                      <a:prstDash val="solid"/>
                      <a:round/>
                      <a:headEnd type="none" w="med" len="med"/>
                      <a:tailEnd type="none" w="med" len="med"/>
                    </a:lnB>
                  </a:tcPr>
                </a:tc>
                <a:tc vMerge="1">
                  <a:txBody>
                    <a:bodyPr/>
                    <a:lstStyle/>
                    <a:p>
                      <a:pPr marL="0" algn="ctr" defTabSz="914400" rtl="0" eaLnBrk="1" latinLnBrk="0" hangingPunct="1"/>
                      <a:endParaRPr lang="zh-CN" altLang="en-US" sz="1400" kern="1200" dirty="0">
                        <a:solidFill>
                          <a:schemeClr val="dk1"/>
                        </a:solidFill>
                        <a:latin typeface="SimSun" panose="02010600030101010101" pitchFamily="2" charset="-122"/>
                        <a:ea typeface="SimSun" panose="02010600030101010101" pitchFamily="2" charset="-122"/>
                        <a:cs typeface="+mn-cs"/>
                      </a:endParaRPr>
                    </a:p>
                  </a:txBody>
                  <a:tcPr anchor="ctr">
                    <a:lnL w="12700"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zh-CN" sz="1400" kern="1200" dirty="0">
                          <a:solidFill>
                            <a:schemeClr val="dk1"/>
                          </a:solidFill>
                          <a:latin typeface="SimSun" panose="02010600030101010101" pitchFamily="2" charset="-122"/>
                          <a:ea typeface="SimSun" panose="02010600030101010101" pitchFamily="2" charset="-122"/>
                          <a:cs typeface="+mn-cs"/>
                        </a:rPr>
                        <a:t>近端策略优化</a:t>
                      </a:r>
                      <a:r>
                        <a:rPr lang="zh-CN" altLang="en-US" sz="1400" kern="1200" dirty="0">
                          <a:solidFill>
                            <a:schemeClr val="dk1"/>
                          </a:solidFill>
                          <a:latin typeface="SimSun" panose="02010600030101010101" pitchFamily="2" charset="-122"/>
                          <a:ea typeface="SimSun" panose="02010600030101010101" pitchFamily="2" charset="-122"/>
                          <a:cs typeface="+mn-cs"/>
                        </a:rPr>
                        <a:t>算法</a:t>
                      </a:r>
                      <a:r>
                        <a:rPr lang="zh-CN" altLang="zh-CN" sz="1400" kern="1200" dirty="0">
                          <a:solidFill>
                            <a:schemeClr val="dk1"/>
                          </a:solidFill>
                          <a:latin typeface="SimSun" panose="02010600030101010101" pitchFamily="2" charset="-122"/>
                          <a:ea typeface="SimSun" panose="02010600030101010101" pitchFamily="2" charset="-122"/>
                          <a:cs typeface="+mn-cs"/>
                        </a:rPr>
                        <a:t>（</a:t>
                      </a:r>
                      <a:r>
                        <a:rPr lang="en-US" altLang="zh-CN" sz="1400" kern="1200" dirty="0">
                          <a:solidFill>
                            <a:schemeClr val="dk1"/>
                          </a:solidFill>
                          <a:latin typeface="SimSun" panose="02010600030101010101" pitchFamily="2" charset="-122"/>
                          <a:ea typeface="SimSun" panose="02010600030101010101" pitchFamily="2" charset="-122"/>
                          <a:cs typeface="+mn-cs"/>
                        </a:rPr>
                        <a:t>MAPPO)[23]</a:t>
                      </a:r>
                      <a:endParaRPr lang="zh-CN" altLang="zh-CN" sz="1400" kern="1200" dirty="0">
                        <a:solidFill>
                          <a:schemeClr val="dk1"/>
                        </a:solidFill>
                        <a:latin typeface="SimSun" panose="02010600030101010101" pitchFamily="2" charset="-122"/>
                        <a:ea typeface="SimSun" panose="02010600030101010101" pitchFamily="2" charset="-122"/>
                        <a:cs typeface="+mn-cs"/>
                      </a:endParaRP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1400" kern="1200" dirty="0">
                          <a:solidFill>
                            <a:schemeClr val="dk1"/>
                          </a:solidFill>
                          <a:latin typeface="SimSun" panose="02010600030101010101" pitchFamily="2" charset="-122"/>
                          <a:ea typeface="SimSun" panose="02010600030101010101" pitchFamily="2" charset="-122"/>
                          <a:cs typeface="+mn-cs"/>
                        </a:rPr>
                        <a:t>随机订单插入的生产</a:t>
                      </a:r>
                      <a:r>
                        <a:rPr lang="en-US" altLang="zh-CN" sz="1400" kern="1200" dirty="0">
                          <a:solidFill>
                            <a:schemeClr val="dk1"/>
                          </a:solidFill>
                          <a:latin typeface="SimSun" panose="02010600030101010101" pitchFamily="2" charset="-122"/>
                          <a:ea typeface="SimSun" panose="02010600030101010101" pitchFamily="2" charset="-122"/>
                          <a:cs typeface="+mn-cs"/>
                        </a:rPr>
                        <a:t>-</a:t>
                      </a:r>
                      <a:r>
                        <a:rPr lang="zh-CN" altLang="en-US" sz="1400" kern="1200" dirty="0">
                          <a:solidFill>
                            <a:schemeClr val="dk1"/>
                          </a:solidFill>
                          <a:latin typeface="SimSun" panose="02010600030101010101" pitchFamily="2" charset="-122"/>
                          <a:ea typeface="SimSun" panose="02010600030101010101" pitchFamily="2" charset="-122"/>
                          <a:cs typeface="+mn-cs"/>
                        </a:rPr>
                        <a:t>物流协同调度问题</a:t>
                      </a:r>
                      <a:endParaRPr lang="zh-CN" altLang="zh-CN" sz="1400" kern="1200" dirty="0">
                        <a:solidFill>
                          <a:schemeClr val="dk1"/>
                        </a:solidFill>
                        <a:latin typeface="SimSun" panose="02010600030101010101" pitchFamily="2" charset="-122"/>
                        <a:ea typeface="SimSun" panose="02010600030101010101" pitchFamily="2" charset="-122"/>
                        <a:cs typeface="+mn-cs"/>
                      </a:endParaRP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vMerge="1">
                  <a:txBody>
                    <a:bodyPr/>
                    <a:lstStyle/>
                    <a:p>
                      <a:pPr marL="0" algn="ctr" defTabSz="914400" rtl="0" eaLnBrk="1" latinLnBrk="0" hangingPunct="1"/>
                      <a:endParaRPr lang="zh-CN" altLang="en-US" sz="1400" kern="1200" dirty="0">
                        <a:solidFill>
                          <a:schemeClr val="dk1"/>
                        </a:solidFill>
                        <a:latin typeface="SimSun" panose="02010600030101010101" pitchFamily="2" charset="-122"/>
                        <a:ea typeface="SimSun" panose="02010600030101010101" pitchFamily="2" charset="-122"/>
                        <a:cs typeface="+mn-cs"/>
                      </a:endParaRP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590348075"/>
                  </a:ext>
                </a:extLst>
              </a:tr>
              <a:tr h="589983">
                <a:tc vMerge="1">
                  <a:txBody>
                    <a:bodyPr/>
                    <a:lstStyle/>
                    <a:p>
                      <a:endParaRPr sz="1400" dirty="0"/>
                    </a:p>
                  </a:txBody>
                  <a:tcPr anchor="ctr">
                    <a:lnL w="9525" cap="flat" cmpd="sng" algn="ctr">
                      <a:solidFill>
                        <a:srgbClr val="3B5E98"/>
                      </a:solidFill>
                      <a:prstDash val="solid"/>
                      <a:round/>
                      <a:headEnd type="none" w="med" len="med"/>
                      <a:tailEnd type="none" w="med" len="med"/>
                    </a:lnL>
                    <a:lnR w="12700" cap="flat" cmpd="sng" algn="ctr">
                      <a:solidFill>
                        <a:srgbClr val="3B5E98"/>
                      </a:solidFill>
                      <a:prstDash val="solid"/>
                      <a:round/>
                      <a:headEnd type="none" w="med" len="med"/>
                      <a:tailEnd type="none" w="med" len="med"/>
                    </a:lnR>
                    <a:lnT w="28575" cap="flat" cmpd="sng" algn="ctr">
                      <a:solidFill>
                        <a:srgbClr val="3B5E98"/>
                      </a:solidFill>
                      <a:prstDash val="solid"/>
                      <a:round/>
                      <a:headEnd type="none" w="med" len="med"/>
                      <a:tailEnd type="none" w="med" len="med"/>
                    </a:lnT>
                    <a:lnB w="28575" cap="flat" cmpd="sng" algn="ctr">
                      <a:solidFill>
                        <a:srgbClr val="3B5E98"/>
                      </a:solidFill>
                      <a:prstDash val="solid"/>
                      <a:round/>
                      <a:headEnd type="none" w="med" len="med"/>
                      <a:tailEnd type="none" w="med" len="med"/>
                    </a:lnB>
                  </a:tcPr>
                </a:tc>
                <a:tc vMerge="1">
                  <a:txBody>
                    <a:bodyPr/>
                    <a:lstStyle/>
                    <a:p>
                      <a:pPr marL="0" algn="ctr" defTabSz="914400" rtl="0" eaLnBrk="1" latinLnBrk="0" hangingPunct="1"/>
                      <a:endParaRPr lang="zh-CN" altLang="en-US" sz="1400" kern="1200" dirty="0">
                        <a:solidFill>
                          <a:schemeClr val="dk1"/>
                        </a:solidFill>
                        <a:latin typeface="SimSun" panose="02010600030101010101" pitchFamily="2" charset="-122"/>
                        <a:ea typeface="SimSun" panose="02010600030101010101" pitchFamily="2" charset="-122"/>
                        <a:cs typeface="+mn-cs"/>
                      </a:endParaRPr>
                    </a:p>
                  </a:txBody>
                  <a:tcPr anchor="ctr">
                    <a:lnL w="12700"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tcPr>
                </a:tc>
                <a:tc>
                  <a:txBody>
                    <a:bodyPr/>
                    <a:lstStyle/>
                    <a:p>
                      <a:pPr marL="0" algn="just" defTabSz="914400" rtl="0" eaLnBrk="1" latinLnBrk="0" hangingPunct="1"/>
                      <a:r>
                        <a:rPr lang="zh-CN" altLang="en-US" sz="1400" kern="1200" dirty="0">
                          <a:solidFill>
                            <a:schemeClr val="dk1"/>
                          </a:solidFill>
                          <a:latin typeface="SimSun" panose="02010600030101010101" pitchFamily="2" charset="-122"/>
                          <a:ea typeface="SimSun" panose="02010600030101010101" pitchFamily="2" charset="-122"/>
                          <a:cs typeface="+mn-cs"/>
                        </a:rPr>
                        <a:t>反事实策略梯度算法（</a:t>
                      </a:r>
                      <a:r>
                        <a:rPr lang="en-US" altLang="zh-CN" sz="1400" kern="1200" dirty="0">
                          <a:solidFill>
                            <a:schemeClr val="dk1"/>
                          </a:solidFill>
                          <a:latin typeface="SimSun" panose="02010600030101010101" pitchFamily="2" charset="-122"/>
                          <a:ea typeface="SimSun" panose="02010600030101010101" pitchFamily="2" charset="-122"/>
                          <a:cs typeface="+mn-cs"/>
                        </a:rPr>
                        <a:t>COMA</a:t>
                      </a:r>
                      <a:r>
                        <a:rPr lang="zh-CN" altLang="en-US" sz="1400" kern="1200" dirty="0">
                          <a:solidFill>
                            <a:schemeClr val="dk1"/>
                          </a:solidFill>
                          <a:latin typeface="SimSun" panose="02010600030101010101" pitchFamily="2" charset="-122"/>
                          <a:ea typeface="SimSun" panose="02010600030101010101" pitchFamily="2" charset="-122"/>
                          <a:cs typeface="+mn-cs"/>
                        </a:rPr>
                        <a:t>）</a:t>
                      </a:r>
                      <a:r>
                        <a:rPr lang="en-US" altLang="zh-CN" sz="1400" kern="1200" dirty="0">
                          <a:solidFill>
                            <a:schemeClr val="dk1"/>
                          </a:solidFill>
                          <a:latin typeface="SimSun" panose="02010600030101010101" pitchFamily="2" charset="-122"/>
                          <a:ea typeface="SimSun" panose="02010600030101010101" pitchFamily="2" charset="-122"/>
                          <a:cs typeface="+mn-cs"/>
                        </a:rPr>
                        <a:t>[24]</a:t>
                      </a:r>
                      <a:endParaRPr lang="zh-CN" altLang="en-US" sz="1400" kern="1200" dirty="0">
                        <a:solidFill>
                          <a:schemeClr val="dk1"/>
                        </a:solidFill>
                        <a:latin typeface="SimSun" panose="02010600030101010101" pitchFamily="2" charset="-122"/>
                        <a:ea typeface="SimSun" panose="02010600030101010101" pitchFamily="2" charset="-122"/>
                        <a:cs typeface="+mn-cs"/>
                      </a:endParaRP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0" algn="just" defTabSz="914400" rtl="0" eaLnBrk="1" latinLnBrk="0" hangingPunct="1"/>
                      <a:r>
                        <a:rPr lang="zh-CN" altLang="en-US" sz="1400" kern="1200" dirty="0">
                          <a:solidFill>
                            <a:schemeClr val="dk1"/>
                          </a:solidFill>
                          <a:latin typeface="SimSun" panose="02010600030101010101" pitchFamily="2" charset="-122"/>
                          <a:ea typeface="SimSun" panose="02010600030101010101" pitchFamily="2" charset="-122"/>
                          <a:cs typeface="+mn-cs"/>
                        </a:rPr>
                        <a:t>考虑生产与维护协同的混流车间调度问题</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vMerge="1">
                  <a:txBody>
                    <a:bodyPr/>
                    <a:lstStyle/>
                    <a:p>
                      <a:pPr marL="0" algn="ctr" defTabSz="914400" rtl="0" eaLnBrk="1" latinLnBrk="0" hangingPunct="1"/>
                      <a:endParaRPr lang="zh-CN" altLang="en-US" sz="1400" kern="1200" dirty="0">
                        <a:solidFill>
                          <a:schemeClr val="dk1"/>
                        </a:solidFill>
                        <a:latin typeface="SimSun" panose="02010600030101010101" pitchFamily="2" charset="-122"/>
                        <a:ea typeface="SimSun" panose="02010600030101010101" pitchFamily="2" charset="-122"/>
                        <a:cs typeface="+mn-cs"/>
                      </a:endParaRP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3652853467"/>
                  </a:ext>
                </a:extLst>
              </a:tr>
            </a:tbl>
          </a:graphicData>
        </a:graphic>
      </p:graphicFrame>
    </p:spTree>
    <p:extLst>
      <p:ext uri="{BB962C8B-B14F-4D97-AF65-F5344CB8AC3E}">
        <p14:creationId xmlns:p14="http://schemas.microsoft.com/office/powerpoint/2010/main" val="1751078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6" name="稻壳儿小白白(http://dwz.cn/Wu2UP)"/>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66" name="图片 17"/>
          <p:cNvPicPr>
            <a:picLocks noChangeAspect="1"/>
          </p:cNvPicPr>
          <p:nvPr/>
        </p:nvPicPr>
        <p:blipFill rotWithShape="1">
          <a:blip r:embed="rId3" cstate="print"/>
          <a:srcRect r="855"/>
          <a:stretch>
            <a:fillRect/>
          </a:stretch>
        </p:blipFill>
        <p:spPr>
          <a:xfrm>
            <a:off x="10301625" y="20910"/>
            <a:ext cx="1809525" cy="526143"/>
          </a:xfrm>
          <a:prstGeom prst="rect">
            <a:avLst/>
          </a:prstGeom>
        </p:spPr>
      </p:pic>
      <p:sp>
        <p:nvSpPr>
          <p:cNvPr id="1048717" name="标题 1"/>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2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文献综述</a:t>
            </a:r>
          </a:p>
        </p:txBody>
      </p:sp>
      <p:sp>
        <p:nvSpPr>
          <p:cNvPr id="1048718" name="等腰三角形 8"/>
          <p:cNvSpPr/>
          <p:nvPr/>
        </p:nvSpPr>
        <p:spPr>
          <a:xfrm rot="5400000">
            <a:off x="463619" y="1240634"/>
            <a:ext cx="208097" cy="179330"/>
          </a:xfrm>
          <a:prstGeom prst="triangle">
            <a:avLst/>
          </a:prstGeom>
          <a:solidFill>
            <a:srgbClr val="0C49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3E95"/>
              </a:solidFill>
            </a:endParaRPr>
          </a:p>
        </p:txBody>
      </p:sp>
      <p:sp>
        <p:nvSpPr>
          <p:cNvPr id="1048719" name="矩形 10"/>
          <p:cNvSpPr/>
          <p:nvPr/>
        </p:nvSpPr>
        <p:spPr>
          <a:xfrm>
            <a:off x="657334" y="1027158"/>
            <a:ext cx="1171466" cy="542389"/>
          </a:xfrm>
          <a:prstGeom prst="rect">
            <a:avLst/>
          </a:prstGeom>
          <a:noFill/>
          <a:ln>
            <a:noFill/>
          </a:ln>
        </p:spPr>
        <p:txBody>
          <a:bodyPr wrap="square" lIns="121917" tIns="60958" rIns="121917" bIns="60958">
            <a:spAutoFit/>
          </a:bodyPr>
          <a:lstStyle/>
          <a:p>
            <a:pPr>
              <a:lnSpc>
                <a:spcPct val="125000"/>
              </a:lnSpc>
            </a:pPr>
            <a:r>
              <a:rPr lang="zh-CN" altLang="en-US" sz="2400" b="1" dirty="0">
                <a:solidFill>
                  <a:schemeClr val="accent1">
                    <a:lumMod val="75000"/>
                  </a:schemeClr>
                </a:solidFill>
                <a:latin typeface="Times New Roman" panose="02020603050405020304" pitchFamily="18" charset="0"/>
                <a:ea typeface="微软雅黑" panose="020B0503020204020204" charset="-122"/>
                <a:cs typeface="Times New Roman" panose="02020603050405020304" pitchFamily="18" charset="0"/>
              </a:rPr>
              <a:t>总结</a:t>
            </a:r>
          </a:p>
        </p:txBody>
      </p:sp>
      <p:sp>
        <p:nvSpPr>
          <p:cNvPr id="8" name="文本框 7">
            <a:extLst>
              <a:ext uri="{FF2B5EF4-FFF2-40B4-BE49-F238E27FC236}">
                <a16:creationId xmlns:a16="http://schemas.microsoft.com/office/drawing/2014/main" id="{BD0FB0C9-FE3A-6556-F5F5-AC587CBD8591}"/>
              </a:ext>
            </a:extLst>
          </p:cNvPr>
          <p:cNvSpPr txBox="1"/>
          <p:nvPr/>
        </p:nvSpPr>
        <p:spPr>
          <a:xfrm>
            <a:off x="732410" y="3239930"/>
            <a:ext cx="5185012" cy="923330"/>
          </a:xfrm>
          <a:prstGeom prst="rect">
            <a:avLst/>
          </a:prstGeom>
          <a:noFill/>
        </p:spPr>
        <p:txBody>
          <a:bodyPr wrap="square" rtlCol="0">
            <a:spAutoFit/>
          </a:bodyPr>
          <a:lstStyle/>
          <a:p>
            <a:pPr marL="285750" indent="-285750" algn="just">
              <a:buFont typeface="Wingdings" pitchFamily="2" charset="2"/>
              <a:buChar char="n"/>
            </a:pPr>
            <a:r>
              <a:rPr lang="zh-CN" altLang="en-US" kern="100" dirty="0">
                <a:latin typeface="Times New Roman" panose="02020603050405020304" pitchFamily="18" charset="0"/>
                <a:ea typeface="宋体" panose="02010600030101010101" pitchFamily="2" charset="-122"/>
              </a:rPr>
              <a:t>现有的生产调度大多以时间因素为导向，考虑质量因素的生产调度研究多局限于单机系统或单产品制造过程。</a:t>
            </a:r>
            <a:endParaRPr lang="en-US" altLang="zh-CN" sz="1600" b="1" kern="100" dirty="0">
              <a:solidFill>
                <a:srgbClr val="C00000"/>
              </a:solidFill>
              <a:effectLst/>
              <a:latin typeface="Times New Roman" panose="02020603050405020304" pitchFamily="18" charset="0"/>
              <a:ea typeface="宋体" panose="02010600030101010101" pitchFamily="2" charset="-122"/>
            </a:endParaRPr>
          </a:p>
        </p:txBody>
      </p:sp>
      <p:sp>
        <p:nvSpPr>
          <p:cNvPr id="9" name="右箭头 3">
            <a:extLst>
              <a:ext uri="{FF2B5EF4-FFF2-40B4-BE49-F238E27FC236}">
                <a16:creationId xmlns:a16="http://schemas.microsoft.com/office/drawing/2014/main" id="{764BB028-4904-0541-DB85-FBEE680FD64D}"/>
              </a:ext>
            </a:extLst>
          </p:cNvPr>
          <p:cNvSpPr/>
          <p:nvPr/>
        </p:nvSpPr>
        <p:spPr>
          <a:xfrm>
            <a:off x="6328959" y="3429001"/>
            <a:ext cx="769110" cy="40697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A27C6D55-9489-EC2A-2BFF-44A27A7A09F3}"/>
              </a:ext>
            </a:extLst>
          </p:cNvPr>
          <p:cNvSpPr txBox="1"/>
          <p:nvPr/>
        </p:nvSpPr>
        <p:spPr>
          <a:xfrm>
            <a:off x="732410" y="1802754"/>
            <a:ext cx="5094250" cy="923330"/>
          </a:xfrm>
          <a:prstGeom prst="rect">
            <a:avLst/>
          </a:prstGeom>
          <a:noFill/>
        </p:spPr>
        <p:txBody>
          <a:bodyPr wrap="square">
            <a:spAutoFit/>
          </a:bodyPr>
          <a:lstStyle/>
          <a:p>
            <a:pPr marL="285750" indent="-285750" algn="just">
              <a:buFont typeface="Wingdings" pitchFamily="2" charset="2"/>
              <a:buChar char="n"/>
            </a:pPr>
            <a:r>
              <a:rPr lang="zh-CN" altLang="en-US" kern="100" dirty="0">
                <a:latin typeface="Times New Roman" panose="02020603050405020304" pitchFamily="18" charset="0"/>
                <a:ea typeface="宋体" panose="02010600030101010101" pitchFamily="2" charset="-122"/>
              </a:rPr>
              <a:t>现有飞机脉动装配线调度研究多停留在静态情境；即便考虑动态扰动，也主要聚焦于作业时长波动、物料延误等因素。</a:t>
            </a:r>
            <a:endParaRPr lang="zh-CN" altLang="zh-CN" sz="1600" b="1" kern="100" dirty="0">
              <a:solidFill>
                <a:srgbClr val="C00000"/>
              </a:solidFill>
              <a:effectLst/>
              <a:latin typeface="Times New Roman" panose="02020603050405020304" pitchFamily="18" charset="0"/>
              <a:ea typeface="宋体" panose="02010600030101010101" pitchFamily="2" charset="-122"/>
            </a:endParaRPr>
          </a:p>
        </p:txBody>
      </p:sp>
      <p:sp>
        <p:nvSpPr>
          <p:cNvPr id="12" name="文本框 11">
            <a:extLst>
              <a:ext uri="{FF2B5EF4-FFF2-40B4-BE49-F238E27FC236}">
                <a16:creationId xmlns:a16="http://schemas.microsoft.com/office/drawing/2014/main" id="{993A123E-D799-F53A-D54B-D669B9EED591}"/>
              </a:ext>
            </a:extLst>
          </p:cNvPr>
          <p:cNvSpPr txBox="1"/>
          <p:nvPr/>
        </p:nvSpPr>
        <p:spPr>
          <a:xfrm>
            <a:off x="732410" y="4527432"/>
            <a:ext cx="5312556" cy="923330"/>
          </a:xfrm>
          <a:prstGeom prst="rect">
            <a:avLst/>
          </a:prstGeom>
          <a:noFill/>
        </p:spPr>
        <p:txBody>
          <a:bodyPr wrap="square" rtlCol="0">
            <a:spAutoFit/>
          </a:bodyPr>
          <a:lstStyle/>
          <a:p>
            <a:pPr marL="285750" indent="-285750" algn="just">
              <a:buFont typeface="Wingdings" pitchFamily="2" charset="2"/>
              <a:buChar char="n"/>
            </a:pPr>
            <a:r>
              <a:rPr lang="zh-CN" altLang="en-US" kern="100" dirty="0">
                <a:latin typeface="Times New Roman" panose="02020603050405020304" pitchFamily="18" charset="0"/>
                <a:ea typeface="宋体" panose="02010600030101010101" pitchFamily="2" charset="-122"/>
              </a:rPr>
              <a:t>现有的飞机脉动线动态调度多采用规则或者启发式方法，不适于当前工艺规模大、资源关系复杂、需实时调度的实际装配线。</a:t>
            </a:r>
            <a:endParaRPr lang="zh-CN" altLang="en-US" b="1" kern="100" dirty="0">
              <a:solidFill>
                <a:srgbClr val="C00000"/>
              </a:solidFill>
              <a:latin typeface="Times New Roman" panose="02020603050405020304" pitchFamily="18" charset="0"/>
              <a:ea typeface="宋体" panose="02010600030101010101" pitchFamily="2" charset="-122"/>
            </a:endParaRPr>
          </a:p>
        </p:txBody>
      </p:sp>
      <p:sp>
        <p:nvSpPr>
          <p:cNvPr id="5" name="文本框 4">
            <a:extLst>
              <a:ext uri="{FF2B5EF4-FFF2-40B4-BE49-F238E27FC236}">
                <a16:creationId xmlns:a16="http://schemas.microsoft.com/office/drawing/2014/main" id="{A6F753F8-522B-306C-97FC-FB99EBA8B3D1}"/>
              </a:ext>
            </a:extLst>
          </p:cNvPr>
          <p:cNvSpPr txBox="1"/>
          <p:nvPr/>
        </p:nvSpPr>
        <p:spPr>
          <a:xfrm>
            <a:off x="7650176" y="1861383"/>
            <a:ext cx="3651394" cy="646331"/>
          </a:xfrm>
          <a:prstGeom prst="rect">
            <a:avLst/>
          </a:prstGeom>
          <a:noFill/>
        </p:spPr>
        <p:txBody>
          <a:bodyPr wrap="square">
            <a:spAutoFit/>
          </a:bodyPr>
          <a:lstStyle/>
          <a:p>
            <a:r>
              <a:rPr lang="zh-CN" altLang="en-US" b="1" kern="100" dirty="0">
                <a:solidFill>
                  <a:srgbClr val="C00000"/>
                </a:solidFill>
                <a:latin typeface="Times New Roman" panose="02020603050405020304" pitchFamily="18" charset="0"/>
                <a:ea typeface="宋体" panose="02010600030101010101" pitchFamily="2" charset="-122"/>
              </a:rPr>
              <a:t>缺乏将装配质量缺陷与返工视为核心扰动的动态调度研究</a:t>
            </a:r>
            <a:r>
              <a:rPr lang="zh-CN" altLang="en-US" b="1" dirty="0">
                <a:solidFill>
                  <a:srgbClr val="C00000"/>
                </a:solidFill>
              </a:rPr>
              <a:t>。</a:t>
            </a:r>
            <a:endParaRPr lang="zh-CN" altLang="en-US" dirty="0"/>
          </a:p>
        </p:txBody>
      </p:sp>
      <p:sp>
        <p:nvSpPr>
          <p:cNvPr id="14" name="文本框 13">
            <a:extLst>
              <a:ext uri="{FF2B5EF4-FFF2-40B4-BE49-F238E27FC236}">
                <a16:creationId xmlns:a16="http://schemas.microsoft.com/office/drawing/2014/main" id="{20FEBFDC-B251-5038-7E63-80AFBF706660}"/>
              </a:ext>
            </a:extLst>
          </p:cNvPr>
          <p:cNvSpPr txBox="1"/>
          <p:nvPr/>
        </p:nvSpPr>
        <p:spPr>
          <a:xfrm>
            <a:off x="7650175" y="3257528"/>
            <a:ext cx="3651395" cy="646331"/>
          </a:xfrm>
          <a:prstGeom prst="rect">
            <a:avLst/>
          </a:prstGeom>
          <a:noFill/>
        </p:spPr>
        <p:txBody>
          <a:bodyPr wrap="square">
            <a:spAutoFit/>
          </a:bodyPr>
          <a:lstStyle/>
          <a:p>
            <a:pPr algn="just"/>
            <a:r>
              <a:rPr lang="zh-CN" altLang="en-US" b="1" kern="100" dirty="0">
                <a:solidFill>
                  <a:srgbClr val="C00000"/>
                </a:solidFill>
                <a:latin typeface="Times New Roman" panose="02020603050405020304" pitchFamily="18" charset="0"/>
                <a:ea typeface="宋体" panose="02010600030101010101" pitchFamily="2" charset="-122"/>
              </a:rPr>
              <a:t>缺乏在飞机脉动线场景下的生产调度与质量控制联合优化策略研究。</a:t>
            </a:r>
          </a:p>
        </p:txBody>
      </p:sp>
      <p:sp>
        <p:nvSpPr>
          <p:cNvPr id="16" name="文本框 15">
            <a:extLst>
              <a:ext uri="{FF2B5EF4-FFF2-40B4-BE49-F238E27FC236}">
                <a16:creationId xmlns:a16="http://schemas.microsoft.com/office/drawing/2014/main" id="{AAE24C99-CDFE-72A1-6052-DBEB2A7CF3B9}"/>
              </a:ext>
            </a:extLst>
          </p:cNvPr>
          <p:cNvSpPr txBox="1"/>
          <p:nvPr/>
        </p:nvSpPr>
        <p:spPr>
          <a:xfrm>
            <a:off x="7650177" y="4693316"/>
            <a:ext cx="3651393" cy="646331"/>
          </a:xfrm>
          <a:prstGeom prst="rect">
            <a:avLst/>
          </a:prstGeom>
          <a:noFill/>
        </p:spPr>
        <p:txBody>
          <a:bodyPr wrap="square">
            <a:spAutoFit/>
          </a:bodyPr>
          <a:lstStyle/>
          <a:p>
            <a:r>
              <a:rPr lang="zh-CN" altLang="en-US" b="1" kern="100" dirty="0">
                <a:solidFill>
                  <a:srgbClr val="C00000"/>
                </a:solidFill>
                <a:latin typeface="Times New Roman" panose="02020603050405020304" pitchFamily="18" charset="0"/>
                <a:ea typeface="宋体" panose="02010600030101010101" pitchFamily="2" charset="-122"/>
              </a:rPr>
              <a:t>缺乏综合考虑异构资源状态表征以及多维度目标的多智能体方法体系。 </a:t>
            </a:r>
            <a:endParaRPr lang="zh-CN" altLang="en-US" dirty="0"/>
          </a:p>
        </p:txBody>
      </p:sp>
      <p:sp>
        <p:nvSpPr>
          <p:cNvPr id="17" name="右箭头 3">
            <a:extLst>
              <a:ext uri="{FF2B5EF4-FFF2-40B4-BE49-F238E27FC236}">
                <a16:creationId xmlns:a16="http://schemas.microsoft.com/office/drawing/2014/main" id="{35CFDD54-8A71-B92A-E365-98FFF3541033}"/>
              </a:ext>
            </a:extLst>
          </p:cNvPr>
          <p:cNvSpPr/>
          <p:nvPr/>
        </p:nvSpPr>
        <p:spPr>
          <a:xfrm>
            <a:off x="6326101" y="1997371"/>
            <a:ext cx="769110" cy="40697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右箭头 3">
            <a:extLst>
              <a:ext uri="{FF2B5EF4-FFF2-40B4-BE49-F238E27FC236}">
                <a16:creationId xmlns:a16="http://schemas.microsoft.com/office/drawing/2014/main" id="{13EFA069-C65B-E75A-BCEF-F0CE443512CB}"/>
              </a:ext>
            </a:extLst>
          </p:cNvPr>
          <p:cNvSpPr/>
          <p:nvPr/>
        </p:nvSpPr>
        <p:spPr>
          <a:xfrm>
            <a:off x="6326101" y="4860631"/>
            <a:ext cx="769110" cy="40697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矩形 14">
            <a:extLst>
              <a:ext uri="{FF2B5EF4-FFF2-40B4-BE49-F238E27FC236}">
                <a16:creationId xmlns:a16="http://schemas.microsoft.com/office/drawing/2014/main" id="{B655739E-C4ED-113C-5C6A-01FEDA93A808}"/>
              </a:ext>
            </a:extLst>
          </p:cNvPr>
          <p:cNvSpPr/>
          <p:nvPr/>
        </p:nvSpPr>
        <p:spPr>
          <a:xfrm>
            <a:off x="831991" y="6043221"/>
            <a:ext cx="10469579" cy="461665"/>
          </a:xfrm>
          <a:prstGeom prst="rect">
            <a:avLst/>
          </a:prstGeom>
          <a:noFill/>
          <a:ln w="38100">
            <a:solidFill>
              <a:srgbClr val="C00000"/>
            </a:solidFill>
          </a:ln>
          <a:effectLst/>
        </p:spPr>
        <p:txBody>
          <a:bodyPr wrap="square" anchor="ctr">
            <a:spAutoFit/>
          </a:bodyPr>
          <a:lstStyle/>
          <a:p>
            <a:pPr algn="ctr"/>
            <a:r>
              <a:rPr lang="zh-CN" altLang="en-US" sz="2400" b="1" dirty="0">
                <a:solidFill>
                  <a:srgbClr val="000F82"/>
                </a:solidFill>
                <a:latin typeface="微软雅黑" panose="020B0503020204020204" charset="-122"/>
                <a:ea typeface="微软雅黑" panose="020B0503020204020204" charset="-122"/>
              </a:rPr>
              <a:t>考虑复杂返工场景的飞机脉动装配线多智能体协同调度研究</a:t>
            </a:r>
            <a:endParaRPr lang="zh-CN" altLang="en-US" sz="2400" b="1" dirty="0">
              <a:solidFill>
                <a:srgbClr val="000F82"/>
              </a:solidFill>
              <a:latin typeface="微软雅黑" panose="020B0503020204020204" charset="-122"/>
              <a:ea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77A6C-6A9C-D0A1-FEA5-6CBC39FBEC15}"/>
            </a:ext>
          </a:extLst>
        </p:cNvPr>
        <p:cNvGrpSpPr/>
        <p:nvPr/>
      </p:nvGrpSpPr>
      <p:grpSpPr>
        <a:xfrm>
          <a:off x="0" y="0"/>
          <a:ext cx="0" cy="0"/>
          <a:chOff x="0" y="0"/>
          <a:chExt cx="0" cy="0"/>
        </a:xfrm>
      </p:grpSpPr>
      <p:sp>
        <p:nvSpPr>
          <p:cNvPr id="1048729" name="稻壳儿小白白(http://dwz.cn/Wu2UP)">
            <a:extLst>
              <a:ext uri="{FF2B5EF4-FFF2-40B4-BE49-F238E27FC236}">
                <a16:creationId xmlns:a16="http://schemas.microsoft.com/office/drawing/2014/main" id="{C4000073-E50E-0B72-94C0-033F230AA567}"/>
              </a:ext>
            </a:extLst>
          </p:cNvPr>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67" name="图片 17">
            <a:extLst>
              <a:ext uri="{FF2B5EF4-FFF2-40B4-BE49-F238E27FC236}">
                <a16:creationId xmlns:a16="http://schemas.microsoft.com/office/drawing/2014/main" id="{06084491-E4EA-F503-7226-D62ED4847506}"/>
              </a:ext>
            </a:extLst>
          </p:cNvPr>
          <p:cNvPicPr>
            <a:picLocks noChangeAspect="1"/>
          </p:cNvPicPr>
          <p:nvPr/>
        </p:nvPicPr>
        <p:blipFill rotWithShape="1">
          <a:blip r:embed="rId3" cstate="print"/>
          <a:srcRect r="855"/>
          <a:stretch>
            <a:fillRect/>
          </a:stretch>
        </p:blipFill>
        <p:spPr>
          <a:xfrm>
            <a:off x="10301625" y="20910"/>
            <a:ext cx="1809525" cy="526143"/>
          </a:xfrm>
          <a:prstGeom prst="rect">
            <a:avLst/>
          </a:prstGeom>
        </p:spPr>
      </p:pic>
      <p:sp>
        <p:nvSpPr>
          <p:cNvPr id="1048730" name="标题 1">
            <a:extLst>
              <a:ext uri="{FF2B5EF4-FFF2-40B4-BE49-F238E27FC236}">
                <a16:creationId xmlns:a16="http://schemas.microsoft.com/office/drawing/2014/main" id="{CCA1E91B-B668-B211-4835-07E7731878BC}"/>
              </a:ext>
            </a:extLst>
          </p:cNvPr>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3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研究内容</a:t>
            </a:r>
          </a:p>
        </p:txBody>
      </p:sp>
      <p:sp>
        <p:nvSpPr>
          <p:cNvPr id="1048731" name="文本框 7">
            <a:extLst>
              <a:ext uri="{FF2B5EF4-FFF2-40B4-BE49-F238E27FC236}">
                <a16:creationId xmlns:a16="http://schemas.microsoft.com/office/drawing/2014/main" id="{AF38AEE9-0BBF-313A-A562-5386433DDD78}"/>
              </a:ext>
            </a:extLst>
          </p:cNvPr>
          <p:cNvSpPr txBox="1"/>
          <p:nvPr/>
        </p:nvSpPr>
        <p:spPr>
          <a:xfrm>
            <a:off x="7142209" y="1169721"/>
            <a:ext cx="4858562" cy="5016758"/>
          </a:xfrm>
          <a:prstGeom prst="rect">
            <a:avLst/>
          </a:prstGeom>
          <a:noFill/>
        </p:spPr>
        <p:txBody>
          <a:bodyPr wrap="square" rtlCol="0">
            <a:spAutoFit/>
          </a:bodyPr>
          <a:lstStyle/>
          <a:p>
            <a:pPr lvl="0" indent="457200" algn="just"/>
            <a:r>
              <a:rPr lang="zh-CN" altLang="en-US" b="1" kern="100" dirty="0">
                <a:effectLst/>
                <a:latin typeface="+mn-ea"/>
                <a:cs typeface="+mn-ea"/>
              </a:rPr>
              <a:t>研究内容</a:t>
            </a:r>
            <a:r>
              <a:rPr lang="en-US" altLang="zh-CN" b="1" kern="100" dirty="0">
                <a:latin typeface="+mn-ea"/>
                <a:cs typeface="+mn-ea"/>
              </a:rPr>
              <a:t>1</a:t>
            </a:r>
            <a:r>
              <a:rPr lang="zh-CN" altLang="en-US" kern="100" dirty="0">
                <a:latin typeface="+mn-ea"/>
                <a:cs typeface="+mn-ea"/>
              </a:rPr>
              <a:t>：针对飞机脉动装配线装配过程中时有发生的返工现象进行问题建模，并构建了一个多智能协同体框架。</a:t>
            </a:r>
          </a:p>
          <a:p>
            <a:pPr marL="0" marR="0" lvl="0" indent="457200" algn="just" defTabSz="914400" rtl="0" eaLnBrk="1" fontAlgn="auto" latinLnBrk="0" hangingPunct="1">
              <a:lnSpc>
                <a:spcPct val="100000"/>
              </a:lnSpc>
              <a:spcBef>
                <a:spcPts val="0"/>
              </a:spcBef>
              <a:spcAft>
                <a:spcPts val="0"/>
              </a:spcAft>
              <a:buClrTx/>
              <a:buSzTx/>
              <a:buFontTx/>
              <a:buNone/>
            </a:pPr>
            <a:endParaRPr lang="en-US" altLang="zh-CN" sz="1600" kern="100" dirty="0">
              <a:effectLst/>
              <a:latin typeface="+mn-ea"/>
              <a:cs typeface="+mn-ea"/>
            </a:endParaRPr>
          </a:p>
          <a:p>
            <a:pPr lvl="0" indent="457200" algn="just"/>
            <a:r>
              <a:rPr lang="zh-CN" altLang="en-US" b="1" kern="100" dirty="0">
                <a:effectLst/>
                <a:latin typeface="+mn-ea"/>
                <a:cs typeface="+mn-ea"/>
              </a:rPr>
              <a:t>研究内容</a:t>
            </a:r>
            <a:r>
              <a:rPr lang="en-US" altLang="zh-CN" b="1" kern="100" dirty="0">
                <a:effectLst/>
                <a:latin typeface="+mn-ea"/>
                <a:cs typeface="+mn-ea"/>
              </a:rPr>
              <a:t>2</a:t>
            </a:r>
            <a:r>
              <a:rPr lang="zh-CN" altLang="en-US" kern="100" dirty="0">
                <a:latin typeface="+mn-ea"/>
                <a:cs typeface="+mn-ea"/>
              </a:rPr>
              <a:t>：</a:t>
            </a:r>
            <a:r>
              <a:rPr lang="zh-CN" altLang="en-US" dirty="0"/>
              <a:t>在研究内容</a:t>
            </a:r>
            <a:r>
              <a:rPr lang="en-US" altLang="zh-CN" dirty="0"/>
              <a:t>1</a:t>
            </a:r>
            <a:r>
              <a:rPr lang="zh-CN" altLang="en-US" dirty="0"/>
              <a:t>的基础上，融合工人疲劳度与工序质量缺陷模型，采用改进的多智能体强化学习算法，实现对人因返工场景下生产调度与质量控制的联合优化。</a:t>
            </a:r>
            <a:endParaRPr lang="en-US" altLang="zh-CN" dirty="0"/>
          </a:p>
          <a:p>
            <a:pPr lvl="0" indent="457200" algn="just"/>
            <a:endParaRPr lang="en-US" altLang="zh-CN" sz="1600" kern="100" dirty="0">
              <a:latin typeface="+mn-ea"/>
              <a:cs typeface="+mn-ea"/>
            </a:endParaRPr>
          </a:p>
          <a:p>
            <a:pPr indent="457200" algn="just"/>
            <a:r>
              <a:rPr lang="zh-CN" altLang="en-US" b="1" kern="100" dirty="0">
                <a:latin typeface="+mn-ea"/>
                <a:cs typeface="+mn-ea"/>
              </a:rPr>
              <a:t>研究内容</a:t>
            </a:r>
            <a:r>
              <a:rPr lang="en-US" altLang="zh-CN" b="1" kern="100" dirty="0">
                <a:latin typeface="+mn-ea"/>
                <a:cs typeface="+mn-ea"/>
              </a:rPr>
              <a:t>3</a:t>
            </a:r>
            <a:r>
              <a:rPr lang="zh-CN" altLang="en-US" b="1" kern="100" dirty="0">
                <a:latin typeface="+mn-ea"/>
                <a:cs typeface="+mn-ea"/>
              </a:rPr>
              <a:t>：</a:t>
            </a:r>
            <a:r>
              <a:rPr lang="zh-CN" altLang="en-US" dirty="0"/>
              <a:t>在前两部分工作的基础上，本研究进一步将设备退化、维护策略与生产调度结合，通过分层协同框架，不仅优化了站位内的工序排序和工人派工，还实现了站间协调、错峰休息与维护。</a:t>
            </a:r>
            <a:endParaRPr lang="en-US" altLang="zh-CN" dirty="0"/>
          </a:p>
          <a:p>
            <a:pPr indent="457200" algn="just"/>
            <a:endParaRPr lang="en-US" altLang="zh-CN" b="1" kern="100" dirty="0">
              <a:latin typeface="+mn-ea"/>
              <a:cs typeface="+mn-ea"/>
            </a:endParaRPr>
          </a:p>
          <a:p>
            <a:pPr indent="457200" algn="just"/>
            <a:r>
              <a:rPr lang="zh-CN" altLang="en-US" b="1" kern="100" dirty="0">
                <a:latin typeface="+mn-ea"/>
                <a:cs typeface="+mn-ea"/>
              </a:rPr>
              <a:t>研究内容</a:t>
            </a:r>
            <a:r>
              <a:rPr lang="en-US" altLang="zh-CN" b="1" kern="100" dirty="0">
                <a:latin typeface="+mn-ea"/>
                <a:cs typeface="+mn-ea"/>
              </a:rPr>
              <a:t>4</a:t>
            </a:r>
            <a:r>
              <a:rPr lang="zh-CN" altLang="en-US" b="1" kern="100" dirty="0">
                <a:latin typeface="+mn-ea"/>
                <a:cs typeface="+mn-ea"/>
              </a:rPr>
              <a:t>：</a:t>
            </a:r>
            <a:r>
              <a:rPr lang="zh-CN" altLang="en-US" kern="100" dirty="0">
                <a:latin typeface="+mn-ea"/>
                <a:cs typeface="+mn-ea"/>
              </a:rPr>
              <a:t>搭建飞机脉动装配线可视化调度与监测平台，进行实例验证和进一步完善上述理论和技术成果。</a:t>
            </a:r>
          </a:p>
        </p:txBody>
      </p:sp>
      <p:grpSp>
        <p:nvGrpSpPr>
          <p:cNvPr id="2097160" name="组合 2097159">
            <a:extLst>
              <a:ext uri="{FF2B5EF4-FFF2-40B4-BE49-F238E27FC236}">
                <a16:creationId xmlns:a16="http://schemas.microsoft.com/office/drawing/2014/main" id="{FDA5EE8A-CFAB-8EC7-6C28-34220646BA32}"/>
              </a:ext>
            </a:extLst>
          </p:cNvPr>
          <p:cNvGrpSpPr/>
          <p:nvPr/>
        </p:nvGrpSpPr>
        <p:grpSpPr>
          <a:xfrm>
            <a:off x="127019" y="765546"/>
            <a:ext cx="6784143" cy="5752498"/>
            <a:chOff x="101692" y="807758"/>
            <a:chExt cx="6608514" cy="5886119"/>
          </a:xfrm>
        </p:grpSpPr>
        <p:grpSp>
          <p:nvGrpSpPr>
            <p:cNvPr id="2097161" name="组合 2097160">
              <a:extLst>
                <a:ext uri="{FF2B5EF4-FFF2-40B4-BE49-F238E27FC236}">
                  <a16:creationId xmlns:a16="http://schemas.microsoft.com/office/drawing/2014/main" id="{4C116127-75D5-47E2-4CE9-D6661BEDB9F2}"/>
                </a:ext>
              </a:extLst>
            </p:cNvPr>
            <p:cNvGrpSpPr/>
            <p:nvPr/>
          </p:nvGrpSpPr>
          <p:grpSpPr>
            <a:xfrm>
              <a:off x="119673" y="5654684"/>
              <a:ext cx="6572553" cy="1039193"/>
              <a:chOff x="137652" y="5654684"/>
              <a:chExt cx="6572553" cy="1039193"/>
            </a:xfrm>
          </p:grpSpPr>
          <p:sp>
            <p:nvSpPr>
              <p:cNvPr id="1048717" name="矩形 1048716">
                <a:extLst>
                  <a:ext uri="{FF2B5EF4-FFF2-40B4-BE49-F238E27FC236}">
                    <a16:creationId xmlns:a16="http://schemas.microsoft.com/office/drawing/2014/main" id="{5E6AEF56-95A8-38C4-F88C-0BAA33992DB9}"/>
                  </a:ext>
                </a:extLst>
              </p:cNvPr>
              <p:cNvSpPr/>
              <p:nvPr/>
            </p:nvSpPr>
            <p:spPr>
              <a:xfrm>
                <a:off x="137652" y="5654684"/>
                <a:ext cx="6572553" cy="1039193"/>
              </a:xfrm>
              <a:prstGeom prst="rect">
                <a:avLst/>
              </a:prstGeom>
              <a:noFill/>
              <a:ln w="12700">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黑体" panose="02010609060101010101" pitchFamily="49" charset="-122"/>
                  <a:ea typeface="黑体" panose="02010609060101010101" pitchFamily="49" charset="-122"/>
                </a:endParaRPr>
              </a:p>
            </p:txBody>
          </p:sp>
          <p:sp>
            <p:nvSpPr>
              <p:cNvPr id="1048718" name="文本框 1048717">
                <a:extLst>
                  <a:ext uri="{FF2B5EF4-FFF2-40B4-BE49-F238E27FC236}">
                    <a16:creationId xmlns:a16="http://schemas.microsoft.com/office/drawing/2014/main" id="{70517838-AC3F-11FD-6789-CA0022AD3473}"/>
                  </a:ext>
                </a:extLst>
              </p:cNvPr>
              <p:cNvSpPr txBox="1"/>
              <p:nvPr/>
            </p:nvSpPr>
            <p:spPr>
              <a:xfrm>
                <a:off x="669005" y="5670766"/>
                <a:ext cx="5509846" cy="276999"/>
              </a:xfrm>
              <a:prstGeom prst="rect">
                <a:avLst/>
              </a:prstGeom>
              <a:noFill/>
            </p:spPr>
            <p:txBody>
              <a:bodyPr wrap="square" rtlCol="0">
                <a:spAutoFit/>
              </a:bodyPr>
              <a:lstStyle/>
              <a:p>
                <a:pPr algn="ctr"/>
                <a:r>
                  <a:rPr lang="zh-CN" altLang="en-US" sz="1200" b="1" dirty="0">
                    <a:latin typeface="+mn-ea"/>
                  </a:rPr>
                  <a:t>研究内容</a:t>
                </a:r>
                <a:r>
                  <a:rPr lang="en-US" altLang="zh-CN" sz="1200" b="1" dirty="0">
                    <a:latin typeface="+mn-ea"/>
                  </a:rPr>
                  <a:t>4</a:t>
                </a:r>
                <a:r>
                  <a:rPr lang="zh-CN" altLang="en-US" sz="1200" b="1" dirty="0">
                    <a:latin typeface="+mn-ea"/>
                  </a:rPr>
                  <a:t>：案例与验证</a:t>
                </a:r>
              </a:p>
            </p:txBody>
          </p:sp>
          <p:grpSp>
            <p:nvGrpSpPr>
              <p:cNvPr id="1048719" name="组合 1048718">
                <a:extLst>
                  <a:ext uri="{FF2B5EF4-FFF2-40B4-BE49-F238E27FC236}">
                    <a16:creationId xmlns:a16="http://schemas.microsoft.com/office/drawing/2014/main" id="{D8244060-58AE-E2EB-F1DF-71A4458BA55E}"/>
                  </a:ext>
                </a:extLst>
              </p:cNvPr>
              <p:cNvGrpSpPr/>
              <p:nvPr/>
            </p:nvGrpSpPr>
            <p:grpSpPr>
              <a:xfrm>
                <a:off x="1114483" y="6043321"/>
                <a:ext cx="4618890" cy="495262"/>
                <a:chOff x="1113691" y="6043321"/>
                <a:chExt cx="4618890" cy="495262"/>
              </a:xfrm>
            </p:grpSpPr>
            <p:sp>
              <p:nvSpPr>
                <p:cNvPr id="1048720" name="矩形 1048719">
                  <a:extLst>
                    <a:ext uri="{FF2B5EF4-FFF2-40B4-BE49-F238E27FC236}">
                      <a16:creationId xmlns:a16="http://schemas.microsoft.com/office/drawing/2014/main" id="{BD6F7B91-B042-F0BA-E42F-1DCDC0B2E392}"/>
                    </a:ext>
                  </a:extLst>
                </p:cNvPr>
                <p:cNvSpPr/>
                <p:nvPr/>
              </p:nvSpPr>
              <p:spPr>
                <a:xfrm>
                  <a:off x="1113691" y="6043321"/>
                  <a:ext cx="1805353" cy="495262"/>
                </a:xfrm>
                <a:prstGeom prst="rect">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系统研发</a:t>
                  </a:r>
                </a:p>
              </p:txBody>
            </p:sp>
            <p:sp>
              <p:nvSpPr>
                <p:cNvPr id="1048721" name="矩形 1048720">
                  <a:extLst>
                    <a:ext uri="{FF2B5EF4-FFF2-40B4-BE49-F238E27FC236}">
                      <a16:creationId xmlns:a16="http://schemas.microsoft.com/office/drawing/2014/main" id="{E489CF1D-EBB0-CCAD-BC6C-C9E7C3DFFCC8}"/>
                    </a:ext>
                  </a:extLst>
                </p:cNvPr>
                <p:cNvSpPr/>
                <p:nvPr/>
              </p:nvSpPr>
              <p:spPr>
                <a:xfrm>
                  <a:off x="3927228" y="6057937"/>
                  <a:ext cx="1805353" cy="480646"/>
                </a:xfrm>
                <a:prstGeom prst="rect">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实例验证</a:t>
                  </a:r>
                </a:p>
              </p:txBody>
            </p:sp>
          </p:grpSp>
        </p:grpSp>
        <p:sp>
          <p:nvSpPr>
            <p:cNvPr id="2097162" name="箭头: 下 2097161">
              <a:extLst>
                <a:ext uri="{FF2B5EF4-FFF2-40B4-BE49-F238E27FC236}">
                  <a16:creationId xmlns:a16="http://schemas.microsoft.com/office/drawing/2014/main" id="{40E0FA33-94AF-932B-B7C7-11DAC750DFB6}"/>
                </a:ext>
              </a:extLst>
            </p:cNvPr>
            <p:cNvSpPr/>
            <p:nvPr/>
          </p:nvSpPr>
          <p:spPr>
            <a:xfrm>
              <a:off x="1451776" y="5309664"/>
              <a:ext cx="294962" cy="309579"/>
            </a:xfrm>
            <a:prstGeom prst="downArrow">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黑体" panose="02010609060101010101" pitchFamily="49" charset="-122"/>
                <a:ea typeface="黑体" panose="02010609060101010101" pitchFamily="49" charset="-122"/>
              </a:endParaRPr>
            </a:p>
          </p:txBody>
        </p:sp>
        <p:sp>
          <p:nvSpPr>
            <p:cNvPr id="2097163" name="矩形 2097162">
              <a:extLst>
                <a:ext uri="{FF2B5EF4-FFF2-40B4-BE49-F238E27FC236}">
                  <a16:creationId xmlns:a16="http://schemas.microsoft.com/office/drawing/2014/main" id="{795F4E07-92D3-D7D0-427C-AAC46A2F548B}"/>
                </a:ext>
              </a:extLst>
            </p:cNvPr>
            <p:cNvSpPr/>
            <p:nvPr/>
          </p:nvSpPr>
          <p:spPr>
            <a:xfrm>
              <a:off x="101692" y="807758"/>
              <a:ext cx="6608514" cy="4468481"/>
            </a:xfrm>
            <a:prstGeom prst="rect">
              <a:avLst/>
            </a:prstGeom>
            <a:noFill/>
            <a:ln w="1905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7164" name="箭头: 下 2097163">
              <a:extLst>
                <a:ext uri="{FF2B5EF4-FFF2-40B4-BE49-F238E27FC236}">
                  <a16:creationId xmlns:a16="http://schemas.microsoft.com/office/drawing/2014/main" id="{69D809E0-0A62-D810-31AE-B0E88CB61CEF}"/>
                </a:ext>
              </a:extLst>
            </p:cNvPr>
            <p:cNvSpPr/>
            <p:nvPr/>
          </p:nvSpPr>
          <p:spPr>
            <a:xfrm>
              <a:off x="5172762" y="5303060"/>
              <a:ext cx="294962" cy="309579"/>
            </a:xfrm>
            <a:prstGeom prst="downArrow">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黑体" panose="02010609060101010101" pitchFamily="49" charset="-122"/>
                <a:ea typeface="黑体" panose="02010609060101010101" pitchFamily="49" charset="-122"/>
              </a:endParaRPr>
            </a:p>
          </p:txBody>
        </p:sp>
        <p:grpSp>
          <p:nvGrpSpPr>
            <p:cNvPr id="2097165" name="组合 2097164">
              <a:extLst>
                <a:ext uri="{FF2B5EF4-FFF2-40B4-BE49-F238E27FC236}">
                  <a16:creationId xmlns:a16="http://schemas.microsoft.com/office/drawing/2014/main" id="{5133580F-A515-5AAC-9881-DDC0886B1582}"/>
                </a:ext>
              </a:extLst>
            </p:cNvPr>
            <p:cNvGrpSpPr/>
            <p:nvPr/>
          </p:nvGrpSpPr>
          <p:grpSpPr>
            <a:xfrm>
              <a:off x="281749" y="879232"/>
              <a:ext cx="6248400" cy="1157696"/>
              <a:chOff x="363415" y="879232"/>
              <a:chExt cx="6248400" cy="1157696"/>
            </a:xfrm>
          </p:grpSpPr>
          <p:sp>
            <p:nvSpPr>
              <p:cNvPr id="1048706" name="矩形 1048705">
                <a:extLst>
                  <a:ext uri="{FF2B5EF4-FFF2-40B4-BE49-F238E27FC236}">
                    <a16:creationId xmlns:a16="http://schemas.microsoft.com/office/drawing/2014/main" id="{73C1F4DA-A678-96C8-76DA-FB48D28F7935}"/>
                  </a:ext>
                </a:extLst>
              </p:cNvPr>
              <p:cNvSpPr/>
              <p:nvPr/>
            </p:nvSpPr>
            <p:spPr>
              <a:xfrm>
                <a:off x="363415" y="879232"/>
                <a:ext cx="6248400" cy="1157696"/>
              </a:xfrm>
              <a:prstGeom prst="rect">
                <a:avLst/>
              </a:prstGeom>
              <a:noFill/>
              <a:ln w="12700">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黑体" panose="02010609060101010101" pitchFamily="49" charset="-122"/>
                  <a:ea typeface="黑体" panose="02010609060101010101" pitchFamily="49" charset="-122"/>
                </a:endParaRPr>
              </a:p>
            </p:txBody>
          </p:sp>
          <p:sp>
            <p:nvSpPr>
              <p:cNvPr id="1048707" name="文本框 1048706">
                <a:extLst>
                  <a:ext uri="{FF2B5EF4-FFF2-40B4-BE49-F238E27FC236}">
                    <a16:creationId xmlns:a16="http://schemas.microsoft.com/office/drawing/2014/main" id="{61B477FF-BB98-E70E-3B95-2EEFCB332439}"/>
                  </a:ext>
                </a:extLst>
              </p:cNvPr>
              <p:cNvSpPr txBox="1"/>
              <p:nvPr/>
            </p:nvSpPr>
            <p:spPr>
              <a:xfrm>
                <a:off x="732692" y="881461"/>
                <a:ext cx="5509846" cy="276999"/>
              </a:xfrm>
              <a:prstGeom prst="rect">
                <a:avLst/>
              </a:prstGeom>
              <a:noFill/>
            </p:spPr>
            <p:txBody>
              <a:bodyPr wrap="square" rtlCol="0">
                <a:spAutoFit/>
              </a:bodyPr>
              <a:lstStyle/>
              <a:p>
                <a:pPr algn="ctr"/>
                <a:r>
                  <a:rPr lang="zh-CN" altLang="en-US" sz="1200" b="1" dirty="0">
                    <a:latin typeface="+mn-ea"/>
                  </a:rPr>
                  <a:t>研究内容</a:t>
                </a:r>
                <a:r>
                  <a:rPr lang="en-US" altLang="zh-CN" sz="1200" b="1" dirty="0">
                    <a:latin typeface="+mn-ea"/>
                  </a:rPr>
                  <a:t>1</a:t>
                </a:r>
                <a:r>
                  <a:rPr lang="zh-CN" altLang="en-US" sz="1200" b="1" dirty="0">
                    <a:latin typeface="+mn-ea"/>
                  </a:rPr>
                  <a:t>：随机返工下的飞机脉动装配线动态调度</a:t>
                </a:r>
              </a:p>
            </p:txBody>
          </p:sp>
          <p:grpSp>
            <p:nvGrpSpPr>
              <p:cNvPr id="1048708" name="组合 1048707">
                <a:extLst>
                  <a:ext uri="{FF2B5EF4-FFF2-40B4-BE49-F238E27FC236}">
                    <a16:creationId xmlns:a16="http://schemas.microsoft.com/office/drawing/2014/main" id="{0EED8FF3-4D1A-382A-C3F5-98BA2026F673}"/>
                  </a:ext>
                </a:extLst>
              </p:cNvPr>
              <p:cNvGrpSpPr/>
              <p:nvPr/>
            </p:nvGrpSpPr>
            <p:grpSpPr>
              <a:xfrm>
                <a:off x="895093" y="1148587"/>
                <a:ext cx="5185045" cy="824337"/>
                <a:chOff x="976415" y="1148587"/>
                <a:chExt cx="5185045" cy="824337"/>
              </a:xfrm>
            </p:grpSpPr>
            <p:sp>
              <p:nvSpPr>
                <p:cNvPr id="1048709" name="矩形 1048708">
                  <a:extLst>
                    <a:ext uri="{FF2B5EF4-FFF2-40B4-BE49-F238E27FC236}">
                      <a16:creationId xmlns:a16="http://schemas.microsoft.com/office/drawing/2014/main" id="{2BB425DB-2843-0A01-7A7B-F75997CF2E98}"/>
                    </a:ext>
                  </a:extLst>
                </p:cNvPr>
                <p:cNvSpPr/>
                <p:nvPr/>
              </p:nvSpPr>
              <p:spPr>
                <a:xfrm>
                  <a:off x="976415" y="1338288"/>
                  <a:ext cx="1189893" cy="474221"/>
                </a:xfrm>
                <a:prstGeom prst="rect">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问题建模</a:t>
                  </a:r>
                </a:p>
              </p:txBody>
            </p:sp>
            <p:cxnSp>
              <p:nvCxnSpPr>
                <p:cNvPr id="1048710" name="直接箭头连接符 1048709">
                  <a:extLst>
                    <a:ext uri="{FF2B5EF4-FFF2-40B4-BE49-F238E27FC236}">
                      <a16:creationId xmlns:a16="http://schemas.microsoft.com/office/drawing/2014/main" id="{0E62634C-C5C9-0626-1CE9-F422B76AE1FD}"/>
                    </a:ext>
                  </a:extLst>
                </p:cNvPr>
                <p:cNvCxnSpPr>
                  <a:cxnSpLocks/>
                  <a:stCxn id="1048709" idx="3"/>
                  <a:endCxn id="1048716" idx="1"/>
                </p:cNvCxnSpPr>
                <p:nvPr/>
              </p:nvCxnSpPr>
              <p:spPr>
                <a:xfrm>
                  <a:off x="2166308" y="1575399"/>
                  <a:ext cx="33238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8711" name="圆角矩形 48">
                  <a:extLst>
                    <a:ext uri="{FF2B5EF4-FFF2-40B4-BE49-F238E27FC236}">
                      <a16:creationId xmlns:a16="http://schemas.microsoft.com/office/drawing/2014/main" id="{F03F8FAE-8A6C-0653-41B2-30499C74A36D}"/>
                    </a:ext>
                  </a:extLst>
                </p:cNvPr>
                <p:cNvSpPr/>
                <p:nvPr/>
              </p:nvSpPr>
              <p:spPr>
                <a:xfrm>
                  <a:off x="4497988" y="1297777"/>
                  <a:ext cx="1599572" cy="282883"/>
                </a:xfrm>
                <a:prstGeom prst="roundRect">
                  <a:avLst/>
                </a:prstGeom>
                <a:noFill/>
                <a:ln w="1587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50" dirty="0">
                      <a:solidFill>
                        <a:schemeClr val="tx2">
                          <a:lumMod val="60000"/>
                          <a:lumOff val="40000"/>
                        </a:schemeClr>
                      </a:solidFill>
                    </a:rPr>
                    <a:t>工序排序智能体</a:t>
                  </a:r>
                </a:p>
              </p:txBody>
            </p:sp>
            <p:sp>
              <p:nvSpPr>
                <p:cNvPr id="1048712" name="圆角矩形 49">
                  <a:extLst>
                    <a:ext uri="{FF2B5EF4-FFF2-40B4-BE49-F238E27FC236}">
                      <a16:creationId xmlns:a16="http://schemas.microsoft.com/office/drawing/2014/main" id="{32D70034-69F2-848E-9289-680F73CDBE99}"/>
                    </a:ext>
                  </a:extLst>
                </p:cNvPr>
                <p:cNvSpPr/>
                <p:nvPr/>
              </p:nvSpPr>
              <p:spPr>
                <a:xfrm>
                  <a:off x="4497988" y="1631837"/>
                  <a:ext cx="1599572" cy="298750"/>
                </a:xfrm>
                <a:prstGeom prst="roundRect">
                  <a:avLst/>
                </a:prstGeom>
                <a:noFill/>
                <a:ln w="1587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50" dirty="0">
                      <a:solidFill>
                        <a:schemeClr val="tx2">
                          <a:lumMod val="60000"/>
                          <a:lumOff val="40000"/>
                        </a:schemeClr>
                      </a:solidFill>
                    </a:rPr>
                    <a:t>工人派工智能体</a:t>
                  </a:r>
                </a:p>
              </p:txBody>
            </p:sp>
            <p:sp>
              <p:nvSpPr>
                <p:cNvPr id="1048713" name="圆角矩形 10">
                  <a:extLst>
                    <a:ext uri="{FF2B5EF4-FFF2-40B4-BE49-F238E27FC236}">
                      <a16:creationId xmlns:a16="http://schemas.microsoft.com/office/drawing/2014/main" id="{F26A570A-8D2A-6F8C-8D92-DB0D0DBE01FB}"/>
                    </a:ext>
                  </a:extLst>
                </p:cNvPr>
                <p:cNvSpPr/>
                <p:nvPr/>
              </p:nvSpPr>
              <p:spPr>
                <a:xfrm>
                  <a:off x="4430643" y="1177872"/>
                  <a:ext cx="1730817" cy="795052"/>
                </a:xfrm>
                <a:prstGeom prst="roundRect">
                  <a:avLst>
                    <a:gd name="adj" fmla="val 9739"/>
                  </a:avLst>
                </a:prstGeom>
                <a:noFill/>
                <a:ln>
                  <a:solidFill>
                    <a:schemeClr val="tx2">
                      <a:lumMod val="60000"/>
                      <a:lumOff val="4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48714" name="文本框 1048713">
                  <a:extLst>
                    <a:ext uri="{FF2B5EF4-FFF2-40B4-BE49-F238E27FC236}">
                      <a16:creationId xmlns:a16="http://schemas.microsoft.com/office/drawing/2014/main" id="{99C85A24-04CA-1B71-6378-BE8354B20418}"/>
                    </a:ext>
                  </a:extLst>
                </p:cNvPr>
                <p:cNvSpPr txBox="1"/>
                <p:nvPr/>
              </p:nvSpPr>
              <p:spPr>
                <a:xfrm>
                  <a:off x="5740077" y="1148587"/>
                  <a:ext cx="377026" cy="184666"/>
                </a:xfrm>
                <a:prstGeom prst="rect">
                  <a:avLst/>
                </a:prstGeom>
                <a:noFill/>
              </p:spPr>
              <p:txBody>
                <a:bodyPr wrap="none" rtlCol="0">
                  <a:spAutoFit/>
                </a:bodyPr>
                <a:lstStyle/>
                <a:p>
                  <a:r>
                    <a:rPr kumimoji="1" lang="zh-CN" altLang="en-US" sz="600" i="1" dirty="0">
                      <a:solidFill>
                        <a:schemeClr val="tx2">
                          <a:lumMod val="60000"/>
                          <a:lumOff val="40000"/>
                        </a:schemeClr>
                      </a:solidFill>
                      <a:latin typeface="Microsoft YaHei" panose="020B0503020204020204" pitchFamily="34" charset="-122"/>
                      <a:ea typeface="Microsoft YaHei" panose="020B0503020204020204" pitchFamily="34" charset="-122"/>
                    </a:rPr>
                    <a:t>站位</a:t>
                  </a:r>
                  <a:r>
                    <a:rPr kumimoji="1" lang="en-US" altLang="zh-CN" sz="600" i="1" dirty="0">
                      <a:solidFill>
                        <a:schemeClr val="tx2">
                          <a:lumMod val="60000"/>
                          <a:lumOff val="40000"/>
                        </a:schemeClr>
                      </a:solidFill>
                      <a:latin typeface="Microsoft YaHei" panose="020B0503020204020204" pitchFamily="34" charset="-122"/>
                      <a:ea typeface="Microsoft YaHei" panose="020B0503020204020204" pitchFamily="34" charset="-122"/>
                    </a:rPr>
                    <a:t>z</a:t>
                  </a:r>
                  <a:endParaRPr kumimoji="1" lang="zh-CN" altLang="en-US" sz="600" i="1" dirty="0">
                    <a:solidFill>
                      <a:schemeClr val="tx2">
                        <a:lumMod val="60000"/>
                        <a:lumOff val="40000"/>
                      </a:schemeClr>
                    </a:solidFill>
                    <a:latin typeface="Microsoft YaHei" panose="020B0503020204020204" pitchFamily="34" charset="-122"/>
                    <a:ea typeface="Microsoft YaHei" panose="020B0503020204020204" pitchFamily="34" charset="-122"/>
                  </a:endParaRPr>
                </a:p>
              </p:txBody>
            </p:sp>
            <p:sp>
              <p:nvSpPr>
                <p:cNvPr id="1048715" name="梯形 1048714">
                  <a:extLst>
                    <a:ext uri="{FF2B5EF4-FFF2-40B4-BE49-F238E27FC236}">
                      <a16:creationId xmlns:a16="http://schemas.microsoft.com/office/drawing/2014/main" id="{777C6854-26EE-6AD7-5B10-4F3122B3B28A}"/>
                    </a:ext>
                  </a:extLst>
                </p:cNvPr>
                <p:cNvSpPr/>
                <p:nvPr/>
              </p:nvSpPr>
              <p:spPr>
                <a:xfrm rot="16200000">
                  <a:off x="4103877" y="1413185"/>
                  <a:ext cx="318585" cy="334947"/>
                </a:xfrm>
                <a:prstGeom prst="trapezoid">
                  <a:avLst/>
                </a:prstGeom>
                <a:gradFill>
                  <a:gsLst>
                    <a:gs pos="0">
                      <a:schemeClr val="bg2">
                        <a:lumMod val="75000"/>
                      </a:schemeClr>
                    </a:gs>
                    <a:gs pos="100000">
                      <a:schemeClr val="tx2">
                        <a:lumMod val="60000"/>
                        <a:lumOff val="40000"/>
                        <a:alpha val="13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48716" name="矩形 1048715">
                  <a:extLst>
                    <a:ext uri="{FF2B5EF4-FFF2-40B4-BE49-F238E27FC236}">
                      <a16:creationId xmlns:a16="http://schemas.microsoft.com/office/drawing/2014/main" id="{C63B9B75-EAA5-4B7B-8D87-B9F1CE403737}"/>
                    </a:ext>
                  </a:extLst>
                </p:cNvPr>
                <p:cNvSpPr/>
                <p:nvPr/>
              </p:nvSpPr>
              <p:spPr>
                <a:xfrm>
                  <a:off x="2498689" y="1336808"/>
                  <a:ext cx="1599572" cy="477181"/>
                </a:xfrm>
                <a:prstGeom prst="rect">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多智能体</a:t>
                  </a:r>
                  <a:endParaRPr lang="en-US" altLang="zh-CN" sz="1200" dirty="0">
                    <a:solidFill>
                      <a:schemeClr val="tx1"/>
                    </a:solidFill>
                  </a:endParaRPr>
                </a:p>
                <a:p>
                  <a:pPr algn="ctr"/>
                  <a:r>
                    <a:rPr lang="zh-CN" altLang="en-US" sz="1200" dirty="0">
                      <a:solidFill>
                        <a:schemeClr val="tx1"/>
                      </a:solidFill>
                    </a:rPr>
                    <a:t>协同优化算法</a:t>
                  </a:r>
                </a:p>
              </p:txBody>
            </p:sp>
          </p:grpSp>
        </p:grpSp>
        <p:grpSp>
          <p:nvGrpSpPr>
            <p:cNvPr id="2097166" name="组合 2097165">
              <a:extLst>
                <a:ext uri="{FF2B5EF4-FFF2-40B4-BE49-F238E27FC236}">
                  <a16:creationId xmlns:a16="http://schemas.microsoft.com/office/drawing/2014/main" id="{2D73375F-8576-24C2-8A54-25AF41493BD6}"/>
                </a:ext>
              </a:extLst>
            </p:cNvPr>
            <p:cNvGrpSpPr/>
            <p:nvPr/>
          </p:nvGrpSpPr>
          <p:grpSpPr>
            <a:xfrm>
              <a:off x="275089" y="2320286"/>
              <a:ext cx="2973600" cy="2783835"/>
              <a:chOff x="363413" y="2388793"/>
              <a:chExt cx="2973600" cy="2783835"/>
            </a:xfrm>
          </p:grpSpPr>
          <p:sp>
            <p:nvSpPr>
              <p:cNvPr id="2097204" name="矩形 2097203">
                <a:extLst>
                  <a:ext uri="{FF2B5EF4-FFF2-40B4-BE49-F238E27FC236}">
                    <a16:creationId xmlns:a16="http://schemas.microsoft.com/office/drawing/2014/main" id="{27BEEAFC-B1EE-DFA7-405D-743E8B9DCF62}"/>
                  </a:ext>
                </a:extLst>
              </p:cNvPr>
              <p:cNvSpPr/>
              <p:nvPr/>
            </p:nvSpPr>
            <p:spPr>
              <a:xfrm>
                <a:off x="363413" y="2393428"/>
                <a:ext cx="2973600" cy="2779200"/>
              </a:xfrm>
              <a:prstGeom prst="rect">
                <a:avLst/>
              </a:prstGeom>
              <a:noFill/>
              <a:ln w="12700">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黑体" panose="02010609060101010101" pitchFamily="49" charset="-122"/>
                  <a:ea typeface="黑体" panose="02010609060101010101" pitchFamily="49" charset="-122"/>
                </a:endParaRPr>
              </a:p>
            </p:txBody>
          </p:sp>
          <p:sp>
            <p:nvSpPr>
              <p:cNvPr id="2097205" name="文本框 2097204">
                <a:extLst>
                  <a:ext uri="{FF2B5EF4-FFF2-40B4-BE49-F238E27FC236}">
                    <a16:creationId xmlns:a16="http://schemas.microsoft.com/office/drawing/2014/main" id="{DB596D5A-649C-9F49-2810-4A85B3B48571}"/>
                  </a:ext>
                </a:extLst>
              </p:cNvPr>
              <p:cNvSpPr txBox="1"/>
              <p:nvPr/>
            </p:nvSpPr>
            <p:spPr>
              <a:xfrm>
                <a:off x="363650" y="2388793"/>
                <a:ext cx="2973127" cy="661344"/>
              </a:xfrm>
              <a:prstGeom prst="rect">
                <a:avLst/>
              </a:prstGeom>
              <a:noFill/>
            </p:spPr>
            <p:txBody>
              <a:bodyPr wrap="square">
                <a:spAutoFit/>
              </a:bodyPr>
              <a:lstStyle/>
              <a:p>
                <a:pPr algn="ctr"/>
                <a:r>
                  <a:rPr lang="zh-CN" altLang="en-US" sz="1200" b="1" dirty="0">
                    <a:latin typeface="+mn-ea"/>
                  </a:rPr>
                  <a:t>研究内容</a:t>
                </a:r>
                <a:r>
                  <a:rPr lang="en-US" altLang="zh-CN" sz="1200" b="1" dirty="0">
                    <a:latin typeface="+mn-ea"/>
                  </a:rPr>
                  <a:t>2</a:t>
                </a:r>
                <a:r>
                  <a:rPr lang="zh-CN" altLang="en-US" sz="1200" b="1" dirty="0">
                    <a:latin typeface="+mn-ea"/>
                  </a:rPr>
                  <a:t>：</a:t>
                </a:r>
                <a:endParaRPr lang="en-US" altLang="zh-CN" sz="1200" b="1" dirty="0">
                  <a:latin typeface="+mn-ea"/>
                </a:endParaRPr>
              </a:p>
              <a:p>
                <a:pPr algn="ctr"/>
                <a:r>
                  <a:rPr lang="zh-CN" altLang="en-US" sz="1200" b="1" dirty="0">
                    <a:latin typeface="+mn-ea"/>
                  </a:rPr>
                  <a:t>人因返工下的飞机脉动装配线生产调度与质量控制的联合优化</a:t>
                </a:r>
              </a:p>
            </p:txBody>
          </p:sp>
          <p:grpSp>
            <p:nvGrpSpPr>
              <p:cNvPr id="2097206" name="组合 2097205">
                <a:extLst>
                  <a:ext uri="{FF2B5EF4-FFF2-40B4-BE49-F238E27FC236}">
                    <a16:creationId xmlns:a16="http://schemas.microsoft.com/office/drawing/2014/main" id="{B86238A3-64E7-5DBA-398D-D238C0F0E7EC}"/>
                  </a:ext>
                </a:extLst>
              </p:cNvPr>
              <p:cNvGrpSpPr/>
              <p:nvPr/>
            </p:nvGrpSpPr>
            <p:grpSpPr>
              <a:xfrm>
                <a:off x="684353" y="3151064"/>
                <a:ext cx="2331720" cy="1914326"/>
                <a:chOff x="693379" y="3193799"/>
                <a:chExt cx="2004291" cy="1914326"/>
              </a:xfrm>
            </p:grpSpPr>
            <p:sp>
              <p:nvSpPr>
                <p:cNvPr id="2097207" name="平行四边形 2097206">
                  <a:extLst>
                    <a:ext uri="{FF2B5EF4-FFF2-40B4-BE49-F238E27FC236}">
                      <a16:creationId xmlns:a16="http://schemas.microsoft.com/office/drawing/2014/main" id="{2748E1CF-1D49-45C6-0E72-0F2316F4A521}"/>
                    </a:ext>
                  </a:extLst>
                </p:cNvPr>
                <p:cNvSpPr/>
                <p:nvPr/>
              </p:nvSpPr>
              <p:spPr>
                <a:xfrm>
                  <a:off x="698639" y="3193799"/>
                  <a:ext cx="900492" cy="382122"/>
                </a:xfrm>
                <a:prstGeom prst="parallelogram">
                  <a:avLst>
                    <a:gd name="adj" fmla="val 18703"/>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200" dirty="0">
                      <a:solidFill>
                        <a:schemeClr val="tx1"/>
                      </a:solidFill>
                    </a:rPr>
                    <a:t>感知表征</a:t>
                  </a:r>
                </a:p>
              </p:txBody>
            </p:sp>
            <p:sp>
              <p:nvSpPr>
                <p:cNvPr id="2097208" name="矩形 2097207">
                  <a:extLst>
                    <a:ext uri="{FF2B5EF4-FFF2-40B4-BE49-F238E27FC236}">
                      <a16:creationId xmlns:a16="http://schemas.microsoft.com/office/drawing/2014/main" id="{8D0ECFC1-3061-A894-FAAD-0FD5D85C203D}"/>
                    </a:ext>
                  </a:extLst>
                </p:cNvPr>
                <p:cNvSpPr/>
                <p:nvPr/>
              </p:nvSpPr>
              <p:spPr>
                <a:xfrm>
                  <a:off x="698639" y="3767567"/>
                  <a:ext cx="1999031" cy="398403"/>
                </a:xfrm>
                <a:prstGeom prst="rect">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多智能体</a:t>
                  </a:r>
                  <a:endParaRPr lang="en-US" altLang="zh-CN" sz="1200" dirty="0">
                    <a:solidFill>
                      <a:schemeClr val="tx1"/>
                    </a:solidFill>
                  </a:endParaRPr>
                </a:p>
                <a:p>
                  <a:pPr algn="ctr"/>
                  <a:r>
                    <a:rPr lang="zh-CN" altLang="en-US" sz="1200" dirty="0">
                      <a:solidFill>
                        <a:schemeClr val="tx1"/>
                      </a:solidFill>
                    </a:rPr>
                    <a:t>协同优化算法</a:t>
                  </a:r>
                </a:p>
              </p:txBody>
            </p:sp>
            <p:sp>
              <p:nvSpPr>
                <p:cNvPr id="2097209" name="矩形 2097208">
                  <a:extLst>
                    <a:ext uri="{FF2B5EF4-FFF2-40B4-BE49-F238E27FC236}">
                      <a16:creationId xmlns:a16="http://schemas.microsoft.com/office/drawing/2014/main" id="{DF2FDFA0-96C4-698F-4FBC-4571829447A3}"/>
                    </a:ext>
                  </a:extLst>
                </p:cNvPr>
                <p:cNvSpPr/>
                <p:nvPr/>
              </p:nvSpPr>
              <p:spPr>
                <a:xfrm>
                  <a:off x="1797204" y="3193799"/>
                  <a:ext cx="900183" cy="382122"/>
                </a:xfrm>
                <a:prstGeom prst="rect">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问题建模</a:t>
                  </a:r>
                </a:p>
              </p:txBody>
            </p:sp>
            <p:cxnSp>
              <p:nvCxnSpPr>
                <p:cNvPr id="2097210" name="直接箭头连接符 2097209">
                  <a:extLst>
                    <a:ext uri="{FF2B5EF4-FFF2-40B4-BE49-F238E27FC236}">
                      <a16:creationId xmlns:a16="http://schemas.microsoft.com/office/drawing/2014/main" id="{37A624D0-5AB8-624A-A740-69A4EFD6527C}"/>
                    </a:ext>
                  </a:extLst>
                </p:cNvPr>
                <p:cNvCxnSpPr>
                  <a:cxnSpLocks/>
                  <a:stCxn id="2097207" idx="2"/>
                  <a:endCxn id="2097209" idx="1"/>
                </p:cNvCxnSpPr>
                <p:nvPr/>
              </p:nvCxnSpPr>
              <p:spPr>
                <a:xfrm>
                  <a:off x="1568415" y="3384860"/>
                  <a:ext cx="22878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97211" name="直接箭头连接符 2097210">
                  <a:extLst>
                    <a:ext uri="{FF2B5EF4-FFF2-40B4-BE49-F238E27FC236}">
                      <a16:creationId xmlns:a16="http://schemas.microsoft.com/office/drawing/2014/main" id="{382184D0-2762-CDE8-02AE-405942ADE835}"/>
                    </a:ext>
                  </a:extLst>
                </p:cNvPr>
                <p:cNvCxnSpPr>
                  <a:cxnSpLocks/>
                  <a:stCxn id="2097209" idx="2"/>
                </p:cNvCxnSpPr>
                <p:nvPr/>
              </p:nvCxnSpPr>
              <p:spPr>
                <a:xfrm>
                  <a:off x="2247295" y="3575921"/>
                  <a:ext cx="0" cy="1916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97212" name="圆角矩形 28">
                  <a:extLst>
                    <a:ext uri="{FF2B5EF4-FFF2-40B4-BE49-F238E27FC236}">
                      <a16:creationId xmlns:a16="http://schemas.microsoft.com/office/drawing/2014/main" id="{0190A9B6-D125-9D8A-A6D4-2B07C1750520}"/>
                    </a:ext>
                  </a:extLst>
                </p:cNvPr>
                <p:cNvSpPr/>
                <p:nvPr/>
              </p:nvSpPr>
              <p:spPr>
                <a:xfrm>
                  <a:off x="782925" y="4424315"/>
                  <a:ext cx="575576" cy="653667"/>
                </a:xfrm>
                <a:prstGeom prst="roundRect">
                  <a:avLst/>
                </a:prstGeom>
                <a:noFill/>
                <a:ln w="1587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0" dirty="0">
                      <a:solidFill>
                        <a:schemeClr val="tx2">
                          <a:lumMod val="60000"/>
                          <a:lumOff val="40000"/>
                        </a:schemeClr>
                      </a:solidFill>
                    </a:rPr>
                    <a:t>工序排序</a:t>
                  </a:r>
                  <a:endParaRPr lang="en-US" altLang="zh-CN" sz="1050" dirty="0">
                    <a:solidFill>
                      <a:schemeClr val="tx2">
                        <a:lumMod val="60000"/>
                        <a:lumOff val="40000"/>
                      </a:schemeClr>
                    </a:solidFill>
                  </a:endParaRPr>
                </a:p>
                <a:p>
                  <a:pPr algn="ctr"/>
                  <a:r>
                    <a:rPr lang="zh-CN" altLang="en-US" sz="1050" dirty="0">
                      <a:solidFill>
                        <a:schemeClr val="tx2">
                          <a:lumMod val="60000"/>
                          <a:lumOff val="40000"/>
                        </a:schemeClr>
                      </a:solidFill>
                    </a:rPr>
                    <a:t>智能体</a:t>
                  </a:r>
                </a:p>
              </p:txBody>
            </p:sp>
            <p:sp>
              <p:nvSpPr>
                <p:cNvPr id="2097213" name="圆角矩形 30">
                  <a:extLst>
                    <a:ext uri="{FF2B5EF4-FFF2-40B4-BE49-F238E27FC236}">
                      <a16:creationId xmlns:a16="http://schemas.microsoft.com/office/drawing/2014/main" id="{B0A564F1-A93B-438C-D795-E51484BE4573}"/>
                    </a:ext>
                  </a:extLst>
                </p:cNvPr>
                <p:cNvSpPr/>
                <p:nvPr/>
              </p:nvSpPr>
              <p:spPr>
                <a:xfrm>
                  <a:off x="693379" y="4313073"/>
                  <a:ext cx="1998747" cy="795052"/>
                </a:xfrm>
                <a:prstGeom prst="roundRect">
                  <a:avLst>
                    <a:gd name="adj" fmla="val 9739"/>
                  </a:avLst>
                </a:prstGeom>
                <a:noFill/>
                <a:ln>
                  <a:solidFill>
                    <a:schemeClr val="tx2">
                      <a:lumMod val="60000"/>
                      <a:lumOff val="4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97214" name="文本框 2097213">
                  <a:extLst>
                    <a:ext uri="{FF2B5EF4-FFF2-40B4-BE49-F238E27FC236}">
                      <a16:creationId xmlns:a16="http://schemas.microsoft.com/office/drawing/2014/main" id="{217A731F-B7C6-03CA-CA9C-E11EFB210B7D}"/>
                    </a:ext>
                  </a:extLst>
                </p:cNvPr>
                <p:cNvSpPr txBox="1"/>
                <p:nvPr/>
              </p:nvSpPr>
              <p:spPr>
                <a:xfrm>
                  <a:off x="2320512" y="4276473"/>
                  <a:ext cx="377026" cy="184666"/>
                </a:xfrm>
                <a:prstGeom prst="rect">
                  <a:avLst/>
                </a:prstGeom>
                <a:noFill/>
              </p:spPr>
              <p:txBody>
                <a:bodyPr wrap="none" rtlCol="0">
                  <a:spAutoFit/>
                </a:bodyPr>
                <a:lstStyle/>
                <a:p>
                  <a:r>
                    <a:rPr kumimoji="1" lang="zh-CN" altLang="en-US" sz="600" i="1" dirty="0">
                      <a:solidFill>
                        <a:schemeClr val="tx2">
                          <a:lumMod val="60000"/>
                          <a:lumOff val="40000"/>
                        </a:schemeClr>
                      </a:solidFill>
                      <a:latin typeface="Microsoft YaHei" panose="020B0503020204020204" pitchFamily="34" charset="-122"/>
                      <a:ea typeface="Microsoft YaHei" panose="020B0503020204020204" pitchFamily="34" charset="-122"/>
                    </a:rPr>
                    <a:t>站位</a:t>
                  </a:r>
                  <a:r>
                    <a:rPr kumimoji="1" lang="en-US" altLang="zh-CN" sz="600" i="1" dirty="0">
                      <a:solidFill>
                        <a:schemeClr val="tx2">
                          <a:lumMod val="60000"/>
                          <a:lumOff val="40000"/>
                        </a:schemeClr>
                      </a:solidFill>
                      <a:latin typeface="Microsoft YaHei" panose="020B0503020204020204" pitchFamily="34" charset="-122"/>
                      <a:ea typeface="Microsoft YaHei" panose="020B0503020204020204" pitchFamily="34" charset="-122"/>
                    </a:rPr>
                    <a:t>z</a:t>
                  </a:r>
                  <a:endParaRPr kumimoji="1" lang="zh-CN" altLang="en-US" sz="600" i="1" dirty="0">
                    <a:solidFill>
                      <a:schemeClr val="tx2">
                        <a:lumMod val="60000"/>
                        <a:lumOff val="40000"/>
                      </a:schemeClr>
                    </a:solidFill>
                    <a:latin typeface="Microsoft YaHei" panose="020B0503020204020204" pitchFamily="34" charset="-122"/>
                    <a:ea typeface="Microsoft YaHei" panose="020B0503020204020204" pitchFamily="34" charset="-122"/>
                  </a:endParaRPr>
                </a:p>
              </p:txBody>
            </p:sp>
            <p:sp>
              <p:nvSpPr>
                <p:cNvPr id="2097215" name="圆角矩形 39">
                  <a:extLst>
                    <a:ext uri="{FF2B5EF4-FFF2-40B4-BE49-F238E27FC236}">
                      <a16:creationId xmlns:a16="http://schemas.microsoft.com/office/drawing/2014/main" id="{91BB1A51-BFF2-B199-662D-173DE68BC15E}"/>
                    </a:ext>
                  </a:extLst>
                </p:cNvPr>
                <p:cNvSpPr/>
                <p:nvPr/>
              </p:nvSpPr>
              <p:spPr>
                <a:xfrm>
                  <a:off x="1408059" y="4414433"/>
                  <a:ext cx="575576" cy="653667"/>
                </a:xfrm>
                <a:prstGeom prst="roundRect">
                  <a:avLst/>
                </a:prstGeom>
                <a:noFill/>
                <a:ln w="1587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0" dirty="0">
                      <a:solidFill>
                        <a:schemeClr val="tx2">
                          <a:lumMod val="60000"/>
                          <a:lumOff val="40000"/>
                        </a:schemeClr>
                      </a:solidFill>
                    </a:rPr>
                    <a:t>工人派工</a:t>
                  </a:r>
                  <a:endParaRPr lang="en-US" altLang="zh-CN" sz="1050" dirty="0">
                    <a:solidFill>
                      <a:schemeClr val="tx2">
                        <a:lumMod val="60000"/>
                        <a:lumOff val="40000"/>
                      </a:schemeClr>
                    </a:solidFill>
                  </a:endParaRPr>
                </a:p>
                <a:p>
                  <a:pPr algn="ctr"/>
                  <a:r>
                    <a:rPr lang="zh-CN" altLang="en-US" sz="1050" dirty="0">
                      <a:solidFill>
                        <a:schemeClr val="tx2">
                          <a:lumMod val="60000"/>
                          <a:lumOff val="40000"/>
                        </a:schemeClr>
                      </a:solidFill>
                    </a:rPr>
                    <a:t>智能体</a:t>
                  </a:r>
                </a:p>
              </p:txBody>
            </p:sp>
            <p:sp>
              <p:nvSpPr>
                <p:cNvPr id="1048704" name="圆角矩形 40">
                  <a:extLst>
                    <a:ext uri="{FF2B5EF4-FFF2-40B4-BE49-F238E27FC236}">
                      <a16:creationId xmlns:a16="http://schemas.microsoft.com/office/drawing/2014/main" id="{92062CD4-FD67-0A16-9FC2-AF5BB2B019F1}"/>
                    </a:ext>
                  </a:extLst>
                </p:cNvPr>
                <p:cNvSpPr/>
                <p:nvPr/>
              </p:nvSpPr>
              <p:spPr>
                <a:xfrm>
                  <a:off x="2033193" y="4417767"/>
                  <a:ext cx="575576" cy="653667"/>
                </a:xfrm>
                <a:prstGeom prst="roundRect">
                  <a:avLst/>
                </a:prstGeom>
                <a:noFill/>
                <a:ln w="1587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0" dirty="0">
                      <a:solidFill>
                        <a:schemeClr val="tx2">
                          <a:lumMod val="60000"/>
                          <a:lumOff val="40000"/>
                        </a:schemeClr>
                      </a:solidFill>
                    </a:rPr>
                    <a:t>工人短休</a:t>
                  </a:r>
                  <a:endParaRPr lang="en-US" altLang="zh-CN" sz="1050" dirty="0">
                    <a:solidFill>
                      <a:schemeClr val="tx2">
                        <a:lumMod val="60000"/>
                        <a:lumOff val="40000"/>
                      </a:schemeClr>
                    </a:solidFill>
                  </a:endParaRPr>
                </a:p>
                <a:p>
                  <a:pPr algn="ctr"/>
                  <a:r>
                    <a:rPr lang="zh-CN" altLang="en-US" sz="1050" dirty="0">
                      <a:solidFill>
                        <a:schemeClr val="tx2">
                          <a:lumMod val="60000"/>
                          <a:lumOff val="40000"/>
                        </a:schemeClr>
                      </a:solidFill>
                    </a:rPr>
                    <a:t>智能体</a:t>
                  </a:r>
                </a:p>
              </p:txBody>
            </p:sp>
            <p:sp>
              <p:nvSpPr>
                <p:cNvPr id="1048705" name="梯形 1048704">
                  <a:extLst>
                    <a:ext uri="{FF2B5EF4-FFF2-40B4-BE49-F238E27FC236}">
                      <a16:creationId xmlns:a16="http://schemas.microsoft.com/office/drawing/2014/main" id="{CB64567B-E095-13E1-AF9A-8C369A945FDE}"/>
                    </a:ext>
                  </a:extLst>
                </p:cNvPr>
                <p:cNvSpPr/>
                <p:nvPr/>
              </p:nvSpPr>
              <p:spPr>
                <a:xfrm>
                  <a:off x="1536085" y="4173408"/>
                  <a:ext cx="318585" cy="139665"/>
                </a:xfrm>
                <a:prstGeom prst="trapezoid">
                  <a:avLst/>
                </a:prstGeom>
                <a:gradFill>
                  <a:gsLst>
                    <a:gs pos="0">
                      <a:schemeClr val="bg2">
                        <a:lumMod val="75000"/>
                      </a:schemeClr>
                    </a:gs>
                    <a:gs pos="100000">
                      <a:schemeClr val="tx2">
                        <a:lumMod val="60000"/>
                        <a:lumOff val="40000"/>
                        <a:alpha val="13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grpSp>
          <p:nvGrpSpPr>
            <p:cNvPr id="2097168" name="组合 2097167">
              <a:extLst>
                <a:ext uri="{FF2B5EF4-FFF2-40B4-BE49-F238E27FC236}">
                  <a16:creationId xmlns:a16="http://schemas.microsoft.com/office/drawing/2014/main" id="{18F5EF59-16D2-B4D3-9DB7-33BD631A8446}"/>
                </a:ext>
              </a:extLst>
            </p:cNvPr>
            <p:cNvGrpSpPr/>
            <p:nvPr/>
          </p:nvGrpSpPr>
          <p:grpSpPr>
            <a:xfrm>
              <a:off x="3563209" y="2323090"/>
              <a:ext cx="2973600" cy="2782861"/>
              <a:chOff x="3638215" y="2396296"/>
              <a:chExt cx="2973600" cy="2782861"/>
            </a:xfrm>
          </p:grpSpPr>
          <p:sp>
            <p:nvSpPr>
              <p:cNvPr id="2097172" name="矩形 2097171">
                <a:extLst>
                  <a:ext uri="{FF2B5EF4-FFF2-40B4-BE49-F238E27FC236}">
                    <a16:creationId xmlns:a16="http://schemas.microsoft.com/office/drawing/2014/main" id="{A0043DAA-97C6-9ECA-9AA8-EB52655C439F}"/>
                  </a:ext>
                </a:extLst>
              </p:cNvPr>
              <p:cNvSpPr/>
              <p:nvPr/>
            </p:nvSpPr>
            <p:spPr>
              <a:xfrm>
                <a:off x="3638215" y="2407157"/>
                <a:ext cx="2973600" cy="2772000"/>
              </a:xfrm>
              <a:prstGeom prst="rect">
                <a:avLst/>
              </a:prstGeom>
              <a:noFill/>
              <a:ln w="12700">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黑体" panose="02010609060101010101" pitchFamily="49" charset="-122"/>
                  <a:ea typeface="黑体" panose="02010609060101010101" pitchFamily="49" charset="-122"/>
                </a:endParaRPr>
              </a:p>
            </p:txBody>
          </p:sp>
          <p:sp>
            <p:nvSpPr>
              <p:cNvPr id="2097173" name="文本框 2097172">
                <a:extLst>
                  <a:ext uri="{FF2B5EF4-FFF2-40B4-BE49-F238E27FC236}">
                    <a16:creationId xmlns:a16="http://schemas.microsoft.com/office/drawing/2014/main" id="{E3518958-876E-A790-24F9-3A0CD731E3B4}"/>
                  </a:ext>
                </a:extLst>
              </p:cNvPr>
              <p:cNvSpPr txBox="1"/>
              <p:nvPr/>
            </p:nvSpPr>
            <p:spPr>
              <a:xfrm>
                <a:off x="3638216" y="2396296"/>
                <a:ext cx="2973599" cy="646331"/>
              </a:xfrm>
              <a:prstGeom prst="rect">
                <a:avLst/>
              </a:prstGeom>
              <a:noFill/>
            </p:spPr>
            <p:txBody>
              <a:bodyPr wrap="square">
                <a:spAutoFit/>
              </a:bodyPr>
              <a:lstStyle/>
              <a:p>
                <a:pPr algn="ctr"/>
                <a:r>
                  <a:rPr lang="zh-CN" altLang="en-US" sz="1200" b="1" dirty="0">
                    <a:latin typeface="+mn-ea"/>
                  </a:rPr>
                  <a:t>研究内容</a:t>
                </a:r>
                <a:r>
                  <a:rPr lang="en-US" altLang="zh-CN" sz="1200" b="1" dirty="0">
                    <a:latin typeface="+mn-ea"/>
                  </a:rPr>
                  <a:t>3</a:t>
                </a:r>
                <a:r>
                  <a:rPr lang="zh-CN" altLang="en-US" sz="1200" b="1" dirty="0">
                    <a:latin typeface="+mn-ea"/>
                  </a:rPr>
                  <a:t>：</a:t>
                </a:r>
                <a:endParaRPr lang="en-US" altLang="zh-CN" sz="1200" b="1" dirty="0">
                  <a:latin typeface="+mn-ea"/>
                </a:endParaRPr>
              </a:p>
              <a:p>
                <a:pPr algn="ctr"/>
                <a:r>
                  <a:rPr lang="zh-CN" altLang="en-US" sz="1200" b="1" dirty="0">
                    <a:latin typeface="+mn-ea"/>
                  </a:rPr>
                  <a:t>人机因返工下的飞机脉动装配线</a:t>
                </a:r>
                <a:endParaRPr lang="en-US" altLang="zh-CN" sz="1200" b="1" dirty="0">
                  <a:latin typeface="+mn-ea"/>
                </a:endParaRPr>
              </a:p>
              <a:p>
                <a:pPr algn="ctr"/>
                <a:r>
                  <a:rPr lang="zh-CN" altLang="en-US" sz="1200" b="1" dirty="0">
                    <a:latin typeface="+mn-ea"/>
                  </a:rPr>
                  <a:t>多智能体分层协同优化</a:t>
                </a:r>
              </a:p>
            </p:txBody>
          </p:sp>
          <p:grpSp>
            <p:nvGrpSpPr>
              <p:cNvPr id="2097174" name="组合 2097173">
                <a:extLst>
                  <a:ext uri="{FF2B5EF4-FFF2-40B4-BE49-F238E27FC236}">
                    <a16:creationId xmlns:a16="http://schemas.microsoft.com/office/drawing/2014/main" id="{6827C3A6-7B37-A21C-DF04-EF20D56A4511}"/>
                  </a:ext>
                </a:extLst>
              </p:cNvPr>
              <p:cNvGrpSpPr/>
              <p:nvPr/>
            </p:nvGrpSpPr>
            <p:grpSpPr>
              <a:xfrm>
                <a:off x="3894191" y="3151064"/>
                <a:ext cx="2461649" cy="1906436"/>
                <a:chOff x="7352100" y="3171546"/>
                <a:chExt cx="2461649" cy="1906436"/>
              </a:xfrm>
            </p:grpSpPr>
            <p:sp>
              <p:nvSpPr>
                <p:cNvPr id="2097175" name="平行四边形 2097174">
                  <a:extLst>
                    <a:ext uri="{FF2B5EF4-FFF2-40B4-BE49-F238E27FC236}">
                      <a16:creationId xmlns:a16="http://schemas.microsoft.com/office/drawing/2014/main" id="{5B76BE21-706A-F94F-DA49-73DF89C3B252}"/>
                    </a:ext>
                  </a:extLst>
                </p:cNvPr>
                <p:cNvSpPr/>
                <p:nvPr/>
              </p:nvSpPr>
              <p:spPr>
                <a:xfrm>
                  <a:off x="7436110" y="3176950"/>
                  <a:ext cx="1047600" cy="382122"/>
                </a:xfrm>
                <a:prstGeom prst="parallelogram">
                  <a:avLst>
                    <a:gd name="adj" fmla="val 18703"/>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200" dirty="0">
                      <a:solidFill>
                        <a:schemeClr val="tx1"/>
                      </a:solidFill>
                    </a:rPr>
                    <a:t>异构资源</a:t>
                  </a:r>
                  <a:endParaRPr lang="en-US" altLang="zh-CN" sz="1200" dirty="0">
                    <a:solidFill>
                      <a:schemeClr val="tx1"/>
                    </a:solidFill>
                  </a:endParaRPr>
                </a:p>
                <a:p>
                  <a:pPr algn="ctr"/>
                  <a:r>
                    <a:rPr lang="zh-CN" altLang="en-US" sz="1200" dirty="0">
                      <a:solidFill>
                        <a:schemeClr val="tx1"/>
                      </a:solidFill>
                    </a:rPr>
                    <a:t>感知表征</a:t>
                  </a:r>
                </a:p>
              </p:txBody>
            </p:sp>
            <p:sp>
              <p:nvSpPr>
                <p:cNvPr id="2097176" name="矩形 2097175">
                  <a:extLst>
                    <a:ext uri="{FF2B5EF4-FFF2-40B4-BE49-F238E27FC236}">
                      <a16:creationId xmlns:a16="http://schemas.microsoft.com/office/drawing/2014/main" id="{B6FA5DBA-E77E-901C-8EA4-86D2A2C7D4A2}"/>
                    </a:ext>
                  </a:extLst>
                </p:cNvPr>
                <p:cNvSpPr/>
                <p:nvPr/>
              </p:nvSpPr>
              <p:spPr>
                <a:xfrm>
                  <a:off x="7436109" y="3692224"/>
                  <a:ext cx="2325600" cy="398403"/>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分层多智能体</a:t>
                  </a:r>
                  <a:endParaRPr lang="en-US" altLang="zh-CN" sz="1200" dirty="0">
                    <a:solidFill>
                      <a:schemeClr val="tx1"/>
                    </a:solidFill>
                  </a:endParaRPr>
                </a:p>
                <a:p>
                  <a:pPr algn="ctr"/>
                  <a:r>
                    <a:rPr lang="zh-CN" altLang="en-US" sz="1200" dirty="0">
                      <a:solidFill>
                        <a:schemeClr val="tx1"/>
                      </a:solidFill>
                    </a:rPr>
                    <a:t>协同优化算法</a:t>
                  </a:r>
                </a:p>
              </p:txBody>
            </p:sp>
            <p:sp>
              <p:nvSpPr>
                <p:cNvPr id="2097177" name="矩形 2097176">
                  <a:extLst>
                    <a:ext uri="{FF2B5EF4-FFF2-40B4-BE49-F238E27FC236}">
                      <a16:creationId xmlns:a16="http://schemas.microsoft.com/office/drawing/2014/main" id="{2454A7A2-0E1C-1351-E3FB-B4571033BAA9}"/>
                    </a:ext>
                  </a:extLst>
                </p:cNvPr>
                <p:cNvSpPr/>
                <p:nvPr/>
              </p:nvSpPr>
              <p:spPr>
                <a:xfrm>
                  <a:off x="8717875" y="3171546"/>
                  <a:ext cx="1047600" cy="382122"/>
                </a:xfrm>
                <a:prstGeom prst="rect">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问题建模</a:t>
                  </a:r>
                </a:p>
              </p:txBody>
            </p:sp>
            <p:cxnSp>
              <p:nvCxnSpPr>
                <p:cNvPr id="2097178" name="直接箭头连接符 62">
                  <a:extLst>
                    <a:ext uri="{FF2B5EF4-FFF2-40B4-BE49-F238E27FC236}">
                      <a16:creationId xmlns:a16="http://schemas.microsoft.com/office/drawing/2014/main" id="{37534CBF-DA73-6812-7099-B5A6E57D3BAC}"/>
                    </a:ext>
                  </a:extLst>
                </p:cNvPr>
                <p:cNvCxnSpPr>
                  <a:cxnSpLocks/>
                  <a:stCxn id="2097175" idx="2"/>
                  <a:endCxn id="2097177" idx="1"/>
                </p:cNvCxnSpPr>
                <p:nvPr/>
              </p:nvCxnSpPr>
              <p:spPr>
                <a:xfrm flipV="1">
                  <a:off x="8447976" y="3362607"/>
                  <a:ext cx="269899" cy="54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97179" name="直接箭头连接符 2097152">
                  <a:extLst>
                    <a:ext uri="{FF2B5EF4-FFF2-40B4-BE49-F238E27FC236}">
                      <a16:creationId xmlns:a16="http://schemas.microsoft.com/office/drawing/2014/main" id="{66B70381-2822-0E4C-9B7B-DF49B96A77D4}"/>
                    </a:ext>
                  </a:extLst>
                </p:cNvPr>
                <p:cNvCxnSpPr>
                  <a:cxnSpLocks/>
                  <a:stCxn id="2097177" idx="2"/>
                </p:cNvCxnSpPr>
                <p:nvPr/>
              </p:nvCxnSpPr>
              <p:spPr>
                <a:xfrm>
                  <a:off x="9241675" y="3553668"/>
                  <a:ext cx="0" cy="1556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97180" name="梯形 2097179">
                  <a:extLst>
                    <a:ext uri="{FF2B5EF4-FFF2-40B4-BE49-F238E27FC236}">
                      <a16:creationId xmlns:a16="http://schemas.microsoft.com/office/drawing/2014/main" id="{4AFFA070-4E41-B9BA-3E25-3C7D1B0B5644}"/>
                    </a:ext>
                  </a:extLst>
                </p:cNvPr>
                <p:cNvSpPr/>
                <p:nvPr/>
              </p:nvSpPr>
              <p:spPr>
                <a:xfrm>
                  <a:off x="7934393" y="4093951"/>
                  <a:ext cx="1360124" cy="313549"/>
                </a:xfrm>
                <a:prstGeom prst="trapezoid">
                  <a:avLst>
                    <a:gd name="adj" fmla="val 70611"/>
                  </a:avLst>
                </a:prstGeom>
                <a:gradFill>
                  <a:gsLst>
                    <a:gs pos="0">
                      <a:schemeClr val="bg2">
                        <a:lumMod val="75000"/>
                      </a:schemeClr>
                    </a:gs>
                    <a:gs pos="89000">
                      <a:schemeClr val="bg1">
                        <a:alpha val="0"/>
                      </a:schemeClr>
                    </a:gs>
                    <a:gs pos="58000">
                      <a:schemeClr val="tx2">
                        <a:lumMod val="60000"/>
                        <a:lumOff val="40000"/>
                        <a:alpha val="13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097181" name="组合 2097180">
                  <a:extLst>
                    <a:ext uri="{FF2B5EF4-FFF2-40B4-BE49-F238E27FC236}">
                      <a16:creationId xmlns:a16="http://schemas.microsoft.com/office/drawing/2014/main" id="{D891B017-46AF-EF49-097F-0187260B0F7B}"/>
                    </a:ext>
                  </a:extLst>
                </p:cNvPr>
                <p:cNvGrpSpPr/>
                <p:nvPr/>
              </p:nvGrpSpPr>
              <p:grpSpPr>
                <a:xfrm>
                  <a:off x="7352100" y="4247125"/>
                  <a:ext cx="2461649" cy="830857"/>
                  <a:chOff x="7377635" y="4223399"/>
                  <a:chExt cx="2461649" cy="830857"/>
                </a:xfrm>
              </p:grpSpPr>
              <p:cxnSp>
                <p:nvCxnSpPr>
                  <p:cNvPr id="2097182" name="直线箭头连接符 2097164">
                    <a:extLst>
                      <a:ext uri="{FF2B5EF4-FFF2-40B4-BE49-F238E27FC236}">
                        <a16:creationId xmlns:a16="http://schemas.microsoft.com/office/drawing/2014/main" id="{0FB5397F-3CA0-F865-38B8-9C0ED412DD9D}"/>
                      </a:ext>
                    </a:extLst>
                  </p:cNvPr>
                  <p:cNvCxnSpPr>
                    <a:cxnSpLocks/>
                  </p:cNvCxnSpPr>
                  <p:nvPr/>
                </p:nvCxnSpPr>
                <p:spPr>
                  <a:xfrm>
                    <a:off x="7792381" y="4601652"/>
                    <a:ext cx="0" cy="123754"/>
                  </a:xfrm>
                  <a:prstGeom prst="straightConnector1">
                    <a:avLst/>
                  </a:prstGeom>
                  <a:ln>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97183" name="文本框 2097182">
                    <a:extLst>
                      <a:ext uri="{FF2B5EF4-FFF2-40B4-BE49-F238E27FC236}">
                        <a16:creationId xmlns:a16="http://schemas.microsoft.com/office/drawing/2014/main" id="{2BD66FEC-78D1-D415-82B8-83BF00EC11F7}"/>
                      </a:ext>
                    </a:extLst>
                  </p:cNvPr>
                  <p:cNvSpPr txBox="1"/>
                  <p:nvPr/>
                </p:nvSpPr>
                <p:spPr>
                  <a:xfrm>
                    <a:off x="7758284" y="4579286"/>
                    <a:ext cx="521751" cy="169277"/>
                  </a:xfrm>
                  <a:prstGeom prst="rect">
                    <a:avLst/>
                  </a:prstGeom>
                  <a:noFill/>
                </p:spPr>
                <p:txBody>
                  <a:bodyPr wrap="square" rtlCol="0">
                    <a:spAutoFit/>
                  </a:bodyPr>
                  <a:lstStyle/>
                  <a:p>
                    <a:r>
                      <a:rPr kumimoji="1" lang="zh-CN" altLang="en-US" sz="500" i="1" dirty="0">
                        <a:solidFill>
                          <a:schemeClr val="accent1">
                            <a:lumMod val="50000"/>
                          </a:schemeClr>
                        </a:solidFill>
                      </a:rPr>
                      <a:t>决策结果</a:t>
                    </a:r>
                  </a:p>
                </p:txBody>
              </p:sp>
              <p:sp>
                <p:nvSpPr>
                  <p:cNvPr id="2097184" name="六边形 2097183">
                    <a:extLst>
                      <a:ext uri="{FF2B5EF4-FFF2-40B4-BE49-F238E27FC236}">
                        <a16:creationId xmlns:a16="http://schemas.microsoft.com/office/drawing/2014/main" id="{1F86EF65-1FA0-CA94-8255-C9979DA7D5A2}"/>
                      </a:ext>
                    </a:extLst>
                  </p:cNvPr>
                  <p:cNvSpPr/>
                  <p:nvPr/>
                </p:nvSpPr>
                <p:spPr>
                  <a:xfrm>
                    <a:off x="7439137" y="4376438"/>
                    <a:ext cx="706488" cy="225214"/>
                  </a:xfrm>
                  <a:prstGeom prst="hexagon">
                    <a:avLst/>
                  </a:prstGeom>
                  <a:noFill/>
                  <a:ln w="1270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0" dirty="0">
                        <a:solidFill>
                          <a:schemeClr val="tx2">
                            <a:lumMod val="60000"/>
                            <a:lumOff val="40000"/>
                          </a:schemeClr>
                        </a:solidFill>
                      </a:rPr>
                      <a:t>上层决策</a:t>
                    </a:r>
                  </a:p>
                </p:txBody>
              </p:sp>
              <p:sp>
                <p:nvSpPr>
                  <p:cNvPr id="2097185" name="六边形 2097184">
                    <a:extLst>
                      <a:ext uri="{FF2B5EF4-FFF2-40B4-BE49-F238E27FC236}">
                        <a16:creationId xmlns:a16="http://schemas.microsoft.com/office/drawing/2014/main" id="{B763889C-F30B-E894-E835-5C8AB88C0417}"/>
                      </a:ext>
                    </a:extLst>
                  </p:cNvPr>
                  <p:cNvSpPr/>
                  <p:nvPr/>
                </p:nvSpPr>
                <p:spPr>
                  <a:xfrm>
                    <a:off x="7439138" y="4734412"/>
                    <a:ext cx="706487" cy="225214"/>
                  </a:xfrm>
                  <a:prstGeom prst="hexagon">
                    <a:avLst/>
                  </a:prstGeom>
                  <a:noFill/>
                  <a:ln w="127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0" dirty="0">
                        <a:solidFill>
                          <a:schemeClr val="accent3">
                            <a:lumMod val="50000"/>
                          </a:schemeClr>
                        </a:solidFill>
                      </a:rPr>
                      <a:t>下层决策</a:t>
                    </a:r>
                  </a:p>
                </p:txBody>
              </p:sp>
              <p:sp>
                <p:nvSpPr>
                  <p:cNvPr id="2097186" name="圆角矩形 2097173">
                    <a:extLst>
                      <a:ext uri="{FF2B5EF4-FFF2-40B4-BE49-F238E27FC236}">
                        <a16:creationId xmlns:a16="http://schemas.microsoft.com/office/drawing/2014/main" id="{5DC49BD6-E388-688B-AFA7-3DFDD2C2B119}"/>
                      </a:ext>
                    </a:extLst>
                  </p:cNvPr>
                  <p:cNvSpPr/>
                  <p:nvPr/>
                </p:nvSpPr>
                <p:spPr>
                  <a:xfrm>
                    <a:off x="7377635" y="4252684"/>
                    <a:ext cx="829492" cy="795052"/>
                  </a:xfrm>
                  <a:prstGeom prst="roundRect">
                    <a:avLst>
                      <a:gd name="adj" fmla="val 9739"/>
                    </a:avLst>
                  </a:prstGeom>
                  <a:noFill/>
                  <a:ln>
                    <a:solidFill>
                      <a:schemeClr val="tx2">
                        <a:lumMod val="60000"/>
                        <a:lumOff val="4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97187" name="文本框 2097186">
                    <a:extLst>
                      <a:ext uri="{FF2B5EF4-FFF2-40B4-BE49-F238E27FC236}">
                        <a16:creationId xmlns:a16="http://schemas.microsoft.com/office/drawing/2014/main" id="{327D0780-9BAB-F152-7A83-9EB3C2E27A81}"/>
                      </a:ext>
                    </a:extLst>
                  </p:cNvPr>
                  <p:cNvSpPr txBox="1"/>
                  <p:nvPr/>
                </p:nvSpPr>
                <p:spPr>
                  <a:xfrm>
                    <a:off x="7843409" y="4223399"/>
                    <a:ext cx="396002" cy="184666"/>
                  </a:xfrm>
                  <a:prstGeom prst="rect">
                    <a:avLst/>
                  </a:prstGeom>
                  <a:noFill/>
                </p:spPr>
                <p:txBody>
                  <a:bodyPr wrap="square" rtlCol="0">
                    <a:spAutoFit/>
                  </a:bodyPr>
                  <a:lstStyle/>
                  <a:p>
                    <a:r>
                      <a:rPr kumimoji="1" lang="zh-CN" altLang="en-US" sz="600" i="1" dirty="0">
                        <a:solidFill>
                          <a:schemeClr val="tx2">
                            <a:lumMod val="60000"/>
                            <a:lumOff val="40000"/>
                          </a:schemeClr>
                        </a:solidFill>
                        <a:latin typeface="Microsoft YaHei" panose="020B0503020204020204" pitchFamily="34" charset="-122"/>
                        <a:ea typeface="Microsoft YaHei" panose="020B0503020204020204" pitchFamily="34" charset="-122"/>
                      </a:rPr>
                      <a:t>站位</a:t>
                    </a:r>
                    <a:r>
                      <a:rPr kumimoji="1" lang="en-US" altLang="zh-CN" sz="600" i="1" dirty="0">
                        <a:solidFill>
                          <a:schemeClr val="tx2">
                            <a:lumMod val="60000"/>
                            <a:lumOff val="40000"/>
                          </a:schemeClr>
                        </a:solidFill>
                        <a:latin typeface="Microsoft YaHei" panose="020B0503020204020204" pitchFamily="34" charset="-122"/>
                        <a:ea typeface="Microsoft YaHei" panose="020B0503020204020204" pitchFamily="34" charset="-122"/>
                      </a:rPr>
                      <a:t>z</a:t>
                    </a:r>
                    <a:endParaRPr kumimoji="1" lang="zh-CN" altLang="en-US" sz="600" i="1" dirty="0">
                      <a:solidFill>
                        <a:schemeClr val="tx2">
                          <a:lumMod val="60000"/>
                          <a:lumOff val="40000"/>
                        </a:schemeClr>
                      </a:solidFill>
                      <a:latin typeface="Microsoft YaHei" panose="020B0503020204020204" pitchFamily="34" charset="-122"/>
                      <a:ea typeface="Microsoft YaHei" panose="020B0503020204020204" pitchFamily="34" charset="-122"/>
                    </a:endParaRPr>
                  </a:p>
                </p:txBody>
              </p:sp>
              <p:cxnSp>
                <p:nvCxnSpPr>
                  <p:cNvPr id="2097188" name="直线箭头连接符 2097182">
                    <a:extLst>
                      <a:ext uri="{FF2B5EF4-FFF2-40B4-BE49-F238E27FC236}">
                        <a16:creationId xmlns:a16="http://schemas.microsoft.com/office/drawing/2014/main" id="{42EC628F-AD9E-6079-1F28-5B3FF1BA6708}"/>
                      </a:ext>
                    </a:extLst>
                  </p:cNvPr>
                  <p:cNvCxnSpPr>
                    <a:cxnSpLocks/>
                  </p:cNvCxnSpPr>
                  <p:nvPr/>
                </p:nvCxnSpPr>
                <p:spPr>
                  <a:xfrm>
                    <a:off x="8756283" y="4603741"/>
                    <a:ext cx="0" cy="123754"/>
                  </a:xfrm>
                  <a:prstGeom prst="straightConnector1">
                    <a:avLst/>
                  </a:prstGeom>
                  <a:ln>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97189" name="文本框 2097188">
                    <a:extLst>
                      <a:ext uri="{FF2B5EF4-FFF2-40B4-BE49-F238E27FC236}">
                        <a16:creationId xmlns:a16="http://schemas.microsoft.com/office/drawing/2014/main" id="{5CECB731-D70E-28A9-A382-53A6290DD5BD}"/>
                      </a:ext>
                    </a:extLst>
                  </p:cNvPr>
                  <p:cNvSpPr txBox="1"/>
                  <p:nvPr/>
                </p:nvSpPr>
                <p:spPr>
                  <a:xfrm>
                    <a:off x="8722187" y="4581375"/>
                    <a:ext cx="468322" cy="169277"/>
                  </a:xfrm>
                  <a:prstGeom prst="rect">
                    <a:avLst/>
                  </a:prstGeom>
                  <a:noFill/>
                </p:spPr>
                <p:txBody>
                  <a:bodyPr wrap="square" rtlCol="0">
                    <a:spAutoFit/>
                  </a:bodyPr>
                  <a:lstStyle/>
                  <a:p>
                    <a:r>
                      <a:rPr kumimoji="1" lang="zh-CN" altLang="en-US" sz="500" i="1" dirty="0">
                        <a:solidFill>
                          <a:schemeClr val="accent1">
                            <a:lumMod val="50000"/>
                          </a:schemeClr>
                        </a:solidFill>
                      </a:rPr>
                      <a:t>决策结果</a:t>
                    </a:r>
                  </a:p>
                </p:txBody>
              </p:sp>
              <p:sp>
                <p:nvSpPr>
                  <p:cNvPr id="2097190" name="圆角矩形 2097186">
                    <a:extLst>
                      <a:ext uri="{FF2B5EF4-FFF2-40B4-BE49-F238E27FC236}">
                        <a16:creationId xmlns:a16="http://schemas.microsoft.com/office/drawing/2014/main" id="{9DF8C291-BC38-F4B3-29C1-2CB2C15675A9}"/>
                      </a:ext>
                    </a:extLst>
                  </p:cNvPr>
                  <p:cNvSpPr/>
                  <p:nvPr/>
                </p:nvSpPr>
                <p:spPr>
                  <a:xfrm>
                    <a:off x="8341537" y="4254773"/>
                    <a:ext cx="829492" cy="795052"/>
                  </a:xfrm>
                  <a:prstGeom prst="roundRect">
                    <a:avLst>
                      <a:gd name="adj" fmla="val 9739"/>
                    </a:avLst>
                  </a:prstGeom>
                  <a:noFill/>
                  <a:ln>
                    <a:solidFill>
                      <a:schemeClr val="tx2">
                        <a:lumMod val="60000"/>
                        <a:lumOff val="4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97191" name="文本框 2097190">
                    <a:extLst>
                      <a:ext uri="{FF2B5EF4-FFF2-40B4-BE49-F238E27FC236}">
                        <a16:creationId xmlns:a16="http://schemas.microsoft.com/office/drawing/2014/main" id="{48BBE7C0-140F-6B28-B043-3DAB6C0DC479}"/>
                      </a:ext>
                    </a:extLst>
                  </p:cNvPr>
                  <p:cNvSpPr txBox="1"/>
                  <p:nvPr/>
                </p:nvSpPr>
                <p:spPr>
                  <a:xfrm>
                    <a:off x="8721549" y="4225488"/>
                    <a:ext cx="519908" cy="184666"/>
                  </a:xfrm>
                  <a:prstGeom prst="rect">
                    <a:avLst/>
                  </a:prstGeom>
                  <a:noFill/>
                </p:spPr>
                <p:txBody>
                  <a:bodyPr wrap="square" rtlCol="0">
                    <a:spAutoFit/>
                  </a:bodyPr>
                  <a:lstStyle/>
                  <a:p>
                    <a:r>
                      <a:rPr kumimoji="1" lang="zh-CN" altLang="en-US" sz="600" i="1" dirty="0">
                        <a:solidFill>
                          <a:schemeClr val="tx2">
                            <a:lumMod val="60000"/>
                            <a:lumOff val="40000"/>
                          </a:schemeClr>
                        </a:solidFill>
                        <a:latin typeface="Microsoft YaHei" panose="020B0503020204020204" pitchFamily="34" charset="-122"/>
                        <a:ea typeface="Microsoft YaHei" panose="020B0503020204020204" pitchFamily="34" charset="-122"/>
                      </a:rPr>
                      <a:t>站位</a:t>
                    </a:r>
                    <a:r>
                      <a:rPr kumimoji="1" lang="en-US" altLang="zh-CN" sz="600" i="1" dirty="0">
                        <a:solidFill>
                          <a:schemeClr val="tx2">
                            <a:lumMod val="60000"/>
                            <a:lumOff val="40000"/>
                          </a:schemeClr>
                        </a:solidFill>
                        <a:latin typeface="Microsoft YaHei" panose="020B0503020204020204" pitchFamily="34" charset="-122"/>
                        <a:ea typeface="Microsoft YaHei" panose="020B0503020204020204" pitchFamily="34" charset="-122"/>
                      </a:rPr>
                      <a:t>z+1</a:t>
                    </a:r>
                    <a:endParaRPr kumimoji="1" lang="zh-CN" altLang="en-US" sz="600" i="1" dirty="0">
                      <a:solidFill>
                        <a:schemeClr val="tx2">
                          <a:lumMod val="60000"/>
                          <a:lumOff val="40000"/>
                        </a:schemeClr>
                      </a:solidFill>
                      <a:latin typeface="Microsoft YaHei" panose="020B0503020204020204" pitchFamily="34" charset="-122"/>
                      <a:ea typeface="Microsoft YaHei" panose="020B0503020204020204" pitchFamily="34" charset="-122"/>
                    </a:endParaRPr>
                  </a:p>
                </p:txBody>
              </p:sp>
              <p:grpSp>
                <p:nvGrpSpPr>
                  <p:cNvPr id="2097192" name="组合 2097191">
                    <a:extLst>
                      <a:ext uri="{FF2B5EF4-FFF2-40B4-BE49-F238E27FC236}">
                        <a16:creationId xmlns:a16="http://schemas.microsoft.com/office/drawing/2014/main" id="{35A88724-53B9-52EB-E4A1-0C4DA3860A05}"/>
                      </a:ext>
                    </a:extLst>
                  </p:cNvPr>
                  <p:cNvGrpSpPr/>
                  <p:nvPr/>
                </p:nvGrpSpPr>
                <p:grpSpPr>
                  <a:xfrm>
                    <a:off x="8151316" y="4374313"/>
                    <a:ext cx="242056" cy="266890"/>
                    <a:chOff x="3682440" y="4410770"/>
                    <a:chExt cx="461389" cy="317259"/>
                  </a:xfrm>
                  <a:solidFill>
                    <a:schemeClr val="accent6">
                      <a:lumMod val="50000"/>
                    </a:schemeClr>
                  </a:solidFill>
                </p:grpSpPr>
                <p:sp>
                  <p:nvSpPr>
                    <p:cNvPr id="2097202" name="上弧形箭头 2097188">
                      <a:extLst>
                        <a:ext uri="{FF2B5EF4-FFF2-40B4-BE49-F238E27FC236}">
                          <a16:creationId xmlns:a16="http://schemas.microsoft.com/office/drawing/2014/main" id="{D702137D-9CFA-64F1-E030-139FBCC07371}"/>
                        </a:ext>
                      </a:extLst>
                    </p:cNvPr>
                    <p:cNvSpPr/>
                    <p:nvPr/>
                  </p:nvSpPr>
                  <p:spPr>
                    <a:xfrm>
                      <a:off x="3701143" y="4597400"/>
                      <a:ext cx="442686" cy="130629"/>
                    </a:xfrm>
                    <a:prstGeom prst="curvedUpArrow">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097203" name="上弧形箭头 2097189">
                      <a:extLst>
                        <a:ext uri="{FF2B5EF4-FFF2-40B4-BE49-F238E27FC236}">
                          <a16:creationId xmlns:a16="http://schemas.microsoft.com/office/drawing/2014/main" id="{3EBDCC2B-F605-D04D-D5EF-DF43DD8D1159}"/>
                        </a:ext>
                      </a:extLst>
                    </p:cNvPr>
                    <p:cNvSpPr/>
                    <p:nvPr/>
                  </p:nvSpPr>
                  <p:spPr>
                    <a:xfrm rot="10800000">
                      <a:off x="3682440" y="4410770"/>
                      <a:ext cx="442686" cy="130629"/>
                    </a:xfrm>
                    <a:prstGeom prst="curvedUpArrow">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grpSp>
              <p:sp>
                <p:nvSpPr>
                  <p:cNvPr id="2097193" name="矩形 2097192">
                    <a:extLst>
                      <a:ext uri="{FF2B5EF4-FFF2-40B4-BE49-F238E27FC236}">
                        <a16:creationId xmlns:a16="http://schemas.microsoft.com/office/drawing/2014/main" id="{EFF42A5C-721D-ED4A-FC70-A4F53F75BD43}"/>
                      </a:ext>
                    </a:extLst>
                  </p:cNvPr>
                  <p:cNvSpPr/>
                  <p:nvPr/>
                </p:nvSpPr>
                <p:spPr>
                  <a:xfrm>
                    <a:off x="8211657" y="4260822"/>
                    <a:ext cx="129879" cy="506099"/>
                  </a:xfrm>
                  <a:prstGeom prst="rect">
                    <a:avLst/>
                  </a:prstGeom>
                  <a:gradFill>
                    <a:gsLst>
                      <a:gs pos="50000">
                        <a:srgbClr val="FFFFFF"/>
                      </a:gs>
                      <a:gs pos="18000">
                        <a:srgbClr val="FFFFFF">
                          <a:alpha val="53998"/>
                        </a:srgbClr>
                      </a:gs>
                      <a:gs pos="82000">
                        <a:srgbClr val="FFFFFF">
                          <a:alpha val="54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097194" name="文本框 2097193">
                    <a:extLst>
                      <a:ext uri="{FF2B5EF4-FFF2-40B4-BE49-F238E27FC236}">
                        <a16:creationId xmlns:a16="http://schemas.microsoft.com/office/drawing/2014/main" id="{937910F1-B513-70D6-3E1D-3016AB99CDD0}"/>
                      </a:ext>
                    </a:extLst>
                  </p:cNvPr>
                  <p:cNvSpPr txBox="1"/>
                  <p:nvPr/>
                </p:nvSpPr>
                <p:spPr>
                  <a:xfrm>
                    <a:off x="8214654" y="4313816"/>
                    <a:ext cx="123884" cy="400110"/>
                  </a:xfrm>
                  <a:prstGeom prst="rect">
                    <a:avLst/>
                  </a:prstGeom>
                  <a:noFill/>
                </p:spPr>
                <p:txBody>
                  <a:bodyPr wrap="square" rtlCol="0">
                    <a:spAutoFit/>
                  </a:bodyPr>
                  <a:lstStyle/>
                  <a:p>
                    <a:pPr algn="ctr"/>
                    <a:r>
                      <a:rPr kumimoji="1" lang="zh-CN" altLang="en-US" sz="500" dirty="0">
                        <a:solidFill>
                          <a:schemeClr val="accent6">
                            <a:lumMod val="50000"/>
                          </a:schemeClr>
                        </a:solidFill>
                      </a:rPr>
                      <a:t>信息</a:t>
                    </a:r>
                    <a:endParaRPr kumimoji="1" lang="en-US" altLang="zh-CN" sz="500" dirty="0">
                      <a:solidFill>
                        <a:schemeClr val="accent6">
                          <a:lumMod val="50000"/>
                        </a:schemeClr>
                      </a:solidFill>
                    </a:endParaRPr>
                  </a:p>
                  <a:p>
                    <a:pPr algn="ctr"/>
                    <a:r>
                      <a:rPr kumimoji="1" lang="zh-CN" altLang="en-US" sz="500" dirty="0">
                        <a:solidFill>
                          <a:schemeClr val="accent6">
                            <a:lumMod val="50000"/>
                          </a:schemeClr>
                        </a:solidFill>
                      </a:rPr>
                      <a:t>共享</a:t>
                    </a:r>
                  </a:p>
                </p:txBody>
              </p:sp>
              <p:sp>
                <p:nvSpPr>
                  <p:cNvPr id="2097195" name="六边形 2097194">
                    <a:extLst>
                      <a:ext uri="{FF2B5EF4-FFF2-40B4-BE49-F238E27FC236}">
                        <a16:creationId xmlns:a16="http://schemas.microsoft.com/office/drawing/2014/main" id="{9F755B05-B511-4DBC-808F-03D3D5E60EA3}"/>
                      </a:ext>
                    </a:extLst>
                  </p:cNvPr>
                  <p:cNvSpPr/>
                  <p:nvPr/>
                </p:nvSpPr>
                <p:spPr>
                  <a:xfrm>
                    <a:off x="8403039" y="4378527"/>
                    <a:ext cx="706488" cy="225214"/>
                  </a:xfrm>
                  <a:prstGeom prst="hexagon">
                    <a:avLst/>
                  </a:prstGeom>
                  <a:solidFill>
                    <a:srgbClr val="FFFFFF"/>
                  </a:solidFill>
                  <a:ln w="1270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0" dirty="0">
                        <a:solidFill>
                          <a:schemeClr val="tx2">
                            <a:lumMod val="60000"/>
                            <a:lumOff val="40000"/>
                          </a:schemeClr>
                        </a:solidFill>
                      </a:rPr>
                      <a:t>上层决策</a:t>
                    </a:r>
                  </a:p>
                </p:txBody>
              </p:sp>
              <p:sp>
                <p:nvSpPr>
                  <p:cNvPr id="2097196" name="六边形 2097195">
                    <a:extLst>
                      <a:ext uri="{FF2B5EF4-FFF2-40B4-BE49-F238E27FC236}">
                        <a16:creationId xmlns:a16="http://schemas.microsoft.com/office/drawing/2014/main" id="{6C70C63F-F8F4-1DFF-0C86-27AE68983939}"/>
                      </a:ext>
                    </a:extLst>
                  </p:cNvPr>
                  <p:cNvSpPr/>
                  <p:nvPr/>
                </p:nvSpPr>
                <p:spPr>
                  <a:xfrm>
                    <a:off x="8403040" y="4734412"/>
                    <a:ext cx="706487" cy="225214"/>
                  </a:xfrm>
                  <a:prstGeom prst="hexagon">
                    <a:avLst/>
                  </a:prstGeom>
                  <a:solidFill>
                    <a:srgbClr val="FFFFFF"/>
                  </a:solidFill>
                  <a:ln w="127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0" dirty="0">
                        <a:solidFill>
                          <a:schemeClr val="accent3">
                            <a:lumMod val="50000"/>
                          </a:schemeClr>
                        </a:solidFill>
                      </a:rPr>
                      <a:t>下层决策</a:t>
                    </a:r>
                  </a:p>
                </p:txBody>
              </p:sp>
              <p:sp>
                <p:nvSpPr>
                  <p:cNvPr id="2097197" name="圆角矩形 2097156">
                    <a:extLst>
                      <a:ext uri="{FF2B5EF4-FFF2-40B4-BE49-F238E27FC236}">
                        <a16:creationId xmlns:a16="http://schemas.microsoft.com/office/drawing/2014/main" id="{89BAE6C7-989F-E542-6C3F-F4832EA8722E}"/>
                      </a:ext>
                    </a:extLst>
                  </p:cNvPr>
                  <p:cNvSpPr/>
                  <p:nvPr/>
                </p:nvSpPr>
                <p:spPr>
                  <a:xfrm>
                    <a:off x="9264074" y="4639782"/>
                    <a:ext cx="575210" cy="190800"/>
                  </a:xfrm>
                  <a:prstGeom prst="roundRect">
                    <a:avLst/>
                  </a:prstGeom>
                  <a:solidFill>
                    <a:srgbClr val="FFFFFF"/>
                  </a:solidFill>
                  <a:ln w="127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600" dirty="0">
                        <a:solidFill>
                          <a:schemeClr val="accent3">
                            <a:lumMod val="50000"/>
                          </a:schemeClr>
                        </a:solidFill>
                      </a:rPr>
                      <a:t>工人派工智能体</a:t>
                    </a:r>
                  </a:p>
                </p:txBody>
              </p:sp>
              <p:sp>
                <p:nvSpPr>
                  <p:cNvPr id="2097198" name="圆角矩形 2097157">
                    <a:extLst>
                      <a:ext uri="{FF2B5EF4-FFF2-40B4-BE49-F238E27FC236}">
                        <a16:creationId xmlns:a16="http://schemas.microsoft.com/office/drawing/2014/main" id="{FB85EB39-3A76-2D5D-88AA-CFB5B896CF85}"/>
                      </a:ext>
                    </a:extLst>
                  </p:cNvPr>
                  <p:cNvSpPr/>
                  <p:nvPr/>
                </p:nvSpPr>
                <p:spPr>
                  <a:xfrm>
                    <a:off x="9241107" y="4395734"/>
                    <a:ext cx="576000" cy="190800"/>
                  </a:xfrm>
                  <a:prstGeom prst="roundRect">
                    <a:avLst/>
                  </a:prstGeom>
                  <a:solidFill>
                    <a:srgbClr val="FFFFFF"/>
                  </a:solidFill>
                  <a:ln w="1270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600" dirty="0">
                        <a:solidFill>
                          <a:schemeClr val="tx2">
                            <a:lumMod val="60000"/>
                            <a:lumOff val="40000"/>
                          </a:schemeClr>
                        </a:solidFill>
                      </a:rPr>
                      <a:t>多元资源</a:t>
                    </a:r>
                    <a:endParaRPr lang="en-US" altLang="zh-CN" sz="600" dirty="0">
                      <a:solidFill>
                        <a:schemeClr val="tx2">
                          <a:lumMod val="60000"/>
                          <a:lumOff val="40000"/>
                        </a:schemeClr>
                      </a:solidFill>
                    </a:endParaRPr>
                  </a:p>
                  <a:p>
                    <a:pPr algn="ctr"/>
                    <a:r>
                      <a:rPr lang="zh-CN" altLang="en-US" sz="600" dirty="0">
                        <a:solidFill>
                          <a:schemeClr val="tx2">
                            <a:lumMod val="60000"/>
                            <a:lumOff val="40000"/>
                          </a:schemeClr>
                        </a:solidFill>
                      </a:rPr>
                      <a:t>管理智能体</a:t>
                    </a:r>
                  </a:p>
                </p:txBody>
              </p:sp>
              <p:sp>
                <p:nvSpPr>
                  <p:cNvPr id="2097199" name="圆角矩形 2097207">
                    <a:extLst>
                      <a:ext uri="{FF2B5EF4-FFF2-40B4-BE49-F238E27FC236}">
                        <a16:creationId xmlns:a16="http://schemas.microsoft.com/office/drawing/2014/main" id="{997C59A0-BAAC-1A9A-0C07-E69923E21092}"/>
                      </a:ext>
                    </a:extLst>
                  </p:cNvPr>
                  <p:cNvSpPr/>
                  <p:nvPr/>
                </p:nvSpPr>
                <p:spPr>
                  <a:xfrm>
                    <a:off x="9264074" y="4863456"/>
                    <a:ext cx="575210" cy="190800"/>
                  </a:xfrm>
                  <a:prstGeom prst="roundRect">
                    <a:avLst/>
                  </a:prstGeom>
                  <a:solidFill>
                    <a:srgbClr val="FFFFFF"/>
                  </a:solidFill>
                  <a:ln w="127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600" dirty="0">
                        <a:solidFill>
                          <a:schemeClr val="accent3">
                            <a:lumMod val="50000"/>
                          </a:schemeClr>
                        </a:solidFill>
                      </a:rPr>
                      <a:t>工序排序智能体</a:t>
                    </a:r>
                  </a:p>
                </p:txBody>
              </p:sp>
              <p:cxnSp>
                <p:nvCxnSpPr>
                  <p:cNvPr id="2097200" name="直线连接符 2097211">
                    <a:extLst>
                      <a:ext uri="{FF2B5EF4-FFF2-40B4-BE49-F238E27FC236}">
                        <a16:creationId xmlns:a16="http://schemas.microsoft.com/office/drawing/2014/main" id="{1358A78D-C798-3744-88DC-40ECC8D98F33}"/>
                      </a:ext>
                    </a:extLst>
                  </p:cNvPr>
                  <p:cNvCxnSpPr>
                    <a:cxnSpLocks/>
                    <a:stCxn id="2097195" idx="0"/>
                    <a:endCxn id="2097198" idx="1"/>
                  </p:cNvCxnSpPr>
                  <p:nvPr/>
                </p:nvCxnSpPr>
                <p:spPr>
                  <a:xfrm>
                    <a:off x="9109527" y="4491134"/>
                    <a:ext cx="131580"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097201" name="左大括号 2097200">
                    <a:extLst>
                      <a:ext uri="{FF2B5EF4-FFF2-40B4-BE49-F238E27FC236}">
                        <a16:creationId xmlns:a16="http://schemas.microsoft.com/office/drawing/2014/main" id="{C175FDEA-EE7D-951C-4A0F-9976FF595ED0}"/>
                      </a:ext>
                    </a:extLst>
                  </p:cNvPr>
                  <p:cNvSpPr/>
                  <p:nvPr/>
                </p:nvSpPr>
                <p:spPr>
                  <a:xfrm>
                    <a:off x="9114158" y="4703302"/>
                    <a:ext cx="149914" cy="284170"/>
                  </a:xfrm>
                  <a:prstGeom prst="leftBrace">
                    <a:avLst>
                      <a:gd name="adj1" fmla="val 29512"/>
                      <a:gd name="adj2" fmla="val 50000"/>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grpSp>
          </p:grpSp>
        </p:grpSp>
        <p:sp>
          <p:nvSpPr>
            <p:cNvPr id="2097169" name="箭头: 下 12">
              <a:extLst>
                <a:ext uri="{FF2B5EF4-FFF2-40B4-BE49-F238E27FC236}">
                  <a16:creationId xmlns:a16="http://schemas.microsoft.com/office/drawing/2014/main" id="{98F35107-EBE8-6D91-77FC-38B9CA6A1681}"/>
                </a:ext>
              </a:extLst>
            </p:cNvPr>
            <p:cNvSpPr/>
            <p:nvPr/>
          </p:nvSpPr>
          <p:spPr>
            <a:xfrm>
              <a:off x="1614408" y="2045753"/>
              <a:ext cx="294962" cy="274534"/>
            </a:xfrm>
            <a:prstGeom prst="downArrow">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黑体" panose="02010609060101010101" pitchFamily="49" charset="-122"/>
                <a:ea typeface="黑体" panose="02010609060101010101" pitchFamily="49" charset="-122"/>
              </a:endParaRPr>
            </a:p>
          </p:txBody>
        </p:sp>
        <p:sp>
          <p:nvSpPr>
            <p:cNvPr id="2097170" name="箭头: 下 12">
              <a:extLst>
                <a:ext uri="{FF2B5EF4-FFF2-40B4-BE49-F238E27FC236}">
                  <a16:creationId xmlns:a16="http://schemas.microsoft.com/office/drawing/2014/main" id="{5E8AF435-2438-C92F-4BD5-9878AFDDA9CE}"/>
                </a:ext>
              </a:extLst>
            </p:cNvPr>
            <p:cNvSpPr/>
            <p:nvPr/>
          </p:nvSpPr>
          <p:spPr>
            <a:xfrm>
              <a:off x="5016346" y="2051405"/>
              <a:ext cx="294962" cy="274534"/>
            </a:xfrm>
            <a:prstGeom prst="downArrow">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黑体" panose="02010609060101010101" pitchFamily="49" charset="-122"/>
                <a:ea typeface="黑体" panose="02010609060101010101" pitchFamily="49" charset="-122"/>
              </a:endParaRPr>
            </a:p>
          </p:txBody>
        </p:sp>
        <p:sp>
          <p:nvSpPr>
            <p:cNvPr id="2097171" name="箭头: 下 12">
              <a:extLst>
                <a:ext uri="{FF2B5EF4-FFF2-40B4-BE49-F238E27FC236}">
                  <a16:creationId xmlns:a16="http://schemas.microsoft.com/office/drawing/2014/main" id="{AEDE7C31-346E-127C-9C02-2FED24735FEA}"/>
                </a:ext>
              </a:extLst>
            </p:cNvPr>
            <p:cNvSpPr/>
            <p:nvPr/>
          </p:nvSpPr>
          <p:spPr>
            <a:xfrm rot="16200000">
              <a:off x="3258468" y="3502743"/>
              <a:ext cx="294962" cy="298186"/>
            </a:xfrm>
            <a:prstGeom prst="downArrow">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黑体" panose="02010609060101010101" pitchFamily="49" charset="-122"/>
                <a:ea typeface="黑体" panose="02010609060101010101" pitchFamily="49" charset="-122"/>
              </a:endParaRPr>
            </a:p>
          </p:txBody>
        </p:sp>
      </p:grpSp>
    </p:spTree>
    <p:extLst>
      <p:ext uri="{BB962C8B-B14F-4D97-AF65-F5344CB8AC3E}">
        <p14:creationId xmlns:p14="http://schemas.microsoft.com/office/powerpoint/2010/main" val="3670176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4FA3D-C228-890C-1692-927CBE2BC304}"/>
            </a:ext>
          </a:extLst>
        </p:cNvPr>
        <p:cNvGrpSpPr/>
        <p:nvPr/>
      </p:nvGrpSpPr>
      <p:grpSpPr>
        <a:xfrm>
          <a:off x="0" y="0"/>
          <a:ext cx="0" cy="0"/>
          <a:chOff x="0" y="0"/>
          <a:chExt cx="0" cy="0"/>
        </a:xfrm>
      </p:grpSpPr>
      <p:sp>
        <p:nvSpPr>
          <p:cNvPr id="1048735" name="稻壳儿小白白(http://dwz.cn/Wu2UP)">
            <a:extLst>
              <a:ext uri="{FF2B5EF4-FFF2-40B4-BE49-F238E27FC236}">
                <a16:creationId xmlns:a16="http://schemas.microsoft.com/office/drawing/2014/main" id="{0E929A77-8542-23CF-4804-EEB6510466F5}"/>
              </a:ext>
            </a:extLst>
          </p:cNvPr>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69" name="图片 17">
            <a:extLst>
              <a:ext uri="{FF2B5EF4-FFF2-40B4-BE49-F238E27FC236}">
                <a16:creationId xmlns:a16="http://schemas.microsoft.com/office/drawing/2014/main" id="{0732ACE1-B833-9FED-7AB1-EAA9A045B561}"/>
              </a:ext>
            </a:extLst>
          </p:cNvPr>
          <p:cNvPicPr>
            <a:picLocks noChangeAspect="1"/>
          </p:cNvPicPr>
          <p:nvPr/>
        </p:nvPicPr>
        <p:blipFill rotWithShape="1">
          <a:blip r:embed="rId6" cstate="print"/>
          <a:srcRect r="855"/>
          <a:stretch>
            <a:fillRect/>
          </a:stretch>
        </p:blipFill>
        <p:spPr>
          <a:xfrm>
            <a:off x="10301625" y="20910"/>
            <a:ext cx="1809525" cy="526143"/>
          </a:xfrm>
          <a:prstGeom prst="rect">
            <a:avLst/>
          </a:prstGeom>
        </p:spPr>
      </p:pic>
      <p:sp>
        <p:nvSpPr>
          <p:cNvPr id="1048736" name="标题 1">
            <a:extLst>
              <a:ext uri="{FF2B5EF4-FFF2-40B4-BE49-F238E27FC236}">
                <a16:creationId xmlns:a16="http://schemas.microsoft.com/office/drawing/2014/main" id="{EF8455B5-D66F-37A9-69FC-3DAC37CD7942}"/>
              </a:ext>
            </a:extLst>
          </p:cNvPr>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4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技术路线</a:t>
            </a:r>
          </a:p>
        </p:txBody>
      </p:sp>
      <p:sp>
        <p:nvSpPr>
          <p:cNvPr id="1048737" name="文本框 2">
            <a:extLst>
              <a:ext uri="{FF2B5EF4-FFF2-40B4-BE49-F238E27FC236}">
                <a16:creationId xmlns:a16="http://schemas.microsoft.com/office/drawing/2014/main" id="{3CCD81E5-F377-CE94-7CBF-DFF8998DB9E9}"/>
              </a:ext>
            </a:extLst>
          </p:cNvPr>
          <p:cNvSpPr txBox="1"/>
          <p:nvPr/>
        </p:nvSpPr>
        <p:spPr>
          <a:xfrm>
            <a:off x="461730" y="751530"/>
            <a:ext cx="6442789" cy="400110"/>
          </a:xfrm>
          <a:prstGeom prst="rect">
            <a:avLst/>
          </a:prstGeom>
          <a:noFill/>
        </p:spPr>
        <p:txBody>
          <a:bodyPr wrap="none" rtlCol="0">
            <a:spAutoFit/>
          </a:bodyPr>
          <a:lstStyle/>
          <a:p>
            <a:pPr marL="285750" indent="-285750">
              <a:buFont typeface="Wingdings" panose="05000000000000000000" pitchFamily="2" charset="2"/>
              <a:buChar char="p"/>
            </a:pPr>
            <a:r>
              <a:rPr lang="en-US" altLang="zh-CN" sz="2000" kern="100" dirty="0">
                <a:effectLst/>
                <a:latin typeface="微软雅黑" panose="020B0503020204020204" charset="-122"/>
                <a:ea typeface="微软雅黑" panose="020B0503020204020204" charset="-122"/>
                <a:cs typeface="Times New Roman" panose="02020603050405020304" pitchFamily="18" charset="0"/>
              </a:rPr>
              <a:t>1</a:t>
            </a:r>
            <a:r>
              <a:rPr lang="zh-CN" altLang="en-US" sz="2000" kern="100" dirty="0">
                <a:effectLst/>
                <a:latin typeface="微软雅黑" panose="020B0503020204020204" charset="-122"/>
                <a:ea typeface="微软雅黑" panose="020B0503020204020204" charset="-122"/>
                <a:cs typeface="Times New Roman" panose="02020603050405020304" pitchFamily="18" charset="0"/>
              </a:rPr>
              <a:t> </a:t>
            </a:r>
            <a:r>
              <a:rPr lang="zh-CN" altLang="en-US" sz="2000" kern="100" dirty="0">
                <a:latin typeface="微软雅黑" panose="020B0503020204020204" charset="-122"/>
                <a:ea typeface="微软雅黑" panose="020B0503020204020204" charset="-122"/>
                <a:cs typeface="Times New Roman" panose="02020603050405020304" pitchFamily="18" charset="0"/>
              </a:rPr>
              <a:t>随机返工下的飞机脉动装配线动态调度</a:t>
            </a:r>
            <a:r>
              <a:rPr lang="en-US" altLang="zh-CN" sz="1600" kern="100" dirty="0">
                <a:effectLst/>
                <a:latin typeface="微软雅黑" panose="020B0503020204020204" charset="-122"/>
                <a:ea typeface="微软雅黑" panose="020B0503020204020204" charset="-122"/>
                <a:cs typeface="Times New Roman" panose="02020603050405020304" pitchFamily="18" charset="0"/>
              </a:rPr>
              <a:t>——</a:t>
            </a:r>
            <a:r>
              <a:rPr kumimoji="1" lang="zh-CN" altLang="en-US" sz="1600" dirty="0">
                <a:latin typeface="微软雅黑" panose="020B0503020204020204" charset="-122"/>
                <a:ea typeface="微软雅黑" panose="020B0503020204020204" charset="-122"/>
              </a:rPr>
              <a:t>研究内容</a:t>
            </a:r>
            <a:r>
              <a:rPr kumimoji="1" lang="en-US" altLang="zh-CN" sz="1600" dirty="0">
                <a:latin typeface="微软雅黑" panose="020B0503020204020204" charset="-122"/>
                <a:ea typeface="微软雅黑" panose="020B0503020204020204" charset="-122"/>
              </a:rPr>
              <a:t>1</a:t>
            </a:r>
            <a:endParaRPr kumimoji="1" lang="zh-CN" altLang="en-US" sz="1600" dirty="0">
              <a:latin typeface="微软雅黑" panose="020B0503020204020204" charset="-122"/>
              <a:ea typeface="微软雅黑" panose="020B0503020204020204" charset="-122"/>
            </a:endParaRPr>
          </a:p>
        </p:txBody>
      </p:sp>
      <p:sp>
        <p:nvSpPr>
          <p:cNvPr id="3" name="矩形 2">
            <a:extLst>
              <a:ext uri="{FF2B5EF4-FFF2-40B4-BE49-F238E27FC236}">
                <a16:creationId xmlns:a16="http://schemas.microsoft.com/office/drawing/2014/main" id="{17037208-5B19-30F7-DB73-6687570A8950}"/>
              </a:ext>
            </a:extLst>
          </p:cNvPr>
          <p:cNvSpPr/>
          <p:nvPr/>
        </p:nvSpPr>
        <p:spPr>
          <a:xfrm>
            <a:off x="1341785" y="1372829"/>
            <a:ext cx="3939752" cy="84568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形 4" descr="列表 纯色填充">
            <a:extLst>
              <a:ext uri="{FF2B5EF4-FFF2-40B4-BE49-F238E27FC236}">
                <a16:creationId xmlns:a16="http://schemas.microsoft.com/office/drawing/2014/main" id="{056BE74C-9224-111E-3268-9BA4E6B31C7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13956" y="1474483"/>
            <a:ext cx="501032" cy="650934"/>
          </a:xfrm>
          <a:prstGeom prst="rect">
            <a:avLst/>
          </a:prstGeom>
        </p:spPr>
      </p:pic>
      <p:sp>
        <p:nvSpPr>
          <p:cNvPr id="6" name="文本框 5">
            <a:extLst>
              <a:ext uri="{FF2B5EF4-FFF2-40B4-BE49-F238E27FC236}">
                <a16:creationId xmlns:a16="http://schemas.microsoft.com/office/drawing/2014/main" id="{B595F7CF-DA78-A89A-237E-CEB6E50486E3}"/>
              </a:ext>
            </a:extLst>
          </p:cNvPr>
          <p:cNvSpPr txBox="1"/>
          <p:nvPr/>
        </p:nvSpPr>
        <p:spPr>
          <a:xfrm>
            <a:off x="4070871" y="1605212"/>
            <a:ext cx="1154285" cy="461665"/>
          </a:xfrm>
          <a:prstGeom prst="rect">
            <a:avLst/>
          </a:prstGeom>
          <a:noFill/>
        </p:spPr>
        <p:txBody>
          <a:bodyPr wrap="square" rtlCol="0">
            <a:spAutoFit/>
          </a:bodyPr>
          <a:lstStyle/>
          <a:p>
            <a:r>
              <a:rPr lang="zh-CN" altLang="en-US" sz="1200" dirty="0">
                <a:latin typeface="黑体" panose="02010609060101010101" pitchFamily="49" charset="-122"/>
                <a:ea typeface="黑体" panose="02010609060101010101" pitchFamily="49" charset="-122"/>
              </a:rPr>
              <a:t>装配工序信息、站位信息</a:t>
            </a:r>
          </a:p>
        </p:txBody>
      </p:sp>
      <p:sp>
        <p:nvSpPr>
          <p:cNvPr id="16" name="矩形 15">
            <a:extLst>
              <a:ext uri="{FF2B5EF4-FFF2-40B4-BE49-F238E27FC236}">
                <a16:creationId xmlns:a16="http://schemas.microsoft.com/office/drawing/2014/main" id="{18900AAF-9ED8-521E-1265-323ADF23CBA8}"/>
              </a:ext>
            </a:extLst>
          </p:cNvPr>
          <p:cNvSpPr/>
          <p:nvPr/>
        </p:nvSpPr>
        <p:spPr>
          <a:xfrm>
            <a:off x="1327914" y="2526359"/>
            <a:ext cx="3939752" cy="417098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7D092EAB-436F-4F17-79FF-221BDF43776B}"/>
              </a:ext>
            </a:extLst>
          </p:cNvPr>
          <p:cNvSpPr txBox="1"/>
          <p:nvPr/>
        </p:nvSpPr>
        <p:spPr>
          <a:xfrm>
            <a:off x="1327914" y="6373969"/>
            <a:ext cx="2135605" cy="369332"/>
          </a:xfrm>
          <a:prstGeom prst="rect">
            <a:avLst/>
          </a:prstGeom>
          <a:noFill/>
        </p:spPr>
        <p:txBody>
          <a:bodyPr wrap="square" rtlCol="0">
            <a:spAutoFit/>
          </a:bodyPr>
          <a:lstStyle/>
          <a:p>
            <a:r>
              <a:rPr lang="zh-CN" altLang="en-US" dirty="0"/>
              <a:t>站位</a:t>
            </a:r>
            <a:r>
              <a:rPr lang="en-US" altLang="zh-CN" dirty="0"/>
              <a:t>z</a:t>
            </a:r>
            <a:r>
              <a:rPr lang="zh-CN" altLang="en-US" dirty="0"/>
              <a:t>（</a:t>
            </a:r>
            <a:r>
              <a:rPr lang="en-US" altLang="zh-CN" dirty="0"/>
              <a:t>z=1,2,…,Z</a:t>
            </a:r>
            <a:r>
              <a:rPr lang="zh-CN" altLang="en-US" dirty="0"/>
              <a:t>）</a:t>
            </a:r>
          </a:p>
        </p:txBody>
      </p:sp>
      <p:sp>
        <p:nvSpPr>
          <p:cNvPr id="18" name="文本框 17">
            <a:extLst>
              <a:ext uri="{FF2B5EF4-FFF2-40B4-BE49-F238E27FC236}">
                <a16:creationId xmlns:a16="http://schemas.microsoft.com/office/drawing/2014/main" id="{EA03FE7B-22CD-5C37-4BD8-0BA9CFF2773F}"/>
              </a:ext>
            </a:extLst>
          </p:cNvPr>
          <p:cNvSpPr txBox="1"/>
          <p:nvPr/>
        </p:nvSpPr>
        <p:spPr>
          <a:xfrm>
            <a:off x="1376417" y="5398893"/>
            <a:ext cx="1287665" cy="276999"/>
          </a:xfrm>
          <a:prstGeom prst="rect">
            <a:avLst/>
          </a:prstGeom>
          <a:noFill/>
        </p:spPr>
        <p:txBody>
          <a:bodyPr wrap="square" rtlCol="0">
            <a:spAutoFit/>
          </a:bodyPr>
          <a:lstStyle/>
          <a:p>
            <a:r>
              <a:rPr lang="zh-CN" altLang="en-US" sz="1200" dirty="0"/>
              <a:t>工人派工智能体</a:t>
            </a:r>
          </a:p>
        </p:txBody>
      </p:sp>
      <p:sp>
        <p:nvSpPr>
          <p:cNvPr id="23" name="矩形 22">
            <a:extLst>
              <a:ext uri="{FF2B5EF4-FFF2-40B4-BE49-F238E27FC236}">
                <a16:creationId xmlns:a16="http://schemas.microsoft.com/office/drawing/2014/main" id="{069211AF-90DD-3949-D720-1698E1C0B8AD}"/>
              </a:ext>
            </a:extLst>
          </p:cNvPr>
          <p:cNvSpPr/>
          <p:nvPr/>
        </p:nvSpPr>
        <p:spPr>
          <a:xfrm>
            <a:off x="1451169" y="3597449"/>
            <a:ext cx="1695859" cy="206558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 name="直接箭头连接符 27">
            <a:extLst>
              <a:ext uri="{FF2B5EF4-FFF2-40B4-BE49-F238E27FC236}">
                <a16:creationId xmlns:a16="http://schemas.microsoft.com/office/drawing/2014/main" id="{DEE43A98-D334-8EAB-B0EA-FD4966EB9D3A}"/>
              </a:ext>
            </a:extLst>
          </p:cNvPr>
          <p:cNvCxnSpPr>
            <a:cxnSpLocks/>
          </p:cNvCxnSpPr>
          <p:nvPr/>
        </p:nvCxnSpPr>
        <p:spPr>
          <a:xfrm flipV="1">
            <a:off x="2298579" y="2192321"/>
            <a:ext cx="0" cy="6191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EE13AECB-37FC-1AB8-D539-03B87AF2EC54}"/>
              </a:ext>
            </a:extLst>
          </p:cNvPr>
          <p:cNvSpPr txBox="1"/>
          <p:nvPr/>
        </p:nvSpPr>
        <p:spPr>
          <a:xfrm>
            <a:off x="4482354" y="2281129"/>
            <a:ext cx="865533" cy="276999"/>
          </a:xfrm>
          <a:prstGeom prst="rect">
            <a:avLst/>
          </a:prstGeom>
          <a:noFill/>
        </p:spPr>
        <p:txBody>
          <a:bodyPr wrap="square" rtlCol="0">
            <a:spAutoFit/>
          </a:bodyPr>
          <a:lstStyle/>
          <a:p>
            <a:r>
              <a:rPr lang="zh-CN" altLang="en-US" sz="1200" dirty="0"/>
              <a:t>状态数据</a:t>
            </a:r>
          </a:p>
        </p:txBody>
      </p:sp>
      <p:sp>
        <p:nvSpPr>
          <p:cNvPr id="31" name="文本框 30">
            <a:extLst>
              <a:ext uri="{FF2B5EF4-FFF2-40B4-BE49-F238E27FC236}">
                <a16:creationId xmlns:a16="http://schemas.microsoft.com/office/drawing/2014/main" id="{1530A7D8-13A5-4357-2F41-8C3088D40031}"/>
              </a:ext>
            </a:extLst>
          </p:cNvPr>
          <p:cNvSpPr txBox="1"/>
          <p:nvPr/>
        </p:nvSpPr>
        <p:spPr>
          <a:xfrm>
            <a:off x="1564797" y="3764663"/>
            <a:ext cx="1468600" cy="338554"/>
          </a:xfrm>
          <a:prstGeom prst="rect">
            <a:avLst/>
          </a:prstGeom>
          <a:noFill/>
          <a:ln>
            <a:solidFill>
              <a:schemeClr val="tx1"/>
            </a:solidFill>
          </a:ln>
        </p:spPr>
        <p:txBody>
          <a:bodyPr wrap="square" rtlCol="0">
            <a:spAutoFit/>
          </a:bodyPr>
          <a:lstStyle/>
          <a:p>
            <a:pPr algn="ctr"/>
            <a:r>
              <a:rPr lang="zh-CN" altLang="en-US" sz="1600" dirty="0"/>
              <a:t>工人派工</a:t>
            </a:r>
          </a:p>
        </p:txBody>
      </p:sp>
      <p:sp>
        <p:nvSpPr>
          <p:cNvPr id="32" name="文本框 31">
            <a:extLst>
              <a:ext uri="{FF2B5EF4-FFF2-40B4-BE49-F238E27FC236}">
                <a16:creationId xmlns:a16="http://schemas.microsoft.com/office/drawing/2014/main" id="{1A358F3D-30E3-8C22-D22F-304472F3BC0A}"/>
              </a:ext>
            </a:extLst>
          </p:cNvPr>
          <p:cNvSpPr txBox="1"/>
          <p:nvPr/>
        </p:nvSpPr>
        <p:spPr>
          <a:xfrm>
            <a:off x="3990353" y="5377626"/>
            <a:ext cx="1257872" cy="276999"/>
          </a:xfrm>
          <a:prstGeom prst="rect">
            <a:avLst/>
          </a:prstGeom>
          <a:noFill/>
        </p:spPr>
        <p:txBody>
          <a:bodyPr wrap="square" rtlCol="0">
            <a:spAutoFit/>
          </a:bodyPr>
          <a:lstStyle/>
          <a:p>
            <a:r>
              <a:rPr lang="zh-CN" altLang="en-US" sz="1200" dirty="0"/>
              <a:t>工序排序智能体</a:t>
            </a:r>
          </a:p>
        </p:txBody>
      </p:sp>
      <p:sp>
        <p:nvSpPr>
          <p:cNvPr id="33" name="矩形 32">
            <a:extLst>
              <a:ext uri="{FF2B5EF4-FFF2-40B4-BE49-F238E27FC236}">
                <a16:creationId xmlns:a16="http://schemas.microsoft.com/office/drawing/2014/main" id="{23D45397-2EF5-1672-B913-EB6A8B042FBC}"/>
              </a:ext>
            </a:extLst>
          </p:cNvPr>
          <p:cNvSpPr/>
          <p:nvPr/>
        </p:nvSpPr>
        <p:spPr>
          <a:xfrm>
            <a:off x="3463519" y="3597450"/>
            <a:ext cx="1695859" cy="206558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7D360E68-5BEA-72C9-AED3-4C383F2CCCE1}"/>
              </a:ext>
            </a:extLst>
          </p:cNvPr>
          <p:cNvSpPr txBox="1"/>
          <p:nvPr/>
        </p:nvSpPr>
        <p:spPr>
          <a:xfrm>
            <a:off x="3606606" y="2281172"/>
            <a:ext cx="865533" cy="276999"/>
          </a:xfrm>
          <a:prstGeom prst="rect">
            <a:avLst/>
          </a:prstGeom>
          <a:noFill/>
        </p:spPr>
        <p:txBody>
          <a:bodyPr wrap="square" rtlCol="0">
            <a:spAutoFit/>
          </a:bodyPr>
          <a:lstStyle/>
          <a:p>
            <a:r>
              <a:rPr lang="zh-CN" altLang="en-US" sz="1200" dirty="0"/>
              <a:t>更新状态</a:t>
            </a:r>
          </a:p>
        </p:txBody>
      </p:sp>
      <p:sp>
        <p:nvSpPr>
          <p:cNvPr id="39" name="文本框 38">
            <a:extLst>
              <a:ext uri="{FF2B5EF4-FFF2-40B4-BE49-F238E27FC236}">
                <a16:creationId xmlns:a16="http://schemas.microsoft.com/office/drawing/2014/main" id="{F8C7156A-8704-A940-F8DF-38B823BC714C}"/>
              </a:ext>
            </a:extLst>
          </p:cNvPr>
          <p:cNvSpPr txBox="1"/>
          <p:nvPr/>
        </p:nvSpPr>
        <p:spPr>
          <a:xfrm>
            <a:off x="1564797" y="4388634"/>
            <a:ext cx="1468600" cy="338554"/>
          </a:xfrm>
          <a:prstGeom prst="rect">
            <a:avLst/>
          </a:prstGeom>
          <a:noFill/>
          <a:ln>
            <a:solidFill>
              <a:schemeClr val="tx1"/>
            </a:solidFill>
          </a:ln>
        </p:spPr>
        <p:txBody>
          <a:bodyPr wrap="square" rtlCol="0">
            <a:spAutoFit/>
          </a:bodyPr>
          <a:lstStyle/>
          <a:p>
            <a:pPr algn="ctr"/>
            <a:r>
              <a:rPr lang="zh-CN" altLang="en-US" sz="1600" dirty="0"/>
              <a:t>局部决策网络</a:t>
            </a:r>
          </a:p>
        </p:txBody>
      </p:sp>
      <p:cxnSp>
        <p:nvCxnSpPr>
          <p:cNvPr id="45" name="直接箭头连接符 44">
            <a:extLst>
              <a:ext uri="{FF2B5EF4-FFF2-40B4-BE49-F238E27FC236}">
                <a16:creationId xmlns:a16="http://schemas.microsoft.com/office/drawing/2014/main" id="{4D23BC96-DE0C-A087-A5AC-EDB18556EBBA}"/>
              </a:ext>
            </a:extLst>
          </p:cNvPr>
          <p:cNvCxnSpPr>
            <a:cxnSpLocks/>
          </p:cNvCxnSpPr>
          <p:nvPr/>
        </p:nvCxnSpPr>
        <p:spPr>
          <a:xfrm rot="10800000">
            <a:off x="2299097" y="4727188"/>
            <a:ext cx="0" cy="2779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6E9A74DF-FB7A-890C-11DD-85B4A9E261A9}"/>
              </a:ext>
            </a:extLst>
          </p:cNvPr>
          <p:cNvSpPr txBox="1"/>
          <p:nvPr/>
        </p:nvSpPr>
        <p:spPr>
          <a:xfrm>
            <a:off x="1564797" y="5010366"/>
            <a:ext cx="1468600" cy="338554"/>
          </a:xfrm>
          <a:prstGeom prst="rect">
            <a:avLst/>
          </a:prstGeom>
          <a:noFill/>
          <a:ln>
            <a:solidFill>
              <a:schemeClr val="tx1"/>
            </a:solidFill>
          </a:ln>
        </p:spPr>
        <p:txBody>
          <a:bodyPr wrap="square" rtlCol="0">
            <a:spAutoFit/>
          </a:bodyPr>
          <a:lstStyle/>
          <a:p>
            <a:pPr algn="ctr"/>
            <a:r>
              <a:rPr lang="zh-CN" altLang="en-US" sz="1600" dirty="0"/>
              <a:t>信息感知</a:t>
            </a:r>
          </a:p>
        </p:txBody>
      </p:sp>
      <p:sp>
        <p:nvSpPr>
          <p:cNvPr id="49" name="文本框 48">
            <a:extLst>
              <a:ext uri="{FF2B5EF4-FFF2-40B4-BE49-F238E27FC236}">
                <a16:creationId xmlns:a16="http://schemas.microsoft.com/office/drawing/2014/main" id="{BA4D5F77-20E9-CF6B-FB43-1901AD6B11A3}"/>
              </a:ext>
            </a:extLst>
          </p:cNvPr>
          <p:cNvSpPr txBox="1"/>
          <p:nvPr/>
        </p:nvSpPr>
        <p:spPr>
          <a:xfrm>
            <a:off x="3566977" y="3761529"/>
            <a:ext cx="1468600" cy="338554"/>
          </a:xfrm>
          <a:prstGeom prst="rect">
            <a:avLst/>
          </a:prstGeom>
          <a:noFill/>
          <a:ln>
            <a:solidFill>
              <a:schemeClr val="tx1"/>
            </a:solidFill>
          </a:ln>
        </p:spPr>
        <p:txBody>
          <a:bodyPr wrap="square" rtlCol="0">
            <a:spAutoFit/>
          </a:bodyPr>
          <a:lstStyle/>
          <a:p>
            <a:pPr algn="ctr"/>
            <a:r>
              <a:rPr lang="zh-CN" altLang="en-US" sz="1600" dirty="0"/>
              <a:t>工序分配</a:t>
            </a:r>
          </a:p>
        </p:txBody>
      </p:sp>
      <p:sp>
        <p:nvSpPr>
          <p:cNvPr id="51" name="文本框 50">
            <a:extLst>
              <a:ext uri="{FF2B5EF4-FFF2-40B4-BE49-F238E27FC236}">
                <a16:creationId xmlns:a16="http://schemas.microsoft.com/office/drawing/2014/main" id="{F643932D-C92C-B01B-97E9-FDE7DB9F834A}"/>
              </a:ext>
            </a:extLst>
          </p:cNvPr>
          <p:cNvSpPr txBox="1"/>
          <p:nvPr/>
        </p:nvSpPr>
        <p:spPr>
          <a:xfrm>
            <a:off x="3566977" y="4385500"/>
            <a:ext cx="1468600" cy="338554"/>
          </a:xfrm>
          <a:prstGeom prst="rect">
            <a:avLst/>
          </a:prstGeom>
          <a:noFill/>
          <a:ln>
            <a:solidFill>
              <a:schemeClr val="tx1"/>
            </a:solidFill>
          </a:ln>
        </p:spPr>
        <p:txBody>
          <a:bodyPr wrap="square" rtlCol="0">
            <a:spAutoFit/>
          </a:bodyPr>
          <a:lstStyle/>
          <a:p>
            <a:pPr algn="ctr"/>
            <a:r>
              <a:rPr lang="zh-CN" altLang="en-US" sz="1600" dirty="0"/>
              <a:t>局部决策网络</a:t>
            </a:r>
          </a:p>
        </p:txBody>
      </p:sp>
      <p:sp>
        <p:nvSpPr>
          <p:cNvPr id="53" name="文本框 52">
            <a:extLst>
              <a:ext uri="{FF2B5EF4-FFF2-40B4-BE49-F238E27FC236}">
                <a16:creationId xmlns:a16="http://schemas.microsoft.com/office/drawing/2014/main" id="{C9AC0E7D-10A9-F423-0EAA-5035B1A4CB52}"/>
              </a:ext>
            </a:extLst>
          </p:cNvPr>
          <p:cNvSpPr txBox="1"/>
          <p:nvPr/>
        </p:nvSpPr>
        <p:spPr>
          <a:xfrm>
            <a:off x="3566977" y="5007232"/>
            <a:ext cx="1468600" cy="338554"/>
          </a:xfrm>
          <a:prstGeom prst="rect">
            <a:avLst/>
          </a:prstGeom>
          <a:noFill/>
          <a:ln>
            <a:solidFill>
              <a:schemeClr val="tx1"/>
            </a:solidFill>
          </a:ln>
        </p:spPr>
        <p:txBody>
          <a:bodyPr wrap="square" rtlCol="0">
            <a:spAutoFit/>
          </a:bodyPr>
          <a:lstStyle/>
          <a:p>
            <a:pPr algn="ctr"/>
            <a:r>
              <a:rPr lang="zh-CN" altLang="en-US" sz="1600" dirty="0"/>
              <a:t>信息感知</a:t>
            </a:r>
          </a:p>
        </p:txBody>
      </p:sp>
      <p:cxnSp>
        <p:nvCxnSpPr>
          <p:cNvPr id="55" name="连接符: 肘形 54">
            <a:extLst>
              <a:ext uri="{FF2B5EF4-FFF2-40B4-BE49-F238E27FC236}">
                <a16:creationId xmlns:a16="http://schemas.microsoft.com/office/drawing/2014/main" id="{4F3DC56F-C14A-B032-3DA3-AA464093745A}"/>
              </a:ext>
            </a:extLst>
          </p:cNvPr>
          <p:cNvCxnSpPr>
            <a:cxnSpLocks/>
          </p:cNvCxnSpPr>
          <p:nvPr/>
        </p:nvCxnSpPr>
        <p:spPr>
          <a:xfrm rot="10800000" flipV="1">
            <a:off x="3035771" y="3831962"/>
            <a:ext cx="533580" cy="124883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文本框 62">
            <a:extLst>
              <a:ext uri="{FF2B5EF4-FFF2-40B4-BE49-F238E27FC236}">
                <a16:creationId xmlns:a16="http://schemas.microsoft.com/office/drawing/2014/main" id="{49070744-D84A-0F00-607F-24C72136B29A}"/>
              </a:ext>
            </a:extLst>
          </p:cNvPr>
          <p:cNvSpPr txBox="1"/>
          <p:nvPr/>
        </p:nvSpPr>
        <p:spPr>
          <a:xfrm>
            <a:off x="2241987" y="3321111"/>
            <a:ext cx="865533" cy="276999"/>
          </a:xfrm>
          <a:prstGeom prst="rect">
            <a:avLst/>
          </a:prstGeom>
          <a:noFill/>
        </p:spPr>
        <p:txBody>
          <a:bodyPr wrap="square" rtlCol="0">
            <a:spAutoFit/>
          </a:bodyPr>
          <a:lstStyle/>
          <a:p>
            <a:r>
              <a:rPr lang="zh-CN" altLang="en-US" sz="1200" dirty="0"/>
              <a:t>调度执行</a:t>
            </a:r>
          </a:p>
        </p:txBody>
      </p:sp>
      <p:sp>
        <p:nvSpPr>
          <p:cNvPr id="2097152" name="流程图: 决策 2097151">
            <a:extLst>
              <a:ext uri="{FF2B5EF4-FFF2-40B4-BE49-F238E27FC236}">
                <a16:creationId xmlns:a16="http://schemas.microsoft.com/office/drawing/2014/main" id="{23844597-072A-E6AE-4CA9-66A9993F09FD}"/>
              </a:ext>
            </a:extLst>
          </p:cNvPr>
          <p:cNvSpPr/>
          <p:nvPr/>
        </p:nvSpPr>
        <p:spPr>
          <a:xfrm>
            <a:off x="1450650" y="2691126"/>
            <a:ext cx="1695858" cy="627998"/>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是否</a:t>
            </a:r>
            <a:endParaRPr lang="en-US" altLang="zh-CN" sz="1600" dirty="0">
              <a:solidFill>
                <a:schemeClr val="tx1"/>
              </a:solidFill>
            </a:endParaRPr>
          </a:p>
          <a:p>
            <a:pPr algn="ctr"/>
            <a:r>
              <a:rPr lang="zh-CN" altLang="en-US" sz="1600" dirty="0">
                <a:solidFill>
                  <a:schemeClr val="tx1"/>
                </a:solidFill>
              </a:rPr>
              <a:t>返工</a:t>
            </a:r>
          </a:p>
        </p:txBody>
      </p:sp>
      <p:cxnSp>
        <p:nvCxnSpPr>
          <p:cNvPr id="2097155" name="直接箭头连接符 2097154">
            <a:extLst>
              <a:ext uri="{FF2B5EF4-FFF2-40B4-BE49-F238E27FC236}">
                <a16:creationId xmlns:a16="http://schemas.microsoft.com/office/drawing/2014/main" id="{FB7298AF-BCD3-9E2B-BCCF-618BB88FC62F}"/>
              </a:ext>
            </a:extLst>
          </p:cNvPr>
          <p:cNvCxnSpPr>
            <a:cxnSpLocks/>
            <a:stCxn id="2097152" idx="3"/>
            <a:endCxn id="2097158" idx="1"/>
          </p:cNvCxnSpPr>
          <p:nvPr/>
        </p:nvCxnSpPr>
        <p:spPr>
          <a:xfrm>
            <a:off x="3146508" y="3005125"/>
            <a:ext cx="536617" cy="49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97156" name="文本框 2097155">
            <a:extLst>
              <a:ext uri="{FF2B5EF4-FFF2-40B4-BE49-F238E27FC236}">
                <a16:creationId xmlns:a16="http://schemas.microsoft.com/office/drawing/2014/main" id="{08CFFCFA-474B-A69F-EEBF-3385ECD99D32}"/>
              </a:ext>
            </a:extLst>
          </p:cNvPr>
          <p:cNvSpPr txBox="1"/>
          <p:nvPr/>
        </p:nvSpPr>
        <p:spPr>
          <a:xfrm>
            <a:off x="3203103" y="2755058"/>
            <a:ext cx="442109" cy="276999"/>
          </a:xfrm>
          <a:prstGeom prst="rect">
            <a:avLst/>
          </a:prstGeom>
          <a:noFill/>
        </p:spPr>
        <p:txBody>
          <a:bodyPr wrap="square" rtlCol="0">
            <a:spAutoFit/>
          </a:bodyPr>
          <a:lstStyle/>
          <a:p>
            <a:r>
              <a:rPr lang="zh-CN" altLang="en-US" sz="1200" dirty="0"/>
              <a:t>是</a:t>
            </a:r>
          </a:p>
        </p:txBody>
      </p:sp>
      <p:sp>
        <p:nvSpPr>
          <p:cNvPr id="2097158" name="矩形 2097157">
            <a:extLst>
              <a:ext uri="{FF2B5EF4-FFF2-40B4-BE49-F238E27FC236}">
                <a16:creationId xmlns:a16="http://schemas.microsoft.com/office/drawing/2014/main" id="{0A601CCD-B26E-4B99-4A84-EE4B89B827EA}"/>
              </a:ext>
            </a:extLst>
          </p:cNvPr>
          <p:cNvSpPr/>
          <p:nvPr/>
        </p:nvSpPr>
        <p:spPr>
          <a:xfrm>
            <a:off x="3683125" y="2779388"/>
            <a:ext cx="1236300" cy="46143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不推进工序</a:t>
            </a:r>
          </a:p>
        </p:txBody>
      </p:sp>
      <p:cxnSp>
        <p:nvCxnSpPr>
          <p:cNvPr id="2097161" name="直接箭头连接符 2097160">
            <a:extLst>
              <a:ext uri="{FF2B5EF4-FFF2-40B4-BE49-F238E27FC236}">
                <a16:creationId xmlns:a16="http://schemas.microsoft.com/office/drawing/2014/main" id="{5C28D473-3CDF-A2F4-66ED-EC4693876BA7}"/>
              </a:ext>
            </a:extLst>
          </p:cNvPr>
          <p:cNvCxnSpPr>
            <a:cxnSpLocks/>
          </p:cNvCxnSpPr>
          <p:nvPr/>
        </p:nvCxnSpPr>
        <p:spPr>
          <a:xfrm rot="10800000">
            <a:off x="4301276" y="4721740"/>
            <a:ext cx="0" cy="2779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97163" name="直接箭头连接符 2097162">
            <a:extLst>
              <a:ext uri="{FF2B5EF4-FFF2-40B4-BE49-F238E27FC236}">
                <a16:creationId xmlns:a16="http://schemas.microsoft.com/office/drawing/2014/main" id="{4BAD3FB0-A548-3A31-885E-D5A2FAF54192}"/>
              </a:ext>
            </a:extLst>
          </p:cNvPr>
          <p:cNvCxnSpPr>
            <a:stCxn id="39" idx="0"/>
            <a:endCxn id="31" idx="2"/>
          </p:cNvCxnSpPr>
          <p:nvPr/>
        </p:nvCxnSpPr>
        <p:spPr>
          <a:xfrm flipV="1">
            <a:off x="2299097" y="4103217"/>
            <a:ext cx="0" cy="285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97165" name="直接箭头连接符 2097164">
            <a:extLst>
              <a:ext uri="{FF2B5EF4-FFF2-40B4-BE49-F238E27FC236}">
                <a16:creationId xmlns:a16="http://schemas.microsoft.com/office/drawing/2014/main" id="{CD4A9C42-94AA-C631-0967-244B7272744B}"/>
              </a:ext>
            </a:extLst>
          </p:cNvPr>
          <p:cNvCxnSpPr>
            <a:stCxn id="51" idx="0"/>
            <a:endCxn id="49" idx="2"/>
          </p:cNvCxnSpPr>
          <p:nvPr/>
        </p:nvCxnSpPr>
        <p:spPr>
          <a:xfrm flipV="1">
            <a:off x="4301277" y="4100083"/>
            <a:ext cx="0" cy="285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97166" name="箭头: 左右 2097165">
            <a:extLst>
              <a:ext uri="{FF2B5EF4-FFF2-40B4-BE49-F238E27FC236}">
                <a16:creationId xmlns:a16="http://schemas.microsoft.com/office/drawing/2014/main" id="{5D8D5E74-FEFA-7EB7-CD6C-FDEBA793F638}"/>
              </a:ext>
            </a:extLst>
          </p:cNvPr>
          <p:cNvSpPr/>
          <p:nvPr/>
        </p:nvSpPr>
        <p:spPr>
          <a:xfrm>
            <a:off x="3027636" y="5105361"/>
            <a:ext cx="533581" cy="147161"/>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7168" name="文本框 2097167">
            <a:extLst>
              <a:ext uri="{FF2B5EF4-FFF2-40B4-BE49-F238E27FC236}">
                <a16:creationId xmlns:a16="http://schemas.microsoft.com/office/drawing/2014/main" id="{07DE67E3-9E6E-FD0A-7B76-4DC50E73989D}"/>
              </a:ext>
            </a:extLst>
          </p:cNvPr>
          <p:cNvSpPr txBox="1"/>
          <p:nvPr/>
        </p:nvSpPr>
        <p:spPr>
          <a:xfrm>
            <a:off x="3051328" y="5194005"/>
            <a:ext cx="509890" cy="280797"/>
          </a:xfrm>
          <a:prstGeom prst="rect">
            <a:avLst/>
          </a:prstGeom>
          <a:noFill/>
        </p:spPr>
        <p:txBody>
          <a:bodyPr wrap="square" rtlCol="0">
            <a:spAutoFit/>
          </a:bodyPr>
          <a:lstStyle/>
          <a:p>
            <a:r>
              <a:rPr lang="zh-CN" altLang="en-US" sz="1200" dirty="0"/>
              <a:t>共享</a:t>
            </a:r>
          </a:p>
        </p:txBody>
      </p:sp>
      <p:sp>
        <p:nvSpPr>
          <p:cNvPr id="2097171" name="矩形 2097170">
            <a:extLst>
              <a:ext uri="{FF2B5EF4-FFF2-40B4-BE49-F238E27FC236}">
                <a16:creationId xmlns:a16="http://schemas.microsoft.com/office/drawing/2014/main" id="{CE0C35B1-D384-5BE9-5651-84E74BF9F359}"/>
              </a:ext>
            </a:extLst>
          </p:cNvPr>
          <p:cNvSpPr/>
          <p:nvPr/>
        </p:nvSpPr>
        <p:spPr>
          <a:xfrm>
            <a:off x="1450649" y="5835316"/>
            <a:ext cx="3708729" cy="42902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全局混合网络</a:t>
            </a:r>
          </a:p>
        </p:txBody>
      </p:sp>
      <p:cxnSp>
        <p:nvCxnSpPr>
          <p:cNvPr id="2097176" name="直接箭头连接符 2097175">
            <a:extLst>
              <a:ext uri="{FF2B5EF4-FFF2-40B4-BE49-F238E27FC236}">
                <a16:creationId xmlns:a16="http://schemas.microsoft.com/office/drawing/2014/main" id="{B4F41BF4-3627-E4D3-FB7C-1CDDB08E7454}"/>
              </a:ext>
            </a:extLst>
          </p:cNvPr>
          <p:cNvCxnSpPr>
            <a:cxnSpLocks/>
            <a:stCxn id="31" idx="0"/>
            <a:endCxn id="2097152" idx="2"/>
          </p:cNvCxnSpPr>
          <p:nvPr/>
        </p:nvCxnSpPr>
        <p:spPr>
          <a:xfrm flipH="1" flipV="1">
            <a:off x="2298579" y="3319124"/>
            <a:ext cx="518" cy="4455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97187" name="直接箭头连接符 2097186">
            <a:extLst>
              <a:ext uri="{FF2B5EF4-FFF2-40B4-BE49-F238E27FC236}">
                <a16:creationId xmlns:a16="http://schemas.microsoft.com/office/drawing/2014/main" id="{8607877F-22AF-0180-C356-FDDF8665A209}"/>
              </a:ext>
            </a:extLst>
          </p:cNvPr>
          <p:cNvCxnSpPr>
            <a:cxnSpLocks/>
          </p:cNvCxnSpPr>
          <p:nvPr/>
        </p:nvCxnSpPr>
        <p:spPr>
          <a:xfrm flipV="1">
            <a:off x="4311448" y="2218513"/>
            <a:ext cx="0" cy="6750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097189" name="图形 2097188">
            <a:extLst>
              <a:ext uri="{FF2B5EF4-FFF2-40B4-BE49-F238E27FC236}">
                <a16:creationId xmlns:a16="http://schemas.microsoft.com/office/drawing/2014/main" id="{A644AA44-07CE-64E2-A3A0-0647BEBEB15E}"/>
              </a:ext>
            </a:extLst>
          </p:cNvPr>
          <p:cNvPicPr>
            <a:picLocks noChangeAspect="1"/>
          </p:cNvPicPr>
          <p:nvPr>
            <p:custDataLst>
              <p:tags r:id="rId1"/>
            </p:custDataLst>
          </p:nvPr>
        </p:nvPicPr>
        <p:blipFill>
          <a:blip r:embed="rId9">
            <a:extLst>
              <a:ext uri="{96DAC541-7B7A-43D3-8B79-37D633B846F1}">
                <asvg:svgBlip xmlns:asvg="http://schemas.microsoft.com/office/drawing/2016/SVG/main" r:embed="rId10"/>
              </a:ext>
            </a:extLst>
          </a:blip>
          <a:stretch>
            <a:fillRect/>
          </a:stretch>
        </p:blipFill>
        <p:spPr>
          <a:xfrm>
            <a:off x="1510427" y="1488562"/>
            <a:ext cx="518727" cy="518727"/>
          </a:xfrm>
          <a:prstGeom prst="rect">
            <a:avLst/>
          </a:prstGeom>
        </p:spPr>
      </p:pic>
      <p:pic>
        <p:nvPicPr>
          <p:cNvPr id="2097190" name="图形 2097189">
            <a:extLst>
              <a:ext uri="{FF2B5EF4-FFF2-40B4-BE49-F238E27FC236}">
                <a16:creationId xmlns:a16="http://schemas.microsoft.com/office/drawing/2014/main" id="{34942A2F-AD4F-90E7-036E-4672D6541ACA}"/>
              </a:ext>
            </a:extLst>
          </p:cNvPr>
          <p:cNvPicPr>
            <a:picLocks noChangeAspect="1"/>
          </p:cNvPicPr>
          <p:nvPr>
            <p:custDataLst>
              <p:tags r:id="rId2"/>
            </p:custDataLst>
          </p:nvPr>
        </p:nvPicPr>
        <p:blipFill>
          <a:blip r:embed="rId9">
            <a:extLst>
              <a:ext uri="{96DAC541-7B7A-43D3-8B79-37D633B846F1}">
                <asvg:svgBlip xmlns:asvg="http://schemas.microsoft.com/office/drawing/2016/SVG/main" r:embed="rId10"/>
              </a:ext>
            </a:extLst>
          </a:blip>
          <a:stretch>
            <a:fillRect/>
          </a:stretch>
        </p:blipFill>
        <p:spPr>
          <a:xfrm>
            <a:off x="1866767" y="1490702"/>
            <a:ext cx="518727" cy="518727"/>
          </a:xfrm>
          <a:prstGeom prst="rect">
            <a:avLst/>
          </a:prstGeom>
        </p:spPr>
      </p:pic>
      <p:pic>
        <p:nvPicPr>
          <p:cNvPr id="2097191" name="图形 2097190">
            <a:extLst>
              <a:ext uri="{FF2B5EF4-FFF2-40B4-BE49-F238E27FC236}">
                <a16:creationId xmlns:a16="http://schemas.microsoft.com/office/drawing/2014/main" id="{2BEDF870-C788-3854-18FA-31DCF37AD5D8}"/>
              </a:ext>
            </a:extLst>
          </p:cNvPr>
          <p:cNvPicPr>
            <a:picLocks noChangeAspect="1"/>
          </p:cNvPicPr>
          <p:nvPr>
            <p:custDataLst>
              <p:tags r:id="rId3"/>
            </p:custDataLst>
          </p:nvPr>
        </p:nvPicPr>
        <p:blipFill>
          <a:blip r:embed="rId9">
            <a:extLst>
              <a:ext uri="{96DAC541-7B7A-43D3-8B79-37D633B846F1}">
                <asvg:svgBlip xmlns:asvg="http://schemas.microsoft.com/office/drawing/2016/SVG/main" r:embed="rId10"/>
              </a:ext>
            </a:extLst>
          </a:blip>
          <a:stretch>
            <a:fillRect/>
          </a:stretch>
        </p:blipFill>
        <p:spPr>
          <a:xfrm>
            <a:off x="2253601" y="1488562"/>
            <a:ext cx="518727" cy="518727"/>
          </a:xfrm>
          <a:prstGeom prst="rect">
            <a:avLst/>
          </a:prstGeom>
        </p:spPr>
      </p:pic>
      <p:sp>
        <p:nvSpPr>
          <p:cNvPr id="2097192" name="文本框 2097191">
            <a:extLst>
              <a:ext uri="{FF2B5EF4-FFF2-40B4-BE49-F238E27FC236}">
                <a16:creationId xmlns:a16="http://schemas.microsoft.com/office/drawing/2014/main" id="{80B875A5-2D2A-118D-CEE3-3F88E0F4921D}"/>
              </a:ext>
            </a:extLst>
          </p:cNvPr>
          <p:cNvSpPr txBox="1"/>
          <p:nvPr/>
        </p:nvSpPr>
        <p:spPr>
          <a:xfrm>
            <a:off x="2651423" y="1651034"/>
            <a:ext cx="1499632" cy="276999"/>
          </a:xfrm>
          <a:prstGeom prst="rect">
            <a:avLst/>
          </a:prstGeom>
          <a:noFill/>
        </p:spPr>
        <p:txBody>
          <a:bodyPr wrap="square" rtlCol="0">
            <a:spAutoFit/>
          </a:bodyPr>
          <a:lstStyle/>
          <a:p>
            <a:r>
              <a:rPr lang="zh-CN" altLang="en-US" sz="1200" dirty="0">
                <a:latin typeface="黑体" panose="02010609060101010101" pitchFamily="49" charset="-122"/>
                <a:ea typeface="黑体" panose="02010609060101010101" pitchFamily="49" charset="-122"/>
              </a:rPr>
              <a:t>工人信息</a:t>
            </a:r>
          </a:p>
        </p:txBody>
      </p:sp>
      <p:sp>
        <p:nvSpPr>
          <p:cNvPr id="2097193" name="文本框 2097192">
            <a:extLst>
              <a:ext uri="{FF2B5EF4-FFF2-40B4-BE49-F238E27FC236}">
                <a16:creationId xmlns:a16="http://schemas.microsoft.com/office/drawing/2014/main" id="{6D021920-3FEF-01CE-271C-4A7B30854FCB}"/>
              </a:ext>
            </a:extLst>
          </p:cNvPr>
          <p:cNvSpPr txBox="1"/>
          <p:nvPr/>
        </p:nvSpPr>
        <p:spPr>
          <a:xfrm>
            <a:off x="2253601" y="2301473"/>
            <a:ext cx="865533" cy="276999"/>
          </a:xfrm>
          <a:prstGeom prst="rect">
            <a:avLst/>
          </a:prstGeom>
          <a:noFill/>
        </p:spPr>
        <p:txBody>
          <a:bodyPr wrap="square" rtlCol="0">
            <a:spAutoFit/>
          </a:bodyPr>
          <a:lstStyle/>
          <a:p>
            <a:r>
              <a:rPr lang="zh-CN" altLang="en-US" sz="1200" dirty="0"/>
              <a:t>更新状态</a:t>
            </a:r>
          </a:p>
        </p:txBody>
      </p:sp>
      <p:cxnSp>
        <p:nvCxnSpPr>
          <p:cNvPr id="2097195" name="直接箭头连接符 2097194">
            <a:extLst>
              <a:ext uri="{FF2B5EF4-FFF2-40B4-BE49-F238E27FC236}">
                <a16:creationId xmlns:a16="http://schemas.microsoft.com/office/drawing/2014/main" id="{3EE578E9-82D9-8D35-23AA-AD6E5D8D11CF}"/>
              </a:ext>
            </a:extLst>
          </p:cNvPr>
          <p:cNvCxnSpPr>
            <a:cxnSpLocks/>
          </p:cNvCxnSpPr>
          <p:nvPr/>
        </p:nvCxnSpPr>
        <p:spPr>
          <a:xfrm flipV="1">
            <a:off x="2590772" y="4721740"/>
            <a:ext cx="0" cy="1113576"/>
          </a:xfrm>
          <a:prstGeom prst="straightConnector1">
            <a:avLst/>
          </a:prstGeom>
          <a:ln w="19050">
            <a:solidFill>
              <a:srgbClr val="C0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97198" name="直接箭头连接符 2097197">
            <a:extLst>
              <a:ext uri="{FF2B5EF4-FFF2-40B4-BE49-F238E27FC236}">
                <a16:creationId xmlns:a16="http://schemas.microsoft.com/office/drawing/2014/main" id="{7F3393A7-CDBA-F3DA-D9FE-85083CA82CD6}"/>
              </a:ext>
            </a:extLst>
          </p:cNvPr>
          <p:cNvCxnSpPr>
            <a:cxnSpLocks/>
          </p:cNvCxnSpPr>
          <p:nvPr/>
        </p:nvCxnSpPr>
        <p:spPr>
          <a:xfrm flipV="1">
            <a:off x="3996911" y="4721740"/>
            <a:ext cx="0" cy="1113576"/>
          </a:xfrm>
          <a:prstGeom prst="straightConnector1">
            <a:avLst/>
          </a:prstGeom>
          <a:ln w="19050">
            <a:solidFill>
              <a:srgbClr val="C0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97202" name="连接符: 肘形 2097201">
            <a:extLst>
              <a:ext uri="{FF2B5EF4-FFF2-40B4-BE49-F238E27FC236}">
                <a16:creationId xmlns:a16="http://schemas.microsoft.com/office/drawing/2014/main" id="{1DD17195-8DBA-B742-B065-84047E765025}"/>
              </a:ext>
            </a:extLst>
          </p:cNvPr>
          <p:cNvCxnSpPr>
            <a:cxnSpLocks/>
            <a:endCxn id="47" idx="1"/>
          </p:cNvCxnSpPr>
          <p:nvPr/>
        </p:nvCxnSpPr>
        <p:spPr>
          <a:xfrm rot="16200000" flipH="1">
            <a:off x="-11592" y="3603254"/>
            <a:ext cx="2982036" cy="17074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97206" name="连接符: 肘形 2097205">
            <a:extLst>
              <a:ext uri="{FF2B5EF4-FFF2-40B4-BE49-F238E27FC236}">
                <a16:creationId xmlns:a16="http://schemas.microsoft.com/office/drawing/2014/main" id="{663861C9-B107-7099-58D0-FE890603B7A1}"/>
              </a:ext>
            </a:extLst>
          </p:cNvPr>
          <p:cNvCxnSpPr>
            <a:cxnSpLocks/>
            <a:endCxn id="53" idx="3"/>
          </p:cNvCxnSpPr>
          <p:nvPr/>
        </p:nvCxnSpPr>
        <p:spPr>
          <a:xfrm rot="5400000">
            <a:off x="3645702" y="3615925"/>
            <a:ext cx="2950460" cy="17070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097213" name="文本框 2097212">
            <a:extLst>
              <a:ext uri="{FF2B5EF4-FFF2-40B4-BE49-F238E27FC236}">
                <a16:creationId xmlns:a16="http://schemas.microsoft.com/office/drawing/2014/main" id="{5C0276A0-94AF-4873-7F59-68DB3DE75607}"/>
              </a:ext>
            </a:extLst>
          </p:cNvPr>
          <p:cNvSpPr txBox="1"/>
          <p:nvPr/>
        </p:nvSpPr>
        <p:spPr>
          <a:xfrm>
            <a:off x="1339029" y="2274704"/>
            <a:ext cx="865533" cy="276999"/>
          </a:xfrm>
          <a:prstGeom prst="rect">
            <a:avLst/>
          </a:prstGeom>
          <a:noFill/>
        </p:spPr>
        <p:txBody>
          <a:bodyPr wrap="square" rtlCol="0">
            <a:spAutoFit/>
          </a:bodyPr>
          <a:lstStyle/>
          <a:p>
            <a:r>
              <a:rPr lang="zh-CN" altLang="en-US" sz="1200" dirty="0"/>
              <a:t>状态数据</a:t>
            </a:r>
          </a:p>
        </p:txBody>
      </p:sp>
      <p:sp>
        <p:nvSpPr>
          <p:cNvPr id="2097214" name="文本框 2097213">
            <a:extLst>
              <a:ext uri="{FF2B5EF4-FFF2-40B4-BE49-F238E27FC236}">
                <a16:creationId xmlns:a16="http://schemas.microsoft.com/office/drawing/2014/main" id="{2A963173-F8AA-9DB7-8E7B-E06A30F37812}"/>
              </a:ext>
            </a:extLst>
          </p:cNvPr>
          <p:cNvSpPr txBox="1"/>
          <p:nvPr/>
        </p:nvSpPr>
        <p:spPr>
          <a:xfrm>
            <a:off x="5267666" y="4995499"/>
            <a:ext cx="6178059" cy="584775"/>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600" dirty="0"/>
              <a:t>混合网络集成来自两个调度智能体和全局状态的信息，生成一个全局的期望函数，来</a:t>
            </a:r>
            <a:r>
              <a:rPr lang="zh-CN" altLang="en-US" sz="1600" b="1" dirty="0"/>
              <a:t>指导调度决策。</a:t>
            </a:r>
            <a:endParaRPr lang="en-US" altLang="zh-CN" sz="1600" b="1" dirty="0"/>
          </a:p>
        </p:txBody>
      </p:sp>
      <p:sp>
        <p:nvSpPr>
          <p:cNvPr id="1048704" name="文本框 1048703">
            <a:extLst>
              <a:ext uri="{FF2B5EF4-FFF2-40B4-BE49-F238E27FC236}">
                <a16:creationId xmlns:a16="http://schemas.microsoft.com/office/drawing/2014/main" id="{95980A48-4E7C-F82C-0EF1-6AE9B6A90A2F}"/>
              </a:ext>
            </a:extLst>
          </p:cNvPr>
          <p:cNvSpPr txBox="1"/>
          <p:nvPr/>
        </p:nvSpPr>
        <p:spPr>
          <a:xfrm>
            <a:off x="5248224" y="3750317"/>
            <a:ext cx="6178060" cy="861774"/>
          </a:xfrm>
          <a:prstGeom prst="rect">
            <a:avLst/>
          </a:prstGeom>
          <a:noFill/>
        </p:spPr>
        <p:txBody>
          <a:bodyPr wrap="square">
            <a:spAutoFit/>
          </a:bodyPr>
          <a:lstStyle/>
          <a:p>
            <a:pPr marL="285750" indent="-285750" algn="just">
              <a:buFont typeface="Wingdings" panose="05000000000000000000" pitchFamily="2" charset="2"/>
              <a:buChar char="Ø"/>
            </a:pPr>
            <a:r>
              <a:rPr lang="zh-CN" altLang="en-US" sz="1600" dirty="0"/>
              <a:t>构建每个站位的智能体包括工人智能体和工序智能体。采用多智能体分布式强化学习（</a:t>
            </a:r>
            <a:r>
              <a:rPr lang="en-US" altLang="zh-CN" sz="1600" dirty="0"/>
              <a:t>QMIX</a:t>
            </a:r>
            <a:r>
              <a:rPr lang="zh-CN" altLang="en-US" sz="1600" dirty="0"/>
              <a:t>）方法，分别优化</a:t>
            </a:r>
            <a:r>
              <a:rPr lang="zh-CN" altLang="en-US" sz="1600" b="1" dirty="0"/>
              <a:t>工序排序</a:t>
            </a:r>
            <a:r>
              <a:rPr lang="zh-CN" altLang="en-US" sz="1600" dirty="0"/>
              <a:t>和</a:t>
            </a:r>
            <a:r>
              <a:rPr lang="zh-CN" altLang="en-US" sz="1600" b="1" dirty="0"/>
              <a:t>工人派工</a:t>
            </a:r>
            <a:r>
              <a:rPr lang="zh-CN" altLang="en-US" sz="1600" dirty="0"/>
              <a:t>两个子任务</a:t>
            </a:r>
            <a:r>
              <a:rPr lang="zh-CN" altLang="en-US" dirty="0"/>
              <a:t>。</a:t>
            </a:r>
            <a:r>
              <a:rPr lang="zh-CN" altLang="en-US" sz="1600" dirty="0"/>
              <a:t>优化目标为最小化最大站位节拍。</a:t>
            </a:r>
          </a:p>
        </p:txBody>
      </p:sp>
      <p:sp>
        <p:nvSpPr>
          <p:cNvPr id="1048705" name="文本框 1048704">
            <a:extLst>
              <a:ext uri="{FF2B5EF4-FFF2-40B4-BE49-F238E27FC236}">
                <a16:creationId xmlns:a16="http://schemas.microsoft.com/office/drawing/2014/main" id="{2D1FD51A-7760-E5CD-F479-C008E3050258}"/>
              </a:ext>
            </a:extLst>
          </p:cNvPr>
          <p:cNvSpPr txBox="1"/>
          <p:nvPr/>
        </p:nvSpPr>
        <p:spPr>
          <a:xfrm>
            <a:off x="5315995" y="1629238"/>
            <a:ext cx="6178060" cy="369332"/>
          </a:xfrm>
          <a:prstGeom prst="rect">
            <a:avLst/>
          </a:prstGeom>
          <a:noFill/>
        </p:spPr>
        <p:txBody>
          <a:bodyPr wrap="square">
            <a:spAutoFit/>
          </a:bodyPr>
          <a:lstStyle/>
          <a:p>
            <a:pPr marL="285750" indent="-285750" algn="just">
              <a:buFont typeface="Wingdings" panose="05000000000000000000" pitchFamily="2" charset="2"/>
              <a:buChar char="Ø"/>
            </a:pPr>
            <a:r>
              <a:rPr lang="zh-CN" altLang="en-US" sz="1600" dirty="0"/>
              <a:t>提取工序和工人状态，为后续马尔可夫建模做准备</a:t>
            </a:r>
            <a:r>
              <a:rPr lang="zh-CN" altLang="en-US" dirty="0"/>
              <a:t>。</a:t>
            </a:r>
          </a:p>
        </p:txBody>
      </p:sp>
      <p:sp>
        <p:nvSpPr>
          <p:cNvPr id="1048706" name="文本框 1048705">
            <a:extLst>
              <a:ext uri="{FF2B5EF4-FFF2-40B4-BE49-F238E27FC236}">
                <a16:creationId xmlns:a16="http://schemas.microsoft.com/office/drawing/2014/main" id="{2F180976-98E1-9EF6-C7B1-886E4ACC9A76}"/>
              </a:ext>
            </a:extLst>
          </p:cNvPr>
          <p:cNvSpPr txBox="1"/>
          <p:nvPr/>
        </p:nvSpPr>
        <p:spPr>
          <a:xfrm>
            <a:off x="5248224" y="2565618"/>
            <a:ext cx="6178060" cy="830997"/>
          </a:xfrm>
          <a:prstGeom prst="rect">
            <a:avLst/>
          </a:prstGeom>
          <a:noFill/>
        </p:spPr>
        <p:txBody>
          <a:bodyPr wrap="square">
            <a:spAutoFit/>
          </a:bodyPr>
          <a:lstStyle/>
          <a:p>
            <a:pPr marL="285750" indent="-285750" algn="just">
              <a:buFont typeface="Wingdings" panose="05000000000000000000" pitchFamily="2" charset="2"/>
              <a:buChar char="Ø"/>
            </a:pPr>
            <a:r>
              <a:rPr lang="zh-CN" altLang="en-US" sz="1600" dirty="0"/>
              <a:t>考虑飞机脉动装配过程中可能会发生</a:t>
            </a:r>
            <a:r>
              <a:rPr lang="zh-CN" altLang="en-US" sz="1600" b="1" dirty="0"/>
              <a:t>随机返工</a:t>
            </a:r>
            <a:r>
              <a:rPr lang="zh-CN" altLang="en-US" sz="1600" dirty="0"/>
              <a:t>。即在每道工序完成后，会判断是否需要返工。若需要，工序会回退到待加工工序集。</a:t>
            </a:r>
          </a:p>
        </p:txBody>
      </p:sp>
      <p:sp>
        <p:nvSpPr>
          <p:cNvPr id="1048707" name="矩形 1048706">
            <a:extLst>
              <a:ext uri="{FF2B5EF4-FFF2-40B4-BE49-F238E27FC236}">
                <a16:creationId xmlns:a16="http://schemas.microsoft.com/office/drawing/2014/main" id="{E6A69936-AB9E-F75B-BA46-8BA6C5E47A76}"/>
              </a:ext>
            </a:extLst>
          </p:cNvPr>
          <p:cNvSpPr/>
          <p:nvPr/>
        </p:nvSpPr>
        <p:spPr>
          <a:xfrm>
            <a:off x="6013937" y="6112569"/>
            <a:ext cx="1242647" cy="5847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注意力机制</a:t>
            </a:r>
          </a:p>
        </p:txBody>
      </p:sp>
      <p:sp>
        <p:nvSpPr>
          <p:cNvPr id="1048709" name="矩形 1048708">
            <a:extLst>
              <a:ext uri="{FF2B5EF4-FFF2-40B4-BE49-F238E27FC236}">
                <a16:creationId xmlns:a16="http://schemas.microsoft.com/office/drawing/2014/main" id="{CB3A65C4-972A-5232-E509-ED26894F530B}"/>
              </a:ext>
            </a:extLst>
          </p:cNvPr>
          <p:cNvSpPr/>
          <p:nvPr/>
        </p:nvSpPr>
        <p:spPr>
          <a:xfrm>
            <a:off x="7573106" y="6127803"/>
            <a:ext cx="1242647" cy="5695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残差连接</a:t>
            </a:r>
          </a:p>
        </p:txBody>
      </p:sp>
      <p:sp>
        <p:nvSpPr>
          <p:cNvPr id="1048710" name="矩形 1048709">
            <a:extLst>
              <a:ext uri="{FF2B5EF4-FFF2-40B4-BE49-F238E27FC236}">
                <a16:creationId xmlns:a16="http://schemas.microsoft.com/office/drawing/2014/main" id="{78B213DA-C3B7-D6D3-8226-648FE25462FE}"/>
              </a:ext>
            </a:extLst>
          </p:cNvPr>
          <p:cNvSpPr/>
          <p:nvPr/>
        </p:nvSpPr>
        <p:spPr>
          <a:xfrm>
            <a:off x="9097107" y="6127803"/>
            <a:ext cx="1242647" cy="5617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CVaR </a:t>
            </a:r>
            <a:r>
              <a:rPr lang="zh-CN" altLang="zh-CN" sz="1600" dirty="0">
                <a:solidFill>
                  <a:schemeClr val="tx1"/>
                </a:solidFill>
              </a:rPr>
              <a:t>罚项</a:t>
            </a:r>
          </a:p>
        </p:txBody>
      </p:sp>
      <p:sp>
        <p:nvSpPr>
          <p:cNvPr id="1048712" name="箭头: 右 1048711">
            <a:extLst>
              <a:ext uri="{FF2B5EF4-FFF2-40B4-BE49-F238E27FC236}">
                <a16:creationId xmlns:a16="http://schemas.microsoft.com/office/drawing/2014/main" id="{F8FF3754-8549-4E4A-23FB-904B9750D6AA}"/>
              </a:ext>
            </a:extLst>
          </p:cNvPr>
          <p:cNvSpPr/>
          <p:nvPr/>
        </p:nvSpPr>
        <p:spPr>
          <a:xfrm rot="16200000">
            <a:off x="6449474" y="5701069"/>
            <a:ext cx="371572" cy="296874"/>
          </a:xfrm>
          <a:prstGeom prst="rightArrow">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13" name="箭头: 右 1048712">
            <a:extLst>
              <a:ext uri="{FF2B5EF4-FFF2-40B4-BE49-F238E27FC236}">
                <a16:creationId xmlns:a16="http://schemas.microsoft.com/office/drawing/2014/main" id="{DD3B295C-992D-60BA-ECED-B6BD537221E0}"/>
              </a:ext>
            </a:extLst>
          </p:cNvPr>
          <p:cNvSpPr/>
          <p:nvPr/>
        </p:nvSpPr>
        <p:spPr>
          <a:xfrm rot="16200000">
            <a:off x="7989691" y="5725233"/>
            <a:ext cx="371572" cy="296874"/>
          </a:xfrm>
          <a:prstGeom prst="rightArrow">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14" name="箭头: 右 1048713">
            <a:extLst>
              <a:ext uri="{FF2B5EF4-FFF2-40B4-BE49-F238E27FC236}">
                <a16:creationId xmlns:a16="http://schemas.microsoft.com/office/drawing/2014/main" id="{39CFC427-D8E4-53F4-85E6-F30652235440}"/>
              </a:ext>
            </a:extLst>
          </p:cNvPr>
          <p:cNvSpPr/>
          <p:nvPr/>
        </p:nvSpPr>
        <p:spPr>
          <a:xfrm rot="16200000">
            <a:off x="9563879" y="5725233"/>
            <a:ext cx="371572" cy="296874"/>
          </a:xfrm>
          <a:prstGeom prst="rightArrow">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13928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BD204-E615-6EC5-F36A-F63874E5422B}"/>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5B0082CC-F2B2-FBEE-57AB-465A2F76EE54}"/>
              </a:ext>
            </a:extLst>
          </p:cNvPr>
          <p:cNvSpPr/>
          <p:nvPr/>
        </p:nvSpPr>
        <p:spPr>
          <a:xfrm>
            <a:off x="3374028" y="3100870"/>
            <a:ext cx="790493" cy="63297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动作</a:t>
            </a:r>
          </a:p>
        </p:txBody>
      </p:sp>
      <p:sp>
        <p:nvSpPr>
          <p:cNvPr id="1048742" name="稻壳儿小白白(http://dwz.cn/Wu2UP)">
            <a:extLst>
              <a:ext uri="{FF2B5EF4-FFF2-40B4-BE49-F238E27FC236}">
                <a16:creationId xmlns:a16="http://schemas.microsoft.com/office/drawing/2014/main" id="{290A66EB-8900-3227-303B-BDD5BC4BF4A4}"/>
              </a:ext>
            </a:extLst>
          </p:cNvPr>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71" name="图片 17">
            <a:extLst>
              <a:ext uri="{FF2B5EF4-FFF2-40B4-BE49-F238E27FC236}">
                <a16:creationId xmlns:a16="http://schemas.microsoft.com/office/drawing/2014/main" id="{F987924D-5128-898F-49A1-D8361A55B1A7}"/>
              </a:ext>
            </a:extLst>
          </p:cNvPr>
          <p:cNvPicPr>
            <a:picLocks noChangeAspect="1"/>
          </p:cNvPicPr>
          <p:nvPr/>
        </p:nvPicPr>
        <p:blipFill rotWithShape="1">
          <a:blip r:embed="rId6" cstate="print"/>
          <a:srcRect r="855"/>
          <a:stretch>
            <a:fillRect/>
          </a:stretch>
        </p:blipFill>
        <p:spPr>
          <a:xfrm>
            <a:off x="10301625" y="20910"/>
            <a:ext cx="1809525" cy="526143"/>
          </a:xfrm>
          <a:prstGeom prst="rect">
            <a:avLst/>
          </a:prstGeom>
        </p:spPr>
      </p:pic>
      <p:sp>
        <p:nvSpPr>
          <p:cNvPr id="1048743" name="标题 1">
            <a:extLst>
              <a:ext uri="{FF2B5EF4-FFF2-40B4-BE49-F238E27FC236}">
                <a16:creationId xmlns:a16="http://schemas.microsoft.com/office/drawing/2014/main" id="{D5EA596A-B13D-DD76-3EE0-AE4FEAD0D42E}"/>
              </a:ext>
            </a:extLst>
          </p:cNvPr>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4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技术路线</a:t>
            </a:r>
          </a:p>
        </p:txBody>
      </p:sp>
      <p:sp>
        <p:nvSpPr>
          <p:cNvPr id="1048744" name="文本框 2">
            <a:extLst>
              <a:ext uri="{FF2B5EF4-FFF2-40B4-BE49-F238E27FC236}">
                <a16:creationId xmlns:a16="http://schemas.microsoft.com/office/drawing/2014/main" id="{E5B9CE09-ED03-5D6F-869D-3DA77590C597}"/>
              </a:ext>
            </a:extLst>
          </p:cNvPr>
          <p:cNvSpPr txBox="1"/>
          <p:nvPr/>
        </p:nvSpPr>
        <p:spPr>
          <a:xfrm>
            <a:off x="435520" y="782746"/>
            <a:ext cx="9007594" cy="400110"/>
          </a:xfrm>
          <a:prstGeom prst="rect">
            <a:avLst/>
          </a:prstGeom>
          <a:noFill/>
        </p:spPr>
        <p:txBody>
          <a:bodyPr wrap="none" rtlCol="0">
            <a:spAutoFit/>
          </a:bodyPr>
          <a:lstStyle/>
          <a:p>
            <a:pPr marL="285750" indent="-285750">
              <a:buFont typeface="Wingdings" panose="05000000000000000000" pitchFamily="2" charset="2"/>
              <a:buChar char="p"/>
            </a:pPr>
            <a:r>
              <a:rPr lang="en-US" altLang="zh-CN" sz="2000" kern="100" dirty="0">
                <a:effectLst/>
                <a:latin typeface="微软雅黑" panose="020B0503020204020204" charset="-122"/>
                <a:ea typeface="微软雅黑" panose="020B0503020204020204" charset="-122"/>
                <a:cs typeface="Times New Roman" panose="02020603050405020304" pitchFamily="18" charset="0"/>
              </a:rPr>
              <a:t>2</a:t>
            </a:r>
            <a:r>
              <a:rPr lang="zh-CN" altLang="en-US" sz="2000" kern="100" dirty="0">
                <a:effectLst/>
                <a:latin typeface="微软雅黑" panose="020B0503020204020204" charset="-122"/>
                <a:ea typeface="微软雅黑" panose="020B0503020204020204" charset="-122"/>
                <a:cs typeface="Times New Roman" panose="02020603050405020304" pitchFamily="18" charset="0"/>
              </a:rPr>
              <a:t> </a:t>
            </a:r>
            <a:r>
              <a:rPr lang="zh-CN" altLang="en-US" sz="2000" dirty="0"/>
              <a:t>人因返工下的飞机脉动装配线生产调度与质量控制的联合优化</a:t>
            </a:r>
            <a:r>
              <a:rPr lang="en-US" altLang="zh-CN" sz="1600" kern="100" dirty="0">
                <a:effectLst/>
                <a:latin typeface="微软雅黑" panose="020B0503020204020204" charset="-122"/>
                <a:ea typeface="微软雅黑" panose="020B0503020204020204" charset="-122"/>
                <a:cs typeface="Times New Roman" panose="02020603050405020304" pitchFamily="18" charset="0"/>
              </a:rPr>
              <a:t>——</a:t>
            </a:r>
            <a:r>
              <a:rPr kumimoji="1" lang="zh-CN" altLang="en-US" sz="1600" dirty="0">
                <a:latin typeface="微软雅黑" panose="020B0503020204020204" charset="-122"/>
                <a:ea typeface="微软雅黑" panose="020B0503020204020204" charset="-122"/>
              </a:rPr>
              <a:t>研究内容</a:t>
            </a:r>
            <a:r>
              <a:rPr kumimoji="1" lang="en-US" altLang="zh-CN" sz="1600" dirty="0">
                <a:latin typeface="微软雅黑" panose="020B0503020204020204" charset="-122"/>
                <a:ea typeface="微软雅黑" panose="020B0503020204020204" charset="-122"/>
              </a:rPr>
              <a:t>2</a:t>
            </a:r>
          </a:p>
        </p:txBody>
      </p:sp>
      <p:sp>
        <p:nvSpPr>
          <p:cNvPr id="1048745" name="文本框 5">
            <a:extLst>
              <a:ext uri="{FF2B5EF4-FFF2-40B4-BE49-F238E27FC236}">
                <a16:creationId xmlns:a16="http://schemas.microsoft.com/office/drawing/2014/main" id="{DFC5D767-4692-E3DA-42BC-DCA24F2FCA4C}"/>
              </a:ext>
            </a:extLst>
          </p:cNvPr>
          <p:cNvSpPr txBox="1"/>
          <p:nvPr/>
        </p:nvSpPr>
        <p:spPr>
          <a:xfrm>
            <a:off x="7222488" y="1119522"/>
            <a:ext cx="4776585" cy="5357557"/>
          </a:xfrm>
          <a:prstGeom prst="rect">
            <a:avLst/>
          </a:prstGeom>
          <a:noFill/>
        </p:spPr>
        <p:txBody>
          <a:bodyPr wrap="square" rtlCol="0">
            <a:spAutoFit/>
          </a:bodyPr>
          <a:lstStyle/>
          <a:p>
            <a:pPr marL="285750" indent="-285750" algn="just">
              <a:lnSpc>
                <a:spcPct val="150000"/>
              </a:lnSpc>
              <a:buFont typeface="Wingdings" panose="05000000000000000000" charset="0"/>
              <a:buChar char="n"/>
            </a:pPr>
            <a:r>
              <a:rPr lang="zh-CN" altLang="en-US" b="1" kern="100" dirty="0">
                <a:solidFill>
                  <a:schemeClr val="accent1">
                    <a:lumMod val="75000"/>
                  </a:schemeClr>
                </a:solidFill>
                <a:latin typeface="+mn-ea"/>
                <a:cs typeface="+mn-ea"/>
              </a:rPr>
              <a:t>问题难点</a:t>
            </a:r>
            <a:endParaRPr lang="en-US" altLang="zh-CN" b="1" kern="100" dirty="0">
              <a:solidFill>
                <a:schemeClr val="accent1">
                  <a:lumMod val="75000"/>
                </a:schemeClr>
              </a:solidFill>
              <a:latin typeface="+mn-ea"/>
              <a:cs typeface="+mn-ea"/>
            </a:endParaRPr>
          </a:p>
          <a:p>
            <a:pPr algn="just">
              <a:lnSpc>
                <a:spcPct val="150000"/>
              </a:lnSpc>
            </a:pPr>
            <a:r>
              <a:rPr lang="zh-CN" altLang="en-US" sz="1600" dirty="0"/>
              <a:t>        由于引入工人疲劳，须构建工人疲劳度模型，以提升对内部工人资源状态的感知能力；不再将返工视为外源随机干扰，则需要构建与工人状态关联的质量模型；智能体决策需兼顾效率与质量，实现双维度平衡。</a:t>
            </a:r>
            <a:endParaRPr lang="en-US" altLang="zh-CN" sz="1600" dirty="0"/>
          </a:p>
          <a:p>
            <a:pPr marL="285750" indent="-285750" algn="just">
              <a:lnSpc>
                <a:spcPct val="150000"/>
              </a:lnSpc>
              <a:buFont typeface="Wingdings" panose="05000000000000000000" charset="0"/>
              <a:buChar char="n"/>
            </a:pPr>
            <a:r>
              <a:rPr lang="zh-CN" altLang="en-US" b="1" kern="100" dirty="0">
                <a:solidFill>
                  <a:schemeClr val="accent6">
                    <a:lumMod val="60000"/>
                    <a:lumOff val="40000"/>
                  </a:schemeClr>
                </a:solidFill>
                <a:latin typeface="+mn-ea"/>
                <a:cs typeface="+mn-ea"/>
              </a:rPr>
              <a:t>工人疲劳与质量控制</a:t>
            </a:r>
            <a:endParaRPr lang="en-US" altLang="zh-CN" b="1" kern="100" dirty="0">
              <a:solidFill>
                <a:schemeClr val="accent6">
                  <a:lumMod val="60000"/>
                  <a:lumOff val="40000"/>
                </a:schemeClr>
              </a:solidFill>
              <a:latin typeface="+mn-ea"/>
              <a:cs typeface="+mn-ea"/>
            </a:endParaRPr>
          </a:p>
          <a:p>
            <a:pPr algn="just">
              <a:lnSpc>
                <a:spcPct val="150000"/>
              </a:lnSpc>
            </a:pPr>
            <a:r>
              <a:rPr lang="zh-CN" altLang="en-US" sz="1600" dirty="0"/>
              <a:t>        构建工人疲劳曲线与质量缺陷关联模型，同时将返工操作触发机制从单一“事件驱动”拓展为 “事件驱动 </a:t>
            </a:r>
            <a:r>
              <a:rPr lang="en-US" altLang="zh-CN" sz="1600" dirty="0"/>
              <a:t>+ </a:t>
            </a:r>
            <a:r>
              <a:rPr lang="zh-CN" altLang="en-US" sz="1600" dirty="0"/>
              <a:t>状态驱动”</a:t>
            </a:r>
            <a:r>
              <a:rPr lang="en-US" altLang="zh-CN" sz="1600" dirty="0"/>
              <a:t>—— </a:t>
            </a:r>
            <a:r>
              <a:rPr lang="zh-CN" altLang="en-US" sz="1600" dirty="0"/>
              <a:t>新增基于加工质量不达标的状态型返工，实现返工触发的全面覆盖。</a:t>
            </a:r>
            <a:endParaRPr lang="zh-CN" altLang="zh-CN" sz="1600" dirty="0"/>
          </a:p>
          <a:p>
            <a:pPr marL="285750" indent="-285750" algn="just">
              <a:lnSpc>
                <a:spcPct val="150000"/>
              </a:lnSpc>
              <a:buFont typeface="Wingdings" panose="05000000000000000000" pitchFamily="2" charset="2"/>
              <a:buChar char="n"/>
            </a:pPr>
            <a:r>
              <a:rPr lang="zh-CN" altLang="en-US" b="1" kern="100" dirty="0">
                <a:solidFill>
                  <a:schemeClr val="accent2"/>
                </a:solidFill>
                <a:latin typeface="+mn-ea"/>
                <a:cs typeface="+mn-ea"/>
              </a:rPr>
              <a:t>智能体更新</a:t>
            </a:r>
            <a:endParaRPr lang="en-US" altLang="zh-CN" b="1" kern="100" dirty="0">
              <a:solidFill>
                <a:schemeClr val="accent2"/>
              </a:solidFill>
              <a:latin typeface="+mn-ea"/>
              <a:cs typeface="+mn-ea"/>
            </a:endParaRPr>
          </a:p>
          <a:p>
            <a:pPr indent="457200" algn="just">
              <a:lnSpc>
                <a:spcPct val="150000"/>
              </a:lnSpc>
            </a:pPr>
            <a:r>
              <a:rPr lang="zh-CN" altLang="en-US" sz="1600" dirty="0"/>
              <a:t>引入工人短休智能体，通过实时分析工人状态，自动判断休息需求并匹配休息时间。</a:t>
            </a:r>
            <a:endParaRPr lang="zh-CN" altLang="zh-CN" sz="1600" dirty="0"/>
          </a:p>
        </p:txBody>
      </p:sp>
      <p:grpSp>
        <p:nvGrpSpPr>
          <p:cNvPr id="9" name="组合 8">
            <a:extLst>
              <a:ext uri="{FF2B5EF4-FFF2-40B4-BE49-F238E27FC236}">
                <a16:creationId xmlns:a16="http://schemas.microsoft.com/office/drawing/2014/main" id="{9D584889-3BB9-9A9B-68B0-046DC40B62B0}"/>
              </a:ext>
            </a:extLst>
          </p:cNvPr>
          <p:cNvGrpSpPr/>
          <p:nvPr/>
        </p:nvGrpSpPr>
        <p:grpSpPr>
          <a:xfrm>
            <a:off x="192924" y="1372829"/>
            <a:ext cx="3939752" cy="845684"/>
            <a:chOff x="1341785" y="1372829"/>
            <a:chExt cx="3939752" cy="845684"/>
          </a:xfrm>
        </p:grpSpPr>
        <p:sp>
          <p:nvSpPr>
            <p:cNvPr id="2" name="矩形 1">
              <a:extLst>
                <a:ext uri="{FF2B5EF4-FFF2-40B4-BE49-F238E27FC236}">
                  <a16:creationId xmlns:a16="http://schemas.microsoft.com/office/drawing/2014/main" id="{C8263752-201E-7C7E-37F8-5DDA10F0F25F}"/>
                </a:ext>
              </a:extLst>
            </p:cNvPr>
            <p:cNvSpPr/>
            <p:nvPr/>
          </p:nvSpPr>
          <p:spPr>
            <a:xfrm>
              <a:off x="1341785" y="1372829"/>
              <a:ext cx="3939752" cy="845684"/>
            </a:xfrm>
            <a:prstGeom prst="rect">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形 2" descr="列表 纯色填充">
              <a:extLst>
                <a:ext uri="{FF2B5EF4-FFF2-40B4-BE49-F238E27FC236}">
                  <a16:creationId xmlns:a16="http://schemas.microsoft.com/office/drawing/2014/main" id="{946F0E43-B8C4-504C-E312-FB080A61DF1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13956" y="1474483"/>
              <a:ext cx="501032" cy="650934"/>
            </a:xfrm>
            <a:prstGeom prst="rect">
              <a:avLst/>
            </a:prstGeom>
          </p:spPr>
        </p:pic>
        <p:sp>
          <p:nvSpPr>
            <p:cNvPr id="4" name="文本框 3">
              <a:extLst>
                <a:ext uri="{FF2B5EF4-FFF2-40B4-BE49-F238E27FC236}">
                  <a16:creationId xmlns:a16="http://schemas.microsoft.com/office/drawing/2014/main" id="{22FAA386-19E4-F144-77B0-FB305450C622}"/>
                </a:ext>
              </a:extLst>
            </p:cNvPr>
            <p:cNvSpPr txBox="1"/>
            <p:nvPr/>
          </p:nvSpPr>
          <p:spPr>
            <a:xfrm>
              <a:off x="4070871" y="1605212"/>
              <a:ext cx="1154285" cy="461665"/>
            </a:xfrm>
            <a:prstGeom prst="rect">
              <a:avLst/>
            </a:prstGeom>
            <a:noFill/>
          </p:spPr>
          <p:txBody>
            <a:bodyPr wrap="square" rtlCol="0">
              <a:spAutoFit/>
            </a:bodyPr>
            <a:lstStyle/>
            <a:p>
              <a:r>
                <a:rPr lang="zh-CN" altLang="en-US" sz="1200" dirty="0">
                  <a:latin typeface="黑体" panose="02010609060101010101" pitchFamily="49" charset="-122"/>
                  <a:ea typeface="黑体" panose="02010609060101010101" pitchFamily="49" charset="-122"/>
                </a:rPr>
                <a:t>装配工序信息、站位信息</a:t>
              </a:r>
            </a:p>
          </p:txBody>
        </p:sp>
        <p:pic>
          <p:nvPicPr>
            <p:cNvPr id="5" name="图形 4">
              <a:extLst>
                <a:ext uri="{FF2B5EF4-FFF2-40B4-BE49-F238E27FC236}">
                  <a16:creationId xmlns:a16="http://schemas.microsoft.com/office/drawing/2014/main" id="{7254283F-1FE0-516B-294E-99E4DB9BB214}"/>
                </a:ext>
              </a:extLst>
            </p:cNvPr>
            <p:cNvPicPr>
              <a:picLocks noChangeAspect="1"/>
            </p:cNvPicPr>
            <p:nvPr>
              <p:custDataLst>
                <p:tags r:id="rId1"/>
              </p:custDataLst>
            </p:nvPr>
          </p:nvPicPr>
          <p:blipFill>
            <a:blip r:embed="rId9">
              <a:extLst>
                <a:ext uri="{96DAC541-7B7A-43D3-8B79-37D633B846F1}">
                  <asvg:svgBlip xmlns:asvg="http://schemas.microsoft.com/office/drawing/2016/SVG/main" r:embed="rId10"/>
                </a:ext>
              </a:extLst>
            </a:blip>
            <a:stretch>
              <a:fillRect/>
            </a:stretch>
          </p:blipFill>
          <p:spPr>
            <a:xfrm>
              <a:off x="1510427" y="1488562"/>
              <a:ext cx="518727" cy="518727"/>
            </a:xfrm>
            <a:prstGeom prst="rect">
              <a:avLst/>
            </a:prstGeom>
          </p:spPr>
        </p:pic>
        <p:pic>
          <p:nvPicPr>
            <p:cNvPr id="6" name="图形 5">
              <a:extLst>
                <a:ext uri="{FF2B5EF4-FFF2-40B4-BE49-F238E27FC236}">
                  <a16:creationId xmlns:a16="http://schemas.microsoft.com/office/drawing/2014/main" id="{EFCF9322-3789-F22E-BC4F-2132B8819C8D}"/>
                </a:ext>
              </a:extLst>
            </p:cNvPr>
            <p:cNvPicPr>
              <a:picLocks noChangeAspect="1"/>
            </p:cNvPicPr>
            <p:nvPr>
              <p:custDataLst>
                <p:tags r:id="rId2"/>
              </p:custDataLst>
            </p:nvPr>
          </p:nvPicPr>
          <p:blipFill>
            <a:blip r:embed="rId9">
              <a:extLst>
                <a:ext uri="{96DAC541-7B7A-43D3-8B79-37D633B846F1}">
                  <asvg:svgBlip xmlns:asvg="http://schemas.microsoft.com/office/drawing/2016/SVG/main" r:embed="rId10"/>
                </a:ext>
              </a:extLst>
            </a:blip>
            <a:stretch>
              <a:fillRect/>
            </a:stretch>
          </p:blipFill>
          <p:spPr>
            <a:xfrm>
              <a:off x="1866767" y="1490702"/>
              <a:ext cx="518727" cy="518727"/>
            </a:xfrm>
            <a:prstGeom prst="rect">
              <a:avLst/>
            </a:prstGeom>
          </p:spPr>
        </p:pic>
        <p:pic>
          <p:nvPicPr>
            <p:cNvPr id="7" name="图形 6">
              <a:extLst>
                <a:ext uri="{FF2B5EF4-FFF2-40B4-BE49-F238E27FC236}">
                  <a16:creationId xmlns:a16="http://schemas.microsoft.com/office/drawing/2014/main" id="{846D4C9A-AFF4-701C-B55D-3E0C56F12879}"/>
                </a:ext>
              </a:extLst>
            </p:cNvPr>
            <p:cNvPicPr>
              <a:picLocks noChangeAspect="1"/>
            </p:cNvPicPr>
            <p:nvPr>
              <p:custDataLst>
                <p:tags r:id="rId3"/>
              </p:custDataLst>
            </p:nvPr>
          </p:nvPicPr>
          <p:blipFill>
            <a:blip r:embed="rId9">
              <a:extLst>
                <a:ext uri="{96DAC541-7B7A-43D3-8B79-37D633B846F1}">
                  <asvg:svgBlip xmlns:asvg="http://schemas.microsoft.com/office/drawing/2016/SVG/main" r:embed="rId10"/>
                </a:ext>
              </a:extLst>
            </a:blip>
            <a:stretch>
              <a:fillRect/>
            </a:stretch>
          </p:blipFill>
          <p:spPr>
            <a:xfrm>
              <a:off x="2253601" y="1488562"/>
              <a:ext cx="518727" cy="518727"/>
            </a:xfrm>
            <a:prstGeom prst="rect">
              <a:avLst/>
            </a:prstGeom>
          </p:spPr>
        </p:pic>
        <p:sp>
          <p:nvSpPr>
            <p:cNvPr id="8" name="文本框 7">
              <a:extLst>
                <a:ext uri="{FF2B5EF4-FFF2-40B4-BE49-F238E27FC236}">
                  <a16:creationId xmlns:a16="http://schemas.microsoft.com/office/drawing/2014/main" id="{975105B7-735E-453A-FA88-F209B507AA1F}"/>
                </a:ext>
              </a:extLst>
            </p:cNvPr>
            <p:cNvSpPr txBox="1"/>
            <p:nvPr/>
          </p:nvSpPr>
          <p:spPr>
            <a:xfrm>
              <a:off x="2651423" y="1651034"/>
              <a:ext cx="1499632" cy="276999"/>
            </a:xfrm>
            <a:prstGeom prst="rect">
              <a:avLst/>
            </a:prstGeom>
            <a:noFill/>
          </p:spPr>
          <p:txBody>
            <a:bodyPr wrap="square" rtlCol="0">
              <a:spAutoFit/>
            </a:bodyPr>
            <a:lstStyle/>
            <a:p>
              <a:r>
                <a:rPr lang="zh-CN" altLang="en-US" sz="1200" dirty="0">
                  <a:latin typeface="黑体" panose="02010609060101010101" pitchFamily="49" charset="-122"/>
                  <a:ea typeface="黑体" panose="02010609060101010101" pitchFamily="49" charset="-122"/>
                </a:rPr>
                <a:t>工人信息</a:t>
              </a:r>
            </a:p>
          </p:txBody>
        </p:sp>
      </p:grpSp>
      <p:sp>
        <p:nvSpPr>
          <p:cNvPr id="13" name="矩形 12">
            <a:extLst>
              <a:ext uri="{FF2B5EF4-FFF2-40B4-BE49-F238E27FC236}">
                <a16:creationId xmlns:a16="http://schemas.microsoft.com/office/drawing/2014/main" id="{14E1CCA3-98AD-00DF-5484-7E23D4B8283E}"/>
              </a:ext>
            </a:extLst>
          </p:cNvPr>
          <p:cNvSpPr/>
          <p:nvPr/>
        </p:nvSpPr>
        <p:spPr>
          <a:xfrm>
            <a:off x="192925" y="2661138"/>
            <a:ext cx="3263947" cy="1570892"/>
          </a:xfrm>
          <a:prstGeom prst="rect">
            <a:avLst/>
          </a:prstGeom>
          <a:solidFill>
            <a:srgbClr val="FFFFFF"/>
          </a:solid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4" name="文本框 13">
            <a:extLst>
              <a:ext uri="{FF2B5EF4-FFF2-40B4-BE49-F238E27FC236}">
                <a16:creationId xmlns:a16="http://schemas.microsoft.com/office/drawing/2014/main" id="{4FB9736A-CA26-DA6D-F9C8-8FDDC902A550}"/>
              </a:ext>
            </a:extLst>
          </p:cNvPr>
          <p:cNvSpPr txBox="1"/>
          <p:nvPr/>
        </p:nvSpPr>
        <p:spPr>
          <a:xfrm>
            <a:off x="192924" y="3862698"/>
            <a:ext cx="687369" cy="338554"/>
          </a:xfrm>
          <a:prstGeom prst="rect">
            <a:avLst/>
          </a:prstGeom>
          <a:noFill/>
        </p:spPr>
        <p:txBody>
          <a:bodyPr wrap="square" rtlCol="0">
            <a:spAutoFit/>
          </a:bodyPr>
          <a:lstStyle/>
          <a:p>
            <a:r>
              <a:rPr lang="zh-CN" altLang="en-US" sz="1600" dirty="0"/>
              <a:t>站位</a:t>
            </a:r>
          </a:p>
        </p:txBody>
      </p:sp>
      <p:sp>
        <p:nvSpPr>
          <p:cNvPr id="15" name="矩形 14">
            <a:extLst>
              <a:ext uri="{FF2B5EF4-FFF2-40B4-BE49-F238E27FC236}">
                <a16:creationId xmlns:a16="http://schemas.microsoft.com/office/drawing/2014/main" id="{67589722-D2E6-E176-0381-12A2C8464684}"/>
              </a:ext>
            </a:extLst>
          </p:cNvPr>
          <p:cNvSpPr/>
          <p:nvPr/>
        </p:nvSpPr>
        <p:spPr>
          <a:xfrm>
            <a:off x="903739" y="2931587"/>
            <a:ext cx="386834" cy="908483"/>
          </a:xfrm>
          <a:prstGeom prst="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信息感知</a:t>
            </a:r>
          </a:p>
        </p:txBody>
      </p:sp>
      <p:cxnSp>
        <p:nvCxnSpPr>
          <p:cNvPr id="11" name="直接箭头连接符 10">
            <a:extLst>
              <a:ext uri="{FF2B5EF4-FFF2-40B4-BE49-F238E27FC236}">
                <a16:creationId xmlns:a16="http://schemas.microsoft.com/office/drawing/2014/main" id="{410B1977-DAA9-F7C5-DA0B-573A2B66FE3A}"/>
              </a:ext>
            </a:extLst>
          </p:cNvPr>
          <p:cNvCxnSpPr>
            <a:cxnSpLocks/>
            <a:endCxn id="15" idx="0"/>
          </p:cNvCxnSpPr>
          <p:nvPr/>
        </p:nvCxnSpPr>
        <p:spPr>
          <a:xfrm flipH="1">
            <a:off x="1097156" y="2218513"/>
            <a:ext cx="7584" cy="7130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A8E54509-B00F-AD14-62F8-000ABAB9BD59}"/>
              </a:ext>
            </a:extLst>
          </p:cNvPr>
          <p:cNvCxnSpPr>
            <a:cxnSpLocks/>
            <a:stCxn id="15" idx="3"/>
          </p:cNvCxnSpPr>
          <p:nvPr/>
        </p:nvCxnSpPr>
        <p:spPr>
          <a:xfrm>
            <a:off x="1290573" y="3385829"/>
            <a:ext cx="3328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81AEB08B-A1FC-30EE-51C6-AF4F5893E90C}"/>
              </a:ext>
            </a:extLst>
          </p:cNvPr>
          <p:cNvSpPr/>
          <p:nvPr/>
        </p:nvSpPr>
        <p:spPr>
          <a:xfrm>
            <a:off x="1593513" y="2850357"/>
            <a:ext cx="1454342" cy="37349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工人派工智能体</a:t>
            </a:r>
          </a:p>
        </p:txBody>
      </p:sp>
      <p:sp>
        <p:nvSpPr>
          <p:cNvPr id="22" name="矩形 21">
            <a:extLst>
              <a:ext uri="{FF2B5EF4-FFF2-40B4-BE49-F238E27FC236}">
                <a16:creationId xmlns:a16="http://schemas.microsoft.com/office/drawing/2014/main" id="{30081580-565B-1947-E241-16D0A4573E54}"/>
              </a:ext>
            </a:extLst>
          </p:cNvPr>
          <p:cNvSpPr/>
          <p:nvPr/>
        </p:nvSpPr>
        <p:spPr>
          <a:xfrm>
            <a:off x="1593513" y="3235497"/>
            <a:ext cx="1454342" cy="37349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工序排序智能体</a:t>
            </a:r>
          </a:p>
        </p:txBody>
      </p:sp>
      <p:sp>
        <p:nvSpPr>
          <p:cNvPr id="37" name="矩形 36">
            <a:extLst>
              <a:ext uri="{FF2B5EF4-FFF2-40B4-BE49-F238E27FC236}">
                <a16:creationId xmlns:a16="http://schemas.microsoft.com/office/drawing/2014/main" id="{BB89DAF3-D762-CC32-324B-461AE63C40E8}"/>
              </a:ext>
            </a:extLst>
          </p:cNvPr>
          <p:cNvSpPr/>
          <p:nvPr/>
        </p:nvSpPr>
        <p:spPr>
          <a:xfrm>
            <a:off x="4380386" y="2567353"/>
            <a:ext cx="2512757" cy="1887415"/>
          </a:xfrm>
          <a:prstGeom prst="rect">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8AF4E9BD-42F2-0CAC-70ED-734FCB914352}"/>
              </a:ext>
            </a:extLst>
          </p:cNvPr>
          <p:cNvSpPr txBox="1"/>
          <p:nvPr/>
        </p:nvSpPr>
        <p:spPr>
          <a:xfrm>
            <a:off x="4434379" y="2756573"/>
            <a:ext cx="1242646" cy="338554"/>
          </a:xfrm>
          <a:prstGeom prst="rect">
            <a:avLst/>
          </a:prstGeom>
          <a:noFill/>
          <a:ln>
            <a:solidFill>
              <a:schemeClr val="accent1">
                <a:shade val="15000"/>
              </a:schemeClr>
            </a:solidFill>
          </a:ln>
        </p:spPr>
        <p:txBody>
          <a:bodyPr wrap="square" rtlCol="0">
            <a:spAutoFit/>
          </a:bodyPr>
          <a:lstStyle/>
          <a:p>
            <a:pPr algn="ctr"/>
            <a:r>
              <a:rPr lang="zh-CN" altLang="en-US" sz="1600" dirty="0"/>
              <a:t>质量缺陷</a:t>
            </a:r>
          </a:p>
        </p:txBody>
      </p:sp>
      <p:sp>
        <p:nvSpPr>
          <p:cNvPr id="41" name="矩形 40">
            <a:extLst>
              <a:ext uri="{FF2B5EF4-FFF2-40B4-BE49-F238E27FC236}">
                <a16:creationId xmlns:a16="http://schemas.microsoft.com/office/drawing/2014/main" id="{FDCEB441-248D-302B-F9BB-7EE06BE852D0}"/>
              </a:ext>
            </a:extLst>
          </p:cNvPr>
          <p:cNvSpPr/>
          <p:nvPr/>
        </p:nvSpPr>
        <p:spPr>
          <a:xfrm>
            <a:off x="4434379" y="3247772"/>
            <a:ext cx="1242646" cy="32404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概率返工</a:t>
            </a:r>
          </a:p>
        </p:txBody>
      </p:sp>
      <p:sp>
        <p:nvSpPr>
          <p:cNvPr id="42" name="矩形 41">
            <a:extLst>
              <a:ext uri="{FF2B5EF4-FFF2-40B4-BE49-F238E27FC236}">
                <a16:creationId xmlns:a16="http://schemas.microsoft.com/office/drawing/2014/main" id="{8B83798B-6809-7525-9F9E-3E6AD373C5E9}"/>
              </a:ext>
            </a:extLst>
          </p:cNvPr>
          <p:cNvSpPr/>
          <p:nvPr/>
        </p:nvSpPr>
        <p:spPr>
          <a:xfrm>
            <a:off x="4434378" y="3751207"/>
            <a:ext cx="1838237" cy="38056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工人工作</a:t>
            </a:r>
            <a:r>
              <a:rPr lang="en-US" altLang="zh-CN" sz="1600" dirty="0">
                <a:solidFill>
                  <a:schemeClr val="tx1"/>
                </a:solidFill>
              </a:rPr>
              <a:t>/</a:t>
            </a:r>
            <a:r>
              <a:rPr lang="zh-CN" altLang="en-US" sz="1600" dirty="0">
                <a:solidFill>
                  <a:schemeClr val="tx1"/>
                </a:solidFill>
              </a:rPr>
              <a:t>短休</a:t>
            </a:r>
          </a:p>
        </p:txBody>
      </p:sp>
      <p:sp>
        <p:nvSpPr>
          <p:cNvPr id="43" name="右大括号 42">
            <a:extLst>
              <a:ext uri="{FF2B5EF4-FFF2-40B4-BE49-F238E27FC236}">
                <a16:creationId xmlns:a16="http://schemas.microsoft.com/office/drawing/2014/main" id="{75A281F2-068D-BC97-B5E4-1ADAE39C409D}"/>
              </a:ext>
            </a:extLst>
          </p:cNvPr>
          <p:cNvSpPr/>
          <p:nvPr/>
        </p:nvSpPr>
        <p:spPr>
          <a:xfrm>
            <a:off x="5684702" y="2877406"/>
            <a:ext cx="418977" cy="55080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6C261206-9715-741F-0A41-5B97A464B9B6}"/>
              </a:ext>
            </a:extLst>
          </p:cNvPr>
          <p:cNvSpPr/>
          <p:nvPr/>
        </p:nvSpPr>
        <p:spPr>
          <a:xfrm>
            <a:off x="6165798" y="2628791"/>
            <a:ext cx="665225" cy="106097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工序推进</a:t>
            </a:r>
            <a:r>
              <a:rPr lang="en-US" altLang="zh-CN" sz="1600" dirty="0">
                <a:solidFill>
                  <a:schemeClr val="tx1"/>
                </a:solidFill>
              </a:rPr>
              <a:t>/</a:t>
            </a:r>
            <a:r>
              <a:rPr lang="zh-CN" altLang="en-US" sz="1600" dirty="0">
                <a:solidFill>
                  <a:schemeClr val="tx1"/>
                </a:solidFill>
              </a:rPr>
              <a:t>等待返工</a:t>
            </a:r>
          </a:p>
        </p:txBody>
      </p:sp>
      <p:cxnSp>
        <p:nvCxnSpPr>
          <p:cNvPr id="46" name="连接符: 肘形 45">
            <a:extLst>
              <a:ext uri="{FF2B5EF4-FFF2-40B4-BE49-F238E27FC236}">
                <a16:creationId xmlns:a16="http://schemas.microsoft.com/office/drawing/2014/main" id="{5CB0634E-6504-D972-7C42-CC09DB407893}"/>
              </a:ext>
            </a:extLst>
          </p:cNvPr>
          <p:cNvCxnSpPr>
            <a:stCxn id="37" idx="0"/>
            <a:endCxn id="2" idx="3"/>
          </p:cNvCxnSpPr>
          <p:nvPr/>
        </p:nvCxnSpPr>
        <p:spPr>
          <a:xfrm rot="16200000" flipV="1">
            <a:off x="4498880" y="1429467"/>
            <a:ext cx="771682" cy="150408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D1216845-1DA3-B229-85B4-9B47C67CE825}"/>
              </a:ext>
            </a:extLst>
          </p:cNvPr>
          <p:cNvSpPr txBox="1"/>
          <p:nvPr/>
        </p:nvSpPr>
        <p:spPr>
          <a:xfrm>
            <a:off x="4911969" y="1474483"/>
            <a:ext cx="1580422" cy="307777"/>
          </a:xfrm>
          <a:prstGeom prst="rect">
            <a:avLst/>
          </a:prstGeom>
          <a:noFill/>
        </p:spPr>
        <p:txBody>
          <a:bodyPr wrap="square" rtlCol="0">
            <a:spAutoFit/>
          </a:bodyPr>
          <a:lstStyle/>
          <a:p>
            <a:r>
              <a:rPr lang="zh-CN" altLang="en-US" sz="1400" dirty="0"/>
              <a:t>更新状态</a:t>
            </a:r>
          </a:p>
        </p:txBody>
      </p:sp>
      <p:sp>
        <p:nvSpPr>
          <p:cNvPr id="48" name="矩形 47">
            <a:extLst>
              <a:ext uri="{FF2B5EF4-FFF2-40B4-BE49-F238E27FC236}">
                <a16:creationId xmlns:a16="http://schemas.microsoft.com/office/drawing/2014/main" id="{B3660649-BECB-F371-4787-ECB33146A798}"/>
              </a:ext>
            </a:extLst>
          </p:cNvPr>
          <p:cNvSpPr/>
          <p:nvPr/>
        </p:nvSpPr>
        <p:spPr>
          <a:xfrm>
            <a:off x="192924" y="4900246"/>
            <a:ext cx="6700216" cy="1570892"/>
          </a:xfrm>
          <a:prstGeom prst="rect">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0" name="直接箭头连接符 49">
            <a:extLst>
              <a:ext uri="{FF2B5EF4-FFF2-40B4-BE49-F238E27FC236}">
                <a16:creationId xmlns:a16="http://schemas.microsoft.com/office/drawing/2014/main" id="{CD22F03D-1602-B118-11A8-B57AFB3255D3}"/>
              </a:ext>
            </a:extLst>
          </p:cNvPr>
          <p:cNvCxnSpPr>
            <a:cxnSpLocks/>
          </p:cNvCxnSpPr>
          <p:nvPr/>
        </p:nvCxnSpPr>
        <p:spPr>
          <a:xfrm flipV="1">
            <a:off x="2426677" y="3990828"/>
            <a:ext cx="0" cy="9094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AB1455C9-CE77-56DE-21A6-AD28262BAA28}"/>
              </a:ext>
            </a:extLst>
          </p:cNvPr>
          <p:cNvCxnSpPr>
            <a:stCxn id="37" idx="2"/>
          </p:cNvCxnSpPr>
          <p:nvPr/>
        </p:nvCxnSpPr>
        <p:spPr>
          <a:xfrm>
            <a:off x="5636765" y="4454768"/>
            <a:ext cx="1" cy="4454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矩形 52">
            <a:extLst>
              <a:ext uri="{FF2B5EF4-FFF2-40B4-BE49-F238E27FC236}">
                <a16:creationId xmlns:a16="http://schemas.microsoft.com/office/drawing/2014/main" id="{A4FAB7D0-B8D5-5D2F-DA04-F90486078AAA}"/>
              </a:ext>
            </a:extLst>
          </p:cNvPr>
          <p:cNvSpPr/>
          <p:nvPr/>
        </p:nvSpPr>
        <p:spPr>
          <a:xfrm>
            <a:off x="6139929" y="5110848"/>
            <a:ext cx="457969" cy="11527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环境存储</a:t>
            </a:r>
          </a:p>
        </p:txBody>
      </p:sp>
      <p:cxnSp>
        <p:nvCxnSpPr>
          <p:cNvPr id="55" name="直接箭头连接符 54">
            <a:extLst>
              <a:ext uri="{FF2B5EF4-FFF2-40B4-BE49-F238E27FC236}">
                <a16:creationId xmlns:a16="http://schemas.microsoft.com/office/drawing/2014/main" id="{90283CF1-A48F-8400-4DE8-802825C2C1E4}"/>
              </a:ext>
            </a:extLst>
          </p:cNvPr>
          <p:cNvCxnSpPr>
            <a:stCxn id="53" idx="1"/>
          </p:cNvCxnSpPr>
          <p:nvPr/>
        </p:nvCxnSpPr>
        <p:spPr>
          <a:xfrm flipH="1" flipV="1">
            <a:off x="5742271" y="5685692"/>
            <a:ext cx="397658" cy="15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矩形 55">
            <a:extLst>
              <a:ext uri="{FF2B5EF4-FFF2-40B4-BE49-F238E27FC236}">
                <a16:creationId xmlns:a16="http://schemas.microsoft.com/office/drawing/2014/main" id="{ABEC7AFD-62F6-5957-3995-ADAAE1DC1601}"/>
              </a:ext>
            </a:extLst>
          </p:cNvPr>
          <p:cNvSpPr/>
          <p:nvPr/>
        </p:nvSpPr>
        <p:spPr>
          <a:xfrm>
            <a:off x="5017476" y="5109296"/>
            <a:ext cx="712531" cy="11527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广义优势估计</a:t>
            </a:r>
          </a:p>
        </p:txBody>
      </p:sp>
      <p:cxnSp>
        <p:nvCxnSpPr>
          <p:cNvPr id="57" name="直接箭头连接符 56">
            <a:extLst>
              <a:ext uri="{FF2B5EF4-FFF2-40B4-BE49-F238E27FC236}">
                <a16:creationId xmlns:a16="http://schemas.microsoft.com/office/drawing/2014/main" id="{2F1A552B-3CD0-A01D-4DA2-B5CAF52DC7CF}"/>
              </a:ext>
            </a:extLst>
          </p:cNvPr>
          <p:cNvCxnSpPr/>
          <p:nvPr/>
        </p:nvCxnSpPr>
        <p:spPr>
          <a:xfrm flipH="1" flipV="1">
            <a:off x="4592570" y="5685692"/>
            <a:ext cx="397658" cy="15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矩形 58">
            <a:extLst>
              <a:ext uri="{FF2B5EF4-FFF2-40B4-BE49-F238E27FC236}">
                <a16:creationId xmlns:a16="http://schemas.microsoft.com/office/drawing/2014/main" id="{56C735F6-E455-A7F5-A8F0-E7EF5FAB5A97}"/>
              </a:ext>
            </a:extLst>
          </p:cNvPr>
          <p:cNvSpPr/>
          <p:nvPr/>
        </p:nvSpPr>
        <p:spPr>
          <a:xfrm>
            <a:off x="4122337" y="5109296"/>
            <a:ext cx="457969" cy="11527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计算回报</a:t>
            </a:r>
          </a:p>
        </p:txBody>
      </p:sp>
      <p:cxnSp>
        <p:nvCxnSpPr>
          <p:cNvPr id="60" name="直接箭头连接符 59">
            <a:extLst>
              <a:ext uri="{FF2B5EF4-FFF2-40B4-BE49-F238E27FC236}">
                <a16:creationId xmlns:a16="http://schemas.microsoft.com/office/drawing/2014/main" id="{DA902F74-E050-4AF2-0915-FBDD74D88A85}"/>
              </a:ext>
            </a:extLst>
          </p:cNvPr>
          <p:cNvCxnSpPr/>
          <p:nvPr/>
        </p:nvCxnSpPr>
        <p:spPr>
          <a:xfrm flipH="1" flipV="1">
            <a:off x="3758834" y="5685692"/>
            <a:ext cx="397658" cy="15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矩形 60">
            <a:extLst>
              <a:ext uri="{FF2B5EF4-FFF2-40B4-BE49-F238E27FC236}">
                <a16:creationId xmlns:a16="http://schemas.microsoft.com/office/drawing/2014/main" id="{6B77FF66-1B41-EB08-74FF-6DE68AAB4C11}"/>
              </a:ext>
            </a:extLst>
          </p:cNvPr>
          <p:cNvSpPr/>
          <p:nvPr/>
        </p:nvSpPr>
        <p:spPr>
          <a:xfrm>
            <a:off x="3313728" y="5109296"/>
            <a:ext cx="457969" cy="11527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随机采样</a:t>
            </a:r>
          </a:p>
        </p:txBody>
      </p:sp>
      <p:cxnSp>
        <p:nvCxnSpPr>
          <p:cNvPr id="62" name="直接箭头连接符 61">
            <a:extLst>
              <a:ext uri="{FF2B5EF4-FFF2-40B4-BE49-F238E27FC236}">
                <a16:creationId xmlns:a16="http://schemas.microsoft.com/office/drawing/2014/main" id="{C5619049-D5A4-1160-138D-59B36309C9D4}"/>
              </a:ext>
            </a:extLst>
          </p:cNvPr>
          <p:cNvCxnSpPr/>
          <p:nvPr/>
        </p:nvCxnSpPr>
        <p:spPr>
          <a:xfrm flipH="1" flipV="1">
            <a:off x="2925695" y="5685692"/>
            <a:ext cx="397658" cy="15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矩形 62">
            <a:extLst>
              <a:ext uri="{FF2B5EF4-FFF2-40B4-BE49-F238E27FC236}">
                <a16:creationId xmlns:a16="http://schemas.microsoft.com/office/drawing/2014/main" id="{ECB79406-EC72-444E-AE67-6241507A2291}"/>
              </a:ext>
            </a:extLst>
          </p:cNvPr>
          <p:cNvSpPr/>
          <p:nvPr/>
        </p:nvSpPr>
        <p:spPr>
          <a:xfrm>
            <a:off x="2457608" y="5109296"/>
            <a:ext cx="457969" cy="11527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计算损失</a:t>
            </a:r>
          </a:p>
        </p:txBody>
      </p:sp>
      <p:cxnSp>
        <p:nvCxnSpPr>
          <p:cNvPr id="2097152" name="直接箭头连接符 2097151">
            <a:extLst>
              <a:ext uri="{FF2B5EF4-FFF2-40B4-BE49-F238E27FC236}">
                <a16:creationId xmlns:a16="http://schemas.microsoft.com/office/drawing/2014/main" id="{DAB2174A-F497-3F4E-2470-599D24E47EC3}"/>
              </a:ext>
            </a:extLst>
          </p:cNvPr>
          <p:cNvCxnSpPr/>
          <p:nvPr/>
        </p:nvCxnSpPr>
        <p:spPr>
          <a:xfrm flipH="1" flipV="1">
            <a:off x="2070068" y="5685692"/>
            <a:ext cx="397658" cy="15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97153" name="矩形 2097152">
            <a:extLst>
              <a:ext uri="{FF2B5EF4-FFF2-40B4-BE49-F238E27FC236}">
                <a16:creationId xmlns:a16="http://schemas.microsoft.com/office/drawing/2014/main" id="{121A3F5C-9D94-29C3-86DD-7069F618A442}"/>
              </a:ext>
            </a:extLst>
          </p:cNvPr>
          <p:cNvSpPr/>
          <p:nvPr/>
        </p:nvSpPr>
        <p:spPr>
          <a:xfrm>
            <a:off x="1396081" y="5109296"/>
            <a:ext cx="684106" cy="11527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裁剪与归一化</a:t>
            </a:r>
          </a:p>
        </p:txBody>
      </p:sp>
      <p:cxnSp>
        <p:nvCxnSpPr>
          <p:cNvPr id="2097154" name="直接箭头连接符 2097153">
            <a:extLst>
              <a:ext uri="{FF2B5EF4-FFF2-40B4-BE49-F238E27FC236}">
                <a16:creationId xmlns:a16="http://schemas.microsoft.com/office/drawing/2014/main" id="{E5270FF3-70C5-AFCD-587C-F8837FC9804B}"/>
              </a:ext>
            </a:extLst>
          </p:cNvPr>
          <p:cNvCxnSpPr/>
          <p:nvPr/>
        </p:nvCxnSpPr>
        <p:spPr>
          <a:xfrm flipH="1" flipV="1">
            <a:off x="978667" y="5685692"/>
            <a:ext cx="397658" cy="15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97155" name="矩形 2097154">
            <a:extLst>
              <a:ext uri="{FF2B5EF4-FFF2-40B4-BE49-F238E27FC236}">
                <a16:creationId xmlns:a16="http://schemas.microsoft.com/office/drawing/2014/main" id="{9593EC82-3D53-20E9-121D-D6A3A78FA3C5}"/>
              </a:ext>
            </a:extLst>
          </p:cNvPr>
          <p:cNvSpPr/>
          <p:nvPr/>
        </p:nvSpPr>
        <p:spPr>
          <a:xfrm>
            <a:off x="487598" y="5109296"/>
            <a:ext cx="457969" cy="11527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梯度更新</a:t>
            </a:r>
          </a:p>
        </p:txBody>
      </p:sp>
      <p:sp>
        <p:nvSpPr>
          <p:cNvPr id="2097156" name="文本框 2097155">
            <a:extLst>
              <a:ext uri="{FF2B5EF4-FFF2-40B4-BE49-F238E27FC236}">
                <a16:creationId xmlns:a16="http://schemas.microsoft.com/office/drawing/2014/main" id="{081D9096-78A3-94E7-45C8-978335C1EC4B}"/>
              </a:ext>
            </a:extLst>
          </p:cNvPr>
          <p:cNvSpPr txBox="1"/>
          <p:nvPr/>
        </p:nvSpPr>
        <p:spPr>
          <a:xfrm>
            <a:off x="2348051" y="4429835"/>
            <a:ext cx="1113075" cy="307777"/>
          </a:xfrm>
          <a:prstGeom prst="rect">
            <a:avLst/>
          </a:prstGeom>
          <a:noFill/>
        </p:spPr>
        <p:txBody>
          <a:bodyPr wrap="square" rtlCol="0">
            <a:spAutoFit/>
          </a:bodyPr>
          <a:lstStyle/>
          <a:p>
            <a:r>
              <a:rPr lang="zh-CN" altLang="en-US" sz="1400" dirty="0"/>
              <a:t>网络更新</a:t>
            </a:r>
          </a:p>
        </p:txBody>
      </p:sp>
      <p:sp>
        <p:nvSpPr>
          <p:cNvPr id="2097166" name="矩形 2097165">
            <a:extLst>
              <a:ext uri="{FF2B5EF4-FFF2-40B4-BE49-F238E27FC236}">
                <a16:creationId xmlns:a16="http://schemas.microsoft.com/office/drawing/2014/main" id="{B219FC57-7EDD-250E-06F2-011D97EF84BB}"/>
              </a:ext>
            </a:extLst>
          </p:cNvPr>
          <p:cNvSpPr/>
          <p:nvPr/>
        </p:nvSpPr>
        <p:spPr>
          <a:xfrm>
            <a:off x="1599247" y="3612452"/>
            <a:ext cx="1454342" cy="37349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工人短休智能体</a:t>
            </a:r>
          </a:p>
        </p:txBody>
      </p:sp>
      <p:sp>
        <p:nvSpPr>
          <p:cNvPr id="2097176" name="标注: 右箭头 2097175">
            <a:extLst>
              <a:ext uri="{FF2B5EF4-FFF2-40B4-BE49-F238E27FC236}">
                <a16:creationId xmlns:a16="http://schemas.microsoft.com/office/drawing/2014/main" id="{2C9A4997-E991-6BFF-1695-F52CFCC3E498}"/>
              </a:ext>
            </a:extLst>
          </p:cNvPr>
          <p:cNvSpPr/>
          <p:nvPr/>
        </p:nvSpPr>
        <p:spPr>
          <a:xfrm>
            <a:off x="1593513" y="2850357"/>
            <a:ext cx="2786873" cy="1134000"/>
          </a:xfrm>
          <a:prstGeom prst="rightArrowCallout">
            <a:avLst>
              <a:gd name="adj1" fmla="val 25000"/>
              <a:gd name="adj2" fmla="val 25000"/>
              <a:gd name="adj3" fmla="val 25000"/>
              <a:gd name="adj4" fmla="val 5234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28184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1ECAF-4B96-8C56-9765-02B849E75A43}"/>
            </a:ext>
          </a:extLst>
        </p:cNvPr>
        <p:cNvGrpSpPr/>
        <p:nvPr/>
      </p:nvGrpSpPr>
      <p:grpSpPr>
        <a:xfrm>
          <a:off x="0" y="0"/>
          <a:ext cx="0" cy="0"/>
          <a:chOff x="0" y="0"/>
          <a:chExt cx="0" cy="0"/>
        </a:xfrm>
      </p:grpSpPr>
      <p:sp>
        <p:nvSpPr>
          <p:cNvPr id="1048749" name="稻壳儿小白白(http://dwz.cn/Wu2UP)">
            <a:extLst>
              <a:ext uri="{FF2B5EF4-FFF2-40B4-BE49-F238E27FC236}">
                <a16:creationId xmlns:a16="http://schemas.microsoft.com/office/drawing/2014/main" id="{76896C50-D0A9-DCDE-8271-829A197C555A}"/>
              </a:ext>
            </a:extLst>
          </p:cNvPr>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73" name="图片 17">
            <a:extLst>
              <a:ext uri="{FF2B5EF4-FFF2-40B4-BE49-F238E27FC236}">
                <a16:creationId xmlns:a16="http://schemas.microsoft.com/office/drawing/2014/main" id="{656C4F2C-40D8-937F-3889-EB3AC1A14A8A}"/>
              </a:ext>
            </a:extLst>
          </p:cNvPr>
          <p:cNvPicPr>
            <a:picLocks noChangeAspect="1"/>
          </p:cNvPicPr>
          <p:nvPr/>
        </p:nvPicPr>
        <p:blipFill rotWithShape="1">
          <a:blip r:embed="rId6" cstate="print"/>
          <a:srcRect r="855"/>
          <a:stretch>
            <a:fillRect/>
          </a:stretch>
        </p:blipFill>
        <p:spPr>
          <a:xfrm>
            <a:off x="10301625" y="20910"/>
            <a:ext cx="1809525" cy="526143"/>
          </a:xfrm>
          <a:prstGeom prst="rect">
            <a:avLst/>
          </a:prstGeom>
        </p:spPr>
      </p:pic>
      <p:sp>
        <p:nvSpPr>
          <p:cNvPr id="1048750" name="标题 1">
            <a:extLst>
              <a:ext uri="{FF2B5EF4-FFF2-40B4-BE49-F238E27FC236}">
                <a16:creationId xmlns:a16="http://schemas.microsoft.com/office/drawing/2014/main" id="{76357191-4834-5160-C54B-6B519B689DA5}"/>
              </a:ext>
            </a:extLst>
          </p:cNvPr>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4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技术路线</a:t>
            </a:r>
          </a:p>
        </p:txBody>
      </p:sp>
      <p:sp>
        <p:nvSpPr>
          <p:cNvPr id="1048751" name="文本框 2">
            <a:extLst>
              <a:ext uri="{FF2B5EF4-FFF2-40B4-BE49-F238E27FC236}">
                <a16:creationId xmlns:a16="http://schemas.microsoft.com/office/drawing/2014/main" id="{FA499BA9-3AF6-71C8-3D40-3E74702AD36C}"/>
              </a:ext>
            </a:extLst>
          </p:cNvPr>
          <p:cNvSpPr txBox="1"/>
          <p:nvPr/>
        </p:nvSpPr>
        <p:spPr>
          <a:xfrm>
            <a:off x="435519" y="782746"/>
            <a:ext cx="9753510" cy="400110"/>
          </a:xfrm>
          <a:prstGeom prst="rect">
            <a:avLst/>
          </a:prstGeom>
          <a:noFill/>
        </p:spPr>
        <p:txBody>
          <a:bodyPr wrap="square" rtlCol="0">
            <a:spAutoFit/>
          </a:bodyPr>
          <a:lstStyle/>
          <a:p>
            <a:pPr marL="285750" indent="-285750">
              <a:buFont typeface="Wingdings" panose="05000000000000000000" pitchFamily="2" charset="2"/>
              <a:buChar char="p"/>
            </a:pPr>
            <a:r>
              <a:rPr lang="en-US" altLang="zh-CN" sz="2000" kern="100" dirty="0">
                <a:effectLst/>
                <a:latin typeface="微软雅黑" panose="020B0503020204020204" charset="-122"/>
                <a:ea typeface="微软雅黑" panose="020B0503020204020204" charset="-122"/>
                <a:cs typeface="Times New Roman" panose="02020603050405020304" pitchFamily="18" charset="0"/>
              </a:rPr>
              <a:t>3</a:t>
            </a:r>
            <a:r>
              <a:rPr lang="zh-CN" altLang="en-US" sz="2000" kern="100" dirty="0">
                <a:effectLst/>
                <a:latin typeface="微软雅黑" panose="020B0503020204020204" charset="-122"/>
                <a:ea typeface="微软雅黑" panose="020B0503020204020204" charset="-122"/>
                <a:cs typeface="Times New Roman" panose="02020603050405020304" pitchFamily="18" charset="0"/>
              </a:rPr>
              <a:t> </a:t>
            </a:r>
            <a:r>
              <a:rPr lang="zh-CN" altLang="en-US" sz="2000" kern="100" dirty="0">
                <a:latin typeface="微软雅黑" panose="020B0503020204020204" charset="-122"/>
                <a:ea typeface="微软雅黑" panose="020B0503020204020204" charset="-122"/>
                <a:cs typeface="Times New Roman" panose="02020603050405020304" pitchFamily="18" charset="0"/>
              </a:rPr>
              <a:t>人机因返工下的飞机脉动装配线多智能体分层协同优化</a:t>
            </a:r>
            <a:r>
              <a:rPr lang="en-US" altLang="zh-CN" sz="1600" kern="100" dirty="0">
                <a:effectLst/>
                <a:latin typeface="微软雅黑" panose="020B0503020204020204" charset="-122"/>
                <a:ea typeface="微软雅黑" panose="020B0503020204020204" charset="-122"/>
                <a:cs typeface="Times New Roman" panose="02020603050405020304" pitchFamily="18" charset="0"/>
              </a:rPr>
              <a:t>——</a:t>
            </a:r>
            <a:r>
              <a:rPr kumimoji="1" lang="zh-CN" altLang="en-US" sz="1600" dirty="0">
                <a:latin typeface="微软雅黑" panose="020B0503020204020204" charset="-122"/>
                <a:ea typeface="微软雅黑" panose="020B0503020204020204" charset="-122"/>
              </a:rPr>
              <a:t>研究内容</a:t>
            </a:r>
            <a:r>
              <a:rPr kumimoji="1" lang="en-US" altLang="zh-CN" sz="1600" dirty="0">
                <a:latin typeface="微软雅黑" panose="020B0503020204020204" charset="-122"/>
                <a:ea typeface="微软雅黑" panose="020B0503020204020204" charset="-122"/>
              </a:rPr>
              <a:t>3</a:t>
            </a:r>
          </a:p>
        </p:txBody>
      </p:sp>
      <p:sp>
        <p:nvSpPr>
          <p:cNvPr id="2" name="矩形 1">
            <a:extLst>
              <a:ext uri="{FF2B5EF4-FFF2-40B4-BE49-F238E27FC236}">
                <a16:creationId xmlns:a16="http://schemas.microsoft.com/office/drawing/2014/main" id="{4111848A-64F7-80F7-39BC-A86399B6D93D}"/>
              </a:ext>
            </a:extLst>
          </p:cNvPr>
          <p:cNvSpPr/>
          <p:nvPr/>
        </p:nvSpPr>
        <p:spPr>
          <a:xfrm>
            <a:off x="701463" y="1372829"/>
            <a:ext cx="6330526" cy="84568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形 2" descr="列表 纯色填充">
            <a:extLst>
              <a:ext uri="{FF2B5EF4-FFF2-40B4-BE49-F238E27FC236}">
                <a16:creationId xmlns:a16="http://schemas.microsoft.com/office/drawing/2014/main" id="{A22E1115-5723-CDFD-DF31-B025F3EA6A9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15302" y="1474483"/>
            <a:ext cx="501032" cy="650934"/>
          </a:xfrm>
          <a:prstGeom prst="rect">
            <a:avLst/>
          </a:prstGeom>
        </p:spPr>
      </p:pic>
      <p:sp>
        <p:nvSpPr>
          <p:cNvPr id="4" name="文本框 3">
            <a:extLst>
              <a:ext uri="{FF2B5EF4-FFF2-40B4-BE49-F238E27FC236}">
                <a16:creationId xmlns:a16="http://schemas.microsoft.com/office/drawing/2014/main" id="{4B1BC7A3-737A-5924-BA65-DFCC499BC5FA}"/>
              </a:ext>
            </a:extLst>
          </p:cNvPr>
          <p:cNvSpPr txBox="1"/>
          <p:nvPr/>
        </p:nvSpPr>
        <p:spPr>
          <a:xfrm>
            <a:off x="4972217" y="1605212"/>
            <a:ext cx="1154285" cy="461665"/>
          </a:xfrm>
          <a:prstGeom prst="rect">
            <a:avLst/>
          </a:prstGeom>
          <a:noFill/>
        </p:spPr>
        <p:txBody>
          <a:bodyPr wrap="square" rtlCol="0">
            <a:spAutoFit/>
          </a:bodyPr>
          <a:lstStyle/>
          <a:p>
            <a:r>
              <a:rPr lang="zh-CN" altLang="en-US" sz="1200" dirty="0">
                <a:latin typeface="黑体" panose="02010609060101010101" pitchFamily="49" charset="-122"/>
                <a:ea typeface="黑体" panose="02010609060101010101" pitchFamily="49" charset="-122"/>
              </a:rPr>
              <a:t>装配工序信息、站位信息</a:t>
            </a:r>
          </a:p>
        </p:txBody>
      </p:sp>
      <p:pic>
        <p:nvPicPr>
          <p:cNvPr id="5" name="图形 4">
            <a:extLst>
              <a:ext uri="{FF2B5EF4-FFF2-40B4-BE49-F238E27FC236}">
                <a16:creationId xmlns:a16="http://schemas.microsoft.com/office/drawing/2014/main" id="{2F0B45A9-60AB-47CC-B8CB-DF5045BB27B0}"/>
              </a:ext>
            </a:extLst>
          </p:cNvPr>
          <p:cNvPicPr>
            <a:picLocks noChangeAspect="1"/>
          </p:cNvPicPr>
          <p:nvPr>
            <p:custDataLst>
              <p:tags r:id="rId1"/>
            </p:custDataLst>
          </p:nvPr>
        </p:nvPicPr>
        <p:blipFill>
          <a:blip r:embed="rId9">
            <a:extLst>
              <a:ext uri="{96DAC541-7B7A-43D3-8B79-37D633B846F1}">
                <asvg:svgBlip xmlns:asvg="http://schemas.microsoft.com/office/drawing/2016/SVG/main" r:embed="rId10"/>
              </a:ext>
            </a:extLst>
          </a:blip>
          <a:stretch>
            <a:fillRect/>
          </a:stretch>
        </p:blipFill>
        <p:spPr>
          <a:xfrm>
            <a:off x="961782" y="1488562"/>
            <a:ext cx="518727" cy="518727"/>
          </a:xfrm>
          <a:prstGeom prst="rect">
            <a:avLst/>
          </a:prstGeom>
        </p:spPr>
      </p:pic>
      <p:pic>
        <p:nvPicPr>
          <p:cNvPr id="6" name="图形 5">
            <a:extLst>
              <a:ext uri="{FF2B5EF4-FFF2-40B4-BE49-F238E27FC236}">
                <a16:creationId xmlns:a16="http://schemas.microsoft.com/office/drawing/2014/main" id="{BE4DB050-740D-E2D1-6D29-104083CDB77F}"/>
              </a:ext>
            </a:extLst>
          </p:cNvPr>
          <p:cNvPicPr>
            <a:picLocks noChangeAspect="1"/>
          </p:cNvPicPr>
          <p:nvPr>
            <p:custDataLst>
              <p:tags r:id="rId2"/>
            </p:custDataLst>
          </p:nvPr>
        </p:nvPicPr>
        <p:blipFill>
          <a:blip r:embed="rId9">
            <a:extLst>
              <a:ext uri="{96DAC541-7B7A-43D3-8B79-37D633B846F1}">
                <asvg:svgBlip xmlns:asvg="http://schemas.microsoft.com/office/drawing/2016/SVG/main" r:embed="rId10"/>
              </a:ext>
            </a:extLst>
          </a:blip>
          <a:stretch>
            <a:fillRect/>
          </a:stretch>
        </p:blipFill>
        <p:spPr>
          <a:xfrm>
            <a:off x="1318122" y="1490702"/>
            <a:ext cx="518727" cy="518727"/>
          </a:xfrm>
          <a:prstGeom prst="rect">
            <a:avLst/>
          </a:prstGeom>
        </p:spPr>
      </p:pic>
      <p:pic>
        <p:nvPicPr>
          <p:cNvPr id="7" name="图形 6">
            <a:extLst>
              <a:ext uri="{FF2B5EF4-FFF2-40B4-BE49-F238E27FC236}">
                <a16:creationId xmlns:a16="http://schemas.microsoft.com/office/drawing/2014/main" id="{F573333A-6400-481B-F31A-48CCD469AF5E}"/>
              </a:ext>
            </a:extLst>
          </p:cNvPr>
          <p:cNvPicPr>
            <a:picLocks noChangeAspect="1"/>
          </p:cNvPicPr>
          <p:nvPr>
            <p:custDataLst>
              <p:tags r:id="rId3"/>
            </p:custDataLst>
          </p:nvPr>
        </p:nvPicPr>
        <p:blipFill>
          <a:blip r:embed="rId9">
            <a:extLst>
              <a:ext uri="{96DAC541-7B7A-43D3-8B79-37D633B846F1}">
                <asvg:svgBlip xmlns:asvg="http://schemas.microsoft.com/office/drawing/2016/SVG/main" r:embed="rId10"/>
              </a:ext>
            </a:extLst>
          </a:blip>
          <a:stretch>
            <a:fillRect/>
          </a:stretch>
        </p:blipFill>
        <p:spPr>
          <a:xfrm>
            <a:off x="1704956" y="1488562"/>
            <a:ext cx="518727" cy="518727"/>
          </a:xfrm>
          <a:prstGeom prst="rect">
            <a:avLst/>
          </a:prstGeom>
        </p:spPr>
      </p:pic>
      <p:sp>
        <p:nvSpPr>
          <p:cNvPr id="8" name="文本框 7">
            <a:extLst>
              <a:ext uri="{FF2B5EF4-FFF2-40B4-BE49-F238E27FC236}">
                <a16:creationId xmlns:a16="http://schemas.microsoft.com/office/drawing/2014/main" id="{EB49A74B-1363-6DD4-4C2C-334AF1089F9B}"/>
              </a:ext>
            </a:extLst>
          </p:cNvPr>
          <p:cNvSpPr txBox="1"/>
          <p:nvPr/>
        </p:nvSpPr>
        <p:spPr>
          <a:xfrm>
            <a:off x="2102778" y="1651034"/>
            <a:ext cx="806650" cy="276999"/>
          </a:xfrm>
          <a:prstGeom prst="rect">
            <a:avLst/>
          </a:prstGeom>
          <a:noFill/>
        </p:spPr>
        <p:txBody>
          <a:bodyPr wrap="square" rtlCol="0">
            <a:spAutoFit/>
          </a:bodyPr>
          <a:lstStyle/>
          <a:p>
            <a:r>
              <a:rPr lang="zh-CN" altLang="en-US" sz="1200" dirty="0">
                <a:latin typeface="黑体" panose="02010609060101010101" pitchFamily="49" charset="-122"/>
                <a:ea typeface="黑体" panose="02010609060101010101" pitchFamily="49" charset="-122"/>
              </a:rPr>
              <a:t>工人信息</a:t>
            </a:r>
          </a:p>
        </p:txBody>
      </p:sp>
      <p:sp>
        <p:nvSpPr>
          <p:cNvPr id="9" name="矩形 8">
            <a:extLst>
              <a:ext uri="{FF2B5EF4-FFF2-40B4-BE49-F238E27FC236}">
                <a16:creationId xmlns:a16="http://schemas.microsoft.com/office/drawing/2014/main" id="{EC1E0DAD-35F7-2A0C-E9D8-B4F9D158A3BF}"/>
              </a:ext>
            </a:extLst>
          </p:cNvPr>
          <p:cNvSpPr/>
          <p:nvPr/>
        </p:nvSpPr>
        <p:spPr>
          <a:xfrm>
            <a:off x="701463" y="2380985"/>
            <a:ext cx="3034513" cy="43594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E00CD158-906B-6153-BEF3-24E8C8C2DC6A}"/>
              </a:ext>
            </a:extLst>
          </p:cNvPr>
          <p:cNvSpPr txBox="1"/>
          <p:nvPr/>
        </p:nvSpPr>
        <p:spPr>
          <a:xfrm>
            <a:off x="584905" y="2433554"/>
            <a:ext cx="774067" cy="646331"/>
          </a:xfrm>
          <a:prstGeom prst="rect">
            <a:avLst/>
          </a:prstGeom>
          <a:noFill/>
        </p:spPr>
        <p:txBody>
          <a:bodyPr wrap="square" rtlCol="0">
            <a:spAutoFit/>
          </a:bodyPr>
          <a:lstStyle/>
          <a:p>
            <a:pPr algn="ctr"/>
            <a:r>
              <a:rPr lang="zh-CN" altLang="en-US" dirty="0"/>
              <a:t>站位</a:t>
            </a:r>
            <a:r>
              <a:rPr lang="en-US" altLang="zh-CN" dirty="0"/>
              <a:t>Z1</a:t>
            </a:r>
            <a:endParaRPr lang="zh-CN" altLang="en-US" dirty="0"/>
          </a:p>
        </p:txBody>
      </p:sp>
      <p:sp>
        <p:nvSpPr>
          <p:cNvPr id="13" name="文本框 12">
            <a:extLst>
              <a:ext uri="{FF2B5EF4-FFF2-40B4-BE49-F238E27FC236}">
                <a16:creationId xmlns:a16="http://schemas.microsoft.com/office/drawing/2014/main" id="{046C6B56-86BF-8713-7E98-EDFA829507E0}"/>
              </a:ext>
            </a:extLst>
          </p:cNvPr>
          <p:cNvSpPr txBox="1"/>
          <p:nvPr/>
        </p:nvSpPr>
        <p:spPr>
          <a:xfrm>
            <a:off x="645775" y="4062794"/>
            <a:ext cx="575370" cy="307777"/>
          </a:xfrm>
          <a:prstGeom prst="rect">
            <a:avLst/>
          </a:prstGeom>
          <a:noFill/>
        </p:spPr>
        <p:txBody>
          <a:bodyPr wrap="square" rtlCol="0">
            <a:spAutoFit/>
          </a:bodyPr>
          <a:lstStyle/>
          <a:p>
            <a:r>
              <a:rPr lang="zh-CN" altLang="en-US" sz="1400" b="1" dirty="0"/>
              <a:t>上层</a:t>
            </a:r>
          </a:p>
        </p:txBody>
      </p:sp>
      <p:sp>
        <p:nvSpPr>
          <p:cNvPr id="14" name="矩形 13">
            <a:extLst>
              <a:ext uri="{FF2B5EF4-FFF2-40B4-BE49-F238E27FC236}">
                <a16:creationId xmlns:a16="http://schemas.microsoft.com/office/drawing/2014/main" id="{AC64B830-B58B-7790-7044-BF976979F447}"/>
              </a:ext>
            </a:extLst>
          </p:cNvPr>
          <p:cNvSpPr/>
          <p:nvPr/>
        </p:nvSpPr>
        <p:spPr>
          <a:xfrm>
            <a:off x="1521823" y="2451253"/>
            <a:ext cx="1428919" cy="39735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资源管理智能体</a:t>
            </a:r>
          </a:p>
        </p:txBody>
      </p:sp>
      <p:sp>
        <p:nvSpPr>
          <p:cNvPr id="15" name="矩形 14">
            <a:extLst>
              <a:ext uri="{FF2B5EF4-FFF2-40B4-BE49-F238E27FC236}">
                <a16:creationId xmlns:a16="http://schemas.microsoft.com/office/drawing/2014/main" id="{55335FDC-3FCA-44A3-AA39-23C6447ED5E3}"/>
              </a:ext>
            </a:extLst>
          </p:cNvPr>
          <p:cNvSpPr/>
          <p:nvPr/>
        </p:nvSpPr>
        <p:spPr>
          <a:xfrm>
            <a:off x="1514222" y="3069770"/>
            <a:ext cx="1428919" cy="3077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信息感知</a:t>
            </a:r>
          </a:p>
        </p:txBody>
      </p:sp>
      <p:cxnSp>
        <p:nvCxnSpPr>
          <p:cNvPr id="17" name="直接箭头连接符 16">
            <a:extLst>
              <a:ext uri="{FF2B5EF4-FFF2-40B4-BE49-F238E27FC236}">
                <a16:creationId xmlns:a16="http://schemas.microsoft.com/office/drawing/2014/main" id="{EC52EF0D-FDED-3B41-EFEA-A2AC4E6F61B5}"/>
              </a:ext>
            </a:extLst>
          </p:cNvPr>
          <p:cNvCxnSpPr>
            <a:cxnSpLocks/>
            <a:stCxn id="14" idx="2"/>
            <a:endCxn id="15" idx="0"/>
          </p:cNvCxnSpPr>
          <p:nvPr/>
        </p:nvCxnSpPr>
        <p:spPr>
          <a:xfrm flipH="1">
            <a:off x="2228682" y="2848612"/>
            <a:ext cx="7601" cy="2211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连接符: 肘形 18">
            <a:extLst>
              <a:ext uri="{FF2B5EF4-FFF2-40B4-BE49-F238E27FC236}">
                <a16:creationId xmlns:a16="http://schemas.microsoft.com/office/drawing/2014/main" id="{35BBC05B-A3FE-616D-7CB7-BCB4E4395CBB}"/>
              </a:ext>
            </a:extLst>
          </p:cNvPr>
          <p:cNvCxnSpPr>
            <a:cxnSpLocks/>
            <a:endCxn id="15" idx="1"/>
          </p:cNvCxnSpPr>
          <p:nvPr/>
        </p:nvCxnSpPr>
        <p:spPr>
          <a:xfrm rot="16200000" flipH="1">
            <a:off x="853752" y="2563187"/>
            <a:ext cx="1005143" cy="31579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47452307-6AC1-D53E-3829-FB74D18B38A5}"/>
              </a:ext>
            </a:extLst>
          </p:cNvPr>
          <p:cNvSpPr/>
          <p:nvPr/>
        </p:nvSpPr>
        <p:spPr>
          <a:xfrm>
            <a:off x="1198423" y="3721990"/>
            <a:ext cx="774068" cy="41042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工人</a:t>
            </a:r>
            <a:endParaRPr lang="en-US" altLang="zh-CN" sz="1400" dirty="0">
              <a:solidFill>
                <a:schemeClr val="tx1"/>
              </a:solidFill>
            </a:endParaRPr>
          </a:p>
          <a:p>
            <a:pPr algn="ctr"/>
            <a:r>
              <a:rPr lang="zh-CN" altLang="en-US" sz="1400" dirty="0">
                <a:solidFill>
                  <a:schemeClr val="tx1"/>
                </a:solidFill>
              </a:rPr>
              <a:t>短休</a:t>
            </a:r>
          </a:p>
        </p:txBody>
      </p:sp>
      <p:sp>
        <p:nvSpPr>
          <p:cNvPr id="24" name="矩形 23">
            <a:extLst>
              <a:ext uri="{FF2B5EF4-FFF2-40B4-BE49-F238E27FC236}">
                <a16:creationId xmlns:a16="http://schemas.microsoft.com/office/drawing/2014/main" id="{C54F77BE-D359-B9C4-06A7-AA16DEE337BC}"/>
              </a:ext>
            </a:extLst>
          </p:cNvPr>
          <p:cNvSpPr/>
          <p:nvPr/>
        </p:nvSpPr>
        <p:spPr>
          <a:xfrm>
            <a:off x="2387970" y="3721990"/>
            <a:ext cx="768104" cy="4104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机器</a:t>
            </a:r>
            <a:endParaRPr lang="en-US" altLang="zh-CN" sz="1400" dirty="0">
              <a:solidFill>
                <a:schemeClr val="tx1"/>
              </a:solidFill>
            </a:endParaRPr>
          </a:p>
          <a:p>
            <a:pPr algn="ctr"/>
            <a:r>
              <a:rPr lang="zh-CN" altLang="en-US" sz="1400" dirty="0">
                <a:solidFill>
                  <a:schemeClr val="tx1"/>
                </a:solidFill>
              </a:rPr>
              <a:t>维护</a:t>
            </a:r>
          </a:p>
        </p:txBody>
      </p:sp>
      <p:cxnSp>
        <p:nvCxnSpPr>
          <p:cNvPr id="26" name="连接符: 肘形 25">
            <a:extLst>
              <a:ext uri="{FF2B5EF4-FFF2-40B4-BE49-F238E27FC236}">
                <a16:creationId xmlns:a16="http://schemas.microsoft.com/office/drawing/2014/main" id="{725A59F9-56E4-AE59-8895-A82BDC10B89B}"/>
              </a:ext>
            </a:extLst>
          </p:cNvPr>
          <p:cNvCxnSpPr>
            <a:cxnSpLocks/>
            <a:stCxn id="15" idx="2"/>
            <a:endCxn id="23" idx="0"/>
          </p:cNvCxnSpPr>
          <p:nvPr/>
        </p:nvCxnSpPr>
        <p:spPr>
          <a:xfrm rot="5400000">
            <a:off x="1734848" y="3228156"/>
            <a:ext cx="344444" cy="64322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连接符: 肘形 27">
            <a:extLst>
              <a:ext uri="{FF2B5EF4-FFF2-40B4-BE49-F238E27FC236}">
                <a16:creationId xmlns:a16="http://schemas.microsoft.com/office/drawing/2014/main" id="{3EC1A3B9-355B-A4E8-4A18-4EFF60146695}"/>
              </a:ext>
            </a:extLst>
          </p:cNvPr>
          <p:cNvCxnSpPr>
            <a:cxnSpLocks/>
            <a:stCxn id="15" idx="2"/>
            <a:endCxn id="24" idx="0"/>
          </p:cNvCxnSpPr>
          <p:nvPr/>
        </p:nvCxnSpPr>
        <p:spPr>
          <a:xfrm rot="16200000" flipH="1">
            <a:off x="2328130" y="3278098"/>
            <a:ext cx="344444" cy="54334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矩形 34">
            <a:extLst>
              <a:ext uri="{FF2B5EF4-FFF2-40B4-BE49-F238E27FC236}">
                <a16:creationId xmlns:a16="http://schemas.microsoft.com/office/drawing/2014/main" id="{E85C0F04-B89F-23C4-7659-D10E3429F63B}"/>
              </a:ext>
            </a:extLst>
          </p:cNvPr>
          <p:cNvSpPr/>
          <p:nvPr/>
        </p:nvSpPr>
        <p:spPr>
          <a:xfrm>
            <a:off x="948719" y="4560709"/>
            <a:ext cx="1204904" cy="186302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C030D559-6165-83CD-EDE9-5C8A22EB61F9}"/>
              </a:ext>
            </a:extLst>
          </p:cNvPr>
          <p:cNvSpPr/>
          <p:nvPr/>
        </p:nvSpPr>
        <p:spPr>
          <a:xfrm>
            <a:off x="1009509" y="4628848"/>
            <a:ext cx="1083324" cy="4696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工人派工</a:t>
            </a:r>
            <a:endParaRPr lang="en-US" altLang="zh-CN" sz="1400" dirty="0">
              <a:solidFill>
                <a:schemeClr val="tx1"/>
              </a:solidFill>
            </a:endParaRPr>
          </a:p>
          <a:p>
            <a:pPr algn="ctr"/>
            <a:r>
              <a:rPr lang="zh-CN" altLang="en-US" sz="1400" dirty="0">
                <a:solidFill>
                  <a:schemeClr val="tx1"/>
                </a:solidFill>
              </a:rPr>
              <a:t>智能体</a:t>
            </a:r>
          </a:p>
        </p:txBody>
      </p:sp>
      <p:sp>
        <p:nvSpPr>
          <p:cNvPr id="41" name="矩形 40">
            <a:extLst>
              <a:ext uri="{FF2B5EF4-FFF2-40B4-BE49-F238E27FC236}">
                <a16:creationId xmlns:a16="http://schemas.microsoft.com/office/drawing/2014/main" id="{4C530F8A-F518-1DD3-8209-1CC4C7DFAC6C}"/>
              </a:ext>
            </a:extLst>
          </p:cNvPr>
          <p:cNvSpPr/>
          <p:nvPr/>
        </p:nvSpPr>
        <p:spPr>
          <a:xfrm>
            <a:off x="3992134" y="2380985"/>
            <a:ext cx="3034513" cy="43594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a:extLst>
              <a:ext uri="{FF2B5EF4-FFF2-40B4-BE49-F238E27FC236}">
                <a16:creationId xmlns:a16="http://schemas.microsoft.com/office/drawing/2014/main" id="{3CD0CF98-7185-88DD-6F44-205BB00E1B22}"/>
              </a:ext>
            </a:extLst>
          </p:cNvPr>
          <p:cNvSpPr txBox="1"/>
          <p:nvPr/>
        </p:nvSpPr>
        <p:spPr>
          <a:xfrm>
            <a:off x="3992133" y="2445144"/>
            <a:ext cx="670172" cy="646331"/>
          </a:xfrm>
          <a:prstGeom prst="rect">
            <a:avLst/>
          </a:prstGeom>
          <a:noFill/>
        </p:spPr>
        <p:txBody>
          <a:bodyPr wrap="square" rtlCol="0">
            <a:spAutoFit/>
          </a:bodyPr>
          <a:lstStyle/>
          <a:p>
            <a:pPr algn="ctr"/>
            <a:r>
              <a:rPr lang="zh-CN" altLang="en-US" dirty="0"/>
              <a:t>站位</a:t>
            </a:r>
            <a:r>
              <a:rPr lang="en-US" altLang="zh-CN" dirty="0"/>
              <a:t>Z2</a:t>
            </a:r>
            <a:endParaRPr lang="zh-CN" altLang="en-US" dirty="0"/>
          </a:p>
        </p:txBody>
      </p:sp>
      <p:sp>
        <p:nvSpPr>
          <p:cNvPr id="44" name="文本框 43">
            <a:extLst>
              <a:ext uri="{FF2B5EF4-FFF2-40B4-BE49-F238E27FC236}">
                <a16:creationId xmlns:a16="http://schemas.microsoft.com/office/drawing/2014/main" id="{AD54FED5-01C8-5114-6B6C-56A931C40B32}"/>
              </a:ext>
            </a:extLst>
          </p:cNvPr>
          <p:cNvSpPr txBox="1"/>
          <p:nvPr/>
        </p:nvSpPr>
        <p:spPr>
          <a:xfrm>
            <a:off x="3916553" y="4068642"/>
            <a:ext cx="575370" cy="307777"/>
          </a:xfrm>
          <a:prstGeom prst="rect">
            <a:avLst/>
          </a:prstGeom>
          <a:noFill/>
        </p:spPr>
        <p:txBody>
          <a:bodyPr wrap="square" rtlCol="0">
            <a:spAutoFit/>
          </a:bodyPr>
          <a:lstStyle/>
          <a:p>
            <a:r>
              <a:rPr lang="zh-CN" altLang="en-US" sz="1400" b="1" dirty="0"/>
              <a:t>上层</a:t>
            </a:r>
          </a:p>
        </p:txBody>
      </p:sp>
      <p:sp>
        <p:nvSpPr>
          <p:cNvPr id="45" name="矩形 44">
            <a:extLst>
              <a:ext uri="{FF2B5EF4-FFF2-40B4-BE49-F238E27FC236}">
                <a16:creationId xmlns:a16="http://schemas.microsoft.com/office/drawing/2014/main" id="{78858F12-CAD8-48B4-9A4F-BC608497DFFC}"/>
              </a:ext>
            </a:extLst>
          </p:cNvPr>
          <p:cNvSpPr/>
          <p:nvPr/>
        </p:nvSpPr>
        <p:spPr>
          <a:xfrm>
            <a:off x="4812494" y="2540836"/>
            <a:ext cx="1428919" cy="3077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资源管理智能体</a:t>
            </a:r>
          </a:p>
        </p:txBody>
      </p:sp>
      <p:sp>
        <p:nvSpPr>
          <p:cNvPr id="46" name="矩形 45">
            <a:extLst>
              <a:ext uri="{FF2B5EF4-FFF2-40B4-BE49-F238E27FC236}">
                <a16:creationId xmlns:a16="http://schemas.microsoft.com/office/drawing/2014/main" id="{81007E01-5778-787F-875D-1C27E783392B}"/>
              </a:ext>
            </a:extLst>
          </p:cNvPr>
          <p:cNvSpPr/>
          <p:nvPr/>
        </p:nvSpPr>
        <p:spPr>
          <a:xfrm>
            <a:off x="4804893" y="3069770"/>
            <a:ext cx="1428919" cy="3077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信息感知</a:t>
            </a:r>
          </a:p>
        </p:txBody>
      </p:sp>
      <p:cxnSp>
        <p:nvCxnSpPr>
          <p:cNvPr id="47" name="直接箭头连接符 46">
            <a:extLst>
              <a:ext uri="{FF2B5EF4-FFF2-40B4-BE49-F238E27FC236}">
                <a16:creationId xmlns:a16="http://schemas.microsoft.com/office/drawing/2014/main" id="{336EE3B6-B963-70CC-45D5-815F2E2796AF}"/>
              </a:ext>
            </a:extLst>
          </p:cNvPr>
          <p:cNvCxnSpPr>
            <a:stCxn id="45" idx="2"/>
            <a:endCxn id="46" idx="0"/>
          </p:cNvCxnSpPr>
          <p:nvPr/>
        </p:nvCxnSpPr>
        <p:spPr>
          <a:xfrm flipH="1">
            <a:off x="5519353" y="2848612"/>
            <a:ext cx="7601" cy="2211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连接符: 肘形 47">
            <a:extLst>
              <a:ext uri="{FF2B5EF4-FFF2-40B4-BE49-F238E27FC236}">
                <a16:creationId xmlns:a16="http://schemas.microsoft.com/office/drawing/2014/main" id="{D277A0C7-9F5B-F5AC-9B0F-5C7600A79243}"/>
              </a:ext>
            </a:extLst>
          </p:cNvPr>
          <p:cNvCxnSpPr>
            <a:cxnSpLocks/>
            <a:endCxn id="46" idx="3"/>
          </p:cNvCxnSpPr>
          <p:nvPr/>
        </p:nvCxnSpPr>
        <p:spPr>
          <a:xfrm rot="5400000">
            <a:off x="5894478" y="2557847"/>
            <a:ext cx="1005145" cy="32647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1700E63A-C26E-3A0F-1127-7051D8F20B32}"/>
              </a:ext>
            </a:extLst>
          </p:cNvPr>
          <p:cNvSpPr/>
          <p:nvPr/>
        </p:nvSpPr>
        <p:spPr>
          <a:xfrm>
            <a:off x="4534063" y="3721990"/>
            <a:ext cx="729099" cy="4104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工人</a:t>
            </a:r>
            <a:endParaRPr lang="en-US" altLang="zh-CN" sz="1400" dirty="0">
              <a:solidFill>
                <a:schemeClr val="tx1"/>
              </a:solidFill>
            </a:endParaRPr>
          </a:p>
          <a:p>
            <a:pPr algn="ctr"/>
            <a:r>
              <a:rPr lang="zh-CN" altLang="en-US" sz="1400" dirty="0">
                <a:solidFill>
                  <a:schemeClr val="tx1"/>
                </a:solidFill>
              </a:rPr>
              <a:t>短休</a:t>
            </a:r>
          </a:p>
        </p:txBody>
      </p:sp>
      <p:sp>
        <p:nvSpPr>
          <p:cNvPr id="50" name="矩形 49">
            <a:extLst>
              <a:ext uri="{FF2B5EF4-FFF2-40B4-BE49-F238E27FC236}">
                <a16:creationId xmlns:a16="http://schemas.microsoft.com/office/drawing/2014/main" id="{4C8BDD81-4E22-ED41-710E-4557BAA8EE21}"/>
              </a:ext>
            </a:extLst>
          </p:cNvPr>
          <p:cNvSpPr/>
          <p:nvPr/>
        </p:nvSpPr>
        <p:spPr>
          <a:xfrm>
            <a:off x="5678641" y="3721989"/>
            <a:ext cx="729099" cy="4104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机器</a:t>
            </a:r>
            <a:endParaRPr lang="en-US" altLang="zh-CN" sz="1400" dirty="0">
              <a:solidFill>
                <a:schemeClr val="tx1"/>
              </a:solidFill>
            </a:endParaRPr>
          </a:p>
          <a:p>
            <a:pPr algn="ctr"/>
            <a:r>
              <a:rPr lang="zh-CN" altLang="en-US" sz="1400" dirty="0">
                <a:solidFill>
                  <a:schemeClr val="tx1"/>
                </a:solidFill>
              </a:rPr>
              <a:t>维护</a:t>
            </a:r>
          </a:p>
        </p:txBody>
      </p:sp>
      <p:cxnSp>
        <p:nvCxnSpPr>
          <p:cNvPr id="51" name="连接符: 肘形 50">
            <a:extLst>
              <a:ext uri="{FF2B5EF4-FFF2-40B4-BE49-F238E27FC236}">
                <a16:creationId xmlns:a16="http://schemas.microsoft.com/office/drawing/2014/main" id="{6A9F4B70-143C-0605-DE90-61FE1E30326B}"/>
              </a:ext>
            </a:extLst>
          </p:cNvPr>
          <p:cNvCxnSpPr>
            <a:cxnSpLocks/>
            <a:stCxn id="46" idx="2"/>
            <a:endCxn id="49" idx="0"/>
          </p:cNvCxnSpPr>
          <p:nvPr/>
        </p:nvCxnSpPr>
        <p:spPr>
          <a:xfrm rot="5400000">
            <a:off x="5036761" y="3239398"/>
            <a:ext cx="344444" cy="62074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连接符: 肘形 51">
            <a:extLst>
              <a:ext uri="{FF2B5EF4-FFF2-40B4-BE49-F238E27FC236}">
                <a16:creationId xmlns:a16="http://schemas.microsoft.com/office/drawing/2014/main" id="{43BB048B-946F-C4CC-3B44-5259C8DF68BF}"/>
              </a:ext>
            </a:extLst>
          </p:cNvPr>
          <p:cNvCxnSpPr>
            <a:cxnSpLocks/>
            <a:stCxn id="46" idx="2"/>
            <a:endCxn id="50" idx="0"/>
          </p:cNvCxnSpPr>
          <p:nvPr/>
        </p:nvCxnSpPr>
        <p:spPr>
          <a:xfrm rot="16200000" flipH="1">
            <a:off x="5609051" y="3287848"/>
            <a:ext cx="344443" cy="52383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97152" name="直接连接符 2097151">
            <a:extLst>
              <a:ext uri="{FF2B5EF4-FFF2-40B4-BE49-F238E27FC236}">
                <a16:creationId xmlns:a16="http://schemas.microsoft.com/office/drawing/2014/main" id="{ADB17056-1A79-FD48-4202-F754B599E8CB}"/>
              </a:ext>
            </a:extLst>
          </p:cNvPr>
          <p:cNvCxnSpPr>
            <a:cxnSpLocks/>
          </p:cNvCxnSpPr>
          <p:nvPr/>
        </p:nvCxnSpPr>
        <p:spPr>
          <a:xfrm>
            <a:off x="701463" y="4403954"/>
            <a:ext cx="3034513" cy="0"/>
          </a:xfrm>
          <a:prstGeom prst="line">
            <a:avLst/>
          </a:prstGeom>
          <a:ln w="2222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2097153" name="直接连接符 2097152">
            <a:extLst>
              <a:ext uri="{FF2B5EF4-FFF2-40B4-BE49-F238E27FC236}">
                <a16:creationId xmlns:a16="http://schemas.microsoft.com/office/drawing/2014/main" id="{D98F7EC6-8B8A-6A1D-9832-4282C74A5C9B}"/>
              </a:ext>
            </a:extLst>
          </p:cNvPr>
          <p:cNvCxnSpPr/>
          <p:nvPr/>
        </p:nvCxnSpPr>
        <p:spPr>
          <a:xfrm>
            <a:off x="4013456" y="4403954"/>
            <a:ext cx="3034513" cy="0"/>
          </a:xfrm>
          <a:prstGeom prst="line">
            <a:avLst/>
          </a:prstGeom>
          <a:ln w="22225">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2097154" name="文本框 2097153">
            <a:extLst>
              <a:ext uri="{FF2B5EF4-FFF2-40B4-BE49-F238E27FC236}">
                <a16:creationId xmlns:a16="http://schemas.microsoft.com/office/drawing/2014/main" id="{F4D7F288-00E8-AE57-6B64-D84F05A7517C}"/>
              </a:ext>
            </a:extLst>
          </p:cNvPr>
          <p:cNvSpPr txBox="1"/>
          <p:nvPr/>
        </p:nvSpPr>
        <p:spPr>
          <a:xfrm>
            <a:off x="652074" y="6435844"/>
            <a:ext cx="575370" cy="307777"/>
          </a:xfrm>
          <a:prstGeom prst="rect">
            <a:avLst/>
          </a:prstGeom>
          <a:noFill/>
        </p:spPr>
        <p:txBody>
          <a:bodyPr wrap="square" rtlCol="0">
            <a:spAutoFit/>
          </a:bodyPr>
          <a:lstStyle/>
          <a:p>
            <a:r>
              <a:rPr lang="zh-CN" altLang="en-US" sz="1400" b="1" dirty="0"/>
              <a:t>下层</a:t>
            </a:r>
          </a:p>
        </p:txBody>
      </p:sp>
      <p:sp>
        <p:nvSpPr>
          <p:cNvPr id="2097155" name="文本框 2097154">
            <a:extLst>
              <a:ext uri="{FF2B5EF4-FFF2-40B4-BE49-F238E27FC236}">
                <a16:creationId xmlns:a16="http://schemas.microsoft.com/office/drawing/2014/main" id="{990C4FA2-CC3A-52B8-21F9-65FA1D963868}"/>
              </a:ext>
            </a:extLst>
          </p:cNvPr>
          <p:cNvSpPr txBox="1"/>
          <p:nvPr/>
        </p:nvSpPr>
        <p:spPr>
          <a:xfrm>
            <a:off x="3918026" y="6418391"/>
            <a:ext cx="575370" cy="307777"/>
          </a:xfrm>
          <a:prstGeom prst="rect">
            <a:avLst/>
          </a:prstGeom>
          <a:noFill/>
        </p:spPr>
        <p:txBody>
          <a:bodyPr wrap="square" rtlCol="0">
            <a:spAutoFit/>
          </a:bodyPr>
          <a:lstStyle/>
          <a:p>
            <a:r>
              <a:rPr lang="zh-CN" altLang="en-US" sz="1400" b="1" dirty="0"/>
              <a:t>下层</a:t>
            </a:r>
          </a:p>
        </p:txBody>
      </p:sp>
      <p:sp>
        <p:nvSpPr>
          <p:cNvPr id="2097156" name="箭头: 左右 2097155">
            <a:extLst>
              <a:ext uri="{FF2B5EF4-FFF2-40B4-BE49-F238E27FC236}">
                <a16:creationId xmlns:a16="http://schemas.microsoft.com/office/drawing/2014/main" id="{0D722F74-56E5-1DB5-30FB-2660CDF5A3A2}"/>
              </a:ext>
            </a:extLst>
          </p:cNvPr>
          <p:cNvSpPr/>
          <p:nvPr/>
        </p:nvSpPr>
        <p:spPr>
          <a:xfrm>
            <a:off x="3045925" y="3152648"/>
            <a:ext cx="1643952" cy="198771"/>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7158" name="箭头: 下 2097157">
            <a:extLst>
              <a:ext uri="{FF2B5EF4-FFF2-40B4-BE49-F238E27FC236}">
                <a16:creationId xmlns:a16="http://schemas.microsoft.com/office/drawing/2014/main" id="{4F168103-2B06-756D-4CD6-9B25E3046774}"/>
              </a:ext>
            </a:extLst>
          </p:cNvPr>
          <p:cNvSpPr/>
          <p:nvPr/>
        </p:nvSpPr>
        <p:spPr>
          <a:xfrm>
            <a:off x="2101520" y="4029766"/>
            <a:ext cx="244326" cy="530943"/>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7159" name="文本框 2097158">
            <a:extLst>
              <a:ext uri="{FF2B5EF4-FFF2-40B4-BE49-F238E27FC236}">
                <a16:creationId xmlns:a16="http://schemas.microsoft.com/office/drawing/2014/main" id="{4A4F48AA-CEB2-ECCF-1B61-5C266D9CEEE4}"/>
              </a:ext>
            </a:extLst>
          </p:cNvPr>
          <p:cNvSpPr txBox="1"/>
          <p:nvPr/>
        </p:nvSpPr>
        <p:spPr>
          <a:xfrm>
            <a:off x="2228681" y="4112424"/>
            <a:ext cx="822960" cy="276999"/>
          </a:xfrm>
          <a:prstGeom prst="rect">
            <a:avLst/>
          </a:prstGeom>
          <a:noFill/>
        </p:spPr>
        <p:txBody>
          <a:bodyPr wrap="square" rtlCol="0">
            <a:spAutoFit/>
          </a:bodyPr>
          <a:lstStyle/>
          <a:p>
            <a:r>
              <a:rPr lang="zh-CN" altLang="en-US" sz="1200" dirty="0"/>
              <a:t>决策结果</a:t>
            </a:r>
          </a:p>
        </p:txBody>
      </p:sp>
      <p:sp>
        <p:nvSpPr>
          <p:cNvPr id="2097164" name="文本框 2097163">
            <a:extLst>
              <a:ext uri="{FF2B5EF4-FFF2-40B4-BE49-F238E27FC236}">
                <a16:creationId xmlns:a16="http://schemas.microsoft.com/office/drawing/2014/main" id="{635FF897-F248-86EF-42EE-4AB422F57AA1}"/>
              </a:ext>
            </a:extLst>
          </p:cNvPr>
          <p:cNvSpPr txBox="1"/>
          <p:nvPr/>
        </p:nvSpPr>
        <p:spPr>
          <a:xfrm>
            <a:off x="1009510" y="5297462"/>
            <a:ext cx="1083323" cy="523220"/>
          </a:xfrm>
          <a:prstGeom prst="rect">
            <a:avLst/>
          </a:prstGeom>
          <a:noFill/>
          <a:ln>
            <a:solidFill>
              <a:schemeClr val="tx1"/>
            </a:solidFill>
          </a:ln>
        </p:spPr>
        <p:txBody>
          <a:bodyPr wrap="square" rtlCol="0">
            <a:spAutoFit/>
          </a:bodyPr>
          <a:lstStyle/>
          <a:p>
            <a:pPr algn="ctr"/>
            <a:r>
              <a:rPr lang="zh-CN" altLang="en-US" sz="1400" dirty="0"/>
              <a:t>局部决策</a:t>
            </a:r>
            <a:endParaRPr lang="en-US" altLang="zh-CN" sz="1400" dirty="0"/>
          </a:p>
          <a:p>
            <a:pPr algn="ctr"/>
            <a:r>
              <a:rPr lang="zh-CN" altLang="en-US" sz="1400" dirty="0"/>
              <a:t>网络</a:t>
            </a:r>
          </a:p>
        </p:txBody>
      </p:sp>
      <p:sp>
        <p:nvSpPr>
          <p:cNvPr id="2097165" name="文本框 2097164">
            <a:extLst>
              <a:ext uri="{FF2B5EF4-FFF2-40B4-BE49-F238E27FC236}">
                <a16:creationId xmlns:a16="http://schemas.microsoft.com/office/drawing/2014/main" id="{EC54F026-AE51-F54A-5FAD-27798DA2F9C7}"/>
              </a:ext>
            </a:extLst>
          </p:cNvPr>
          <p:cNvSpPr txBox="1"/>
          <p:nvPr/>
        </p:nvSpPr>
        <p:spPr>
          <a:xfrm>
            <a:off x="993587" y="6045575"/>
            <a:ext cx="1107933" cy="316982"/>
          </a:xfrm>
          <a:prstGeom prst="rect">
            <a:avLst/>
          </a:prstGeom>
          <a:noFill/>
          <a:ln>
            <a:solidFill>
              <a:schemeClr val="tx1"/>
            </a:solidFill>
          </a:ln>
        </p:spPr>
        <p:txBody>
          <a:bodyPr wrap="square" rtlCol="0">
            <a:spAutoFit/>
          </a:bodyPr>
          <a:lstStyle/>
          <a:p>
            <a:pPr algn="ctr"/>
            <a:r>
              <a:rPr lang="zh-CN" altLang="en-US" sz="1400" dirty="0"/>
              <a:t>工人派工</a:t>
            </a:r>
          </a:p>
        </p:txBody>
      </p:sp>
      <p:cxnSp>
        <p:nvCxnSpPr>
          <p:cNvPr id="2097167" name="直接箭头连接符 2097166">
            <a:extLst>
              <a:ext uri="{FF2B5EF4-FFF2-40B4-BE49-F238E27FC236}">
                <a16:creationId xmlns:a16="http://schemas.microsoft.com/office/drawing/2014/main" id="{051F7B33-AEFA-60B0-8257-3CFF25E0BBA6}"/>
              </a:ext>
            </a:extLst>
          </p:cNvPr>
          <p:cNvCxnSpPr>
            <a:cxnSpLocks/>
            <a:stCxn id="40" idx="2"/>
            <a:endCxn id="2097164" idx="0"/>
          </p:cNvCxnSpPr>
          <p:nvPr/>
        </p:nvCxnSpPr>
        <p:spPr>
          <a:xfrm>
            <a:off x="1551171" y="5098451"/>
            <a:ext cx="1" cy="1990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97169" name="直接箭头连接符 2097168">
            <a:extLst>
              <a:ext uri="{FF2B5EF4-FFF2-40B4-BE49-F238E27FC236}">
                <a16:creationId xmlns:a16="http://schemas.microsoft.com/office/drawing/2014/main" id="{0F00A0E9-92B1-00E3-A671-7A841E6D04FC}"/>
              </a:ext>
            </a:extLst>
          </p:cNvPr>
          <p:cNvCxnSpPr>
            <a:cxnSpLocks/>
            <a:stCxn id="2097164" idx="2"/>
            <a:endCxn id="2097165" idx="0"/>
          </p:cNvCxnSpPr>
          <p:nvPr/>
        </p:nvCxnSpPr>
        <p:spPr>
          <a:xfrm flipH="1">
            <a:off x="1547554" y="5820681"/>
            <a:ext cx="3618" cy="2248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97172" name="矩形 2097171">
            <a:extLst>
              <a:ext uri="{FF2B5EF4-FFF2-40B4-BE49-F238E27FC236}">
                <a16:creationId xmlns:a16="http://schemas.microsoft.com/office/drawing/2014/main" id="{9A8592AE-EC6E-D5B8-BA1F-2F79C1EFC7D7}"/>
              </a:ext>
            </a:extLst>
          </p:cNvPr>
          <p:cNvSpPr/>
          <p:nvPr/>
        </p:nvSpPr>
        <p:spPr>
          <a:xfrm>
            <a:off x="2342347" y="4560710"/>
            <a:ext cx="1204904" cy="18697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7175" name="矩形 2097174">
            <a:extLst>
              <a:ext uri="{FF2B5EF4-FFF2-40B4-BE49-F238E27FC236}">
                <a16:creationId xmlns:a16="http://schemas.microsoft.com/office/drawing/2014/main" id="{465C40A9-7F67-67B0-7636-DA71C8B8386B}"/>
              </a:ext>
            </a:extLst>
          </p:cNvPr>
          <p:cNvSpPr/>
          <p:nvPr/>
        </p:nvSpPr>
        <p:spPr>
          <a:xfrm>
            <a:off x="2403137" y="4628848"/>
            <a:ext cx="1083324" cy="4763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工序排序</a:t>
            </a:r>
            <a:endParaRPr lang="en-US" altLang="zh-CN" sz="1400" dirty="0">
              <a:solidFill>
                <a:schemeClr val="tx1"/>
              </a:solidFill>
            </a:endParaRPr>
          </a:p>
          <a:p>
            <a:pPr algn="ctr"/>
            <a:r>
              <a:rPr lang="zh-CN" altLang="en-US" sz="1400" dirty="0">
                <a:solidFill>
                  <a:schemeClr val="tx1"/>
                </a:solidFill>
              </a:rPr>
              <a:t>智能体</a:t>
            </a:r>
          </a:p>
        </p:txBody>
      </p:sp>
      <p:sp>
        <p:nvSpPr>
          <p:cNvPr id="2097176" name="文本框 2097175">
            <a:extLst>
              <a:ext uri="{FF2B5EF4-FFF2-40B4-BE49-F238E27FC236}">
                <a16:creationId xmlns:a16="http://schemas.microsoft.com/office/drawing/2014/main" id="{6895F6E1-B6EA-C881-5DC2-4FF963D0BDE1}"/>
              </a:ext>
            </a:extLst>
          </p:cNvPr>
          <p:cNvSpPr txBox="1"/>
          <p:nvPr/>
        </p:nvSpPr>
        <p:spPr>
          <a:xfrm>
            <a:off x="2403138" y="5304233"/>
            <a:ext cx="1083323" cy="523220"/>
          </a:xfrm>
          <a:prstGeom prst="rect">
            <a:avLst/>
          </a:prstGeom>
          <a:noFill/>
          <a:ln>
            <a:solidFill>
              <a:schemeClr val="tx1"/>
            </a:solidFill>
          </a:ln>
        </p:spPr>
        <p:txBody>
          <a:bodyPr wrap="square" rtlCol="0">
            <a:spAutoFit/>
          </a:bodyPr>
          <a:lstStyle/>
          <a:p>
            <a:pPr algn="ctr"/>
            <a:r>
              <a:rPr lang="zh-CN" altLang="en-US" sz="1400" dirty="0"/>
              <a:t>局部决策</a:t>
            </a:r>
            <a:endParaRPr lang="en-US" altLang="zh-CN" sz="1400" dirty="0"/>
          </a:p>
          <a:p>
            <a:pPr algn="ctr"/>
            <a:r>
              <a:rPr lang="zh-CN" altLang="en-US" sz="1400" dirty="0"/>
              <a:t>网络</a:t>
            </a:r>
          </a:p>
        </p:txBody>
      </p:sp>
      <p:sp>
        <p:nvSpPr>
          <p:cNvPr id="2097177" name="文本框 2097176">
            <a:extLst>
              <a:ext uri="{FF2B5EF4-FFF2-40B4-BE49-F238E27FC236}">
                <a16:creationId xmlns:a16="http://schemas.microsoft.com/office/drawing/2014/main" id="{AAB7FCAB-6A21-039D-3B00-826376BDA277}"/>
              </a:ext>
            </a:extLst>
          </p:cNvPr>
          <p:cNvSpPr txBox="1"/>
          <p:nvPr/>
        </p:nvSpPr>
        <p:spPr>
          <a:xfrm>
            <a:off x="2387215" y="6052346"/>
            <a:ext cx="1107933" cy="316982"/>
          </a:xfrm>
          <a:prstGeom prst="rect">
            <a:avLst/>
          </a:prstGeom>
          <a:noFill/>
          <a:ln>
            <a:solidFill>
              <a:schemeClr val="tx1"/>
            </a:solidFill>
          </a:ln>
        </p:spPr>
        <p:txBody>
          <a:bodyPr wrap="square" rtlCol="0">
            <a:spAutoFit/>
          </a:bodyPr>
          <a:lstStyle/>
          <a:p>
            <a:pPr algn="ctr"/>
            <a:r>
              <a:rPr lang="zh-CN" altLang="en-US" sz="1400" dirty="0"/>
              <a:t>工序分配</a:t>
            </a:r>
          </a:p>
        </p:txBody>
      </p:sp>
      <p:cxnSp>
        <p:nvCxnSpPr>
          <p:cNvPr id="2097178" name="直接箭头连接符 2097177">
            <a:extLst>
              <a:ext uri="{FF2B5EF4-FFF2-40B4-BE49-F238E27FC236}">
                <a16:creationId xmlns:a16="http://schemas.microsoft.com/office/drawing/2014/main" id="{8396A3C1-15D4-4544-32FB-BCEC9D8F2677}"/>
              </a:ext>
            </a:extLst>
          </p:cNvPr>
          <p:cNvCxnSpPr>
            <a:cxnSpLocks/>
            <a:stCxn id="2097175" idx="2"/>
            <a:endCxn id="2097176" idx="0"/>
          </p:cNvCxnSpPr>
          <p:nvPr/>
        </p:nvCxnSpPr>
        <p:spPr>
          <a:xfrm>
            <a:off x="2944799" y="5105222"/>
            <a:ext cx="1" cy="1990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97179" name="直接箭头连接符 2097178">
            <a:extLst>
              <a:ext uri="{FF2B5EF4-FFF2-40B4-BE49-F238E27FC236}">
                <a16:creationId xmlns:a16="http://schemas.microsoft.com/office/drawing/2014/main" id="{D2F1BEA1-D5BE-9C1B-A52D-3398F6B31D6B}"/>
              </a:ext>
            </a:extLst>
          </p:cNvPr>
          <p:cNvCxnSpPr>
            <a:cxnSpLocks/>
            <a:stCxn id="2097176" idx="2"/>
            <a:endCxn id="2097177" idx="0"/>
          </p:cNvCxnSpPr>
          <p:nvPr/>
        </p:nvCxnSpPr>
        <p:spPr>
          <a:xfrm flipH="1">
            <a:off x="2941182" y="5827453"/>
            <a:ext cx="3618" cy="2248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97180" name="箭头: 下 2097179">
            <a:extLst>
              <a:ext uri="{FF2B5EF4-FFF2-40B4-BE49-F238E27FC236}">
                <a16:creationId xmlns:a16="http://schemas.microsoft.com/office/drawing/2014/main" id="{E193AE95-6542-309C-B5FD-2494F07D97F7}"/>
              </a:ext>
            </a:extLst>
          </p:cNvPr>
          <p:cNvSpPr/>
          <p:nvPr/>
        </p:nvSpPr>
        <p:spPr>
          <a:xfrm>
            <a:off x="5392192" y="4029766"/>
            <a:ext cx="244326" cy="530943"/>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7181" name="文本框 2097180">
            <a:extLst>
              <a:ext uri="{FF2B5EF4-FFF2-40B4-BE49-F238E27FC236}">
                <a16:creationId xmlns:a16="http://schemas.microsoft.com/office/drawing/2014/main" id="{62AFF7F5-E71A-6C3D-EEF1-42C405057FB0}"/>
              </a:ext>
            </a:extLst>
          </p:cNvPr>
          <p:cNvSpPr txBox="1"/>
          <p:nvPr/>
        </p:nvSpPr>
        <p:spPr>
          <a:xfrm>
            <a:off x="5519353" y="4112424"/>
            <a:ext cx="822960" cy="276999"/>
          </a:xfrm>
          <a:prstGeom prst="rect">
            <a:avLst/>
          </a:prstGeom>
          <a:noFill/>
        </p:spPr>
        <p:txBody>
          <a:bodyPr wrap="square" rtlCol="0">
            <a:spAutoFit/>
          </a:bodyPr>
          <a:lstStyle/>
          <a:p>
            <a:r>
              <a:rPr lang="zh-CN" altLang="en-US" sz="1200" dirty="0"/>
              <a:t>决策结果</a:t>
            </a:r>
          </a:p>
        </p:txBody>
      </p:sp>
      <p:sp>
        <p:nvSpPr>
          <p:cNvPr id="2097182" name="矩形 2097181">
            <a:extLst>
              <a:ext uri="{FF2B5EF4-FFF2-40B4-BE49-F238E27FC236}">
                <a16:creationId xmlns:a16="http://schemas.microsoft.com/office/drawing/2014/main" id="{C97F7CEA-2C64-C9C7-D196-D163754EBE01}"/>
              </a:ext>
            </a:extLst>
          </p:cNvPr>
          <p:cNvSpPr/>
          <p:nvPr/>
        </p:nvSpPr>
        <p:spPr>
          <a:xfrm>
            <a:off x="4208609" y="4557843"/>
            <a:ext cx="1204904" cy="187414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7183" name="矩形 2097182">
            <a:extLst>
              <a:ext uri="{FF2B5EF4-FFF2-40B4-BE49-F238E27FC236}">
                <a16:creationId xmlns:a16="http://schemas.microsoft.com/office/drawing/2014/main" id="{6423458C-C8A4-F84E-821B-B07258A9CE11}"/>
              </a:ext>
            </a:extLst>
          </p:cNvPr>
          <p:cNvSpPr/>
          <p:nvPr/>
        </p:nvSpPr>
        <p:spPr>
          <a:xfrm>
            <a:off x="4269399" y="4628848"/>
            <a:ext cx="1083324" cy="47785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工人派工</a:t>
            </a:r>
            <a:endParaRPr lang="en-US" altLang="zh-CN" sz="1400" dirty="0">
              <a:solidFill>
                <a:schemeClr val="tx1"/>
              </a:solidFill>
            </a:endParaRPr>
          </a:p>
          <a:p>
            <a:pPr algn="ctr"/>
            <a:r>
              <a:rPr lang="zh-CN" altLang="en-US" sz="1400" dirty="0">
                <a:solidFill>
                  <a:schemeClr val="tx1"/>
                </a:solidFill>
              </a:rPr>
              <a:t>智能体</a:t>
            </a:r>
          </a:p>
        </p:txBody>
      </p:sp>
      <p:sp>
        <p:nvSpPr>
          <p:cNvPr id="2097184" name="文本框 2097183">
            <a:extLst>
              <a:ext uri="{FF2B5EF4-FFF2-40B4-BE49-F238E27FC236}">
                <a16:creationId xmlns:a16="http://schemas.microsoft.com/office/drawing/2014/main" id="{99CED0CA-0105-FD75-0847-53F3B7229A50}"/>
              </a:ext>
            </a:extLst>
          </p:cNvPr>
          <p:cNvSpPr txBox="1"/>
          <p:nvPr/>
        </p:nvSpPr>
        <p:spPr>
          <a:xfrm>
            <a:off x="4269400" y="5305718"/>
            <a:ext cx="1083323" cy="523220"/>
          </a:xfrm>
          <a:prstGeom prst="rect">
            <a:avLst/>
          </a:prstGeom>
          <a:noFill/>
          <a:ln>
            <a:solidFill>
              <a:schemeClr val="tx1"/>
            </a:solidFill>
          </a:ln>
        </p:spPr>
        <p:txBody>
          <a:bodyPr wrap="square" rtlCol="0">
            <a:spAutoFit/>
          </a:bodyPr>
          <a:lstStyle/>
          <a:p>
            <a:pPr algn="ctr"/>
            <a:r>
              <a:rPr lang="zh-CN" altLang="en-US" sz="1400" dirty="0"/>
              <a:t>局部决策</a:t>
            </a:r>
            <a:endParaRPr lang="en-US" altLang="zh-CN" sz="1400" dirty="0"/>
          </a:p>
          <a:p>
            <a:pPr algn="ctr"/>
            <a:r>
              <a:rPr lang="zh-CN" altLang="en-US" sz="1400" dirty="0"/>
              <a:t>网络</a:t>
            </a:r>
          </a:p>
        </p:txBody>
      </p:sp>
      <p:sp>
        <p:nvSpPr>
          <p:cNvPr id="2097185" name="文本框 2097184">
            <a:extLst>
              <a:ext uri="{FF2B5EF4-FFF2-40B4-BE49-F238E27FC236}">
                <a16:creationId xmlns:a16="http://schemas.microsoft.com/office/drawing/2014/main" id="{73CCDD8C-78C3-FEC3-DC3E-9F13DFCE4806}"/>
              </a:ext>
            </a:extLst>
          </p:cNvPr>
          <p:cNvSpPr txBox="1"/>
          <p:nvPr/>
        </p:nvSpPr>
        <p:spPr>
          <a:xfrm>
            <a:off x="4253477" y="6053831"/>
            <a:ext cx="1107933" cy="316982"/>
          </a:xfrm>
          <a:prstGeom prst="rect">
            <a:avLst/>
          </a:prstGeom>
          <a:noFill/>
          <a:ln>
            <a:solidFill>
              <a:schemeClr val="tx1"/>
            </a:solidFill>
          </a:ln>
        </p:spPr>
        <p:txBody>
          <a:bodyPr wrap="square" rtlCol="0">
            <a:spAutoFit/>
          </a:bodyPr>
          <a:lstStyle/>
          <a:p>
            <a:pPr algn="ctr"/>
            <a:r>
              <a:rPr lang="zh-CN" altLang="en-US" sz="1400" dirty="0"/>
              <a:t>工人派工</a:t>
            </a:r>
          </a:p>
        </p:txBody>
      </p:sp>
      <p:cxnSp>
        <p:nvCxnSpPr>
          <p:cNvPr id="2097186" name="直接箭头连接符 2097185">
            <a:extLst>
              <a:ext uri="{FF2B5EF4-FFF2-40B4-BE49-F238E27FC236}">
                <a16:creationId xmlns:a16="http://schemas.microsoft.com/office/drawing/2014/main" id="{C0D4FBE3-678B-B788-B821-2122D674BD3F}"/>
              </a:ext>
            </a:extLst>
          </p:cNvPr>
          <p:cNvCxnSpPr>
            <a:cxnSpLocks/>
            <a:stCxn id="2097183" idx="2"/>
            <a:endCxn id="2097184" idx="0"/>
          </p:cNvCxnSpPr>
          <p:nvPr/>
        </p:nvCxnSpPr>
        <p:spPr>
          <a:xfrm>
            <a:off x="4811061" y="5106707"/>
            <a:ext cx="1" cy="1990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97187" name="直接箭头连接符 2097186">
            <a:extLst>
              <a:ext uri="{FF2B5EF4-FFF2-40B4-BE49-F238E27FC236}">
                <a16:creationId xmlns:a16="http://schemas.microsoft.com/office/drawing/2014/main" id="{71F98D2E-33AF-E80E-F947-CD5C6C5B6382}"/>
              </a:ext>
            </a:extLst>
          </p:cNvPr>
          <p:cNvCxnSpPr>
            <a:cxnSpLocks/>
            <a:stCxn id="2097184" idx="2"/>
            <a:endCxn id="2097185" idx="0"/>
          </p:cNvCxnSpPr>
          <p:nvPr/>
        </p:nvCxnSpPr>
        <p:spPr>
          <a:xfrm flipH="1">
            <a:off x="4807444" y="5828938"/>
            <a:ext cx="3618" cy="2248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97188" name="矩形 2097187">
            <a:extLst>
              <a:ext uri="{FF2B5EF4-FFF2-40B4-BE49-F238E27FC236}">
                <a16:creationId xmlns:a16="http://schemas.microsoft.com/office/drawing/2014/main" id="{8819C79E-C4E1-EC62-C372-81EAD440E59B}"/>
              </a:ext>
            </a:extLst>
          </p:cNvPr>
          <p:cNvSpPr/>
          <p:nvPr/>
        </p:nvSpPr>
        <p:spPr>
          <a:xfrm>
            <a:off x="5602237" y="4560710"/>
            <a:ext cx="1204904" cy="18780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7189" name="矩形 2097188">
            <a:extLst>
              <a:ext uri="{FF2B5EF4-FFF2-40B4-BE49-F238E27FC236}">
                <a16:creationId xmlns:a16="http://schemas.microsoft.com/office/drawing/2014/main" id="{562EF940-AC19-3E79-BBF6-E28A8802AD48}"/>
              </a:ext>
            </a:extLst>
          </p:cNvPr>
          <p:cNvSpPr/>
          <p:nvPr/>
        </p:nvSpPr>
        <p:spPr>
          <a:xfrm>
            <a:off x="5663027" y="4628848"/>
            <a:ext cx="1083324" cy="48463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工序排序</a:t>
            </a:r>
            <a:endParaRPr lang="en-US" altLang="zh-CN" sz="1400" dirty="0">
              <a:solidFill>
                <a:schemeClr val="tx1"/>
              </a:solidFill>
            </a:endParaRPr>
          </a:p>
          <a:p>
            <a:pPr algn="ctr"/>
            <a:r>
              <a:rPr lang="zh-CN" altLang="en-US" sz="1400" dirty="0">
                <a:solidFill>
                  <a:schemeClr val="tx1"/>
                </a:solidFill>
              </a:rPr>
              <a:t>智能体</a:t>
            </a:r>
          </a:p>
        </p:txBody>
      </p:sp>
      <p:sp>
        <p:nvSpPr>
          <p:cNvPr id="2097190" name="文本框 2097189">
            <a:extLst>
              <a:ext uri="{FF2B5EF4-FFF2-40B4-BE49-F238E27FC236}">
                <a16:creationId xmlns:a16="http://schemas.microsoft.com/office/drawing/2014/main" id="{B7390E5E-C97A-7020-03FE-E1AC6DD2A84C}"/>
              </a:ext>
            </a:extLst>
          </p:cNvPr>
          <p:cNvSpPr txBox="1"/>
          <p:nvPr/>
        </p:nvSpPr>
        <p:spPr>
          <a:xfrm>
            <a:off x="5663028" y="5312489"/>
            <a:ext cx="1083323" cy="523220"/>
          </a:xfrm>
          <a:prstGeom prst="rect">
            <a:avLst/>
          </a:prstGeom>
          <a:noFill/>
          <a:ln>
            <a:solidFill>
              <a:schemeClr val="tx1"/>
            </a:solidFill>
          </a:ln>
        </p:spPr>
        <p:txBody>
          <a:bodyPr wrap="square" rtlCol="0">
            <a:spAutoFit/>
          </a:bodyPr>
          <a:lstStyle/>
          <a:p>
            <a:pPr algn="ctr"/>
            <a:r>
              <a:rPr lang="zh-CN" altLang="en-US" sz="1400" dirty="0"/>
              <a:t>局部决策</a:t>
            </a:r>
            <a:endParaRPr lang="en-US" altLang="zh-CN" sz="1400" dirty="0"/>
          </a:p>
          <a:p>
            <a:pPr algn="ctr"/>
            <a:r>
              <a:rPr lang="en-US" altLang="zh-CN" sz="1400" dirty="0"/>
              <a:t>   </a:t>
            </a:r>
            <a:r>
              <a:rPr lang="zh-CN" altLang="en-US" sz="1400" dirty="0"/>
              <a:t>网络</a:t>
            </a:r>
          </a:p>
        </p:txBody>
      </p:sp>
      <p:sp>
        <p:nvSpPr>
          <p:cNvPr id="2097191" name="文本框 2097190">
            <a:extLst>
              <a:ext uri="{FF2B5EF4-FFF2-40B4-BE49-F238E27FC236}">
                <a16:creationId xmlns:a16="http://schemas.microsoft.com/office/drawing/2014/main" id="{A8893C74-5F85-1124-7A46-474632A76BFC}"/>
              </a:ext>
            </a:extLst>
          </p:cNvPr>
          <p:cNvSpPr txBox="1"/>
          <p:nvPr/>
        </p:nvSpPr>
        <p:spPr>
          <a:xfrm>
            <a:off x="5647105" y="6060602"/>
            <a:ext cx="1107933" cy="316982"/>
          </a:xfrm>
          <a:prstGeom prst="rect">
            <a:avLst/>
          </a:prstGeom>
          <a:noFill/>
          <a:ln>
            <a:solidFill>
              <a:schemeClr val="tx1"/>
            </a:solidFill>
          </a:ln>
        </p:spPr>
        <p:txBody>
          <a:bodyPr wrap="square" rtlCol="0">
            <a:spAutoFit/>
          </a:bodyPr>
          <a:lstStyle/>
          <a:p>
            <a:pPr algn="ctr"/>
            <a:r>
              <a:rPr lang="zh-CN" altLang="en-US" sz="1400" dirty="0"/>
              <a:t>工序分配</a:t>
            </a:r>
          </a:p>
        </p:txBody>
      </p:sp>
      <p:cxnSp>
        <p:nvCxnSpPr>
          <p:cNvPr id="2097192" name="直接箭头连接符 2097191">
            <a:extLst>
              <a:ext uri="{FF2B5EF4-FFF2-40B4-BE49-F238E27FC236}">
                <a16:creationId xmlns:a16="http://schemas.microsoft.com/office/drawing/2014/main" id="{96731F9B-B95A-32F3-1D11-AFEF7884A120}"/>
              </a:ext>
            </a:extLst>
          </p:cNvPr>
          <p:cNvCxnSpPr>
            <a:cxnSpLocks/>
            <a:stCxn id="2097189" idx="2"/>
            <a:endCxn id="2097190" idx="0"/>
          </p:cNvCxnSpPr>
          <p:nvPr/>
        </p:nvCxnSpPr>
        <p:spPr>
          <a:xfrm>
            <a:off x="6204689" y="5113478"/>
            <a:ext cx="1" cy="1990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97193" name="直接箭头连接符 2097192">
            <a:extLst>
              <a:ext uri="{FF2B5EF4-FFF2-40B4-BE49-F238E27FC236}">
                <a16:creationId xmlns:a16="http://schemas.microsoft.com/office/drawing/2014/main" id="{09593FAE-6A52-F1A5-210D-46BA187B38E0}"/>
              </a:ext>
            </a:extLst>
          </p:cNvPr>
          <p:cNvCxnSpPr>
            <a:cxnSpLocks/>
            <a:stCxn id="2097190" idx="2"/>
            <a:endCxn id="2097191" idx="0"/>
          </p:cNvCxnSpPr>
          <p:nvPr/>
        </p:nvCxnSpPr>
        <p:spPr>
          <a:xfrm flipH="1">
            <a:off x="6201072" y="5835709"/>
            <a:ext cx="3618" cy="2248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097197" name="组合 2097196">
            <a:extLst>
              <a:ext uri="{FF2B5EF4-FFF2-40B4-BE49-F238E27FC236}">
                <a16:creationId xmlns:a16="http://schemas.microsoft.com/office/drawing/2014/main" id="{86B1BF5F-6F63-8BCA-8F09-EDEE66E468AD}"/>
              </a:ext>
            </a:extLst>
          </p:cNvPr>
          <p:cNvGrpSpPr/>
          <p:nvPr/>
        </p:nvGrpSpPr>
        <p:grpSpPr>
          <a:xfrm>
            <a:off x="9253930" y="2049391"/>
            <a:ext cx="688401" cy="912064"/>
            <a:chOff x="9588137" y="1799950"/>
            <a:chExt cx="898907" cy="1165473"/>
          </a:xfrm>
        </p:grpSpPr>
        <p:sp>
          <p:nvSpPr>
            <p:cNvPr id="2097195" name="矩形 2097194">
              <a:extLst>
                <a:ext uri="{FF2B5EF4-FFF2-40B4-BE49-F238E27FC236}">
                  <a16:creationId xmlns:a16="http://schemas.microsoft.com/office/drawing/2014/main" id="{A8DFC1D2-FC06-C6E0-0DF6-BE950F5E1434}"/>
                </a:ext>
              </a:extLst>
            </p:cNvPr>
            <p:cNvSpPr/>
            <p:nvPr/>
          </p:nvSpPr>
          <p:spPr>
            <a:xfrm>
              <a:off x="9757954" y="1799950"/>
              <a:ext cx="729090" cy="5353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7196" name="矩形 2097195">
              <a:extLst>
                <a:ext uri="{FF2B5EF4-FFF2-40B4-BE49-F238E27FC236}">
                  <a16:creationId xmlns:a16="http://schemas.microsoft.com/office/drawing/2014/main" id="{3A4B0230-BBF2-B530-FA98-75B1F7382719}"/>
                </a:ext>
              </a:extLst>
            </p:cNvPr>
            <p:cNvSpPr/>
            <p:nvPr/>
          </p:nvSpPr>
          <p:spPr>
            <a:xfrm>
              <a:off x="9588137" y="2738357"/>
              <a:ext cx="627018" cy="2270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97198" name="文本框 5">
            <a:extLst>
              <a:ext uri="{FF2B5EF4-FFF2-40B4-BE49-F238E27FC236}">
                <a16:creationId xmlns:a16="http://schemas.microsoft.com/office/drawing/2014/main" id="{4D2A0376-07D7-895F-2E3A-98CA0EEC4126}"/>
              </a:ext>
            </a:extLst>
          </p:cNvPr>
          <p:cNvSpPr txBox="1"/>
          <p:nvPr/>
        </p:nvSpPr>
        <p:spPr>
          <a:xfrm>
            <a:off x="7288012" y="1232175"/>
            <a:ext cx="4612116" cy="5357557"/>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n"/>
            </a:pPr>
            <a:r>
              <a:rPr lang="zh-CN" altLang="en-US" sz="1800" b="1" kern="100" dirty="0">
                <a:solidFill>
                  <a:schemeClr val="accent6">
                    <a:lumMod val="60000"/>
                    <a:lumOff val="40000"/>
                  </a:schemeClr>
                </a:solidFill>
                <a:effectLst/>
                <a:latin typeface="+mn-ea"/>
                <a:cs typeface="+mn-ea"/>
              </a:rPr>
              <a:t>问题难点</a:t>
            </a:r>
            <a:endParaRPr lang="en-US" altLang="zh-CN" sz="1800" b="1" kern="100" dirty="0">
              <a:solidFill>
                <a:schemeClr val="accent6">
                  <a:lumMod val="60000"/>
                  <a:lumOff val="40000"/>
                </a:schemeClr>
              </a:solidFill>
              <a:effectLst/>
              <a:latin typeface="+mn-ea"/>
              <a:cs typeface="+mn-ea"/>
            </a:endParaRPr>
          </a:p>
          <a:p>
            <a:pPr indent="457200" algn="just">
              <a:lnSpc>
                <a:spcPct val="150000"/>
              </a:lnSpc>
            </a:pPr>
            <a:r>
              <a:rPr lang="en-US" altLang="zh-CN" sz="1600" dirty="0"/>
              <a:t> </a:t>
            </a:r>
            <a:r>
              <a:rPr lang="zh-CN" altLang="en-US" sz="1600" dirty="0"/>
              <a:t>由于加入了机器退化，系统内部资源异构且高度耦合，状态更为复杂，对感知表征提出了更高的要求。单一层次的多智能体决策框架因决策颗粒度与系统复杂度不匹配而表现出局限性。</a:t>
            </a:r>
            <a:endParaRPr lang="en-US" altLang="zh-CN" sz="1800" kern="100" dirty="0">
              <a:solidFill>
                <a:schemeClr val="accent6">
                  <a:lumMod val="60000"/>
                  <a:lumOff val="40000"/>
                </a:schemeClr>
              </a:solidFill>
              <a:effectLst/>
              <a:latin typeface="+mn-ea"/>
              <a:cs typeface="+mn-ea"/>
            </a:endParaRPr>
          </a:p>
          <a:p>
            <a:pPr marL="285750" indent="-285750" algn="just">
              <a:lnSpc>
                <a:spcPct val="150000"/>
              </a:lnSpc>
              <a:buFont typeface="Wingdings" panose="05000000000000000000" pitchFamily="2" charset="2"/>
              <a:buChar char="n"/>
            </a:pPr>
            <a:r>
              <a:rPr lang="zh-CN" altLang="en-US" sz="1800" b="1" kern="100" dirty="0">
                <a:solidFill>
                  <a:schemeClr val="accent2"/>
                </a:solidFill>
                <a:effectLst/>
                <a:latin typeface="+mn-ea"/>
                <a:cs typeface="+mn-ea"/>
              </a:rPr>
              <a:t>机器退化与人机因返工</a:t>
            </a:r>
            <a:endParaRPr lang="en-US" altLang="zh-CN" sz="1800" b="1" kern="100" dirty="0">
              <a:solidFill>
                <a:schemeClr val="accent2"/>
              </a:solidFill>
              <a:effectLst/>
              <a:latin typeface="+mn-ea"/>
              <a:cs typeface="+mn-ea"/>
            </a:endParaRPr>
          </a:p>
          <a:p>
            <a:pPr indent="457200" algn="just">
              <a:lnSpc>
                <a:spcPct val="150000"/>
              </a:lnSpc>
            </a:pPr>
            <a:r>
              <a:rPr lang="zh-CN" altLang="en-US" sz="1600" dirty="0"/>
              <a:t>将机器退化按威布尔过程建模，采取基于状态或基于空窗的维护动作。同时将机器退化程度引入质量缺陷模型中考虑人机因素下的返工。</a:t>
            </a:r>
            <a:endParaRPr lang="zh-CN" altLang="zh-CN" sz="1600" dirty="0"/>
          </a:p>
          <a:p>
            <a:pPr marL="285750" indent="-285750" algn="just">
              <a:lnSpc>
                <a:spcPct val="150000"/>
              </a:lnSpc>
              <a:buFont typeface="Wingdings" panose="05000000000000000000" pitchFamily="2" charset="2"/>
              <a:buChar char="n"/>
            </a:pPr>
            <a:r>
              <a:rPr lang="zh-CN" altLang="en-US" b="1" kern="100" dirty="0">
                <a:solidFill>
                  <a:schemeClr val="accent1"/>
                </a:solidFill>
                <a:latin typeface="+mn-ea"/>
                <a:cs typeface="+mn-ea"/>
              </a:rPr>
              <a:t>分层框架设计 </a:t>
            </a:r>
            <a:endParaRPr lang="en-US" altLang="zh-CN" b="1" kern="100" dirty="0">
              <a:solidFill>
                <a:schemeClr val="accent1"/>
              </a:solidFill>
              <a:latin typeface="+mn-ea"/>
              <a:cs typeface="+mn-ea"/>
            </a:endParaRPr>
          </a:p>
          <a:p>
            <a:pPr>
              <a:lnSpc>
                <a:spcPct val="150000"/>
              </a:lnSpc>
            </a:pPr>
            <a:r>
              <a:rPr lang="zh-CN" altLang="en-US" sz="1600" b="1" dirty="0"/>
              <a:t>上层</a:t>
            </a:r>
            <a:r>
              <a:rPr lang="zh-CN" altLang="en-US" sz="1600" dirty="0"/>
              <a:t>：</a:t>
            </a:r>
            <a:r>
              <a:rPr lang="en-US" altLang="zh-CN" sz="1600" dirty="0"/>
              <a:t> </a:t>
            </a:r>
            <a:r>
              <a:rPr lang="zh-CN" altLang="en-US" sz="1600" dirty="0"/>
              <a:t>用 </a:t>
            </a:r>
            <a:r>
              <a:rPr lang="en-US" altLang="zh-CN" sz="1600" dirty="0"/>
              <a:t>Graph-IPPO</a:t>
            </a:r>
            <a:r>
              <a:rPr lang="zh-CN" altLang="en-US" sz="1600" dirty="0"/>
              <a:t> 做低频、时间窗级的工人短休与机器维护协调。</a:t>
            </a:r>
            <a:endParaRPr lang="en-US" altLang="zh-CN" sz="1600" dirty="0"/>
          </a:p>
          <a:p>
            <a:pPr>
              <a:lnSpc>
                <a:spcPct val="150000"/>
              </a:lnSpc>
            </a:pPr>
            <a:r>
              <a:rPr lang="zh-CN" altLang="en-US" sz="1600" dirty="0"/>
              <a:t>两层通过“时间窗 → 掩码”进行接口解耦</a:t>
            </a:r>
            <a:br>
              <a:rPr lang="zh-CN" altLang="en-US" sz="1600" dirty="0"/>
            </a:br>
            <a:r>
              <a:rPr lang="zh-CN" altLang="en-US" sz="1600" b="1" dirty="0"/>
              <a:t>下层</a:t>
            </a:r>
            <a:r>
              <a:rPr lang="zh-CN" altLang="en-US" sz="1600" dirty="0"/>
              <a:t>：高频的工序排序与工人派工</a:t>
            </a:r>
            <a:endParaRPr lang="en-US" altLang="zh-CN" sz="1600" dirty="0"/>
          </a:p>
        </p:txBody>
      </p:sp>
      <p:sp>
        <p:nvSpPr>
          <p:cNvPr id="2097199" name="文本框 2097198">
            <a:extLst>
              <a:ext uri="{FF2B5EF4-FFF2-40B4-BE49-F238E27FC236}">
                <a16:creationId xmlns:a16="http://schemas.microsoft.com/office/drawing/2014/main" id="{0BD9C186-F30E-FE83-3FC8-E01F70F35539}"/>
              </a:ext>
            </a:extLst>
          </p:cNvPr>
          <p:cNvSpPr txBox="1"/>
          <p:nvPr/>
        </p:nvSpPr>
        <p:spPr>
          <a:xfrm>
            <a:off x="3454945" y="3296840"/>
            <a:ext cx="822960" cy="461665"/>
          </a:xfrm>
          <a:prstGeom prst="rect">
            <a:avLst/>
          </a:prstGeom>
          <a:noFill/>
        </p:spPr>
        <p:txBody>
          <a:bodyPr wrap="square" rtlCol="0">
            <a:spAutoFit/>
          </a:bodyPr>
          <a:lstStyle/>
          <a:p>
            <a:pPr algn="ctr"/>
            <a:r>
              <a:rPr lang="zh-CN" altLang="en-US" sz="1200" dirty="0"/>
              <a:t>站位间</a:t>
            </a:r>
            <a:endParaRPr lang="en-US" altLang="zh-CN" sz="1200" dirty="0"/>
          </a:p>
          <a:p>
            <a:pPr algn="ctr"/>
            <a:r>
              <a:rPr lang="zh-CN" altLang="en-US" sz="1200" dirty="0"/>
              <a:t>信息共享</a:t>
            </a:r>
          </a:p>
        </p:txBody>
      </p:sp>
    </p:spTree>
    <p:extLst>
      <p:ext uri="{BB962C8B-B14F-4D97-AF65-F5344CB8AC3E}">
        <p14:creationId xmlns:p14="http://schemas.microsoft.com/office/powerpoint/2010/main" val="1776575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6" name="稻壳儿小白白(http://dwz.cn/Wu2UP)"/>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75" name="图片 17"/>
          <p:cNvPicPr>
            <a:picLocks noChangeAspect="1"/>
          </p:cNvPicPr>
          <p:nvPr/>
        </p:nvPicPr>
        <p:blipFill rotWithShape="1">
          <a:blip r:embed="rId3" cstate="print"/>
          <a:srcRect r="855"/>
          <a:stretch>
            <a:fillRect/>
          </a:stretch>
        </p:blipFill>
        <p:spPr>
          <a:xfrm>
            <a:off x="10301625" y="20910"/>
            <a:ext cx="1809525" cy="526143"/>
          </a:xfrm>
          <a:prstGeom prst="rect">
            <a:avLst/>
          </a:prstGeom>
        </p:spPr>
      </p:pic>
      <p:sp>
        <p:nvSpPr>
          <p:cNvPr id="1048757" name="标题 1"/>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4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技术路线</a:t>
            </a:r>
          </a:p>
        </p:txBody>
      </p:sp>
      <p:sp>
        <p:nvSpPr>
          <p:cNvPr id="1048758" name="文本框 21"/>
          <p:cNvSpPr txBox="1"/>
          <p:nvPr/>
        </p:nvSpPr>
        <p:spPr>
          <a:xfrm>
            <a:off x="695234" y="1736700"/>
            <a:ext cx="10728827" cy="2120902"/>
          </a:xfrm>
          <a:prstGeom prst="rect">
            <a:avLst/>
          </a:prstGeom>
          <a:noFill/>
        </p:spPr>
        <p:txBody>
          <a:bodyPr wrap="square" rtlCol="0">
            <a:spAutoFit/>
          </a:bodyPr>
          <a:lstStyle/>
          <a:p>
            <a:pPr marL="285750" indent="-285750">
              <a:lnSpc>
                <a:spcPct val="150000"/>
              </a:lnSpc>
              <a:buFont typeface="Wingdings" panose="05000000000000000000" pitchFamily="2" charset="2"/>
              <a:buChar char="n"/>
            </a:pPr>
            <a:r>
              <a:rPr lang="zh-CN" altLang="en-US" kern="100" dirty="0">
                <a:solidFill>
                  <a:srgbClr val="000000"/>
                </a:solidFill>
                <a:latin typeface="+mn-ea"/>
                <a:cs typeface="+mn-ea"/>
              </a:rPr>
              <a:t>实验验证</a:t>
            </a:r>
            <a:endParaRPr lang="en-US" altLang="zh-CN" kern="100" dirty="0">
              <a:solidFill>
                <a:srgbClr val="000000"/>
              </a:solidFill>
              <a:latin typeface="+mn-ea"/>
              <a:cs typeface="+mn-ea"/>
            </a:endParaRPr>
          </a:p>
          <a:p>
            <a:pPr indent="457200">
              <a:lnSpc>
                <a:spcPct val="150000"/>
              </a:lnSpc>
            </a:pPr>
            <a:r>
              <a:rPr lang="zh-CN" altLang="zh-CN" kern="100" dirty="0">
                <a:latin typeface="+mn-ea"/>
                <a:cs typeface="+mn-ea"/>
              </a:rPr>
              <a:t>通过</a:t>
            </a:r>
            <a:r>
              <a:rPr lang="en-US" altLang="zh-CN" kern="100" dirty="0">
                <a:latin typeface="+mn-ea"/>
                <a:cs typeface="+mn-ea"/>
              </a:rPr>
              <a:t>PyCharm</a:t>
            </a:r>
            <a:r>
              <a:rPr lang="zh-CN" altLang="zh-CN" kern="100" dirty="0">
                <a:latin typeface="+mn-ea"/>
                <a:cs typeface="+mn-ea"/>
              </a:rPr>
              <a:t>等开发平台</a:t>
            </a:r>
            <a:r>
              <a:rPr lang="zh-CN" altLang="en-US" kern="100" dirty="0">
                <a:latin typeface="+mn-ea"/>
                <a:cs typeface="+mn-ea"/>
              </a:rPr>
              <a:t>进行</a:t>
            </a:r>
            <a:r>
              <a:rPr lang="zh-CN" altLang="zh-CN" kern="100" dirty="0">
                <a:latin typeface="+mn-ea"/>
                <a:cs typeface="+mn-ea"/>
              </a:rPr>
              <a:t>程序编写和实验分析。</a:t>
            </a:r>
            <a:endParaRPr lang="en-US" altLang="zh-CN" kern="100" dirty="0">
              <a:latin typeface="+mn-ea"/>
              <a:cs typeface="+mn-ea"/>
            </a:endParaRPr>
          </a:p>
          <a:p>
            <a:pPr marL="285750" indent="-285750">
              <a:lnSpc>
                <a:spcPct val="150000"/>
              </a:lnSpc>
              <a:buFont typeface="Wingdings" panose="05000000000000000000" pitchFamily="2" charset="2"/>
              <a:buChar char="n"/>
            </a:pPr>
            <a:r>
              <a:rPr lang="zh-CN" altLang="en-US" kern="100" dirty="0">
                <a:solidFill>
                  <a:srgbClr val="000000"/>
                </a:solidFill>
                <a:latin typeface="+mn-ea"/>
                <a:cs typeface="+mn-ea"/>
              </a:rPr>
              <a:t>原型系统搭建</a:t>
            </a:r>
            <a:endParaRPr lang="en-US" altLang="zh-CN" kern="100" dirty="0">
              <a:solidFill>
                <a:srgbClr val="000000"/>
              </a:solidFill>
              <a:latin typeface="+mn-ea"/>
              <a:cs typeface="+mn-ea"/>
            </a:endParaRPr>
          </a:p>
          <a:p>
            <a:pPr indent="457200">
              <a:lnSpc>
                <a:spcPct val="150000"/>
              </a:lnSpc>
            </a:pPr>
            <a:r>
              <a:rPr lang="zh-CN" altLang="en-US" kern="100" dirty="0">
                <a:latin typeface="+mn-ea"/>
                <a:cs typeface="+mn-ea"/>
              </a:rPr>
              <a:t>搭建飞机脉动装配线可视化调度与监测平台，进行实例验证和进一步完善上述理论和技术成果。</a:t>
            </a:r>
            <a:endParaRPr lang="en-US" altLang="zh-CN" kern="100" dirty="0">
              <a:latin typeface="+mn-ea"/>
              <a:cs typeface="+mn-ea"/>
            </a:endParaRPr>
          </a:p>
          <a:p>
            <a:pPr indent="457200">
              <a:lnSpc>
                <a:spcPct val="150000"/>
              </a:lnSpc>
            </a:pPr>
            <a:endParaRPr lang="en-US" altLang="zh-CN" kern="100" dirty="0">
              <a:solidFill>
                <a:srgbClr val="000000"/>
              </a:solidFill>
              <a:latin typeface="+mn-ea"/>
              <a:cs typeface="+mn-ea"/>
            </a:endParaRPr>
          </a:p>
        </p:txBody>
      </p:sp>
      <p:sp>
        <p:nvSpPr>
          <p:cNvPr id="1048759" name="文本框 3"/>
          <p:cNvSpPr txBox="1"/>
          <p:nvPr/>
        </p:nvSpPr>
        <p:spPr>
          <a:xfrm>
            <a:off x="695235" y="954831"/>
            <a:ext cx="3425938" cy="400110"/>
          </a:xfrm>
          <a:prstGeom prst="rect">
            <a:avLst/>
          </a:prstGeom>
          <a:noFill/>
        </p:spPr>
        <p:txBody>
          <a:bodyPr wrap="none" rtlCol="0">
            <a:spAutoFit/>
          </a:bodyPr>
          <a:lstStyle/>
          <a:p>
            <a:pPr marL="285750" indent="-285750">
              <a:buFont typeface="Wingdings" panose="05000000000000000000" pitchFamily="2" charset="2"/>
              <a:buChar char="p"/>
            </a:pPr>
            <a:r>
              <a:rPr lang="en-US" altLang="zh-CN" sz="2000" kern="100" dirty="0">
                <a:latin typeface="微软雅黑" panose="020B0503020204020204" charset="-122"/>
                <a:ea typeface="微软雅黑" panose="020B0503020204020204" charset="-122"/>
                <a:cs typeface="Times New Roman" panose="02020603050405020304" pitchFamily="18" charset="0"/>
              </a:rPr>
              <a:t>4 </a:t>
            </a:r>
            <a:r>
              <a:rPr lang="zh-CN" altLang="en-US" sz="2000" kern="100" dirty="0">
                <a:latin typeface="微软雅黑" panose="020B0503020204020204" charset="-122"/>
                <a:ea typeface="微软雅黑" panose="020B0503020204020204" charset="-122"/>
                <a:cs typeface="Times New Roman" panose="02020603050405020304" pitchFamily="18" charset="0"/>
              </a:rPr>
              <a:t>案例与验证</a:t>
            </a:r>
            <a:r>
              <a:rPr lang="en-US" altLang="zh-CN" sz="1600" kern="100" dirty="0">
                <a:effectLst/>
                <a:latin typeface="微软雅黑" panose="020B0503020204020204" charset="-122"/>
                <a:ea typeface="微软雅黑" panose="020B0503020204020204" charset="-122"/>
                <a:cs typeface="Times New Roman" panose="02020603050405020304" pitchFamily="18" charset="0"/>
              </a:rPr>
              <a:t>——</a:t>
            </a:r>
            <a:r>
              <a:rPr kumimoji="1" lang="zh-CN" altLang="en-US" sz="1600" dirty="0">
                <a:latin typeface="微软雅黑" panose="020B0503020204020204" charset="-122"/>
                <a:ea typeface="微软雅黑" panose="020B0503020204020204" charset="-122"/>
              </a:rPr>
              <a:t>研究内容</a:t>
            </a:r>
            <a:r>
              <a:rPr kumimoji="1" lang="en-US" altLang="zh-CN" sz="1600" dirty="0">
                <a:latin typeface="微软雅黑" panose="020B0503020204020204" charset="-122"/>
                <a:ea typeface="微软雅黑" panose="020B0503020204020204" charset="-122"/>
              </a:rPr>
              <a:t>4</a:t>
            </a:r>
            <a:r>
              <a:rPr lang="zh-CN" altLang="zh-CN" sz="1600" kern="100" dirty="0">
                <a:latin typeface="微软雅黑" panose="020B0503020204020204" charset="-122"/>
                <a:ea typeface="微软雅黑" panose="020B0503020204020204" charset="-122"/>
                <a:cs typeface="Times New Roman" panose="02020603050405020304" pitchFamily="18" charset="0"/>
              </a:rPr>
              <a:t> </a:t>
            </a:r>
            <a:endParaRPr lang="zh-CN" altLang="en-US" sz="1600" kern="100" dirty="0">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726E5-78E9-01DA-5C41-D8886BB50DA6}"/>
            </a:ext>
          </a:extLst>
        </p:cNvPr>
        <p:cNvGrpSpPr/>
        <p:nvPr/>
      </p:nvGrpSpPr>
      <p:grpSpPr>
        <a:xfrm>
          <a:off x="0" y="0"/>
          <a:ext cx="0" cy="0"/>
          <a:chOff x="0" y="0"/>
          <a:chExt cx="0" cy="0"/>
        </a:xfrm>
      </p:grpSpPr>
      <p:sp>
        <p:nvSpPr>
          <p:cNvPr id="1048756" name="稻壳儿小白白(http://dwz.cn/Wu2UP)">
            <a:extLst>
              <a:ext uri="{FF2B5EF4-FFF2-40B4-BE49-F238E27FC236}">
                <a16:creationId xmlns:a16="http://schemas.microsoft.com/office/drawing/2014/main" id="{BC2A07E0-728D-4465-4C0F-0E4480EDFFB6}"/>
              </a:ext>
            </a:extLst>
          </p:cNvPr>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75" name="图片 17">
            <a:extLst>
              <a:ext uri="{FF2B5EF4-FFF2-40B4-BE49-F238E27FC236}">
                <a16:creationId xmlns:a16="http://schemas.microsoft.com/office/drawing/2014/main" id="{A8F0EBA4-3554-D955-BCA4-1C1DADFB6640}"/>
              </a:ext>
            </a:extLst>
          </p:cNvPr>
          <p:cNvPicPr>
            <a:picLocks noChangeAspect="1"/>
          </p:cNvPicPr>
          <p:nvPr/>
        </p:nvPicPr>
        <p:blipFill rotWithShape="1">
          <a:blip r:embed="rId3" cstate="print"/>
          <a:srcRect r="855"/>
          <a:stretch>
            <a:fillRect/>
          </a:stretch>
        </p:blipFill>
        <p:spPr>
          <a:xfrm>
            <a:off x="10301625" y="20910"/>
            <a:ext cx="1809525" cy="526143"/>
          </a:xfrm>
          <a:prstGeom prst="rect">
            <a:avLst/>
          </a:prstGeom>
        </p:spPr>
      </p:pic>
      <p:sp>
        <p:nvSpPr>
          <p:cNvPr id="1048757" name="标题 1">
            <a:extLst>
              <a:ext uri="{FF2B5EF4-FFF2-40B4-BE49-F238E27FC236}">
                <a16:creationId xmlns:a16="http://schemas.microsoft.com/office/drawing/2014/main" id="{ECB819D7-1AD8-5500-D821-3D2B6DCE421B}"/>
              </a:ext>
            </a:extLst>
          </p:cNvPr>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altLang="zh-CN"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4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技术路线</a:t>
            </a:r>
          </a:p>
        </p:txBody>
      </p:sp>
      <p:sp>
        <p:nvSpPr>
          <p:cNvPr id="1048758" name="文本框 21">
            <a:extLst>
              <a:ext uri="{FF2B5EF4-FFF2-40B4-BE49-F238E27FC236}">
                <a16:creationId xmlns:a16="http://schemas.microsoft.com/office/drawing/2014/main" id="{48B9B6EF-A1E5-20E2-C845-19441A7DC911}"/>
              </a:ext>
            </a:extLst>
          </p:cNvPr>
          <p:cNvSpPr txBox="1"/>
          <p:nvPr/>
        </p:nvSpPr>
        <p:spPr>
          <a:xfrm>
            <a:off x="695234" y="1822422"/>
            <a:ext cx="10728827" cy="3367397"/>
          </a:xfrm>
          <a:prstGeom prst="rect">
            <a:avLst/>
          </a:prstGeom>
          <a:noFill/>
        </p:spPr>
        <p:txBody>
          <a:bodyPr wrap="square" rtlCol="0">
            <a:spAutoFit/>
          </a:bodyPr>
          <a:lstStyle/>
          <a:p>
            <a:pPr marL="285750" indent="-285750">
              <a:lnSpc>
                <a:spcPct val="150000"/>
              </a:lnSpc>
              <a:buFont typeface="Wingdings" panose="05000000000000000000" pitchFamily="2" charset="2"/>
              <a:buChar char="n"/>
            </a:pPr>
            <a:r>
              <a:rPr lang="zh-CN" altLang="zh-CN" kern="100" dirty="0">
                <a:solidFill>
                  <a:srgbClr val="000000"/>
                </a:solidFill>
                <a:latin typeface="+mn-ea"/>
                <a:cs typeface="+mn-ea"/>
              </a:rPr>
              <a:t>广泛研究基础</a:t>
            </a:r>
            <a:endParaRPr lang="en-US" altLang="zh-CN" kern="100" dirty="0">
              <a:solidFill>
                <a:srgbClr val="000000"/>
              </a:solidFill>
              <a:latin typeface="+mn-ea"/>
              <a:cs typeface="+mn-ea"/>
            </a:endParaRPr>
          </a:p>
          <a:p>
            <a:pPr indent="457200">
              <a:lnSpc>
                <a:spcPct val="150000"/>
              </a:lnSpc>
            </a:pPr>
            <a:r>
              <a:rPr lang="zh-CN" altLang="en-US" kern="100" dirty="0">
                <a:latin typeface="+mn-ea"/>
                <a:cs typeface="+mn-ea"/>
              </a:rPr>
              <a:t>本课题依托于国家自然科学基金重点项目。</a:t>
            </a:r>
            <a:endParaRPr lang="en-US" altLang="zh-CN" kern="100" dirty="0">
              <a:latin typeface="+mn-ea"/>
              <a:cs typeface="+mn-ea"/>
            </a:endParaRPr>
          </a:p>
          <a:p>
            <a:pPr indent="457200">
              <a:lnSpc>
                <a:spcPct val="150000"/>
              </a:lnSpc>
              <a:buFont typeface="Wingdings" panose="05000000000000000000" pitchFamily="2" charset="2"/>
              <a:buNone/>
            </a:pPr>
            <a:r>
              <a:rPr lang="zh-CN" altLang="en-US" sz="1800" kern="100" dirty="0">
                <a:latin typeface="+mn-ea"/>
                <a:cs typeface="+mn-ea"/>
              </a:rPr>
              <a:t>本课题组与某航空研究设计院建立了合作，有实地调研的条件，还有大量合作方提供的生产调度数据。</a:t>
            </a:r>
          </a:p>
          <a:p>
            <a:pPr marL="285750" indent="-285750">
              <a:lnSpc>
                <a:spcPct val="150000"/>
              </a:lnSpc>
              <a:buFont typeface="Wingdings" panose="05000000000000000000" pitchFamily="2" charset="2"/>
              <a:buChar char="n"/>
            </a:pPr>
            <a:r>
              <a:rPr lang="zh-CN" altLang="en-US" sz="1800" kern="100" dirty="0">
                <a:solidFill>
                  <a:srgbClr val="000000"/>
                </a:solidFill>
                <a:effectLst/>
                <a:latin typeface="+mn-ea"/>
                <a:cs typeface="+mn-ea"/>
              </a:rPr>
              <a:t>前期研究</a:t>
            </a:r>
            <a:r>
              <a:rPr lang="zh-CN" altLang="zh-CN" sz="1800" kern="100" dirty="0">
                <a:solidFill>
                  <a:srgbClr val="000000"/>
                </a:solidFill>
                <a:effectLst/>
                <a:latin typeface="+mn-ea"/>
                <a:cs typeface="+mn-ea"/>
              </a:rPr>
              <a:t>基础</a:t>
            </a:r>
            <a:endParaRPr lang="en-US" altLang="zh-CN" kern="100" dirty="0">
              <a:solidFill>
                <a:srgbClr val="000000"/>
              </a:solidFill>
              <a:latin typeface="+mn-ea"/>
              <a:cs typeface="+mn-ea"/>
            </a:endParaRPr>
          </a:p>
          <a:p>
            <a:pPr indent="457200" algn="just">
              <a:lnSpc>
                <a:spcPct val="150000"/>
              </a:lnSpc>
            </a:pPr>
            <a:r>
              <a:rPr lang="zh-CN" altLang="en-US" dirty="0"/>
              <a:t>本人已开展飞机脉动装配线的相关研究，针对工人离岗导致的站位资源失衡问题，提出基于改进合同网算法与非支配排序遗传算法的分布式重调度方法实现了站位间工人资源的动态调整，研究成果已被</a:t>
            </a:r>
            <a:r>
              <a:rPr lang="en-US" altLang="zh-CN" dirty="0"/>
              <a:t>CPCC2025</a:t>
            </a:r>
            <a:r>
              <a:rPr lang="zh-CN" altLang="en-US" dirty="0"/>
              <a:t>接收。</a:t>
            </a:r>
            <a:endParaRPr lang="en-US" altLang="zh-CN" dirty="0"/>
          </a:p>
          <a:p>
            <a:pPr indent="457200">
              <a:lnSpc>
                <a:spcPct val="150000"/>
              </a:lnSpc>
            </a:pPr>
            <a:r>
              <a:rPr lang="zh-CN" altLang="en-US" kern="100" dirty="0">
                <a:latin typeface="+mn-ea"/>
                <a:cs typeface="+mn-ea"/>
              </a:rPr>
              <a:t>本人已开展研究内容</a:t>
            </a:r>
            <a:r>
              <a:rPr lang="en-US" altLang="zh-CN" kern="100" dirty="0">
                <a:latin typeface="+mn-ea"/>
                <a:cs typeface="+mn-ea"/>
              </a:rPr>
              <a:t>1</a:t>
            </a:r>
            <a:r>
              <a:rPr lang="zh-CN" altLang="en-US" kern="100" dirty="0">
                <a:latin typeface="+mn-ea"/>
                <a:cs typeface="+mn-ea"/>
              </a:rPr>
              <a:t>的相关研究，已经完成部分实验。</a:t>
            </a:r>
            <a:endParaRPr lang="en-US" altLang="zh-CN" kern="100" dirty="0">
              <a:latin typeface="+mn-ea"/>
              <a:cs typeface="+mn-ea"/>
            </a:endParaRPr>
          </a:p>
        </p:txBody>
      </p:sp>
      <p:sp>
        <p:nvSpPr>
          <p:cNvPr id="1048759" name="文本框 3">
            <a:extLst>
              <a:ext uri="{FF2B5EF4-FFF2-40B4-BE49-F238E27FC236}">
                <a16:creationId xmlns:a16="http://schemas.microsoft.com/office/drawing/2014/main" id="{853492C7-09E2-BD36-E553-0F32CD4EEBD9}"/>
              </a:ext>
            </a:extLst>
          </p:cNvPr>
          <p:cNvSpPr txBox="1"/>
          <p:nvPr/>
        </p:nvSpPr>
        <p:spPr>
          <a:xfrm>
            <a:off x="695235" y="954831"/>
            <a:ext cx="1816523" cy="400110"/>
          </a:xfrm>
          <a:prstGeom prst="rect">
            <a:avLst/>
          </a:prstGeom>
          <a:noFill/>
        </p:spPr>
        <p:txBody>
          <a:bodyPr wrap="none" rtlCol="0">
            <a:spAutoFit/>
          </a:bodyPr>
          <a:lstStyle/>
          <a:p>
            <a:pPr marL="285750" indent="-285750">
              <a:buFont typeface="Wingdings" panose="05000000000000000000" pitchFamily="2" charset="2"/>
              <a:buChar char="p"/>
            </a:pPr>
            <a:r>
              <a:rPr lang="zh-CN" altLang="en-US" sz="2000" kern="100" dirty="0">
                <a:latin typeface="微软雅黑" panose="020B0503020204020204" charset="-122"/>
                <a:ea typeface="微软雅黑" panose="020B0503020204020204" charset="-122"/>
                <a:cs typeface="Times New Roman" panose="02020603050405020304" pitchFamily="18" charset="0"/>
              </a:rPr>
              <a:t>可行性分析</a:t>
            </a:r>
            <a:r>
              <a:rPr lang="zh-CN" altLang="zh-CN" sz="1600" kern="100" dirty="0">
                <a:latin typeface="微软雅黑" panose="020B0503020204020204" charset="-122"/>
                <a:ea typeface="微软雅黑" panose="020B0503020204020204" charset="-122"/>
                <a:cs typeface="Times New Roman" panose="02020603050405020304" pitchFamily="18" charset="0"/>
              </a:rPr>
              <a:t> </a:t>
            </a:r>
            <a:endParaRPr lang="zh-CN" altLang="en-US" sz="1600" kern="100" dirty="0">
              <a:latin typeface="微软雅黑" panose="020B0503020204020204" charset="-122"/>
              <a:ea typeface="微软雅黑" panose="020B0503020204020204" charset="-122"/>
              <a:cs typeface="Times New Roman" panose="02020603050405020304" pitchFamily="18" charset="0"/>
            </a:endParaRPr>
          </a:p>
        </p:txBody>
      </p:sp>
    </p:spTree>
    <p:extLst>
      <p:ext uri="{BB962C8B-B14F-4D97-AF65-F5344CB8AC3E}">
        <p14:creationId xmlns:p14="http://schemas.microsoft.com/office/powerpoint/2010/main" val="237358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稻壳儿小白白(http://dwz.cn/Wu2UP)"/>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77" name="图片 17"/>
          <p:cNvPicPr>
            <a:picLocks noChangeAspect="1"/>
          </p:cNvPicPr>
          <p:nvPr/>
        </p:nvPicPr>
        <p:blipFill rotWithShape="1">
          <a:blip r:embed="rId3" cstate="print"/>
          <a:srcRect r="855"/>
          <a:stretch>
            <a:fillRect/>
          </a:stretch>
        </p:blipFill>
        <p:spPr>
          <a:xfrm>
            <a:off x="10301625" y="20910"/>
            <a:ext cx="1809525" cy="526143"/>
          </a:xfrm>
          <a:prstGeom prst="rect">
            <a:avLst/>
          </a:prstGeom>
        </p:spPr>
      </p:pic>
      <p:sp>
        <p:nvSpPr>
          <p:cNvPr id="1048771" name="标题 1"/>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5 </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工作计划</a:t>
            </a:r>
          </a:p>
        </p:txBody>
      </p:sp>
      <p:sp>
        <p:nvSpPr>
          <p:cNvPr id="1048772" name="文本占位符 4"/>
          <p:cNvSpPr>
            <a:spLocks noGrp="1"/>
          </p:cNvSpPr>
          <p:nvPr/>
        </p:nvSpPr>
        <p:spPr>
          <a:xfrm>
            <a:off x="762000" y="931116"/>
            <a:ext cx="6304915" cy="460375"/>
          </a:xfrm>
          <a:prstGeom prst="rect">
            <a:avLst/>
          </a:prstGeom>
        </p:spPr>
        <p:txBody>
          <a:bodyPr vert="horz" lIns="91440" tIns="45720" rIns="91440" bIns="4572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latin typeface="+mj-ea"/>
                <a:ea typeface="+mj-ea"/>
              </a:rPr>
              <a:t>各项任务时间规划</a:t>
            </a:r>
          </a:p>
        </p:txBody>
      </p:sp>
      <p:sp>
        <p:nvSpPr>
          <p:cNvPr id="1048773" name="文本框 30"/>
          <p:cNvSpPr txBox="1"/>
          <p:nvPr/>
        </p:nvSpPr>
        <p:spPr>
          <a:xfrm>
            <a:off x="761790" y="1667589"/>
            <a:ext cx="8224176" cy="39624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n"/>
            </a:pPr>
            <a:r>
              <a:rPr lang="zh-CN" altLang="en-US" dirty="0">
                <a:latin typeface="+mj-ea"/>
                <a:ea typeface="+mj-ea"/>
              </a:rPr>
              <a:t>以两个月为周期，完成本课题的各项相关工作</a:t>
            </a:r>
          </a:p>
        </p:txBody>
      </p:sp>
      <p:sp>
        <p:nvSpPr>
          <p:cNvPr id="1048774" name="文本框 32"/>
          <p:cNvSpPr txBox="1"/>
          <p:nvPr/>
        </p:nvSpPr>
        <p:spPr>
          <a:xfrm>
            <a:off x="1003090" y="6115052"/>
            <a:ext cx="8224176" cy="39624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n"/>
            </a:pPr>
            <a:r>
              <a:rPr lang="zh-CN" altLang="zh-CN" sz="1800" kern="100" dirty="0">
                <a:effectLst/>
                <a:latin typeface="+mj-ea"/>
                <a:ea typeface="+mj-ea"/>
                <a:cs typeface="+mj-ea"/>
              </a:rPr>
              <a:t>发表</a:t>
            </a:r>
            <a:r>
              <a:rPr lang="zh-CN" altLang="en-US" sz="1800" kern="100" dirty="0">
                <a:effectLst/>
                <a:latin typeface="+mj-ea"/>
                <a:ea typeface="+mj-ea"/>
                <a:cs typeface="+mj-ea"/>
              </a:rPr>
              <a:t>学术</a:t>
            </a:r>
            <a:r>
              <a:rPr lang="zh-CN" altLang="zh-CN" sz="1800" kern="100" dirty="0">
                <a:effectLst/>
                <a:latin typeface="+mj-ea"/>
                <a:ea typeface="+mj-ea"/>
                <a:cs typeface="+mj-ea"/>
              </a:rPr>
              <a:t>论文</a:t>
            </a:r>
            <a:r>
              <a:rPr lang="en-US" altLang="zh-CN" sz="1800" kern="100" dirty="0">
                <a:effectLst/>
                <a:latin typeface="+mj-ea"/>
                <a:ea typeface="+mj-ea"/>
                <a:cs typeface="+mj-ea"/>
              </a:rPr>
              <a:t>1-2</a:t>
            </a:r>
            <a:r>
              <a:rPr lang="zh-CN" altLang="zh-CN" sz="1800" kern="100" dirty="0">
                <a:effectLst/>
                <a:latin typeface="+mj-ea"/>
                <a:ea typeface="+mj-ea"/>
                <a:cs typeface="+mj-ea"/>
              </a:rPr>
              <a:t>篇，申请专利</a:t>
            </a:r>
            <a:r>
              <a:rPr lang="zh-CN" altLang="en-US" sz="1800" kern="100" dirty="0">
                <a:effectLst/>
                <a:latin typeface="+mj-ea"/>
                <a:ea typeface="+mj-ea"/>
                <a:cs typeface="+mj-ea"/>
              </a:rPr>
              <a:t>或软著</a:t>
            </a:r>
            <a:r>
              <a:rPr lang="en-US" altLang="zh-CN" sz="1800" kern="100" dirty="0">
                <a:effectLst/>
                <a:latin typeface="+mj-ea"/>
                <a:ea typeface="+mj-ea"/>
                <a:cs typeface="+mj-ea"/>
              </a:rPr>
              <a:t>1</a:t>
            </a:r>
            <a:r>
              <a:rPr lang="zh-CN" altLang="zh-CN" sz="1800" kern="100" dirty="0">
                <a:effectLst/>
                <a:latin typeface="+mj-ea"/>
                <a:ea typeface="+mj-ea"/>
                <a:cs typeface="+mj-ea"/>
              </a:rPr>
              <a:t>项</a:t>
            </a:r>
            <a:endParaRPr lang="zh-CN" altLang="en-US" dirty="0">
              <a:latin typeface="+mj-ea"/>
              <a:ea typeface="+mj-ea"/>
              <a:cs typeface="+mj-ea"/>
            </a:endParaRPr>
          </a:p>
        </p:txBody>
      </p:sp>
      <p:graphicFrame>
        <p:nvGraphicFramePr>
          <p:cNvPr id="4194312" name="表格 31"/>
          <p:cNvGraphicFramePr>
            <a:graphicFrameLocks noGrp="1"/>
          </p:cNvGraphicFramePr>
          <p:nvPr>
            <p:extLst>
              <p:ext uri="{D42A27DB-BD31-4B8C-83A1-F6EECF244321}">
                <p14:modId xmlns:p14="http://schemas.microsoft.com/office/powerpoint/2010/main" val="1302317781"/>
              </p:ext>
            </p:extLst>
          </p:nvPr>
        </p:nvGraphicFramePr>
        <p:xfrm>
          <a:off x="756285" y="2316670"/>
          <a:ext cx="10679571" cy="3517824"/>
        </p:xfrm>
        <a:graphic>
          <a:graphicData uri="http://schemas.openxmlformats.org/drawingml/2006/table">
            <a:tbl>
              <a:tblPr firstRow="1" bandRow="1">
                <a:tableStyleId>{5C22544A-7EE6-4342-B048-85BDC9FD1C3A}</a:tableStyleId>
              </a:tblPr>
              <a:tblGrid>
                <a:gridCol w="2744771">
                  <a:extLst>
                    <a:ext uri="{9D8B030D-6E8A-4147-A177-3AD203B41FA5}">
                      <a16:colId xmlns:a16="http://schemas.microsoft.com/office/drawing/2014/main" val="20000"/>
                    </a:ext>
                  </a:extLst>
                </a:gridCol>
                <a:gridCol w="5373278">
                  <a:extLst>
                    <a:ext uri="{9D8B030D-6E8A-4147-A177-3AD203B41FA5}">
                      <a16:colId xmlns:a16="http://schemas.microsoft.com/office/drawing/2014/main" val="20001"/>
                    </a:ext>
                  </a:extLst>
                </a:gridCol>
                <a:gridCol w="2561522">
                  <a:extLst>
                    <a:ext uri="{9D8B030D-6E8A-4147-A177-3AD203B41FA5}">
                      <a16:colId xmlns:a16="http://schemas.microsoft.com/office/drawing/2014/main" val="20002"/>
                    </a:ext>
                  </a:extLst>
                </a:gridCol>
              </a:tblGrid>
              <a:tr h="439728">
                <a:tc>
                  <a:txBody>
                    <a:bodyPr/>
                    <a:lstStyle/>
                    <a:p>
                      <a:pPr algn="ctr"/>
                      <a:r>
                        <a:rPr lang="zh-CN" altLang="en-US" dirty="0">
                          <a:latin typeface="+mj-ea"/>
                          <a:ea typeface="+mj-ea"/>
                        </a:rPr>
                        <a:t>起讫日期</a:t>
                      </a:r>
                    </a:p>
                  </a:txBody>
                  <a:tcPr anchor="ctr"/>
                </a:tc>
                <a:tc>
                  <a:txBody>
                    <a:bodyPr/>
                    <a:lstStyle/>
                    <a:p>
                      <a:pPr algn="ctr"/>
                      <a:r>
                        <a:rPr lang="zh-CN" altLang="en-US" dirty="0">
                          <a:latin typeface="+mj-ea"/>
                          <a:ea typeface="+mj-ea"/>
                        </a:rPr>
                        <a:t>主要研究内容</a:t>
                      </a:r>
                    </a:p>
                  </a:txBody>
                  <a:tcPr anchor="ctr"/>
                </a:tc>
                <a:tc>
                  <a:txBody>
                    <a:bodyPr/>
                    <a:lstStyle/>
                    <a:p>
                      <a:pPr algn="ctr"/>
                      <a:r>
                        <a:rPr lang="zh-CN" altLang="en-US" dirty="0">
                          <a:latin typeface="+mj-ea"/>
                          <a:ea typeface="+mj-ea"/>
                        </a:rPr>
                        <a:t>预期结果</a:t>
                      </a:r>
                    </a:p>
                  </a:txBody>
                  <a:tcPr anchor="ctr"/>
                </a:tc>
                <a:extLst>
                  <a:ext uri="{0D108BD9-81ED-4DB2-BD59-A6C34878D82A}">
                    <a16:rowId xmlns:a16="http://schemas.microsoft.com/office/drawing/2014/main" val="10000"/>
                  </a:ext>
                </a:extLst>
              </a:tr>
              <a:tr h="439728">
                <a:tc>
                  <a:txBody>
                    <a:bodyPr/>
                    <a:lstStyle/>
                    <a:p>
                      <a:pPr algn="ctr"/>
                      <a:r>
                        <a:rPr lang="en-US" altLang="zh-CN" b="1" dirty="0">
                          <a:solidFill>
                            <a:schemeClr val="bg1"/>
                          </a:solidFill>
                          <a:latin typeface="+mj-ea"/>
                          <a:ea typeface="+mj-ea"/>
                        </a:rPr>
                        <a:t>2025.9-2025.10</a:t>
                      </a:r>
                    </a:p>
                  </a:txBody>
                  <a:tcPr anchor="ctr">
                    <a:solidFill>
                      <a:srgbClr val="4472C4"/>
                    </a:solidFill>
                  </a:tcPr>
                </a:tc>
                <a:tc>
                  <a:txBody>
                    <a:bodyPr/>
                    <a:lstStyle/>
                    <a:p>
                      <a:pPr algn="ctr"/>
                      <a:r>
                        <a:rPr lang="zh-CN" altLang="en-US" dirty="0">
                          <a:latin typeface="+mj-ea"/>
                          <a:ea typeface="+mj-ea"/>
                        </a:rPr>
                        <a:t>国内外文献查阅域资料整理</a:t>
                      </a:r>
                    </a:p>
                  </a:txBody>
                  <a:tcPr anchor="ctr">
                    <a:solidFill>
                      <a:schemeClr val="bg2"/>
                    </a:solidFill>
                  </a:tcPr>
                </a:tc>
                <a:tc>
                  <a:txBody>
                    <a:bodyPr/>
                    <a:lstStyle/>
                    <a:p>
                      <a:pPr algn="ctr"/>
                      <a:r>
                        <a:rPr lang="zh-CN" altLang="en-US" dirty="0">
                          <a:latin typeface="+mj-ea"/>
                          <a:ea typeface="+mj-ea"/>
                        </a:rPr>
                        <a:t>调研报告</a:t>
                      </a:r>
                    </a:p>
                  </a:txBody>
                  <a:tcPr anchor="ctr">
                    <a:solidFill>
                      <a:schemeClr val="bg2"/>
                    </a:solidFill>
                  </a:tcPr>
                </a:tc>
                <a:extLst>
                  <a:ext uri="{0D108BD9-81ED-4DB2-BD59-A6C34878D82A}">
                    <a16:rowId xmlns:a16="http://schemas.microsoft.com/office/drawing/2014/main" val="10001"/>
                  </a:ext>
                </a:extLst>
              </a:tr>
              <a:tr h="439728">
                <a:tc>
                  <a:txBody>
                    <a:bodyPr/>
                    <a:lstStyle/>
                    <a:p>
                      <a:pPr algn="ctr"/>
                      <a:r>
                        <a:rPr lang="en-US" altLang="zh-CN" b="1" dirty="0">
                          <a:solidFill>
                            <a:schemeClr val="bg1"/>
                          </a:solidFill>
                          <a:latin typeface="+mj-ea"/>
                          <a:ea typeface="+mj-ea"/>
                        </a:rPr>
                        <a:t>2025.11-2026.1</a:t>
                      </a:r>
                    </a:p>
                  </a:txBody>
                  <a:tcPr anchor="ctr">
                    <a:solidFill>
                      <a:srgbClr val="4472C4"/>
                    </a:solidFill>
                  </a:tcPr>
                </a:tc>
                <a:tc>
                  <a:txBody>
                    <a:bodyPr/>
                    <a:lstStyle/>
                    <a:p>
                      <a:pPr algn="ctr"/>
                      <a:r>
                        <a:rPr lang="zh-CN" altLang="en-US" dirty="0">
                          <a:latin typeface="+mj-ea"/>
                          <a:ea typeface="+mj-ea"/>
                        </a:rPr>
                        <a:t>完成大论文的第一部分</a:t>
                      </a:r>
                    </a:p>
                  </a:txBody>
                  <a:tcPr anchor="ctr">
                    <a:solidFill>
                      <a:schemeClr val="bg1">
                        <a:lumMod val="95000"/>
                      </a:schemeClr>
                    </a:solidFill>
                  </a:tcPr>
                </a:tc>
                <a:tc>
                  <a:txBody>
                    <a:bodyPr/>
                    <a:lstStyle/>
                    <a:p>
                      <a:pPr algn="ctr"/>
                      <a:r>
                        <a:rPr lang="zh-CN" altLang="en-US" dirty="0">
                          <a:latin typeface="+mj-ea"/>
                          <a:ea typeface="+mj-ea"/>
                        </a:rPr>
                        <a:t>实验报告，形成小论文</a:t>
                      </a:r>
                    </a:p>
                  </a:txBody>
                  <a:tcPr anchor="ctr">
                    <a:solidFill>
                      <a:schemeClr val="bg1">
                        <a:lumMod val="95000"/>
                      </a:schemeClr>
                    </a:solidFill>
                  </a:tcPr>
                </a:tc>
                <a:extLst>
                  <a:ext uri="{0D108BD9-81ED-4DB2-BD59-A6C34878D82A}">
                    <a16:rowId xmlns:a16="http://schemas.microsoft.com/office/drawing/2014/main" val="10002"/>
                  </a:ext>
                </a:extLst>
              </a:tr>
              <a:tr h="439728">
                <a:tc>
                  <a:txBody>
                    <a:bodyPr/>
                    <a:lstStyle/>
                    <a:p>
                      <a:pPr algn="ctr"/>
                      <a:r>
                        <a:rPr lang="en-US" altLang="zh-CN" b="1" dirty="0">
                          <a:solidFill>
                            <a:schemeClr val="bg1"/>
                          </a:solidFill>
                          <a:latin typeface="+mj-ea"/>
                          <a:ea typeface="+mj-ea"/>
                        </a:rPr>
                        <a:t>2026.2-2026.4</a:t>
                      </a:r>
                    </a:p>
                  </a:txBody>
                  <a:tcPr anchor="ctr">
                    <a:solidFill>
                      <a:srgbClr val="4472C4"/>
                    </a:solidFill>
                  </a:tcPr>
                </a:tc>
                <a:tc>
                  <a:txBody>
                    <a:bodyPr/>
                    <a:lstStyle/>
                    <a:p>
                      <a:pPr algn="ctr"/>
                      <a:r>
                        <a:rPr lang="zh-CN" altLang="en-US" dirty="0">
                          <a:latin typeface="+mj-ea"/>
                          <a:ea typeface="+mj-ea"/>
                        </a:rPr>
                        <a:t>完成大论文的第二部分</a:t>
                      </a:r>
                    </a:p>
                  </a:txBody>
                  <a:tcPr anchor="ctr">
                    <a:solidFill>
                      <a:schemeClr val="bg2"/>
                    </a:solidFill>
                  </a:tcPr>
                </a:tc>
                <a:tc>
                  <a:txBody>
                    <a:bodyPr/>
                    <a:lstStyle/>
                    <a:p>
                      <a:pPr algn="ctr"/>
                      <a:r>
                        <a:rPr lang="zh-CN" altLang="en-US" dirty="0">
                          <a:latin typeface="+mj-ea"/>
                          <a:ea typeface="+mj-ea"/>
                        </a:rPr>
                        <a:t>实验报告</a:t>
                      </a:r>
                    </a:p>
                  </a:txBody>
                  <a:tcPr anchor="ctr">
                    <a:solidFill>
                      <a:schemeClr val="bg2"/>
                    </a:solidFill>
                  </a:tcPr>
                </a:tc>
                <a:extLst>
                  <a:ext uri="{0D108BD9-81ED-4DB2-BD59-A6C34878D82A}">
                    <a16:rowId xmlns:a16="http://schemas.microsoft.com/office/drawing/2014/main" val="10003"/>
                  </a:ext>
                </a:extLst>
              </a:tr>
              <a:tr h="439728">
                <a:tc>
                  <a:txBody>
                    <a:bodyPr/>
                    <a:lstStyle/>
                    <a:p>
                      <a:pPr algn="ctr"/>
                      <a:r>
                        <a:rPr lang="en-US" altLang="zh-CN" b="1" dirty="0">
                          <a:solidFill>
                            <a:schemeClr val="bg1"/>
                          </a:solidFill>
                          <a:latin typeface="+mj-ea"/>
                          <a:ea typeface="+mj-ea"/>
                        </a:rPr>
                        <a:t>2026.5-2026.7</a:t>
                      </a:r>
                    </a:p>
                  </a:txBody>
                  <a:tcPr anchor="ctr">
                    <a:solidFill>
                      <a:srgbClr val="4472C4"/>
                    </a:solidFill>
                  </a:tcPr>
                </a:tc>
                <a:tc>
                  <a:txBody>
                    <a:bodyPr/>
                    <a:lstStyle/>
                    <a:p>
                      <a:pPr algn="ctr"/>
                      <a:r>
                        <a:rPr lang="zh-CN" altLang="en-US" dirty="0">
                          <a:latin typeface="+mj-ea"/>
                          <a:ea typeface="+mj-ea"/>
                        </a:rPr>
                        <a:t>完成大论文的第三部分</a:t>
                      </a:r>
                    </a:p>
                  </a:txBody>
                  <a:tcPr anchor="ctr">
                    <a:solidFill>
                      <a:schemeClr val="bg1">
                        <a:lumMod val="95000"/>
                      </a:schemeClr>
                    </a:solidFill>
                  </a:tcPr>
                </a:tc>
                <a:tc>
                  <a:txBody>
                    <a:bodyPr/>
                    <a:lstStyle/>
                    <a:p>
                      <a:pPr algn="ctr"/>
                      <a:r>
                        <a:rPr lang="zh-CN" altLang="en-US" dirty="0">
                          <a:latin typeface="+mj-ea"/>
                          <a:ea typeface="+mj-ea"/>
                        </a:rPr>
                        <a:t>实验报告，形成专利</a:t>
                      </a:r>
                    </a:p>
                  </a:txBody>
                  <a:tcPr anchor="ctr">
                    <a:solidFill>
                      <a:schemeClr val="bg1">
                        <a:lumMod val="95000"/>
                      </a:schemeClr>
                    </a:solidFill>
                  </a:tcPr>
                </a:tc>
                <a:extLst>
                  <a:ext uri="{0D108BD9-81ED-4DB2-BD59-A6C34878D82A}">
                    <a16:rowId xmlns:a16="http://schemas.microsoft.com/office/drawing/2014/main" val="10004"/>
                  </a:ext>
                </a:extLst>
              </a:tr>
              <a:tr h="439728">
                <a:tc>
                  <a:txBody>
                    <a:bodyPr/>
                    <a:lstStyle/>
                    <a:p>
                      <a:pPr algn="ctr"/>
                      <a:r>
                        <a:rPr lang="en-US" altLang="zh-CN" b="1" dirty="0">
                          <a:solidFill>
                            <a:schemeClr val="bg1"/>
                          </a:solidFill>
                          <a:latin typeface="+mj-ea"/>
                          <a:ea typeface="+mj-ea"/>
                        </a:rPr>
                        <a:t>2026.8-2026.10</a:t>
                      </a:r>
                    </a:p>
                  </a:txBody>
                  <a:tcPr anchor="ctr">
                    <a:solidFill>
                      <a:srgbClr val="4472C4"/>
                    </a:solidFill>
                  </a:tcPr>
                </a:tc>
                <a:tc>
                  <a:txBody>
                    <a:bodyPr/>
                    <a:lstStyle/>
                    <a:p>
                      <a:pPr algn="ctr"/>
                      <a:r>
                        <a:rPr lang="zh-CN" altLang="en-US" dirty="0">
                          <a:latin typeface="+mj-ea"/>
                          <a:ea typeface="+mj-ea"/>
                        </a:rPr>
                        <a:t>完成大论文的第四部分</a:t>
                      </a:r>
                    </a:p>
                  </a:txBody>
                  <a:tcPr anchor="c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zh-CN" altLang="en-US" dirty="0">
                          <a:latin typeface="+mj-ea"/>
                          <a:ea typeface="+mj-ea"/>
                        </a:rPr>
                        <a:t>实验报告</a:t>
                      </a:r>
                    </a:p>
                  </a:txBody>
                  <a:tcPr anchor="ctr">
                    <a:solidFill>
                      <a:schemeClr val="bg2"/>
                    </a:solidFill>
                  </a:tcPr>
                </a:tc>
                <a:extLst>
                  <a:ext uri="{0D108BD9-81ED-4DB2-BD59-A6C34878D82A}">
                    <a16:rowId xmlns:a16="http://schemas.microsoft.com/office/drawing/2014/main" val="10005"/>
                  </a:ext>
                </a:extLst>
              </a:tr>
              <a:tr h="439728">
                <a:tc>
                  <a:txBody>
                    <a:bodyPr/>
                    <a:lstStyle/>
                    <a:p>
                      <a:pPr algn="ctr"/>
                      <a:r>
                        <a:rPr lang="en-US" altLang="zh-CN" b="1" dirty="0">
                          <a:solidFill>
                            <a:schemeClr val="bg1"/>
                          </a:solidFill>
                          <a:latin typeface="+mj-ea"/>
                          <a:ea typeface="+mj-ea"/>
                        </a:rPr>
                        <a:t>2026.11-2027.1</a:t>
                      </a:r>
                    </a:p>
                  </a:txBody>
                  <a:tcPr anchor="ctr">
                    <a:solidFill>
                      <a:srgbClr val="4472C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zh-CN" altLang="en-US" dirty="0">
                          <a:latin typeface="+mj-ea"/>
                          <a:ea typeface="+mj-ea"/>
                        </a:rPr>
                        <a:t>整理报告，撰写大论文</a:t>
                      </a:r>
                    </a:p>
                  </a:txBody>
                  <a:tcPr anchor="ctr">
                    <a:solidFill>
                      <a:schemeClr val="bg1">
                        <a:lumMod val="95000"/>
                      </a:schemeClr>
                    </a:solidFill>
                  </a:tcPr>
                </a:tc>
                <a:tc>
                  <a:txBody>
                    <a:bodyPr/>
                    <a:lstStyle/>
                    <a:p>
                      <a:pPr algn="ctr"/>
                      <a:r>
                        <a:rPr lang="zh-CN" altLang="en-US" dirty="0">
                          <a:latin typeface="+mj-ea"/>
                          <a:ea typeface="+mj-ea"/>
                        </a:rPr>
                        <a:t>大论文初稿</a:t>
                      </a:r>
                    </a:p>
                  </a:txBody>
                  <a:tcPr anchor="ctr">
                    <a:solidFill>
                      <a:schemeClr val="bg1">
                        <a:lumMod val="95000"/>
                      </a:schemeClr>
                    </a:solidFill>
                  </a:tcPr>
                </a:tc>
                <a:extLst>
                  <a:ext uri="{0D108BD9-81ED-4DB2-BD59-A6C34878D82A}">
                    <a16:rowId xmlns:a16="http://schemas.microsoft.com/office/drawing/2014/main" val="10006"/>
                  </a:ext>
                </a:extLst>
              </a:tr>
              <a:tr h="439728">
                <a:tc>
                  <a:txBody>
                    <a:bodyPr/>
                    <a:lstStyle/>
                    <a:p>
                      <a:pPr algn="ctr"/>
                      <a:r>
                        <a:rPr lang="en-US" altLang="zh-CN" b="1" dirty="0">
                          <a:solidFill>
                            <a:schemeClr val="bg1"/>
                          </a:solidFill>
                          <a:latin typeface="+mj-ea"/>
                          <a:ea typeface="+mj-ea"/>
                        </a:rPr>
                        <a:t>2027.1-2027.3</a:t>
                      </a:r>
                    </a:p>
                  </a:txBody>
                  <a:tcPr anchor="ctr">
                    <a:solidFill>
                      <a:srgbClr val="4472C4"/>
                    </a:solidFill>
                  </a:tcPr>
                </a:tc>
                <a:tc>
                  <a:txBody>
                    <a:bodyPr/>
                    <a:lstStyle/>
                    <a:p>
                      <a:pPr algn="ctr"/>
                      <a:r>
                        <a:rPr lang="zh-CN" altLang="en-US" dirty="0">
                          <a:latin typeface="+mj-ea"/>
                          <a:ea typeface="+mj-ea"/>
                        </a:rPr>
                        <a:t>完成大论文</a:t>
                      </a:r>
                    </a:p>
                  </a:txBody>
                  <a:tcPr anchor="ctr">
                    <a:solidFill>
                      <a:schemeClr val="bg2"/>
                    </a:solidFill>
                  </a:tcPr>
                </a:tc>
                <a:tc>
                  <a:txBody>
                    <a:bodyPr/>
                    <a:lstStyle/>
                    <a:p>
                      <a:pPr algn="ctr"/>
                      <a:r>
                        <a:rPr lang="zh-CN" altLang="en-US" dirty="0">
                          <a:latin typeface="+mj-ea"/>
                          <a:ea typeface="+mj-ea"/>
                        </a:rPr>
                        <a:t>学位论文</a:t>
                      </a:r>
                    </a:p>
                  </a:txBody>
                  <a:tcPr anchor="ctr">
                    <a:solidFill>
                      <a:schemeClr val="bg2"/>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8" name="稻壳儿小白白(http://dwz.cn/Wu2UP)"/>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78" name="图片 17"/>
          <p:cNvPicPr>
            <a:picLocks noChangeAspect="1"/>
          </p:cNvPicPr>
          <p:nvPr/>
        </p:nvPicPr>
        <p:blipFill rotWithShape="1">
          <a:blip r:embed="rId3" cstate="print"/>
          <a:srcRect r="855"/>
          <a:stretch>
            <a:fillRect/>
          </a:stretch>
        </p:blipFill>
        <p:spPr>
          <a:xfrm>
            <a:off x="10301625" y="20910"/>
            <a:ext cx="1809525" cy="526143"/>
          </a:xfrm>
          <a:prstGeom prst="rect">
            <a:avLst/>
          </a:prstGeom>
        </p:spPr>
      </p:pic>
      <p:sp>
        <p:nvSpPr>
          <p:cNvPr id="1048779" name="标题 1"/>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参考文献</a:t>
            </a:r>
          </a:p>
        </p:txBody>
      </p:sp>
      <p:sp>
        <p:nvSpPr>
          <p:cNvPr id="1048780" name="文本框 1"/>
          <p:cNvSpPr txBox="1"/>
          <p:nvPr/>
        </p:nvSpPr>
        <p:spPr>
          <a:xfrm>
            <a:off x="0" y="685165"/>
            <a:ext cx="11817985" cy="6093976"/>
          </a:xfrm>
          <a:prstGeom prst="rect">
            <a:avLst/>
          </a:prstGeom>
        </p:spPr>
        <p:txBody>
          <a:bodyPr wrap="square">
            <a:spAutoFit/>
          </a:bodyPr>
          <a:lstStyle/>
          <a:p>
            <a:pPr lvl="0"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[1]A. Caggiano, A. Marzano, R. Teti. Configuration of an Aircraft Assembly Line. Procedia CIRP, 2016, 4: 236-241.</a:t>
            </a:r>
            <a:endParaRPr lang="zh-CN" altLang="zh-CN" sz="1600" dirty="0">
              <a:latin typeface="Times New Roman" panose="02020603050405020304"/>
              <a:ea typeface="宋体" panose="02010600030101010101" pitchFamily="2" charset="-122"/>
            </a:endParaRPr>
          </a:p>
          <a:p>
            <a:pPr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[2]J. Hu, J. Zhu, N. Sun, Y. Wei, Q. Qin. A Network-Based Two-Stage Robust Scheduling Strategy for the Aircraft Assembly System with Uncertain Duration. Computers &amp; Industrial Engineering, 2024, 188: 109911.</a:t>
            </a:r>
          </a:p>
          <a:p>
            <a:pPr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[3]H. Zhu, S. Lu, C. Lu, R. N. Yang. A Reactive Scheduling Method for Disturbances in Aircraft Moving Assembly Line. Business &amp; Information Systems Engineering, 2020, 15(11): 4756-4772.</a:t>
            </a:r>
          </a:p>
          <a:p>
            <a:pPr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[4]M. </a:t>
            </a:r>
            <a:r>
              <a:rPr lang="en-US" altLang="zh-CN" sz="1600" dirty="0" err="1">
                <a:latin typeface="Times New Roman" panose="02020603050405020304"/>
                <a:ea typeface="宋体" panose="02010600030101010101" pitchFamily="2" charset="-122"/>
              </a:rPr>
              <a:t>Irigo</a:t>
            </a:r>
            <a:r>
              <a:rPr lang="en-US" altLang="zh-CN" sz="1600" dirty="0">
                <a:latin typeface="Times New Roman" panose="02020603050405020304"/>
                <a:ea typeface="宋体" panose="02010600030101010101" pitchFamily="2" charset="-122"/>
              </a:rPr>
              <a:t>. A Branch-and-Bound Approach to Schedule a No-Wait </a:t>
            </a:r>
            <a:r>
              <a:rPr lang="en-US" altLang="zh-CN" sz="1600" dirty="0" err="1">
                <a:latin typeface="Times New Roman" panose="02020603050405020304"/>
                <a:ea typeface="宋体" panose="02010600030101010101" pitchFamily="2" charset="-122"/>
              </a:rPr>
              <a:t>Flowshop</a:t>
            </a:r>
            <a:r>
              <a:rPr lang="en-US" altLang="zh-CN" sz="1600" dirty="0">
                <a:latin typeface="Times New Roman" panose="02020603050405020304"/>
                <a:ea typeface="宋体" panose="02010600030101010101" pitchFamily="2" charset="-122"/>
              </a:rPr>
              <a:t> to Minimize the CVaR of the Residual Work Content. Computers &amp; Industrial Engineering, 2019, 129: 67-75.</a:t>
            </a:r>
          </a:p>
          <a:p>
            <a:pPr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[5]S. Shan, Z. Hu, Z. Liu et al. An adaptive genetic algorithm for demand-driven and resource-constrained project scheduling in aircraft assembly. Information Technology and Management, 2017, 18: 41–53.</a:t>
            </a:r>
          </a:p>
          <a:p>
            <a:pPr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[6]Z. Lu, Y. Ren, L. Wang, H. Zhu. A resource investment problem based on project splitting with time windows for aircraft moving assembly line. Computers &amp; Industrial Engineering, 2019, 135: 568-581.</a:t>
            </a:r>
          </a:p>
          <a:p>
            <a:pPr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[7]Z. Bao, L. Chen. A </a:t>
            </a:r>
            <a:r>
              <a:rPr lang="en-US" altLang="zh-CN" sz="1600" dirty="0" err="1">
                <a:latin typeface="Times New Roman" panose="02020603050405020304"/>
                <a:ea typeface="宋体" panose="02010600030101010101" pitchFamily="2" charset="-122"/>
              </a:rPr>
              <a:t>Matheuristic</a:t>
            </a:r>
            <a:r>
              <a:rPr lang="en-US" altLang="zh-CN" sz="1600" dirty="0">
                <a:latin typeface="Times New Roman" panose="02020603050405020304"/>
                <a:ea typeface="宋体" panose="02010600030101010101" pitchFamily="2" charset="-122"/>
              </a:rPr>
              <a:t> Approach for the Aircraft Final Assembly Line Balancing Problem Considering Learning Curve. Proceedings of the 2023 IEEE International Conference on Industrial Engineering and Engineering Management (IEEM), Singapore, 2023: 1389-1393.</a:t>
            </a:r>
          </a:p>
          <a:p>
            <a:pPr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[8]D. Lovato, R. Guillaume, C. Thierry et al. Aircraft final assembly line scheduling with user preferences and equity of work distribution. Flexible Services and Manufacturing Journal, 2025, 37: 348–366.</a:t>
            </a:r>
          </a:p>
          <a:p>
            <a:pPr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[9]D. Wang, F. Qiao, L. Guan, K. </a:t>
            </a:r>
            <a:r>
              <a:rPr lang="en-US" altLang="zh-CN" sz="1600" dirty="0" err="1">
                <a:latin typeface="Times New Roman" panose="02020603050405020304"/>
                <a:ea typeface="宋体" panose="02010600030101010101" pitchFamily="2" charset="-122"/>
              </a:rPr>
              <a:t>Jlu</a:t>
            </a:r>
            <a:r>
              <a:rPr lang="en-US" altLang="zh-CN" sz="1600" dirty="0">
                <a:latin typeface="Times New Roman" panose="02020603050405020304"/>
                <a:ea typeface="宋体" panose="02010600030101010101" pitchFamily="2" charset="-122"/>
              </a:rPr>
              <a:t>, C. Ding, J. Shi. Human-Machine Collaborative Optimization Method for Dynamic Worker Allocation in Aircraft Final Assembly Lines. Computers &amp; Industrial Engineering, 2024, 194: 110370.</a:t>
            </a:r>
          </a:p>
          <a:p>
            <a:pPr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[10]H. Cai, Q. Ye, Q. Zhao, L. Liu. An evolutionary knowledge transfer framework for solving workgroup reconfiguration problem in aircraft final assembly. Applied Soft Computing, 2024, 164: 111959.</a:t>
            </a:r>
          </a:p>
          <a:p>
            <a:pPr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[11]X. Han, Y. He, Z. Chen. An integrated multi-objective production scheduling model considering the production quality state. Proceedings of the 2017 Prognostics and System Health Management Conference (PHM-Harbin), Harbin, 2017: 1-7.</a:t>
            </a:r>
          </a:p>
          <a:p>
            <a:pPr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[12]G. S. Liu, H. D. Yang, M. B. Cheng. A three-stage decomposition approach for energy-aware scheduling with processing-time-dependent product quality. International Journal of Production Research, 2016, 55(11): 3073–3091.</a:t>
            </a:r>
          </a:p>
          <a:p>
            <a:pPr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[13]Y. Fu, H. Wang, J. Wang, X. Pu. </a:t>
            </a:r>
            <a:r>
              <a:rPr lang="en-US" altLang="zh-CN" sz="1600" dirty="0" err="1">
                <a:latin typeface="Times New Roman" panose="02020603050405020304"/>
                <a:ea typeface="宋体" panose="02010600030101010101" pitchFamily="2" charset="-122"/>
              </a:rPr>
              <a:t>Multiobjective</a:t>
            </a:r>
            <a:r>
              <a:rPr lang="en-US" altLang="zh-CN" sz="1600" dirty="0">
                <a:latin typeface="Times New Roman" panose="02020603050405020304"/>
                <a:ea typeface="宋体" panose="02010600030101010101" pitchFamily="2" charset="-122"/>
              </a:rPr>
              <a:t> Modeling and Optimization for Scheduling a Stochastic Hybrid Flow Shop With Maximizing Processing Quality and Minimizing Total Tardiness. IEEE Systems Journal, 2021, 15(3): 4696-4707.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4" name="稻壳儿小白白(http://dwz.cn/Wu2UP)"/>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chemeClr val="accent1"/>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chemeClr val="accent1"/>
              </a:solidFill>
              <a:effectLst>
                <a:outerShdw blurRad="38100" dist="25400" dir="5400000" algn="ctr" rotWithShape="0">
                  <a:srgbClr val="6E747A">
                    <a:alpha val="43000"/>
                  </a:srgbClr>
                </a:outerShdw>
              </a:effectLst>
            </a:endParaRPr>
          </a:p>
        </p:txBody>
      </p:sp>
      <p:pic>
        <p:nvPicPr>
          <p:cNvPr id="2097179" name="图片 17"/>
          <p:cNvPicPr>
            <a:picLocks noChangeAspect="1"/>
          </p:cNvPicPr>
          <p:nvPr/>
        </p:nvPicPr>
        <p:blipFill rotWithShape="1">
          <a:blip r:embed="rId3" cstate="print"/>
          <a:srcRect r="855"/>
          <a:stretch>
            <a:fillRect/>
          </a:stretch>
        </p:blipFill>
        <p:spPr>
          <a:xfrm>
            <a:off x="10301625" y="20910"/>
            <a:ext cx="1809525" cy="526143"/>
          </a:xfrm>
          <a:prstGeom prst="rect">
            <a:avLst/>
          </a:prstGeom>
        </p:spPr>
      </p:pic>
      <p:sp>
        <p:nvSpPr>
          <p:cNvPr id="1048785" name="标题 1"/>
          <p:cNvSpPr txBox="1"/>
          <p:nvPr/>
        </p:nvSpPr>
        <p:spPr>
          <a:xfrm>
            <a:off x="-151130" y="20955"/>
            <a:ext cx="12262485" cy="519430"/>
          </a:xfrm>
          <a:prstGeom prst="rect">
            <a:avLst/>
          </a:prstGeom>
          <a:noFill/>
          <a:ln>
            <a:noFill/>
          </a:ln>
        </p:spPr>
        <p:txBody>
          <a:bodyPr anchor="ctr"/>
          <a:lstStyle>
            <a:lvl1pPr eaLnBrk="0" hangingPunct="0">
              <a:defRPr sz="3200" b="1">
                <a:solidFill>
                  <a:srgbClr val="17375E"/>
                </a:solidFill>
                <a:latin typeface="微软雅黑" panose="020B0503020204020204" charset="-122"/>
                <a:ea typeface="微软雅黑" panose="020B0503020204020204" charset="-122"/>
                <a:cs typeface="+mj-cs"/>
              </a:defRPr>
            </a:lvl1pPr>
            <a:lvl2pPr algn="ctr" eaLnBrk="0" hangingPunct="0">
              <a:defRPr sz="4000">
                <a:latin typeface="Arial" panose="020B0604020202020204" pitchFamily="34" charset="0"/>
              </a:defRPr>
            </a:lvl2pPr>
            <a:lvl3pPr algn="ctr" eaLnBrk="0" hangingPunct="0">
              <a:defRPr sz="4000">
                <a:latin typeface="Arial" panose="020B0604020202020204" pitchFamily="34" charset="0"/>
              </a:defRPr>
            </a:lvl3pPr>
            <a:lvl4pPr algn="ctr" eaLnBrk="0" hangingPunct="0">
              <a:defRPr sz="4000">
                <a:latin typeface="Arial" panose="020B0604020202020204" pitchFamily="34" charset="0"/>
              </a:defRPr>
            </a:lvl4pPr>
            <a:lvl5pPr algn="ctr" eaLnBrk="0" hangingPunct="0">
              <a:defRPr sz="4000">
                <a:latin typeface="Arial" panose="020B0604020202020204" pitchFamily="34" charset="0"/>
              </a:defRPr>
            </a:lvl5pPr>
            <a:lvl6pPr marL="457200" algn="ctr" fontAlgn="base">
              <a:spcBef>
                <a:spcPct val="0"/>
              </a:spcBef>
              <a:spcAft>
                <a:spcPct val="0"/>
              </a:spcAft>
              <a:defRPr sz="4000">
                <a:latin typeface="Arial" panose="020B0604020202020204" pitchFamily="34" charset="0"/>
              </a:defRPr>
            </a:lvl6pPr>
            <a:lvl7pPr marL="914400" algn="ctr" fontAlgn="base">
              <a:spcBef>
                <a:spcPct val="0"/>
              </a:spcBef>
              <a:spcAft>
                <a:spcPct val="0"/>
              </a:spcAft>
              <a:defRPr sz="4000">
                <a:latin typeface="Arial" panose="020B0604020202020204" pitchFamily="34" charset="0"/>
              </a:defRPr>
            </a:lvl7pPr>
            <a:lvl8pPr marL="1371600" algn="ctr" fontAlgn="base">
              <a:spcBef>
                <a:spcPct val="0"/>
              </a:spcBef>
              <a:spcAft>
                <a:spcPct val="0"/>
              </a:spcAft>
              <a:defRPr sz="4000">
                <a:latin typeface="Arial" panose="020B0604020202020204" pitchFamily="34" charset="0"/>
              </a:defRPr>
            </a:lvl8pPr>
            <a:lvl9pPr marL="1828800" algn="ctr" fontAlgn="base">
              <a:spcBef>
                <a:spcPct val="0"/>
              </a:spcBef>
              <a:spcAft>
                <a:spcPct val="0"/>
              </a:spcAft>
              <a:defRPr sz="4000">
                <a:latin typeface="Arial" panose="020B0604020202020204" pitchFamily="34" charset="0"/>
              </a:defRPr>
            </a:lvl9pPr>
          </a:lstStyle>
          <a:p>
            <a:pPr algn="ct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rPr>
              <a:t>参考文献</a:t>
            </a:r>
          </a:p>
        </p:txBody>
      </p:sp>
      <p:sp>
        <p:nvSpPr>
          <p:cNvPr id="1048786" name="文本框 1"/>
          <p:cNvSpPr txBox="1"/>
          <p:nvPr/>
        </p:nvSpPr>
        <p:spPr>
          <a:xfrm>
            <a:off x="54610" y="1137285"/>
            <a:ext cx="11851005" cy="5401479"/>
          </a:xfrm>
          <a:prstGeom prst="rect">
            <a:avLst/>
          </a:prstGeom>
          <a:noFill/>
        </p:spPr>
        <p:txBody>
          <a:bodyPr wrap="square" rtlCol="0" anchor="t">
            <a:spAutoFit/>
          </a:bodyPr>
          <a:lstStyle/>
          <a:p>
            <a:pPr marL="0" indent="0"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sym typeface="+mn-ea"/>
              </a:rPr>
              <a:t>[14]L. Chen, W. Yang, K. Qiu, S. </a:t>
            </a:r>
            <a:r>
              <a:rPr lang="en-US" altLang="zh-CN" sz="1600" dirty="0" err="1">
                <a:latin typeface="Times New Roman" panose="02020603050405020304"/>
                <a:ea typeface="宋体" panose="02010600030101010101" pitchFamily="2" charset="-122"/>
                <a:sym typeface="+mn-ea"/>
              </a:rPr>
              <a:t>Dauzère</a:t>
            </a:r>
            <a:r>
              <a:rPr lang="en-US" altLang="zh-CN" sz="1600" dirty="0">
                <a:latin typeface="Times New Roman" panose="02020603050405020304"/>
                <a:ea typeface="宋体" panose="02010600030101010101" pitchFamily="2" charset="-122"/>
                <a:sym typeface="+mn-ea"/>
              </a:rPr>
              <a:t>-Pérès. A lexicographic optimization approach for a bi-objective parallel-machine scheduling problem minimizing total quality loss and total tardiness. Computers &amp; Operations Research, 2023, 155: 106.</a:t>
            </a:r>
          </a:p>
          <a:p>
            <a:pPr marL="0" indent="0"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[15]L. M. Steinbacher, D. Rippel, P. Schulze, A.-K. Rohde, M. Freitag. Quality-based scheduling for a flexible job shop. Journal of Manufacturing Systems, 2023, 70: 202-216.</a:t>
            </a:r>
          </a:p>
          <a:p>
            <a:pPr marL="0" indent="0"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[16]K. Bhatta, Q. Chang. An integrated control strategy for simultaneous robot assignment, tool change and preventive maintenance scheduling using Heterogeneous Graph Neural Network. Robotics and Computer-Integrated Manufacturing, 2023, 84: 102594.</a:t>
            </a:r>
          </a:p>
          <a:p>
            <a:pPr marL="0" indent="0"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[17]X. Wang, L. Zhang, T. Lin, C. Zhao, K. Wang, Z. Chen. Solving job scheduling problems in a resource preemption environment with multi-agent reinforcement learning. Robotics and Computer-Integrated Manufacturing, 2022, 77: 102324.</a:t>
            </a:r>
          </a:p>
          <a:p>
            <a:pPr marL="0" indent="0"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[18]S. Peng, G. Xiong, J. Yang, Z. Shen, T. S. Tamir, Z. Tao, Y. Han, F.-Y. Wang. Multi-Agent Reinforcement Learning for Extended Flexible Job Shop Scheduling. Machines, 2024, 12(8).</a:t>
            </a:r>
          </a:p>
          <a:p>
            <a:pPr marL="0" indent="0"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[19]Z. Qin, D. Johnson, Y. Lu. Dynamic production scheduling towards self-organizing mass personalization: A multi-agent dueling deep reinforcement learning approach. Journal of Manufacturing Systems, 2023, 68: 242-257.</a:t>
            </a:r>
          </a:p>
          <a:p>
            <a:pPr marL="0" indent="0"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[20]R. Liu, R. Piplani, C. Toro. A deep multi-agent reinforcement learning approach to solve dynamic job shop scheduling problem. Computers &amp; Operations Research, 2023, 159: 106294.</a:t>
            </a:r>
          </a:p>
          <a:p>
            <a:pPr marL="0" indent="0"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[21]Z. Wei, Z. Zhao, Z. Zhou, R. Yan. Collaborative-sequential optimization for aero-engine maintenance based on multi-agent reinforcement learning. Expert Systems with Applications, 2024, 247: 123358.</a:t>
            </a:r>
          </a:p>
          <a:p>
            <a:pPr marL="0" indent="0"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[22]S. Wang, J. Li, Y. Luo. Smart Scheduling for Flexible and Hybrid Production with Multi-Agent Deep Reinforcement Learning. Proceedings of the 2021 IEEE 2nd International Conference on Information Technology, Big Data and Artificial Intelligence (ICIBA), Chongqing, 2021: 288-294.</a:t>
            </a:r>
          </a:p>
          <a:p>
            <a:pPr marL="0" indent="0"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[23]Y. Li, X. Li, L. Gao. Real-time scheduling for production-logistics collaborative environment using multi-agent deep reinforcement learning. Advanced Engineering Informatics, 2025, 65(B): 103216.</a:t>
            </a:r>
          </a:p>
          <a:p>
            <a:pPr marL="0" indent="0" algn="just" defTabSz="266700">
              <a:lnSpc>
                <a:spcPts val="1800"/>
              </a:lnSpc>
              <a:spcBef>
                <a:spcPct val="0"/>
              </a:spcBef>
              <a:spcAft>
                <a:spcPct val="0"/>
              </a:spcAft>
            </a:pPr>
            <a:r>
              <a:rPr lang="en-US" altLang="zh-CN" sz="1600" dirty="0">
                <a:latin typeface="Times New Roman" panose="02020603050405020304"/>
                <a:ea typeface="宋体" panose="02010600030101010101" pitchFamily="2" charset="-122"/>
              </a:rPr>
              <a:t>[24]N. Zhang, Y. Shen, Y. Du, L. Chen, X. Zhang. Counterfactual-attention multi-agent reinforcement learning for joint condition-based maintenance and production scheduling. Journal of Manufacturing Systems, 2023, 71: 70-81.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0" name="矩形 4"/>
          <p:cNvSpPr/>
          <p:nvPr/>
        </p:nvSpPr>
        <p:spPr>
          <a:xfrm>
            <a:off x="2081" y="1990089"/>
            <a:ext cx="12189743" cy="307912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endParaRPr>
          </a:p>
        </p:txBody>
      </p:sp>
      <p:sp>
        <p:nvSpPr>
          <p:cNvPr id="1048791" name="文本框 9"/>
          <p:cNvSpPr txBox="1"/>
          <p:nvPr/>
        </p:nvSpPr>
        <p:spPr>
          <a:xfrm>
            <a:off x="2081" y="1917271"/>
            <a:ext cx="12189744" cy="3393419"/>
          </a:xfrm>
          <a:prstGeom prst="rect">
            <a:avLst/>
          </a:prstGeom>
          <a:noFill/>
        </p:spPr>
        <p:txBody>
          <a:bodyPr wrap="square" lIns="91421" tIns="45710" rIns="91421" bIns="45710" rtlCol="0">
            <a:spAutoFit/>
          </a:bodyPr>
          <a:lstStyle/>
          <a:p>
            <a:pPr algn="ctr"/>
            <a:r>
              <a:rPr lang="en-US" altLang="zh-CN" sz="19895" b="1" dirty="0">
                <a:solidFill>
                  <a:schemeClr val="bg1">
                    <a:alpha val="5000"/>
                  </a:schemeClr>
                </a:solidFill>
                <a:effectLst>
                  <a:reflection blurRad="6350" stA="55000" endA="300" endPos="45500" dir="5400000" sy="-100000" algn="bl" rotWithShape="0"/>
                </a:effectLst>
                <a:latin typeface="Helvetica" panose="020B0604020202020204" pitchFamily="34" charset="0"/>
                <a:ea typeface="思源黑体 CN Medium" panose="020B0600000000000000" pitchFamily="34" charset="-122"/>
                <a:cs typeface="Helvetica" panose="020B0604020202020204" pitchFamily="34" charset="0"/>
              </a:rPr>
              <a:t>THANKS</a:t>
            </a:r>
          </a:p>
        </p:txBody>
      </p:sp>
      <p:sp>
        <p:nvSpPr>
          <p:cNvPr id="1048792" name="矩形 3"/>
          <p:cNvSpPr/>
          <p:nvPr/>
        </p:nvSpPr>
        <p:spPr>
          <a:xfrm>
            <a:off x="176802" y="186576"/>
            <a:ext cx="11878198" cy="6474247"/>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endParaRPr>
          </a:p>
        </p:txBody>
      </p:sp>
      <p:sp>
        <p:nvSpPr>
          <p:cNvPr id="1048793" name="文本框 7"/>
          <p:cNvSpPr txBox="1"/>
          <p:nvPr/>
        </p:nvSpPr>
        <p:spPr>
          <a:xfrm>
            <a:off x="2082" y="2897906"/>
            <a:ext cx="12189743" cy="1412239"/>
          </a:xfrm>
          <a:prstGeom prst="rect">
            <a:avLst/>
          </a:prstGeom>
          <a:noFill/>
        </p:spPr>
        <p:txBody>
          <a:bodyPr wrap="square" rtlCol="0">
            <a:spAutoFit/>
          </a:bodyPr>
          <a:lstStyle/>
          <a:p>
            <a:pPr algn="ctr"/>
            <a:r>
              <a:rPr lang="zh-CN" altLang="en-US" sz="8000" b="1" kern="100" dirty="0">
                <a:solidFill>
                  <a:prstClr val="white"/>
                </a:solidFill>
                <a:latin typeface="微软雅黑" panose="020B0503020204020204" charset="-122"/>
                <a:ea typeface="微软雅黑" panose="020B0503020204020204" charset="-122"/>
                <a:cs typeface="+mn-ea"/>
                <a:sym typeface="Source Han Sans SC"/>
              </a:rPr>
              <a:t>请老师批评指正！</a:t>
            </a:r>
          </a:p>
        </p:txBody>
      </p:sp>
      <p:grpSp>
        <p:nvGrpSpPr>
          <p:cNvPr id="106" name="组合 18"/>
          <p:cNvGrpSpPr/>
          <p:nvPr/>
        </p:nvGrpSpPr>
        <p:grpSpPr>
          <a:xfrm>
            <a:off x="4552253" y="926274"/>
            <a:ext cx="3087810" cy="816709"/>
            <a:chOff x="4632728" y="981012"/>
            <a:chExt cx="3088382" cy="816860"/>
          </a:xfrm>
        </p:grpSpPr>
        <p:pic>
          <p:nvPicPr>
            <p:cNvPr id="2097180" name="Picture 2" descr="C:\Users\Asaskaa\Desktop\1.png"/>
            <p:cNvPicPr>
              <a:picLocks noChangeAspect="1" noChangeArrowheads="1"/>
            </p:cNvPicPr>
            <p:nvPr/>
          </p:nvPicPr>
          <p:blipFill rotWithShape="1">
            <a:blip r:embed="rId3" cstate="print"/>
            <a:srcRect l="13505" r="13805"/>
            <a:stretch>
              <a:fillRect/>
            </a:stretch>
          </p:blipFill>
          <p:spPr bwMode="auto">
            <a:xfrm>
              <a:off x="4632728" y="1053530"/>
              <a:ext cx="865967" cy="744342"/>
            </a:xfrm>
            <a:prstGeom prst="rect">
              <a:avLst/>
            </a:prstGeom>
            <a:noFill/>
          </p:spPr>
        </p:pic>
        <p:pic>
          <p:nvPicPr>
            <p:cNvPr id="2097181" name="Picture 3" descr="C:\Users\Asaskaa\Desktop\3.png"/>
            <p:cNvPicPr>
              <a:picLocks noChangeAspect="1" noChangeArrowheads="1"/>
            </p:cNvPicPr>
            <p:nvPr/>
          </p:nvPicPr>
          <p:blipFill rotWithShape="1">
            <a:blip r:embed="rId4" cstate="print"/>
            <a:srcRect l="31933" t="22857" r="9687" b="25687"/>
            <a:stretch>
              <a:fillRect/>
            </a:stretch>
          </p:blipFill>
          <p:spPr bwMode="auto">
            <a:xfrm>
              <a:off x="5498695" y="981012"/>
              <a:ext cx="2222415" cy="816860"/>
            </a:xfrm>
            <a:prstGeom prst="rect">
              <a:avLst/>
            </a:prstGeom>
            <a:noFill/>
          </p:spPr>
        </p:pic>
      </p:gr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DAzM2YzODFiMTlhZWJlYThjOWJkOGM0NWI3MGI2MWEifQ=="/>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485.8425196850393,&quot;left&quot;:10.836141732283433,&quot;top&quot;:59.16370078740157,&quot;width&quot;:956.7477952755905}"/>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485.8425196850393,&quot;left&quot;:10.836141732283433,&quot;top&quot;:59.16370078740157,&quot;width&quot;:956.7477952755905}"/>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485.8425196850393,&quot;left&quot;:10.836141732283433,&quot;top&quot;:59.16370078740157,&quot;width&quot;:956.7477952755905}"/>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485.8425196850393,&quot;left&quot;:10.836141732283433,&quot;top&quot;:59.16370078740157,&quot;width&quot;:956.7477952755905}"/>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485.8425196850393,&quot;left&quot;:10.836141732283433,&quot;top&quot;:59.16370078740157,&quot;width&quot;:956.7477952755905}"/>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485.8425196850393,&quot;left&quot;:10.836141732283433,&quot;top&quot;:59.16370078740157,&quot;width&quot;:956.7477952755905}"/>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485.8425196850393,&quot;left&quot;:10.836141732283433,&quot;top&quot;:59.16370078740157,&quot;width&quot;:956.7477952755905}"/>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485.8425196850393,&quot;left&quot;:10.836141732283433,&quot;top&quot;:59.16370078740157,&quot;width&quot;:956.7477952755905}"/>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485.8425196850393,&quot;left&quot;:10.836141732283433,&quot;top&quot;:59.16370078740157,&quot;width&quot;:956.7477952755905}"/>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TABLE_ENDDRAG_ORIGIN_RECT" val="816*292"/>
  <p:tag name="TABLE_ENDDRAG_RECT" val="65*93*816*292"/>
</p:tagLst>
</file>

<file path=ppt/tags/tag94.xml><?xml version="1.0" encoding="utf-8"?>
<p:tagLst xmlns:a="http://schemas.openxmlformats.org/drawingml/2006/main" xmlns:r="http://schemas.openxmlformats.org/officeDocument/2006/relationships" xmlns:p="http://schemas.openxmlformats.org/presentationml/2006/main">
  <p:tag name="TYPE" val="icon"/>
</p:tagLst>
</file>

<file path=ppt/tags/tag95.xml><?xml version="1.0" encoding="utf-8"?>
<p:tagLst xmlns:a="http://schemas.openxmlformats.org/drawingml/2006/main" xmlns:r="http://schemas.openxmlformats.org/officeDocument/2006/relationships" xmlns:p="http://schemas.openxmlformats.org/presentationml/2006/main">
  <p:tag name="TYPE" val="icon"/>
</p:tagLst>
</file>

<file path=ppt/tags/tag96.xml><?xml version="1.0" encoding="utf-8"?>
<p:tagLst xmlns:a="http://schemas.openxmlformats.org/drawingml/2006/main" xmlns:r="http://schemas.openxmlformats.org/officeDocument/2006/relationships" xmlns:p="http://schemas.openxmlformats.org/presentationml/2006/main">
  <p:tag name="TYPE" val="icon"/>
</p:tagLst>
</file>

<file path=ppt/tags/tag97.xml><?xml version="1.0" encoding="utf-8"?>
<p:tagLst xmlns:a="http://schemas.openxmlformats.org/drawingml/2006/main" xmlns:r="http://schemas.openxmlformats.org/officeDocument/2006/relationships" xmlns:p="http://schemas.openxmlformats.org/presentationml/2006/main">
  <p:tag name="TYPE" val="icon"/>
</p:tagLst>
</file>

<file path=ppt/tags/tag98.xml><?xml version="1.0" encoding="utf-8"?>
<p:tagLst xmlns:a="http://schemas.openxmlformats.org/drawingml/2006/main" xmlns:r="http://schemas.openxmlformats.org/officeDocument/2006/relationships" xmlns:p="http://schemas.openxmlformats.org/presentationml/2006/main">
  <p:tag name="TYPE" val="icon"/>
</p:tagLst>
</file>

<file path=ppt/tags/tag99.xml><?xml version="1.0" encoding="utf-8"?>
<p:tagLst xmlns:a="http://schemas.openxmlformats.org/drawingml/2006/main" xmlns:r="http://schemas.openxmlformats.org/officeDocument/2006/relationships" xmlns:p="http://schemas.openxmlformats.org/presentationml/2006/main">
  <p:tag name="TYPE" val="icon"/>
</p:tagLst>
</file>

<file path=ppt/tags/tag100.xml><?xml version="1.0" encoding="utf-8"?>
<p:tagLst xmlns:a="http://schemas.openxmlformats.org/drawingml/2006/main" xmlns:r="http://schemas.openxmlformats.org/officeDocument/2006/relationships" xmlns:p="http://schemas.openxmlformats.org/presentationml/2006/main">
  <p:tag name="TYPE" val="icon"/>
</p:tagLst>
</file>

<file path=ppt/tags/tag101.xml><?xml version="1.0" encoding="utf-8"?>
<p:tagLst xmlns:a="http://schemas.openxmlformats.org/drawingml/2006/main" xmlns:r="http://schemas.openxmlformats.org/officeDocument/2006/relationships" xmlns:p="http://schemas.openxmlformats.org/presentationml/2006/main">
  <p:tag name="TYPE" val="icon"/>
</p:tagLst>
</file>

<file path=ppt/tags/tag102.xml><?xml version="1.0" encoding="utf-8"?>
<p:tagLst xmlns:a="http://schemas.openxmlformats.org/drawingml/2006/main" xmlns:r="http://schemas.openxmlformats.org/officeDocument/2006/relationships" xmlns:p="http://schemas.openxmlformats.org/presentationml/2006/main">
  <p:tag name="TYPE" val="icon"/>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17609</TotalTime>
  <Words>6442</Words>
  <Application>Microsoft Office PowerPoint</Application>
  <PresentationFormat>宽屏</PresentationFormat>
  <Paragraphs>468</Paragraphs>
  <Slides>18</Slides>
  <Notes>18</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18</vt:i4>
      </vt:variant>
    </vt:vector>
  </HeadingPairs>
  <TitlesOfParts>
    <vt:vector size="30" baseType="lpstr">
      <vt:lpstr>黑体</vt:lpstr>
      <vt:lpstr>华文中宋</vt:lpstr>
      <vt:lpstr>SimSun</vt:lpstr>
      <vt:lpstr>SimSun</vt:lpstr>
      <vt:lpstr>Microsoft YaHei</vt:lpstr>
      <vt:lpstr>Microsoft YaHei</vt:lpstr>
      <vt:lpstr>Arial</vt:lpstr>
      <vt:lpstr>Calibri</vt:lpstr>
      <vt:lpstr>Helvetica</vt:lpstr>
      <vt:lpstr>Times New Roman</vt:lpstr>
      <vt:lpstr>Wingdings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PHK110</dc:creator>
  <cp:lastModifiedBy>炘宇 黄</cp:lastModifiedBy>
  <cp:revision>64</cp:revision>
  <dcterms:created xsi:type="dcterms:W3CDTF">2024-09-24T05:25:00Z</dcterms:created>
  <dcterms:modified xsi:type="dcterms:W3CDTF">2025-10-22T08:26:14Z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AFE4524B58384301847600E2615170E7_11</vt:lpwstr>
  </property>
</Properties>
</file>