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4d01a501ef4014" /><Relationship Type="http://schemas.openxmlformats.org/officeDocument/2006/relationships/extended-properties" Target="/docProps/app.xml" Id="Rea882a481a3e4ee9" /><Relationship Type="http://schemas.openxmlformats.org/officeDocument/2006/relationships/officeDocument" Target="/ppt/presentation.xml" Id="R498be8cec3314f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590ca0a77f4058"/>
  </p:sldMasterIdLst>
  <p:notesMasterIdLst>
    <p:notesMasterId xmlns:r="http://schemas.openxmlformats.org/officeDocument/2006/relationships" r:id="R780a7a0b38c74006"/>
  </p:notesMasterIdLst>
  <p:sldIdLst>
    <p:sldId xmlns:r="http://schemas.openxmlformats.org/officeDocument/2006/relationships" id="256" r:id="Raf039cb6d4874f31"/>
    <p:sldId xmlns:r="http://schemas.openxmlformats.org/officeDocument/2006/relationships" id="257" r:id="R2b20efe093e34563"/>
    <p:sldId xmlns:r="http://schemas.openxmlformats.org/officeDocument/2006/relationships" id="258" r:id="R5b2b79be40b045e9"/>
    <p:sldId xmlns:r="http://schemas.openxmlformats.org/officeDocument/2006/relationships" id="259" r:id="R6a2937cd3cc2475d"/>
    <p:sldId xmlns:r="http://schemas.openxmlformats.org/officeDocument/2006/relationships" id="260" r:id="Ra5925a7dd2644e9d"/>
    <p:sldId xmlns:r="http://schemas.openxmlformats.org/officeDocument/2006/relationships" id="261" r:id="R1570bdc8a8a6443f"/>
    <p:sldId xmlns:r="http://schemas.openxmlformats.org/officeDocument/2006/relationships" id="262" r:id="Ra0413d14fa804606"/>
    <p:sldId xmlns:r="http://schemas.openxmlformats.org/officeDocument/2006/relationships" id="263" r:id="R058eb0b296d6451f"/>
    <p:sldId xmlns:r="http://schemas.openxmlformats.org/officeDocument/2006/relationships" id="264" r:id="R7bba703623bf4296"/>
    <p:sldId xmlns:r="http://schemas.openxmlformats.org/officeDocument/2006/relationships" id="265" r:id="Raed8a28384ba4afc"/>
    <p:sldId xmlns:r="http://schemas.openxmlformats.org/officeDocument/2006/relationships" id="266" r:id="R0c25aaa631bf4479"/>
    <p:sldId xmlns:r="http://schemas.openxmlformats.org/officeDocument/2006/relationships" id="267" r:id="R88e8e863ace944ad"/>
    <p:sldId xmlns:r="http://schemas.openxmlformats.org/officeDocument/2006/relationships" id="268" r:id="R269a1211ca4040ca"/>
    <p:sldId xmlns:r="http://schemas.openxmlformats.org/officeDocument/2006/relationships" id="269" r:id="Rf682a21c8eb44a20"/>
    <p:sldId xmlns:r="http://schemas.openxmlformats.org/officeDocument/2006/relationships" id="270" r:id="Rc8cfb943c3994921"/>
    <p:sldId xmlns:r="http://schemas.openxmlformats.org/officeDocument/2006/relationships" id="271" r:id="R608f9634b0674dbd"/>
    <p:sldId xmlns:r="http://schemas.openxmlformats.org/officeDocument/2006/relationships" id="272" r:id="Ra4bd5b48545c4d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881d2b5585441f" /><Relationship Type="http://schemas.openxmlformats.org/officeDocument/2006/relationships/slideMaster" Target="/ppt/slideMasters/slideMaster1.xml" Id="R41590ca0a77f4058" /><Relationship Type="http://schemas.openxmlformats.org/officeDocument/2006/relationships/notesMaster" Target="/ppt/notesMasters/notesMaster1.xml" Id="R780a7a0b38c74006" /><Relationship Type="http://schemas.openxmlformats.org/officeDocument/2006/relationships/presProps" Target="/ppt/presProps.xml" Id="Ra16da6ffc4da42b6" /><Relationship Type="http://schemas.openxmlformats.org/officeDocument/2006/relationships/tableStyles" Target="/ppt/tableStyles.xml" Id="R509600b8e2104524" /><Relationship Type="http://schemas.openxmlformats.org/officeDocument/2006/relationships/slide" Target="/ppt/slides/slide1.xml" Id="Raf039cb6d4874f31" /><Relationship Type="http://schemas.openxmlformats.org/officeDocument/2006/relationships/slide" Target="/ppt/slides/slide2.xml" Id="R2b20efe093e34563" /><Relationship Type="http://schemas.openxmlformats.org/officeDocument/2006/relationships/slide" Target="/ppt/slides/slide3.xml" Id="R5b2b79be40b045e9" /><Relationship Type="http://schemas.openxmlformats.org/officeDocument/2006/relationships/slide" Target="/ppt/slides/slide4.xml" Id="R6a2937cd3cc2475d" /><Relationship Type="http://schemas.openxmlformats.org/officeDocument/2006/relationships/slide" Target="/ppt/slides/slide5.xml" Id="Ra5925a7dd2644e9d" /><Relationship Type="http://schemas.openxmlformats.org/officeDocument/2006/relationships/slide" Target="/ppt/slides/slide6.xml" Id="R1570bdc8a8a6443f" /><Relationship Type="http://schemas.openxmlformats.org/officeDocument/2006/relationships/slide" Target="/ppt/slides/slide7.xml" Id="Ra0413d14fa804606" /><Relationship Type="http://schemas.openxmlformats.org/officeDocument/2006/relationships/slide" Target="/ppt/slides/slide8.xml" Id="R058eb0b296d6451f" /><Relationship Type="http://schemas.openxmlformats.org/officeDocument/2006/relationships/slide" Target="/ppt/slides/slide9.xml" Id="R7bba703623bf4296" /><Relationship Type="http://schemas.openxmlformats.org/officeDocument/2006/relationships/slide" Target="/ppt/slides/slide10.xml" Id="Raed8a28384ba4afc" /><Relationship Type="http://schemas.openxmlformats.org/officeDocument/2006/relationships/slide" Target="/ppt/slides/slide11.xml" Id="R0c25aaa631bf4479" /><Relationship Type="http://schemas.openxmlformats.org/officeDocument/2006/relationships/slide" Target="/ppt/slides/slide12.xml" Id="R88e8e863ace944ad" /><Relationship Type="http://schemas.openxmlformats.org/officeDocument/2006/relationships/slide" Target="/ppt/slides/slide13.xml" Id="R269a1211ca4040ca" /><Relationship Type="http://schemas.openxmlformats.org/officeDocument/2006/relationships/slide" Target="/ppt/slides/slide14.xml" Id="Rf682a21c8eb44a20" /><Relationship Type="http://schemas.openxmlformats.org/officeDocument/2006/relationships/slide" Target="/ppt/slides/slide15.xml" Id="Rc8cfb943c3994921" /><Relationship Type="http://schemas.openxmlformats.org/officeDocument/2006/relationships/slide" Target="/ppt/slides/slide16.xml" Id="R608f9634b0674dbd" /><Relationship Type="http://schemas.openxmlformats.org/officeDocument/2006/relationships/slide" Target="/ppt/slides/slide17.xml" Id="Ra4bd5b48545c4d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a845807e6e48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SimHei"/>
        <a:cs typeface="Times New Roman"/>
      </a:majorFont>
      <a:minorFont>
        <a:latin typeface="Times New Roman"/>
        <a:ea typeface="SimHei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c257bfb05642a2" /><Relationship Type="http://schemas.openxmlformats.org/officeDocument/2006/relationships/notesMaster" Target="/ppt/notesMasters/notesMaster1.xml" Id="Rd529f03232ec42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c769645a514e71" /><Relationship Type="http://schemas.openxmlformats.org/officeDocument/2006/relationships/notesMaster" Target="/ppt/notesMasters/notesMaster1.xml" Id="Rccb4a8de386e4a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649d9c6fae47f8" /><Relationship Type="http://schemas.openxmlformats.org/officeDocument/2006/relationships/notesMaster" Target="/ppt/notesMasters/notesMaster1.xml" Id="R1b91589e213a46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e2648ffcec4401" /><Relationship Type="http://schemas.openxmlformats.org/officeDocument/2006/relationships/notesMaster" Target="/ppt/notesMasters/notesMaster1.xml" Id="Rfc77c3dc736247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3ed7ea897b4537" /><Relationship Type="http://schemas.openxmlformats.org/officeDocument/2006/relationships/notesMaster" Target="/ppt/notesMasters/notesMaster1.xml" Id="Rdbc49aa7425945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5539844bd94c8e" /><Relationship Type="http://schemas.openxmlformats.org/officeDocument/2006/relationships/notesMaster" Target="/ppt/notesMasters/notesMaster1.xml" Id="R918bb2dcd7ca45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3a5314084c41c4" /><Relationship Type="http://schemas.openxmlformats.org/officeDocument/2006/relationships/notesMaster" Target="/ppt/notesMasters/notesMaster1.xml" Id="R73b37d24dd6545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30f950f4a34ed8" /><Relationship Type="http://schemas.openxmlformats.org/officeDocument/2006/relationships/notesMaster" Target="/ppt/notesMasters/notesMaster1.xml" Id="Re3e5f82f08874e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389853832b44c4" /><Relationship Type="http://schemas.openxmlformats.org/officeDocument/2006/relationships/notesMaster" Target="/ppt/notesMasters/notesMaster1.xml" Id="Re6e63548793d4f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1ccdf0135942ab" /><Relationship Type="http://schemas.openxmlformats.org/officeDocument/2006/relationships/notesMaster" Target="/ppt/notesMasters/notesMaster1.xml" Id="R1388c86e758447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330a8ab99d4dac" /><Relationship Type="http://schemas.openxmlformats.org/officeDocument/2006/relationships/notesMaster" Target="/ppt/notesMasters/notesMaster1.xml" Id="R53372361f6be40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1f73cd30d44d62" /><Relationship Type="http://schemas.openxmlformats.org/officeDocument/2006/relationships/notesMaster" Target="/ppt/notesMasters/notesMaster1.xml" Id="R52372b05e31049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83dbab60144a6f" /><Relationship Type="http://schemas.openxmlformats.org/officeDocument/2006/relationships/notesMaster" Target="/ppt/notesMasters/notesMaster1.xml" Id="R5496925fb9f84c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75cc62dd794147" /><Relationship Type="http://schemas.openxmlformats.org/officeDocument/2006/relationships/notesMaster" Target="/ppt/notesMasters/notesMaster1.xml" Id="R69c52e0ffdbd474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d46efc36344aff" /><Relationship Type="http://schemas.openxmlformats.org/officeDocument/2006/relationships/notesMaster" Target="/ppt/notesMasters/notesMaster1.xml" Id="Rec079ae2e61c4b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c06c88632024a01" /><Relationship Type="http://schemas.openxmlformats.org/officeDocument/2006/relationships/notesMaster" Target="/ppt/notesMasters/notesMaster1.xml" Id="R327f7f5d912f471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6af2cd03daf4b9c" /><Relationship Type="http://schemas.openxmlformats.org/officeDocument/2006/relationships/notesMaster" Target="/ppt/notesMasters/notesMaster1.xml" Id="R8c0498bbff1c4c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各位老师好，我是陆晓。我的开题汇报题目是《基于图神经网络与强化学习的飞机脉动装配线动态调度方法研究》。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汇报分为研究背景、文献综述、研究内容、技术路线和工作计划五个部分。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国产大飞机规模化发展，对总装能力和生产组织效率提出了更高要求。飞机总装涉及大量工序和人员作业，合理组织装配过程直接影响生产周期和产出能力。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>
                <a:latin typeface="Microsoft YaHei"/>
                <a:ea typeface="Microsoft YaHei"/>
                <a:cs typeface="Microsoft YaHei"/>
              </a:rPr>
              <a:t>脉动装配是飞机总装中广泛采用的一种生产组织方式。如右图所示，多架飞机在不同站位并行装配。各站完成当前任务并满足转站条件后，全线同步转站，实际转站时刻由最晚就绪的站位决定。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在这一过程中，工序执行需要满足工艺前序关系，人员团队受到人数、资格和占用的约束。因此，需要合理安排工序和人员，并协调各站的完成进度。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 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文献与图示来源（备查）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脉动装配生产组织依据：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[1]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；背景依据：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政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1]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政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2]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政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3]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。照片与飞机轮廓取自陈凌韬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PPT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页；五站位编号与作业标记为本研究生产示意。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结合上述生产特点，飞机脉动装配线的调度主要面临三个问题。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一，工艺关系复杂，工序安排与人员使用相互制约。工序需要满足前序关系，团队选择受到人数、资格和占用的限制，站位安排又会影响可选人员。因此，首先需要研究无扰动条件下的联合调度，同时安排工序、站位和具体人员团队，形成满足约束的高效排程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二，工序延迟开工可能使原计划需要调整。物料未就绪等因素可能改变工序的开工条件，并影响后续任务与人员安排。因此，需要在保留规定安排的基础上调整其余工序，兼顾完工时间与计划稳定性，在恢复生产进度的同时控制对原计划的改动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三，在多架飞机并行装配、全线同步转站的条件下，某一站位的局部延迟可能推迟共同转站，影响其他在制飞机的装配进度和待投产飞机的进入时间。在满足约束时，部分工序可以后移至后续站位，这会改变下一周期的任务分布。因此，需要结合各站当前进度与下一周期作业，研究多架次协同动态调度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下面介绍相关研究现状。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 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文献与图示来源（备查）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生产及调度依据：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[3]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[5]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[10]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。研究范围依据开题报告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v4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章。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首先，从生产决策的角度梳理飞机脉动装配线调度研究。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第一类研究关注工序分站与人员安排。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Bao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等联合考虑工序分站、资源配置和作业时间；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Fang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等允许人员在阶段之间调整站位，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Zheng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等则要求人员在装配周期内驻站。不同研究采用的人员组织条件有所区别。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第二类研究关注扰动后的计划调整。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Zhu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等针对物料到达不确定性，调整未开工工序的开工时间；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Lovato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等采用约束规划，在保留已开工作业安排的基础上考虑计划稳定性。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第三类研究关注多站位及连续装配。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Pucel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Roussel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联合安排工序站位与作业时间，并考虑连续飞机实例、跨站人员和并行站位。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不同研究的决策范围、人员组织和站位条件有所区别。下面从求解方法的角度进一步比较。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 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文献与图示来源（备查）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参考文献（编号沿用开题报告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v4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[1] 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方水良，刘猛男，鲜果，秦永辉，田雨辰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飞机移动装配线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脉动与续动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航空制造技术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2021, 64(16):40–50.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[3] Bao Z, Chen L, Qiu K. An aircraft final assembly line balancing problem considering resource constraints and parallel task scheduling. Computers &amp; Industrial Engineering, 2023, 182:109436.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[9] Fang P, Yang J, Liao Q, Zhong R Y, Jiang Y. Flexible Worker Allocation in Aircraft Final Assembly Line Using Multiobjective Evolutionary Algorithms. IEEE Transactions on Industrial Informatics, 2021, 17(11):7468–7478.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[10] Zheng X, Qiao F, You S, et al. Joint optimization of production scheduling and worker allocation under a resource dedication policy in aircraft assembly lines. Robotics and Computer-Integrated Manufacturing, 2025, 96:103047.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[15] Zhu H, Lu Z, Lu C, Ren Y. A reactive scheduling method for disturbances in aircraft moving assembly line. International Journal of Production Research, 2021, 59(15):4756–4772.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[5] Lovato D, Guillaume R, Thierry C, Battaia O. Managing disruptions in aircraft assembly lines with staircase criteria. International Journal of Production Research, 2023, 61(2):632–648.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[11] Pucel X, Roussel S. Constraint Programming Model for Assembly Line Balancing and Scheduling with Walking Workers and Parallel Stations. CP 2024, LIPIcs 307:23:1–23:21.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第二个角度是求解方法，本页归纳为四类。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规则与启发式按照任务优先级或构造规则形成安排。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数学优化与约束规划通过明确的变量、约束和目标求解初始或修复排程。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元启发式通过候选方案的解码、评价和搜索，改进排程或人员配置。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Wen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等利用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Q-learning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调整遗传算法参数，具体排程仍由遗传算法生成。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强化学习方法则训练调度策略，根据当前状态选择工序、资源或派工规则。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强化学习通过训练形成可反复调用的调度策略，依据工艺关系、资源条件和已有安排选择动作。状态表示将这些生产信息组织为策略能够利用的输入。下面进一步介绍图强化学习的状态表示。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 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文献与图示来源（备查）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参考文献（编号沿用开题报告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v4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[17] Panwalkar S S, Iskander W. A survey of scheduling rules. Operations Research, 1977, 25(1):45–61.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[3] Bao Z, Chen L, Qiu K. An aircraft final assembly line balancing problem considering resource constraints and parallel task scheduling. Computers &amp; Industrial Engineering, 2023, 182:109436.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[11] Pucel X, Roussel S. Constraint Programming Model for Assembly Line Balancing and Scheduling with Walking Workers and Parallel Stations. CP 2024, LIPIcs 307:23:1–23:21.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[5] Lovato D, Guillaume R, Thierry C, Battaia O. Managing disruptions in aircraft assembly lines with staircase criteria. International Journal of Production Research, 2023, 61(2):632–648.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[9] Fang P, Yang J, Liao Q, Zhong R Y, Jiang Y. Flexible Worker Allocation in Aircraft Final Assembly Line Using Multiobjective Evolutionary Algorithms. IEEE Transactions on Industrial Informatics, 2021, 17(11):7468–7478.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[10] Zheng X, Qiao F, You S, et al. Joint optimization of production scheduling and worker allocation under a resource dedication policy in aircraft assembly lines. Robotics and Computer-Integrated Manufacturing, 2025, 96:103047.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[18] Wen X, Liu H, Zhang X, et al. A Q-Learning Improved Particle Swarm Optimization for Aircraft Pulsating Assembly Line Scheduling Problem Considering Skilled Operator Allocation. Computers, Materials &amp; Continua, 2026, 86(1):1–27.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[19] Wen X, et al. An improved genetic algorithm based on reinforcement learning for aircraft assembly scheduling problem. Computers &amp; Industrial Engineering, 2024, 193:110263.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[22] Zhang C, Song W, Cao Z, et al. Learning to Dispatch for Job Shop Scheduling via Deep Reinforcement Learning. NeurIPS, 2020, 33:1621–1632.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[23] Wen X, Zhang H, Yang W, et al. Research on a worker skill level-aware pulsating assembly scheduling method for aircraft based on the GIN-PPO algorithm. Computers &amp; Industrial Engineering, 2026, 218:112135.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[24] Chen B, Zhang J, Luo X, Jiang S. A multi-agent graph attention deep reinforcement learning method for aircraft assembly dynamic scheduling. Advanced Engineering Informatics, 2026, 73:104565.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[25] Waubert de Puiseau C, Ercan F, Peters J, et al. A literature review on deep reinforcement learning for machine scheduling problems. Journal of Manufacturing Systems, 2026, 85:96–126.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第三个角度是调度策略能够利用哪些生产信息，本页从三个方面进行比较。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第一，工艺与资源关系。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Wen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等在单站位装配中，用工序图表示前序关系和资源需求，并选择待安排工序。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Song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等面向柔性作业车间，采用工序与机器的异构图，联合选择工序和机器。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第二，站位及整线信息。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Chen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等利用站内工序、人员和物料信息支持派工规则选择，并通过跨站信息聚合进行局部与全局评价，考虑站内完工时间和整线平衡。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第三，生产语义与时间信息。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Ding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等通过知识图谱整合产品、工艺和资源信息，为实时调度提供状态。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Hu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等面向工序、机器和人员共同约束的车间，将动态时间属性纳入图表示，并通过语义感知的异构图支持联合决策。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这些研究已利用工艺资源关系、跨站信息和动态时间属性，为调度状态的组织与表示提供了基础。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 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文献与图示来源（备查）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参考文献（编号沿用开题报告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v4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[23] Wen X, Zhang H, Yang W, et al. Research on a worker skill level-aware pulsating assembly scheduling method for aircraft based on the GIN-PPO algorithm. Computers &amp; Industrial Engineering, 2026, 218:112135.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[29] Song W, Chen X, Li Q, Cao Z. Flexible job-shop scheduling via graph neural network and deep reinforcement learning. IEEE Transactions on Industrial Informatics, 2023, 19(2):1600–1610.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[24] Chen B, Zhang J, Luo X, Jiang S. A multi-agent graph attention deep reinforcement learning method for aircraft assembly dynamic scheduling. Advanced Engineering Informatics, 2026, 73:104565.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[33] Ding C, Qiao F, Liu J, Wang D, Shi J. Semantic-driven real-time scheduling approach for aerospace product manufacturing. Computers &amp; Industrial Engineering, 2025, 210:111525.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[34] Hu Y, Chen J, Zhang Z, Tang D, Cai Q. Dynamic scheduling for dual-resource constrained flexible job-shop via semantic-aware graph modelling and deep reinforcement learning. Knowledge-Based Systems, 2025, 328:114192.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[27] Smit I G, Zhou J, Reijnen R, et al. Graph neural networks for job shop scheduling problems: A survey. Computers &amp; Operations Research, 2025, 176:106914.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综合上述文献，本课题拟开展以下三项研究。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一，已有研究联合考虑了工序分站、人员配置和作业时间，但部分研究预先给定工序站位，或主要优化各站人数。研究内容一在无扰动、人员总量给定的条件下，采用同构图强化学习，联合选择工序、站位和具体工人团队，将成员效率与占用对作业安排的影响纳入决策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第二，已有异构图方法支持工序与资源联合选择，装配重调度也考虑了执行保留和计划改动，但工序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机器或工序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机器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个工人的动作形式，需要扩展到满足不同人数需求的完整团队。研究内容二进一步考虑变长工人团队和延迟开工，采用异构图强化学习区分工艺前序、人员资格与占用等关系，在保留规定安排的基础上修复其余计划，兼顾完工时间与计划稳定性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三，已有研究利用跨站信息、知识图谱和动态时间属性组织状态，但在多架次同步转站下，还需将当前安排对共同转站和下一周期各站就绪的时间影响，作为明确的状态学习目标。研究内容三采用语义增强图强化学习，按飞机、站位和整线分层融合当前与下一周期信息。训练时，用仿真中的实际转站和就绪结果监督图表征；决策时，将增强后的表征与时间偏差预测用于工序、站位和团队联合选择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下面介绍具体研究内容。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 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文献与图示来源（备查）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参考文献（编号沿用开题报告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v4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[3] Bao Z, Chen L, Qiu K. An aircraft final assembly line balancing problem considering resource constraints and parallel task scheduling. Computers &amp; Industrial Engineering, 2023, 182:109436.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[9] Fang P, Yang J, Liao Q, Zhong R Y, Jiang Y. Flexible Worker Allocation in Aircraft Final Assembly Line Using Multiobjective Evolutionary Algorithms. IEEE Transactions on Industrial Informatics, 2021, 17(11):7468–7478.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[10] Zheng X, Qiao F, You S, et al. Joint optimization of production scheduling and worker allocation under a resource dedication policy in aircraft assembly lines. Robotics and Computer-Integrated Manufacturing, 2025, 96:103047.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[5] Lovato D, Guillaume R, Thierry C, Battaia O. Managing disruptions in aircraft assembly lines with staircase criteria. International Journal of Production Research, 2023, 61(2):632–648.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[29] Song W, Chen X, Li Q, Cao Z. Flexible job-shop scheduling via graph neural network and deep reinforcement learning. IEEE Transactions on Industrial Informatics, 2023, 19(2):1600–1610.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[24] Chen B, Zhang J, Luo X, Jiang S. A multi-agent graph attention deep reinforcement learning method for aircraft assembly dynamic scheduling. Advanced Engineering Informatics, 2026, 73:104565.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[33] Ding C, Qiao F, Liu J, Wang D, Shi J. Semantic-driven real-time scheduling approach for aerospace product manufacturing. Computers &amp; Industrial Engineering, 2025, 210:111525.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[34] Hu Y, Chen J, Zhang Z, Tang D, Cai Q. Dynamic scheduling for dual-resource constrained flexible job-shop via semantic-aware graph modelling and deep reinforcement learning. Knowledge-Based Systems, 2025, 328:114192.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本课题的研究内容主要包括三个部分以及案例验证。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研究内容一是基于同构图强化学习的脉动装配线调度优化方法，面向无扰动生产，采用同构图统一组织工艺与资源信息，通过共享传播规则生成状态表示，构造联合静态排程。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研究内容二是基于异构图强化学习的脉动装配线动态调度方法，进一步区分不同工艺与资源关系。工序延迟开工后，在保留规定安排的基础上调整可修改部分，兼顾完工时间与计划稳定性。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三是基于语义增强图强化学习的多架次协同动态调度方法，面向多架次连续装配。通过分层融合组织飞机、站位与整线信息，利用实际转站和就绪结果训练图表示，实现语义增强。策略结合增强后的表示和时间预测，协调当前与下一周期的作业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下面分别介绍三项研究的技术路线。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 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文献与图示来源（备查）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研究内容依据：开题报告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v4 4.2.1—4.2.3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及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5.2—5.4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。案例验证采用已具备的工业工艺数据，完成状态见可行性分析。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首先介绍研究内容一的技术路线，主要包括同构图状态编码、自回归联合决策和排程构造三个部分。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同构图将工艺前序、站位归属以及人员资格、效率和占用等信息组织在同一图中，采用共享传播规则提取状态表示。工序、站位和团队的选择都使用这些信息，并结合已经形成的安排。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在自回归联合决策中，依次选择工序、合法站位和具体团队，后续选择以前面的结果为条件。团队成员按工序需求人数逐人选择。人员首次指派形成内生人员绑定，各站人员配置由联合选择确定，策略同时优化工序排程与人员资源配置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完整动作形成后，根据前序完成情况和人员可用时间确定工序的起止时刻，再更新任务安排与人员占用。随后继续进行联合选择，直到全部工序安排完成。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>
                <a:latin typeface="Microsoft YaHei"/>
                <a:ea typeface="Microsoft YaHei"/>
                <a:cs typeface="Microsoft YaHei"/>
              </a:rPr>
              <a:t>这一部分的重点，是统一编码工艺与资源信息，通过自回归策略完成工序、站位与具体团队的联合选择。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 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文献与图示来源（备查）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>
                <a:latin typeface="Microsoft YaHei"/>
                <a:ea typeface="Microsoft YaHei"/>
                <a:cs typeface="Microsoft YaHei"/>
              </a:rPr>
              <a:t>方法依据：开题报告</a:t>
            </a:r>
            <a:r>
              <a:rPr>
                <a:latin typeface="Times New Roman"/>
                <a:ea typeface="Times New Roman"/>
                <a:cs typeface="Times New Roman"/>
              </a:rPr>
              <a:t>v4 4.2.1</a:t>
            </a:r>
            <a:r>
              <a:rPr>
                <a:latin typeface="Microsoft YaHei"/>
                <a:ea typeface="Microsoft YaHei"/>
                <a:cs typeface="Microsoft YaHei"/>
              </a:rPr>
              <a:t>及</a:t>
            </a:r>
            <a:r>
              <a:rPr>
                <a:latin typeface="Times New Roman"/>
                <a:ea typeface="Times New Roman"/>
                <a:cs typeface="Times New Roman"/>
              </a:rPr>
              <a:t>5.2</a:t>
            </a:r>
            <a:r>
              <a:rPr>
                <a:latin typeface="Microsoft YaHei"/>
                <a:ea typeface="Microsoft YaHei"/>
                <a:cs typeface="Microsoft YaHei"/>
              </a:rPr>
              <a:t>。同构图为本研究共享传播方案示意；图中工序、站位与人员名称表示生产信息，采用共同传播规则与参数。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研究内容二包括异构图关系表示和考虑计划稳定性的重调度两部分。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先，构建工序、站位、人员和技能四类节点，按照前序、需求、资格、归属和安排等关系传播信息。例如，前序关系反映工序依赖，技能需求与人员资格关系反映工序和人员的匹配条件。联合策略据此分别利用工艺与资源信息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工序延迟开工后，依据固定基准排程保留规定工序的原安排，并继承已有人员站位绑定。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对可调整部分，根据已知的开工延迟重新选择待安排工序、合法站位和具体团队，并确定新的作业时间。保留安排与新安排共同形成修复排程。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>
                <a:latin typeface="Microsoft YaHei"/>
                <a:ea typeface="Microsoft YaHei"/>
                <a:cs typeface="Microsoft YaHei"/>
              </a:rPr>
              <a:t>优化时既考虑修复后的完工时间，也考虑相对固定基准的开工时刻、站位和团队成员变化。这些变化反映计划调整的程度，使重调度兼顾恢复生产进度与控制计划改动。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接下来进一步考虑多架飞机实际执行中的同步转站，以及当前安排对下一周期的影响。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 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文献与图示来源（备查）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>
                <a:latin typeface="Microsoft YaHei"/>
                <a:ea typeface="Microsoft YaHei"/>
                <a:cs typeface="Microsoft YaHei"/>
              </a:rPr>
              <a:t>图示来源：</a:t>
            </a:r>
            <a:r>
              <a:rPr>
                <a:latin typeface="Times New Roman"/>
                <a:ea typeface="Times New Roman"/>
                <a:cs typeface="Times New Roman"/>
              </a:rPr>
              <a:t>CAC 2026</a:t>
            </a:r>
            <a:r>
              <a:rPr>
                <a:latin typeface="Microsoft YaHei"/>
                <a:ea typeface="Microsoft YaHei"/>
                <a:cs typeface="Microsoft YaHei"/>
              </a:rPr>
              <a:t>论文第</a:t>
            </a:r>
            <a:r>
              <a:rPr>
                <a:latin typeface="Times New Roman"/>
                <a:ea typeface="Times New Roman"/>
                <a:cs typeface="Times New Roman"/>
              </a:rPr>
              <a:t>4</a:t>
            </a:r>
            <a:r>
              <a:rPr>
                <a:latin typeface="Microsoft YaHei"/>
                <a:ea typeface="Microsoft YaHei"/>
                <a:cs typeface="Microsoft YaHei"/>
              </a:rPr>
              <a:t>页图</a:t>
            </a:r>
            <a:r>
              <a:rPr>
                <a:latin typeface="Times New Roman"/>
                <a:ea typeface="Times New Roman"/>
                <a:cs typeface="Times New Roman"/>
              </a:rPr>
              <a:t>2</a:t>
            </a:r>
            <a:r>
              <a:rPr>
                <a:latin typeface="Microsoft YaHei"/>
                <a:ea typeface="Microsoft YaHei"/>
                <a:cs typeface="Microsoft YaHei"/>
              </a:rPr>
              <a:t>的工序、站位、人员图；下方技能节点与需求、资格关系依据研究内容二模型补充。方法依据：开题报告</a:t>
            </a:r>
            <a:r>
              <a:rPr>
                <a:latin typeface="Times New Roman"/>
                <a:ea typeface="Times New Roman"/>
                <a:cs typeface="Times New Roman"/>
              </a:rPr>
              <a:t>v4 4.2.2</a:t>
            </a:r>
            <a:r>
              <a:rPr>
                <a:latin typeface="Microsoft YaHei"/>
                <a:ea typeface="Microsoft YaHei"/>
                <a:cs typeface="Microsoft YaHei"/>
              </a:rPr>
              <a:t>及</a:t>
            </a:r>
            <a:r>
              <a:rPr>
                <a:latin typeface="Times New Roman"/>
                <a:ea typeface="Times New Roman"/>
                <a:cs typeface="Times New Roman"/>
              </a:rPr>
              <a:t>5.3</a:t>
            </a:r>
            <a:r>
              <a:rPr>
                <a:latin typeface="Microsoft YaHei"/>
                <a:ea typeface="Microsoft YaHei"/>
                <a:cs typeface="Microsoft YaHei"/>
              </a:rPr>
              <a:t>；研究内容二论文图</a:t>
            </a:r>
            <a:r>
              <a:rPr>
                <a:latin typeface="Times New Roman"/>
                <a:ea typeface="Times New Roman"/>
                <a:cs typeface="Times New Roman"/>
              </a:rPr>
              <a:t>2</a:t>
            </a:r>
            <a:r>
              <a:rPr>
                <a:latin typeface="Microsoft YaHei"/>
                <a:ea typeface="Microsoft YaHei"/>
                <a:cs typeface="Microsoft YaHei"/>
              </a:rPr>
              <a:t>。保留范围按固定基准计划的计划开工时刻与重调度边界划分。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研究内容三面向多架次连续装配，重点协调全线同步转站与紧邻下一周期的作业。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多架飞机在不同站位并行作业，但转站时必须全线同步。局部延迟可能使其他飞机等待，工序后移又会改变下一周期任务。因此，需要结合当前进度与下一周期作业进行协同安排。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先，复用异构图编码工艺与资源状态，再按飞机、站位和整线进行分层融合。飞机层汇总各架飞机的未完成任务；站位层分别组织本站当前飞机与下一周期进入飞机的任务，并结合本站人员条件；整线层汇总各站进度与负荷。联合策略既保留具体工序和人员的表示，也能利用跨站位、跨周期信息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时间后果预测模块以融合后的状态和最近变化为输入，预测本次同步转站相对于启发式估计的时间修正，以及紧邻下一周期各站的就绪偏差。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训练时，利用仿真中的实际转站和就绪结果作为监督，训练预测模块以及策略共享的图编码与融合模块，使图表示学习生产状态与后续时间结果的联系。分层融合与时间后果学习共同构成本研究的语义增强。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>
                <a:latin typeface="Microsoft YaHei"/>
                <a:ea typeface="Microsoft YaHei"/>
                <a:cs typeface="Microsoft YaHei"/>
              </a:rPr>
              <a:t>决策时，策略结合候选节点表示、分层状态和时间预测，选择工序，决定在本站执行或合法后移。对于在本站执行的工序，再选择具体团队并安排开工。生产状态随实际事件更新，策略持续作出后续安排，直到整批飞机完成装配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融合飞机、站位与整线信息，学习生产状态与同步转站、下一周期就绪的时间联系，通过语义增强支持多架次协同调度。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 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文献与图示来源（备查）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>
                <a:latin typeface="Microsoft YaHei"/>
                <a:ea typeface="Microsoft YaHei"/>
                <a:cs typeface="Microsoft YaHei"/>
              </a:rPr>
              <a:t>图结构参考：研究内容二论文第</a:t>
            </a:r>
            <a:r>
              <a:rPr>
                <a:latin typeface="Times New Roman"/>
                <a:ea typeface="Times New Roman"/>
                <a:cs typeface="Times New Roman"/>
              </a:rPr>
              <a:t>6</a:t>
            </a:r>
            <a:r>
              <a:rPr>
                <a:latin typeface="Microsoft YaHei"/>
                <a:ea typeface="Microsoft YaHei"/>
                <a:cs typeface="Microsoft YaHei"/>
              </a:rPr>
              <a:t>页图</a:t>
            </a:r>
            <a:r>
              <a:rPr>
                <a:latin typeface="Times New Roman"/>
                <a:ea typeface="Times New Roman"/>
                <a:cs typeface="Times New Roman"/>
              </a:rPr>
              <a:t>2</a:t>
            </a:r>
            <a:r>
              <a:rPr>
                <a:latin typeface="Microsoft YaHei"/>
                <a:ea typeface="Microsoft YaHei"/>
                <a:cs typeface="Microsoft YaHei"/>
              </a:rPr>
              <a:t>的工序、站位、人员与技能实体。不同飞机及执行状态为工序身份与状态信息，不新增基础节点类别。方法依据：开题报告</a:t>
            </a:r>
            <a:r>
              <a:rPr>
                <a:latin typeface="Times New Roman"/>
                <a:ea typeface="Times New Roman"/>
                <a:cs typeface="Times New Roman"/>
              </a:rPr>
              <a:t>v4 4.2.3</a:t>
            </a:r>
            <a:r>
              <a:rPr>
                <a:latin typeface="Microsoft YaHei"/>
                <a:ea typeface="Microsoft YaHei"/>
                <a:cs typeface="Microsoft YaHei"/>
              </a:rPr>
              <a:t>及</a:t>
            </a:r>
            <a:r>
              <a:rPr>
                <a:latin typeface="Times New Roman"/>
                <a:ea typeface="Times New Roman"/>
                <a:cs typeface="Times New Roman"/>
              </a:rPr>
              <a:t>5.4</a:t>
            </a:r>
            <a:r>
              <a:rPr>
                <a:latin typeface="Microsoft YaHei"/>
                <a:ea typeface="Microsoft YaHei"/>
                <a:cs typeface="Microsoft YaHei"/>
              </a:rPr>
              <a:t>。辅助任务训练共享表示：</a:t>
            </a:r>
            <a:r>
              <a:rPr>
                <a:latin typeface="Times New Roman"/>
                <a:ea typeface="Times New Roman"/>
                <a:cs typeface="Times New Roman"/>
              </a:rPr>
              <a:t>[35]</a:t>
            </a:r>
            <a:r>
              <a:rPr>
                <a:latin typeface="Microsoft YaHei"/>
                <a:ea typeface="Microsoft YaHei"/>
                <a:cs typeface="Microsoft YaHei"/>
              </a:rPr>
              <a:t>；</a:t>
            </a:r>
            <a:r>
              <a:rPr>
                <a:latin typeface="Times New Roman"/>
                <a:ea typeface="Times New Roman"/>
                <a:cs typeface="Times New Roman"/>
              </a:rPr>
              <a:t>PPO</a:t>
            </a:r>
            <a:r>
              <a:rPr>
                <a:latin typeface="Microsoft YaHei"/>
                <a:ea typeface="Microsoft YaHei"/>
                <a:cs typeface="Microsoft YaHei"/>
              </a:rPr>
              <a:t>：</a:t>
            </a:r>
            <a:r>
              <a:rPr>
                <a:latin typeface="Times New Roman"/>
                <a:ea typeface="Times New Roman"/>
                <a:cs typeface="Times New Roman"/>
              </a:rPr>
              <a:t>[36]</a:t>
            </a:r>
            <a:r>
              <a:rPr>
                <a:latin typeface="Microsoft YaHei"/>
                <a:ea typeface="Microsoft YaHei"/>
                <a:cs typeface="Microsoft YaHei"/>
              </a:rPr>
              <a:t>；动作掩码：</a:t>
            </a:r>
            <a:r>
              <a:rPr>
                <a:latin typeface="Times New Roman"/>
                <a:ea typeface="Times New Roman"/>
                <a:cs typeface="Times New Roman"/>
              </a:rPr>
              <a:t>[37]</a:t>
            </a:r>
            <a:r>
              <a:rPr>
                <a:latin typeface="Microsoft YaHei"/>
                <a:ea typeface="Microsoft YaHei"/>
                <a:cs typeface="Microsoft YaHei"/>
              </a:rPr>
              <a:t>。时间预测对象为本次同步转站相对启发式估计的修正，以及紧邻下一周期各站就绪偏差。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接下来介绍本课题的研究基础与实施条件。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数据方面，已具备四种规模的工业工艺数据，最大规模包含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3182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道工序，涵盖工艺前序、标准工时和需求人数。人员总量、资格与效率按实验方案配置。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已有研究方面，研究内容一论文已获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CAC 2026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录用，研究内容二论文已投稿，并已完成相应重调度实验。已有图编码、团队选择、时间分配和强化学习训练模块，可为后续方法提供实现基础。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实施方面，研究内容三已有方案设计和部分代码开发。拟使用实验室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V100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服务器完成训练与批量测试。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下面介绍后续工作计划。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 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文献与图示来源（备查）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工艺前序、标准工时和需求人数来自工业工艺数据；人员总量、资格与效率按实验配置。论文录用、投稿及当前实施进展依用户确认状态表述。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工作主要分为方法完善、实验验证和论文撰写三个阶段。首先完成同构方案验证和研究内容二的完善，随后实现多架次协同方法，开展对照与消融实验。最后完成研究论文和学位论文的撰写、修订及答辩准备。预期形成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1—2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篇论文、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篇会议论文及硕士学位论文。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 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文献与图示来源（备查）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——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日期为拟定工作安排，结合实际研究进展与学院要求执行。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以上是本次开题汇报，恳请各位老师批评指正。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本页为参考文献备查，不逐条朗读。正式汇报在第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页结束，问答需要时翻阅。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本页为参考文献备查，不逐条朗读。正式汇报在第</a:t>
            </a: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</a:t>
            </a:r>
            <a:r>
              <a:rPr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页结束，问答需要时翻阅。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23a19d02244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616f3f60d340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e5eec7cd841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10fb5eb2e942b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f7a74e7a4546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c598c2e60148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7446CA-0536-42FB-A212-F59CFD5CB1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B0D5B6F-9FF3-4EE2-93D4-A6DA1AF00B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DB4740-B233-446F-A3C1-53675180AA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4E6CCD-73EC-423B-8B08-13701A7AAC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6546036-239B-4972-89FC-EAF64055E0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3F38FE2-61EE-4004-9A1A-5BF8BB907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1CE4DE-DBDA-4E95-B2DE-EFD23720B6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670CE8-F8F3-49DC-B764-6374787099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CF179E-C9F6-4578-9EA1-75E4980F2B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3AC643-2B75-4F96-8075-2CBE862435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4ef9dceb134e64" /><Relationship Type="http://schemas.openxmlformats.org/officeDocument/2006/relationships/slideLayout" Target="/ppt/slideLayouts/slideLayout1.xml" Id="Rb2de63f4c4594fd3" /><Relationship Type="http://schemas.openxmlformats.org/officeDocument/2006/relationships/slideLayout" Target="/ppt/slideLayouts/slideLayout2.xml" Id="R5ad733ef3f3441e0" /><Relationship Type="http://schemas.openxmlformats.org/officeDocument/2006/relationships/slideLayout" Target="/ppt/slideLayouts/slideLayout3.xml" Id="R4e15717f01f549dc" /><Relationship Type="http://schemas.openxmlformats.org/officeDocument/2006/relationships/slideLayout" Target="/ppt/slideLayouts/slideLayout4.xml" Id="R4ff91de93a08470b" /><Relationship Type="http://schemas.openxmlformats.org/officeDocument/2006/relationships/slideLayout" Target="/ppt/slideLayouts/slideLayout5.xml" Id="R6b0b54c4c50747b9" /><Relationship Type="http://schemas.openxmlformats.org/officeDocument/2006/relationships/slideLayout" Target="/ppt/slideLayouts/slideLayout6.xml" Id="R60be4e0b1c0e48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de63f4c4594fd3"/>
    <p:sldLayoutId xmlns:r="http://schemas.openxmlformats.org/officeDocument/2006/relationships" id="2147483650" r:id="R5ad733ef3f3441e0"/>
    <p:sldLayoutId xmlns:r="http://schemas.openxmlformats.org/officeDocument/2006/relationships" id="2147483651" r:id="R4e15717f01f549dc"/>
    <p:sldLayoutId xmlns:r="http://schemas.openxmlformats.org/officeDocument/2006/relationships" id="2147483652" r:id="R4ff91de93a08470b"/>
    <p:sldLayoutId xmlns:r="http://schemas.openxmlformats.org/officeDocument/2006/relationships" id="2147483653" r:id="R6b0b54c4c50747b9"/>
    <p:sldLayoutId xmlns:r="http://schemas.openxmlformats.org/officeDocument/2006/relationships" id="2147483654" r:id="R60be4e0b1c0e48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SimHei"/>
        <a:cs typeface="Times New Roman"/>
      </a:majorFont>
      <a:minorFont>
        <a:latin typeface="Times New Roman"/>
        <a:ea typeface="SimHei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fa80a74f194fa8" /><Relationship Type="http://schemas.openxmlformats.org/officeDocument/2006/relationships/image" Target="/ppt/media/image.png" Id="R567bbea820204349" /><Relationship Type="http://schemas.openxmlformats.org/officeDocument/2006/relationships/image" Target="/ppt/media/image2.png" Id="R6b5e19f2590c42de" /><Relationship Type="http://schemas.openxmlformats.org/officeDocument/2006/relationships/notesSlide" Target="/ppt/notesSlides/notesSlide1.xml" Id="R882d3b5f929c49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bc50a8d2074aa0" /><Relationship Type="http://schemas.openxmlformats.org/officeDocument/2006/relationships/notesSlide" Target="/ppt/notesSlides/notesSlide2.xml" Id="Rdc65472b773044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452975b06d488d" /><Relationship Type="http://schemas.openxmlformats.org/officeDocument/2006/relationships/image" Target="/ppt/media/image3.png" Id="R1fd25d30901a42b3" /><Relationship Type="http://schemas.openxmlformats.org/officeDocument/2006/relationships/image" Target="/ppt/media/image4.png" Id="Rf3d447300029490b" /><Relationship Type="http://schemas.openxmlformats.org/officeDocument/2006/relationships/image" Target="/ppt/media/image5.png" Id="R45a724fa72f14628" /><Relationship Type="http://schemas.openxmlformats.org/officeDocument/2006/relationships/image" Target="/ppt/media/image6.png" Id="R58f7c95d7c6c4400" /><Relationship Type="http://schemas.openxmlformats.org/officeDocument/2006/relationships/image" Target="/ppt/media/image7.png" Id="R97e83f22d90241c2" /><Relationship Type="http://schemas.openxmlformats.org/officeDocument/2006/relationships/image" Target="/ppt/media/image8.png" Id="Rba2ef92e5d9f4948" /><Relationship Type="http://schemas.openxmlformats.org/officeDocument/2006/relationships/image" Target="/ppt/media/image9.png" Id="R733aa83728b84db1" /><Relationship Type="http://schemas.openxmlformats.org/officeDocument/2006/relationships/notesSlide" Target="/ppt/notesSlides/notesSlide3.xml" Id="Re57e722e067742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e34eae376c402f" /><Relationship Type="http://schemas.openxmlformats.org/officeDocument/2006/relationships/image" Target="/ppt/media/image3.png" Id="R1b8d968efd2d4e94" /><Relationship Type="http://schemas.openxmlformats.org/officeDocument/2006/relationships/notesSlide" Target="/ppt/notesSlides/notesSlide4.xml" Id="Rec15a9e4e4ed4f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5d8c5b224a40c4" /><Relationship Type="http://schemas.openxmlformats.org/officeDocument/2006/relationships/image" Target="/ppt/media/image3.png" Id="R5e6bbe9df05b4a80" /><Relationship Type="http://schemas.openxmlformats.org/officeDocument/2006/relationships/notesSlide" Target="/ppt/notesSlides/notesSlide5.xml" Id="R759c1c410d4145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3270cafca64f3d" /><Relationship Type="http://schemas.openxmlformats.org/officeDocument/2006/relationships/image" Target="/ppt/media/image3.png" Id="Ra7424a11537740bf" /><Relationship Type="http://schemas.openxmlformats.org/officeDocument/2006/relationships/notesSlide" Target="/ppt/notesSlides/notesSlide6.xml" Id="R0140977b82d242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24dfb3f9df47b1" /><Relationship Type="http://schemas.openxmlformats.org/officeDocument/2006/relationships/image" Target="/ppt/media/image3.png" Id="R4d2e19a2bc484945" /><Relationship Type="http://schemas.openxmlformats.org/officeDocument/2006/relationships/notesSlide" Target="/ppt/notesSlides/notesSlide7.xml" Id="R91ceeb01e16348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e0998c1c8b41aa" /><Relationship Type="http://schemas.openxmlformats.org/officeDocument/2006/relationships/image" Target="/ppt/media/image3.png" Id="R7c7674261fed4ab3" /><Relationship Type="http://schemas.openxmlformats.org/officeDocument/2006/relationships/notesSlide" Target="/ppt/notesSlides/notesSlide8.xml" Id="R64fe949e94be42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d1eda7262f4bf2" /><Relationship Type="http://schemas.openxmlformats.org/officeDocument/2006/relationships/image" Target="/ppt/media/image3.png" Id="R883b9e5c17c74269" /><Relationship Type="http://schemas.openxmlformats.org/officeDocument/2006/relationships/notesSlide" Target="/ppt/notesSlides/notesSlide9.xml" Id="R48925c12a0f34a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013234a2d243a1" /><Relationship Type="http://schemas.openxmlformats.org/officeDocument/2006/relationships/image" Target="/ppt/media/image3.png" Id="Rc6f85bfeeb4644fe" /><Relationship Type="http://schemas.openxmlformats.org/officeDocument/2006/relationships/notesSlide" Target="/ppt/notesSlides/notesSlide10.xml" Id="R74ad6efae1de4a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f4aa49e2d24f6f" /><Relationship Type="http://schemas.openxmlformats.org/officeDocument/2006/relationships/image" Target="/ppt/media/image3.png" Id="R8cfd3487284f4225" /><Relationship Type="http://schemas.openxmlformats.org/officeDocument/2006/relationships/image" Target="/ppt/media/image10.png" Id="R8a5d806e70ca4036" /><Relationship Type="http://schemas.openxmlformats.org/officeDocument/2006/relationships/notesSlide" Target="/ppt/notesSlides/notesSlide11.xml" Id="Re3c6451f259b41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b16115da6b4d7c" /><Relationship Type="http://schemas.openxmlformats.org/officeDocument/2006/relationships/image" Target="/ppt/media/image3.png" Id="R7c62c0bd8ed142b2" /><Relationship Type="http://schemas.openxmlformats.org/officeDocument/2006/relationships/notesSlide" Target="/ppt/notesSlides/notesSlide12.xml" Id="R9a4ab9e513cf4a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3d57c75aff44ab" /><Relationship Type="http://schemas.openxmlformats.org/officeDocument/2006/relationships/image" Target="/ppt/media/image3.png" Id="R1f54c76b8b074b94" /><Relationship Type="http://schemas.openxmlformats.org/officeDocument/2006/relationships/notesSlide" Target="/ppt/notesSlides/notesSlide13.xml" Id="R78da562609bf45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bf1c87814a493d" /><Relationship Type="http://schemas.openxmlformats.org/officeDocument/2006/relationships/image" Target="/ppt/media/image3.png" Id="Re209cd7e8feb4bc9" /><Relationship Type="http://schemas.openxmlformats.org/officeDocument/2006/relationships/notesSlide" Target="/ppt/notesSlides/notesSlide14.xml" Id="Rcd6a23c19ff4478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d2b13490fa4ed3" /><Relationship Type="http://schemas.openxmlformats.org/officeDocument/2006/relationships/image" Target="/ppt/media/image.png" Id="Rf3dac13049de4ab0" /><Relationship Type="http://schemas.openxmlformats.org/officeDocument/2006/relationships/image" Target="/ppt/media/image2.png" Id="R826dd46c61214635" /><Relationship Type="http://schemas.openxmlformats.org/officeDocument/2006/relationships/notesSlide" Target="/ppt/notesSlides/notesSlide15.xml" Id="R515062a1511243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42913836474aa0" /><Relationship Type="http://schemas.openxmlformats.org/officeDocument/2006/relationships/image" Target="/ppt/media/image3.png" Id="Rf8d8436a24914b42" /><Relationship Type="http://schemas.openxmlformats.org/officeDocument/2006/relationships/notesSlide" Target="/ppt/notesSlides/notesSlide16.xml" Id="R46deea6f405f40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f9457726e34709" /><Relationship Type="http://schemas.openxmlformats.org/officeDocument/2006/relationships/image" Target="/ppt/media/image3.png" Id="Re3a4005ed06f428a" /><Relationship Type="http://schemas.openxmlformats.org/officeDocument/2006/relationships/notesSlide" Target="/ppt/notesSlides/notesSlide17.xml" Id="R139b8de754794f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4">
            <a:extLst xmlns:a="http://schemas.openxmlformats.org/drawingml/2006/main">
              <a:ext uri="{FF2B5EF4-FFF2-40B4-BE49-F238E27FC236}">
                <a16:creationId xmlns:a16="http://schemas.microsoft.com/office/drawing/2014/main" id="{9DFCADCA-AFA4-4A49-A69F-FFCF50FF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" y="1990089"/>
            <a:ext cx="12189743" cy="30791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4874CB">
              <a:shade val="50000"/>
            </a:srgbClr>
          </a:lnRef>
          <a:fillRef xmlns:a="http://schemas.openxmlformats.org/drawingml/2006/main" idx="1">
            <a:srgbClr val="4874CB"/>
          </a:fillRef>
          <a:effectRef xmlns:a="http://schemas.openxmlformats.org/drawingml/2006/main" idx="0">
            <a:srgbClr val="4874CB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1C2FA18-FF74-41ED-98CE-E12466A3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95500"/>
            <a:ext cx="11849100" cy="2667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42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  <a:defRPr sz="42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基于图神经网络与强化学习的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  <a:defRPr sz="42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3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飞机脉动装配线动态调度方法研究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" name="Picture 2">
            <a:extLst xmlns:a="http://schemas.openxmlformats.org/drawingml/2006/main">
              <a:ext uri="{FF2B5EF4-FFF2-40B4-BE49-F238E27FC236}">
                <a16:creationId xmlns:a16="http://schemas.microsoft.com/office/drawing/2014/main" id="{B90CED34-3FC0-451B-BED5-6E816A5A1D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67bbea820204349"/>
          <a:srcRect xmlns:a="http://schemas.openxmlformats.org/drawingml/2006/main" l="13505" t="0" r="138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552253" y="998779"/>
            <a:ext cx="865806" cy="744204"/>
          </a:xfrm>
          <a:prstGeom xmlns:a="http://schemas.openxmlformats.org/drawingml/2006/main" prst="rect">
            <a:avLst/>
          </a:prstGeom>
        </p:spPr>
      </p:pic>
      <p:pic>
        <p:nvPicPr>
          <p:cNvPr id="6" name="Picture 3">
            <a:extLst xmlns:a="http://schemas.openxmlformats.org/drawingml/2006/main">
              <a:ext uri="{FF2B5EF4-FFF2-40B4-BE49-F238E27FC236}">
                <a16:creationId xmlns:a16="http://schemas.microsoft.com/office/drawing/2014/main" id="{8393772C-E1C3-406A-A725-A2E0138DBB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b5e19f2590c42de"/>
          <a:srcRect xmlns:a="http://schemas.openxmlformats.org/drawingml/2006/main" l="31933" t="22857" r="9687" b="256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418060" y="926274"/>
            <a:ext cx="2222003" cy="816709"/>
          </a:xfrm>
          <a:prstGeom xmlns:a="http://schemas.openxmlformats.org/drawingml/2006/main" prst="rect">
            <a:avLst/>
          </a:prstGeom>
        </p:spPr>
      </p:pic>
      <p:sp>
        <p:nvSpPr>
          <p:cNvPr id="7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95E8B047-E720-46A7-AC5C-DDFEBD1D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91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0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800" b="0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rPr>
              <a:t>硕士学位论文开题报告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cover-discipline-date">
            <a:extLst xmlns:a="http://schemas.openxmlformats.org/drawingml/2006/main">
              <a:ext uri="{FF2B5EF4-FFF2-40B4-BE49-F238E27FC236}">
                <a16:creationId xmlns:a16="http://schemas.microsoft.com/office/drawing/2014/main" id="{A33DC96B-EE51-4E20-B2CE-15561337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816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0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800" b="0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rPr>
              <a:t>汇报人：陆晓</a:t>
            </a:r>
            <a:r>
              <a:rPr sz="1800" b="0">
                <a:solidFill>
                  <a:srgbClr val="4674CD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800" b="0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rPr>
              <a:t>控制科学与工程</a:t>
            </a:r>
            <a:r>
              <a:rPr sz="1800" b="0">
                <a:solidFill>
                  <a:srgbClr val="4674CD"/>
                </a:solidFill>
                <a:latin typeface="Times New Roman"/>
                <a:ea typeface="Times New Roman"/>
                <a:cs typeface="Times New Roman"/>
              </a:rPr>
              <a:t>    2026</a:t>
            </a:r>
            <a:r>
              <a:rPr sz="1800" b="0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rPr>
              <a:t>年</a:t>
            </a:r>
            <a:r>
              <a:rPr sz="1800" b="0">
                <a:solidFill>
                  <a:srgbClr val="4674CD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800" b="0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rPr>
              <a:t>月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44325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4">
            <a:extLst xmlns:a="http://schemas.openxmlformats.org/drawingml/2006/main">
              <a:ext uri="{FF2B5EF4-FFF2-40B4-BE49-F238E27FC236}">
                <a16:creationId xmlns:a16="http://schemas.microsoft.com/office/drawing/2014/main" id="{711856D4-9293-4245-AD8F-802C91BE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4651513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4874CB">
              <a:shade val="50000"/>
            </a:srgbClr>
          </a:lnRef>
          <a:fillRef xmlns:a="http://schemas.openxmlformats.org/drawingml/2006/main" idx="1">
            <a:srgbClr val="4874CB"/>
          </a:fillRef>
          <a:effectRef xmlns:a="http://schemas.openxmlformats.org/drawingml/2006/main" idx="0">
            <a:srgbClr val="4874CB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14D2A68-8ED4-4450-947F-98BDA87E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24125" y="4286250"/>
            <a:ext cx="144970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E"/>
          </a:solidFill>
        </p:spPr>
        <p:txBody>
          <a:bodyPr xmlns:a="http://schemas.openxmlformats.org/drawingml/2006/main" vert="eaVert" wrap="none">
            <a:spAutoFit/>
          </a:bodyPr>
          <a:lstStyle xmlns:a="http://schemas.openxmlformats.org/drawingml/2006/main">
            <a:defPPr>
              <a:defRPr sz="3150"/>
            </a:defPPr>
          </a:lstStyle>
          <a:p xmlns:a="http://schemas.openxmlformats.org/drawingml/2006/main">
            <a:pPr algn="ctr">
              <a:buNone/>
            </a:pPr>
            <a:r>
              <a:rPr sz="3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Content</a:t>
            </a:r>
            <a:endParaRPr sz="480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6">
            <a:extLst xmlns:a="http://schemas.openxmlformats.org/drawingml/2006/main">
              <a:ext uri="{FF2B5EF4-FFF2-40B4-BE49-F238E27FC236}">
                <a16:creationId xmlns:a16="http://schemas.microsoft.com/office/drawing/2014/main" id="{2F095E84-0C05-4675-9748-9D12AB21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8382" y="1782419"/>
            <a:ext cx="3045613" cy="16465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E"/>
          </a:solidFill>
          <a:ln xmlns:a="http://schemas.openxmlformats.org/drawingml/2006/main" w="76200">
            <a:solidFill>
              <a:srgbClr val="FFFFFF"/>
            </a:solidFill>
          </a:ln>
        </p:spPr>
        <p:style>
          <a:lnRef xmlns:a="http://schemas.openxmlformats.org/drawingml/2006/main" idx="2">
            <a:srgbClr val="4874CB">
              <a:shade val="50000"/>
            </a:srgbClr>
          </a:lnRef>
          <a:fillRef xmlns:a="http://schemas.openxmlformats.org/drawingml/2006/main" idx="1">
            <a:srgbClr val="4874CB"/>
          </a:fillRef>
          <a:effectRef xmlns:a="http://schemas.openxmlformats.org/drawingml/2006/main" idx="0">
            <a:srgbClr val="4874CB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 b="1">
                <a:latin typeface="Microsoft YaHei"/>
                <a:ea typeface="Microsoft YaHei"/>
                <a:cs typeface="Microsoft YaHei"/>
              </a:rPr>
              <a:t>目录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椭圆 18">
            <a:extLst xmlns:a="http://schemas.openxmlformats.org/drawingml/2006/main">
              <a:ext uri="{FF2B5EF4-FFF2-40B4-BE49-F238E27FC236}">
                <a16:creationId xmlns:a16="http://schemas.microsoft.com/office/drawing/2014/main" id="{6A5CCEB7-40F3-4F1A-839C-E68BF74E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32680" y="1776190"/>
            <a:ext cx="145774" cy="145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4A6"/>
          </a:solidFill>
          <a:ln xmlns:a="http://schemas.openxmlformats.org/drawingml/2006/main">
            <a:solidFill>
              <a:srgbClr val="0054A6"/>
            </a:solidFill>
          </a:ln>
        </p:spPr>
        <p:style>
          <a:lnRef xmlns:a="http://schemas.openxmlformats.org/drawingml/2006/main" idx="2">
            <a:srgbClr val="4874CB">
              <a:shade val="50000"/>
            </a:srgbClr>
          </a:lnRef>
          <a:fillRef xmlns:a="http://schemas.openxmlformats.org/drawingml/2006/main" idx="1">
            <a:srgbClr val="4874CB"/>
          </a:fillRef>
          <a:effectRef xmlns:a="http://schemas.openxmlformats.org/drawingml/2006/main" idx="0">
            <a:srgbClr val="4874CB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E8E7691C-DE87-4AA2-AED2-75AAEC06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1511" y="1640262"/>
            <a:ext cx="89338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0054A6"/>
                </a:solidFill>
                <a:latin typeface="Times New Roman"/>
                <a:ea typeface="Times New Roman"/>
                <a:cs typeface="Times New Roman"/>
              </a:rPr>
              <a:t>01</a:t>
            </a:r>
            <a:endParaRPr sz="2400" b="1">
              <a:solidFill>
                <a:srgbClr val="0054A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F57CECB2-14B8-40C3-998E-3C798541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2506" y="1640262"/>
            <a:ext cx="151794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0054A6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椭圆 19">
            <a:extLst xmlns:a="http://schemas.openxmlformats.org/drawingml/2006/main">
              <a:ext uri="{FF2B5EF4-FFF2-40B4-BE49-F238E27FC236}">
                <a16:creationId xmlns:a16="http://schemas.microsoft.com/office/drawing/2014/main" id="{2C8A8382-E505-4C56-BE04-DFE01A50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32213" y="2681020"/>
            <a:ext cx="145774" cy="145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4A6"/>
          </a:solidFill>
          <a:ln xmlns:a="http://schemas.openxmlformats.org/drawingml/2006/main">
            <a:solidFill>
              <a:srgbClr val="005BAE"/>
            </a:solidFill>
          </a:ln>
        </p:spPr>
        <p:style>
          <a:lnRef xmlns:a="http://schemas.openxmlformats.org/drawingml/2006/main" idx="2">
            <a:srgbClr val="4874CB">
              <a:shade val="50000"/>
            </a:srgbClr>
          </a:lnRef>
          <a:fillRef xmlns:a="http://schemas.openxmlformats.org/drawingml/2006/main" idx="1">
            <a:srgbClr val="4874CB"/>
          </a:fillRef>
          <a:effectRef xmlns:a="http://schemas.openxmlformats.org/drawingml/2006/main" idx="0">
            <a:srgbClr val="4874CB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4290D4E0-B946-42D3-9F5E-E26E020B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1045" y="2523074"/>
            <a:ext cx="89338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0054A6"/>
                </a:solidFill>
                <a:latin typeface="Times New Roman"/>
                <a:ea typeface="Times New Roman"/>
                <a:cs typeface="Times New Roman"/>
              </a:rPr>
              <a:t>02</a:t>
            </a:r>
            <a:endParaRPr sz="2400" b="1">
              <a:solidFill>
                <a:srgbClr val="0054A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BD463002-224D-4ABF-94D7-70D969B0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2038" y="2523073"/>
            <a:ext cx="355261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0054A6"/>
                </a:solidFill>
                <a:latin typeface="Microsoft YaHei"/>
                <a:ea typeface="Microsoft YaHei"/>
                <a:cs typeface="Microsoft YaHei"/>
              </a:rPr>
              <a:t>文献综述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椭圆 20">
            <a:extLst xmlns:a="http://schemas.openxmlformats.org/drawingml/2006/main">
              <a:ext uri="{FF2B5EF4-FFF2-40B4-BE49-F238E27FC236}">
                <a16:creationId xmlns:a16="http://schemas.microsoft.com/office/drawing/2014/main" id="{89E8C959-40DA-4E87-A59B-D11165F5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32213" y="3575544"/>
            <a:ext cx="145774" cy="145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4A6"/>
          </a:solidFill>
          <a:ln xmlns:a="http://schemas.openxmlformats.org/drawingml/2006/main">
            <a:solidFill>
              <a:srgbClr val="005BAE"/>
            </a:solidFill>
          </a:ln>
        </p:spPr>
        <p:style>
          <a:lnRef xmlns:a="http://schemas.openxmlformats.org/drawingml/2006/main" idx="2">
            <a:srgbClr val="4874CB">
              <a:shade val="50000"/>
            </a:srgbClr>
          </a:lnRef>
          <a:fillRef xmlns:a="http://schemas.openxmlformats.org/drawingml/2006/main" idx="1">
            <a:srgbClr val="4874CB"/>
          </a:fillRef>
          <a:effectRef xmlns:a="http://schemas.openxmlformats.org/drawingml/2006/main" idx="0">
            <a:srgbClr val="4874CB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37995C14-8B68-4BD3-9038-4AC9084D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9503" y="3417598"/>
            <a:ext cx="89338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0054A6"/>
                </a:solidFill>
                <a:latin typeface="Times New Roman"/>
                <a:ea typeface="Times New Roman"/>
                <a:cs typeface="Times New Roman"/>
              </a:rPr>
              <a:t>03</a:t>
            </a:r>
            <a:endParaRPr sz="2400" b="1">
              <a:solidFill>
                <a:srgbClr val="0054A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7136D3AE-D6C6-43B6-9A4D-10EB9798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2038" y="3417598"/>
            <a:ext cx="355261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0054A6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椭圆 21">
            <a:extLst xmlns:a="http://schemas.openxmlformats.org/drawingml/2006/main">
              <a:ext uri="{FF2B5EF4-FFF2-40B4-BE49-F238E27FC236}">
                <a16:creationId xmlns:a16="http://schemas.microsoft.com/office/drawing/2014/main" id="{34994B3C-81E9-47BC-AC1B-98EEB3B6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32213" y="4448045"/>
            <a:ext cx="145774" cy="145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4A6"/>
          </a:solidFill>
          <a:ln xmlns:a="http://schemas.openxmlformats.org/drawingml/2006/main">
            <a:solidFill>
              <a:srgbClr val="005BAE"/>
            </a:solidFill>
          </a:ln>
        </p:spPr>
        <p:style>
          <a:lnRef xmlns:a="http://schemas.openxmlformats.org/drawingml/2006/main" idx="2">
            <a:srgbClr val="4874CB">
              <a:shade val="50000"/>
            </a:srgbClr>
          </a:lnRef>
          <a:fillRef xmlns:a="http://schemas.openxmlformats.org/drawingml/2006/main" idx="1">
            <a:srgbClr val="4874CB"/>
          </a:fillRef>
          <a:effectRef xmlns:a="http://schemas.openxmlformats.org/drawingml/2006/main" idx="0">
            <a:srgbClr val="4874CB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B07D78CC-FB11-4212-AAC3-7699D3C0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1044" y="4312122"/>
            <a:ext cx="89338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0054A6"/>
                </a:solidFill>
                <a:latin typeface="Times New Roman"/>
                <a:ea typeface="Times New Roman"/>
                <a:cs typeface="Times New Roman"/>
              </a:rPr>
              <a:t>04</a:t>
            </a:r>
            <a:endParaRPr sz="2400" b="1">
              <a:solidFill>
                <a:srgbClr val="0054A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65492255-3BD4-42CA-91C4-E5594E42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2038" y="4312122"/>
            <a:ext cx="355261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0054A6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椭圆 21">
            <a:extLst xmlns:a="http://schemas.openxmlformats.org/drawingml/2006/main">
              <a:ext uri="{FF2B5EF4-FFF2-40B4-BE49-F238E27FC236}">
                <a16:creationId xmlns:a16="http://schemas.microsoft.com/office/drawing/2014/main" id="{00D35C65-8736-4DBA-A33A-DB6C3BD3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213" y="5320546"/>
            <a:ext cx="145774" cy="145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4A6"/>
          </a:solidFill>
          <a:ln xmlns:a="http://schemas.openxmlformats.org/drawingml/2006/main">
            <a:solidFill>
              <a:srgbClr val="005BAE"/>
            </a:solidFill>
          </a:ln>
        </p:spPr>
        <p:style>
          <a:lnRef xmlns:a="http://schemas.openxmlformats.org/drawingml/2006/main" idx="2">
            <a:srgbClr val="4874CB">
              <a:shade val="50000"/>
            </a:srgbClr>
          </a:lnRef>
          <a:fillRef xmlns:a="http://schemas.openxmlformats.org/drawingml/2006/main" idx="1">
            <a:srgbClr val="4874CB"/>
          </a:fillRef>
          <a:effectRef xmlns:a="http://schemas.openxmlformats.org/drawingml/2006/main" idx="0">
            <a:srgbClr val="4874CB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09554193-1AB9-4B41-899A-B4482A7D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044" y="5162600"/>
            <a:ext cx="89338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0054A6"/>
                </a:solidFill>
                <a:latin typeface="Times New Roman"/>
                <a:ea typeface="Times New Roman"/>
                <a:cs typeface="Times New Roman"/>
              </a:rPr>
              <a:t>05</a:t>
            </a:r>
            <a:endParaRPr sz="2400" b="1">
              <a:solidFill>
                <a:srgbClr val="0054A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825225B0-BF91-475D-8921-913F1A07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038" y="5162599"/>
            <a:ext cx="355261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0054A6"/>
                </a:solidFill>
                <a:latin typeface="Microsoft YaHei"/>
                <a:ea typeface="Microsoft YaHei"/>
                <a:cs typeface="Microsoft YaHei"/>
              </a:rPr>
              <a:t>工作计划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997951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模板页眉横线">
            <a:extLst xmlns:a="http://schemas.openxmlformats.org/drawingml/2006/main">
              <a:ext uri="{FF2B5EF4-FFF2-40B4-BE49-F238E27FC236}">
                <a16:creationId xmlns:a16="http://schemas.microsoft.com/office/drawing/2014/main" id="{C4000073-E50E-0B72-94C0-033F230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054"/>
            <a:ext cx="12192000" cy="45719"/>
          </a:xfrm>
          <a:custGeom xmlns:a="http://schemas.openxmlformats.org/drawingml/2006/main">
            <a:gdLst>
              <a:gd name="T0" fmla="*/ 0 w 21600"/>
              <a:gd name="T1" fmla="*/ 0 h 21600"/>
              <a:gd name="T2" fmla="*/ 489365807 w 21600"/>
              <a:gd name="T3" fmla="*/ 0 h 21600"/>
              <a:gd name="T4" fmla="*/ 489365807 w 21600"/>
              <a:gd name="T5" fmla="*/ 28356134 h 21600"/>
              <a:gd name="T6" fmla="*/ 0 w 21600"/>
              <a:gd name="T7" fmla="*/ 28356134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3175" cap="flat" cmpd="sng">
            <a:solidFill>
              <a:srgbClr val="002060">
                <a:alpha val="0"/>
              </a:srgbClr>
            </a:solidFill>
            <a:round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solidFill>
                <a:srgbClr val="4874CB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3" name="同济校标">
            <a:extLst xmlns:a="http://schemas.openxmlformats.org/drawingml/2006/main">
              <a:ext uri="{FF2B5EF4-FFF2-40B4-BE49-F238E27FC236}">
                <a16:creationId xmlns:a16="http://schemas.microsoft.com/office/drawing/2014/main" id="{FC7F60C7-54BB-4E38-9F0B-7F94A9A198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fd25d30901a42b3"/>
          <a:srcRect xmlns:a="http://schemas.openxmlformats.org/drawingml/2006/main" l="0" t="0" r="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1625" y="20910"/>
            <a:ext cx="1809525" cy="526143"/>
          </a:xfrm>
          <a:prstGeom xmlns:a="http://schemas.openxmlformats.org/drawingml/2006/main" prst="rect">
            <a:avLst/>
          </a:prstGeom>
        </p:spPr>
      </p:pic>
      <p:sp>
        <p:nvSpPr>
          <p:cNvPr id="34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CA1E91B-B668-B211-4835-07E77318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"/>
            <a:ext cx="113061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3200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4000"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4000"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4000"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4000">
                <a:latin typeface="Microsoft YaHei"/>
                <a:ea typeface="Microsoft YaHei"/>
                <a:cs typeface="Microsoft YaHei"/>
              </a:defRPr>
            </a:lvl5pPr>
            <a:lvl6pPr marL="4572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6pPr>
            <a:lvl7pPr marL="9144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7pPr>
            <a:lvl8pPr marL="13716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8pPr>
            <a:lvl9pPr marL="18288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3200">
                <a:solidFill>
                  <a:srgbClr val="4674C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1 </a:t>
            </a:r>
            <a:r>
              <a:rPr sz="3200">
                <a:solidFill>
                  <a:srgbClr val="4674C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研究背景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页面主题">
            <a:extLst xmlns:a="http://schemas.openxmlformats.org/drawingml/2006/main">
              <a:ext uri="{FF2B5EF4-FFF2-40B4-BE49-F238E27FC236}">
                <a16:creationId xmlns:a16="http://schemas.microsoft.com/office/drawing/2014/main" id="{A8BFA7F8-B8F6-40F9-8B69-7C7B3793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5247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飞机制造与脉动装配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revision-text-1005">
            <a:extLst xmlns:a="http://schemas.openxmlformats.org/drawingml/2006/main">
              <a:ext uri="{FF2B5EF4-FFF2-40B4-BE49-F238E27FC236}">
                <a16:creationId xmlns:a16="http://schemas.microsoft.com/office/drawing/2014/main" id="{CD0330C8-8920-4B6D-B042-F71F342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03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background-lead">
            <a:extLst xmlns:a="http://schemas.openxmlformats.org/drawingml/2006/main">
              <a:ext uri="{FF2B5EF4-FFF2-40B4-BE49-F238E27FC236}">
                <a16:creationId xmlns:a16="http://schemas.microsoft.com/office/drawing/2014/main" id="{39F2FE56-C162-4AA1-9CA3-19B57399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266825"/>
            <a:ext cx="109823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63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763" b="0">
                <a:solidFill>
                  <a:srgbClr val="101010"/>
                </a:solidFill>
              </a:defRPr>
            </a:pPr>
            <a:r>
              <a:rPr sz="1763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国产大飞机规模化发展，对总装能力与生产组织提出更高要求。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3000"/>
              </a:lnSpc>
              <a:buNone/>
              <a:defRPr sz="1763" b="0">
                <a:solidFill>
                  <a:srgbClr val="101010"/>
                </a:solidFill>
              </a:defRPr>
            </a:pPr>
            <a:r>
              <a:rPr sz="1763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智能制造与排产调度，为提高装配效率提供技术方向。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assembly-photo-heading">
            <a:extLst xmlns:a="http://schemas.openxmlformats.org/drawingml/2006/main">
              <a:ext uri="{FF2B5EF4-FFF2-40B4-BE49-F238E27FC236}">
                <a16:creationId xmlns:a16="http://schemas.microsoft.com/office/drawing/2014/main" id="{1C52A6B2-0DB6-4681-A43D-8E5F6FF9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81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315CA9"/>
                </a:solidFill>
              </a:defRPr>
            </a:pPr>
            <a:r>
              <a:rPr sz="18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飞机总装现场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5481E8-8EAD-4871-A0C7-4C2B9323A2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447300029490b"/>
          <a:stretch xmlns:a="http://schemas.openxmlformats.org/drawingml/2006/main"/>
        </p:blipFill>
        <p:spPr>
          <a:xfrm xmlns:a="http://schemas.openxmlformats.org/drawingml/2006/main">
            <a:off x="592086" y="2333625"/>
            <a:ext cx="4168877" cy="2743200"/>
          </a:xfrm>
          <a:prstGeom xmlns:a="http://schemas.openxmlformats.org/drawingml/2006/main" prst="rect">
            <a:avLst/>
          </a:prstGeom>
        </p:spPr>
      </p:pic>
      <p:sp>
        <p:nvSpPr>
          <p:cNvPr id="40" name="assembly-photo-description">
            <a:extLst xmlns:a="http://schemas.openxmlformats.org/drawingml/2006/main">
              <a:ext uri="{FF2B5EF4-FFF2-40B4-BE49-F238E27FC236}">
                <a16:creationId xmlns:a16="http://schemas.microsoft.com/office/drawing/2014/main" id="{001B5BF1-7785-4757-B702-86D79BD8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162550"/>
            <a:ext cx="4191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101010"/>
                </a:solidFill>
              </a:defRPr>
            </a:pPr>
            <a:r>
              <a:rPr sz="1613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飞机总装涉及大量工序与人员作业，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0000"/>
              </a:lnSpc>
              <a:buNone/>
              <a:defRPr sz="1613" b="0">
                <a:solidFill>
                  <a:srgbClr val="101010"/>
                </a:solidFill>
              </a:defRPr>
            </a:pPr>
            <a:r>
              <a:rPr sz="1613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工艺衔接和资源配置影响生产效率。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" name="five-station-heading">
            <a:extLst xmlns:a="http://schemas.openxmlformats.org/drawingml/2006/main">
              <a:ext uri="{FF2B5EF4-FFF2-40B4-BE49-F238E27FC236}">
                <a16:creationId xmlns:a16="http://schemas.microsoft.com/office/drawing/2014/main" id="{C48A7652-A4B7-4126-8FC2-B6B8A877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81200"/>
            <a:ext cx="659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55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755" b="1">
                <a:solidFill>
                  <a:srgbClr val="315CA9"/>
                </a:solidFill>
              </a:defRPr>
            </a:pPr>
            <a:r>
              <a:rPr sz="1755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五站位脉动装配示意（本研究设置）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background-station-1">
            <a:extLst xmlns:a="http://schemas.openxmlformats.org/drawingml/2006/main">
              <a:ext uri="{FF2B5EF4-FFF2-40B4-BE49-F238E27FC236}">
                <a16:creationId xmlns:a16="http://schemas.microsoft.com/office/drawing/2014/main" id="{284F0F20-CE9A-4D20-AA7A-3B35E2E8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352675"/>
            <a:ext cx="120015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674CD"/>
            </a:solidFill>
            <a:prstDash val="solid"/>
          </a:ln>
        </p:spPr>
      </p:sp>
      <p:sp>
        <p:nvSpPr>
          <p:cNvPr id="43" name="background-station-title-0">
            <a:extLst xmlns:a="http://schemas.openxmlformats.org/drawingml/2006/main">
              <a:ext uri="{FF2B5EF4-FFF2-40B4-BE49-F238E27FC236}">
                <a16:creationId xmlns:a16="http://schemas.microsoft.com/office/drawing/2014/main" id="{2E363021-416A-4B69-A246-3926635A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09825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3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38" b="1">
                <a:solidFill>
                  <a:srgbClr val="315CA9"/>
                </a:solidFill>
              </a:defRPr>
            </a:pPr>
            <a:r>
              <a:rPr sz="1538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站位</a:t>
            </a:r>
            <a:r>
              <a:rPr sz="1538" b="1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A06D09-134E-4877-AE6A-DFA53B3B25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724fa72f14628"/>
          <a:srcRect xmlns:a="http://schemas.openxmlformats.org/drawingml/2006/main" l="79800" t="24000" r="5500" b="24500"/>
          <a:stretch xmlns:a="http://schemas.openxmlformats.org/drawingml/2006/main"/>
        </p:blipFill>
        <p:spPr>
          <a:xfrm xmlns:a="http://schemas.openxmlformats.org/drawingml/2006/main">
            <a:off x="5095875" y="2705100"/>
            <a:ext cx="1047750" cy="628650"/>
          </a:xfrm>
          <a:prstGeom xmlns:a="http://schemas.openxmlformats.org/drawingml/2006/main" prst="rect">
            <a:avLst/>
          </a:prstGeom>
        </p:spPr>
      </p:pic>
      <p:sp>
        <p:nvSpPr>
          <p:cNvPr id="45" name="background-plane-id-0">
            <a:extLst xmlns:a="http://schemas.openxmlformats.org/drawingml/2006/main">
              <a:ext uri="{FF2B5EF4-FFF2-40B4-BE49-F238E27FC236}">
                <a16:creationId xmlns:a16="http://schemas.microsoft.com/office/drawing/2014/main" id="{A59F6C3B-6C40-4A33-9382-91A549FC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43275"/>
            <a:ext cx="1104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9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95" b="0">
                <a:solidFill>
                  <a:srgbClr val="101010"/>
                </a:solidFill>
              </a:defRPr>
            </a:pPr>
            <a:r>
              <a:rPr sz="1395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飞机</a:t>
            </a:r>
            <a:r>
              <a:rPr sz="1395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5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task-marker-0">
            <a:extLst xmlns:a="http://schemas.openxmlformats.org/drawingml/2006/main">
              <a:ext uri="{FF2B5EF4-FFF2-40B4-BE49-F238E27FC236}">
                <a16:creationId xmlns:a16="http://schemas.microsoft.com/office/drawing/2014/main" id="{F13ECFE7-DA5B-4F50-B113-BED4FFF0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195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11430">
            <a:solidFill>
              <a:srgbClr val="93A8C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40"/>
            </a:defPPr>
          </a:lstStyle>
          <a:p xmlns:a="http://schemas.openxmlformats.org/drawingml/2006/main">
            <a:pPr algn="ctr">
              <a:buNone/>
              <a:defRPr sz="1140"/>
            </a:pPr>
            <a:r>
              <a:rPr sz="1140">
                <a:latin typeface="Microsoft YaHei"/>
                <a:ea typeface="Microsoft YaHei"/>
                <a:cs typeface="Microsoft YaHei"/>
              </a:rPr>
              <a:t>作业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7" name="team-marker-0">
            <a:extLst xmlns:a="http://schemas.openxmlformats.org/drawingml/2006/main">
              <a:ext uri="{FF2B5EF4-FFF2-40B4-BE49-F238E27FC236}">
                <a16:creationId xmlns:a16="http://schemas.microsoft.com/office/drawing/2014/main" id="{3FE3BD64-431C-4065-8AAF-C8200189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195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11430">
            <a:solidFill>
              <a:srgbClr val="93A8C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40"/>
            </a:defPPr>
          </a:lstStyle>
          <a:p xmlns:a="http://schemas.openxmlformats.org/drawingml/2006/main">
            <a:pPr algn="ctr">
              <a:buNone/>
              <a:defRPr sz="1140"/>
            </a:pPr>
            <a:r>
              <a:rPr sz="1140">
                <a:latin typeface="Microsoft YaHei"/>
                <a:ea typeface="Microsoft YaHei"/>
                <a:cs typeface="Microsoft YaHei"/>
              </a:rPr>
              <a:t>团队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background-station-2">
            <a:extLst xmlns:a="http://schemas.openxmlformats.org/drawingml/2006/main">
              <a:ext uri="{FF2B5EF4-FFF2-40B4-BE49-F238E27FC236}">
                <a16:creationId xmlns:a16="http://schemas.microsoft.com/office/drawing/2014/main" id="{0F6C7F01-4AD7-43E0-9A0D-463984EA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52675"/>
            <a:ext cx="120015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674CD"/>
            </a:solidFill>
            <a:prstDash val="solid"/>
          </a:ln>
        </p:spPr>
      </p:sp>
      <p:sp>
        <p:nvSpPr>
          <p:cNvPr id="49" name="background-station-title-1">
            <a:extLst xmlns:a="http://schemas.openxmlformats.org/drawingml/2006/main">
              <a:ext uri="{FF2B5EF4-FFF2-40B4-BE49-F238E27FC236}">
                <a16:creationId xmlns:a16="http://schemas.microsoft.com/office/drawing/2014/main" id="{69268000-C0A4-450F-B3C3-D96F754E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09825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3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38" b="1">
                <a:solidFill>
                  <a:srgbClr val="315CA9"/>
                </a:solidFill>
              </a:defRPr>
            </a:pPr>
            <a:r>
              <a:rPr sz="1538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站位</a:t>
            </a:r>
            <a:r>
              <a:rPr sz="1538" b="1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2CA7CB-1C4D-44AC-B3D5-88BDFEA15E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7c95d7c6c4400"/>
          <a:srcRect xmlns:a="http://schemas.openxmlformats.org/drawingml/2006/main" l="79800" t="24000" r="5500" b="24500"/>
          <a:stretch xmlns:a="http://schemas.openxmlformats.org/drawingml/2006/main"/>
        </p:blipFill>
        <p:spPr>
          <a:xfrm xmlns:a="http://schemas.openxmlformats.org/drawingml/2006/main">
            <a:off x="6419850" y="2705100"/>
            <a:ext cx="1047750" cy="628650"/>
          </a:xfrm>
          <a:prstGeom xmlns:a="http://schemas.openxmlformats.org/drawingml/2006/main" prst="rect">
            <a:avLst/>
          </a:prstGeom>
        </p:spPr>
      </p:pic>
      <p:sp>
        <p:nvSpPr>
          <p:cNvPr id="51" name="background-plane-id-1">
            <a:extLst xmlns:a="http://schemas.openxmlformats.org/drawingml/2006/main">
              <a:ext uri="{FF2B5EF4-FFF2-40B4-BE49-F238E27FC236}">
                <a16:creationId xmlns:a16="http://schemas.microsoft.com/office/drawing/2014/main" id="{6F3AF714-F466-4486-B265-34D6B40B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43275"/>
            <a:ext cx="1104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9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95" b="0">
                <a:solidFill>
                  <a:srgbClr val="101010"/>
                </a:solidFill>
              </a:defRPr>
            </a:pPr>
            <a:r>
              <a:rPr sz="1395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飞机</a:t>
            </a:r>
            <a:r>
              <a:rPr sz="1395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4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task-marker-1">
            <a:extLst xmlns:a="http://schemas.openxmlformats.org/drawingml/2006/main">
              <a:ext uri="{FF2B5EF4-FFF2-40B4-BE49-F238E27FC236}">
                <a16:creationId xmlns:a16="http://schemas.microsoft.com/office/drawing/2014/main" id="{E8180A09-3CE5-424F-9695-6744DC63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195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11430">
            <a:solidFill>
              <a:srgbClr val="93A8C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40"/>
            </a:defPPr>
          </a:lstStyle>
          <a:p xmlns:a="http://schemas.openxmlformats.org/drawingml/2006/main">
            <a:pPr algn="ctr">
              <a:buNone/>
              <a:defRPr sz="1140"/>
            </a:pPr>
            <a:r>
              <a:rPr sz="1140">
                <a:latin typeface="Microsoft YaHei"/>
                <a:ea typeface="Microsoft YaHei"/>
                <a:cs typeface="Microsoft YaHei"/>
              </a:rPr>
              <a:t>作业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team-marker-1">
            <a:extLst xmlns:a="http://schemas.openxmlformats.org/drawingml/2006/main">
              <a:ext uri="{FF2B5EF4-FFF2-40B4-BE49-F238E27FC236}">
                <a16:creationId xmlns:a16="http://schemas.microsoft.com/office/drawing/2014/main" id="{3989A5FA-DCB8-45B1-8144-D56AE3B0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195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11430">
            <a:solidFill>
              <a:srgbClr val="93A8C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40"/>
            </a:defPPr>
          </a:lstStyle>
          <a:p xmlns:a="http://schemas.openxmlformats.org/drawingml/2006/main">
            <a:pPr algn="ctr">
              <a:buNone/>
              <a:defRPr sz="1140"/>
            </a:pPr>
            <a:r>
              <a:rPr sz="1140">
                <a:latin typeface="Microsoft YaHei"/>
                <a:ea typeface="Microsoft YaHei"/>
                <a:cs typeface="Microsoft YaHei"/>
              </a:rPr>
              <a:t>团队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background-station-3">
            <a:extLst xmlns:a="http://schemas.openxmlformats.org/drawingml/2006/main">
              <a:ext uri="{FF2B5EF4-FFF2-40B4-BE49-F238E27FC236}">
                <a16:creationId xmlns:a16="http://schemas.microsoft.com/office/drawing/2014/main" id="{7310BFDC-67F6-4F96-A60F-318717F6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52675"/>
            <a:ext cx="120015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674CD"/>
            </a:solidFill>
            <a:prstDash val="solid"/>
          </a:ln>
        </p:spPr>
      </p:sp>
      <p:sp>
        <p:nvSpPr>
          <p:cNvPr id="55" name="background-station-title-2">
            <a:extLst xmlns:a="http://schemas.openxmlformats.org/drawingml/2006/main">
              <a:ext uri="{FF2B5EF4-FFF2-40B4-BE49-F238E27FC236}">
                <a16:creationId xmlns:a16="http://schemas.microsoft.com/office/drawing/2014/main" id="{894C150E-69D7-46BE-9529-BB42D49E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09825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3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38" b="1">
                <a:solidFill>
                  <a:srgbClr val="315CA9"/>
                </a:solidFill>
              </a:defRPr>
            </a:pPr>
            <a:r>
              <a:rPr sz="1538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站位</a:t>
            </a:r>
            <a:r>
              <a:rPr sz="1538" b="1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EBA824-D505-4199-92B1-9EE81AABF1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83f22d90241c2"/>
          <a:srcRect xmlns:a="http://schemas.openxmlformats.org/drawingml/2006/main" l="79800" t="24000" r="5500" b="24500"/>
          <a:stretch xmlns:a="http://schemas.openxmlformats.org/drawingml/2006/main"/>
        </p:blipFill>
        <p:spPr>
          <a:xfrm xmlns:a="http://schemas.openxmlformats.org/drawingml/2006/main">
            <a:off x="7743825" y="2705100"/>
            <a:ext cx="1047750" cy="628650"/>
          </a:xfrm>
          <a:prstGeom xmlns:a="http://schemas.openxmlformats.org/drawingml/2006/main" prst="rect">
            <a:avLst/>
          </a:prstGeom>
        </p:spPr>
      </p:pic>
      <p:sp>
        <p:nvSpPr>
          <p:cNvPr id="57" name="background-plane-id-2">
            <a:extLst xmlns:a="http://schemas.openxmlformats.org/drawingml/2006/main">
              <a:ext uri="{FF2B5EF4-FFF2-40B4-BE49-F238E27FC236}">
                <a16:creationId xmlns:a16="http://schemas.microsoft.com/office/drawing/2014/main" id="{38BFA104-8135-46CC-82F0-A53E02EA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43275"/>
            <a:ext cx="1104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9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95" b="0">
                <a:solidFill>
                  <a:srgbClr val="101010"/>
                </a:solidFill>
              </a:defRPr>
            </a:pPr>
            <a:r>
              <a:rPr sz="1395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飞机</a:t>
            </a:r>
            <a:r>
              <a:rPr sz="1395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ask-marker-2">
            <a:extLst xmlns:a="http://schemas.openxmlformats.org/drawingml/2006/main">
              <a:ext uri="{FF2B5EF4-FFF2-40B4-BE49-F238E27FC236}">
                <a16:creationId xmlns:a16="http://schemas.microsoft.com/office/drawing/2014/main" id="{4460EC3D-C675-4ABD-8EF6-17F63A31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6195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11430">
            <a:solidFill>
              <a:srgbClr val="93A8C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40"/>
            </a:defPPr>
          </a:lstStyle>
          <a:p xmlns:a="http://schemas.openxmlformats.org/drawingml/2006/main">
            <a:pPr algn="ctr">
              <a:buNone/>
              <a:defRPr sz="1140"/>
            </a:pPr>
            <a:r>
              <a:rPr sz="1140">
                <a:latin typeface="Microsoft YaHei"/>
                <a:ea typeface="Microsoft YaHei"/>
                <a:cs typeface="Microsoft YaHei"/>
              </a:rPr>
              <a:t>作业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9" name="team-marker-2">
            <a:extLst xmlns:a="http://schemas.openxmlformats.org/drawingml/2006/main">
              <a:ext uri="{FF2B5EF4-FFF2-40B4-BE49-F238E27FC236}">
                <a16:creationId xmlns:a16="http://schemas.microsoft.com/office/drawing/2014/main" id="{0E102382-ABA1-4A0A-9556-30B3C6BC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6195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11430">
            <a:solidFill>
              <a:srgbClr val="93A8C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40"/>
            </a:defPPr>
          </a:lstStyle>
          <a:p xmlns:a="http://schemas.openxmlformats.org/drawingml/2006/main">
            <a:pPr algn="ctr">
              <a:buNone/>
              <a:defRPr sz="1140"/>
            </a:pPr>
            <a:r>
              <a:rPr sz="1140">
                <a:latin typeface="Microsoft YaHei"/>
                <a:ea typeface="Microsoft YaHei"/>
                <a:cs typeface="Microsoft YaHei"/>
              </a:rPr>
              <a:t>团队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" name="background-station-4">
            <a:extLst xmlns:a="http://schemas.openxmlformats.org/drawingml/2006/main">
              <a:ext uri="{FF2B5EF4-FFF2-40B4-BE49-F238E27FC236}">
                <a16:creationId xmlns:a16="http://schemas.microsoft.com/office/drawing/2014/main" id="{C342EDF3-FED0-44C9-94EA-2C539B3D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52675"/>
            <a:ext cx="120015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674CD"/>
            </a:solidFill>
            <a:prstDash val="solid"/>
          </a:ln>
        </p:spPr>
      </p:sp>
      <p:sp>
        <p:nvSpPr>
          <p:cNvPr id="61" name="background-station-title-3">
            <a:extLst xmlns:a="http://schemas.openxmlformats.org/drawingml/2006/main">
              <a:ext uri="{FF2B5EF4-FFF2-40B4-BE49-F238E27FC236}">
                <a16:creationId xmlns:a16="http://schemas.microsoft.com/office/drawing/2014/main" id="{D1F7CCEC-EC79-4693-90DA-91EB3CCC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09825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3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38" b="1">
                <a:solidFill>
                  <a:srgbClr val="315CA9"/>
                </a:solidFill>
              </a:defRPr>
            </a:pPr>
            <a:r>
              <a:rPr sz="1538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站位</a:t>
            </a:r>
            <a:r>
              <a:rPr sz="1538" b="1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rPr>
              <a:t>4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6D75E09-4996-41D8-89EA-6D00AF036A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ef92e5d9f4948"/>
          <a:srcRect xmlns:a="http://schemas.openxmlformats.org/drawingml/2006/main" l="79800" t="24000" r="5500" b="24500"/>
          <a:stretch xmlns:a="http://schemas.openxmlformats.org/drawingml/2006/main"/>
        </p:blipFill>
        <p:spPr>
          <a:xfrm xmlns:a="http://schemas.openxmlformats.org/drawingml/2006/main">
            <a:off x="9067800" y="2705100"/>
            <a:ext cx="1047750" cy="628650"/>
          </a:xfrm>
          <a:prstGeom xmlns:a="http://schemas.openxmlformats.org/drawingml/2006/main" prst="rect">
            <a:avLst/>
          </a:prstGeom>
        </p:spPr>
      </p:pic>
      <p:sp>
        <p:nvSpPr>
          <p:cNvPr id="63" name="background-plane-id-3">
            <a:extLst xmlns:a="http://schemas.openxmlformats.org/drawingml/2006/main">
              <a:ext uri="{FF2B5EF4-FFF2-40B4-BE49-F238E27FC236}">
                <a16:creationId xmlns:a16="http://schemas.microsoft.com/office/drawing/2014/main" id="{BB381E9B-F8F2-48C3-86A4-21361999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43275"/>
            <a:ext cx="1104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9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95" b="0">
                <a:solidFill>
                  <a:srgbClr val="101010"/>
                </a:solidFill>
              </a:defRPr>
            </a:pPr>
            <a:r>
              <a:rPr sz="1395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飞机</a:t>
            </a:r>
            <a:r>
              <a:rPr sz="1395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4" name="task-marker-3">
            <a:extLst xmlns:a="http://schemas.openxmlformats.org/drawingml/2006/main">
              <a:ext uri="{FF2B5EF4-FFF2-40B4-BE49-F238E27FC236}">
                <a16:creationId xmlns:a16="http://schemas.microsoft.com/office/drawing/2014/main" id="{5CD552CD-BAAB-46C7-8B92-64E5D416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195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11430">
            <a:solidFill>
              <a:srgbClr val="93A8C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40"/>
            </a:defPPr>
          </a:lstStyle>
          <a:p xmlns:a="http://schemas.openxmlformats.org/drawingml/2006/main">
            <a:pPr algn="ctr">
              <a:buNone/>
              <a:defRPr sz="1140"/>
            </a:pPr>
            <a:r>
              <a:rPr sz="1140">
                <a:latin typeface="Microsoft YaHei"/>
                <a:ea typeface="Microsoft YaHei"/>
                <a:cs typeface="Microsoft YaHei"/>
              </a:rPr>
              <a:t>作业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team-marker-3">
            <a:extLst xmlns:a="http://schemas.openxmlformats.org/drawingml/2006/main">
              <a:ext uri="{FF2B5EF4-FFF2-40B4-BE49-F238E27FC236}">
                <a16:creationId xmlns:a16="http://schemas.microsoft.com/office/drawing/2014/main" id="{FDF4DA2F-AF8F-4A7F-9FCA-F9C55B03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195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11430">
            <a:solidFill>
              <a:srgbClr val="93A8C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40"/>
            </a:defPPr>
          </a:lstStyle>
          <a:p xmlns:a="http://schemas.openxmlformats.org/drawingml/2006/main">
            <a:pPr algn="ctr">
              <a:buNone/>
              <a:defRPr sz="1140"/>
            </a:pPr>
            <a:r>
              <a:rPr sz="1140">
                <a:latin typeface="Microsoft YaHei"/>
                <a:ea typeface="Microsoft YaHei"/>
                <a:cs typeface="Microsoft YaHei"/>
              </a:rPr>
              <a:t>团队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background-station-5">
            <a:extLst xmlns:a="http://schemas.openxmlformats.org/drawingml/2006/main">
              <a:ext uri="{FF2B5EF4-FFF2-40B4-BE49-F238E27FC236}">
                <a16:creationId xmlns:a16="http://schemas.microsoft.com/office/drawing/2014/main" id="{8CEC558C-23E2-4207-B1B0-00F7FFF9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352675"/>
            <a:ext cx="120015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674CD"/>
            </a:solidFill>
            <a:prstDash val="solid"/>
          </a:ln>
        </p:spPr>
      </p:sp>
      <p:sp>
        <p:nvSpPr>
          <p:cNvPr id="67" name="background-station-title-4">
            <a:extLst xmlns:a="http://schemas.openxmlformats.org/drawingml/2006/main">
              <a:ext uri="{FF2B5EF4-FFF2-40B4-BE49-F238E27FC236}">
                <a16:creationId xmlns:a16="http://schemas.microsoft.com/office/drawing/2014/main" id="{1CBA83D1-A45E-4C02-8650-E8334108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09825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3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38" b="1">
                <a:solidFill>
                  <a:srgbClr val="315CA9"/>
                </a:solidFill>
              </a:defRPr>
            </a:pPr>
            <a:r>
              <a:rPr sz="1538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站位</a:t>
            </a:r>
            <a:r>
              <a:rPr sz="1538" b="1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rPr>
              <a:t>5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A515264-3E10-439A-A408-8B8E752F55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aa83728b84db1"/>
          <a:srcRect xmlns:a="http://schemas.openxmlformats.org/drawingml/2006/main" l="79800" t="24000" r="5500" b="24500"/>
          <a:stretch xmlns:a="http://schemas.openxmlformats.org/drawingml/2006/main"/>
        </p:blipFill>
        <p:spPr>
          <a:xfrm xmlns:a="http://schemas.openxmlformats.org/drawingml/2006/main">
            <a:off x="10391775" y="2705100"/>
            <a:ext cx="1047750" cy="628650"/>
          </a:xfrm>
          <a:prstGeom xmlns:a="http://schemas.openxmlformats.org/drawingml/2006/main" prst="rect">
            <a:avLst/>
          </a:prstGeom>
        </p:spPr>
      </p:pic>
      <p:sp>
        <p:nvSpPr>
          <p:cNvPr id="69" name="background-plane-id-4">
            <a:extLst xmlns:a="http://schemas.openxmlformats.org/drawingml/2006/main">
              <a:ext uri="{FF2B5EF4-FFF2-40B4-BE49-F238E27FC236}">
                <a16:creationId xmlns:a16="http://schemas.microsoft.com/office/drawing/2014/main" id="{5D59F1C0-435A-483B-ADB9-3923AB6E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43275"/>
            <a:ext cx="1104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9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395" b="0">
                <a:solidFill>
                  <a:srgbClr val="101010"/>
                </a:solidFill>
              </a:defRPr>
            </a:pPr>
            <a:r>
              <a:rPr sz="1395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飞机</a:t>
            </a:r>
            <a:r>
              <a:rPr sz="1395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task-marker-4">
            <a:extLst xmlns:a="http://schemas.openxmlformats.org/drawingml/2006/main">
              <a:ext uri="{FF2B5EF4-FFF2-40B4-BE49-F238E27FC236}">
                <a16:creationId xmlns:a16="http://schemas.microsoft.com/office/drawing/2014/main" id="{BEC9FF28-9E57-40E3-8DB8-B95A40F7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6195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11430">
            <a:solidFill>
              <a:srgbClr val="93A8C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40"/>
            </a:defPPr>
          </a:lstStyle>
          <a:p xmlns:a="http://schemas.openxmlformats.org/drawingml/2006/main">
            <a:pPr algn="ctr">
              <a:buNone/>
              <a:defRPr sz="1140"/>
            </a:pPr>
            <a:r>
              <a:rPr sz="1140">
                <a:latin typeface="Microsoft YaHei"/>
                <a:ea typeface="Microsoft YaHei"/>
                <a:cs typeface="Microsoft YaHei"/>
              </a:rPr>
              <a:t>作业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1" name="team-marker-4">
            <a:extLst xmlns:a="http://schemas.openxmlformats.org/drawingml/2006/main">
              <a:ext uri="{FF2B5EF4-FFF2-40B4-BE49-F238E27FC236}">
                <a16:creationId xmlns:a16="http://schemas.microsoft.com/office/drawing/2014/main" id="{5EA91432-B4F8-401D-8DC4-44C8B989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6195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8"/>
          </a:solidFill>
          <a:ln xmlns:a="http://schemas.openxmlformats.org/drawingml/2006/main" w="11430">
            <a:solidFill>
              <a:srgbClr val="93A8C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40"/>
            </a:defPPr>
          </a:lstStyle>
          <a:p xmlns:a="http://schemas.openxmlformats.org/drawingml/2006/main">
            <a:pPr algn="ctr">
              <a:buNone/>
              <a:defRPr sz="1140"/>
            </a:pPr>
            <a:r>
              <a:rPr sz="1140">
                <a:latin typeface="Microsoft YaHei"/>
                <a:ea typeface="Microsoft YaHei"/>
                <a:cs typeface="Microsoft YaHei"/>
              </a:rPr>
              <a:t>团队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72" name="synchronous-move-arrow">
            <a:extLst xmlns:a="http://schemas.openxmlformats.org/drawingml/2006/main">
              <a:ext uri="{FF2B5EF4-FFF2-40B4-BE49-F238E27FC236}">
                <a16:creationId xmlns:a16="http://schemas.microsoft.com/office/drawing/2014/main" id="{AD944BD4-3F5F-4427-BCF3-DB31620CDE0E}"/>
              </a:ext>
            </a:extLst>
          </p:cNvPr>
          <p:cNvCxnSpPr/>
          <p:nvPr/>
        </p:nvCxnSpPr>
        <p:spPr>
          <a:xfrm xmlns:a="http://schemas.openxmlformats.org/drawingml/2006/main">
            <a:off x="5219700" y="4048125"/>
            <a:ext cx="6076950" cy="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4674CD"/>
            </a:solidFill>
            <a:prstDash val="solid"/>
            <a:tailEnd type="triangle" w="med" len="med"/>
          </a:ln>
        </p:spPr>
      </p:cxnSp>
      <p:sp>
        <p:nvSpPr>
          <p:cNvPr id="73" name="pulse-mechanism">
            <a:extLst xmlns:a="http://schemas.openxmlformats.org/drawingml/2006/main">
              <a:ext uri="{FF2B5EF4-FFF2-40B4-BE49-F238E27FC236}">
                <a16:creationId xmlns:a16="http://schemas.microsoft.com/office/drawing/2014/main" id="{48EE3B4C-EC3F-42B1-B07A-B8AE425B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71950"/>
            <a:ext cx="6562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90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590" b="0">
                <a:solidFill>
                  <a:srgbClr val="315CA9"/>
                </a:solidFill>
              </a:defRPr>
            </a:pPr>
            <a:r>
              <a:rPr sz="1590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驻站期间各站并行装配，转站时全线同步移动。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4" name="production-feature-0">
            <a:extLst xmlns:a="http://schemas.openxmlformats.org/drawingml/2006/main">
              <a:ext uri="{FF2B5EF4-FFF2-40B4-BE49-F238E27FC236}">
                <a16:creationId xmlns:a16="http://schemas.microsoft.com/office/drawing/2014/main" id="{8D0D0719-B7B2-4598-BC58-C4C4A360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00575"/>
            <a:ext cx="6562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101010"/>
                </a:solidFill>
              </a:defRPr>
            </a:pPr>
            <a:r>
              <a:rPr sz="1575" b="1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工艺关系：</a:t>
            </a:r>
            <a:r>
              <a:rPr sz="1575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前序约束决定任务先后，部分任务可并行。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5" name="production-feature-1">
            <a:extLst xmlns:a="http://schemas.openxmlformats.org/drawingml/2006/main">
              <a:ext uri="{FF2B5EF4-FFF2-40B4-BE49-F238E27FC236}">
                <a16:creationId xmlns:a16="http://schemas.microsoft.com/office/drawing/2014/main" id="{F8FB65B9-4101-4150-A101-F1F6C829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33950"/>
            <a:ext cx="6562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101010"/>
                </a:solidFill>
              </a:defRPr>
            </a:pPr>
            <a:r>
              <a:rPr sz="1575" b="1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人员条件：</a:t>
            </a:r>
            <a:r>
              <a:rPr sz="1575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人数和资格约束团队选择，效率与占用影响执行。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6" name="production-feature-2">
            <a:extLst xmlns:a="http://schemas.openxmlformats.org/drawingml/2006/main">
              <a:ext uri="{FF2B5EF4-FFF2-40B4-BE49-F238E27FC236}">
                <a16:creationId xmlns:a16="http://schemas.microsoft.com/office/drawing/2014/main" id="{29E2759B-3D87-49A4-BB63-638069AE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67325"/>
            <a:ext cx="6562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101010"/>
                </a:solidFill>
              </a:defRPr>
            </a:pPr>
            <a:r>
              <a:rPr sz="1575" b="1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同步脉动：</a:t>
            </a:r>
            <a:r>
              <a:rPr sz="1575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先完成的站位需要等待，各站进度影响共同转站。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" name="background-emphasis-frame">
            <a:extLst xmlns:a="http://schemas.openxmlformats.org/drawingml/2006/main">
              <a:ext uri="{FF2B5EF4-FFF2-40B4-BE49-F238E27FC236}">
                <a16:creationId xmlns:a16="http://schemas.microsoft.com/office/drawing/2014/main" id="{386464A5-A6CC-4876-8ECA-6B9756F6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10394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72424"/>
            </a:solidFill>
            <a:prstDash val="solid"/>
          </a:ln>
        </p:spPr>
      </p:sp>
      <p:sp>
        <p:nvSpPr>
          <p:cNvPr id="78" name="background-emphasis">
            <a:extLst xmlns:a="http://schemas.openxmlformats.org/drawingml/2006/main">
              <a:ext uri="{FF2B5EF4-FFF2-40B4-BE49-F238E27FC236}">
                <a16:creationId xmlns:a16="http://schemas.microsoft.com/office/drawing/2014/main" id="{E0C945D1-6241-41CC-B401-54998C1C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67400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315CA9"/>
                </a:solidFill>
              </a:defRPr>
            </a:pPr>
            <a:r>
              <a:rPr sz="1875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提升装配效率，需要</a:t>
            </a:r>
            <a:r>
              <a:rPr sz="1875" b="1">
                <a:solidFill>
                  <a:srgbClr val="B72424"/>
                </a:solidFill>
                <a:latin typeface="Microsoft YaHei"/>
                <a:ea typeface="Microsoft YaHei"/>
                <a:cs typeface="Microsoft YaHei"/>
              </a:rPr>
              <a:t>联合安排工序、站位与人员团队</a:t>
            </a:r>
            <a:r>
              <a:rPr sz="1875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315CA9"/>
                </a:solidFill>
              </a:defRPr>
            </a:pPr>
            <a:r>
              <a:rPr sz="1875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同步脉动条件下，还需</a:t>
            </a:r>
            <a:r>
              <a:rPr sz="1875" b="1">
                <a:solidFill>
                  <a:srgbClr val="B72424"/>
                </a:solidFill>
                <a:latin typeface="Microsoft YaHei"/>
                <a:ea typeface="Microsoft YaHei"/>
                <a:cs typeface="Microsoft YaHei"/>
              </a:rPr>
              <a:t>协调扰动后的各站进度</a:t>
            </a:r>
            <a:r>
              <a:rPr sz="1875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与多架次生产衔接。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057917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模板页眉横线">
            <a:extLst xmlns:a="http://schemas.openxmlformats.org/drawingml/2006/main">
              <a:ext uri="{FF2B5EF4-FFF2-40B4-BE49-F238E27FC236}">
                <a16:creationId xmlns:a16="http://schemas.microsoft.com/office/drawing/2014/main" id="{C4000073-E50E-0B72-94C0-033F230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054"/>
            <a:ext cx="12192000" cy="45719"/>
          </a:xfrm>
          <a:custGeom xmlns:a="http://schemas.openxmlformats.org/drawingml/2006/main">
            <a:gdLst>
              <a:gd name="T0" fmla="*/ 0 w 21600"/>
              <a:gd name="T1" fmla="*/ 0 h 21600"/>
              <a:gd name="T2" fmla="*/ 489365807 w 21600"/>
              <a:gd name="T3" fmla="*/ 0 h 21600"/>
              <a:gd name="T4" fmla="*/ 489365807 w 21600"/>
              <a:gd name="T5" fmla="*/ 28356134 h 21600"/>
              <a:gd name="T6" fmla="*/ 0 w 21600"/>
              <a:gd name="T7" fmla="*/ 28356134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3175" cap="flat" cmpd="sng">
            <a:solidFill>
              <a:srgbClr val="002060">
                <a:alpha val="0"/>
              </a:srgbClr>
            </a:solidFill>
            <a:round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solidFill>
                <a:srgbClr val="4874CB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" name="同济校标">
            <a:extLst xmlns:a="http://schemas.openxmlformats.org/drawingml/2006/main">
              <a:ext uri="{FF2B5EF4-FFF2-40B4-BE49-F238E27FC236}">
                <a16:creationId xmlns:a16="http://schemas.microsoft.com/office/drawing/2014/main" id="{51E953EB-5DCF-42C0-8E86-E93314DE39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8d968efd2d4e94"/>
          <a:srcRect xmlns:a="http://schemas.openxmlformats.org/drawingml/2006/main" l="0" t="0" r="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1625" y="20910"/>
            <a:ext cx="1809525" cy="526143"/>
          </a:xfrm>
          <a:prstGeom xmlns:a="http://schemas.openxmlformats.org/drawingml/2006/main" prst="rect">
            <a:avLst/>
          </a:prstGeom>
        </p:spPr>
      </p:pic>
      <p:sp>
        <p:nvSpPr>
          <p:cNvPr id="27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CA1E91B-B668-B211-4835-07E77318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"/>
            <a:ext cx="113061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3200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4000"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4000"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4000"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4000">
                <a:latin typeface="Microsoft YaHei"/>
                <a:ea typeface="Microsoft YaHei"/>
                <a:cs typeface="Microsoft YaHei"/>
              </a:defRPr>
            </a:lvl5pPr>
            <a:lvl6pPr marL="4572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6pPr>
            <a:lvl7pPr marL="9144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7pPr>
            <a:lvl8pPr marL="13716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8pPr>
            <a:lvl9pPr marL="18288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3200">
                <a:solidFill>
                  <a:srgbClr val="4674C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1 </a:t>
            </a:r>
            <a:r>
              <a:rPr sz="3200">
                <a:solidFill>
                  <a:srgbClr val="4674C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研究背景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页面主题">
            <a:extLst xmlns:a="http://schemas.openxmlformats.org/drawingml/2006/main">
              <a:ext uri="{FF2B5EF4-FFF2-40B4-BE49-F238E27FC236}">
                <a16:creationId xmlns:a16="http://schemas.microsoft.com/office/drawing/2014/main" id="{A8BFA7F8-B8F6-40F9-8B69-7C7B3793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5247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63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63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飞机脉动装配线的生产特点与调度问题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revision-text-1005">
            <a:extLst xmlns:a="http://schemas.openxmlformats.org/drawingml/2006/main">
              <a:ext uri="{FF2B5EF4-FFF2-40B4-BE49-F238E27FC236}">
                <a16:creationId xmlns:a16="http://schemas.microsoft.com/office/drawing/2014/main" id="{CD0330C8-8920-4B6D-B042-F71F342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04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difficulty-heading">
            <a:extLst xmlns:a="http://schemas.openxmlformats.org/drawingml/2006/main">
              <a:ext uri="{FF2B5EF4-FFF2-40B4-BE49-F238E27FC236}">
                <a16:creationId xmlns:a16="http://schemas.microsoft.com/office/drawing/2014/main" id="{F9BDF694-B13E-41B7-A64D-B59017F0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45815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13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913" b="0">
                <a:solidFill>
                  <a:srgbClr val="315CA9"/>
                </a:solidFill>
              </a:defRPr>
            </a:pPr>
            <a:r>
              <a:rPr sz="1913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生产特点与调度问题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question-heading">
            <a:extLst xmlns:a="http://schemas.openxmlformats.org/drawingml/2006/main">
              <a:ext uri="{FF2B5EF4-FFF2-40B4-BE49-F238E27FC236}">
                <a16:creationId xmlns:a16="http://schemas.microsoft.com/office/drawing/2014/main" id="{2FAE5760-934F-482C-B8E1-03FD6BB4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428750"/>
            <a:ext cx="4981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13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913" b="0">
                <a:solidFill>
                  <a:srgbClr val="315CA9"/>
                </a:solidFill>
              </a:defRPr>
            </a:pPr>
            <a:r>
              <a:rPr sz="1913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关键研究问题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difficulty-number-0">
            <a:extLst xmlns:a="http://schemas.openxmlformats.org/drawingml/2006/main">
              <a:ext uri="{FF2B5EF4-FFF2-40B4-BE49-F238E27FC236}">
                <a16:creationId xmlns:a16="http://schemas.microsoft.com/office/drawing/2014/main" id="{F5863745-6F5C-49A8-8371-093BAAB5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9072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674CD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4674CD"/>
                </a:solidFill>
              </a:defRPr>
            </a:pPr>
            <a:r>
              <a:rPr sz="2025" b="0">
                <a:solidFill>
                  <a:srgbClr val="4674CD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difficulty-title-0">
            <a:extLst xmlns:a="http://schemas.openxmlformats.org/drawingml/2006/main">
              <a:ext uri="{FF2B5EF4-FFF2-40B4-BE49-F238E27FC236}">
                <a16:creationId xmlns:a16="http://schemas.microsoft.com/office/drawing/2014/main" id="{5033B149-0129-4BA0-94FB-ADB05FF7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009775"/>
            <a:ext cx="4467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315CA9"/>
                </a:solidFill>
              </a:defRPr>
            </a:pPr>
            <a:r>
              <a:rPr sz="1875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复杂工艺与人员约束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difficulty-body-0">
            <a:extLst xmlns:a="http://schemas.openxmlformats.org/drawingml/2006/main">
              <a:ext uri="{FF2B5EF4-FFF2-40B4-BE49-F238E27FC236}">
                <a16:creationId xmlns:a16="http://schemas.microsoft.com/office/drawing/2014/main" id="{C5D1000A-50D8-4D6A-8622-79564585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44672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111111"/>
                </a:solidFill>
              </a:defRPr>
            </a:pPr>
            <a:r>
              <a:rPr sz="167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前序关系、人数、资格与占用影响作业安排，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111111"/>
                </a:solidFill>
              </a:defRPr>
            </a:pPr>
            <a:r>
              <a:rPr sz="167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站位安排进一步限制可选人员。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5" name="difficulty-to-question-0">
            <a:extLst xmlns:a="http://schemas.openxmlformats.org/drawingml/2006/main">
              <a:ext uri="{FF2B5EF4-FFF2-40B4-BE49-F238E27FC236}">
                <a16:creationId xmlns:a16="http://schemas.microsoft.com/office/drawing/2014/main" id="{EDBC5B4F-B7FA-406B-8BC3-257BE82AAC0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00700" y="25050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4674CD"/>
            </a:solidFill>
            <a:prstDash val="solid"/>
            <a:tailEnd type="triangle" w="med" len="med"/>
          </a:ln>
        </p:spPr>
      </p:cxnSp>
      <p:sp>
        <p:nvSpPr>
          <p:cNvPr id="36" name="question-title-0">
            <a:extLst xmlns:a="http://schemas.openxmlformats.org/drawingml/2006/main">
              <a:ext uri="{FF2B5EF4-FFF2-40B4-BE49-F238E27FC236}">
                <a16:creationId xmlns:a16="http://schemas.microsoft.com/office/drawing/2014/main" id="{899BD37A-7CC7-4977-BEE4-71B4B308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9775"/>
            <a:ext cx="5010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5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845" b="0">
                <a:solidFill>
                  <a:srgbClr val="315CA9"/>
                </a:solidFill>
              </a:defRPr>
            </a:pPr>
            <a:r>
              <a:rPr sz="1845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工序、站位与具体团队的联合安排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question-body-0">
            <a:extLst xmlns:a="http://schemas.openxmlformats.org/drawingml/2006/main">
              <a:ext uri="{FF2B5EF4-FFF2-40B4-BE49-F238E27FC236}">
                <a16:creationId xmlns:a16="http://schemas.microsoft.com/office/drawing/2014/main" id="{030E0B43-4BB1-43C5-9C7C-8B7CC05C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28875"/>
            <a:ext cx="501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111111"/>
                </a:solidFill>
              </a:defRPr>
            </a:pPr>
            <a:r>
              <a:rPr sz="167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在共同约束下形成高效排程，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111111"/>
                </a:solidFill>
              </a:defRPr>
            </a:pPr>
            <a:r>
              <a:rPr sz="167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同时优化工序安排与人员资源配置。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8" name="difficulty-separator-0">
            <a:extLst xmlns:a="http://schemas.openxmlformats.org/drawingml/2006/main">
              <a:ext uri="{FF2B5EF4-FFF2-40B4-BE49-F238E27FC236}">
                <a16:creationId xmlns:a16="http://schemas.microsoft.com/office/drawing/2014/main" id="{E41BE4F9-1021-4FA4-9468-F96F369CD95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9125" y="3209925"/>
            <a:ext cx="109823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7E8"/>
            </a:solidFill>
            <a:prstDash val="solid"/>
          </a:ln>
        </p:spPr>
      </p:cxnSp>
      <p:sp>
        <p:nvSpPr>
          <p:cNvPr id="39" name="difficulty-number-1">
            <a:extLst xmlns:a="http://schemas.openxmlformats.org/drawingml/2006/main">
              <a:ext uri="{FF2B5EF4-FFF2-40B4-BE49-F238E27FC236}">
                <a16:creationId xmlns:a16="http://schemas.microsoft.com/office/drawing/2014/main" id="{F3A21062-B08C-422E-A13C-F1D47ADA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042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674CD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4674CD"/>
                </a:solidFill>
              </a:defRPr>
            </a:pPr>
            <a:r>
              <a:rPr sz="2025" b="0">
                <a:solidFill>
                  <a:srgbClr val="4674CD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difficulty-title-1">
            <a:extLst xmlns:a="http://schemas.openxmlformats.org/drawingml/2006/main">
              <a:ext uri="{FF2B5EF4-FFF2-40B4-BE49-F238E27FC236}">
                <a16:creationId xmlns:a16="http://schemas.microsoft.com/office/drawing/2014/main" id="{7F9ADD15-FDFB-440B-8A47-076295A4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419475"/>
            <a:ext cx="4467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315CA9"/>
                </a:solidFill>
              </a:defRPr>
            </a:pPr>
            <a:r>
              <a:rPr sz="1875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延迟开工与计划调整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" name="difficulty-body-1">
            <a:extLst xmlns:a="http://schemas.openxmlformats.org/drawingml/2006/main">
              <a:ext uri="{FF2B5EF4-FFF2-40B4-BE49-F238E27FC236}">
                <a16:creationId xmlns:a16="http://schemas.microsoft.com/office/drawing/2014/main" id="{C42D8D22-DF15-4532-8A24-007DFB28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29050"/>
            <a:ext cx="44672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111111"/>
                </a:solidFill>
              </a:defRPr>
            </a:pPr>
            <a:r>
              <a:rPr sz="167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开工条件变化影响后续任务和人员使用，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111111"/>
                </a:solidFill>
              </a:defRPr>
            </a:pPr>
            <a:r>
              <a:rPr sz="167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原计划需要在规定范围内修复。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42" name="difficulty-to-question-1">
            <a:extLst xmlns:a="http://schemas.openxmlformats.org/drawingml/2006/main">
              <a:ext uri="{FF2B5EF4-FFF2-40B4-BE49-F238E27FC236}">
                <a16:creationId xmlns:a16="http://schemas.microsoft.com/office/drawing/2014/main" id="{48982431-A63C-468A-BD87-6C6A99C3570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00700" y="39147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4674CD"/>
            </a:solidFill>
            <a:prstDash val="solid"/>
            <a:tailEnd type="triangle" w="med" len="med"/>
          </a:ln>
        </p:spPr>
      </p:cxnSp>
      <p:sp>
        <p:nvSpPr>
          <p:cNvPr id="43" name="question-title-1">
            <a:extLst xmlns:a="http://schemas.openxmlformats.org/drawingml/2006/main">
              <a:ext uri="{FF2B5EF4-FFF2-40B4-BE49-F238E27FC236}">
                <a16:creationId xmlns:a16="http://schemas.microsoft.com/office/drawing/2014/main" id="{C93A897E-C60B-43E0-B7E0-872D2A64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19475"/>
            <a:ext cx="5010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5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845" b="0">
                <a:solidFill>
                  <a:srgbClr val="315CA9"/>
                </a:solidFill>
              </a:defRPr>
            </a:pPr>
            <a:r>
              <a:rPr sz="1845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兼顾完工时间与计划稳定性的重调度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question-body-1">
            <a:extLst xmlns:a="http://schemas.openxmlformats.org/drawingml/2006/main">
              <a:ext uri="{FF2B5EF4-FFF2-40B4-BE49-F238E27FC236}">
                <a16:creationId xmlns:a16="http://schemas.microsoft.com/office/drawing/2014/main" id="{9CAE48E6-8DB0-4093-B2E3-7AEB3FD7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38575"/>
            <a:ext cx="501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111111"/>
                </a:solidFill>
              </a:defRPr>
            </a:pPr>
            <a:r>
              <a:rPr sz="167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保留规定工序的原安排，调整可调部分，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111111"/>
                </a:solidFill>
              </a:defRPr>
            </a:pPr>
            <a:r>
              <a:rPr sz="167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恢复生产进度并控制计划改动。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45" name="difficulty-separator-1">
            <a:extLst xmlns:a="http://schemas.openxmlformats.org/drawingml/2006/main">
              <a:ext uri="{FF2B5EF4-FFF2-40B4-BE49-F238E27FC236}">
                <a16:creationId xmlns:a16="http://schemas.microsoft.com/office/drawing/2014/main" id="{97F8F0AF-73C1-43B0-BA83-2EAF13423EE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9125" y="4619625"/>
            <a:ext cx="109823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7E8"/>
            </a:solidFill>
            <a:prstDash val="solid"/>
          </a:ln>
        </p:spPr>
      </p:cxnSp>
      <p:sp>
        <p:nvSpPr>
          <p:cNvPr id="46" name="difficulty-number-2">
            <a:extLst xmlns:a="http://schemas.openxmlformats.org/drawingml/2006/main">
              <a:ext uri="{FF2B5EF4-FFF2-40B4-BE49-F238E27FC236}">
                <a16:creationId xmlns:a16="http://schemas.microsoft.com/office/drawing/2014/main" id="{11B1DDC1-E022-4A02-AE29-D86158F0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674CD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4674CD"/>
                </a:solidFill>
              </a:defRPr>
            </a:pPr>
            <a:r>
              <a:rPr sz="2025" b="0">
                <a:solidFill>
                  <a:srgbClr val="4674CD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7" name="difficulty-title-2">
            <a:extLst xmlns:a="http://schemas.openxmlformats.org/drawingml/2006/main">
              <a:ext uri="{FF2B5EF4-FFF2-40B4-BE49-F238E27FC236}">
                <a16:creationId xmlns:a16="http://schemas.microsoft.com/office/drawing/2014/main" id="{98F914E4-40E1-46AC-A773-18DCFC35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829175"/>
            <a:ext cx="4467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315CA9"/>
                </a:solidFill>
              </a:defRPr>
            </a:pPr>
            <a:r>
              <a:rPr sz="1875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多架次同步转站及周期衔接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difficulty-body-2">
            <a:extLst xmlns:a="http://schemas.openxmlformats.org/drawingml/2006/main">
              <a:ext uri="{FF2B5EF4-FFF2-40B4-BE49-F238E27FC236}">
                <a16:creationId xmlns:a16="http://schemas.microsoft.com/office/drawing/2014/main" id="{59E855D2-49D9-4309-859C-5C266B97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238750"/>
            <a:ext cx="44672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111111"/>
                </a:solidFill>
              </a:defRPr>
            </a:pPr>
            <a:r>
              <a:rPr sz="167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局部延迟可能推迟共同转站，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111111"/>
                </a:solidFill>
              </a:defRPr>
            </a:pPr>
            <a:r>
              <a:rPr sz="167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合法后移改变下一周期的任务分布。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49" name="difficulty-to-question-2">
            <a:extLst xmlns:a="http://schemas.openxmlformats.org/drawingml/2006/main">
              <a:ext uri="{FF2B5EF4-FFF2-40B4-BE49-F238E27FC236}">
                <a16:creationId xmlns:a16="http://schemas.microsoft.com/office/drawing/2014/main" id="{FE604CD3-886E-4B35-95C2-D448FB69B9B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00700" y="53244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4674CD"/>
            </a:solidFill>
            <a:prstDash val="solid"/>
            <a:tailEnd type="triangle" w="med" len="med"/>
          </a:ln>
        </p:spPr>
      </p:cxnSp>
      <p:sp>
        <p:nvSpPr>
          <p:cNvPr id="50" name="question-title-2">
            <a:extLst xmlns:a="http://schemas.openxmlformats.org/drawingml/2006/main">
              <a:ext uri="{FF2B5EF4-FFF2-40B4-BE49-F238E27FC236}">
                <a16:creationId xmlns:a16="http://schemas.microsoft.com/office/drawing/2014/main" id="{E1CDF7C9-BB92-40AC-9C6E-12768507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29175"/>
            <a:ext cx="5010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5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845" b="0">
                <a:solidFill>
                  <a:srgbClr val="315CA9"/>
                </a:solidFill>
              </a:defRPr>
            </a:pPr>
            <a:r>
              <a:rPr sz="1845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当前与下一周期作业的协同调度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question-body-2">
            <a:extLst xmlns:a="http://schemas.openxmlformats.org/drawingml/2006/main">
              <a:ext uri="{FF2B5EF4-FFF2-40B4-BE49-F238E27FC236}">
                <a16:creationId xmlns:a16="http://schemas.microsoft.com/office/drawing/2014/main" id="{3297ABB4-2616-4E32-9693-E9FEF4A0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48275"/>
            <a:ext cx="501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111111"/>
                </a:solidFill>
              </a:defRPr>
            </a:pPr>
            <a:r>
              <a:rPr sz="167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结合各站进度和后续任务，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111111"/>
                </a:solidFill>
              </a:defRPr>
            </a:pPr>
            <a:r>
              <a:rPr sz="167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协调多架飞机的共同转站与生产衔接。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705004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模板页眉横线">
            <a:extLst xmlns:a="http://schemas.openxmlformats.org/drawingml/2006/main">
              <a:ext uri="{FF2B5EF4-FFF2-40B4-BE49-F238E27FC236}">
                <a16:creationId xmlns:a16="http://schemas.microsoft.com/office/drawing/2014/main" id="{C4000073-E50E-0B72-94C0-033F230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054"/>
            <a:ext cx="12192000" cy="45719"/>
          </a:xfrm>
          <a:custGeom xmlns:a="http://schemas.openxmlformats.org/drawingml/2006/main">
            <a:gdLst>
              <a:gd name="T0" fmla="*/ 0 w 21600"/>
              <a:gd name="T1" fmla="*/ 0 h 21600"/>
              <a:gd name="T2" fmla="*/ 489365807 w 21600"/>
              <a:gd name="T3" fmla="*/ 0 h 21600"/>
              <a:gd name="T4" fmla="*/ 489365807 w 21600"/>
              <a:gd name="T5" fmla="*/ 28356134 h 21600"/>
              <a:gd name="T6" fmla="*/ 0 w 21600"/>
              <a:gd name="T7" fmla="*/ 28356134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3175" cap="flat" cmpd="sng">
            <a:solidFill>
              <a:srgbClr val="002060">
                <a:alpha val="0"/>
              </a:srgbClr>
            </a:solidFill>
            <a:round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solidFill>
                <a:srgbClr val="4874CB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" name="同济校标">
            <a:extLst xmlns:a="http://schemas.openxmlformats.org/drawingml/2006/main">
              <a:ext uri="{FF2B5EF4-FFF2-40B4-BE49-F238E27FC236}">
                <a16:creationId xmlns:a16="http://schemas.microsoft.com/office/drawing/2014/main" id="{45CE7961-9942-4636-BC25-4A3680E332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e6bbe9df05b4a80"/>
          <a:srcRect xmlns:a="http://schemas.openxmlformats.org/drawingml/2006/main" l="0" t="0" r="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1625" y="20910"/>
            <a:ext cx="1809525" cy="526143"/>
          </a:xfrm>
          <a:prstGeom xmlns:a="http://schemas.openxmlformats.org/drawingml/2006/main" prst="rect">
            <a:avLst/>
          </a:prstGeom>
        </p:spPr>
      </p:pic>
      <p:sp>
        <p:nvSpPr>
          <p:cNvPr id="8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CA1E91B-B668-B211-4835-07E77318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"/>
            <a:ext cx="113061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200" b="1">
                <a:solidFill>
                  <a:srgbClr val="4674CD"/>
                </a:solidFill>
              </a:defRPr>
            </a:defPPr>
            <a:lvl1pPr>
              <a:buNone/>
              <a:defRPr sz="3200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4000"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4000"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4000"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4000">
                <a:latin typeface="Microsoft YaHei"/>
                <a:ea typeface="Microsoft YaHei"/>
                <a:cs typeface="Microsoft YaHei"/>
              </a:defRPr>
            </a:lvl5pPr>
            <a:lvl6pPr marL="4572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6pPr>
            <a:lvl7pPr marL="9144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7pPr>
            <a:lvl8pPr marL="13716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8pPr>
            <a:lvl9pPr marL="18288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4674CD"/>
                </a:solidFill>
              </a:defRPr>
            </a:pPr>
            <a:r>
              <a:rPr sz="3200" b="1">
                <a:solidFill>
                  <a:srgbClr val="4674CD"/>
                </a:solidFill>
                <a:latin typeface="Times New Roman"/>
                <a:ea typeface="Times New Roman"/>
                <a:cs typeface="Times New Roman"/>
              </a:rPr>
              <a:t>2 </a:t>
            </a:r>
            <a:r>
              <a:rPr sz="3200" b="1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rPr>
              <a:t>文献综述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页面主题">
            <a:extLst xmlns:a="http://schemas.openxmlformats.org/drawingml/2006/main">
              <a:ext uri="{FF2B5EF4-FFF2-40B4-BE49-F238E27FC236}">
                <a16:creationId xmlns:a16="http://schemas.microsoft.com/office/drawing/2014/main" id="{A8BFA7F8-B8F6-40F9-8B69-7C7B3793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5247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飞机脉动装配线调度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revision-text-1005">
            <a:extLst xmlns:a="http://schemas.openxmlformats.org/drawingml/2006/main">
              <a:ext uri="{FF2B5EF4-FFF2-40B4-BE49-F238E27FC236}">
                <a16:creationId xmlns:a16="http://schemas.microsoft.com/office/drawing/2014/main" id="{CD0330C8-8920-4B6D-B042-F71F342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05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overview">
            <a:extLst xmlns:a="http://schemas.openxmlformats.org/drawingml/2006/main">
              <a:ext uri="{FF2B5EF4-FFF2-40B4-BE49-F238E27FC236}">
                <a16:creationId xmlns:a16="http://schemas.microsoft.com/office/drawing/2014/main" id="{A93D4471-10AE-4EF1-8A24-D0423D8D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13" b="0">
                <a:solidFill>
                  <a:srgbClr val="6E747A"/>
                </a:solidFill>
              </a:defRPr>
            </a:pPr>
            <a:r>
              <a:rPr sz="1613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已有研究对工序分站、人员安排、扰动调整及周期生产的处理。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production-root">
            <a:extLst xmlns:a="http://schemas.openxmlformats.org/drawingml/2006/main">
              <a:ext uri="{FF2B5EF4-FFF2-40B4-BE49-F238E27FC236}">
                <a16:creationId xmlns:a16="http://schemas.microsoft.com/office/drawing/2014/main" id="{B96803A0-975B-4BF2-A6F8-295DDDC8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0"/>
            <a:ext cx="609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4674C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75E"/>
                </a:solidFill>
              </a:defRPr>
            </a:pPr>
            <a:r>
              <a:rPr sz="1800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生产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75E"/>
                </a:solidFill>
              </a:defRPr>
            </a:pPr>
            <a:r>
              <a:rPr sz="1800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问题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3" name="production-trunk">
            <a:extLst xmlns:a="http://schemas.openxmlformats.org/drawingml/2006/main">
              <a:ext uri="{FF2B5EF4-FFF2-40B4-BE49-F238E27FC236}">
                <a16:creationId xmlns:a16="http://schemas.microsoft.com/office/drawing/2014/main" id="{D4FD80F9-8068-46F1-AB94-61093D36992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71575" y="2628900"/>
            <a:ext cx="0" cy="2752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74CD"/>
            </a:solidFill>
            <a:prstDash val="solid"/>
          </a:ln>
        </p:spPr>
      </p:cxnSp>
      <p:cxnSp>
        <p:nvCxnSpPr>
          <p:cNvPr id="14" name="production-root-link">
            <a:extLst xmlns:a="http://schemas.openxmlformats.org/drawingml/2006/main">
              <a:ext uri="{FF2B5EF4-FFF2-40B4-BE49-F238E27FC236}">
                <a16:creationId xmlns:a16="http://schemas.microsoft.com/office/drawing/2014/main" id="{2E9B6F70-5FCF-4CB2-86C3-9868A293EB7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85850" y="3962400"/>
            <a:ext cx="85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74CD"/>
            </a:solidFill>
            <a:prstDash val="solid"/>
          </a:ln>
        </p:spPr>
      </p:cxnSp>
      <p:cxnSp>
        <p:nvCxnSpPr>
          <p:cNvPr id="15" name="joint-branch">
            <a:extLst xmlns:a="http://schemas.openxmlformats.org/drawingml/2006/main">
              <a:ext uri="{FF2B5EF4-FFF2-40B4-BE49-F238E27FC236}">
                <a16:creationId xmlns:a16="http://schemas.microsoft.com/office/drawing/2014/main" id="{65A8E777-363F-4005-A6F5-A40110527C5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71575" y="26289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74CD"/>
            </a:solidFill>
            <a:prstDash val="solid"/>
          </a:ln>
        </p:spPr>
      </p:cxnSp>
      <p:sp>
        <p:nvSpPr>
          <p:cNvPr id="16" name="joint-category">
            <a:extLst xmlns:a="http://schemas.openxmlformats.org/drawingml/2006/main">
              <a:ext uri="{FF2B5EF4-FFF2-40B4-BE49-F238E27FC236}">
                <a16:creationId xmlns:a16="http://schemas.microsoft.com/office/drawing/2014/main" id="{CCA4A16B-7619-4239-897A-42A1B856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14575"/>
            <a:ext cx="16097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6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7375E"/>
                </a:solidFill>
              </a:defRPr>
            </a:pPr>
            <a:r>
              <a:rPr sz="1725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工序分站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7375E"/>
                </a:solidFill>
              </a:defRPr>
            </a:pPr>
            <a:r>
              <a:rPr sz="1725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与人员安排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7" name="joint-evidence-link">
            <a:extLst xmlns:a="http://schemas.openxmlformats.org/drawingml/2006/main">
              <a:ext uri="{FF2B5EF4-FFF2-40B4-BE49-F238E27FC236}">
                <a16:creationId xmlns:a16="http://schemas.microsoft.com/office/drawing/2014/main" id="{CA470D9A-3808-484C-B172-ABE7800ADC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81325" y="26289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4674CD"/>
            </a:solidFill>
            <a:prstDash val="solid"/>
          </a:ln>
        </p:spPr>
      </p:cxnSp>
      <p:cxnSp>
        <p:nvCxnSpPr>
          <p:cNvPr id="18" name="repair-branch">
            <a:extLst xmlns:a="http://schemas.openxmlformats.org/drawingml/2006/main">
              <a:ext uri="{FF2B5EF4-FFF2-40B4-BE49-F238E27FC236}">
                <a16:creationId xmlns:a16="http://schemas.microsoft.com/office/drawing/2014/main" id="{FAFBEA5F-03BE-4960-94CA-39D1D058B92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71575" y="436245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74CD"/>
            </a:solidFill>
            <a:prstDash val="solid"/>
          </a:ln>
        </p:spPr>
      </p:cxnSp>
      <p:sp>
        <p:nvSpPr>
          <p:cNvPr id="19" name="repair-category">
            <a:extLst xmlns:a="http://schemas.openxmlformats.org/drawingml/2006/main">
              <a:ext uri="{FF2B5EF4-FFF2-40B4-BE49-F238E27FC236}">
                <a16:creationId xmlns:a16="http://schemas.microsoft.com/office/drawing/2014/main" id="{9BFFB1F8-1351-44E7-A991-ABE80E21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48125"/>
            <a:ext cx="16097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6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7375E"/>
                </a:solidFill>
              </a:defRPr>
            </a:pPr>
            <a:r>
              <a:rPr sz="1725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扰动后的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7375E"/>
                </a:solidFill>
              </a:defRPr>
            </a:pPr>
            <a:r>
              <a:rPr sz="1725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计划调整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0" name="repair-evidence-link">
            <a:extLst xmlns:a="http://schemas.openxmlformats.org/drawingml/2006/main">
              <a:ext uri="{FF2B5EF4-FFF2-40B4-BE49-F238E27FC236}">
                <a16:creationId xmlns:a16="http://schemas.microsoft.com/office/drawing/2014/main" id="{86915538-0DFD-4BCC-A07F-5386807BCA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81325" y="43624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4674CD"/>
            </a:solidFill>
            <a:prstDash val="solid"/>
          </a:ln>
        </p:spPr>
      </p:cxnSp>
      <p:cxnSp>
        <p:nvCxnSpPr>
          <p:cNvPr id="21" name="continuous-branch">
            <a:extLst xmlns:a="http://schemas.openxmlformats.org/drawingml/2006/main">
              <a:ext uri="{FF2B5EF4-FFF2-40B4-BE49-F238E27FC236}">
                <a16:creationId xmlns:a16="http://schemas.microsoft.com/office/drawing/2014/main" id="{737E3F42-1254-4646-8B37-EEDB9849C02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71575" y="538162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74CD"/>
            </a:solidFill>
            <a:prstDash val="solid"/>
          </a:ln>
        </p:spPr>
      </p:cxnSp>
      <p:sp>
        <p:nvSpPr>
          <p:cNvPr id="22" name="continuous-category">
            <a:extLst xmlns:a="http://schemas.openxmlformats.org/drawingml/2006/main">
              <a:ext uri="{FF2B5EF4-FFF2-40B4-BE49-F238E27FC236}">
                <a16:creationId xmlns:a16="http://schemas.microsoft.com/office/drawing/2014/main" id="{C0E9BC9A-06E6-481D-8AF7-BC374275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67300"/>
            <a:ext cx="16097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6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7375E"/>
                </a:solidFill>
              </a:defRPr>
            </a:pPr>
            <a:r>
              <a:rPr sz="1725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多站位及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7375E"/>
                </a:solidFill>
              </a:defRPr>
            </a:pPr>
            <a:r>
              <a:rPr sz="1725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连续装配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3" name="continuous-evidence-link">
            <a:extLst xmlns:a="http://schemas.openxmlformats.org/drawingml/2006/main">
              <a:ext uri="{FF2B5EF4-FFF2-40B4-BE49-F238E27FC236}">
                <a16:creationId xmlns:a16="http://schemas.microsoft.com/office/drawing/2014/main" id="{65B6DE8C-91FA-43BB-9DE3-87B83799736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81325" y="538162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4674CD"/>
            </a:solidFill>
            <a:prstDash val="solid"/>
          </a:ln>
        </p:spPr>
      </p:cxnSp>
      <p:graphicFrame>
        <p:nvGraphicFrame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82CE43-1339-4DA9-9F17-D301DF00A50C}"/>
              </a:ext>
            </a:extLst>
          </p:cNvPr>
          <p:cNvGraphicFramePr/>
          <p:nvPr/>
        </p:nvGraphicFramePr>
        <p:xfrm>
          <a:off xmlns:a="http://schemas.openxmlformats.org/drawingml/2006/main" x="3219450" y="1647825"/>
          <a:ext xmlns:a="http://schemas.openxmlformats.org/drawingml/2006/main" cx="8401050" cy="19716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38300"/>
                <a:gridCol w="2895600"/>
                <a:gridCol w="3867150"/>
              </a:tblGrid>
              <a:tr h="34290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代表文献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5725" marR="66675" marT="38100" marB="38100" anchor="ctr">
                    <a:lnL w="6668">
                      <a:solidFill>
                        <a:srgbClr val="CDD7E8"/>
                      </a:solidFill>
                      <a:prstDash val="solid"/>
                    </a:lnL>
                    <a:lnR w="6668">
                      <a:solidFill>
                        <a:srgbClr val="CDD7E8"/>
                      </a:solidFill>
                      <a:prstDash val="solid"/>
                    </a:lnR>
                    <a:lnT w="6668">
                      <a:solidFill>
                        <a:srgbClr val="CDD7E8"/>
                      </a:solidFill>
                      <a:prstDash val="solid"/>
                    </a:lnT>
                    <a:lnB w="6668">
                      <a:solidFill>
                        <a:srgbClr val="CDD7E8"/>
                      </a:solidFill>
                      <a:prstDash val="solid"/>
                    </a:lnB>
                    <a:solidFill>
                      <a:srgbClr val="4674CD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主要生产决策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5725" marR="66675" marT="38100" marB="38100" anchor="ctr">
                    <a:lnR w="6668">
                      <a:solidFill>
                        <a:srgbClr val="CDD7E8"/>
                      </a:solidFill>
                      <a:prstDash val="solid"/>
                    </a:lnR>
                    <a:lnT w="6668">
                      <a:solidFill>
                        <a:srgbClr val="CDD7E8"/>
                      </a:solidFill>
                      <a:prstDash val="solid"/>
                    </a:lnT>
                    <a:lnB w="6668">
                      <a:solidFill>
                        <a:srgbClr val="CDD7E8"/>
                      </a:solidFill>
                      <a:prstDash val="solid"/>
                    </a:lnB>
                    <a:solidFill>
                      <a:srgbClr val="4674CD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生产条件与评价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5725" marR="66675" marT="38100" marB="38100" anchor="ctr">
                    <a:lnR w="6668">
                      <a:solidFill>
                        <a:srgbClr val="CDD7E8"/>
                      </a:solidFill>
                      <a:prstDash val="solid"/>
                    </a:lnR>
                    <a:lnT w="6668">
                      <a:solidFill>
                        <a:srgbClr val="CDD7E8"/>
                      </a:solidFill>
                      <a:prstDash val="solid"/>
                    </a:lnT>
                    <a:lnB w="6668">
                      <a:solidFill>
                        <a:srgbClr val="CDD7E8"/>
                      </a:solidFill>
                      <a:prstDash val="solid"/>
                    </a:lnB>
                    <a:solidFill>
                      <a:srgbClr val="4674CD"/>
                    </a:solidFill>
                  </a:tcPr>
                </a:tc>
              </a:tr>
              <a:tr h="5429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Bao</a:t>
                      </a: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</a:t>
                      </a:r>
                      <a:r>
                        <a:rPr sz="1613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[3]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5725" marR="66675" marT="38100" marB="38100" anchor="ctr">
                    <a:lnL w="6668">
                      <a:solidFill>
                        <a:srgbClr val="CDD7E8"/>
                      </a:solidFill>
                      <a:prstDash val="solid"/>
                    </a:lnL>
                    <a:lnR w="6668">
                      <a:solidFill>
                        <a:srgbClr val="CDD7E8"/>
                      </a:solidFill>
                      <a:prstDash val="solid"/>
                    </a:lnR>
                    <a:lnB w="6668">
                      <a:solidFill>
                        <a:srgbClr val="CDD7E8"/>
                      </a:solidFill>
                      <a:prstDash val="solid"/>
                    </a:lnB>
                    <a:solidFill>
                      <a:srgbClr val="E7ECF6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工序分站、资源配置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与作业时间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5725" marR="66675" marT="38100" marB="38100" anchor="ctr">
                    <a:lnR w="6668">
                      <a:solidFill>
                        <a:srgbClr val="CDD7E8"/>
                      </a:solidFill>
                      <a:prstDash val="solid"/>
                    </a:lnR>
                    <a:lnB w="6668">
                      <a:solidFill>
                        <a:srgbClr val="CDD7E8"/>
                      </a:solidFill>
                      <a:prstDash val="solid"/>
                    </a:lnB>
                    <a:solidFill>
                      <a:srgbClr val="E7ECF6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人员按资源数量表示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评价周期、负荷与投入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5725" marR="66675" marT="38100" marB="38100" anchor="ctr">
                    <a:lnR w="6668">
                      <a:solidFill>
                        <a:srgbClr val="CDD7E8"/>
                      </a:solidFill>
                      <a:prstDash val="solid"/>
                    </a:lnR>
                    <a:lnB w="6668">
                      <a:solidFill>
                        <a:srgbClr val="CDD7E8"/>
                      </a:solidFill>
                      <a:prstDash val="solid"/>
                    </a:lnB>
                    <a:solidFill>
                      <a:srgbClr val="E7ECF6"/>
                    </a:solidFill>
                  </a:tcPr>
                </a:tc>
              </a:tr>
              <a:tr h="5429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Fang</a:t>
                      </a: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</a:t>
                      </a:r>
                      <a:r>
                        <a:rPr sz="1613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[9]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5725" marR="66675" marT="38100" marB="38100" anchor="ctr">
                    <a:lnL w="6668">
                      <a:solidFill>
                        <a:srgbClr val="CDD7E8"/>
                      </a:solidFill>
                      <a:prstDash val="solid"/>
                    </a:lnL>
                    <a:lnR w="6668">
                      <a:solidFill>
                        <a:srgbClr val="CDD7E8"/>
                      </a:solidFill>
                      <a:prstDash val="solid"/>
                    </a:lnR>
                    <a:lnB w="6668">
                      <a:solidFill>
                        <a:srgbClr val="CDD7E8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分阶段人员配置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与作业安排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5725" marR="66675" marT="38100" marB="38100" anchor="ctr">
                    <a:lnR w="6668">
                      <a:solidFill>
                        <a:srgbClr val="CDD7E8"/>
                      </a:solidFill>
                      <a:prstDash val="solid"/>
                    </a:lnR>
                    <a:lnB w="6668">
                      <a:solidFill>
                        <a:srgbClr val="CDD7E8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工序站位已知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阶段间可调整人员站位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5725" marR="66675" marT="38100" marB="38100" anchor="ctr">
                    <a:lnR w="6668">
                      <a:solidFill>
                        <a:srgbClr val="CDD7E8"/>
                      </a:solidFill>
                      <a:prstDash val="solid"/>
                    </a:lnR>
                    <a:lnB w="6668">
                      <a:solidFill>
                        <a:srgbClr val="CDD7E8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</a:tr>
              <a:tr h="5429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Zheng</a:t>
                      </a: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</a:t>
                      </a:r>
                      <a:r>
                        <a:rPr sz="1613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[10]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5725" marR="66675" marT="38100" marB="38100" anchor="ctr">
                    <a:lnL w="6668">
                      <a:solidFill>
                        <a:srgbClr val="CDD7E8"/>
                      </a:solidFill>
                      <a:prstDash val="solid"/>
                    </a:lnL>
                    <a:lnR w="6668">
                      <a:solidFill>
                        <a:srgbClr val="CDD7E8"/>
                      </a:solidFill>
                      <a:prstDash val="solid"/>
                    </a:lnR>
                    <a:lnB w="6668">
                      <a:solidFill>
                        <a:srgbClr val="CDD7E8"/>
                      </a:solidFill>
                      <a:prstDash val="solid"/>
                    </a:lnB>
                    <a:solidFill>
                      <a:srgbClr val="E7ECF6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各站人数与工序安排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5725" marR="66675" marT="38100" marB="38100" anchor="ctr">
                    <a:lnR w="6668">
                      <a:solidFill>
                        <a:srgbClr val="CDD7E8"/>
                      </a:solidFill>
                      <a:prstDash val="solid"/>
                    </a:lnR>
                    <a:lnB w="6668">
                      <a:solidFill>
                        <a:srgbClr val="CDD7E8"/>
                      </a:solidFill>
                      <a:prstDash val="solid"/>
                    </a:lnB>
                    <a:solidFill>
                      <a:srgbClr val="E7ECF6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工序站位给定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周期内人员驻站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5725" marR="66675" marT="38100" marB="38100" anchor="ctr">
                    <a:lnR w="6668">
                      <a:solidFill>
                        <a:srgbClr val="CDD7E8"/>
                      </a:solidFill>
                      <a:prstDash val="solid"/>
                    </a:lnR>
                    <a:lnB w="6668">
                      <a:solidFill>
                        <a:srgbClr val="CDD7E8"/>
                      </a:solidFill>
                      <a:prstDash val="solid"/>
                    </a:lnB>
                    <a:solidFill>
                      <a:srgbClr val="E7EC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B11AA1-DBC5-4C09-B07A-C23BE77A4D93}"/>
              </a:ext>
            </a:extLst>
          </p:cNvPr>
          <p:cNvGraphicFramePr/>
          <p:nvPr/>
        </p:nvGraphicFramePr>
        <p:xfrm>
          <a:off xmlns:a="http://schemas.openxmlformats.org/drawingml/2006/main" x="3219450" y="3819525"/>
          <a:ext xmlns:a="http://schemas.openxmlformats.org/drawingml/2006/main" cx="8401050" cy="1085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38300"/>
                <a:gridCol w="2895600"/>
                <a:gridCol w="3867150"/>
              </a:tblGrid>
              <a:tr h="5429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Zhu</a:t>
                      </a: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</a:t>
                      </a:r>
                      <a:r>
                        <a:rPr sz="1613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[15]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5725" marR="66675" marT="38100" marB="38100" anchor="ctr">
                    <a:lnL w="6668">
                      <a:solidFill>
                        <a:srgbClr val="CDD7E8"/>
                      </a:solidFill>
                      <a:prstDash val="solid"/>
                    </a:lnL>
                    <a:lnR w="6668">
                      <a:solidFill>
                        <a:srgbClr val="CDD7E8"/>
                      </a:solidFill>
                      <a:prstDash val="solid"/>
                    </a:lnR>
                    <a:lnT w="6668">
                      <a:solidFill>
                        <a:srgbClr val="CDD7E8"/>
                      </a:solidFill>
                      <a:prstDash val="solid"/>
                    </a:lnT>
                    <a:lnB w="6668">
                      <a:solidFill>
                        <a:srgbClr val="CDD7E8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未开工作业的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开工时间调整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5725" marR="66675" marT="38100" marB="38100" anchor="ctr">
                    <a:lnR w="6668">
                      <a:solidFill>
                        <a:srgbClr val="CDD7E8"/>
                      </a:solidFill>
                      <a:prstDash val="solid"/>
                    </a:lnR>
                    <a:lnT w="6668">
                      <a:solidFill>
                        <a:srgbClr val="CDD7E8"/>
                      </a:solidFill>
                      <a:prstDash val="solid"/>
                    </a:lnT>
                    <a:lnB w="6668">
                      <a:solidFill>
                        <a:srgbClr val="CDD7E8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判断提前、推迟或保持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再调整作业时间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5725" marR="66675" marT="38100" marB="38100" anchor="ctr">
                    <a:lnR w="6668">
                      <a:solidFill>
                        <a:srgbClr val="CDD7E8"/>
                      </a:solidFill>
                      <a:prstDash val="solid"/>
                    </a:lnR>
                    <a:lnT w="6668">
                      <a:solidFill>
                        <a:srgbClr val="CDD7E8"/>
                      </a:solidFill>
                      <a:prstDash val="solid"/>
                    </a:lnT>
                    <a:lnB w="6668">
                      <a:solidFill>
                        <a:srgbClr val="CDD7E8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</a:tr>
              <a:tr h="5429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Lovato</a:t>
                      </a: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</a:t>
                      </a:r>
                      <a:r>
                        <a:rPr sz="1613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[5]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5725" marR="66675" marT="38100" marB="38100" anchor="ctr">
                    <a:lnL w="6668">
                      <a:solidFill>
                        <a:srgbClr val="CDD7E8"/>
                      </a:solidFill>
                      <a:prstDash val="solid"/>
                    </a:lnL>
                    <a:lnR w="6668">
                      <a:solidFill>
                        <a:srgbClr val="CDD7E8"/>
                      </a:solidFill>
                      <a:prstDash val="solid"/>
                    </a:lnR>
                    <a:lnB w="6668">
                      <a:solidFill>
                        <a:srgbClr val="CDD7E8"/>
                      </a:solidFill>
                      <a:prstDash val="solid"/>
                    </a:lnB>
                    <a:solidFill>
                      <a:srgbClr val="E7ECF6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受扰后的作业时间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与人员指派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5725" marR="66675" marT="38100" marB="38100" anchor="ctr">
                    <a:lnR w="6668">
                      <a:solidFill>
                        <a:srgbClr val="CDD7E8"/>
                      </a:solidFill>
                      <a:prstDash val="solid"/>
                    </a:lnR>
                    <a:lnB w="6668">
                      <a:solidFill>
                        <a:srgbClr val="CDD7E8"/>
                      </a:solidFill>
                      <a:prstDash val="solid"/>
                    </a:lnB>
                    <a:solidFill>
                      <a:srgbClr val="E7ECF6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保留已开工安排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评价计划稳定性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5725" marR="66675" marT="38100" marB="38100" anchor="ctr">
                    <a:lnR w="6668">
                      <a:solidFill>
                        <a:srgbClr val="CDD7E8"/>
                      </a:solidFill>
                      <a:prstDash val="solid"/>
                    </a:lnR>
                    <a:lnB w="6668">
                      <a:solidFill>
                        <a:srgbClr val="CDD7E8"/>
                      </a:solidFill>
                      <a:prstDash val="solid"/>
                    </a:lnB>
                    <a:solidFill>
                      <a:srgbClr val="E7EC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E6A267-7F83-4446-9BC9-F10CA811C685}"/>
              </a:ext>
            </a:extLst>
          </p:cNvPr>
          <p:cNvGraphicFramePr/>
          <p:nvPr/>
        </p:nvGraphicFramePr>
        <p:xfrm>
          <a:off xmlns:a="http://schemas.openxmlformats.org/drawingml/2006/main" x="3219450" y="5105400"/>
          <a:ext xmlns:a="http://schemas.openxmlformats.org/drawingml/2006/main" cx="8401050" cy="542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38300"/>
                <a:gridCol w="2895600"/>
                <a:gridCol w="3867150"/>
              </a:tblGrid>
              <a:tr h="5429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Pucel</a:t>
                      </a: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Roussel[11]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5725" marR="66675" marT="38100" marB="38100" anchor="ctr">
                    <a:lnL w="6668">
                      <a:solidFill>
                        <a:srgbClr val="CDD7E8"/>
                      </a:solidFill>
                      <a:prstDash val="solid"/>
                    </a:lnL>
                    <a:lnR w="6668">
                      <a:solidFill>
                        <a:srgbClr val="CDD7E8"/>
                      </a:solidFill>
                      <a:prstDash val="solid"/>
                    </a:lnR>
                    <a:lnT w="6668">
                      <a:solidFill>
                        <a:srgbClr val="CDD7E8"/>
                      </a:solidFill>
                      <a:prstDash val="solid"/>
                    </a:lnT>
                    <a:lnB w="6668">
                      <a:solidFill>
                        <a:srgbClr val="CDD7E8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工序分站、作业时间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与人员占用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5725" marR="66675" marT="38100" marB="38100" anchor="ctr">
                    <a:lnR w="6668">
                      <a:solidFill>
                        <a:srgbClr val="CDD7E8"/>
                      </a:solidFill>
                      <a:prstDash val="solid"/>
                    </a:lnR>
                    <a:lnT w="6668">
                      <a:solidFill>
                        <a:srgbClr val="CDD7E8"/>
                      </a:solidFill>
                      <a:prstDash val="solid"/>
                    </a:lnT>
                    <a:lnB w="6668">
                      <a:solidFill>
                        <a:srgbClr val="CDD7E8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相邻周期实例、跨站人员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13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及并行站位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5725" marR="66675" marT="38100" marB="38100" anchor="ctr">
                    <a:lnR w="6668">
                      <a:solidFill>
                        <a:srgbClr val="CDD7E8"/>
                      </a:solidFill>
                      <a:prstDash val="solid"/>
                    </a:lnR>
                    <a:lnT w="6668">
                      <a:solidFill>
                        <a:srgbClr val="CDD7E8"/>
                      </a:solidFill>
                      <a:prstDash val="solid"/>
                    </a:lnT>
                    <a:lnB w="6668">
                      <a:solidFill>
                        <a:srgbClr val="CDD7E8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cxnSp>
        <p:nvCxnSpPr>
          <p:cNvPr id="27" name="summary-rule">
            <a:extLst xmlns:a="http://schemas.openxmlformats.org/drawingml/2006/main">
              <a:ext uri="{FF2B5EF4-FFF2-40B4-BE49-F238E27FC236}">
                <a16:creationId xmlns:a16="http://schemas.microsoft.com/office/drawing/2014/main" id="{A8905938-FE4B-457F-944F-822A51FC2B5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1500" y="58293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CDD7E8"/>
            </a:solidFill>
            <a:prstDash val="solid"/>
          </a:ln>
        </p:spPr>
      </p:cxnSp>
      <p:sp>
        <p:nvSpPr>
          <p:cNvPr id="28" name="summary">
            <a:extLst xmlns:a="http://schemas.openxmlformats.org/drawingml/2006/main">
              <a:ext uri="{FF2B5EF4-FFF2-40B4-BE49-F238E27FC236}">
                <a16:creationId xmlns:a16="http://schemas.microsoft.com/office/drawing/2014/main" id="{A88CC75E-CBC9-42F0-8497-869070CF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defRPr sz="1583" b="0">
                <a:solidFill>
                  <a:srgbClr val="111111"/>
                </a:solidFill>
              </a:defRPr>
            </a:pPr>
            <a:r>
              <a:rPr sz="158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已有研究覆盖工序分站、人员安排、扰动调整与周期生产，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defRPr sz="1583" b="0">
                <a:solidFill>
                  <a:srgbClr val="111111"/>
                </a:solidFill>
              </a:defRPr>
            </a:pPr>
            <a:r>
              <a:rPr sz="158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不同模型的决策范围与生产条件各有侧重。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concept-source">
            <a:extLst xmlns:a="http://schemas.openxmlformats.org/drawingml/2006/main">
              <a:ext uri="{FF2B5EF4-FFF2-40B4-BE49-F238E27FC236}">
                <a16:creationId xmlns:a16="http://schemas.microsoft.com/office/drawing/2014/main" id="{A46A2297-F1BF-4EFA-A202-9F69CB49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341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E747A"/>
                </a:solidFill>
              </a:defRPr>
            </a:pPr>
            <a:r>
              <a:rPr sz="1200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生产组织依据：方水良等</a:t>
            </a:r>
            <a:r>
              <a:rPr sz="1200" b="0">
                <a:solidFill>
                  <a:srgbClr val="6E747A"/>
                </a:solidFill>
                <a:latin typeface="Times New Roman"/>
                <a:ea typeface="Times New Roman"/>
                <a:cs typeface="Times New Roman"/>
              </a:rPr>
              <a:t>[1]</a:t>
            </a:r>
            <a:r>
              <a:rPr sz="1200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043534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645CC8-B072-4193-A23A-504F29920290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7258050" y="470535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674CD"/>
            </a:solidFill>
            <a:prstDash val="solid"/>
            <a:tailEnd type="triangle" w="sm" len="sm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C7BEBAC-7C25-43D2-849C-89C3121C4DBD}"/>
              </a:ext>
            </a:extLst>
          </p:cNvPr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5267325" y="470535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674CD"/>
            </a:solidFill>
            <a:prstDash val="solid"/>
            <a:tailEnd type="triangle" w="sm" len="sm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B4C53F-27F6-46C6-BAAB-0218F1635A28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7258050" y="381952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674CD"/>
            </a:solidFill>
            <a:prstDash val="solid"/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50FA50-2733-427E-8703-B4DAEF6CD32E}"/>
              </a:ext>
            </a:extLst>
          </p:cNvPr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267325" y="381952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674CD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CB62B5-0726-4604-9C42-106E523ED480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258050" y="293370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674CD"/>
            </a:solidFill>
            <a:prstDash val="solid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0CC04B-7939-4D67-8F0D-00440CFE47C6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5267325" y="293370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674CD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927087-02B0-47B5-B4FE-EC666613AC43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258050" y="204787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674CD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FD8C2F-86E3-4BDC-A089-42E9D5E09D5D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267325" y="204787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674CD"/>
            </a:solidFill>
            <a:prstDash val="solid"/>
            <a:tailEnd type="triangle" w="sm" len="sm"/>
          </a:ln>
        </p:spPr>
      </p:cxnSp>
      <p:sp>
        <p:nvSpPr>
          <p:cNvPr id="6" name="模板页眉横线">
            <a:extLst xmlns:a="http://schemas.openxmlformats.org/drawingml/2006/main">
              <a:ext uri="{FF2B5EF4-FFF2-40B4-BE49-F238E27FC236}">
                <a16:creationId xmlns:a16="http://schemas.microsoft.com/office/drawing/2014/main" id="{C4000073-E50E-0B72-94C0-033F230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054"/>
            <a:ext cx="12192000" cy="45719"/>
          </a:xfrm>
          <a:custGeom xmlns:a="http://schemas.openxmlformats.org/drawingml/2006/main">
            <a:gdLst>
              <a:gd name="T0" fmla="*/ 0 w 21600"/>
              <a:gd name="T1" fmla="*/ 0 h 21600"/>
              <a:gd name="T2" fmla="*/ 489365807 w 21600"/>
              <a:gd name="T3" fmla="*/ 0 h 21600"/>
              <a:gd name="T4" fmla="*/ 489365807 w 21600"/>
              <a:gd name="T5" fmla="*/ 28356134 h 21600"/>
              <a:gd name="T6" fmla="*/ 0 w 21600"/>
              <a:gd name="T7" fmla="*/ 28356134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3175" cap="flat" cmpd="sng">
            <a:solidFill>
              <a:srgbClr val="002060">
                <a:alpha val="0"/>
              </a:srgbClr>
            </a:solidFill>
            <a:round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solidFill>
                <a:srgbClr val="4874CB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" name="同济校标">
            <a:extLst xmlns:a="http://schemas.openxmlformats.org/drawingml/2006/main">
              <a:ext uri="{FF2B5EF4-FFF2-40B4-BE49-F238E27FC236}">
                <a16:creationId xmlns:a16="http://schemas.microsoft.com/office/drawing/2014/main" id="{CBBE36E7-4FF2-4070-9F3F-E0233A1C56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424a11537740bf"/>
          <a:srcRect xmlns:a="http://schemas.openxmlformats.org/drawingml/2006/main" l="0" t="0" r="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1625" y="20910"/>
            <a:ext cx="1809525" cy="526143"/>
          </a:xfrm>
          <a:prstGeom xmlns:a="http://schemas.openxmlformats.org/drawingml/2006/main" prst="rect">
            <a:avLst/>
          </a:prstGeom>
        </p:spPr>
      </p:pic>
      <p:sp>
        <p:nvSpPr>
          <p:cNvPr id="8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CA1E91B-B668-B211-4835-07E77318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"/>
            <a:ext cx="113061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200" b="1">
                <a:solidFill>
                  <a:srgbClr val="4674CD"/>
                </a:solidFill>
              </a:defRPr>
            </a:defPPr>
            <a:lvl1pPr>
              <a:buNone/>
              <a:defRPr sz="3200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4000"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4000"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4000"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4000">
                <a:latin typeface="Microsoft YaHei"/>
                <a:ea typeface="Microsoft YaHei"/>
                <a:cs typeface="Microsoft YaHei"/>
              </a:defRPr>
            </a:lvl5pPr>
            <a:lvl6pPr marL="4572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6pPr>
            <a:lvl7pPr marL="9144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7pPr>
            <a:lvl8pPr marL="13716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8pPr>
            <a:lvl9pPr marL="18288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4674CD"/>
                </a:solidFill>
              </a:defRPr>
            </a:pPr>
            <a:r>
              <a:rPr sz="3200" b="1">
                <a:solidFill>
                  <a:srgbClr val="4674CD"/>
                </a:solidFill>
                <a:latin typeface="Times New Roman"/>
                <a:ea typeface="Times New Roman"/>
                <a:cs typeface="Times New Roman"/>
              </a:rPr>
              <a:t>2 </a:t>
            </a:r>
            <a:r>
              <a:rPr sz="3200" b="1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rPr>
              <a:t>文献综述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页面主题">
            <a:extLst xmlns:a="http://schemas.openxmlformats.org/drawingml/2006/main">
              <a:ext uri="{FF2B5EF4-FFF2-40B4-BE49-F238E27FC236}">
                <a16:creationId xmlns:a16="http://schemas.microsoft.com/office/drawing/2014/main" id="{A8BFA7F8-B8F6-40F9-8B69-7C7B3793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5247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装配调度的求解方法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revision-text-1005">
            <a:extLst xmlns:a="http://schemas.openxmlformats.org/drawingml/2006/main">
              <a:ext uri="{FF2B5EF4-FFF2-40B4-BE49-F238E27FC236}">
                <a16:creationId xmlns:a16="http://schemas.microsoft.com/office/drawing/2014/main" id="{CD0330C8-8920-4B6D-B042-F71F342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06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overview">
            <a:extLst xmlns:a="http://schemas.openxmlformats.org/drawingml/2006/main">
              <a:ext uri="{FF2B5EF4-FFF2-40B4-BE49-F238E27FC236}">
                <a16:creationId xmlns:a16="http://schemas.microsoft.com/office/drawing/2014/main" id="{5925D8FA-AF95-4539-90C1-19DF269A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13" b="0">
                <a:solidFill>
                  <a:srgbClr val="6E747A"/>
                </a:solidFill>
              </a:defRPr>
            </a:pPr>
            <a:r>
              <a:rPr sz="1613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比较不同方法形成或修复排程的方式及适用条件。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family-heading">
            <a:extLst xmlns:a="http://schemas.openxmlformats.org/drawingml/2006/main">
              <a:ext uri="{FF2B5EF4-FFF2-40B4-BE49-F238E27FC236}">
                <a16:creationId xmlns:a16="http://schemas.microsoft.com/office/drawing/2014/main" id="{BEDD514D-3EA3-4489-BFA4-4DC642C2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5144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13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13" b="1">
                <a:solidFill>
                  <a:srgbClr val="315CA9"/>
                </a:solidFill>
              </a:defRPr>
            </a:pPr>
            <a:r>
              <a:rPr sz="1613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方法类别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process-heading">
            <a:extLst xmlns:a="http://schemas.openxmlformats.org/drawingml/2006/main">
              <a:ext uri="{FF2B5EF4-FFF2-40B4-BE49-F238E27FC236}">
                <a16:creationId xmlns:a16="http://schemas.microsoft.com/office/drawing/2014/main" id="{BD9F328C-38BF-4968-9E39-C0DD1D99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144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13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13" b="1">
                <a:solidFill>
                  <a:srgbClr val="315CA9"/>
                </a:solidFill>
              </a:defRPr>
            </a:pPr>
            <a:r>
              <a:rPr sz="1613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排程形成或动作选择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conditions-heading">
            <a:extLst xmlns:a="http://schemas.openxmlformats.org/drawingml/2006/main">
              <a:ext uri="{FF2B5EF4-FFF2-40B4-BE49-F238E27FC236}">
                <a16:creationId xmlns:a16="http://schemas.microsoft.com/office/drawing/2014/main" id="{6D763C90-8F50-4AC2-B594-7A8917D5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144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13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13" b="1">
                <a:solidFill>
                  <a:srgbClr val="315CA9"/>
                </a:solidFill>
              </a:defRPr>
            </a:pPr>
            <a:r>
              <a:rPr sz="1613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比较重点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solver-root">
            <a:extLst xmlns:a="http://schemas.openxmlformats.org/drawingml/2006/main">
              <a:ext uri="{FF2B5EF4-FFF2-40B4-BE49-F238E27FC236}">
                <a16:creationId xmlns:a16="http://schemas.microsoft.com/office/drawing/2014/main" id="{2BEAD36A-DEBC-4B27-9958-1995E642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76575"/>
            <a:ext cx="628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75E"/>
                </a:solidFill>
              </a:defRPr>
            </a:pPr>
            <a:r>
              <a:rPr sz="1800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求解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75E"/>
                </a:solidFill>
              </a:defRPr>
            </a:pPr>
            <a:r>
              <a:rPr sz="1800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方式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6" name="solver-trunk">
            <a:extLst xmlns:a="http://schemas.openxmlformats.org/drawingml/2006/main">
              <a:ext uri="{FF2B5EF4-FFF2-40B4-BE49-F238E27FC236}">
                <a16:creationId xmlns:a16="http://schemas.microsoft.com/office/drawing/2014/main" id="{1DB69229-0078-47F1-A75B-98822233131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81100" y="2047875"/>
            <a:ext cx="0" cy="2657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74CD"/>
            </a:solidFill>
            <a:prstDash val="solid"/>
          </a:ln>
        </p:spPr>
      </p:cxnSp>
      <p:cxnSp>
        <p:nvCxnSpPr>
          <p:cNvPr id="17" name="solver-root-link">
            <a:extLst xmlns:a="http://schemas.openxmlformats.org/drawingml/2006/main">
              <a:ext uri="{FF2B5EF4-FFF2-40B4-BE49-F238E27FC236}">
                <a16:creationId xmlns:a16="http://schemas.microsoft.com/office/drawing/2014/main" id="{7EF02333-2DBE-4050-9139-F425506522E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04900" y="3419475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74CD"/>
            </a:solidFill>
            <a:prstDash val="solid"/>
          </a:ln>
        </p:spPr>
      </p:cxnSp>
      <p:cxnSp>
        <p:nvCxnSpPr>
          <p:cNvPr id="18" name="rule-branch">
            <a:extLst xmlns:a="http://schemas.openxmlformats.org/drawingml/2006/main">
              <a:ext uri="{FF2B5EF4-FFF2-40B4-BE49-F238E27FC236}">
                <a16:creationId xmlns:a16="http://schemas.microsoft.com/office/drawing/2014/main" id="{A5A26AD3-F4A1-4130-B186-3C4721B12BD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81100" y="20478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74CD"/>
            </a:solidFill>
            <a:prstDash val="solid"/>
          </a:ln>
        </p:spPr>
      </p:cxnSp>
      <p:sp>
        <p:nvSpPr>
          <p:cNvPr id="19" name="rule-label">
            <a:extLst xmlns:a="http://schemas.openxmlformats.org/drawingml/2006/main">
              <a:ext uri="{FF2B5EF4-FFF2-40B4-BE49-F238E27FC236}">
                <a16:creationId xmlns:a16="http://schemas.microsoft.com/office/drawing/2014/main" id="{1E10CC3D-864E-4267-AC02-1D5CB148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762125"/>
            <a:ext cx="1943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315CA9"/>
                </a:solidFill>
              </a:defRPr>
            </a:pPr>
            <a:r>
              <a:rPr sz="1725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规则与启发式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rule-references">
            <a:extLst xmlns:a="http://schemas.openxmlformats.org/drawingml/2006/main">
              <a:ext uri="{FF2B5EF4-FFF2-40B4-BE49-F238E27FC236}">
                <a16:creationId xmlns:a16="http://schemas.microsoft.com/office/drawing/2014/main" id="{1A386849-0920-4632-A65A-B95667E1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38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38" b="0">
                <a:solidFill>
                  <a:srgbClr val="6E747A"/>
                </a:solidFill>
              </a:defRPr>
            </a:pPr>
            <a:r>
              <a:rPr sz="1238" b="0">
                <a:solidFill>
                  <a:srgbClr val="6E747A"/>
                </a:solidFill>
                <a:latin typeface="Times New Roman"/>
                <a:ea typeface="Times New Roman"/>
                <a:cs typeface="Times New Roman"/>
              </a:rPr>
              <a:t>Panwalkar</a:t>
            </a:r>
            <a:r>
              <a:rPr sz="1238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>
                <a:solidFill>
                  <a:srgbClr val="6E747A"/>
                </a:solidFill>
                <a:latin typeface="Times New Roman"/>
                <a:ea typeface="Times New Roman"/>
                <a:cs typeface="Times New Roman"/>
              </a:rPr>
              <a:t>Bao [17,3]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rule-step-0">
            <a:extLst xmlns:a="http://schemas.openxmlformats.org/drawingml/2006/main">
              <a:ext uri="{FF2B5EF4-FFF2-40B4-BE49-F238E27FC236}">
                <a16:creationId xmlns:a16="http://schemas.microsoft.com/office/drawing/2014/main" id="{D6A2A1CC-31B4-4389-B337-612F8987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81175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3335">
            <a:solidFill>
              <a:srgbClr val="4674C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7375E"/>
                </a:solidFill>
              </a:defRPr>
            </a:pPr>
            <a:r>
              <a:rPr sz="16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任务与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7375E"/>
                </a:solidFill>
              </a:defRPr>
            </a:pPr>
            <a:r>
              <a:rPr sz="16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资源条件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rule-step-1">
            <a:extLst xmlns:a="http://schemas.openxmlformats.org/drawingml/2006/main">
              <a:ext uri="{FF2B5EF4-FFF2-40B4-BE49-F238E27FC236}">
                <a16:creationId xmlns:a16="http://schemas.microsoft.com/office/drawing/2014/main" id="{A7EA1FB3-485A-457F-B709-D8641EDE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81175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3335">
            <a:solidFill>
              <a:srgbClr val="4674C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7375E"/>
                </a:solidFill>
              </a:defRPr>
            </a:pPr>
            <a:r>
              <a:rPr sz="16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优先级或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7375E"/>
                </a:solidFill>
              </a:defRPr>
            </a:pPr>
            <a:r>
              <a:rPr sz="16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构造规则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rule-step-2">
            <a:extLst xmlns:a="http://schemas.openxmlformats.org/drawingml/2006/main">
              <a:ext uri="{FF2B5EF4-FFF2-40B4-BE49-F238E27FC236}">
                <a16:creationId xmlns:a16="http://schemas.microsoft.com/office/drawing/2014/main" id="{5B97F22E-8E95-45DF-AB89-EC64EEA9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781175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3335">
            <a:solidFill>
              <a:srgbClr val="4674C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7375E"/>
                </a:solidFill>
              </a:defRPr>
            </a:pPr>
            <a:r>
              <a:rPr sz="16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作业安排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rule-conditions">
            <a:extLst xmlns:a="http://schemas.openxmlformats.org/drawingml/2006/main">
              <a:ext uri="{FF2B5EF4-FFF2-40B4-BE49-F238E27FC236}">
                <a16:creationId xmlns:a16="http://schemas.microsoft.com/office/drawing/2014/main" id="{B80ACC80-53B2-4E58-8790-9DD1308C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022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6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11111"/>
                </a:solidFill>
              </a:defRPr>
            </a:pPr>
            <a:r>
              <a:rPr sz="146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规则所需信息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11111"/>
                </a:solidFill>
              </a:defRPr>
            </a:pPr>
            <a:r>
              <a:rPr sz="146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约束适配与决策耗时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7" name="math-branch">
            <a:extLst xmlns:a="http://schemas.openxmlformats.org/drawingml/2006/main">
              <a:ext uri="{FF2B5EF4-FFF2-40B4-BE49-F238E27FC236}">
                <a16:creationId xmlns:a16="http://schemas.microsoft.com/office/drawing/2014/main" id="{F8D011A8-1F2F-450B-9816-C5AC87BF04C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81100" y="29337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74CD"/>
            </a:solidFill>
            <a:prstDash val="solid"/>
          </a:ln>
        </p:spPr>
      </p:cxnSp>
      <p:sp>
        <p:nvSpPr>
          <p:cNvPr id="28" name="math-label">
            <a:extLst xmlns:a="http://schemas.openxmlformats.org/drawingml/2006/main">
              <a:ext uri="{FF2B5EF4-FFF2-40B4-BE49-F238E27FC236}">
                <a16:creationId xmlns:a16="http://schemas.microsoft.com/office/drawing/2014/main" id="{26A03A2E-8E60-4500-B191-0B903138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647950"/>
            <a:ext cx="1943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315CA9"/>
                </a:solidFill>
              </a:defRPr>
            </a:pPr>
            <a:r>
              <a:rPr sz="1725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数学优化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315CA9"/>
                </a:solidFill>
              </a:defRPr>
            </a:pPr>
            <a:r>
              <a:rPr sz="1725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与约束规划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math-references">
            <a:extLst xmlns:a="http://schemas.openxmlformats.org/drawingml/2006/main">
              <a:ext uri="{FF2B5EF4-FFF2-40B4-BE49-F238E27FC236}">
                <a16:creationId xmlns:a16="http://schemas.microsoft.com/office/drawing/2014/main" id="{FFD11319-FCED-432B-B783-E1ED5D2B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28975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38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38" b="0">
                <a:solidFill>
                  <a:srgbClr val="6E747A"/>
                </a:solidFill>
              </a:defRPr>
            </a:pPr>
            <a:r>
              <a:rPr sz="1238" b="0">
                <a:solidFill>
                  <a:srgbClr val="6E747A"/>
                </a:solidFill>
                <a:latin typeface="Times New Roman"/>
                <a:ea typeface="Times New Roman"/>
                <a:cs typeface="Times New Roman"/>
              </a:rPr>
              <a:t>Bao</a:t>
            </a:r>
            <a:r>
              <a:rPr sz="1238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>
                <a:solidFill>
                  <a:srgbClr val="6E747A"/>
                </a:solidFill>
                <a:latin typeface="Times New Roman"/>
                <a:ea typeface="Times New Roman"/>
                <a:cs typeface="Times New Roman"/>
              </a:rPr>
              <a:t>Pucel</a:t>
            </a:r>
            <a:r>
              <a:rPr sz="1238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>
                <a:solidFill>
                  <a:srgbClr val="6E747A"/>
                </a:solidFill>
                <a:latin typeface="Times New Roman"/>
                <a:ea typeface="Times New Roman"/>
                <a:cs typeface="Times New Roman"/>
              </a:rPr>
              <a:t>Lovato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38" b="0">
                <a:solidFill>
                  <a:srgbClr val="6E747A"/>
                </a:solidFill>
              </a:defRPr>
            </a:pPr>
            <a:r>
              <a:rPr sz="1238" b="0">
                <a:solidFill>
                  <a:srgbClr val="6E747A"/>
                </a:solidFill>
                <a:latin typeface="Times New Roman"/>
                <a:ea typeface="Times New Roman"/>
                <a:cs typeface="Times New Roman"/>
              </a:rPr>
              <a:t>[3,11,5]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math-step-0">
            <a:extLst xmlns:a="http://schemas.openxmlformats.org/drawingml/2006/main">
              <a:ext uri="{FF2B5EF4-FFF2-40B4-BE49-F238E27FC236}">
                <a16:creationId xmlns:a16="http://schemas.microsoft.com/office/drawing/2014/main" id="{CEC7AD32-D00A-47FF-B019-AB943A1A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67000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3335">
            <a:solidFill>
              <a:srgbClr val="4674C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7375E"/>
                </a:solidFill>
              </a:defRPr>
            </a:pPr>
            <a:r>
              <a:rPr sz="16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决策变量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7375E"/>
                </a:solidFill>
              </a:defRPr>
            </a:pPr>
            <a:r>
              <a:rPr sz="16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与约束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math-step-1">
            <a:extLst xmlns:a="http://schemas.openxmlformats.org/drawingml/2006/main">
              <a:ext uri="{FF2B5EF4-FFF2-40B4-BE49-F238E27FC236}">
                <a16:creationId xmlns:a16="http://schemas.microsoft.com/office/drawing/2014/main" id="{2A8CC4DA-6499-4506-868A-916B7A25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67000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3335">
            <a:solidFill>
              <a:srgbClr val="4674C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7375E"/>
                </a:solidFill>
              </a:defRPr>
            </a:pPr>
            <a:r>
              <a:rPr sz="16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建模与求解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math-step-2">
            <a:extLst xmlns:a="http://schemas.openxmlformats.org/drawingml/2006/main">
              <a:ext uri="{FF2B5EF4-FFF2-40B4-BE49-F238E27FC236}">
                <a16:creationId xmlns:a16="http://schemas.microsoft.com/office/drawing/2014/main" id="{ACECE0E7-7530-42E2-993E-4EAAA9B5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67000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3335">
            <a:solidFill>
              <a:srgbClr val="4674C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7375E"/>
                </a:solidFill>
              </a:defRPr>
            </a:pPr>
            <a:r>
              <a:rPr sz="16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初始或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7375E"/>
                </a:solidFill>
              </a:defRPr>
            </a:pPr>
            <a:r>
              <a:rPr sz="16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修复排程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math-conditions">
            <a:extLst xmlns:a="http://schemas.openxmlformats.org/drawingml/2006/main">
              <a:ext uri="{FF2B5EF4-FFF2-40B4-BE49-F238E27FC236}">
                <a16:creationId xmlns:a16="http://schemas.microsoft.com/office/drawing/2014/main" id="{1E74B02E-0E55-488A-AC76-D8E92494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860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6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11111"/>
                </a:solidFill>
              </a:defRPr>
            </a:pPr>
            <a:r>
              <a:rPr sz="146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约束表达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11111"/>
                </a:solidFill>
              </a:defRPr>
            </a:pPr>
            <a:r>
              <a:rPr sz="146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方案质量与求解时间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6" name="meta-branch">
            <a:extLst xmlns:a="http://schemas.openxmlformats.org/drawingml/2006/main">
              <a:ext uri="{FF2B5EF4-FFF2-40B4-BE49-F238E27FC236}">
                <a16:creationId xmlns:a16="http://schemas.microsoft.com/office/drawing/2014/main" id="{BEFDA53F-BCC7-430D-8C9C-5BDA296CA18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81100" y="38195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74CD"/>
            </a:solidFill>
            <a:prstDash val="solid"/>
          </a:ln>
        </p:spPr>
      </p:cxnSp>
      <p:sp>
        <p:nvSpPr>
          <p:cNvPr id="37" name="meta-label">
            <a:extLst xmlns:a="http://schemas.openxmlformats.org/drawingml/2006/main">
              <a:ext uri="{FF2B5EF4-FFF2-40B4-BE49-F238E27FC236}">
                <a16:creationId xmlns:a16="http://schemas.microsoft.com/office/drawing/2014/main" id="{FC97246E-8D31-4324-9D5F-5D882E63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533775"/>
            <a:ext cx="1943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315CA9"/>
                </a:solidFill>
              </a:defRPr>
            </a:pPr>
            <a:r>
              <a:rPr sz="1725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元启发式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meta-references">
            <a:extLst xmlns:a="http://schemas.openxmlformats.org/drawingml/2006/main">
              <a:ext uri="{FF2B5EF4-FFF2-40B4-BE49-F238E27FC236}">
                <a16:creationId xmlns:a16="http://schemas.microsoft.com/office/drawing/2014/main" id="{8076B88F-1DD8-4F22-B6B2-EEDB7B35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38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38" b="0">
                <a:solidFill>
                  <a:srgbClr val="6E747A"/>
                </a:solidFill>
              </a:defRPr>
            </a:pPr>
            <a:r>
              <a:rPr sz="1238" b="0">
                <a:solidFill>
                  <a:srgbClr val="6E747A"/>
                </a:solidFill>
                <a:latin typeface="Times New Roman"/>
                <a:ea typeface="Times New Roman"/>
                <a:cs typeface="Times New Roman"/>
              </a:rPr>
              <a:t>Fang</a:t>
            </a:r>
            <a:r>
              <a:rPr sz="1238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>
                <a:solidFill>
                  <a:srgbClr val="6E747A"/>
                </a:solidFill>
                <a:latin typeface="Times New Roman"/>
                <a:ea typeface="Times New Roman"/>
                <a:cs typeface="Times New Roman"/>
              </a:rPr>
              <a:t>Zheng</a:t>
            </a:r>
            <a:r>
              <a:rPr sz="1238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>
                <a:solidFill>
                  <a:srgbClr val="6E747A"/>
                </a:solidFill>
                <a:latin typeface="Times New Roman"/>
                <a:ea typeface="Times New Roman"/>
                <a:cs typeface="Times New Roman"/>
              </a:rPr>
              <a:t>Wen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38" b="0">
                <a:solidFill>
                  <a:srgbClr val="6E747A"/>
                </a:solidFill>
              </a:defRPr>
            </a:pPr>
            <a:r>
              <a:rPr sz="1238" b="0">
                <a:solidFill>
                  <a:srgbClr val="6E747A"/>
                </a:solidFill>
                <a:latin typeface="Times New Roman"/>
                <a:ea typeface="Times New Roman"/>
                <a:cs typeface="Times New Roman"/>
              </a:rPr>
              <a:t>[9,10,18,19]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meta-step-0">
            <a:extLst xmlns:a="http://schemas.openxmlformats.org/drawingml/2006/main">
              <a:ext uri="{FF2B5EF4-FFF2-40B4-BE49-F238E27FC236}">
                <a16:creationId xmlns:a16="http://schemas.microsoft.com/office/drawing/2014/main" id="{637AA23D-AA8A-41C8-8BE7-BAB4DF2D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52825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3335">
            <a:solidFill>
              <a:srgbClr val="4674C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7375E"/>
                </a:solidFill>
              </a:defRPr>
            </a:pPr>
            <a:r>
              <a:rPr sz="16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候选方案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meta-step-1">
            <a:extLst xmlns:a="http://schemas.openxmlformats.org/drawingml/2006/main">
              <a:ext uri="{FF2B5EF4-FFF2-40B4-BE49-F238E27FC236}">
                <a16:creationId xmlns:a16="http://schemas.microsoft.com/office/drawing/2014/main" id="{05329C66-827E-40B9-92E1-0635A38C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52825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3335">
            <a:solidFill>
              <a:srgbClr val="4674C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7375E"/>
                </a:solidFill>
              </a:defRPr>
            </a:pPr>
            <a:r>
              <a:rPr sz="16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解码与评价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" name="meta-step-2">
            <a:extLst xmlns:a="http://schemas.openxmlformats.org/drawingml/2006/main">
              <a:ext uri="{FF2B5EF4-FFF2-40B4-BE49-F238E27FC236}">
                <a16:creationId xmlns:a16="http://schemas.microsoft.com/office/drawing/2014/main" id="{B9B58586-0A0F-4D0A-A246-77A65446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3335">
            <a:solidFill>
              <a:srgbClr val="4674C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7375E"/>
                </a:solidFill>
              </a:defRPr>
            </a:pPr>
            <a:r>
              <a:rPr sz="16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搜索改进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meta-conditions">
            <a:extLst xmlns:a="http://schemas.openxmlformats.org/drawingml/2006/main">
              <a:ext uri="{FF2B5EF4-FFF2-40B4-BE49-F238E27FC236}">
                <a16:creationId xmlns:a16="http://schemas.microsoft.com/office/drawing/2014/main" id="{E8B7049C-C15B-4806-A927-D020D9B9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718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6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11111"/>
                </a:solidFill>
              </a:defRPr>
            </a:pPr>
            <a:r>
              <a:rPr sz="146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解码可行性、搜索预算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11111"/>
                </a:solidFill>
              </a:defRPr>
            </a:pPr>
            <a:r>
              <a:rPr sz="146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受扰后重复求解开销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45" name="meta-loop-down">
            <a:extLst xmlns:a="http://schemas.openxmlformats.org/drawingml/2006/main">
              <a:ext uri="{FF2B5EF4-FFF2-40B4-BE49-F238E27FC236}">
                <a16:creationId xmlns:a16="http://schemas.microsoft.com/office/drawing/2014/main" id="{ACD6F0B7-9494-4A87-B226-F5975A38248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401050" y="4086225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E747A"/>
            </a:solidFill>
            <a:prstDash val="solid"/>
          </a:ln>
        </p:spPr>
      </p:cxnSp>
      <p:cxnSp>
        <p:nvCxnSpPr>
          <p:cNvPr id="46" name="meta-loop-back">
            <a:extLst xmlns:a="http://schemas.openxmlformats.org/drawingml/2006/main">
              <a:ext uri="{FF2B5EF4-FFF2-40B4-BE49-F238E27FC236}">
                <a16:creationId xmlns:a16="http://schemas.microsoft.com/office/drawing/2014/main" id="{651006D4-0906-4A34-93ED-F42FF5CAE54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419600" y="4200525"/>
            <a:ext cx="39814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E747A"/>
            </a:solidFill>
            <a:prstDash val="solid"/>
            <a:tailEnd type="triangle" w="sm" len="sm"/>
          </a:ln>
        </p:spPr>
      </p:cxnSp>
      <p:cxnSp>
        <p:nvCxnSpPr>
          <p:cNvPr id="47" name="meta-loop-up">
            <a:extLst xmlns:a="http://schemas.openxmlformats.org/drawingml/2006/main">
              <a:ext uri="{FF2B5EF4-FFF2-40B4-BE49-F238E27FC236}">
                <a16:creationId xmlns:a16="http://schemas.microsoft.com/office/drawing/2014/main" id="{6BB0172B-A4BF-4D4B-87BA-FE6909368845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419600" y="4086225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E747A"/>
            </a:solidFill>
            <a:prstDash val="solid"/>
          </a:ln>
        </p:spPr>
      </p:cxnSp>
      <p:cxnSp>
        <p:nvCxnSpPr>
          <p:cNvPr id="48" name="rl-branch">
            <a:extLst xmlns:a="http://schemas.openxmlformats.org/drawingml/2006/main">
              <a:ext uri="{FF2B5EF4-FFF2-40B4-BE49-F238E27FC236}">
                <a16:creationId xmlns:a16="http://schemas.microsoft.com/office/drawing/2014/main" id="{DC2256F3-1D05-4432-BA49-CBC3E04DABB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81100" y="4705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74CD"/>
            </a:solidFill>
            <a:prstDash val="solid"/>
          </a:ln>
        </p:spPr>
      </p:cxnSp>
      <p:sp>
        <p:nvSpPr>
          <p:cNvPr id="49" name="rl-label">
            <a:extLst xmlns:a="http://schemas.openxmlformats.org/drawingml/2006/main">
              <a:ext uri="{FF2B5EF4-FFF2-40B4-BE49-F238E27FC236}">
                <a16:creationId xmlns:a16="http://schemas.microsoft.com/office/drawing/2014/main" id="{3EC753A8-2099-440F-BE9B-B7F442CF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419600"/>
            <a:ext cx="1943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315CA9"/>
                </a:solidFill>
              </a:defRPr>
            </a:pPr>
            <a:r>
              <a:rPr sz="1725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强化学习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rl-references">
            <a:extLst xmlns:a="http://schemas.openxmlformats.org/drawingml/2006/main">
              <a:ext uri="{FF2B5EF4-FFF2-40B4-BE49-F238E27FC236}">
                <a16:creationId xmlns:a16="http://schemas.microsoft.com/office/drawing/2014/main" id="{47915DD4-4AF3-4697-A9BA-6C942782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00625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38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38" b="0">
                <a:solidFill>
                  <a:srgbClr val="6E747A"/>
                </a:solidFill>
              </a:defRPr>
            </a:pPr>
            <a:r>
              <a:rPr sz="1238" b="0">
                <a:solidFill>
                  <a:srgbClr val="6E747A"/>
                </a:solidFill>
                <a:latin typeface="Times New Roman"/>
                <a:ea typeface="Times New Roman"/>
                <a:cs typeface="Times New Roman"/>
              </a:rPr>
              <a:t>Zhang</a:t>
            </a:r>
            <a:r>
              <a:rPr sz="1238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>
                <a:solidFill>
                  <a:srgbClr val="6E747A"/>
                </a:solidFill>
                <a:latin typeface="Times New Roman"/>
                <a:ea typeface="Times New Roman"/>
                <a:cs typeface="Times New Roman"/>
              </a:rPr>
              <a:t>Wen</a:t>
            </a:r>
            <a:r>
              <a:rPr sz="1238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>
                <a:solidFill>
                  <a:srgbClr val="6E747A"/>
                </a:solidFill>
                <a:latin typeface="Times New Roman"/>
                <a:ea typeface="Times New Roman"/>
                <a:cs typeface="Times New Roman"/>
              </a:rPr>
              <a:t>Chen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38" b="0">
                <a:solidFill>
                  <a:srgbClr val="6E747A"/>
                </a:solidFill>
              </a:defRPr>
            </a:pPr>
            <a:r>
              <a:rPr sz="1238" b="0">
                <a:solidFill>
                  <a:srgbClr val="6E747A"/>
                </a:solidFill>
                <a:latin typeface="Times New Roman"/>
                <a:ea typeface="Times New Roman"/>
                <a:cs typeface="Times New Roman"/>
              </a:rPr>
              <a:t>[22,23,24]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rl-step-0">
            <a:extLst xmlns:a="http://schemas.openxmlformats.org/drawingml/2006/main">
              <a:ext uri="{FF2B5EF4-FFF2-40B4-BE49-F238E27FC236}">
                <a16:creationId xmlns:a16="http://schemas.microsoft.com/office/drawing/2014/main" id="{D8791B40-64C8-478F-A4F7-A9C60CB4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38650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3335">
            <a:solidFill>
              <a:srgbClr val="4674C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7375E"/>
                </a:solidFill>
              </a:defRPr>
            </a:pPr>
            <a:r>
              <a:rPr sz="16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当前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7375E"/>
                </a:solidFill>
              </a:defRPr>
            </a:pPr>
            <a:r>
              <a:rPr sz="16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生产状态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rl-step-1">
            <a:extLst xmlns:a="http://schemas.openxmlformats.org/drawingml/2006/main">
              <a:ext uri="{FF2B5EF4-FFF2-40B4-BE49-F238E27FC236}">
                <a16:creationId xmlns:a16="http://schemas.microsoft.com/office/drawing/2014/main" id="{4DA5C228-9352-4DAA-B958-86A1D947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38650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3335">
            <a:solidFill>
              <a:srgbClr val="4674C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7375E"/>
                </a:solidFill>
              </a:defRPr>
            </a:pPr>
            <a:r>
              <a:rPr sz="16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策略选择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rl-step-2">
            <a:extLst xmlns:a="http://schemas.openxmlformats.org/drawingml/2006/main">
              <a:ext uri="{FF2B5EF4-FFF2-40B4-BE49-F238E27FC236}">
                <a16:creationId xmlns:a16="http://schemas.microsoft.com/office/drawing/2014/main" id="{C9D1A48D-E14A-466D-A8DC-10CE65E7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38650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3335">
            <a:solidFill>
              <a:srgbClr val="4674C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7375E"/>
                </a:solidFill>
              </a:defRPr>
            </a:pPr>
            <a:r>
              <a:rPr sz="16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工序、资源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7375E"/>
                </a:solidFill>
              </a:defRPr>
            </a:pPr>
            <a:r>
              <a:rPr sz="16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或派工规则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rl-conditions">
            <a:extLst xmlns:a="http://schemas.openxmlformats.org/drawingml/2006/main">
              <a:ext uri="{FF2B5EF4-FFF2-40B4-BE49-F238E27FC236}">
                <a16:creationId xmlns:a16="http://schemas.microsoft.com/office/drawing/2014/main" id="{1E4AD1DF-9C09-4352-8FE8-6D10ABE1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577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6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11111"/>
                </a:solidFill>
              </a:defRPr>
            </a:pPr>
            <a:r>
              <a:rPr sz="146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状态、动作、执行约束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11111"/>
                </a:solidFill>
              </a:defRPr>
            </a:pPr>
            <a:r>
              <a:rPr sz="146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与计算成本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learning-assisted-search">
            <a:extLst xmlns:a="http://schemas.openxmlformats.org/drawingml/2006/main">
              <a:ext uri="{FF2B5EF4-FFF2-40B4-BE49-F238E27FC236}">
                <a16:creationId xmlns:a16="http://schemas.microsoft.com/office/drawing/2014/main" id="{F9DDA51D-59A1-4447-B7FB-00DB7FAC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6E747A"/>
                </a:solidFill>
              </a:defRPr>
            </a:pPr>
            <a:r>
              <a:rPr sz="1388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学习辅助搜索：</a:t>
            </a:r>
            <a:r>
              <a:rPr sz="1388" b="0">
                <a:solidFill>
                  <a:srgbClr val="6E747A"/>
                </a:solidFill>
                <a:latin typeface="Times New Roman"/>
                <a:ea typeface="Times New Roman"/>
                <a:cs typeface="Times New Roman"/>
              </a:rPr>
              <a:t>Q</a:t>
            </a:r>
            <a:r>
              <a:rPr sz="1388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学习调节遗传算法或粒子群参数，归入元启发式</a:t>
            </a:r>
            <a:r>
              <a:rPr sz="1388" b="0">
                <a:solidFill>
                  <a:srgbClr val="6E747A"/>
                </a:solidFill>
                <a:latin typeface="Times New Roman"/>
                <a:ea typeface="Times New Roman"/>
                <a:cs typeface="Times New Roman"/>
              </a:rPr>
              <a:t>[18,19]</a:t>
            </a:r>
            <a:r>
              <a:rPr sz="1388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rl-design-dimensions">
            <a:extLst xmlns:a="http://schemas.openxmlformats.org/drawingml/2006/main">
              <a:ext uri="{FF2B5EF4-FFF2-40B4-BE49-F238E27FC236}">
                <a16:creationId xmlns:a16="http://schemas.microsoft.com/office/drawing/2014/main" id="{B763AEAA-C311-4839-9421-EA8B5AA6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6E747A"/>
                </a:solidFill>
              </a:defRPr>
            </a:pPr>
            <a:r>
              <a:rPr sz="1388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强化学习通过奖励反馈训练策略，图编码与单／多智能体分别说明状态表示与决策组织。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59" name="summary-rule">
            <a:extLst xmlns:a="http://schemas.openxmlformats.org/drawingml/2006/main">
              <a:ext uri="{FF2B5EF4-FFF2-40B4-BE49-F238E27FC236}">
                <a16:creationId xmlns:a16="http://schemas.microsoft.com/office/drawing/2014/main" id="{8D2317F9-AEB1-4BE8-A1BB-E4630B70616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1500" y="60007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CDD7E8"/>
            </a:solidFill>
            <a:prstDash val="solid"/>
          </a:ln>
        </p:spPr>
      </p:cxnSp>
      <p:sp>
        <p:nvSpPr>
          <p:cNvPr id="60" name="summary">
            <a:extLst xmlns:a="http://schemas.openxmlformats.org/drawingml/2006/main">
              <a:ext uri="{FF2B5EF4-FFF2-40B4-BE49-F238E27FC236}">
                <a16:creationId xmlns:a16="http://schemas.microsoft.com/office/drawing/2014/main" id="{A985CD8E-6ABE-4BDB-858C-2099A222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674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defRPr sz="1583" b="0">
                <a:solidFill>
                  <a:srgbClr val="111111"/>
                </a:solidFill>
              </a:defRPr>
            </a:pPr>
            <a:r>
              <a:rPr sz="158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强化学习通过训练形成可反复调用的调度策略，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defRPr sz="1583" b="0">
                <a:solidFill>
                  <a:srgbClr val="111111"/>
                </a:solidFill>
              </a:defRPr>
            </a:pPr>
            <a:r>
              <a:rPr sz="158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状态表示将工艺关系、资源条件和已有安排组织为策略输入。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survey-source">
            <a:extLst xmlns:a="http://schemas.openxmlformats.org/drawingml/2006/main">
              <a:ext uri="{FF2B5EF4-FFF2-40B4-BE49-F238E27FC236}">
                <a16:creationId xmlns:a16="http://schemas.microsoft.com/office/drawing/2014/main" id="{EEA1F38F-D6A1-4350-A1EA-CAF0C047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913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6E747A"/>
                </a:solidFill>
              </a:defRPr>
            </a:pPr>
            <a:r>
              <a:rPr sz="1163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综述依据：</a:t>
            </a:r>
            <a:r>
              <a:rPr sz="1163" b="0">
                <a:solidFill>
                  <a:srgbClr val="6E747A"/>
                </a:solidFill>
                <a:latin typeface="Times New Roman"/>
                <a:ea typeface="Times New Roman"/>
                <a:cs typeface="Times New Roman"/>
              </a:rPr>
              <a:t>Waubert de Puiseau</a:t>
            </a:r>
            <a:r>
              <a:rPr sz="1163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等</a:t>
            </a:r>
            <a:r>
              <a:rPr sz="1163" b="0">
                <a:solidFill>
                  <a:srgbClr val="6E747A"/>
                </a:solidFill>
                <a:latin typeface="Times New Roman"/>
                <a:ea typeface="Times New Roman"/>
                <a:cs typeface="Times New Roman"/>
              </a:rPr>
              <a:t>[25]</a:t>
            </a:r>
            <a:r>
              <a:rPr sz="1163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623417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E7B8355-B3A4-4423-91D1-20E71D33BE1E}"/>
              </a:ext>
            </a:extLst>
          </p:cNvPr>
          <p:cNvCxnSpPr>
            <a:stCxn xmlns:a="http://schemas.openxmlformats.org/drawingml/2006/main" id="66" idx="4"/>
            <a:endCxn xmlns:a="http://schemas.openxmlformats.org/drawingml/2006/main" id="68" idx="2"/>
          </p:cNvCxnSpPr>
          <p:nvPr/>
        </p:nvCxnSpPr>
        <p:spPr>
          <a:xfrm xmlns:a="http://schemas.openxmlformats.org/drawingml/2006/main">
            <a:off x="4486275" y="5276850"/>
            <a:ext cx="30480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4674CD"/>
            </a:solidFill>
            <a:prstDash val="solid"/>
          </a:ln>
        </p:spPr>
      </p:cxnSp>
      <p:cxnSp>
        <p:nvCxn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B116A69-A461-4B28-B9DC-38143DE48F43}"/>
              </a:ext>
            </a:extLst>
          </p:cNvPr>
          <p:cNvCxnSpPr>
            <a:stCxn xmlns:a="http://schemas.openxmlformats.org/drawingml/2006/main" id="67" idx="2"/>
            <a:endCxn xmlns:a="http://schemas.openxmlformats.org/drawingml/2006/main" id="68" idx="6"/>
          </p:cNvCxnSpPr>
          <p:nvPr/>
        </p:nvCxnSpPr>
        <p:spPr>
          <a:xfrm xmlns:a="http://schemas.openxmlformats.org/drawingml/2006/main" flipH="1">
            <a:off x="5229225" y="5276850"/>
            <a:ext cx="30480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4674CD"/>
            </a:solidFill>
            <a:prstDash val="solid"/>
          </a:ln>
        </p:spPr>
      </p:cxnSp>
      <p:cxnSp>
        <p:nvCxn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20AEA45-AECF-4235-A611-76CCF07865A2}"/>
              </a:ext>
            </a:extLst>
          </p:cNvPr>
          <p:cNvCxnSpPr>
            <a:stCxn xmlns:a="http://schemas.openxmlformats.org/drawingml/2006/main" id="66" idx="6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705350" y="5086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4674CD"/>
            </a:solidFill>
            <a:prstDash val="solid"/>
          </a:ln>
        </p:spPr>
      </p:cxn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9040F88-FFF7-4C04-8426-1E971906FD93}"/>
              </a:ext>
            </a:extLst>
          </p:cNvPr>
          <p:cNvCxnSpPr>
            <a:stCxn xmlns:a="http://schemas.openxmlformats.org/drawingml/2006/main" id="58" idx="4"/>
            <a:endCxn xmlns:a="http://schemas.openxmlformats.org/drawingml/2006/main" id="60" idx="2"/>
          </p:cNvCxnSpPr>
          <p:nvPr/>
        </p:nvCxnSpPr>
        <p:spPr>
          <a:xfrm xmlns:a="http://schemas.openxmlformats.org/drawingml/2006/main">
            <a:off x="2409825" y="5276850"/>
            <a:ext cx="295275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4674CD"/>
            </a:solidFill>
            <a:prstDash val="solid"/>
          </a:ln>
        </p:spPr>
      </p:cxnSp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018D031-E836-4A05-AA2E-A31352BC0ECC}"/>
              </a:ext>
            </a:extLst>
          </p:cNvPr>
          <p:cNvCxnSpPr>
            <a:stCxn xmlns:a="http://schemas.openxmlformats.org/drawingml/2006/main" id="59" idx="4"/>
            <a:endCxn xmlns:a="http://schemas.openxmlformats.org/drawingml/2006/main" id="60" idx="6"/>
          </p:cNvCxnSpPr>
          <p:nvPr/>
        </p:nvCxnSpPr>
        <p:spPr>
          <a:xfrm xmlns:a="http://schemas.openxmlformats.org/drawingml/2006/main" flipH="1">
            <a:off x="3143250" y="5276850"/>
            <a:ext cx="295275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4674CD"/>
            </a:solidFill>
            <a:prstDash val="solid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777F17-DB5A-458D-A967-D97A9BE54E14}"/>
              </a:ext>
            </a:extLst>
          </p:cNvPr>
          <p:cNvCxnSpPr>
            <a:stCxn xmlns:a="http://schemas.openxmlformats.org/drawingml/2006/main" id="58" idx="6"/>
            <a:endCxn xmlns:a="http://schemas.openxmlformats.org/drawingml/2006/main" id="59" idx="2"/>
          </p:cNvCxnSpPr>
          <p:nvPr/>
        </p:nvCxnSpPr>
        <p:spPr>
          <a:xfrm xmlns:a="http://schemas.openxmlformats.org/drawingml/2006/main">
            <a:off x="2628900" y="50863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4674CD"/>
            </a:solidFill>
            <a:prstDash val="solid"/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1690723-88CE-44FF-B781-6F7DFF01CE4D}"/>
              </a:ext>
            </a:extLst>
          </p:cNvPr>
          <p:cNvCxnSpPr>
            <a:stCxn xmlns:a="http://schemas.openxmlformats.org/drawingml/2006/main" id="48" idx="6"/>
            <a:endCxn xmlns:a="http://schemas.openxmlformats.org/drawingml/2006/main" id="49" idx="2"/>
          </p:cNvCxnSpPr>
          <p:nvPr/>
        </p:nvCxnSpPr>
        <p:spPr>
          <a:xfrm xmlns:a="http://schemas.openxmlformats.org/drawingml/2006/main">
            <a:off x="5133975" y="3719513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674CD"/>
            </a:solidFill>
            <a:prstDash val="solid"/>
            <a:tailEnd type="triangle" w="sm" len="sm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A0E0B6-8119-40C1-985F-507DB284E8B0}"/>
              </a:ext>
            </a:extLst>
          </p:cNvPr>
          <p:cNvCxnSpPr>
            <a:stCxn xmlns:a="http://schemas.openxmlformats.org/drawingml/2006/main" id="42" idx="6"/>
            <a:endCxn xmlns:a="http://schemas.openxmlformats.org/drawingml/2006/main" id="43" idx="2"/>
          </p:cNvCxnSpPr>
          <p:nvPr/>
        </p:nvCxnSpPr>
        <p:spPr>
          <a:xfrm xmlns:a="http://schemas.openxmlformats.org/drawingml/2006/main">
            <a:off x="3771900" y="3719513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674CD"/>
            </a:solidFill>
            <a:prstDash val="solid"/>
            <a:tailEnd type="triangle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EBAEF0-74C9-4743-9377-3DA07F1F4E73}"/>
              </a:ext>
            </a:extLst>
          </p:cNvPr>
          <p:cNvCxnSpPr>
            <a:stCxn xmlns:a="http://schemas.openxmlformats.org/drawingml/2006/main" id="36" idx="6"/>
            <a:endCxn xmlns:a="http://schemas.openxmlformats.org/drawingml/2006/main" id="37" idx="2"/>
          </p:cNvCxnSpPr>
          <p:nvPr/>
        </p:nvCxnSpPr>
        <p:spPr>
          <a:xfrm xmlns:a="http://schemas.openxmlformats.org/drawingml/2006/main">
            <a:off x="2409825" y="3719513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4674CD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3DAAAB-DF48-4A6E-801B-386F259B0AD2}"/>
              </a:ext>
            </a:extLst>
          </p:cNvPr>
          <p:cNvCxnSpPr>
            <a:stCxn xmlns:a="http://schemas.openxmlformats.org/drawingml/2006/main" id="25" idx="4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5276850" y="2390775"/>
            <a:ext cx="485775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4674CD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D0A294-A956-494C-832A-C1DA19C3941D}"/>
              </a:ext>
            </a:extLst>
          </p:cNvPr>
          <p:cNvCxnSpPr>
            <a:stCxn xmlns:a="http://schemas.openxmlformats.org/drawingml/2006/main" id="24" idx="4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419600" y="2390775"/>
            <a:ext cx="1066800" cy="2762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2383">
            <a:solidFill>
              <a:srgbClr val="4674CD"/>
            </a:solidFill>
            <a:prstDash val="soli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C4FBAA-8770-48ED-9443-6ACFCA729746}"/>
              </a:ext>
            </a:extLst>
          </p:cNvPr>
          <p:cNvCxnSpPr>
            <a:stCxn xmlns:a="http://schemas.openxmlformats.org/drawingml/2006/main" id="24" idx="6"/>
            <a:endCxn xmlns:a="http://schemas.openxmlformats.org/drawingml/2006/main" id="25" idx="2"/>
          </p:cNvCxnSpPr>
          <p:nvPr/>
        </p:nvCxnSpPr>
        <p:spPr>
          <a:xfrm xmlns:a="http://schemas.openxmlformats.org/drawingml/2006/main">
            <a:off x="4638675" y="21907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4674CD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B39F9-7011-48F2-B59B-A37B104C5576}"/>
              </a:ext>
            </a:extLst>
          </p:cNvPr>
          <p:cNvCxnSpPr>
            <a:stCxn xmlns:a="http://schemas.openxmlformats.org/drawingml/2006/main" id="18" idx="4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3171825" y="2409825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4674CD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99DCED-17BB-4DC5-AE37-0FD574E07732}"/>
              </a:ext>
            </a:extLst>
          </p:cNvPr>
          <p:cNvCxnSpPr>
            <a:stCxn xmlns:a="http://schemas.openxmlformats.org/drawingml/2006/main" id="17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2571750" y="22002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4674CD"/>
            </a:solidFill>
            <a:prstDash val="solid"/>
            <a:tailEnd type="triangle" w="sm" len="sm"/>
          </a:ln>
        </p:spPr>
      </p:cxnSp>
      <p:sp>
        <p:nvSpPr>
          <p:cNvPr id="5" name="模板页眉横线">
            <a:extLst xmlns:a="http://schemas.openxmlformats.org/drawingml/2006/main">
              <a:ext uri="{FF2B5EF4-FFF2-40B4-BE49-F238E27FC236}">
                <a16:creationId xmlns:a16="http://schemas.microsoft.com/office/drawing/2014/main" id="{C4000073-E50E-0B72-94C0-033F230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054"/>
            <a:ext cx="12192000" cy="45719"/>
          </a:xfrm>
          <a:custGeom xmlns:a="http://schemas.openxmlformats.org/drawingml/2006/main">
            <a:gdLst>
              <a:gd name="T0" fmla="*/ 0 w 21600"/>
              <a:gd name="T1" fmla="*/ 0 h 21600"/>
              <a:gd name="T2" fmla="*/ 489365807 w 21600"/>
              <a:gd name="T3" fmla="*/ 0 h 21600"/>
              <a:gd name="T4" fmla="*/ 489365807 w 21600"/>
              <a:gd name="T5" fmla="*/ 28356134 h 21600"/>
              <a:gd name="T6" fmla="*/ 0 w 21600"/>
              <a:gd name="T7" fmla="*/ 28356134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3175" cap="flat" cmpd="sng">
            <a:solidFill>
              <a:srgbClr val="002060">
                <a:alpha val="0"/>
              </a:srgbClr>
            </a:solidFill>
            <a:round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solidFill>
                <a:srgbClr val="4874CB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同济校标">
            <a:extLst xmlns:a="http://schemas.openxmlformats.org/drawingml/2006/main">
              <a:ext uri="{FF2B5EF4-FFF2-40B4-BE49-F238E27FC236}">
                <a16:creationId xmlns:a16="http://schemas.microsoft.com/office/drawing/2014/main" id="{3AAF9040-4AFA-4659-8F95-D4DCF39A4F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2e19a2bc484945"/>
          <a:srcRect xmlns:a="http://schemas.openxmlformats.org/drawingml/2006/main" l="0" t="0" r="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1625" y="20910"/>
            <a:ext cx="1809525" cy="526143"/>
          </a:xfrm>
          <a:prstGeom xmlns:a="http://schemas.openxmlformats.org/drawingml/2006/main" prst="rect">
            <a:avLst/>
          </a:prstGeom>
        </p:spPr>
      </p:pic>
      <p:sp>
        <p:nvSpPr>
          <p:cNvPr id="7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CA1E91B-B668-B211-4835-07E77318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"/>
            <a:ext cx="113061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200" b="1">
                <a:solidFill>
                  <a:srgbClr val="4674CD"/>
                </a:solidFill>
              </a:defRPr>
            </a:defPPr>
            <a:lvl1pPr>
              <a:buNone/>
              <a:defRPr sz="3200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4000"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4000"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4000"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4000">
                <a:latin typeface="Microsoft YaHei"/>
                <a:ea typeface="Microsoft YaHei"/>
                <a:cs typeface="Microsoft YaHei"/>
              </a:defRPr>
            </a:lvl5pPr>
            <a:lvl6pPr marL="4572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6pPr>
            <a:lvl7pPr marL="9144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7pPr>
            <a:lvl8pPr marL="13716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8pPr>
            <a:lvl9pPr marL="18288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4674CD"/>
                </a:solidFill>
              </a:defRPr>
            </a:pPr>
            <a:r>
              <a:rPr sz="3200" b="1">
                <a:solidFill>
                  <a:srgbClr val="4674CD"/>
                </a:solidFill>
                <a:latin typeface="Times New Roman"/>
                <a:ea typeface="Times New Roman"/>
                <a:cs typeface="Times New Roman"/>
              </a:rPr>
              <a:t>2 </a:t>
            </a:r>
            <a:r>
              <a:rPr sz="3200" b="1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rPr>
              <a:t>文献综述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页面主题">
            <a:extLst xmlns:a="http://schemas.openxmlformats.org/drawingml/2006/main">
              <a:ext uri="{FF2B5EF4-FFF2-40B4-BE49-F238E27FC236}">
                <a16:creationId xmlns:a16="http://schemas.microsoft.com/office/drawing/2014/main" id="{A8BFA7F8-B8F6-40F9-8B69-7C7B3793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5247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图强化学习与动态状态表示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revision-text-1005">
            <a:extLst xmlns:a="http://schemas.openxmlformats.org/drawingml/2006/main">
              <a:ext uri="{FF2B5EF4-FFF2-40B4-BE49-F238E27FC236}">
                <a16:creationId xmlns:a16="http://schemas.microsoft.com/office/drawing/2014/main" id="{CD0330C8-8920-4B6D-B042-F71F342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07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overview">
            <a:extLst xmlns:a="http://schemas.openxmlformats.org/drawingml/2006/main">
              <a:ext uri="{FF2B5EF4-FFF2-40B4-BE49-F238E27FC236}">
                <a16:creationId xmlns:a16="http://schemas.microsoft.com/office/drawing/2014/main" id="{0B3F7713-9B7A-4F97-AF2C-FD92D143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13" b="0">
                <a:solidFill>
                  <a:srgbClr val="6E747A"/>
                </a:solidFill>
              </a:defRPr>
            </a:pPr>
            <a:r>
              <a:rPr sz="1613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比较生产信息的内容、组织方式及其在调度策略中的作用。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" name="topic-separator-1">
            <a:extLst xmlns:a="http://schemas.openxmlformats.org/drawingml/2006/main">
              <a:ext uri="{FF2B5EF4-FFF2-40B4-BE49-F238E27FC236}">
                <a16:creationId xmlns:a16="http://schemas.microsoft.com/office/drawing/2014/main" id="{4BB04C1E-60E7-43E1-A320-53DA702DCE1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0550" y="2914650"/>
            <a:ext cx="11029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7E8"/>
            </a:solidFill>
            <a:prstDash val="solid"/>
          </a:ln>
        </p:spPr>
      </p:cxnSp>
      <p:cxnSp>
        <p:nvCxnSpPr>
          <p:cNvPr id="12" name="topic-separator-2">
            <a:extLst xmlns:a="http://schemas.openxmlformats.org/drawingml/2006/main">
              <a:ext uri="{FF2B5EF4-FFF2-40B4-BE49-F238E27FC236}">
                <a16:creationId xmlns:a16="http://schemas.microsoft.com/office/drawing/2014/main" id="{2F065FE3-C880-4439-B099-F36675051D4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0550" y="4419600"/>
            <a:ext cx="11029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7E8"/>
            </a:solidFill>
            <a:prstDash val="solid"/>
          </a:ln>
        </p:spPr>
      </p:cxnSp>
      <p:sp>
        <p:nvSpPr>
          <p:cNvPr id="13" name="relation-topic">
            <a:extLst xmlns:a="http://schemas.openxmlformats.org/drawingml/2006/main">
              <a:ext uri="{FF2B5EF4-FFF2-40B4-BE49-F238E27FC236}">
                <a16:creationId xmlns:a16="http://schemas.microsoft.com/office/drawing/2014/main" id="{E69B32AE-0A3C-465D-B2E9-DB4EC30A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66925"/>
            <a:ext cx="1438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315CA9"/>
                </a:solidFill>
              </a:defRPr>
            </a:pPr>
            <a:r>
              <a:rPr sz="18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工艺与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315CA9"/>
                </a:solidFill>
              </a:defRPr>
            </a:pPr>
            <a:r>
              <a:rPr sz="18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资源关系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station-topic">
            <a:extLst xmlns:a="http://schemas.openxmlformats.org/drawingml/2006/main">
              <a:ext uri="{FF2B5EF4-FFF2-40B4-BE49-F238E27FC236}">
                <a16:creationId xmlns:a16="http://schemas.microsoft.com/office/drawing/2014/main" id="{AE02F6F6-E967-4990-808D-8E0B9D04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19475"/>
            <a:ext cx="1438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315CA9"/>
                </a:solidFill>
              </a:defRPr>
            </a:pPr>
            <a:r>
              <a:rPr sz="18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站位及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315CA9"/>
                </a:solidFill>
              </a:defRPr>
            </a:pPr>
            <a:r>
              <a:rPr sz="18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整线信息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semantic-topic">
            <a:extLst xmlns:a="http://schemas.openxmlformats.org/drawingml/2006/main">
              <a:ext uri="{FF2B5EF4-FFF2-40B4-BE49-F238E27FC236}">
                <a16:creationId xmlns:a16="http://schemas.microsoft.com/office/drawing/2014/main" id="{2B2F1335-5C6D-4BF8-AAEB-B3FC5603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1438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315CA9"/>
                </a:solidFill>
              </a:defRPr>
            </a:pPr>
            <a:r>
              <a:rPr sz="18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生产语义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315CA9"/>
                </a:solidFill>
              </a:defRPr>
            </a:pPr>
            <a:r>
              <a:rPr sz="18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与时间信息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wen-diagram-label">
            <a:extLst xmlns:a="http://schemas.openxmlformats.org/drawingml/2006/main">
              <a:ext uri="{FF2B5EF4-FFF2-40B4-BE49-F238E27FC236}">
                <a16:creationId xmlns:a16="http://schemas.microsoft.com/office/drawing/2014/main" id="{97EA7735-240A-49E3-AB29-62D8FE71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00200"/>
            <a:ext cx="1885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88" b="1">
                <a:solidFill>
                  <a:srgbClr val="315CA9"/>
                </a:solidFill>
              </a:defRPr>
            </a:pPr>
            <a:r>
              <a:rPr sz="1388" b="1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rPr>
              <a:t>Wen</a:t>
            </a:r>
            <a:r>
              <a:rPr sz="1388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等</a:t>
            </a:r>
            <a:r>
              <a:rPr sz="1388" b="1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rPr>
              <a:t>[23]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wen-operation-1">
            <a:extLst xmlns:a="http://schemas.openxmlformats.org/drawingml/2006/main">
              <a:ext uri="{FF2B5EF4-FFF2-40B4-BE49-F238E27FC236}">
                <a16:creationId xmlns:a16="http://schemas.microsoft.com/office/drawing/2014/main" id="{8931036E-4B0D-42F0-97A1-2762FD04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990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7375E"/>
                </a:solidFill>
              </a:defRPr>
            </a:pPr>
            <a:r>
              <a:rPr sz="13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工序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wen-operation-2">
            <a:extLst xmlns:a="http://schemas.openxmlformats.org/drawingml/2006/main">
              <a:ext uri="{FF2B5EF4-FFF2-40B4-BE49-F238E27FC236}">
                <a16:creationId xmlns:a16="http://schemas.microsoft.com/office/drawing/2014/main" id="{27F53F89-62CA-43BF-8637-0B6513BF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990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7375E"/>
                </a:solidFill>
              </a:defRPr>
            </a:pPr>
            <a:r>
              <a:rPr sz="13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工序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wen-operation-3">
            <a:extLst xmlns:a="http://schemas.openxmlformats.org/drawingml/2006/main">
              <a:ext uri="{FF2B5EF4-FFF2-40B4-BE49-F238E27FC236}">
                <a16:creationId xmlns:a16="http://schemas.microsoft.com/office/drawing/2014/main" id="{C5058DEB-E525-4B5B-AA0C-3DC43109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95550"/>
            <a:ext cx="4191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7375E"/>
                </a:solidFill>
              </a:defRPr>
            </a:pPr>
            <a:r>
              <a:rPr sz="1275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工序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wen-node-attributes">
            <a:extLst xmlns:a="http://schemas.openxmlformats.org/drawingml/2006/main">
              <a:ext uri="{FF2B5EF4-FFF2-40B4-BE49-F238E27FC236}">
                <a16:creationId xmlns:a16="http://schemas.microsoft.com/office/drawing/2014/main" id="{C52B1D31-9614-4191-ACB3-E22E5BD3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457450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6E747A"/>
                </a:solidFill>
              </a:defRPr>
            </a:pPr>
            <a:r>
              <a:rPr sz="1275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执行状态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6E747A"/>
                </a:solidFill>
              </a:defRPr>
            </a:pPr>
            <a:r>
              <a:rPr sz="1275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资源需求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song-diagram-label">
            <a:extLst xmlns:a="http://schemas.openxmlformats.org/drawingml/2006/main">
              <a:ext uri="{FF2B5EF4-FFF2-40B4-BE49-F238E27FC236}">
                <a16:creationId xmlns:a16="http://schemas.microsoft.com/office/drawing/2014/main" id="{6EE55CBF-BD1D-48CF-9DEB-57D457B5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60020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88" b="1">
                <a:solidFill>
                  <a:srgbClr val="315CA9"/>
                </a:solidFill>
              </a:defRPr>
            </a:pPr>
            <a:r>
              <a:rPr sz="1388" b="1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rPr>
              <a:t>Song</a:t>
            </a:r>
            <a:r>
              <a:rPr sz="1388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等</a:t>
            </a:r>
            <a:r>
              <a:rPr sz="1388" b="1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rPr>
              <a:t>[29]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song-operation-1">
            <a:extLst xmlns:a="http://schemas.openxmlformats.org/drawingml/2006/main">
              <a:ext uri="{FF2B5EF4-FFF2-40B4-BE49-F238E27FC236}">
                <a16:creationId xmlns:a16="http://schemas.microsoft.com/office/drawing/2014/main" id="{A83E9E89-B11B-4FD8-BB2A-AE3896AE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990725"/>
            <a:ext cx="4381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7375E"/>
                </a:solidFill>
              </a:defRPr>
            </a:pPr>
            <a:r>
              <a:rPr sz="13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工序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song-operation-2">
            <a:extLst xmlns:a="http://schemas.openxmlformats.org/drawingml/2006/main">
              <a:ext uri="{FF2B5EF4-FFF2-40B4-BE49-F238E27FC236}">
                <a16:creationId xmlns:a16="http://schemas.microsoft.com/office/drawing/2014/main" id="{9060BAB0-CCF2-474A-ACED-14E64338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990725"/>
            <a:ext cx="4381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7375E"/>
                </a:solidFill>
              </a:defRPr>
            </a:pPr>
            <a:r>
              <a:rPr sz="13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工序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song-machine">
            <a:extLst xmlns:a="http://schemas.openxmlformats.org/drawingml/2006/main">
              <a:ext uri="{FF2B5EF4-FFF2-40B4-BE49-F238E27FC236}">
                <a16:creationId xmlns:a16="http://schemas.microsoft.com/office/drawing/2014/main" id="{469C329C-EE02-4B4E-B10B-054E4E3F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05075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E747A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7375E"/>
                </a:solidFill>
              </a:defRPr>
            </a:pPr>
            <a:r>
              <a:rPr sz="13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机器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song-resource-relationship">
            <a:extLst xmlns:a="http://schemas.openxmlformats.org/drawingml/2006/main">
              <a:ext uri="{FF2B5EF4-FFF2-40B4-BE49-F238E27FC236}">
                <a16:creationId xmlns:a16="http://schemas.microsoft.com/office/drawing/2014/main" id="{0EC6E419-1708-4E2F-9B46-FC91EBC1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71725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6E747A"/>
                </a:solidFill>
              </a:defRPr>
            </a:pPr>
            <a:r>
              <a:rPr sz="1275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资源关系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wen-explanation">
            <a:extLst xmlns:a="http://schemas.openxmlformats.org/drawingml/2006/main">
              <a:ext uri="{FF2B5EF4-FFF2-40B4-BE49-F238E27FC236}">
                <a16:creationId xmlns:a16="http://schemas.microsoft.com/office/drawing/2014/main" id="{175A767E-82C8-4EB4-9B60-33545AB6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613" b="0">
                <a:solidFill>
                  <a:srgbClr val="111111"/>
                </a:solidFill>
              </a:defRPr>
            </a:pPr>
            <a:r>
              <a:rPr sz="16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Wen</a:t>
            </a:r>
            <a:r>
              <a: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等</a:t>
            </a:r>
            <a:r>
              <a:rPr sz="16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[23]</a:t>
            </a:r>
            <a:r>
              <a: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：前序、执行状态与资源需求进入工序图，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613" b="0">
                <a:solidFill>
                  <a:srgbClr val="111111"/>
                </a:solidFill>
              </a:defRPr>
            </a:pPr>
            <a:r>
              <a:rPr sz="16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GIN</a:t>
            </a:r>
            <a:r>
              <a: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编码后选择待安排工序。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song-explanation">
            <a:extLst xmlns:a="http://schemas.openxmlformats.org/drawingml/2006/main">
              <a:ext uri="{FF2B5EF4-FFF2-40B4-BE49-F238E27FC236}">
                <a16:creationId xmlns:a16="http://schemas.microsoft.com/office/drawing/2014/main" id="{95316E42-48D1-47FE-8126-51862AB8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14575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613" b="0">
                <a:solidFill>
                  <a:srgbClr val="111111"/>
                </a:solidFill>
              </a:defRPr>
            </a:pPr>
            <a:r>
              <a:rPr sz="16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Song</a:t>
            </a:r>
            <a:r>
              <a: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等</a:t>
            </a:r>
            <a:r>
              <a:rPr sz="16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[29]</a:t>
            </a:r>
            <a:r>
              <a: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：异构图区分工序与机器关系，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613" b="0">
                <a:solidFill>
                  <a:srgbClr val="111111"/>
                </a:solidFill>
              </a:defRPr>
            </a:pPr>
            <a:r>
              <a: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支持工序与机器联合选择。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chen-diagram-label">
            <a:extLst xmlns:a="http://schemas.openxmlformats.org/drawingml/2006/main">
              <a:ext uri="{FF2B5EF4-FFF2-40B4-BE49-F238E27FC236}">
                <a16:creationId xmlns:a16="http://schemas.microsoft.com/office/drawing/2014/main" id="{C8E62CF9-FE34-476B-9288-503DE013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000375"/>
            <a:ext cx="409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88" b="1">
                <a:solidFill>
                  <a:srgbClr val="315CA9"/>
                </a:solidFill>
              </a:defRPr>
            </a:pPr>
            <a:r>
              <a:rPr sz="1388" b="1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rPr>
              <a:t>Chen</a:t>
            </a:r>
            <a:r>
              <a:rPr sz="1388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等</a:t>
            </a:r>
            <a:r>
              <a:rPr sz="1388" b="1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rPr>
              <a:t>[24]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chen-station-0">
            <a:extLst xmlns:a="http://schemas.openxmlformats.org/drawingml/2006/main">
              <a:ext uri="{FF2B5EF4-FFF2-40B4-BE49-F238E27FC236}">
                <a16:creationId xmlns:a16="http://schemas.microsoft.com/office/drawing/2014/main" id="{DE3A11D9-1F9F-4A82-AAB0-8D335CFC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24225"/>
            <a:ext cx="1095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2383">
            <a:solidFill>
              <a:srgbClr val="4674CD"/>
            </a:solidFill>
            <a:prstDash val="solid"/>
          </a:ln>
        </p:spPr>
      </p:sp>
      <p:sp>
        <p:nvSpPr>
          <p:cNvPr id="35" name="chen-station-caption-0">
            <a:extLst xmlns:a="http://schemas.openxmlformats.org/drawingml/2006/main">
              <a:ext uri="{FF2B5EF4-FFF2-40B4-BE49-F238E27FC236}">
                <a16:creationId xmlns:a16="http://schemas.microsoft.com/office/drawing/2014/main" id="{1DF81657-FDA8-4F59-BE81-C12F1511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362325"/>
            <a:ext cx="952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88" b="1">
                <a:solidFill>
                  <a:srgbClr val="17375E"/>
                </a:solidFill>
              </a:defRPr>
            </a:pPr>
            <a:r>
              <a:rPr sz="1388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站位</a:t>
            </a:r>
            <a:r>
              <a:rPr sz="1388" b="1">
                <a:solidFill>
                  <a:srgbClr val="17375E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chen-local-op-0-1">
            <a:extLst xmlns:a="http://schemas.openxmlformats.org/drawingml/2006/main">
              <a:ext uri="{FF2B5EF4-FFF2-40B4-BE49-F238E27FC236}">
                <a16:creationId xmlns:a16="http://schemas.microsoft.com/office/drawing/2014/main" id="{1AC081F7-422E-4F89-85FD-BA83FDE5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57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74CD"/>
          </a:solidFill>
          <a:ln xmlns:a="http://schemas.openxmlformats.org/drawingml/2006/main" w="0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chen-local-op-0-2">
            <a:extLst xmlns:a="http://schemas.openxmlformats.org/drawingml/2006/main">
              <a:ext uri="{FF2B5EF4-FFF2-40B4-BE49-F238E27FC236}">
                <a16:creationId xmlns:a16="http://schemas.microsoft.com/office/drawing/2014/main" id="{1E329B2F-2BF6-4160-BF38-D6446DA2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657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74CD"/>
          </a:solidFill>
          <a:ln xmlns:a="http://schemas.openxmlformats.org/drawingml/2006/main" w="0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39" name="chen-station-stem-0">
            <a:extLst xmlns:a="http://schemas.openxmlformats.org/drawingml/2006/main">
              <a:ext uri="{FF2B5EF4-FFF2-40B4-BE49-F238E27FC236}">
                <a16:creationId xmlns:a16="http://schemas.microsoft.com/office/drawing/2014/main" id="{6001AF14-D1F7-454C-A58B-AD029E5A63A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81288" y="38766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4674CD"/>
            </a:solidFill>
            <a:prstDash val="solid"/>
          </a:ln>
        </p:spPr>
      </p:cxnSp>
      <p:sp>
        <p:nvSpPr>
          <p:cNvPr id="40" name="chen-station-1">
            <a:extLst xmlns:a="http://schemas.openxmlformats.org/drawingml/2006/main">
              <a:ext uri="{FF2B5EF4-FFF2-40B4-BE49-F238E27FC236}">
                <a16:creationId xmlns:a16="http://schemas.microsoft.com/office/drawing/2014/main" id="{6308437A-0AD8-476C-AECE-8581129B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24225"/>
            <a:ext cx="1095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2383">
            <a:solidFill>
              <a:srgbClr val="4674CD"/>
            </a:solidFill>
            <a:prstDash val="solid"/>
          </a:ln>
        </p:spPr>
      </p:sp>
      <p:sp>
        <p:nvSpPr>
          <p:cNvPr id="41" name="chen-station-caption-1">
            <a:extLst xmlns:a="http://schemas.openxmlformats.org/drawingml/2006/main">
              <a:ext uri="{FF2B5EF4-FFF2-40B4-BE49-F238E27FC236}">
                <a16:creationId xmlns:a16="http://schemas.microsoft.com/office/drawing/2014/main" id="{D013C5D4-E677-4665-A3A4-7D0D9AF0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62325"/>
            <a:ext cx="952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88" b="1">
                <a:solidFill>
                  <a:srgbClr val="17375E"/>
                </a:solidFill>
              </a:defRPr>
            </a:pPr>
            <a:r>
              <a:rPr sz="1388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站位</a:t>
            </a:r>
            <a:r>
              <a:rPr sz="1388" b="1">
                <a:solidFill>
                  <a:srgbClr val="17375E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chen-local-op-1-1">
            <a:extLst xmlns:a="http://schemas.openxmlformats.org/drawingml/2006/main">
              <a:ext uri="{FF2B5EF4-FFF2-40B4-BE49-F238E27FC236}">
                <a16:creationId xmlns:a16="http://schemas.microsoft.com/office/drawing/2014/main" id="{7178478D-E5CC-4F25-8179-31A5F75C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57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74CD"/>
          </a:solidFill>
          <a:ln xmlns:a="http://schemas.openxmlformats.org/drawingml/2006/main" w="0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chen-local-op-1-2">
            <a:extLst xmlns:a="http://schemas.openxmlformats.org/drawingml/2006/main">
              <a:ext uri="{FF2B5EF4-FFF2-40B4-BE49-F238E27FC236}">
                <a16:creationId xmlns:a16="http://schemas.microsoft.com/office/drawing/2014/main" id="{4EC99BB1-BBE6-4CF1-BE2A-88185343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57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74CD"/>
          </a:solidFill>
          <a:ln xmlns:a="http://schemas.openxmlformats.org/drawingml/2006/main" w="0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5" name="chen-station-stem-1">
            <a:extLst xmlns:a="http://schemas.openxmlformats.org/drawingml/2006/main">
              <a:ext uri="{FF2B5EF4-FFF2-40B4-BE49-F238E27FC236}">
                <a16:creationId xmlns:a16="http://schemas.microsoft.com/office/drawing/2014/main" id="{2CA1415D-23FD-4110-B4D8-73205F44BC2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43363" y="38766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4674CD"/>
            </a:solidFill>
            <a:prstDash val="solid"/>
          </a:ln>
        </p:spPr>
      </p:cxnSp>
      <p:sp>
        <p:nvSpPr>
          <p:cNvPr id="46" name="chen-station-2">
            <a:extLst xmlns:a="http://schemas.openxmlformats.org/drawingml/2006/main">
              <a:ext uri="{FF2B5EF4-FFF2-40B4-BE49-F238E27FC236}">
                <a16:creationId xmlns:a16="http://schemas.microsoft.com/office/drawing/2014/main" id="{5A92C30E-3E47-4DCB-99D8-6E4B707F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24225"/>
            <a:ext cx="1095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2383">
            <a:solidFill>
              <a:srgbClr val="4674CD"/>
            </a:solidFill>
            <a:prstDash val="solid"/>
          </a:ln>
        </p:spPr>
      </p:sp>
      <p:sp>
        <p:nvSpPr>
          <p:cNvPr id="47" name="chen-station-caption-2">
            <a:extLst xmlns:a="http://schemas.openxmlformats.org/drawingml/2006/main">
              <a:ext uri="{FF2B5EF4-FFF2-40B4-BE49-F238E27FC236}">
                <a16:creationId xmlns:a16="http://schemas.microsoft.com/office/drawing/2014/main" id="{1964FCAC-B732-4162-88E2-8B085C28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362325"/>
            <a:ext cx="952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88" b="1">
                <a:solidFill>
                  <a:srgbClr val="17375E"/>
                </a:solidFill>
              </a:defRPr>
            </a:pPr>
            <a:r>
              <a:rPr sz="1388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站位</a:t>
            </a:r>
            <a:r>
              <a:rPr sz="1388" b="1">
                <a:solidFill>
                  <a:srgbClr val="17375E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chen-local-op-2-1">
            <a:extLst xmlns:a="http://schemas.openxmlformats.org/drawingml/2006/main">
              <a:ext uri="{FF2B5EF4-FFF2-40B4-BE49-F238E27FC236}">
                <a16:creationId xmlns:a16="http://schemas.microsoft.com/office/drawing/2014/main" id="{B436C83F-8062-4FCA-AE34-A6379773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57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74CD"/>
          </a:solidFill>
          <a:ln xmlns:a="http://schemas.openxmlformats.org/drawingml/2006/main" w="0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" name="chen-local-op-2-2">
            <a:extLst xmlns:a="http://schemas.openxmlformats.org/drawingml/2006/main">
              <a:ext uri="{FF2B5EF4-FFF2-40B4-BE49-F238E27FC236}">
                <a16:creationId xmlns:a16="http://schemas.microsoft.com/office/drawing/2014/main" id="{80DF2EA6-1ACB-4E25-BCDA-B2A2E608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57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74CD"/>
          </a:solidFill>
          <a:ln xmlns:a="http://schemas.openxmlformats.org/drawingml/2006/main" w="0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51" name="chen-station-stem-2">
            <a:extLst xmlns:a="http://schemas.openxmlformats.org/drawingml/2006/main">
              <a:ext uri="{FF2B5EF4-FFF2-40B4-BE49-F238E27FC236}">
                <a16:creationId xmlns:a16="http://schemas.microsoft.com/office/drawing/2014/main" id="{2777C26F-A65A-44D5-8322-A04B50C3455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405438" y="38766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4674CD"/>
            </a:solidFill>
            <a:prstDash val="solid"/>
          </a:ln>
        </p:spPr>
      </p:cxnSp>
      <p:cxnSp>
        <p:nvCxnSpPr>
          <p:cNvPr id="52" name="chen-cross-station-aggregation">
            <a:extLst xmlns:a="http://schemas.openxmlformats.org/drawingml/2006/main">
              <a:ext uri="{FF2B5EF4-FFF2-40B4-BE49-F238E27FC236}">
                <a16:creationId xmlns:a16="http://schemas.microsoft.com/office/drawing/2014/main" id="{039486E7-1247-47F5-AAF6-9A1F8B8C7E9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81288" y="3971925"/>
            <a:ext cx="27241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4674CD"/>
            </a:solidFill>
            <a:prstDash val="solid"/>
          </a:ln>
        </p:spPr>
      </p:cxnSp>
      <p:sp>
        <p:nvSpPr>
          <p:cNvPr id="53" name="chen-joint-evaluation">
            <a:extLst xmlns:a="http://schemas.openxmlformats.org/drawingml/2006/main">
              <a:ext uri="{FF2B5EF4-FFF2-40B4-BE49-F238E27FC236}">
                <a16:creationId xmlns:a16="http://schemas.microsoft.com/office/drawing/2014/main" id="{7FCE5EC0-2053-44CB-9584-42781E25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957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6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7375E"/>
                </a:solidFill>
              </a:defRPr>
            </a:pPr>
            <a:r>
              <a:rPr sz="1425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局部／全局评价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54" name="chen-evaluation-input">
            <a:extLst xmlns:a="http://schemas.openxmlformats.org/drawingml/2006/main">
              <a:ext uri="{FF2B5EF4-FFF2-40B4-BE49-F238E27FC236}">
                <a16:creationId xmlns:a16="http://schemas.microsoft.com/office/drawing/2014/main" id="{C30B6F0A-F9E9-4CF3-8DE6-A61A26ECB89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43363" y="3971925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4674CD"/>
            </a:solidFill>
            <a:prstDash val="solid"/>
            <a:tailEnd type="triangle" w="sm" len="sm"/>
          </a:ln>
        </p:spPr>
      </p:cxnSp>
      <p:sp>
        <p:nvSpPr>
          <p:cNvPr id="55" name="chen-explanation">
            <a:extLst xmlns:a="http://schemas.openxmlformats.org/drawingml/2006/main">
              <a:ext uri="{FF2B5EF4-FFF2-40B4-BE49-F238E27FC236}">
                <a16:creationId xmlns:a16="http://schemas.microsoft.com/office/drawing/2014/main" id="{67727FE2-A4E2-45B5-933C-A985CA14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613" b="0">
                <a:solidFill>
                  <a:srgbClr val="111111"/>
                </a:solidFill>
              </a:defRPr>
            </a:pPr>
            <a:r>
              <a:rPr sz="16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Chen</a:t>
            </a:r>
            <a:r>
              <a: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等</a:t>
            </a:r>
            <a:r>
              <a:rPr sz="16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[24]</a:t>
            </a:r>
            <a:r>
              <a: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：站内图组织工序、人员与物料，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613" b="0">
                <a:solidFill>
                  <a:srgbClr val="111111"/>
                </a:solidFill>
              </a:defRPr>
            </a:pPr>
            <a:r>
              <a: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支持各站派工规则选择。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chen-cross-station-explanation">
            <a:extLst xmlns:a="http://schemas.openxmlformats.org/drawingml/2006/main">
              <a:ext uri="{FF2B5EF4-FFF2-40B4-BE49-F238E27FC236}">
                <a16:creationId xmlns:a16="http://schemas.microsoft.com/office/drawing/2014/main" id="{32EE8F3A-627A-49CA-9236-3B72E7BC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81425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613" b="0">
                <a:solidFill>
                  <a:srgbClr val="111111"/>
                </a:solidFill>
              </a:defRPr>
            </a:pPr>
            <a:r>
              <a: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跨站聚合进入局部与全局评价，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613" b="0">
                <a:solidFill>
                  <a:srgbClr val="111111"/>
                </a:solidFill>
              </a:defRPr>
            </a:pPr>
            <a:r>
              <a: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协调各站调度。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ding-diagram-label">
            <a:extLst xmlns:a="http://schemas.openxmlformats.org/drawingml/2006/main">
              <a:ext uri="{FF2B5EF4-FFF2-40B4-BE49-F238E27FC236}">
                <a16:creationId xmlns:a16="http://schemas.microsoft.com/office/drawing/2014/main" id="{1CFBC49D-02ED-4CFE-9A5A-7833BC4A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243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88" b="1">
                <a:solidFill>
                  <a:srgbClr val="315CA9"/>
                </a:solidFill>
              </a:defRPr>
            </a:pPr>
            <a:r>
              <a:rPr sz="1388" b="1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rPr>
              <a:t>Ding</a:t>
            </a:r>
            <a:r>
              <a:rPr sz="1388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等</a:t>
            </a:r>
            <a:r>
              <a:rPr sz="1388" b="1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rPr>
              <a:t>[33]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ding-product">
            <a:extLst xmlns:a="http://schemas.openxmlformats.org/drawingml/2006/main">
              <a:ext uri="{FF2B5EF4-FFF2-40B4-BE49-F238E27FC236}">
                <a16:creationId xmlns:a16="http://schemas.microsoft.com/office/drawing/2014/main" id="{FC5428CE-FAB4-476D-BC75-C8E96DEE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95850"/>
            <a:ext cx="4381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7375E"/>
                </a:solidFill>
              </a:defRPr>
            </a:pPr>
            <a:r>
              <a:rPr sz="13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产品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9" name="ding-process">
            <a:extLst xmlns:a="http://schemas.openxmlformats.org/drawingml/2006/main">
              <a:ext uri="{FF2B5EF4-FFF2-40B4-BE49-F238E27FC236}">
                <a16:creationId xmlns:a16="http://schemas.microsoft.com/office/drawing/2014/main" id="{7B4C6FD2-9B93-49F5-89D2-1C0715E4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895850"/>
            <a:ext cx="4381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7375E"/>
                </a:solidFill>
              </a:defRPr>
            </a:pPr>
            <a:r>
              <a:rPr sz="13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工艺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" name="ding-resource">
            <a:extLst xmlns:a="http://schemas.openxmlformats.org/drawingml/2006/main">
              <a:ext uri="{FF2B5EF4-FFF2-40B4-BE49-F238E27FC236}">
                <a16:creationId xmlns:a16="http://schemas.microsoft.com/office/drawing/2014/main" id="{AE846BB2-C543-46DB-A652-3C76123B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476875"/>
            <a:ext cx="4381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7375E"/>
                </a:solidFill>
              </a:defRPr>
            </a:pPr>
            <a:r>
              <a:rPr sz="13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资源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4" name="ding-event-attributes">
            <a:extLst xmlns:a="http://schemas.openxmlformats.org/drawingml/2006/main">
              <a:ext uri="{FF2B5EF4-FFF2-40B4-BE49-F238E27FC236}">
                <a16:creationId xmlns:a16="http://schemas.microsoft.com/office/drawing/2014/main" id="{C5DED79F-FA0C-4D0B-B980-19F11D45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591175"/>
            <a:ext cx="76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6E747A"/>
                </a:solidFill>
              </a:defRPr>
            </a:pPr>
            <a:r>
              <a:rPr sz="1275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事件更新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hu-diagram-label">
            <a:extLst xmlns:a="http://schemas.openxmlformats.org/drawingml/2006/main">
              <a:ext uri="{FF2B5EF4-FFF2-40B4-BE49-F238E27FC236}">
                <a16:creationId xmlns:a16="http://schemas.microsoft.com/office/drawing/2014/main" id="{F0E46228-628A-44AA-80EA-560EF024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243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88" b="1">
                <a:solidFill>
                  <a:srgbClr val="315CA9"/>
                </a:solidFill>
              </a:defRPr>
            </a:pPr>
            <a:r>
              <a:rPr sz="1388" b="1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rPr>
              <a:t>Hu</a:t>
            </a:r>
            <a:r>
              <a:rPr sz="1388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等</a:t>
            </a:r>
            <a:r>
              <a:rPr sz="1388" b="1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rPr>
              <a:t>[34]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hu-operation">
            <a:extLst xmlns:a="http://schemas.openxmlformats.org/drawingml/2006/main">
              <a:ext uri="{FF2B5EF4-FFF2-40B4-BE49-F238E27FC236}">
                <a16:creationId xmlns:a16="http://schemas.microsoft.com/office/drawing/2014/main" id="{9817D931-CA32-446C-A641-6A52D5BF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95850"/>
            <a:ext cx="4381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7375E"/>
                </a:solidFill>
              </a:defRPr>
            </a:pPr>
            <a:r>
              <a:rPr sz="13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工序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7" name="hu-machine">
            <a:extLst xmlns:a="http://schemas.openxmlformats.org/drawingml/2006/main">
              <a:ext uri="{FF2B5EF4-FFF2-40B4-BE49-F238E27FC236}">
                <a16:creationId xmlns:a16="http://schemas.microsoft.com/office/drawing/2014/main" id="{411D2272-30D8-4A4E-B78A-AFFAF405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95850"/>
            <a:ext cx="438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E747A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7375E"/>
                </a:solidFill>
              </a:defRPr>
            </a:pPr>
            <a:r>
              <a:rPr sz="13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机器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8" name="hu-worker">
            <a:extLst xmlns:a="http://schemas.openxmlformats.org/drawingml/2006/main">
              <a:ext uri="{FF2B5EF4-FFF2-40B4-BE49-F238E27FC236}">
                <a16:creationId xmlns:a16="http://schemas.microsoft.com/office/drawing/2014/main" id="{44BF1FE7-7ED0-4305-9AAF-2E1F3F0A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476875"/>
            <a:ext cx="4381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E747A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7375E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7375E"/>
                </a:solidFill>
              </a:defRPr>
            </a:pPr>
            <a:r>
              <a:rPr sz="1350" b="0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rPr>
              <a:t>人员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2" name="hu-time-attributes">
            <a:extLst xmlns:a="http://schemas.openxmlformats.org/drawingml/2006/main">
              <a:ext uri="{FF2B5EF4-FFF2-40B4-BE49-F238E27FC236}">
                <a16:creationId xmlns:a16="http://schemas.microsoft.com/office/drawing/2014/main" id="{120BB388-9046-47A9-B3D2-8B80AD80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648325"/>
            <a:ext cx="76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6E747A"/>
                </a:solidFill>
              </a:defRPr>
            </a:pPr>
            <a:r>
              <a:rPr sz="1275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时间属性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3" name="ding-explanation">
            <a:extLst xmlns:a="http://schemas.openxmlformats.org/drawingml/2006/main">
              <a:ext uri="{FF2B5EF4-FFF2-40B4-BE49-F238E27FC236}">
                <a16:creationId xmlns:a16="http://schemas.microsoft.com/office/drawing/2014/main" id="{A6238E03-45A3-4592-99FB-297CC6BE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613" b="0">
                <a:solidFill>
                  <a:srgbClr val="111111"/>
                </a:solidFill>
              </a:defRPr>
            </a:pPr>
            <a:r>
              <a:rPr sz="16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Ding</a:t>
            </a:r>
            <a:r>
              <a: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等</a:t>
            </a:r>
            <a:r>
              <a:rPr sz="16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[33]</a:t>
            </a:r>
            <a:r>
              <a: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：知识图谱通过查询、规则推理和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613" b="0">
                <a:solidFill>
                  <a:srgbClr val="111111"/>
                </a:solidFill>
              </a:defRPr>
            </a:pPr>
            <a:r>
              <a: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事件更新，形成实时状态。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4" name="hu-explanation">
            <a:extLst xmlns:a="http://schemas.openxmlformats.org/drawingml/2006/main">
              <a:ext uri="{FF2B5EF4-FFF2-40B4-BE49-F238E27FC236}">
                <a16:creationId xmlns:a16="http://schemas.microsoft.com/office/drawing/2014/main" id="{0D225340-344B-4908-921A-8B375CF7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67325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613" b="0">
                <a:solidFill>
                  <a:srgbClr val="111111"/>
                </a:solidFill>
              </a:defRPr>
            </a:pPr>
            <a:r>
              <a:rPr sz="16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Hu</a:t>
            </a:r>
            <a:r>
              <a: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等</a:t>
            </a:r>
            <a:r>
              <a:rPr sz="161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[34]</a:t>
            </a:r>
            <a:r>
              <a: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：融合资源实体、语义关系与动态时间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613" b="0">
                <a:solidFill>
                  <a:srgbClr val="111111"/>
                </a:solidFill>
              </a:defRPr>
            </a:pPr>
            <a:r>
              <a: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属性，通过语义异构图聚合支持资源联合选择。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5" name="information-note">
            <a:extLst xmlns:a="http://schemas.openxmlformats.org/drawingml/2006/main">
              <a:ext uri="{FF2B5EF4-FFF2-40B4-BE49-F238E27FC236}">
                <a16:creationId xmlns:a16="http://schemas.microsoft.com/office/drawing/2014/main" id="{45941C2F-1C0A-4CC8-948D-30EEB662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38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238" b="0">
                <a:solidFill>
                  <a:srgbClr val="6E747A"/>
                </a:solidFill>
              </a:defRPr>
            </a:pPr>
            <a:r>
              <a:rPr sz="1238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三组按信息侧重点归纳，可相互交叉。图调度综述依据：</a:t>
            </a:r>
            <a:r>
              <a:rPr sz="1238" b="0">
                <a:solidFill>
                  <a:srgbClr val="6E747A"/>
                </a:solidFill>
                <a:latin typeface="Times New Roman"/>
                <a:ea typeface="Times New Roman"/>
                <a:cs typeface="Times New Roman"/>
              </a:rPr>
              <a:t>Smit</a:t>
            </a:r>
            <a:r>
              <a:rPr sz="1238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等</a:t>
            </a:r>
            <a:r>
              <a:rPr sz="1238" b="0">
                <a:solidFill>
                  <a:srgbClr val="6E747A"/>
                </a:solidFill>
                <a:latin typeface="Times New Roman"/>
                <a:ea typeface="Times New Roman"/>
                <a:cs typeface="Times New Roman"/>
              </a:rPr>
              <a:t>[27]</a:t>
            </a:r>
            <a:r>
              <a:rPr sz="1238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76" name="summary-rule">
            <a:extLst xmlns:a="http://schemas.openxmlformats.org/drawingml/2006/main">
              <a:ext uri="{FF2B5EF4-FFF2-40B4-BE49-F238E27FC236}">
                <a16:creationId xmlns:a16="http://schemas.microsoft.com/office/drawing/2014/main" id="{5EF4235D-2204-46F9-9AD8-5D0546C989A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1500" y="6181725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7E8"/>
            </a:solidFill>
            <a:prstDash val="solid"/>
          </a:ln>
        </p:spPr>
      </p:cxnSp>
      <p:sp>
        <p:nvSpPr>
          <p:cNvPr id="77" name="summary">
            <a:extLst xmlns:a="http://schemas.openxmlformats.org/drawingml/2006/main">
              <a:ext uri="{FF2B5EF4-FFF2-40B4-BE49-F238E27FC236}">
                <a16:creationId xmlns:a16="http://schemas.microsoft.com/office/drawing/2014/main" id="{8E7EC0AC-1B40-4BFA-BA15-0E654638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484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defRPr sz="1583" b="0">
                <a:solidFill>
                  <a:srgbClr val="111111"/>
                </a:solidFill>
              </a:defRPr>
            </a:pPr>
            <a:r>
              <a:rPr sz="158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已有研究利用工艺资源关系、跨站信息和动态时间属性，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defRPr sz="1583" b="0">
                <a:solidFill>
                  <a:srgbClr val="111111"/>
                </a:solidFill>
              </a:defRPr>
            </a:pPr>
            <a:r>
              <a:rPr sz="158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为调度状态的组织与表示提供了基础。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495068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模板页眉横线">
            <a:extLst xmlns:a="http://schemas.openxmlformats.org/drawingml/2006/main">
              <a:ext uri="{FF2B5EF4-FFF2-40B4-BE49-F238E27FC236}">
                <a16:creationId xmlns:a16="http://schemas.microsoft.com/office/drawing/2014/main" id="{C4000073-E50E-0B72-94C0-033F230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054"/>
            <a:ext cx="12192000" cy="45719"/>
          </a:xfrm>
          <a:custGeom xmlns:a="http://schemas.openxmlformats.org/drawingml/2006/main">
            <a:gdLst>
              <a:gd name="T0" fmla="*/ 0 w 21600"/>
              <a:gd name="T1" fmla="*/ 0 h 21600"/>
              <a:gd name="T2" fmla="*/ 489365807 w 21600"/>
              <a:gd name="T3" fmla="*/ 0 h 21600"/>
              <a:gd name="T4" fmla="*/ 489365807 w 21600"/>
              <a:gd name="T5" fmla="*/ 28356134 h 21600"/>
              <a:gd name="T6" fmla="*/ 0 w 21600"/>
              <a:gd name="T7" fmla="*/ 28356134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3175" cap="flat" cmpd="sng">
            <a:solidFill>
              <a:srgbClr val="002060">
                <a:alpha val="0"/>
              </a:srgbClr>
            </a:solidFill>
            <a:round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solidFill>
                <a:srgbClr val="4874CB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" name="同济校标">
            <a:extLst xmlns:a="http://schemas.openxmlformats.org/drawingml/2006/main">
              <a:ext uri="{FF2B5EF4-FFF2-40B4-BE49-F238E27FC236}">
                <a16:creationId xmlns:a16="http://schemas.microsoft.com/office/drawing/2014/main" id="{22624FB1-72C6-4115-8E49-0F66CEDC56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c7674261fed4ab3"/>
          <a:srcRect xmlns:a="http://schemas.openxmlformats.org/drawingml/2006/main" l="0" t="0" r="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1625" y="20910"/>
            <a:ext cx="1809525" cy="526143"/>
          </a:xfrm>
          <a:prstGeom xmlns:a="http://schemas.openxmlformats.org/drawingml/2006/main" prst="rect">
            <a:avLst/>
          </a:prstGeom>
        </p:spPr>
      </p:pic>
      <p:sp>
        <p:nvSpPr>
          <p:cNvPr id="6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CA1E91B-B668-B211-4835-07E77318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"/>
            <a:ext cx="113061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200" b="1">
                <a:solidFill>
                  <a:srgbClr val="4674CD"/>
                </a:solidFill>
              </a:defRPr>
            </a:defPPr>
            <a:lvl1pPr>
              <a:buNone/>
              <a:defRPr sz="3200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4000"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4000"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4000"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4000">
                <a:latin typeface="Microsoft YaHei"/>
                <a:ea typeface="Microsoft YaHei"/>
                <a:cs typeface="Microsoft YaHei"/>
              </a:defRPr>
            </a:lvl5pPr>
            <a:lvl6pPr marL="4572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6pPr>
            <a:lvl7pPr marL="9144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7pPr>
            <a:lvl8pPr marL="13716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8pPr>
            <a:lvl9pPr marL="18288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4674CD"/>
                </a:solidFill>
              </a:defRPr>
            </a:pPr>
            <a:r>
              <a:rPr sz="3200" b="1">
                <a:solidFill>
                  <a:srgbClr val="4674CD"/>
                </a:solidFill>
                <a:latin typeface="Times New Roman"/>
                <a:ea typeface="Times New Roman"/>
                <a:cs typeface="Times New Roman"/>
              </a:rPr>
              <a:t>2 </a:t>
            </a:r>
            <a:r>
              <a:rPr sz="3200" b="1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rPr>
              <a:t>文献综述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页面主题">
            <a:extLst xmlns:a="http://schemas.openxmlformats.org/drawingml/2006/main">
              <a:ext uri="{FF2B5EF4-FFF2-40B4-BE49-F238E27FC236}">
                <a16:creationId xmlns:a16="http://schemas.microsoft.com/office/drawing/2014/main" id="{A8BFA7F8-B8F6-40F9-8B69-7C7B3793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5247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文献综述小结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vision-text-1005">
            <a:extLst xmlns:a="http://schemas.openxmlformats.org/drawingml/2006/main">
              <a:ext uri="{FF2B5EF4-FFF2-40B4-BE49-F238E27FC236}">
                <a16:creationId xmlns:a16="http://schemas.microsoft.com/office/drawing/2014/main" id="{CD0330C8-8920-4B6D-B042-F71F342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08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basis-heading">
            <a:extLst xmlns:a="http://schemas.openxmlformats.org/drawingml/2006/main">
              <a:ext uri="{FF2B5EF4-FFF2-40B4-BE49-F238E27FC236}">
                <a16:creationId xmlns:a16="http://schemas.microsoft.com/office/drawing/2014/main" id="{938C193F-39FC-47AC-BB1A-4B99C33A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315CA9"/>
                </a:solidFill>
              </a:defRPr>
            </a:pPr>
            <a:r>
              <a:rPr sz="18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已有研究基础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gap-heading">
            <a:extLst xmlns:a="http://schemas.openxmlformats.org/drawingml/2006/main">
              <a:ext uri="{FF2B5EF4-FFF2-40B4-BE49-F238E27FC236}">
                <a16:creationId xmlns:a16="http://schemas.microsoft.com/office/drawing/2014/main" id="{986CEB4F-84DA-46B5-905E-491052CF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381125"/>
            <a:ext cx="3476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315CA9"/>
                </a:solidFill>
              </a:defRPr>
            </a:pPr>
            <a:r>
              <a:rPr sz="18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本课题需进一步处理的问题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esearch-heading">
            <a:extLst xmlns:a="http://schemas.openxmlformats.org/drawingml/2006/main">
              <a:ext uri="{FF2B5EF4-FFF2-40B4-BE49-F238E27FC236}">
                <a16:creationId xmlns:a16="http://schemas.microsoft.com/office/drawing/2014/main" id="{B93868AE-3C15-485F-AA2D-88F221B1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381125"/>
            <a:ext cx="3343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315CA9"/>
                </a:solidFill>
              </a:defRPr>
            </a:pPr>
            <a:r>
              <a:rPr sz="18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对应研究内容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basis-0">
            <a:extLst xmlns:a="http://schemas.openxmlformats.org/drawingml/2006/main">
              <a:ext uri="{FF2B5EF4-FFF2-40B4-BE49-F238E27FC236}">
                <a16:creationId xmlns:a16="http://schemas.microsoft.com/office/drawing/2014/main" id="{F4DB8BC1-3816-464A-83FF-50B856AC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19300"/>
            <a:ext cx="304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8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688" b="0">
                <a:solidFill>
                  <a:srgbClr val="111111"/>
                </a:solidFill>
              </a:defRPr>
            </a:pPr>
            <a:r>
              <a: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联合考虑工序分站、人员配置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688" b="0">
                <a:solidFill>
                  <a:srgbClr val="111111"/>
                </a:solidFill>
              </a:defRPr>
            </a:pPr>
            <a:r>
              <a: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与作业时间</a:t>
            </a:r>
            <a:r>
              <a:rPr sz="168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[3,9,10]</a:t>
            </a:r>
            <a:r>
              <a: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gap-0">
            <a:extLst xmlns:a="http://schemas.openxmlformats.org/drawingml/2006/main">
              <a:ext uri="{FF2B5EF4-FFF2-40B4-BE49-F238E27FC236}">
                <a16:creationId xmlns:a16="http://schemas.microsoft.com/office/drawing/2014/main" id="{94953582-D36B-47E3-B9B9-56762F89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52625"/>
            <a:ext cx="34766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8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688" b="0">
                <a:solidFill>
                  <a:srgbClr val="111111"/>
                </a:solidFill>
              </a:defRPr>
            </a:pPr>
            <a:r>
              <a: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给定人员条件下，联合选择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688" b="0">
                <a:solidFill>
                  <a:srgbClr val="111111"/>
                </a:solidFill>
              </a:defRPr>
            </a:pPr>
            <a:r>
              <a: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工序、站位与具体团队，遵守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688" b="0">
                <a:solidFill>
                  <a:srgbClr val="111111"/>
                </a:solidFill>
              </a:defRPr>
            </a:pPr>
            <a:r>
              <a: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首次指派后形成的人员站位绑定。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research-0">
            <a:extLst xmlns:a="http://schemas.openxmlformats.org/drawingml/2006/main">
              <a:ext uri="{FF2B5EF4-FFF2-40B4-BE49-F238E27FC236}">
                <a16:creationId xmlns:a16="http://schemas.microsoft.com/office/drawing/2014/main" id="{5CF2E778-7E9F-479F-83BD-48CC41FB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26695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315CA9"/>
                </a:solidFill>
              </a:defRPr>
            </a:pPr>
            <a:r>
              <a:rPr sz="18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基于同构图强化学习的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315CA9"/>
                </a:solidFill>
              </a:defRPr>
            </a:pPr>
            <a:r>
              <a:rPr sz="18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脉动装配线调度优化方法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research-label-0">
            <a:extLst xmlns:a="http://schemas.openxmlformats.org/drawingml/2006/main">
              <a:ext uri="{FF2B5EF4-FFF2-40B4-BE49-F238E27FC236}">
                <a16:creationId xmlns:a16="http://schemas.microsoft.com/office/drawing/2014/main" id="{75B2EAED-5DEF-4D11-9B15-37C75EB9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33575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674CD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4674CD"/>
                </a:solidFill>
              </a:defRPr>
            </a:pPr>
            <a:r>
              <a:rPr sz="1725" b="1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rPr>
              <a:t>研究内容一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6" name="basis-gap-link-0">
            <a:extLst xmlns:a="http://schemas.openxmlformats.org/drawingml/2006/main">
              <a:ext uri="{FF2B5EF4-FFF2-40B4-BE49-F238E27FC236}">
                <a16:creationId xmlns:a16="http://schemas.microsoft.com/office/drawing/2014/main" id="{C0E1FAD7-973B-4EAB-B2E4-F11C90236FF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81425" y="24765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74CD"/>
            </a:solidFill>
            <a:prstDash val="solid"/>
            <a:tailEnd type="triangle" w="sm" len="sm"/>
          </a:ln>
        </p:spPr>
      </p:cxnSp>
      <p:cxnSp>
        <p:nvCxnSpPr>
          <p:cNvPr id="17" name="gap-research-link-0">
            <a:extLst xmlns:a="http://schemas.openxmlformats.org/drawingml/2006/main">
              <a:ext uri="{FF2B5EF4-FFF2-40B4-BE49-F238E27FC236}">
                <a16:creationId xmlns:a16="http://schemas.microsoft.com/office/drawing/2014/main" id="{3C9175CF-B1BA-4ED2-82FC-0B3F9B7BEAE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810500" y="24765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74CD"/>
            </a:solidFill>
            <a:prstDash val="solid"/>
            <a:tailEnd type="triangle" w="sm" len="sm"/>
          </a:ln>
        </p:spPr>
      </p:cxnSp>
      <p:cxnSp>
        <p:nvCxnSpPr>
          <p:cNvPr id="18" name="row-separator-0">
            <a:extLst xmlns:a="http://schemas.openxmlformats.org/drawingml/2006/main">
              <a:ext uri="{FF2B5EF4-FFF2-40B4-BE49-F238E27FC236}">
                <a16:creationId xmlns:a16="http://schemas.microsoft.com/office/drawing/2014/main" id="{804EFB5A-A215-47F9-A2E1-9073BFEE853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0075" y="3190875"/>
            <a:ext cx="11010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7E8"/>
            </a:solidFill>
            <a:prstDash val="solid"/>
          </a:ln>
        </p:spPr>
      </p:cxnSp>
      <p:sp>
        <p:nvSpPr>
          <p:cNvPr id="19" name="basis-1">
            <a:extLst xmlns:a="http://schemas.openxmlformats.org/drawingml/2006/main">
              <a:ext uri="{FF2B5EF4-FFF2-40B4-BE49-F238E27FC236}">
                <a16:creationId xmlns:a16="http://schemas.microsoft.com/office/drawing/2014/main" id="{B16E66C5-6CB2-480C-8690-087C5E66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67100"/>
            <a:ext cx="304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8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688" b="0">
                <a:solidFill>
                  <a:srgbClr val="111111"/>
                </a:solidFill>
              </a:defRPr>
            </a:pPr>
            <a:r>
              <a: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异构图组织不同资源关系，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688" b="0">
                <a:solidFill>
                  <a:srgbClr val="111111"/>
                </a:solidFill>
              </a:defRPr>
            </a:pPr>
            <a:r>
              <a: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装配重调度考虑执行保留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688" b="0">
                <a:solidFill>
                  <a:srgbClr val="111111"/>
                </a:solidFill>
              </a:defRPr>
            </a:pPr>
            <a:r>
              <a: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与计划改动</a:t>
            </a:r>
            <a:r>
              <a:rPr sz="168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[5,29]</a:t>
            </a:r>
            <a:r>
              <a: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gap-1">
            <a:extLst xmlns:a="http://schemas.openxmlformats.org/drawingml/2006/main">
              <a:ext uri="{FF2B5EF4-FFF2-40B4-BE49-F238E27FC236}">
                <a16:creationId xmlns:a16="http://schemas.microsoft.com/office/drawing/2014/main" id="{27B9D42F-BC2A-4153-9944-2439445D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71850"/>
            <a:ext cx="3476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5" b="0">
                <a:solidFill>
                  <a:srgbClr val="111111"/>
                </a:solidFill>
              </a:defRPr>
            </a:pPr>
            <a:r>
              <a:rPr sz="166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延迟开工后，保留规定安排，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5" b="0">
                <a:solidFill>
                  <a:srgbClr val="111111"/>
                </a:solidFill>
              </a:defRPr>
            </a:pPr>
            <a:r>
              <a:rPr sz="166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利用关系表示选择工序、站位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5" b="0">
                <a:solidFill>
                  <a:srgbClr val="111111"/>
                </a:solidFill>
              </a:defRPr>
            </a:pPr>
            <a:r>
              <a:rPr sz="166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及满足不同人数需求的完整团队，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65" b="0">
                <a:solidFill>
                  <a:srgbClr val="111111"/>
                </a:solidFill>
              </a:defRPr>
            </a:pPr>
            <a:r>
              <a:rPr sz="166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兼顾完工时间与计划稳定性。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research-1">
            <a:extLst xmlns:a="http://schemas.openxmlformats.org/drawingml/2006/main">
              <a:ext uri="{FF2B5EF4-FFF2-40B4-BE49-F238E27FC236}">
                <a16:creationId xmlns:a16="http://schemas.microsoft.com/office/drawing/2014/main" id="{F1FA9FF7-4E8E-47E1-BD49-20BC0F82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71475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315CA9"/>
                </a:solidFill>
              </a:defRPr>
            </a:pPr>
            <a:r>
              <a:rPr sz="18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基于异构图强化学习的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315CA9"/>
                </a:solidFill>
              </a:defRPr>
            </a:pPr>
            <a:r>
              <a:rPr sz="18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脉动装配线动态调度方法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research-label-1">
            <a:extLst xmlns:a="http://schemas.openxmlformats.org/drawingml/2006/main">
              <a:ext uri="{FF2B5EF4-FFF2-40B4-BE49-F238E27FC236}">
                <a16:creationId xmlns:a16="http://schemas.microsoft.com/office/drawing/2014/main" id="{0DFD1413-3A5C-4CBE-ACF7-B6DCC1B6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381375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674CD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4674CD"/>
                </a:solidFill>
              </a:defRPr>
            </a:pPr>
            <a:r>
              <a:rPr sz="1725" b="1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rPr>
              <a:t>研究内容二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3" name="basis-gap-link-1">
            <a:extLst xmlns:a="http://schemas.openxmlformats.org/drawingml/2006/main">
              <a:ext uri="{FF2B5EF4-FFF2-40B4-BE49-F238E27FC236}">
                <a16:creationId xmlns:a16="http://schemas.microsoft.com/office/drawing/2014/main" id="{DB6AAE14-E00C-44F9-B507-F91E0380E05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81425" y="39243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74CD"/>
            </a:solidFill>
            <a:prstDash val="solid"/>
            <a:tailEnd type="triangle" w="sm" len="sm"/>
          </a:ln>
        </p:spPr>
      </p:cxnSp>
      <p:cxnSp>
        <p:nvCxnSpPr>
          <p:cNvPr id="24" name="gap-research-link-1">
            <a:extLst xmlns:a="http://schemas.openxmlformats.org/drawingml/2006/main">
              <a:ext uri="{FF2B5EF4-FFF2-40B4-BE49-F238E27FC236}">
                <a16:creationId xmlns:a16="http://schemas.microsoft.com/office/drawing/2014/main" id="{26CFBD95-7E5B-4691-8452-EDEB1566F27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810500" y="39243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74CD"/>
            </a:solidFill>
            <a:prstDash val="solid"/>
            <a:tailEnd type="triangle" w="sm" len="sm"/>
          </a:ln>
        </p:spPr>
      </p:cxnSp>
      <p:cxnSp>
        <p:nvCxnSpPr>
          <p:cNvPr id="25" name="row-separator-1">
            <a:extLst xmlns:a="http://schemas.openxmlformats.org/drawingml/2006/main">
              <a:ext uri="{FF2B5EF4-FFF2-40B4-BE49-F238E27FC236}">
                <a16:creationId xmlns:a16="http://schemas.microsoft.com/office/drawing/2014/main" id="{45FBC197-A711-4339-BCB0-9333E96011F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0075" y="4638675"/>
            <a:ext cx="11010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7E8"/>
            </a:solidFill>
            <a:prstDash val="solid"/>
          </a:ln>
        </p:spPr>
      </p:cxnSp>
      <p:sp>
        <p:nvSpPr>
          <p:cNvPr id="26" name="basis-2">
            <a:extLst xmlns:a="http://schemas.openxmlformats.org/drawingml/2006/main">
              <a:ext uri="{FF2B5EF4-FFF2-40B4-BE49-F238E27FC236}">
                <a16:creationId xmlns:a16="http://schemas.microsoft.com/office/drawing/2014/main" id="{E3FED4B4-4E42-46B2-8979-5596B947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14900"/>
            <a:ext cx="304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8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688" b="0">
                <a:solidFill>
                  <a:srgbClr val="111111"/>
                </a:solidFill>
              </a:defRPr>
            </a:pPr>
            <a:r>
              <a: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多站协调与生产语义研究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688" b="0">
                <a:solidFill>
                  <a:srgbClr val="111111"/>
                </a:solidFill>
              </a:defRPr>
            </a:pPr>
            <a:r>
              <a: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已利用跨站信息及动态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688" b="0">
                <a:solidFill>
                  <a:srgbClr val="111111"/>
                </a:solidFill>
              </a:defRPr>
            </a:pPr>
            <a:r>
              <a: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时间属性</a:t>
            </a:r>
            <a:r>
              <a:rPr sz="1688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[24,33,34]</a:t>
            </a:r>
            <a:r>
              <a: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gap-2">
            <a:extLst xmlns:a="http://schemas.openxmlformats.org/drawingml/2006/main">
              <a:ext uri="{FF2B5EF4-FFF2-40B4-BE49-F238E27FC236}">
                <a16:creationId xmlns:a16="http://schemas.microsoft.com/office/drawing/2014/main" id="{BEF57305-15EB-419B-9585-D7663BA1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48225"/>
            <a:ext cx="34766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8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688" b="0">
                <a:solidFill>
                  <a:srgbClr val="111111"/>
                </a:solidFill>
              </a:defRPr>
            </a:pPr>
            <a:r>
              <a: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同步转站下，区分当前与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688" b="0">
                <a:solidFill>
                  <a:srgbClr val="111111"/>
                </a:solidFill>
              </a:defRPr>
            </a:pPr>
            <a:r>
              <a: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下一周期任务，学习生产状态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688" b="0">
                <a:solidFill>
                  <a:srgbClr val="111111"/>
                </a:solidFill>
              </a:defRPr>
            </a:pPr>
            <a:r>
              <a: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与转站、站位就绪时间的联系。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research-2">
            <a:extLst xmlns:a="http://schemas.openxmlformats.org/drawingml/2006/main">
              <a:ext uri="{FF2B5EF4-FFF2-40B4-BE49-F238E27FC236}">
                <a16:creationId xmlns:a16="http://schemas.microsoft.com/office/drawing/2014/main" id="{E008B2BC-E005-4952-9387-CCA1E55B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16255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315CA9"/>
                </a:solidFill>
              </a:defRPr>
            </a:pPr>
            <a:r>
              <a:rPr sz="18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基于语义增强图强化学习的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315CA9"/>
                </a:solidFill>
              </a:defRPr>
            </a:pPr>
            <a:r>
              <a:rPr sz="18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多架次协同动态调度方法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research-label-2">
            <a:extLst xmlns:a="http://schemas.openxmlformats.org/drawingml/2006/main">
              <a:ext uri="{FF2B5EF4-FFF2-40B4-BE49-F238E27FC236}">
                <a16:creationId xmlns:a16="http://schemas.microsoft.com/office/drawing/2014/main" id="{5052EB24-8939-4B39-866F-65A1FB16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829175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674CD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4674CD"/>
                </a:solidFill>
              </a:defRPr>
            </a:pPr>
            <a:r>
              <a:rPr sz="1725" b="1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rPr>
              <a:t>研究内容三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0" name="basis-gap-link-2">
            <a:extLst xmlns:a="http://schemas.openxmlformats.org/drawingml/2006/main">
              <a:ext uri="{FF2B5EF4-FFF2-40B4-BE49-F238E27FC236}">
                <a16:creationId xmlns:a16="http://schemas.microsoft.com/office/drawing/2014/main" id="{FE5A1858-AAF9-4D47-9F05-69E6B0AC625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81425" y="53721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74CD"/>
            </a:solidFill>
            <a:prstDash val="solid"/>
            <a:tailEnd type="triangle" w="sm" len="sm"/>
          </a:ln>
        </p:spPr>
      </p:cxnSp>
      <p:cxnSp>
        <p:nvCxnSpPr>
          <p:cNvPr id="31" name="gap-research-link-2">
            <a:extLst xmlns:a="http://schemas.openxmlformats.org/drawingml/2006/main">
              <a:ext uri="{FF2B5EF4-FFF2-40B4-BE49-F238E27FC236}">
                <a16:creationId xmlns:a16="http://schemas.microsoft.com/office/drawing/2014/main" id="{E55B0AD4-32E5-473D-B95D-62D5C70B941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810500" y="53721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74CD"/>
            </a:solidFill>
            <a:prstDash val="solid"/>
            <a:tailEnd type="triangle" w="sm" len="sm"/>
          </a:ln>
        </p:spPr>
      </p:cxnSp>
      <p:cxnSp>
        <p:nvCxnSpPr>
          <p:cNvPr id="32" name="summary-rule">
            <a:extLst xmlns:a="http://schemas.openxmlformats.org/drawingml/2006/main">
              <a:ext uri="{FF2B5EF4-FFF2-40B4-BE49-F238E27FC236}">
                <a16:creationId xmlns:a16="http://schemas.microsoft.com/office/drawing/2014/main" id="{D77F92D8-DC04-423B-B1E8-3521A52D1E9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1500" y="61722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CDD7E8"/>
            </a:solidFill>
            <a:prstDash val="solid"/>
          </a:ln>
        </p:spPr>
      </p:cxnSp>
      <p:sp>
        <p:nvSpPr>
          <p:cNvPr id="33" name="summary">
            <a:extLst xmlns:a="http://schemas.openxmlformats.org/drawingml/2006/main">
              <a:ext uri="{FF2B5EF4-FFF2-40B4-BE49-F238E27FC236}">
                <a16:creationId xmlns:a16="http://schemas.microsoft.com/office/drawing/2014/main" id="{F29BE770-96E5-4EC5-8C67-684FE405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6745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88" b="1">
                <a:solidFill>
                  <a:srgbClr val="111111"/>
                </a:solidFill>
              </a:defRPr>
            </a:pPr>
            <a:r>
              <a:rPr sz="168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研究逐步扩展：无扰动联合安排、延迟开工后的计划修复，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88" b="1">
                <a:solidFill>
                  <a:srgbClr val="111111"/>
                </a:solidFill>
              </a:defRPr>
            </a:pPr>
            <a:r>
              <a:rPr sz="168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以及多架次连续执行中的协同调度。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429908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56719-47F0-4DC0-8048-EFFD324B4589}"/>
              </a:ext>
            </a:extLst>
          </p:cNvPr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V="1">
            <a:off x="6860164" y="5262563"/>
            <a:ext cx="152360" cy="328613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4E251-B92B-4C79-B15E-354F77881B91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6860164" y="4948238"/>
            <a:ext cx="15236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05A3F-CA12-4662-9BD2-F79A34B118EF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4346216" y="5591175"/>
            <a:ext cx="228541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8F829-3F89-4E03-BBCE-8C49087E5C8B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5397503" y="4948238"/>
            <a:ext cx="228541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C3091-E548-4D7F-A9F4-F161DDCEBCBB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3934843" y="4948238"/>
            <a:ext cx="228541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932F4-8336-4E0B-8988-AD4569915B5C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V="1">
            <a:off x="6281194" y="3662363"/>
            <a:ext cx="327575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F7352-4EE1-4573-953C-389B9DDB2513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6281194" y="3348038"/>
            <a:ext cx="327575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CC48E-9371-473A-A3E2-F25D3505579A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4231946" y="3624263"/>
            <a:ext cx="33519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470AF-5573-4D6B-990E-8F76237235F5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V="1">
            <a:off x="4231946" y="3348038"/>
            <a:ext cx="335193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65A74-DAFC-4A12-93D6-A0C08C5DBCDB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6532589" y="1990725"/>
            <a:ext cx="220923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F5319-9D6F-4C40-831E-4D40DE1C174C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427975" y="1990725"/>
            <a:ext cx="21330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3C9C4-92F2-4DA4-BB34-0FCC7E4D358F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231946" y="1966913"/>
            <a:ext cx="304721" cy="23813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14" name="text-101">
            <a:extLst xmlns:a="http://schemas.openxmlformats.org/drawingml/2006/main">
              <a:ext uri="{FF2B5EF4-FFF2-40B4-BE49-F238E27FC236}">
                <a16:creationId xmlns:a16="http://schemas.microsoft.com/office/drawing/2014/main" id="{C8C67C42-5070-4F67-A709-90293E1F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40" y="971550"/>
            <a:ext cx="179785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19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419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latin typeface="Microsoft YaHei"/>
                <a:ea typeface="Microsoft YaHei"/>
                <a:cs typeface="Microsoft YaHei"/>
              </a:rPr>
              <a:t>研究问题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text-102">
            <a:extLst xmlns:a="http://schemas.openxmlformats.org/drawingml/2006/main">
              <a:ext uri="{FF2B5EF4-FFF2-40B4-BE49-F238E27FC236}">
                <a16:creationId xmlns:a16="http://schemas.microsoft.com/office/drawing/2014/main" id="{6A8FA615-7FDC-46E9-B2DA-499F4120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620" y="971550"/>
            <a:ext cx="5324999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19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419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latin typeface="Microsoft YaHei"/>
                <a:ea typeface="Microsoft YaHei"/>
                <a:cs typeface="Microsoft YaHei"/>
              </a:rPr>
              <a:t>核心研究内容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box-104">
            <a:extLst xmlns:a="http://schemas.openxmlformats.org/drawingml/2006/main">
              <a:ext uri="{FF2B5EF4-FFF2-40B4-BE49-F238E27FC236}">
                <a16:creationId xmlns:a16="http://schemas.microsoft.com/office/drawing/2014/main" id="{3114AE8E-1C91-44A4-9092-1E994A68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68" y="1352550"/>
            <a:ext cx="7336157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dash"/>
          </a:ln>
        </p:spPr>
      </p:sp>
      <p:sp>
        <p:nvSpPr>
          <p:cNvPr id="17" name="line-105">
            <a:extLst xmlns:a="http://schemas.openxmlformats.org/drawingml/2006/main">
              <a:ext uri="{FF2B5EF4-FFF2-40B4-BE49-F238E27FC236}">
                <a16:creationId xmlns:a16="http://schemas.microsoft.com/office/drawing/2014/main" id="{D7A4BDDF-9499-45DC-867C-06E98F46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822" y="1352550"/>
            <a:ext cx="0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8" name="line-106">
            <a:extLst xmlns:a="http://schemas.openxmlformats.org/drawingml/2006/main">
              <a:ext uri="{FF2B5EF4-FFF2-40B4-BE49-F238E27FC236}">
                <a16:creationId xmlns:a16="http://schemas.microsoft.com/office/drawing/2014/main" id="{508D2E68-C56D-421C-B7EC-F1EA89D2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889" y="1352550"/>
            <a:ext cx="0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box-107">
            <a:extLst xmlns:a="http://schemas.openxmlformats.org/drawingml/2006/main">
              <a:ext uri="{FF2B5EF4-FFF2-40B4-BE49-F238E27FC236}">
                <a16:creationId xmlns:a16="http://schemas.microsoft.com/office/drawing/2014/main" id="{3341CEE0-7F78-472C-94F1-F0D55FDC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68" y="2990850"/>
            <a:ext cx="7336157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dash"/>
          </a:ln>
        </p:spPr>
      </p:sp>
      <p:sp>
        <p:nvSpPr>
          <p:cNvPr id="20" name="line-108">
            <a:extLst xmlns:a="http://schemas.openxmlformats.org/drawingml/2006/main">
              <a:ext uri="{FF2B5EF4-FFF2-40B4-BE49-F238E27FC236}">
                <a16:creationId xmlns:a16="http://schemas.microsoft.com/office/drawing/2014/main" id="{FEDB4B6A-0E94-47C0-BBDD-2DE94627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822" y="2990850"/>
            <a:ext cx="0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1" name="line-109">
            <a:extLst xmlns:a="http://schemas.openxmlformats.org/drawingml/2006/main">
              <a:ext uri="{FF2B5EF4-FFF2-40B4-BE49-F238E27FC236}">
                <a16:creationId xmlns:a16="http://schemas.microsoft.com/office/drawing/2014/main" id="{58AC4A10-F66A-4C31-B92E-86D4B74F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889" y="2990850"/>
            <a:ext cx="0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2" name="box-110">
            <a:extLst xmlns:a="http://schemas.openxmlformats.org/drawingml/2006/main">
              <a:ext uri="{FF2B5EF4-FFF2-40B4-BE49-F238E27FC236}">
                <a16:creationId xmlns:a16="http://schemas.microsoft.com/office/drawing/2014/main" id="{F51A8846-977A-447E-BF5F-6819455C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68" y="4629150"/>
            <a:ext cx="7336157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dash"/>
          </a:ln>
        </p:spPr>
      </p:sp>
      <p:sp>
        <p:nvSpPr>
          <p:cNvPr id="23" name="line-111">
            <a:extLst xmlns:a="http://schemas.openxmlformats.org/drawingml/2006/main">
              <a:ext uri="{FF2B5EF4-FFF2-40B4-BE49-F238E27FC236}">
                <a16:creationId xmlns:a16="http://schemas.microsoft.com/office/drawing/2014/main" id="{021ED0C8-AFC3-40A4-962B-B599AD69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822" y="4629150"/>
            <a:ext cx="0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4" name="line-112">
            <a:extLst xmlns:a="http://schemas.openxmlformats.org/drawingml/2006/main">
              <a:ext uri="{FF2B5EF4-FFF2-40B4-BE49-F238E27FC236}">
                <a16:creationId xmlns:a16="http://schemas.microsoft.com/office/drawing/2014/main" id="{11FAFC68-2784-4E92-AFC7-631054B3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889" y="4629150"/>
            <a:ext cx="0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5" name="text-113">
            <a:extLst xmlns:a="http://schemas.openxmlformats.org/drawingml/2006/main">
              <a:ext uri="{FF2B5EF4-FFF2-40B4-BE49-F238E27FC236}">
                <a16:creationId xmlns:a16="http://schemas.microsoft.com/office/drawing/2014/main" id="{481E3AEE-FBD0-406E-9017-BABE8493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20" y="1457325"/>
            <a:ext cx="1576931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4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4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4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研究内容一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354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4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工序、站位与团队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354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4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怎样联合安排？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box-114">
            <a:extLst xmlns:a="http://schemas.openxmlformats.org/drawingml/2006/main">
              <a:ext uri="{FF2B5EF4-FFF2-40B4-BE49-F238E27FC236}">
                <a16:creationId xmlns:a16="http://schemas.microsoft.com/office/drawing/2014/main" id="{5A234657-5E91-4200-BBAF-9E1D4FC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800" y="1628775"/>
            <a:ext cx="175214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19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419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latin typeface="Microsoft YaHei"/>
                <a:ea typeface="Microsoft YaHei"/>
                <a:cs typeface="Microsoft YaHei"/>
              </a:rPr>
              <a:t>同构图统一表示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buNone/>
              <a:defRPr sz="1419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latin typeface="Microsoft YaHei"/>
                <a:ea typeface="Microsoft YaHei"/>
                <a:cs typeface="Microsoft YaHei"/>
              </a:rPr>
              <a:t>共享图传播规则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box-115">
            <a:extLst xmlns:a="http://schemas.openxmlformats.org/drawingml/2006/main">
              <a:ext uri="{FF2B5EF4-FFF2-40B4-BE49-F238E27FC236}">
                <a16:creationId xmlns:a16="http://schemas.microsoft.com/office/drawing/2014/main" id="{C1927216-D205-41D2-B90B-49C1F8C0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667" y="1762125"/>
            <a:ext cx="89130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19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419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latin typeface="Microsoft YaHei"/>
                <a:ea typeface="Microsoft YaHei"/>
                <a:cs typeface="Microsoft YaHei"/>
              </a:rPr>
              <a:t>选工序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box-116">
            <a:extLst xmlns:a="http://schemas.openxmlformats.org/drawingml/2006/main">
              <a:ext uri="{FF2B5EF4-FFF2-40B4-BE49-F238E27FC236}">
                <a16:creationId xmlns:a16="http://schemas.microsoft.com/office/drawing/2014/main" id="{095919AF-95C3-4E23-9A38-924C81A0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280" y="1762125"/>
            <a:ext cx="89130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19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419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latin typeface="Microsoft YaHei"/>
                <a:ea typeface="Microsoft YaHei"/>
                <a:cs typeface="Microsoft YaHei"/>
              </a:rPr>
              <a:t>选站位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box-117">
            <a:extLst xmlns:a="http://schemas.openxmlformats.org/drawingml/2006/main">
              <a:ext uri="{FF2B5EF4-FFF2-40B4-BE49-F238E27FC236}">
                <a16:creationId xmlns:a16="http://schemas.microsoft.com/office/drawing/2014/main" id="{3AE7FD2C-546F-421E-B6F2-56AFAE80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512" y="1762125"/>
            <a:ext cx="89130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19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419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latin typeface="Microsoft YaHei"/>
                <a:ea typeface="Microsoft YaHei"/>
                <a:cs typeface="Microsoft YaHei"/>
              </a:rPr>
              <a:t>选团队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text-119">
            <a:extLst xmlns:a="http://schemas.openxmlformats.org/drawingml/2006/main">
              <a:ext uri="{FF2B5EF4-FFF2-40B4-BE49-F238E27FC236}">
                <a16:creationId xmlns:a16="http://schemas.microsoft.com/office/drawing/2014/main" id="{AC77DB9F-8115-41CA-AE8B-FF230166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182" y="2667000"/>
            <a:ext cx="538594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19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19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latin typeface="Microsoft YaHei"/>
                <a:ea typeface="Microsoft YaHei"/>
                <a:cs typeface="Microsoft YaHei"/>
              </a:rPr>
              <a:t>进一步区分关系，并响应工序延迟开工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1" name="arrow-120">
            <a:extLst xmlns:a="http://schemas.openxmlformats.org/drawingml/2006/main">
              <a:ext uri="{FF2B5EF4-FFF2-40B4-BE49-F238E27FC236}">
                <a16:creationId xmlns:a16="http://schemas.microsoft.com/office/drawing/2014/main" id="{08492FF4-0FE9-499F-8A35-E21FA1694A71}"/>
              </a:ext>
            </a:extLst>
          </p:cNvPr>
          <p:cNvCxnSpPr/>
          <p:nvPr/>
        </p:nvCxnSpPr>
        <p:spPr>
          <a:xfrm xmlns:a="http://schemas.openxmlformats.org/drawingml/2006/main">
            <a:off x="1413277" y="26670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2" name="text-121">
            <a:extLst xmlns:a="http://schemas.openxmlformats.org/drawingml/2006/main">
              <a:ext uri="{FF2B5EF4-FFF2-40B4-BE49-F238E27FC236}">
                <a16:creationId xmlns:a16="http://schemas.microsoft.com/office/drawing/2014/main" id="{44EDCC82-1A59-498B-8594-5C0AF69B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20" y="3095625"/>
            <a:ext cx="1576931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4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4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4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354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4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受扰后，怎样兼顾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354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4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效率与计划稳定性？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box-122">
            <a:extLst xmlns:a="http://schemas.openxmlformats.org/drawingml/2006/main">
              <a:ext uri="{FF2B5EF4-FFF2-40B4-BE49-F238E27FC236}">
                <a16:creationId xmlns:a16="http://schemas.microsoft.com/office/drawing/2014/main" id="{9F821EBF-B734-416A-BA17-85EFEBCF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800" y="3276600"/>
            <a:ext cx="175214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19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419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latin typeface="Microsoft YaHei"/>
                <a:ea typeface="Microsoft YaHei"/>
                <a:cs typeface="Microsoft YaHei"/>
              </a:rPr>
              <a:t>异构图关系表示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buNone/>
              <a:defRPr sz="1419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latin typeface="Microsoft YaHei"/>
                <a:ea typeface="Microsoft YaHei"/>
                <a:cs typeface="Microsoft YaHei"/>
              </a:rPr>
              <a:t>前序、技能与安排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box-123">
            <a:extLst xmlns:a="http://schemas.openxmlformats.org/drawingml/2006/main">
              <a:ext uri="{FF2B5EF4-FFF2-40B4-BE49-F238E27FC236}">
                <a16:creationId xmlns:a16="http://schemas.microsoft.com/office/drawing/2014/main" id="{3161EF29-52BE-42E7-9020-5F5A65CB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139" y="3133725"/>
            <a:ext cx="171405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19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419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latin typeface="Microsoft YaHei"/>
                <a:ea typeface="Microsoft YaHei"/>
                <a:cs typeface="Microsoft YaHei"/>
              </a:rPr>
              <a:t>保留冻结安排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box-124">
            <a:extLst xmlns:a="http://schemas.openxmlformats.org/drawingml/2006/main">
              <a:ext uri="{FF2B5EF4-FFF2-40B4-BE49-F238E27FC236}">
                <a16:creationId xmlns:a16="http://schemas.microsoft.com/office/drawing/2014/main" id="{01CFBCE0-4630-419D-91A5-CBAD5740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139" y="3714750"/>
            <a:ext cx="171405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19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419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latin typeface="Microsoft YaHei"/>
                <a:ea typeface="Microsoft YaHei"/>
                <a:cs typeface="Microsoft YaHei"/>
              </a:rPr>
              <a:t>修复可调任务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box-125">
            <a:extLst xmlns:a="http://schemas.openxmlformats.org/drawingml/2006/main">
              <a:ext uri="{FF2B5EF4-FFF2-40B4-BE49-F238E27FC236}">
                <a16:creationId xmlns:a16="http://schemas.microsoft.com/office/drawing/2014/main" id="{865ED198-C62D-4DF4-AF61-7F31C63B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769" y="3371850"/>
            <a:ext cx="1043669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4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354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latin typeface="Microsoft YaHei"/>
                <a:ea typeface="Microsoft YaHei"/>
                <a:cs typeface="Microsoft YaHei"/>
              </a:rPr>
              <a:t>合法调整计划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text-127">
            <a:extLst xmlns:a="http://schemas.openxmlformats.org/drawingml/2006/main">
              <a:ext uri="{FF2B5EF4-FFF2-40B4-BE49-F238E27FC236}">
                <a16:creationId xmlns:a16="http://schemas.microsoft.com/office/drawing/2014/main" id="{7D38B528-57C5-4405-B11D-AFEA9B4B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182" y="4295775"/>
            <a:ext cx="538594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19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19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latin typeface="Microsoft YaHei"/>
                <a:ea typeface="Microsoft YaHei"/>
                <a:cs typeface="Microsoft YaHei"/>
              </a:rPr>
              <a:t>进一步跟踪多架次进度，理解跨站位影响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8" name="arrow-128">
            <a:extLst xmlns:a="http://schemas.openxmlformats.org/drawingml/2006/main">
              <a:ext uri="{FF2B5EF4-FFF2-40B4-BE49-F238E27FC236}">
                <a16:creationId xmlns:a16="http://schemas.microsoft.com/office/drawing/2014/main" id="{8BFBAAC2-58CB-4BD2-B678-DBC64E66DBAE}"/>
              </a:ext>
            </a:extLst>
          </p:cNvPr>
          <p:cNvCxnSpPr/>
          <p:nvPr/>
        </p:nvCxnSpPr>
        <p:spPr>
          <a:xfrm xmlns:a="http://schemas.openxmlformats.org/drawingml/2006/main">
            <a:off x="1413277" y="42957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9" name="text-129">
            <a:extLst xmlns:a="http://schemas.openxmlformats.org/drawingml/2006/main">
              <a:ext uri="{FF2B5EF4-FFF2-40B4-BE49-F238E27FC236}">
                <a16:creationId xmlns:a16="http://schemas.microsoft.com/office/drawing/2014/main" id="{D9331483-242D-4AC4-BF94-C1EE00A5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20" y="4733925"/>
            <a:ext cx="1576931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9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9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研究内容三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9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局部变化跨站影响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9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怎样协调共同转站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9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及下一周期任务？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box-130">
            <a:extLst xmlns:a="http://schemas.openxmlformats.org/drawingml/2006/main">
              <a:ext uri="{FF2B5EF4-FFF2-40B4-BE49-F238E27FC236}">
                <a16:creationId xmlns:a16="http://schemas.microsoft.com/office/drawing/2014/main" id="{A52441F1-5097-4BD1-93A7-1CE7A9F5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182" y="4752975"/>
            <a:ext cx="1462661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9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9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latin typeface="Microsoft YaHei"/>
                <a:ea typeface="Microsoft YaHei"/>
                <a:cs typeface="Microsoft YaHei"/>
              </a:rPr>
              <a:t>工序／飞机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" name="box-131">
            <a:extLst xmlns:a="http://schemas.openxmlformats.org/drawingml/2006/main">
              <a:ext uri="{FF2B5EF4-FFF2-40B4-BE49-F238E27FC236}">
                <a16:creationId xmlns:a16="http://schemas.microsoft.com/office/drawing/2014/main" id="{401BDAEF-0C7E-488B-9023-2E1BD380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383" y="4752975"/>
            <a:ext cx="123412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9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9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latin typeface="Microsoft YaHei"/>
                <a:ea typeface="Microsoft YaHei"/>
                <a:cs typeface="Microsoft YaHei"/>
              </a:rPr>
              <a:t>站位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box-132">
            <a:extLst xmlns:a="http://schemas.openxmlformats.org/drawingml/2006/main">
              <a:ext uri="{FF2B5EF4-FFF2-40B4-BE49-F238E27FC236}">
                <a16:creationId xmlns:a16="http://schemas.microsoft.com/office/drawing/2014/main" id="{BCAE31B7-707A-410B-A26F-722470B7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044" y="4752975"/>
            <a:ext cx="123412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9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9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latin typeface="Microsoft YaHei"/>
                <a:ea typeface="Microsoft YaHei"/>
                <a:cs typeface="Microsoft YaHei"/>
              </a:rPr>
              <a:t>整线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" name="box-133">
            <a:extLst xmlns:a="http://schemas.openxmlformats.org/drawingml/2006/main">
              <a:ext uri="{FF2B5EF4-FFF2-40B4-BE49-F238E27FC236}">
                <a16:creationId xmlns:a16="http://schemas.microsoft.com/office/drawing/2014/main" id="{10A1F788-6C67-4851-948F-4066F217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182" y="5400675"/>
            <a:ext cx="1874034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9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9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latin typeface="Microsoft YaHei"/>
                <a:ea typeface="Microsoft YaHei"/>
                <a:cs typeface="Microsoft YaHei"/>
              </a:rPr>
              <a:t>实际进度与最近变化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box-134">
            <a:extLst xmlns:a="http://schemas.openxmlformats.org/drawingml/2006/main">
              <a:ext uri="{FF2B5EF4-FFF2-40B4-BE49-F238E27FC236}">
                <a16:creationId xmlns:a16="http://schemas.microsoft.com/office/drawing/2014/main" id="{27FFB089-B9B8-40F3-8072-8E4C53E0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757" y="5400675"/>
            <a:ext cx="2285407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9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9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latin typeface="Microsoft YaHei"/>
                <a:ea typeface="Microsoft YaHei"/>
                <a:cs typeface="Microsoft YaHei"/>
              </a:rPr>
              <a:t>当前及下一周期后果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box-135">
            <a:extLst xmlns:a="http://schemas.openxmlformats.org/drawingml/2006/main">
              <a:ext uri="{FF2B5EF4-FFF2-40B4-BE49-F238E27FC236}">
                <a16:creationId xmlns:a16="http://schemas.microsoft.com/office/drawing/2014/main" id="{BE988B54-512C-4842-BE24-4852D83A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524" y="4924425"/>
            <a:ext cx="69324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9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9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latin typeface="Microsoft YaHei"/>
                <a:ea typeface="Microsoft YaHei"/>
                <a:cs typeface="Microsoft YaHei"/>
              </a:rPr>
              <a:t>语义增强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buNone/>
              <a:defRPr sz="129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latin typeface="Microsoft YaHei"/>
                <a:ea typeface="Microsoft YaHei"/>
                <a:cs typeface="Microsoft YaHei"/>
              </a:rPr>
              <a:t>协同安排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text-137">
            <a:extLst xmlns:a="http://schemas.openxmlformats.org/drawingml/2006/main">
              <a:ext uri="{FF2B5EF4-FFF2-40B4-BE49-F238E27FC236}">
                <a16:creationId xmlns:a16="http://schemas.microsoft.com/office/drawing/2014/main" id="{0E741CE5-737B-4F1A-8D13-4DA33CB5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7267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44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共同基础：工艺与人员约束、联合决策与可行性检查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7" name="research-content-label-0">
            <a:extLst xmlns:a="http://schemas.openxmlformats.org/drawingml/2006/main">
              <a:ext uri="{FF2B5EF4-FFF2-40B4-BE49-F238E27FC236}">
                <a16:creationId xmlns:a16="http://schemas.microsoft.com/office/drawing/2014/main" id="{4ADBB8C0-D0A4-469E-916D-12208453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228725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rPr>
              <a:t>研究内容一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research-content-description-0">
            <a:extLst xmlns:a="http://schemas.openxmlformats.org/drawingml/2006/main">
              <a:ext uri="{FF2B5EF4-FFF2-40B4-BE49-F238E27FC236}">
                <a16:creationId xmlns:a16="http://schemas.microsoft.com/office/drawing/2014/main" id="{C40425AF-6B78-4430-AB85-5C8445B6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00200"/>
            <a:ext cx="33147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面向无扰动生产，采用同构图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表示工艺与人员状态，联合安排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工序、站位和具体人员，构造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可行排程。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9" name="research-content-label-1">
            <a:extLst xmlns:a="http://schemas.openxmlformats.org/drawingml/2006/main">
              <a:ext uri="{FF2B5EF4-FFF2-40B4-BE49-F238E27FC236}">
                <a16:creationId xmlns:a16="http://schemas.microsoft.com/office/drawing/2014/main" id="{C1CA0173-B7B5-4D4B-AFFA-5325EDE4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8610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rPr>
              <a:t>研究内容二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research-content-description-1">
            <a:extLst xmlns:a="http://schemas.openxmlformats.org/drawingml/2006/main">
              <a:ext uri="{FF2B5EF4-FFF2-40B4-BE49-F238E27FC236}">
                <a16:creationId xmlns:a16="http://schemas.microsoft.com/office/drawing/2014/main" id="{738E78B0-F946-4E72-A726-FAE7F5A9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57575"/>
            <a:ext cx="33147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通过异构图区分工艺与资源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关系，开展联合调度；延迟开工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后保留不可修改安排，调整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后续计划，兼顾完工时间与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计划稳定性。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research-content-label-2">
            <a:extLst xmlns:a="http://schemas.openxmlformats.org/drawingml/2006/main">
              <a:ext uri="{FF2B5EF4-FFF2-40B4-BE49-F238E27FC236}">
                <a16:creationId xmlns:a16="http://schemas.microsoft.com/office/drawing/2014/main" id="{A5BB2C6E-FC74-4EEE-AFAD-F8C900A2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43475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rPr>
              <a:t>研究内容三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research-content-description-2">
            <a:extLst xmlns:a="http://schemas.openxmlformats.org/drawingml/2006/main">
              <a:ext uri="{FF2B5EF4-FFF2-40B4-BE49-F238E27FC236}">
                <a16:creationId xmlns:a16="http://schemas.microsoft.com/office/drawing/2014/main" id="{77FB95A3-C22C-448D-93A9-6CEFE794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14950"/>
            <a:ext cx="33147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融合飞机、站位与整线信息，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区分当前和下一周期任务。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以实际时间训练共享表征，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结合转站与就绪预测，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协调多架次作业安排。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模板页眉横线">
            <a:extLst xmlns:a="http://schemas.openxmlformats.org/drawingml/2006/main">
              <a:ext uri="{FF2B5EF4-FFF2-40B4-BE49-F238E27FC236}">
                <a16:creationId xmlns:a16="http://schemas.microsoft.com/office/drawing/2014/main" id="{C4000073-E50E-0B72-94C0-033F230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054"/>
            <a:ext cx="12192000" cy="45719"/>
          </a:xfrm>
          <a:custGeom xmlns:a="http://schemas.openxmlformats.org/drawingml/2006/main">
            <a:gdLst>
              <a:gd name="T0" fmla="*/ 0 w 21600"/>
              <a:gd name="T1" fmla="*/ 0 h 21600"/>
              <a:gd name="T2" fmla="*/ 489365807 w 21600"/>
              <a:gd name="T3" fmla="*/ 0 h 21600"/>
              <a:gd name="T4" fmla="*/ 489365807 w 21600"/>
              <a:gd name="T5" fmla="*/ 28356134 h 21600"/>
              <a:gd name="T6" fmla="*/ 0 w 21600"/>
              <a:gd name="T7" fmla="*/ 28356134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3175" cap="flat" cmpd="sng">
            <a:solidFill>
              <a:srgbClr val="002060">
                <a:alpha val="0"/>
              </a:srgbClr>
            </a:solidFill>
            <a:round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solidFill>
                <a:srgbClr val="4874CB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4" name="同济校标">
            <a:extLst xmlns:a="http://schemas.openxmlformats.org/drawingml/2006/main">
              <a:ext uri="{FF2B5EF4-FFF2-40B4-BE49-F238E27FC236}">
                <a16:creationId xmlns:a16="http://schemas.microsoft.com/office/drawing/2014/main" id="{8BC7208D-0E89-4139-8F2F-922E1046E5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83b9e5c17c74269"/>
          <a:srcRect xmlns:a="http://schemas.openxmlformats.org/drawingml/2006/main" l="0" t="0" r="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1625" y="20910"/>
            <a:ext cx="1809525" cy="526143"/>
          </a:xfrm>
          <a:prstGeom xmlns:a="http://schemas.openxmlformats.org/drawingml/2006/main" prst="rect">
            <a:avLst/>
          </a:prstGeom>
        </p:spPr>
      </p:pic>
      <p:sp>
        <p:nvSpPr>
          <p:cNvPr id="55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CA1E91B-B668-B211-4835-07E77318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"/>
            <a:ext cx="113061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3200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4000"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4000"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4000"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4000">
                <a:latin typeface="Microsoft YaHei"/>
                <a:ea typeface="Microsoft YaHei"/>
                <a:cs typeface="Microsoft YaHei"/>
              </a:defRPr>
            </a:lvl5pPr>
            <a:lvl6pPr marL="4572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6pPr>
            <a:lvl7pPr marL="9144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7pPr>
            <a:lvl8pPr marL="13716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8pPr>
            <a:lvl9pPr marL="18288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3200">
                <a:solidFill>
                  <a:srgbClr val="4674C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3 </a:t>
            </a:r>
            <a:r>
              <a:rPr sz="3200">
                <a:solidFill>
                  <a:srgbClr val="4674C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研究内容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revision-text-1005">
            <a:extLst xmlns:a="http://schemas.openxmlformats.org/drawingml/2006/main">
              <a:ext uri="{FF2B5EF4-FFF2-40B4-BE49-F238E27FC236}">
                <a16:creationId xmlns:a16="http://schemas.microsoft.com/office/drawing/2014/main" id="{CD0330C8-8920-4B6D-B042-F71F342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09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case-validation">
            <a:extLst xmlns:a="http://schemas.openxmlformats.org/drawingml/2006/main">
              <a:ext uri="{FF2B5EF4-FFF2-40B4-BE49-F238E27FC236}">
                <a16:creationId xmlns:a16="http://schemas.microsoft.com/office/drawing/2014/main" id="{B21C853E-ECE5-4062-89F8-6522FA59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7267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433" b="0">
                <a:solidFill>
                  <a:srgbClr val="315CA9"/>
                </a:solidFill>
              </a:defRPr>
            </a:pPr>
            <a:r>
              <a:rPr sz="1433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案例验证：工业工艺数据、方法对照、消融分析与计算成本评价。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79038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3D95CB1-933B-4454-8BC5-1F0E64F5C7AC}"/>
              </a:ext>
            </a:extLst>
          </p:cNvPr>
          <p:cNvCxnSpPr>
            <a:stCxn xmlns:a="http://schemas.openxmlformats.org/drawingml/2006/main" id="137" idx="3"/>
            <a:endCxn xmlns:a="http://schemas.openxmlformats.org/drawingml/2006/main" id="138" idx="1"/>
          </p:cNvCxnSpPr>
          <p:nvPr/>
        </p:nvCxnSpPr>
        <p:spPr>
          <a:xfrm xmlns:a="http://schemas.openxmlformats.org/drawingml/2006/main">
            <a:off x="5286375" y="64579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2BCBF18-4891-4278-B982-C601A8CE9DDF}"/>
              </a:ext>
            </a:extLst>
          </p:cNvPr>
          <p:cNvCxnSpPr>
            <a:stCxn xmlns:a="http://schemas.openxmlformats.org/drawingml/2006/main" id="136" idx="3"/>
            <a:endCxn xmlns:a="http://schemas.openxmlformats.org/drawingml/2006/main" id="137" idx="1"/>
          </p:cNvCxnSpPr>
          <p:nvPr/>
        </p:nvCxnSpPr>
        <p:spPr>
          <a:xfrm xmlns:a="http://schemas.openxmlformats.org/drawingml/2006/main">
            <a:off x="2667000" y="64579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2E5D5E9-70E1-4483-B294-55B49124D9E9}"/>
              </a:ext>
            </a:extLst>
          </p:cNvPr>
          <p:cNvCxnSpPr>
            <a:stCxn xmlns:a="http://schemas.openxmlformats.org/drawingml/2006/main" id="122" idx="2"/>
            <a:endCxn xmlns:a="http://schemas.openxmlformats.org/drawingml/2006/main" id="123" idx="0"/>
          </p:cNvCxnSpPr>
          <p:nvPr/>
        </p:nvCxnSpPr>
        <p:spPr>
          <a:xfrm xmlns:a="http://schemas.openxmlformats.org/drawingml/2006/main">
            <a:off x="5853113" y="4638675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EA4E5CB-000B-4AFB-9F15-330A561B9E89}"/>
              </a:ext>
            </a:extLst>
          </p:cNvPr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5853113" y="40576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3F78554-1605-4853-99D8-7BC0D2BB0CE8}"/>
              </a:ext>
            </a:extLst>
          </p:cNvPr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5372100" y="25146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76" name="模板页眉横线">
            <a:extLst xmlns:a="http://schemas.openxmlformats.org/drawingml/2006/main">
              <a:ext uri="{FF2B5EF4-FFF2-40B4-BE49-F238E27FC236}">
                <a16:creationId xmlns:a16="http://schemas.microsoft.com/office/drawing/2014/main" id="{C4000073-E50E-0B72-94C0-033F230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054"/>
            <a:ext cx="12192000" cy="45719"/>
          </a:xfrm>
          <a:custGeom xmlns:a="http://schemas.openxmlformats.org/drawingml/2006/main">
            <a:gdLst>
              <a:gd name="T0" fmla="*/ 0 w 21600"/>
              <a:gd name="T1" fmla="*/ 0 h 21600"/>
              <a:gd name="T2" fmla="*/ 489365807 w 21600"/>
              <a:gd name="T3" fmla="*/ 0 h 21600"/>
              <a:gd name="T4" fmla="*/ 489365807 w 21600"/>
              <a:gd name="T5" fmla="*/ 28356134 h 21600"/>
              <a:gd name="T6" fmla="*/ 0 w 21600"/>
              <a:gd name="T7" fmla="*/ 28356134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3175" cap="flat" cmpd="sng">
            <a:solidFill>
              <a:srgbClr val="002060">
                <a:alpha val="0"/>
              </a:srgbClr>
            </a:solidFill>
            <a:round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solidFill>
                <a:srgbClr val="4874CB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7" name="同济校标">
            <a:extLst xmlns:a="http://schemas.openxmlformats.org/drawingml/2006/main">
              <a:ext uri="{FF2B5EF4-FFF2-40B4-BE49-F238E27FC236}">
                <a16:creationId xmlns:a16="http://schemas.microsoft.com/office/drawing/2014/main" id="{CB5DA115-42AD-4FFE-81AA-5604EBC5B5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f85bfeeb4644fe"/>
          <a:srcRect xmlns:a="http://schemas.openxmlformats.org/drawingml/2006/main" l="0" t="0" r="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1625" y="20910"/>
            <a:ext cx="1809525" cy="526143"/>
          </a:xfrm>
          <a:prstGeom xmlns:a="http://schemas.openxmlformats.org/drawingml/2006/main" prst="rect">
            <a:avLst/>
          </a:prstGeom>
        </p:spPr>
      </p:pic>
      <p:sp>
        <p:nvSpPr>
          <p:cNvPr id="78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CA1E91B-B668-B211-4835-07E77318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"/>
            <a:ext cx="113061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200" b="1">
                <a:solidFill>
                  <a:srgbClr val="4674CD"/>
                </a:solidFill>
              </a:defRPr>
            </a:defPPr>
            <a:lvl1pPr>
              <a:buNone/>
              <a:defRPr sz="3200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4000"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4000"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4000"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4000">
                <a:latin typeface="Microsoft YaHei"/>
                <a:ea typeface="Microsoft YaHei"/>
                <a:cs typeface="Microsoft YaHei"/>
              </a:defRPr>
            </a:lvl5pPr>
            <a:lvl6pPr marL="4572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6pPr>
            <a:lvl7pPr marL="9144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7pPr>
            <a:lvl8pPr marL="13716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8pPr>
            <a:lvl9pPr marL="18288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4674CD"/>
                </a:solidFill>
              </a:defRPr>
            </a:pPr>
            <a:r>
              <a:rPr sz="3200" b="1">
                <a:solidFill>
                  <a:srgbClr val="4674CD"/>
                </a:solidFill>
                <a:latin typeface="Times New Roman"/>
                <a:ea typeface="Times New Roman"/>
                <a:cs typeface="Times New Roman"/>
              </a:rPr>
              <a:t>4 </a:t>
            </a:r>
            <a:r>
              <a:rPr sz="3200" b="1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9" name="页面主题">
            <a:extLst xmlns:a="http://schemas.openxmlformats.org/drawingml/2006/main">
              <a:ext uri="{FF2B5EF4-FFF2-40B4-BE49-F238E27FC236}">
                <a16:creationId xmlns:a16="http://schemas.microsoft.com/office/drawing/2014/main" id="{A8BFA7F8-B8F6-40F9-8B69-7C7B3793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5247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研究内容一：基于同构图强化学习的脉动装配线调度优化方法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" name="revision-text-1005">
            <a:extLst xmlns:a="http://schemas.openxmlformats.org/drawingml/2006/main">
              <a:ext uri="{FF2B5EF4-FFF2-40B4-BE49-F238E27FC236}">
                <a16:creationId xmlns:a16="http://schemas.microsoft.com/office/drawing/2014/main" id="{CD0330C8-8920-4B6D-B042-F71F342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10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81" name="method-divider">
            <a:extLst xmlns:a="http://schemas.openxmlformats.org/drawingml/2006/main">
              <a:ext uri="{FF2B5EF4-FFF2-40B4-BE49-F238E27FC236}">
                <a16:creationId xmlns:a16="http://schemas.microsoft.com/office/drawing/2014/main" id="{349E7931-46FB-4FB4-8E7C-4D5FA64E202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24800" y="1371600"/>
            <a:ext cx="0" cy="51720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7E8"/>
            </a:solidFill>
            <a:prstDash val="solid"/>
          </a:ln>
        </p:spPr>
      </p:cxnSp>
      <p:sp>
        <p:nvSpPr>
          <p:cNvPr id="82" name="explanation-heading-0">
            <a:extLst xmlns:a="http://schemas.openxmlformats.org/drawingml/2006/main">
              <a:ext uri="{FF2B5EF4-FFF2-40B4-BE49-F238E27FC236}">
                <a16:creationId xmlns:a16="http://schemas.microsoft.com/office/drawing/2014/main" id="{7C2512E2-3654-447A-ACB3-3B5DDADF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457325"/>
            <a:ext cx="3533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315CA9"/>
                </a:solidFill>
              </a:defRPr>
            </a:pPr>
            <a:r>
              <a:rPr sz="1673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工序、站位与团队的关联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explanation-body-0">
            <a:extLst xmlns:a="http://schemas.openxmlformats.org/drawingml/2006/main">
              <a:ext uri="{FF2B5EF4-FFF2-40B4-BE49-F238E27FC236}">
                <a16:creationId xmlns:a16="http://schemas.microsoft.com/office/drawing/2014/main" id="{1D647A43-5647-4642-976F-5E13261D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733550"/>
            <a:ext cx="35337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工序选择影响后续作业条件，站位安排改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变任务分布与可选人员，团队组成影响执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行时间。围绕三项决策的相互联系，开展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无扰动条件下的联合静态调度。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explanation-heading-1">
            <a:extLst xmlns:a="http://schemas.openxmlformats.org/drawingml/2006/main">
              <a:ext uri="{FF2B5EF4-FFF2-40B4-BE49-F238E27FC236}">
                <a16:creationId xmlns:a16="http://schemas.microsoft.com/office/drawing/2014/main" id="{45091EB3-4890-491A-9402-D42710B5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95575"/>
            <a:ext cx="3533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315CA9"/>
                </a:solidFill>
              </a:defRPr>
            </a:pPr>
            <a:r>
              <a:rPr sz="1673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同构图统一表示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explanation-body-1">
            <a:extLst xmlns:a="http://schemas.openxmlformats.org/drawingml/2006/main">
              <a:ext uri="{FF2B5EF4-FFF2-40B4-BE49-F238E27FC236}">
                <a16:creationId xmlns:a16="http://schemas.microsoft.com/office/drawing/2014/main" id="{F528580B-6706-4713-8A1F-90246DB7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971800"/>
            <a:ext cx="35337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将工艺前序、站位归属及人员资格、效率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和占用等信息组织在同一图中，采用共享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传播规则提取表示。工序、站位和团队选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择均使用这些信息，并结合已经形成的安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排。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explanation-heading-2">
            <a:extLst xmlns:a="http://schemas.openxmlformats.org/drawingml/2006/main">
              <a:ext uri="{FF2B5EF4-FFF2-40B4-BE49-F238E27FC236}">
                <a16:creationId xmlns:a16="http://schemas.microsoft.com/office/drawing/2014/main" id="{ED6E3AEE-97A9-428F-9D65-514DF20A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143375"/>
            <a:ext cx="3533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315CA9"/>
                </a:solidFill>
              </a:defRPr>
            </a:pPr>
            <a:r>
              <a:rPr sz="1673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自回归联合决策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explanation-body-2">
            <a:extLst xmlns:a="http://schemas.openxmlformats.org/drawingml/2006/main">
              <a:ext uri="{FF2B5EF4-FFF2-40B4-BE49-F238E27FC236}">
                <a16:creationId xmlns:a16="http://schemas.microsoft.com/office/drawing/2014/main" id="{B5ED2830-2E2B-4AC8-9A55-53027982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419600"/>
            <a:ext cx="35337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依次选择工序、执行站位和具体团队。站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位选择以所选工序为条件，团队选择进一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步结合工序与站位信息，逐人形成完整团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队，保持各项选择之间的联系。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takeaway-outline">
            <a:extLst xmlns:a="http://schemas.openxmlformats.org/drawingml/2006/main">
              <a:ext uri="{FF2B5EF4-FFF2-40B4-BE49-F238E27FC236}">
                <a16:creationId xmlns:a16="http://schemas.microsoft.com/office/drawing/2014/main" id="{B0A5B628-B79E-4B91-9EF7-28142F2E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676900"/>
            <a:ext cx="36004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A2424"/>
            </a:solidFill>
            <a:prstDash val="solid"/>
          </a:ln>
        </p:spPr>
      </p:sp>
      <p:sp>
        <p:nvSpPr>
          <p:cNvPr id="89" name="takeaway">
            <a:extLst xmlns:a="http://schemas.openxmlformats.org/drawingml/2006/main">
              <a:ext uri="{FF2B5EF4-FFF2-40B4-BE49-F238E27FC236}">
                <a16:creationId xmlns:a16="http://schemas.microsoft.com/office/drawing/2014/main" id="{B61A1E8F-5ED1-4789-915A-BD8662A2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81675"/>
            <a:ext cx="335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38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315CA9"/>
                </a:solidFill>
              </a:defRPr>
            </a:pPr>
            <a:r>
              <a:rPr sz="1538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同构图</a:t>
            </a:r>
            <a:r>
              <a:rPr sz="1538" b="0">
                <a:solidFill>
                  <a:srgbClr val="BA2424"/>
                </a:solidFill>
                <a:latin typeface="Microsoft YaHei"/>
                <a:ea typeface="Microsoft YaHei"/>
                <a:cs typeface="Microsoft YaHei"/>
              </a:rPr>
              <a:t>统一编码</a:t>
            </a:r>
            <a:r>
              <a:rPr sz="1538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工艺与资源信息，自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315CA9"/>
                </a:solidFill>
              </a:defRPr>
            </a:pPr>
            <a:r>
              <a:rPr sz="1538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回归策略依次完成工序、站位与具体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315CA9"/>
                </a:solidFill>
              </a:defRPr>
            </a:pPr>
            <a:r>
              <a:rPr sz="1538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团队的</a:t>
            </a:r>
            <a:r>
              <a:rPr sz="1538" b="0">
                <a:solidFill>
                  <a:srgbClr val="BA2424"/>
                </a:solidFill>
                <a:latin typeface="Microsoft YaHei"/>
                <a:ea typeface="Microsoft YaHei"/>
                <a:cs typeface="Microsoft YaHei"/>
              </a:rPr>
              <a:t>联合选择</a:t>
            </a:r>
            <a:r>
              <a:rPr sz="1538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homogeneous-frame">
            <a:extLst xmlns:a="http://schemas.openxmlformats.org/drawingml/2006/main">
              <a:ext uri="{FF2B5EF4-FFF2-40B4-BE49-F238E27FC236}">
                <a16:creationId xmlns:a16="http://schemas.microsoft.com/office/drawing/2014/main" id="{D5C59B10-E98B-43A7-AC10-F22F1DDF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2571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</p:sp>
      <p:sp>
        <p:nvSpPr>
          <p:cNvPr id="91" name="homogeneous-title">
            <a:extLst xmlns:a="http://schemas.openxmlformats.org/drawingml/2006/main">
              <a:ext uri="{FF2B5EF4-FFF2-40B4-BE49-F238E27FC236}">
                <a16:creationId xmlns:a16="http://schemas.microsoft.com/office/drawing/2014/main" id="{83A07F9C-4402-4147-B10E-EFCF235D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9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695" b="0">
                <a:solidFill>
                  <a:srgbClr val="111111"/>
                </a:solidFill>
              </a:defRPr>
            </a:pPr>
            <a:r>
              <a:rPr sz="169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  </a:t>
            </a:r>
            <a:r>
              <a:rPr sz="169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同构图状态编码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homogeneous-node-0">
            <a:extLst xmlns:a="http://schemas.openxmlformats.org/drawingml/2006/main">
              <a:ext uri="{FF2B5EF4-FFF2-40B4-BE49-F238E27FC236}">
                <a16:creationId xmlns:a16="http://schemas.microsoft.com/office/drawing/2014/main" id="{90ED0635-593E-46C6-B97D-D5CBB9AA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52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85" b="0">
                <a:solidFill>
                  <a:srgbClr val="111111"/>
                </a:solidFill>
              </a:defRPr>
            </a:pPr>
            <a:r>
              <a:rPr sz="148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</a:t>
            </a:r>
            <a:r>
              <a:rPr sz="148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homogeneous-node-1">
            <a:extLst xmlns:a="http://schemas.openxmlformats.org/drawingml/2006/main">
              <a:ext uri="{FF2B5EF4-FFF2-40B4-BE49-F238E27FC236}">
                <a16:creationId xmlns:a16="http://schemas.microsoft.com/office/drawing/2014/main" id="{C2D7B7D4-0BFB-4BA3-ACE5-4F0240E8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152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85" b="0">
                <a:solidFill>
                  <a:srgbClr val="111111"/>
                </a:solidFill>
              </a:defRPr>
            </a:pPr>
            <a:r>
              <a:rPr sz="148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</a:t>
            </a:r>
            <a:r>
              <a:rPr sz="148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homogeneous-node-2">
            <a:extLst xmlns:a="http://schemas.openxmlformats.org/drawingml/2006/main">
              <a:ext uri="{FF2B5EF4-FFF2-40B4-BE49-F238E27FC236}">
                <a16:creationId xmlns:a16="http://schemas.microsoft.com/office/drawing/2014/main" id="{5A2E0EF3-D6D8-4549-8E9F-A821675A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152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85" b="0">
                <a:solidFill>
                  <a:srgbClr val="111111"/>
                </a:solidFill>
              </a:defRPr>
            </a:pPr>
            <a:r>
              <a:rPr sz="148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</a:t>
            </a:r>
            <a:r>
              <a:rPr sz="148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homogeneous-node-3">
            <a:extLst xmlns:a="http://schemas.openxmlformats.org/drawingml/2006/main">
              <a:ext uri="{FF2B5EF4-FFF2-40B4-BE49-F238E27FC236}">
                <a16:creationId xmlns:a16="http://schemas.microsoft.com/office/drawing/2014/main" id="{09F1B6BC-BC75-4872-AE29-BCC21D52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895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85" b="0">
                <a:solidFill>
                  <a:srgbClr val="111111"/>
                </a:solidFill>
              </a:defRPr>
            </a:pPr>
            <a:r>
              <a:rPr sz="148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站</a:t>
            </a:r>
            <a:r>
              <a:rPr sz="148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homogeneous-node-4">
            <a:extLst xmlns:a="http://schemas.openxmlformats.org/drawingml/2006/main">
              <a:ext uri="{FF2B5EF4-FFF2-40B4-BE49-F238E27FC236}">
                <a16:creationId xmlns:a16="http://schemas.microsoft.com/office/drawing/2014/main" id="{B547ECEB-E0D4-4988-969E-B7223328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95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85" b="0">
                <a:solidFill>
                  <a:srgbClr val="111111"/>
                </a:solidFill>
              </a:defRPr>
            </a:pPr>
            <a:r>
              <a:rPr sz="148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站</a:t>
            </a:r>
            <a:r>
              <a:rPr sz="148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homogeneous-node-5">
            <a:extLst xmlns:a="http://schemas.openxmlformats.org/drawingml/2006/main">
              <a:ext uri="{FF2B5EF4-FFF2-40B4-BE49-F238E27FC236}">
                <a16:creationId xmlns:a16="http://schemas.microsoft.com/office/drawing/2014/main" id="{3D919F1D-7867-46E6-AE9E-88588DB3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85" b="0">
                <a:solidFill>
                  <a:srgbClr val="111111"/>
                </a:solidFill>
              </a:defRPr>
            </a:pPr>
            <a:r>
              <a:rPr sz="148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人</a:t>
            </a:r>
            <a:r>
              <a:rPr sz="148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homogeneous-node-6">
            <a:extLst xmlns:a="http://schemas.openxmlformats.org/drawingml/2006/main">
              <a:ext uri="{FF2B5EF4-FFF2-40B4-BE49-F238E27FC236}">
                <a16:creationId xmlns:a16="http://schemas.microsoft.com/office/drawing/2014/main" id="{C4C8CBB9-67B3-4916-A97E-D139AD67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638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85" b="0">
                <a:solidFill>
                  <a:srgbClr val="111111"/>
                </a:solidFill>
              </a:defRPr>
            </a:pPr>
            <a:r>
              <a:rPr sz="148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人</a:t>
            </a:r>
            <a:r>
              <a:rPr sz="148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homogeneous-node-7">
            <a:extLst xmlns:a="http://schemas.openxmlformats.org/drawingml/2006/main">
              <a:ext uri="{FF2B5EF4-FFF2-40B4-BE49-F238E27FC236}">
                <a16:creationId xmlns:a16="http://schemas.microsoft.com/office/drawing/2014/main" id="{3AFBEA21-1A99-4553-9F8E-CF70E4D0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38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85" b="0">
                <a:solidFill>
                  <a:srgbClr val="111111"/>
                </a:solidFill>
              </a:defRPr>
            </a:pPr>
            <a:r>
              <a:rPr sz="148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人</a:t>
            </a:r>
            <a:r>
              <a:rPr sz="148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00" name="shared-graph-edge-0-1">
            <a:extLst xmlns:a="http://schemas.openxmlformats.org/drawingml/2006/main">
              <a:ext uri="{FF2B5EF4-FFF2-40B4-BE49-F238E27FC236}">
                <a16:creationId xmlns:a16="http://schemas.microsoft.com/office/drawing/2014/main" id="{F93A7958-673C-4AA2-B281-E5D59A824D3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95400" y="23717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674CD"/>
            </a:solidFill>
            <a:prstDash val="solid"/>
          </a:ln>
        </p:spPr>
      </p:cxnSp>
      <p:cxnSp>
        <p:nvCxnSpPr>
          <p:cNvPr id="101" name="shared-graph-edge-1-2">
            <a:extLst xmlns:a="http://schemas.openxmlformats.org/drawingml/2006/main">
              <a:ext uri="{FF2B5EF4-FFF2-40B4-BE49-F238E27FC236}">
                <a16:creationId xmlns:a16="http://schemas.microsoft.com/office/drawing/2014/main" id="{5D0F06EC-9A09-4858-B843-8E160625BBD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95500" y="23717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674CD"/>
            </a:solidFill>
            <a:prstDash val="solid"/>
          </a:ln>
        </p:spPr>
      </p:cxnSp>
      <p:cxnSp>
        <p:nvCxnSpPr>
          <p:cNvPr id="102" name="shared-graph-edge-0-3">
            <a:extLst xmlns:a="http://schemas.openxmlformats.org/drawingml/2006/main">
              <a:ext uri="{FF2B5EF4-FFF2-40B4-BE49-F238E27FC236}">
                <a16:creationId xmlns:a16="http://schemas.microsoft.com/office/drawing/2014/main" id="{72E96DD1-5F0A-483E-BED7-1AA0654A228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58145" y="2581282"/>
            <a:ext cx="141160" cy="323837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674CD"/>
            </a:solidFill>
            <a:prstDash val="solid"/>
          </a:ln>
        </p:spPr>
      </p:cxnSp>
      <p:cxnSp>
        <p:nvCxnSpPr>
          <p:cNvPr id="103" name="shared-graph-edge-1-3">
            <a:extLst xmlns:a="http://schemas.openxmlformats.org/drawingml/2006/main">
              <a:ext uri="{FF2B5EF4-FFF2-40B4-BE49-F238E27FC236}">
                <a16:creationId xmlns:a16="http://schemas.microsoft.com/office/drawing/2014/main" id="{43C943A0-20CF-43D2-A7EB-EB1514585685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514018" y="2564179"/>
            <a:ext cx="229515" cy="35804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674CD"/>
            </a:solidFill>
            <a:prstDash val="solid"/>
          </a:ln>
        </p:spPr>
      </p:cxnSp>
      <p:cxnSp>
        <p:nvCxnSpPr>
          <p:cNvPr id="104" name="shared-graph-edge-2-4">
            <a:extLst xmlns:a="http://schemas.openxmlformats.org/drawingml/2006/main">
              <a:ext uri="{FF2B5EF4-FFF2-40B4-BE49-F238E27FC236}">
                <a16:creationId xmlns:a16="http://schemas.microsoft.com/office/drawing/2014/main" id="{AC4AA5D6-9FF9-41A4-B49A-F77A5BF00B11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434495" y="2581282"/>
            <a:ext cx="141160" cy="323837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674CD"/>
            </a:solidFill>
            <a:prstDash val="solid"/>
          </a:ln>
        </p:spPr>
      </p:cxnSp>
      <p:cxnSp>
        <p:nvCxnSpPr>
          <p:cNvPr id="105" name="shared-graph-edge-3-5">
            <a:extLst xmlns:a="http://schemas.openxmlformats.org/drawingml/2006/main">
              <a:ext uri="{FF2B5EF4-FFF2-40B4-BE49-F238E27FC236}">
                <a16:creationId xmlns:a16="http://schemas.microsoft.com/office/drawing/2014/main" id="{73EDB74B-D2BA-4C4E-BA53-53298F8C966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106488" y="3317024"/>
            <a:ext cx="177800" cy="33825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674CD"/>
            </a:solidFill>
            <a:prstDash val="solid"/>
          </a:ln>
        </p:spPr>
      </p:cxnSp>
      <p:cxnSp>
        <p:nvCxnSpPr>
          <p:cNvPr id="106" name="shared-graph-edge-3-6">
            <a:extLst xmlns:a="http://schemas.openxmlformats.org/drawingml/2006/main">
              <a:ext uri="{FF2B5EF4-FFF2-40B4-BE49-F238E27FC236}">
                <a16:creationId xmlns:a16="http://schemas.microsoft.com/office/drawing/2014/main" id="{922DD166-A569-4268-825D-CF830D207AA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90770" y="3320184"/>
            <a:ext cx="161710" cy="331932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674CD"/>
            </a:solidFill>
            <a:prstDash val="solid"/>
          </a:ln>
        </p:spPr>
      </p:cxnSp>
      <p:cxnSp>
        <p:nvCxnSpPr>
          <p:cNvPr id="107" name="shared-graph-edge-4-6">
            <a:extLst xmlns:a="http://schemas.openxmlformats.org/drawingml/2006/main">
              <a:ext uri="{FF2B5EF4-FFF2-40B4-BE49-F238E27FC236}">
                <a16:creationId xmlns:a16="http://schemas.microsoft.com/office/drawing/2014/main" id="{0F1157B6-5513-43A6-8D5E-CC215ABE40E0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894845" y="3293628"/>
            <a:ext cx="306060" cy="38504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674CD"/>
            </a:solidFill>
            <a:prstDash val="solid"/>
          </a:ln>
        </p:spPr>
      </p:cxnSp>
      <p:cxnSp>
        <p:nvCxnSpPr>
          <p:cNvPr id="108" name="shared-graph-edge-4-7">
            <a:extLst xmlns:a="http://schemas.openxmlformats.org/drawingml/2006/main">
              <a:ext uri="{FF2B5EF4-FFF2-40B4-BE49-F238E27FC236}">
                <a16:creationId xmlns:a16="http://schemas.microsoft.com/office/drawing/2014/main" id="{9120EF1B-A2A0-4692-99FF-737D9946474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17927" y="3330699"/>
            <a:ext cx="107620" cy="310902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674CD"/>
            </a:solidFill>
            <a:prstDash val="solid"/>
          </a:ln>
        </p:spPr>
      </p:cxnSp>
      <p:sp>
        <p:nvSpPr>
          <p:cNvPr id="109" name="homogeneous-attributes">
            <a:extLst xmlns:a="http://schemas.openxmlformats.org/drawingml/2006/main">
              <a:ext uri="{FF2B5EF4-FFF2-40B4-BE49-F238E27FC236}">
                <a16:creationId xmlns:a16="http://schemas.microsoft.com/office/drawing/2014/main" id="{DA53E3F0-C8EC-4400-B6A1-ABB9E571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76725"/>
            <a:ext cx="2419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3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35" b="0">
                <a:solidFill>
                  <a:srgbClr val="111111"/>
                </a:solidFill>
              </a:defRPr>
            </a:pPr>
            <a:r>
              <a:rPr sz="133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前序、站位、资格、效率与占用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35" b="0">
                <a:solidFill>
                  <a:srgbClr val="111111"/>
                </a:solidFill>
              </a:defRPr>
            </a:pPr>
            <a:r>
              <a:rPr sz="133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共享图传播规则与参数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0" name="common-state">
            <a:extLst xmlns:a="http://schemas.openxmlformats.org/drawingml/2006/main">
              <a:ext uri="{FF2B5EF4-FFF2-40B4-BE49-F238E27FC236}">
                <a16:creationId xmlns:a16="http://schemas.microsoft.com/office/drawing/2014/main" id="{1CB6D8BF-7B83-41C2-A4A8-DF2ACD50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86325"/>
            <a:ext cx="2571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50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08" b="0">
                <a:solidFill>
                  <a:srgbClr val="111111"/>
                </a:solidFill>
              </a:defRPr>
            </a:pPr>
            <a:r>
              <a:rPr sz="150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节点表示与全局调度信息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1" name="graph-state">
            <a:extLst xmlns:a="http://schemas.openxmlformats.org/drawingml/2006/main">
              <a:ext uri="{FF2B5EF4-FFF2-40B4-BE49-F238E27FC236}">
                <a16:creationId xmlns:a16="http://schemas.microsoft.com/office/drawing/2014/main" id="{C24F139A-800F-439D-A69A-3C12F24795F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57375" y="471487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112" name="autoregressive-group">
            <a:extLst xmlns:a="http://schemas.openxmlformats.org/drawingml/2006/main">
              <a:ext uri="{FF2B5EF4-FFF2-40B4-BE49-F238E27FC236}">
                <a16:creationId xmlns:a16="http://schemas.microsoft.com/office/drawing/2014/main" id="{A2BBEBAD-9225-45DE-95E2-702540BE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76375"/>
            <a:ext cx="4276725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674CD"/>
            </a:solidFill>
            <a:prstDash val="solid"/>
          </a:ln>
        </p:spPr>
      </p:sp>
      <p:sp>
        <p:nvSpPr>
          <p:cNvPr id="113" name="autoregressive-title">
            <a:extLst xmlns:a="http://schemas.openxmlformats.org/drawingml/2006/main">
              <a:ext uri="{FF2B5EF4-FFF2-40B4-BE49-F238E27FC236}">
                <a16:creationId xmlns:a16="http://schemas.microsoft.com/office/drawing/2014/main" id="{1A5C7D8A-5C78-4EDF-AFDF-08311459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90675"/>
            <a:ext cx="402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15CA9"/>
                </a:solidFill>
              </a:defRPr>
            </a:pPr>
            <a:r>
              <a:rPr sz="1800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自回归联合决策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operation-selection">
            <a:extLst xmlns:a="http://schemas.openxmlformats.org/drawingml/2006/main">
              <a:ext uri="{FF2B5EF4-FFF2-40B4-BE49-F238E27FC236}">
                <a16:creationId xmlns:a16="http://schemas.microsoft.com/office/drawing/2014/main" id="{16970F57-8A64-448F-81BD-97C56E6B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53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30" b="0">
                <a:solidFill>
                  <a:srgbClr val="111111"/>
                </a:solidFill>
              </a:defRPr>
            </a:pPr>
            <a:r>
              <a:rPr sz="153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  </a:t>
            </a:r>
            <a:r>
              <a:rPr sz="153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选择工序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30" b="0">
                <a:solidFill>
                  <a:srgbClr val="111111"/>
                </a:solidFill>
              </a:defRPr>
            </a:pPr>
            <a:r>
              <a:rPr sz="153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前序与当前安排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30" b="0">
                <a:solidFill>
                  <a:srgbClr val="111111"/>
                </a:solidFill>
              </a:defRPr>
            </a:pPr>
            <a:r>
              <a:rPr sz="153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合法工序候选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station-selection">
            <a:extLst xmlns:a="http://schemas.openxmlformats.org/drawingml/2006/main">
              <a:ext uri="{FF2B5EF4-FFF2-40B4-BE49-F238E27FC236}">
                <a16:creationId xmlns:a16="http://schemas.microsoft.com/office/drawing/2014/main" id="{B60934A5-E0A2-4FEB-A758-A5125C9B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17811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51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15" b="0">
                <a:solidFill>
                  <a:srgbClr val="111111"/>
                </a:solidFill>
              </a:defRPr>
            </a:pPr>
            <a:r>
              <a:rPr sz="151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  </a:t>
            </a:r>
            <a:r>
              <a: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选择站位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15" b="0">
                <a:solidFill>
                  <a:srgbClr val="111111"/>
                </a:solidFill>
              </a:defRPr>
            </a:pPr>
            <a:r>
              <a: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以所选工序为条件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15" b="0">
                <a:solidFill>
                  <a:srgbClr val="111111"/>
                </a:solidFill>
              </a:defRPr>
            </a:pPr>
            <a:r>
              <a: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合法站位候选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7" name="state-to-operation-0">
            <a:extLst xmlns:a="http://schemas.openxmlformats.org/drawingml/2006/main">
              <a:ext uri="{FF2B5EF4-FFF2-40B4-BE49-F238E27FC236}">
                <a16:creationId xmlns:a16="http://schemas.microsoft.com/office/drawing/2014/main" id="{837D7AFA-5507-4283-B631-52F498620D3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43250" y="5086350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</a:ln>
        </p:spPr>
      </p:cxnSp>
      <p:cxnSp>
        <p:nvCxnSpPr>
          <p:cNvPr id="118" name="state-to-operation-1">
            <a:extLst xmlns:a="http://schemas.openxmlformats.org/drawingml/2006/main">
              <a:ext uri="{FF2B5EF4-FFF2-40B4-BE49-F238E27FC236}">
                <a16:creationId xmlns:a16="http://schemas.microsoft.com/office/drawing/2014/main" id="{F098121B-3C06-42FE-B206-1D4554DBEEB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267075" y="2514600"/>
            <a:ext cx="0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</a:ln>
        </p:spPr>
      </p:cxnSp>
      <p:cxnSp>
        <p:nvCxnSpPr>
          <p:cNvPr id="119" name="state-to-operation-2">
            <a:extLst xmlns:a="http://schemas.openxmlformats.org/drawingml/2006/main">
              <a:ext uri="{FF2B5EF4-FFF2-40B4-BE49-F238E27FC236}">
                <a16:creationId xmlns:a16="http://schemas.microsoft.com/office/drawing/2014/main" id="{521331DF-B276-405A-98C7-6DBEEE0E819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67075" y="251460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120" name="team-title">
            <a:extLst xmlns:a="http://schemas.openxmlformats.org/drawingml/2006/main">
              <a:ext uri="{FF2B5EF4-FFF2-40B4-BE49-F238E27FC236}">
                <a16:creationId xmlns:a16="http://schemas.microsoft.com/office/drawing/2014/main" id="{E333AB8C-3024-4157-BD38-C7ACCD17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19450"/>
            <a:ext cx="3914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9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590" b="0">
                <a:solidFill>
                  <a:srgbClr val="111111"/>
                </a:solidFill>
              </a:defRPr>
            </a:pPr>
            <a:r>
              <a:rPr sz="159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  </a:t>
            </a:r>
            <a:r>
              <a:rPr sz="15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按工序需求逐人选择团队成员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team-conditions">
            <a:extLst xmlns:a="http://schemas.openxmlformats.org/drawingml/2006/main">
              <a:ext uri="{FF2B5EF4-FFF2-40B4-BE49-F238E27FC236}">
                <a16:creationId xmlns:a16="http://schemas.microsoft.com/office/drawing/2014/main" id="{DD7CB0A2-2072-4E9B-A7CD-8A5CCBDC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9975"/>
            <a:ext cx="30575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46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11111"/>
                </a:solidFill>
              </a:defRPr>
            </a:pPr>
            <a:r>
              <a:rPr sz="146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所选工序、站位与已选成员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11111"/>
                </a:solidFill>
              </a:defRPr>
            </a:pPr>
            <a:r>
              <a:rPr sz="146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候选人员与合法掩码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next-worker">
            <a:extLst xmlns:a="http://schemas.openxmlformats.org/drawingml/2006/main">
              <a:ext uri="{FF2B5EF4-FFF2-40B4-BE49-F238E27FC236}">
                <a16:creationId xmlns:a16="http://schemas.microsoft.com/office/drawing/2014/main" id="{4564A3E6-9DD7-4669-A32A-C603AC42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86250"/>
            <a:ext cx="30575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选择下一成员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team-update">
            <a:extLst xmlns:a="http://schemas.openxmlformats.org/drawingml/2006/main">
              <a:ext uri="{FF2B5EF4-FFF2-40B4-BE49-F238E27FC236}">
                <a16:creationId xmlns:a16="http://schemas.microsoft.com/office/drawing/2014/main" id="{FD12C0C6-9B7B-4872-B33A-FF851867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57750"/>
            <a:ext cx="30575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46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11111"/>
                </a:solidFill>
              </a:defRPr>
            </a:pPr>
            <a:r>
              <a:rPr sz="146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加入成员，更新团队与候选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4" name="station-to-team-0">
            <a:extLst xmlns:a="http://schemas.openxmlformats.org/drawingml/2006/main">
              <a:ext uri="{FF2B5EF4-FFF2-40B4-BE49-F238E27FC236}">
                <a16:creationId xmlns:a16="http://schemas.microsoft.com/office/drawing/2014/main" id="{0CACC322-118F-45E8-AC59-A632F58CB98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00825" y="3028950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</a:ln>
        </p:spPr>
      </p:cxnSp>
      <p:cxnSp>
        <p:nvCxnSpPr>
          <p:cNvPr id="125" name="station-to-team-1">
            <a:extLst xmlns:a="http://schemas.openxmlformats.org/drawingml/2006/main">
              <a:ext uri="{FF2B5EF4-FFF2-40B4-BE49-F238E27FC236}">
                <a16:creationId xmlns:a16="http://schemas.microsoft.com/office/drawing/2014/main" id="{9E01D96B-353F-4CB0-A9B0-D22B3DB7E4F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00825" y="3114675"/>
            <a:ext cx="9620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</a:ln>
        </p:spPr>
      </p:cxnSp>
      <p:cxnSp>
        <p:nvCxnSpPr>
          <p:cNvPr id="126" name="station-to-team-2">
            <a:extLst xmlns:a="http://schemas.openxmlformats.org/drawingml/2006/main">
              <a:ext uri="{FF2B5EF4-FFF2-40B4-BE49-F238E27FC236}">
                <a16:creationId xmlns:a16="http://schemas.microsoft.com/office/drawing/2014/main" id="{FB26C2B2-C8C4-438A-BF38-3F7F01E1E45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562850" y="31146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</a:ln>
        </p:spPr>
      </p:cxnSp>
      <p:cxnSp>
        <p:nvCxnSpPr>
          <p:cNvPr id="127" name="station-to-team-3">
            <a:extLst xmlns:a="http://schemas.openxmlformats.org/drawingml/2006/main">
              <a:ext uri="{FF2B5EF4-FFF2-40B4-BE49-F238E27FC236}">
                <a16:creationId xmlns:a16="http://schemas.microsoft.com/office/drawing/2014/main" id="{C7733BA1-359A-433C-8E62-94775D6B7D85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381875" y="382905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30" name="team-member-loop-0">
            <a:extLst xmlns:a="http://schemas.openxmlformats.org/drawingml/2006/main">
              <a:ext uri="{FF2B5EF4-FFF2-40B4-BE49-F238E27FC236}">
                <a16:creationId xmlns:a16="http://schemas.microsoft.com/office/drawing/2014/main" id="{D3BC7EF5-9B86-4952-B779-25C51A317D0C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848100" y="50387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</a:ln>
        </p:spPr>
      </p:cxnSp>
      <p:cxnSp>
        <p:nvCxnSpPr>
          <p:cNvPr id="131" name="team-member-loop-1">
            <a:extLst xmlns:a="http://schemas.openxmlformats.org/drawingml/2006/main">
              <a:ext uri="{FF2B5EF4-FFF2-40B4-BE49-F238E27FC236}">
                <a16:creationId xmlns:a16="http://schemas.microsoft.com/office/drawing/2014/main" id="{15112EF6-049D-4569-9969-2263210636B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848100" y="3829050"/>
            <a:ext cx="0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</a:ln>
        </p:spPr>
      </p:cxnSp>
      <p:cxnSp>
        <p:nvCxnSpPr>
          <p:cNvPr id="132" name="team-member-loop-2">
            <a:extLst xmlns:a="http://schemas.openxmlformats.org/drawingml/2006/main">
              <a:ext uri="{FF2B5EF4-FFF2-40B4-BE49-F238E27FC236}">
                <a16:creationId xmlns:a16="http://schemas.microsoft.com/office/drawing/2014/main" id="{CB2F9453-7B4E-4F43-B69D-849B1A09DB9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48100" y="38290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133" name="team-loop-caption">
            <a:extLst xmlns:a="http://schemas.openxmlformats.org/drawingml/2006/main">
              <a:ext uri="{FF2B5EF4-FFF2-40B4-BE49-F238E27FC236}">
                <a16:creationId xmlns:a16="http://schemas.microsoft.com/office/drawing/2014/main" id="{D819CA69-0EBD-4F97-968E-EAE8F4F9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362450"/>
            <a:ext cx="361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3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83" b="0">
                <a:solidFill>
                  <a:srgbClr val="6E747A"/>
                </a:solidFill>
              </a:defRPr>
            </a:pPr>
            <a:r>
              <a:rPr sz="1283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人数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83" b="0">
                <a:solidFill>
                  <a:srgbClr val="6E747A"/>
                </a:solidFill>
              </a:defRPr>
            </a:pPr>
            <a:r>
              <a:rPr sz="1283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未满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4" name="complete-action">
            <a:extLst xmlns:a="http://schemas.openxmlformats.org/drawingml/2006/main">
              <a:ext uri="{FF2B5EF4-FFF2-40B4-BE49-F238E27FC236}">
                <a16:creationId xmlns:a16="http://schemas.microsoft.com/office/drawing/2014/main" id="{50C38DD7-2335-4893-A6B6-D50C4E6C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5450"/>
            <a:ext cx="708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完整动作：工序、站位与具体团队（达到需求人数）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35" name="completed-team-to-action">
            <a:extLst xmlns:a="http://schemas.openxmlformats.org/drawingml/2006/main">
              <a:ext uri="{FF2B5EF4-FFF2-40B4-BE49-F238E27FC236}">
                <a16:creationId xmlns:a16="http://schemas.microsoft.com/office/drawing/2014/main" id="{0B2E7190-53F1-4912-9C39-1FA0A89E190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857875" y="5229225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136" name="forward-time">
            <a:extLst xmlns:a="http://schemas.openxmlformats.org/drawingml/2006/main">
              <a:ext uri="{FF2B5EF4-FFF2-40B4-BE49-F238E27FC236}">
                <a16:creationId xmlns:a16="http://schemas.microsoft.com/office/drawing/2014/main" id="{2C933EB4-6BC2-4E77-B453-0E8FCB80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38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111111"/>
                </a:solidFill>
              </a:defRPr>
            </a:pPr>
            <a:r>
              <a:rPr sz="13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前序与人员可用时间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111111"/>
                </a:solidFill>
              </a:defRPr>
            </a:pPr>
            <a:r>
              <a:rPr sz="13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确定工序起止时刻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7" name="schedule-update">
            <a:extLst xmlns:a="http://schemas.openxmlformats.org/drawingml/2006/main">
              <a:ext uri="{FF2B5EF4-FFF2-40B4-BE49-F238E27FC236}">
                <a16:creationId xmlns:a16="http://schemas.microsoft.com/office/drawing/2014/main" id="{10510681-BDAE-44AE-9DAC-49A06AAF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19125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41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18" b="0">
                <a:solidFill>
                  <a:srgbClr val="111111"/>
                </a:solidFill>
              </a:defRPr>
            </a:pPr>
            <a:r>
              <a:rPr sz="141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更新安排与人员占用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18" b="0">
                <a:solidFill>
                  <a:srgbClr val="111111"/>
                </a:solidFill>
              </a:defRPr>
            </a:pPr>
            <a:r>
              <a:rPr sz="141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记录内生人员绑定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8" name="base-schedule">
            <a:extLst xmlns:a="http://schemas.openxmlformats.org/drawingml/2006/main">
              <a:ext uri="{FF2B5EF4-FFF2-40B4-BE49-F238E27FC236}">
                <a16:creationId xmlns:a16="http://schemas.microsoft.com/office/drawing/2014/main" id="{952F1221-EEDF-43F4-B78B-B1D0F277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191250"/>
            <a:ext cx="2047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全部安排完成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输出静态排程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39" name="action-to-time">
            <a:extLst xmlns:a="http://schemas.openxmlformats.org/drawingml/2006/main">
              <a:ext uri="{FF2B5EF4-FFF2-40B4-BE49-F238E27FC236}">
                <a16:creationId xmlns:a16="http://schemas.microsoft.com/office/drawing/2014/main" id="{ED3B9406-45FA-4213-86D3-39B4D639313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19250" y="58864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42" name="schedule-construction-loop-0">
            <a:extLst xmlns:a="http://schemas.openxmlformats.org/drawingml/2006/main">
              <a:ext uri="{FF2B5EF4-FFF2-40B4-BE49-F238E27FC236}">
                <a16:creationId xmlns:a16="http://schemas.microsoft.com/office/drawing/2014/main" id="{54368F94-01EA-416A-B25B-04B42867095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43375" y="67246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E747A"/>
            </a:solidFill>
            <a:prstDash val="solid"/>
          </a:ln>
        </p:spPr>
      </p:cxnSp>
      <p:cxnSp>
        <p:nvCxnSpPr>
          <p:cNvPr id="143" name="schedule-construction-loop-1">
            <a:extLst xmlns:a="http://schemas.openxmlformats.org/drawingml/2006/main">
              <a:ext uri="{FF2B5EF4-FFF2-40B4-BE49-F238E27FC236}">
                <a16:creationId xmlns:a16="http://schemas.microsoft.com/office/drawing/2014/main" id="{252117AF-CD99-42C5-8AFE-987ADFBFAF6D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19100" y="6800850"/>
            <a:ext cx="37242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E747A"/>
            </a:solidFill>
            <a:prstDash val="solid"/>
          </a:ln>
        </p:spPr>
      </p:cxnSp>
      <p:cxnSp>
        <p:nvCxnSpPr>
          <p:cNvPr id="144" name="schedule-construction-loop-2">
            <a:extLst xmlns:a="http://schemas.openxmlformats.org/drawingml/2006/main">
              <a:ext uri="{FF2B5EF4-FFF2-40B4-BE49-F238E27FC236}">
                <a16:creationId xmlns:a16="http://schemas.microsoft.com/office/drawing/2014/main" id="{4437D7F7-8072-429D-825F-F6E9D2FB7C8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19100" y="1809750"/>
            <a:ext cx="0" cy="49911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E747A"/>
            </a:solidFill>
            <a:prstDash val="solid"/>
          </a:ln>
        </p:spPr>
      </p:cxnSp>
      <p:cxnSp>
        <p:nvCxnSpPr>
          <p:cNvPr id="145" name="schedule-construction-loop-3">
            <a:extLst xmlns:a="http://schemas.openxmlformats.org/drawingml/2006/main">
              <a:ext uri="{FF2B5EF4-FFF2-40B4-BE49-F238E27FC236}">
                <a16:creationId xmlns:a16="http://schemas.microsoft.com/office/drawing/2014/main" id="{FC176D19-E37C-42AF-874E-CE9ABBB9A34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9100" y="18097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E747A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948009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FD8FE15-50AA-4838-9A6E-CBE0A4F7655A}"/>
              </a:ext>
            </a:extLst>
          </p:cNvPr>
          <p:cNvCxnSpPr>
            <a:stCxn xmlns:a="http://schemas.openxmlformats.org/drawingml/2006/main" id="98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>
            <a:off x="5772150" y="58102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1498421-758E-451C-ABBC-D3C02B80BA47}"/>
              </a:ext>
            </a:extLst>
          </p:cNvPr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3857625" y="58102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A4C37F3-F1FE-4E45-AE61-A1C24B5240E5}"/>
              </a:ext>
            </a:extLst>
          </p:cNvPr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2028825" y="58102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52" name="模板页眉横线">
            <a:extLst xmlns:a="http://schemas.openxmlformats.org/drawingml/2006/main">
              <a:ext uri="{FF2B5EF4-FFF2-40B4-BE49-F238E27FC236}">
                <a16:creationId xmlns:a16="http://schemas.microsoft.com/office/drawing/2014/main" id="{C4000073-E50E-0B72-94C0-033F230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054"/>
            <a:ext cx="12192000" cy="45719"/>
          </a:xfrm>
          <a:custGeom xmlns:a="http://schemas.openxmlformats.org/drawingml/2006/main">
            <a:gdLst>
              <a:gd name="T0" fmla="*/ 0 w 21600"/>
              <a:gd name="T1" fmla="*/ 0 h 21600"/>
              <a:gd name="T2" fmla="*/ 489365807 w 21600"/>
              <a:gd name="T3" fmla="*/ 0 h 21600"/>
              <a:gd name="T4" fmla="*/ 489365807 w 21600"/>
              <a:gd name="T5" fmla="*/ 28356134 h 21600"/>
              <a:gd name="T6" fmla="*/ 0 w 21600"/>
              <a:gd name="T7" fmla="*/ 28356134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3175" cap="flat" cmpd="sng">
            <a:solidFill>
              <a:srgbClr val="002060">
                <a:alpha val="0"/>
              </a:srgbClr>
            </a:solidFill>
            <a:round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solidFill>
                <a:srgbClr val="4874CB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3" name="同济校标">
            <a:extLst xmlns:a="http://schemas.openxmlformats.org/drawingml/2006/main">
              <a:ext uri="{FF2B5EF4-FFF2-40B4-BE49-F238E27FC236}">
                <a16:creationId xmlns:a16="http://schemas.microsoft.com/office/drawing/2014/main" id="{56F610C1-4251-4F51-BFC7-145D1205A8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cfd3487284f4225"/>
          <a:srcRect xmlns:a="http://schemas.openxmlformats.org/drawingml/2006/main" l="0" t="0" r="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1625" y="20910"/>
            <a:ext cx="1809525" cy="526143"/>
          </a:xfrm>
          <a:prstGeom xmlns:a="http://schemas.openxmlformats.org/drawingml/2006/main" prst="rect">
            <a:avLst/>
          </a:prstGeom>
        </p:spPr>
      </p:pic>
      <p:sp>
        <p:nvSpPr>
          <p:cNvPr id="54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CA1E91B-B668-B211-4835-07E77318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"/>
            <a:ext cx="113061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200" b="1">
                <a:solidFill>
                  <a:srgbClr val="4674CD"/>
                </a:solidFill>
              </a:defRPr>
            </a:defPPr>
            <a:lvl1pPr>
              <a:buNone/>
              <a:defRPr sz="3200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4000"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4000"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4000"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4000">
                <a:latin typeface="Microsoft YaHei"/>
                <a:ea typeface="Microsoft YaHei"/>
                <a:cs typeface="Microsoft YaHei"/>
              </a:defRPr>
            </a:lvl5pPr>
            <a:lvl6pPr marL="4572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6pPr>
            <a:lvl7pPr marL="9144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7pPr>
            <a:lvl8pPr marL="13716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8pPr>
            <a:lvl9pPr marL="18288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4674CD"/>
                </a:solidFill>
              </a:defRPr>
            </a:pPr>
            <a:r>
              <a:rPr sz="3200" b="1">
                <a:solidFill>
                  <a:srgbClr val="4674CD"/>
                </a:solidFill>
                <a:latin typeface="Times New Roman"/>
                <a:ea typeface="Times New Roman"/>
                <a:cs typeface="Times New Roman"/>
              </a:rPr>
              <a:t>4 </a:t>
            </a:r>
            <a:r>
              <a:rPr sz="3200" b="1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5" name="页面主题">
            <a:extLst xmlns:a="http://schemas.openxmlformats.org/drawingml/2006/main">
              <a:ext uri="{FF2B5EF4-FFF2-40B4-BE49-F238E27FC236}">
                <a16:creationId xmlns:a16="http://schemas.microsoft.com/office/drawing/2014/main" id="{A8BFA7F8-B8F6-40F9-8B69-7C7B3793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5247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研究内容二：基于异构图强化学习的脉动装配线动态调度方法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revision-text-1005">
            <a:extLst xmlns:a="http://schemas.openxmlformats.org/drawingml/2006/main">
              <a:ext uri="{FF2B5EF4-FFF2-40B4-BE49-F238E27FC236}">
                <a16:creationId xmlns:a16="http://schemas.microsoft.com/office/drawing/2014/main" id="{CD0330C8-8920-4B6D-B042-F71F342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11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57" name="method-divider">
            <a:extLst xmlns:a="http://schemas.openxmlformats.org/drawingml/2006/main">
              <a:ext uri="{FF2B5EF4-FFF2-40B4-BE49-F238E27FC236}">
                <a16:creationId xmlns:a16="http://schemas.microsoft.com/office/drawing/2014/main" id="{DB619F27-6006-49F8-9363-2AC01CC7A78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24800" y="1371600"/>
            <a:ext cx="0" cy="51720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7E8"/>
            </a:solidFill>
            <a:prstDash val="solid"/>
          </a:ln>
        </p:spPr>
      </p:cxnSp>
      <p:sp>
        <p:nvSpPr>
          <p:cNvPr id="58" name="explanation-heading-0">
            <a:extLst xmlns:a="http://schemas.openxmlformats.org/drawingml/2006/main">
              <a:ext uri="{FF2B5EF4-FFF2-40B4-BE49-F238E27FC236}">
                <a16:creationId xmlns:a16="http://schemas.microsoft.com/office/drawing/2014/main" id="{47B34485-AF8B-41E6-B007-D351086E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457325"/>
            <a:ext cx="3533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315CA9"/>
                </a:solidFill>
              </a:defRPr>
            </a:pPr>
            <a:r>
              <a:rPr sz="1673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工艺与资源关系的分别编码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9" name="explanation-body-0">
            <a:extLst xmlns:a="http://schemas.openxmlformats.org/drawingml/2006/main">
              <a:ext uri="{FF2B5EF4-FFF2-40B4-BE49-F238E27FC236}">
                <a16:creationId xmlns:a16="http://schemas.microsoft.com/office/drawing/2014/main" id="{9A455B6D-F7F4-4B27-8216-95EC3620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733550"/>
            <a:ext cx="35337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工艺前序、技能需求、人员资格和站位归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属具有不同生产含义。通过异构图区分实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体与关系，按关系传播信息，使联合决策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分别利用工艺联系与资源条件。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" name="explanation-heading-1">
            <a:extLst xmlns:a="http://schemas.openxmlformats.org/drawingml/2006/main">
              <a:ext uri="{FF2B5EF4-FFF2-40B4-BE49-F238E27FC236}">
                <a16:creationId xmlns:a16="http://schemas.microsoft.com/office/drawing/2014/main" id="{9B7FE6D0-91DA-4428-90F3-224C8F80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95575"/>
            <a:ext cx="3533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315CA9"/>
                </a:solidFill>
              </a:defRPr>
            </a:pPr>
            <a:r>
              <a:rPr sz="1673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延迟开工后的计划修复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explanation-body-1">
            <a:extLst xmlns:a="http://schemas.openxmlformats.org/drawingml/2006/main">
              <a:ext uri="{FF2B5EF4-FFF2-40B4-BE49-F238E27FC236}">
                <a16:creationId xmlns:a16="http://schemas.microsoft.com/office/drawing/2014/main" id="{33921705-C5E8-4E24-B096-3935635A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971800"/>
            <a:ext cx="35337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依据固定基准计划确定保留与调整范围，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保留规定工序的原安排，继承已有人员站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位绑定。根据已知开工延迟，联合修订可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调工序的站位、具体团队与作业时间。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explanation-heading-2">
            <a:extLst xmlns:a="http://schemas.openxmlformats.org/drawingml/2006/main">
              <a:ext uri="{FF2B5EF4-FFF2-40B4-BE49-F238E27FC236}">
                <a16:creationId xmlns:a16="http://schemas.microsoft.com/office/drawing/2014/main" id="{2D7AA78E-7814-44C2-9921-25F2B913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933825"/>
            <a:ext cx="3533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315CA9"/>
                </a:solidFill>
              </a:defRPr>
            </a:pPr>
            <a:r>
              <a:rPr sz="1673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完工效率与计划稳定性的兼顾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3" name="explanation-body-2">
            <a:extLst xmlns:a="http://schemas.openxmlformats.org/drawingml/2006/main">
              <a:ext uri="{FF2B5EF4-FFF2-40B4-BE49-F238E27FC236}">
                <a16:creationId xmlns:a16="http://schemas.microsoft.com/office/drawing/2014/main" id="{4A92B5F5-41CA-445A-9D81-E6C7846C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210050"/>
            <a:ext cx="35337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将完工时间与相对基准的开工、站位和团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队变更共同纳入调度目标，研究恢复生产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进度与减少计划改动之间的权衡，形成考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虑原计划延续的重调度方法。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4" name="takeaway-outline">
            <a:extLst xmlns:a="http://schemas.openxmlformats.org/drawingml/2006/main">
              <a:ext uri="{FF2B5EF4-FFF2-40B4-BE49-F238E27FC236}">
                <a16:creationId xmlns:a16="http://schemas.microsoft.com/office/drawing/2014/main" id="{A7B0E0B7-4481-4EEB-A792-B567F982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676900"/>
            <a:ext cx="36004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A2424"/>
            </a:solidFill>
            <a:prstDash val="solid"/>
          </a:ln>
        </p:spPr>
      </p:sp>
      <p:sp>
        <p:nvSpPr>
          <p:cNvPr id="65" name="takeaway">
            <a:extLst xmlns:a="http://schemas.openxmlformats.org/drawingml/2006/main">
              <a:ext uri="{FF2B5EF4-FFF2-40B4-BE49-F238E27FC236}">
                <a16:creationId xmlns:a16="http://schemas.microsoft.com/office/drawing/2014/main" id="{B8FFAFEE-BA66-4B88-A3A4-9B37DE4D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81675"/>
            <a:ext cx="335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38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315CA9"/>
                </a:solidFill>
              </a:defRPr>
            </a:pPr>
            <a:r>
              <a:rPr sz="1538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分别利用工艺与资源关系，在规定范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315CA9"/>
                </a:solidFill>
              </a:defRPr>
            </a:pPr>
            <a:r>
              <a:rPr sz="1538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围内</a:t>
            </a:r>
            <a:r>
              <a:rPr sz="1538" b="0">
                <a:solidFill>
                  <a:srgbClr val="BA2424"/>
                </a:solidFill>
                <a:latin typeface="Microsoft YaHei"/>
                <a:ea typeface="Microsoft YaHei"/>
                <a:cs typeface="Microsoft YaHei"/>
              </a:rPr>
              <a:t>修复受扰计划</a:t>
            </a:r>
            <a:r>
              <a:rPr sz="1538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，兼顾完工效率与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315CA9"/>
                </a:solidFill>
              </a:defRPr>
            </a:pPr>
            <a:r>
              <a:rPr sz="1538" b="0">
                <a:solidFill>
                  <a:srgbClr val="BA2424"/>
                </a:solidFill>
                <a:latin typeface="Microsoft YaHei"/>
                <a:ea typeface="Microsoft YaHei"/>
                <a:cs typeface="Microsoft YaHei"/>
              </a:rPr>
              <a:t>计划稳定性</a:t>
            </a:r>
            <a:r>
              <a:rPr sz="1538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heterogeneous-frame">
            <a:extLst xmlns:a="http://schemas.openxmlformats.org/drawingml/2006/main">
              <a:ext uri="{FF2B5EF4-FFF2-40B4-BE49-F238E27FC236}">
                <a16:creationId xmlns:a16="http://schemas.microsoft.com/office/drawing/2014/main" id="{1A5F8877-D957-4B6F-A4CA-D25EA0C6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</p:sp>
      <p:sp>
        <p:nvSpPr>
          <p:cNvPr id="67" name="heterogeneous-title">
            <a:extLst xmlns:a="http://schemas.openxmlformats.org/drawingml/2006/main">
              <a:ext uri="{FF2B5EF4-FFF2-40B4-BE49-F238E27FC236}">
                <a16:creationId xmlns:a16="http://schemas.microsoft.com/office/drawing/2014/main" id="{EE9AA25C-C680-468B-853D-DAF670EE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702" b="0">
                <a:solidFill>
                  <a:srgbClr val="111111"/>
                </a:solidFill>
              </a:defRPr>
            </a:pPr>
            <a:r>
              <a:rPr sz="1702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异构图关系表示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BB2A062-EB0E-4C55-8E85-B7EFBE383F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d806e70ca4036"/>
          <a:stretch xmlns:a="http://schemas.openxmlformats.org/drawingml/2006/main"/>
        </p:blipFill>
        <p:spPr>
          <a:xfrm xmlns:a="http://schemas.openxmlformats.org/drawingml/2006/main">
            <a:off x="678921" y="1857375"/>
            <a:ext cx="2918883" cy="1876425"/>
          </a:xfrm>
          <a:prstGeom xmlns:a="http://schemas.openxmlformats.org/drawingml/2006/main" prst="rect">
            <a:avLst/>
          </a:prstGeom>
        </p:spPr>
      </p:pic>
      <p:sp>
        <p:nvSpPr>
          <p:cNvPr id="69" name="cac-skill-extension-caption">
            <a:extLst xmlns:a="http://schemas.openxmlformats.org/drawingml/2006/main">
              <a:ext uri="{FF2B5EF4-FFF2-40B4-BE49-F238E27FC236}">
                <a16:creationId xmlns:a16="http://schemas.microsoft.com/office/drawing/2014/main" id="{845A69DD-1399-4C3D-9769-1A0A7207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85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185" b="0">
                <a:solidFill>
                  <a:srgbClr val="6E747A"/>
                </a:solidFill>
              </a:defRPr>
            </a:pPr>
            <a:r>
              <a:rPr sz="1185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依据研究内容二补充技能需求与资格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extended-operation">
            <a:extLst xmlns:a="http://schemas.openxmlformats.org/drawingml/2006/main">
              <a:ext uri="{FF2B5EF4-FFF2-40B4-BE49-F238E27FC236}">
                <a16:creationId xmlns:a16="http://schemas.microsoft.com/office/drawing/2014/main" id="{821315F2-5852-44B9-A8CF-0DCD666E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2859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33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35" b="0">
                <a:solidFill>
                  <a:srgbClr val="111111"/>
                </a:solidFill>
              </a:defRPr>
            </a:pPr>
            <a:r>
              <a:rPr sz="133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工序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1" name="extended-skill">
            <a:extLst xmlns:a="http://schemas.openxmlformats.org/drawingml/2006/main">
              <a:ext uri="{FF2B5EF4-FFF2-40B4-BE49-F238E27FC236}">
                <a16:creationId xmlns:a16="http://schemas.microsoft.com/office/drawing/2014/main" id="{92878D93-5D2A-49DF-BCAE-484D5A13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00500"/>
            <a:ext cx="504825" cy="4095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8768A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9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98" b="0">
                <a:solidFill>
                  <a:srgbClr val="111111"/>
                </a:solidFill>
              </a:defRPr>
            </a:pPr>
            <a:r>
              <a:rPr sz="129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技能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2" name="extended-worker">
            <a:extLst xmlns:a="http://schemas.openxmlformats.org/drawingml/2006/main">
              <a:ext uri="{FF2B5EF4-FFF2-40B4-BE49-F238E27FC236}">
                <a16:creationId xmlns:a16="http://schemas.microsoft.com/office/drawing/2014/main" id="{2037C3F0-ECDB-4DD3-B3B3-5F36EBA1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48125"/>
            <a:ext cx="581025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D5753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35" b="0">
                <a:solidFill>
                  <a:srgbClr val="111111"/>
                </a:solidFill>
              </a:defRPr>
            </a:pPr>
            <a:r>
              <a:rPr sz="133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人员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73" name="skill-demand">
            <a:extLst xmlns:a="http://schemas.openxmlformats.org/drawingml/2006/main">
              <a:ext uri="{FF2B5EF4-FFF2-40B4-BE49-F238E27FC236}">
                <a16:creationId xmlns:a16="http://schemas.microsoft.com/office/drawing/2014/main" id="{1E147871-01D7-447A-B326-C1F1DBB0314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2550" y="42005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8768AD"/>
            </a:solidFill>
            <a:prstDash val="solid"/>
            <a:tailEnd type="triangle" w="med" len="med"/>
          </a:ln>
        </p:spPr>
      </p:cxnSp>
      <p:sp>
        <p:nvSpPr>
          <p:cNvPr id="74" name="skill-demand-label">
            <a:extLst xmlns:a="http://schemas.openxmlformats.org/drawingml/2006/main">
              <a:ext uri="{FF2B5EF4-FFF2-40B4-BE49-F238E27FC236}">
                <a16:creationId xmlns:a16="http://schemas.microsoft.com/office/drawing/2014/main" id="{C4AED311-60A2-48EF-ACDA-C3795241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71925"/>
            <a:ext cx="4095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8768AD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140" b="0">
                <a:solidFill>
                  <a:srgbClr val="8768AD"/>
                </a:solidFill>
              </a:defRPr>
            </a:pPr>
            <a:r>
              <a:rPr sz="1140" b="0">
                <a:solidFill>
                  <a:srgbClr val="8768AD"/>
                </a:solidFill>
                <a:latin typeface="Microsoft YaHei"/>
                <a:ea typeface="Microsoft YaHei"/>
                <a:cs typeface="Microsoft YaHei"/>
              </a:rPr>
              <a:t>需求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75" name="skill-qualification">
            <a:extLst xmlns:a="http://schemas.openxmlformats.org/drawingml/2006/main">
              <a:ext uri="{FF2B5EF4-FFF2-40B4-BE49-F238E27FC236}">
                <a16:creationId xmlns:a16="http://schemas.microsoft.com/office/drawing/2014/main" id="{45F54956-7DF9-4A08-B0E3-24A8407F3687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486025" y="42005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8768AD"/>
            </a:solidFill>
            <a:prstDash val="solid"/>
            <a:tailEnd type="triangle" w="med" len="med"/>
          </a:ln>
        </p:spPr>
      </p:cxnSp>
      <p:sp>
        <p:nvSpPr>
          <p:cNvPr id="76" name="skill-qualification-label">
            <a:extLst xmlns:a="http://schemas.openxmlformats.org/drawingml/2006/main">
              <a:ext uri="{FF2B5EF4-FFF2-40B4-BE49-F238E27FC236}">
                <a16:creationId xmlns:a16="http://schemas.microsoft.com/office/drawing/2014/main" id="{81C2E226-C85A-4B41-805A-A62FA7F7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71925"/>
            <a:ext cx="4095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8768AD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140" b="0">
                <a:solidFill>
                  <a:srgbClr val="8768AD"/>
                </a:solidFill>
              </a:defRPr>
            </a:pPr>
            <a:r>
              <a:rPr sz="1140" b="0">
                <a:solidFill>
                  <a:srgbClr val="8768AD"/>
                </a:solidFill>
                <a:latin typeface="Microsoft YaHei"/>
                <a:ea typeface="Microsoft YaHei"/>
                <a:cs typeface="Microsoft YaHei"/>
              </a:rPr>
              <a:t>资格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" name="heterogeneous-encoder">
            <a:extLst xmlns:a="http://schemas.openxmlformats.org/drawingml/2006/main">
              <a:ext uri="{FF2B5EF4-FFF2-40B4-BE49-F238E27FC236}">
                <a16:creationId xmlns:a16="http://schemas.microsoft.com/office/drawing/2014/main" id="{574ACE0C-343E-4B42-8E6A-14BC1D75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33925"/>
            <a:ext cx="3143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54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45" b="0">
                <a:solidFill>
                  <a:srgbClr val="111111"/>
                </a:solidFill>
              </a:defRPr>
            </a:pPr>
            <a:r>
              <a:rPr sz="154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异构图编码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45" b="0">
                <a:solidFill>
                  <a:srgbClr val="111111"/>
                </a:solidFill>
              </a:defRPr>
            </a:pPr>
            <a:r>
              <a:rPr sz="154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分别传播工艺与资源信息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78" name="graph-to-encoder">
            <a:extLst xmlns:a="http://schemas.openxmlformats.org/drawingml/2006/main">
              <a:ext uri="{FF2B5EF4-FFF2-40B4-BE49-F238E27FC236}">
                <a16:creationId xmlns:a16="http://schemas.microsoft.com/office/drawing/2014/main" id="{28B51ADD-54F4-45AE-B51D-33CA95F03AE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43125" y="442912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79" name="repair-flow-title">
            <a:extLst xmlns:a="http://schemas.openxmlformats.org/drawingml/2006/main">
              <a:ext uri="{FF2B5EF4-FFF2-40B4-BE49-F238E27FC236}">
                <a16:creationId xmlns:a16="http://schemas.microsoft.com/office/drawing/2014/main" id="{5FE7DB7B-3F89-4E03-9C3A-933782E6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524000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702" b="0">
                <a:solidFill>
                  <a:srgbClr val="111111"/>
                </a:solidFill>
              </a:defRPr>
            </a:pPr>
            <a:r>
              <a:rPr sz="1702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固定基准与受扰调整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" name="baseline-and-delay">
            <a:extLst xmlns:a="http://schemas.openxmlformats.org/drawingml/2006/main">
              <a:ext uri="{FF2B5EF4-FFF2-40B4-BE49-F238E27FC236}">
                <a16:creationId xmlns:a16="http://schemas.microsoft.com/office/drawing/2014/main" id="{16B82F30-DD8A-427E-A679-58F33C37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331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59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98" b="0">
                <a:solidFill>
                  <a:srgbClr val="111111"/>
                </a:solidFill>
              </a:defRPr>
            </a:pPr>
            <a:r>
              <a:rPr sz="159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固定基准排程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98" b="0">
                <a:solidFill>
                  <a:srgbClr val="111111"/>
                </a:solidFill>
              </a:defRPr>
            </a:pPr>
            <a:r>
              <a:rPr sz="159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已知工序开工延迟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" name="repair-boundary">
            <a:extLst xmlns:a="http://schemas.openxmlformats.org/drawingml/2006/main">
              <a:ext uri="{FF2B5EF4-FFF2-40B4-BE49-F238E27FC236}">
                <a16:creationId xmlns:a16="http://schemas.microsoft.com/office/drawing/2014/main" id="{A5CD85AB-9CCA-4ACB-B884-7FCA6F59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43200"/>
            <a:ext cx="2686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53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30" b="0">
                <a:solidFill>
                  <a:srgbClr val="111111"/>
                </a:solidFill>
              </a:defRPr>
            </a:pPr>
            <a:r>
              <a:rPr sz="153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按基准计划开工时刻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30" b="0">
                <a:solidFill>
                  <a:srgbClr val="111111"/>
                </a:solidFill>
              </a:defRPr>
            </a:pPr>
            <a:r>
              <a:rPr sz="153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划分保留与可调范围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82" name="baseline-boundary">
            <a:extLst xmlns:a="http://schemas.openxmlformats.org/drawingml/2006/main">
              <a:ext uri="{FF2B5EF4-FFF2-40B4-BE49-F238E27FC236}">
                <a16:creationId xmlns:a16="http://schemas.microsoft.com/office/drawing/2014/main" id="{7DB4EC59-A508-4351-9263-E62CD5E4F20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43600" y="24765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83" name="adjustable-entries">
            <a:extLst xmlns:a="http://schemas.openxmlformats.org/drawingml/2006/main">
              <a:ext uri="{FF2B5EF4-FFF2-40B4-BE49-F238E27FC236}">
                <a16:creationId xmlns:a16="http://schemas.microsoft.com/office/drawing/2014/main" id="{5A43E6D8-2FF9-41F0-8915-3514009B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514725"/>
            <a:ext cx="15144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50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08" b="0">
                <a:solidFill>
                  <a:srgbClr val="111111"/>
                </a:solidFill>
              </a:defRPr>
            </a:pPr>
            <a:r>
              <a:rPr sz="150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可调工序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08" b="0">
                <a:solidFill>
                  <a:srgbClr val="111111"/>
                </a:solidFill>
              </a:defRPr>
            </a:pPr>
            <a:r>
              <a:rPr sz="150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更新开工条件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frozen-entries">
            <a:extLst xmlns:a="http://schemas.openxmlformats.org/drawingml/2006/main">
              <a:ext uri="{FF2B5EF4-FFF2-40B4-BE49-F238E27FC236}">
                <a16:creationId xmlns:a16="http://schemas.microsoft.com/office/drawing/2014/main" id="{73064895-490E-4460-AC5A-EB21B0D5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19475"/>
            <a:ext cx="14573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327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27" b="0">
                <a:solidFill>
                  <a:srgbClr val="111111"/>
                </a:solidFill>
              </a:defRPr>
            </a:pPr>
            <a:r>
              <a:rPr sz="1327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保留原安排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27" b="0">
                <a:solidFill>
                  <a:srgbClr val="111111"/>
                </a:solidFill>
              </a:defRPr>
            </a:pPr>
            <a:r>
              <a:rPr sz="1327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站位、团队与时刻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27" b="0">
                <a:solidFill>
                  <a:srgbClr val="111111"/>
                </a:solidFill>
              </a:defRPr>
            </a:pPr>
            <a:r>
              <a:rPr sz="1327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继承已有人员绑定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85" name="baseline-adjustable-0">
            <a:extLst xmlns:a="http://schemas.openxmlformats.org/drawingml/2006/main">
              <a:ext uri="{FF2B5EF4-FFF2-40B4-BE49-F238E27FC236}">
                <a16:creationId xmlns:a16="http://schemas.microsoft.com/office/drawing/2014/main" id="{3DB81032-96BB-4FF2-A5E7-386A086AB53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43600" y="3267075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</a:ln>
        </p:spPr>
      </p:cxnSp>
      <p:cxnSp>
        <p:nvCxnSpPr>
          <p:cNvPr id="86" name="baseline-adjustable-1">
            <a:extLst xmlns:a="http://schemas.openxmlformats.org/drawingml/2006/main">
              <a:ext uri="{FF2B5EF4-FFF2-40B4-BE49-F238E27FC236}">
                <a16:creationId xmlns:a16="http://schemas.microsoft.com/office/drawing/2014/main" id="{6EC6E0B6-46C0-487D-94CB-172EDC14413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038725" y="33718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</a:ln>
        </p:spPr>
      </p:cxnSp>
      <p:cxnSp>
        <p:nvCxnSpPr>
          <p:cNvPr id="87" name="baseline-adjustable-2">
            <a:extLst xmlns:a="http://schemas.openxmlformats.org/drawingml/2006/main">
              <a:ext uri="{FF2B5EF4-FFF2-40B4-BE49-F238E27FC236}">
                <a16:creationId xmlns:a16="http://schemas.microsoft.com/office/drawing/2014/main" id="{524F0287-F992-4814-864B-BBBC2A54A96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038725" y="33718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88" name="baseline-retained-0">
            <a:extLst xmlns:a="http://schemas.openxmlformats.org/drawingml/2006/main">
              <a:ext uri="{FF2B5EF4-FFF2-40B4-BE49-F238E27FC236}">
                <a16:creationId xmlns:a16="http://schemas.microsoft.com/office/drawing/2014/main" id="{A6DE57B2-7901-4B3C-8CF7-A8A443D285B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43600" y="3267075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</a:ln>
        </p:spPr>
      </p:cxnSp>
      <p:cxnSp>
        <p:nvCxnSpPr>
          <p:cNvPr id="89" name="baseline-retained-1">
            <a:extLst xmlns:a="http://schemas.openxmlformats.org/drawingml/2006/main">
              <a:ext uri="{FF2B5EF4-FFF2-40B4-BE49-F238E27FC236}">
                <a16:creationId xmlns:a16="http://schemas.microsoft.com/office/drawing/2014/main" id="{F827E6BE-09D8-43A2-95B2-DA77B0B5915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43600" y="3324225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</a:ln>
        </p:spPr>
      </p:cxnSp>
      <p:cxnSp>
        <p:nvCxnSpPr>
          <p:cNvPr id="90" name="baseline-retained-2">
            <a:extLst xmlns:a="http://schemas.openxmlformats.org/drawingml/2006/main">
              <a:ext uri="{FF2B5EF4-FFF2-40B4-BE49-F238E27FC236}">
                <a16:creationId xmlns:a16="http://schemas.microsoft.com/office/drawing/2014/main" id="{E016CD66-C1A5-43A4-BBC0-28BACC02DAE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77050" y="33242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91" name="adjustable-to-state-0">
            <a:extLst xmlns:a="http://schemas.openxmlformats.org/drawingml/2006/main">
              <a:ext uri="{FF2B5EF4-FFF2-40B4-BE49-F238E27FC236}">
                <a16:creationId xmlns:a16="http://schemas.microsoft.com/office/drawing/2014/main" id="{A301B48C-7C18-4C40-9B58-2F50A325E89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038725" y="414337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</a:ln>
        </p:spPr>
      </p:cxnSp>
      <p:cxnSp>
        <p:nvCxnSpPr>
          <p:cNvPr id="92" name="adjustable-to-state-1">
            <a:extLst xmlns:a="http://schemas.openxmlformats.org/drawingml/2006/main">
              <a:ext uri="{FF2B5EF4-FFF2-40B4-BE49-F238E27FC236}">
                <a16:creationId xmlns:a16="http://schemas.microsoft.com/office/drawing/2014/main" id="{42CFAE6E-650E-48B0-94FB-620F1AA3D3F4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190875" y="4552950"/>
            <a:ext cx="18478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</a:ln>
        </p:spPr>
      </p:cxnSp>
      <p:cxnSp>
        <p:nvCxnSpPr>
          <p:cNvPr id="93" name="adjustable-to-state-2">
            <a:extLst xmlns:a="http://schemas.openxmlformats.org/drawingml/2006/main">
              <a:ext uri="{FF2B5EF4-FFF2-40B4-BE49-F238E27FC236}">
                <a16:creationId xmlns:a16="http://schemas.microsoft.com/office/drawing/2014/main" id="{4555DB1A-D605-4AD9-BC0C-5EAC344E5D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90875" y="455295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94" name="adjustable-task-caption">
            <a:extLst xmlns:a="http://schemas.openxmlformats.org/drawingml/2006/main">
              <a:ext uri="{FF2B5EF4-FFF2-40B4-BE49-F238E27FC236}">
                <a16:creationId xmlns:a16="http://schemas.microsoft.com/office/drawing/2014/main" id="{FF869111-2289-4CF8-8296-66EE620C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38675"/>
            <a:ext cx="3552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410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410" b="0">
                <a:solidFill>
                  <a:srgbClr val="315CA9"/>
                </a:solidFill>
              </a:defRPr>
            </a:pPr>
            <a:r>
              <a:rPr sz="1410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仅对可调工序重新进行联合选择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joint-selection-heading">
            <a:extLst xmlns:a="http://schemas.openxmlformats.org/drawingml/2006/main">
              <a:ext uri="{FF2B5EF4-FFF2-40B4-BE49-F238E27FC236}">
                <a16:creationId xmlns:a16="http://schemas.microsoft.com/office/drawing/2014/main" id="{186C0F1D-820E-439F-8961-FD506980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38750"/>
            <a:ext cx="557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0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605" b="0">
                <a:solidFill>
                  <a:srgbClr val="111111"/>
                </a:solidFill>
              </a:defRPr>
            </a:pPr>
            <a:r>
              <a:rPr sz="160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可调任务的联合选择与时间分配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joint-operation">
            <a:extLst xmlns:a="http://schemas.openxmlformats.org/drawingml/2006/main">
              <a:ext uri="{FF2B5EF4-FFF2-40B4-BE49-F238E27FC236}">
                <a16:creationId xmlns:a16="http://schemas.microsoft.com/office/drawing/2014/main" id="{161E9A29-702C-4E03-AB7E-8899544F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91175"/>
            <a:ext cx="14573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工序选择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joint-station">
            <a:extLst xmlns:a="http://schemas.openxmlformats.org/drawingml/2006/main">
              <a:ext uri="{FF2B5EF4-FFF2-40B4-BE49-F238E27FC236}">
                <a16:creationId xmlns:a16="http://schemas.microsoft.com/office/drawing/2014/main" id="{C61F14FA-74FD-43E0-B47F-7606AA38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91175"/>
            <a:ext cx="14573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合法站位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joint-team">
            <a:extLst xmlns:a="http://schemas.openxmlformats.org/drawingml/2006/main">
              <a:ext uri="{FF2B5EF4-FFF2-40B4-BE49-F238E27FC236}">
                <a16:creationId xmlns:a16="http://schemas.microsoft.com/office/drawing/2014/main" id="{94162432-0C7C-4A0B-B818-C5A2AEF1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05450"/>
            <a:ext cx="1543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44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48" b="0">
                <a:solidFill>
                  <a:srgbClr val="111111"/>
                </a:solidFill>
              </a:defRPr>
            </a:pPr>
            <a:r>
              <a:rPr sz="144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具体团队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48" b="0">
                <a:solidFill>
                  <a:srgbClr val="111111"/>
                </a:solidFill>
              </a:defRPr>
            </a:pPr>
            <a:r>
              <a:rPr sz="144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按需求人数选满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joint-time">
            <a:extLst xmlns:a="http://schemas.openxmlformats.org/drawingml/2006/main">
              <a:ext uri="{FF2B5EF4-FFF2-40B4-BE49-F238E27FC236}">
                <a16:creationId xmlns:a16="http://schemas.microsoft.com/office/drawing/2014/main" id="{74014DD7-37F8-472D-B5D9-A676C96E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50545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463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11111"/>
                </a:solidFill>
              </a:defRPr>
            </a:pPr>
            <a:r>
              <a:rPr sz="146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时间分配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11111"/>
                </a:solidFill>
              </a:defRPr>
            </a:pPr>
            <a:r>
              <a:rPr sz="146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形成新安排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00" name="state-to-action">
            <a:extLst xmlns:a="http://schemas.openxmlformats.org/drawingml/2006/main">
              <a:ext uri="{FF2B5EF4-FFF2-40B4-BE49-F238E27FC236}">
                <a16:creationId xmlns:a16="http://schemas.microsoft.com/office/drawing/2014/main" id="{E1117F9E-A150-4845-8BD9-0BC8264297F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95400" y="5200650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104" name="repaired-schedule">
            <a:extLst xmlns:a="http://schemas.openxmlformats.org/drawingml/2006/main">
              <a:ext uri="{FF2B5EF4-FFF2-40B4-BE49-F238E27FC236}">
                <a16:creationId xmlns:a16="http://schemas.microsoft.com/office/drawing/2014/main" id="{A262A21B-FDD4-41FB-8CDE-A2314317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6296025"/>
            <a:ext cx="3333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35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358" b="0">
                <a:solidFill>
                  <a:srgbClr val="111111"/>
                </a:solidFill>
              </a:defRPr>
            </a:pPr>
            <a:r>
              <a:rPr sz="135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保留安排与新安排合并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358" b="0">
                <a:solidFill>
                  <a:srgbClr val="111111"/>
                </a:solidFill>
              </a:defRPr>
            </a:pPr>
            <a:r>
              <a:rPr sz="135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输出修复排程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05" name="new-plan-to-result">
            <a:extLst xmlns:a="http://schemas.openxmlformats.org/drawingml/2006/main">
              <a:ext uri="{FF2B5EF4-FFF2-40B4-BE49-F238E27FC236}">
                <a16:creationId xmlns:a16="http://schemas.microsoft.com/office/drawing/2014/main" id="{CBD7C80B-C33B-4F80-8627-E248CBEC5A3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96100" y="611505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06" name="frozen-plan-direct-output-0">
            <a:extLst xmlns:a="http://schemas.openxmlformats.org/drawingml/2006/main">
              <a:ext uri="{FF2B5EF4-FFF2-40B4-BE49-F238E27FC236}">
                <a16:creationId xmlns:a16="http://schemas.microsoft.com/office/drawing/2014/main" id="{5C00A08B-91F2-40A3-9C41-9A0F2FF4D96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00950" y="382905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6E747A"/>
            </a:solidFill>
            <a:prstDash val="solid"/>
          </a:ln>
        </p:spPr>
      </p:cxnSp>
      <p:cxnSp>
        <p:nvCxnSpPr>
          <p:cNvPr id="107" name="frozen-plan-direct-output-1">
            <a:extLst xmlns:a="http://schemas.openxmlformats.org/drawingml/2006/main">
              <a:ext uri="{FF2B5EF4-FFF2-40B4-BE49-F238E27FC236}">
                <a16:creationId xmlns:a16="http://schemas.microsoft.com/office/drawing/2014/main" id="{9D9940CC-2A12-4059-9886-8EC5BE39234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800975" y="3829050"/>
            <a:ext cx="0" cy="26574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6E747A"/>
            </a:solidFill>
            <a:prstDash val="solid"/>
          </a:ln>
        </p:spPr>
      </p:cxnSp>
      <p:cxnSp>
        <p:nvCxnSpPr>
          <p:cNvPr id="108" name="frozen-plan-direct-output-2">
            <a:extLst xmlns:a="http://schemas.openxmlformats.org/drawingml/2006/main">
              <a:ext uri="{FF2B5EF4-FFF2-40B4-BE49-F238E27FC236}">
                <a16:creationId xmlns:a16="http://schemas.microsoft.com/office/drawing/2014/main" id="{03AF17A2-DA31-4306-9F86-ADB7A757676A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610475" y="64865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6E747A"/>
            </a:solidFill>
            <a:prstDash val="solid"/>
            <a:tailEnd type="triangle" w="med" len="med"/>
          </a:ln>
        </p:spPr>
      </p:cxnSp>
      <p:sp>
        <p:nvSpPr>
          <p:cNvPr id="109" name="preserved-plan-label">
            <a:extLst xmlns:a="http://schemas.openxmlformats.org/drawingml/2006/main">
              <a:ext uri="{FF2B5EF4-FFF2-40B4-BE49-F238E27FC236}">
                <a16:creationId xmlns:a16="http://schemas.microsoft.com/office/drawing/2014/main" id="{A8545C0F-9D18-4536-9B4A-2FABCEAE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72050"/>
            <a:ext cx="1438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8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208" b="0">
                <a:solidFill>
                  <a:srgbClr val="6E747A"/>
                </a:solidFill>
              </a:defRPr>
            </a:pPr>
            <a:r>
              <a:rPr sz="1208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保留安排直接合并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0" name="repair-evaluation">
            <a:extLst xmlns:a="http://schemas.openxmlformats.org/drawingml/2006/main">
              <a:ext uri="{FF2B5EF4-FFF2-40B4-BE49-F238E27FC236}">
                <a16:creationId xmlns:a16="http://schemas.microsoft.com/office/drawing/2014/main" id="{78D1BA85-80D4-4FE2-88F9-71DCB653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286500"/>
            <a:ext cx="3409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410" b="0">
                <a:solidFill>
                  <a:srgbClr val="111111"/>
                </a:solidFill>
              </a:defRPr>
            </a:pPr>
            <a:r>
              <a:rPr sz="141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评价：完工时间与相对基准的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410" b="0">
                <a:solidFill>
                  <a:srgbClr val="111111"/>
                </a:solidFill>
              </a:defRPr>
            </a:pPr>
            <a:r>
              <a:rPr sz="141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开工、站位及团队成员变化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688813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A7AB91F-793C-4531-92B5-419D3BFA80A9}"/>
              </a:ext>
            </a:extLst>
          </p:cNvPr>
          <p:cNvCxnSpPr>
            <a:stCxn xmlns:a="http://schemas.openxmlformats.org/drawingml/2006/main" id="183" idx="3"/>
            <a:endCxn xmlns:a="http://schemas.openxmlformats.org/drawingml/2006/main" id="184" idx="1"/>
          </p:cNvCxnSpPr>
          <p:nvPr/>
        </p:nvCxnSpPr>
        <p:spPr>
          <a:xfrm xmlns:a="http://schemas.openxmlformats.org/drawingml/2006/main">
            <a:off x="3857625" y="6605588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674CD"/>
            </a:solidFill>
            <a:prstDash val="solid"/>
            <a:tailEnd type="triangle" w="med" len="med"/>
          </a:ln>
        </p:spPr>
      </p:cxnSp>
      <p:cxnSp>
        <p:nvCxn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C390D0B-CEB7-4645-81D1-498E0AB373EC}"/>
              </a:ext>
            </a:extLst>
          </p:cNvPr>
          <p:cNvCxnSpPr>
            <a:stCxn xmlns:a="http://schemas.openxmlformats.org/drawingml/2006/main" id="173" idx="3"/>
            <a:endCxn xmlns:a="http://schemas.openxmlformats.org/drawingml/2006/main" id="174" idx="1"/>
          </p:cNvCxnSpPr>
          <p:nvPr/>
        </p:nvCxnSpPr>
        <p:spPr>
          <a:xfrm xmlns:a="http://schemas.openxmlformats.org/drawingml/2006/main">
            <a:off x="4552950" y="5414963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06256AA-AC24-438F-8584-A0EA15B864B9}"/>
              </a:ext>
            </a:extLst>
          </p:cNvPr>
          <p:cNvCxnSpPr>
            <a:stCxn xmlns:a="http://schemas.openxmlformats.org/drawingml/2006/main" id="172" idx="3"/>
            <a:endCxn xmlns:a="http://schemas.openxmlformats.org/drawingml/2006/main" id="173" idx="1"/>
          </p:cNvCxnSpPr>
          <p:nvPr/>
        </p:nvCxnSpPr>
        <p:spPr>
          <a:xfrm xmlns:a="http://schemas.openxmlformats.org/drawingml/2006/main">
            <a:off x="2200275" y="5414963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109" name="模板页眉横线">
            <a:extLst xmlns:a="http://schemas.openxmlformats.org/drawingml/2006/main">
              <a:ext uri="{FF2B5EF4-FFF2-40B4-BE49-F238E27FC236}">
                <a16:creationId xmlns:a16="http://schemas.microsoft.com/office/drawing/2014/main" id="{C4000073-E50E-0B72-94C0-033F230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054"/>
            <a:ext cx="12192000" cy="45719"/>
          </a:xfrm>
          <a:custGeom xmlns:a="http://schemas.openxmlformats.org/drawingml/2006/main">
            <a:gdLst>
              <a:gd name="T0" fmla="*/ 0 w 21600"/>
              <a:gd name="T1" fmla="*/ 0 h 21600"/>
              <a:gd name="T2" fmla="*/ 489365807 w 21600"/>
              <a:gd name="T3" fmla="*/ 0 h 21600"/>
              <a:gd name="T4" fmla="*/ 489365807 w 21600"/>
              <a:gd name="T5" fmla="*/ 28356134 h 21600"/>
              <a:gd name="T6" fmla="*/ 0 w 21600"/>
              <a:gd name="T7" fmla="*/ 28356134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3175" cap="flat" cmpd="sng">
            <a:solidFill>
              <a:srgbClr val="002060">
                <a:alpha val="0"/>
              </a:srgbClr>
            </a:solidFill>
            <a:round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solidFill>
                <a:srgbClr val="4874CB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0" name="同济校标">
            <a:extLst xmlns:a="http://schemas.openxmlformats.org/drawingml/2006/main">
              <a:ext uri="{FF2B5EF4-FFF2-40B4-BE49-F238E27FC236}">
                <a16:creationId xmlns:a16="http://schemas.microsoft.com/office/drawing/2014/main" id="{8FA85822-8475-4619-B2E8-75A63C77E0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c62c0bd8ed142b2"/>
          <a:srcRect xmlns:a="http://schemas.openxmlformats.org/drawingml/2006/main" l="0" t="0" r="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1625" y="20910"/>
            <a:ext cx="1809525" cy="526143"/>
          </a:xfrm>
          <a:prstGeom xmlns:a="http://schemas.openxmlformats.org/drawingml/2006/main" prst="rect">
            <a:avLst/>
          </a:prstGeom>
        </p:spPr>
      </p:pic>
      <p:sp>
        <p:nvSpPr>
          <p:cNvPr id="111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CA1E91B-B668-B211-4835-07E77318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"/>
            <a:ext cx="113061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200" b="1">
                <a:solidFill>
                  <a:srgbClr val="4674CD"/>
                </a:solidFill>
              </a:defRPr>
            </a:defPPr>
            <a:lvl1pPr>
              <a:buNone/>
              <a:defRPr sz="3200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4000"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4000"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4000"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4000">
                <a:latin typeface="Microsoft YaHei"/>
                <a:ea typeface="Microsoft YaHei"/>
                <a:cs typeface="Microsoft YaHei"/>
              </a:defRPr>
            </a:lvl5pPr>
            <a:lvl6pPr marL="4572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6pPr>
            <a:lvl7pPr marL="9144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7pPr>
            <a:lvl8pPr marL="13716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8pPr>
            <a:lvl9pPr marL="18288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4674CD"/>
                </a:solidFill>
              </a:defRPr>
            </a:pPr>
            <a:r>
              <a:rPr sz="3200" b="1">
                <a:solidFill>
                  <a:srgbClr val="4674CD"/>
                </a:solidFill>
                <a:latin typeface="Times New Roman"/>
                <a:ea typeface="Times New Roman"/>
                <a:cs typeface="Times New Roman"/>
              </a:rPr>
              <a:t>4 </a:t>
            </a:r>
            <a:r>
              <a:rPr sz="3200" b="1">
                <a:solidFill>
                  <a:srgbClr val="4674CD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页面主题">
            <a:extLst xmlns:a="http://schemas.openxmlformats.org/drawingml/2006/main">
              <a:ext uri="{FF2B5EF4-FFF2-40B4-BE49-F238E27FC236}">
                <a16:creationId xmlns:a16="http://schemas.microsoft.com/office/drawing/2014/main" id="{A8BFA7F8-B8F6-40F9-8B69-7C7B3793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5247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研究内容三：基于语义增强图强化学习的多架次协同动态调度方法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revision-text-1005">
            <a:extLst xmlns:a="http://schemas.openxmlformats.org/drawingml/2006/main">
              <a:ext uri="{FF2B5EF4-FFF2-40B4-BE49-F238E27FC236}">
                <a16:creationId xmlns:a16="http://schemas.microsoft.com/office/drawing/2014/main" id="{CD0330C8-8920-4B6D-B042-F71F342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12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4" name="method-divider">
            <a:extLst xmlns:a="http://schemas.openxmlformats.org/drawingml/2006/main">
              <a:ext uri="{FF2B5EF4-FFF2-40B4-BE49-F238E27FC236}">
                <a16:creationId xmlns:a16="http://schemas.microsoft.com/office/drawing/2014/main" id="{90668025-4144-4BA5-B235-5A35D1FC868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24800" y="1371600"/>
            <a:ext cx="0" cy="51720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7E8"/>
            </a:solidFill>
            <a:prstDash val="solid"/>
          </a:ln>
        </p:spPr>
      </p:cxnSp>
      <p:sp>
        <p:nvSpPr>
          <p:cNvPr id="115" name="explanation-heading-0">
            <a:extLst xmlns:a="http://schemas.openxmlformats.org/drawingml/2006/main">
              <a:ext uri="{FF2B5EF4-FFF2-40B4-BE49-F238E27FC236}">
                <a16:creationId xmlns:a16="http://schemas.microsoft.com/office/drawing/2014/main" id="{73CCD07F-B05F-4028-B95A-6B44ED92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457325"/>
            <a:ext cx="3533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315CA9"/>
                </a:solidFill>
              </a:defRPr>
            </a:pPr>
            <a:r>
              <a:rPr sz="1673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同步脉动下的多架次协同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explanation-body-0">
            <a:extLst xmlns:a="http://schemas.openxmlformats.org/drawingml/2006/main">
              <a:ext uri="{FF2B5EF4-FFF2-40B4-BE49-F238E27FC236}">
                <a16:creationId xmlns:a16="http://schemas.microsoft.com/office/drawing/2014/main" id="{38F890FC-68F0-42A7-984D-64391262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733550"/>
            <a:ext cx="35337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多架飞机在不同站位并行装配，局部延迟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可能推迟全线同步转站，并影响下一周期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的作业条件，需要协调各站当前与后续任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务。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7" name="explanation-heading-1">
            <a:extLst xmlns:a="http://schemas.openxmlformats.org/drawingml/2006/main">
              <a:ext uri="{FF2B5EF4-FFF2-40B4-BE49-F238E27FC236}">
                <a16:creationId xmlns:a16="http://schemas.microsoft.com/office/drawing/2014/main" id="{0AEC36D8-FF02-4A33-930F-C6C27308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95575"/>
            <a:ext cx="3533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315CA9"/>
                </a:solidFill>
              </a:defRPr>
            </a:pPr>
            <a:r>
              <a:rPr sz="1673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飞机、站位与整线的分层融合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explanation-body-1">
            <a:extLst xmlns:a="http://schemas.openxmlformats.org/drawingml/2006/main">
              <a:ext uri="{FF2B5EF4-FFF2-40B4-BE49-F238E27FC236}">
                <a16:creationId xmlns:a16="http://schemas.microsoft.com/office/drawing/2014/main" id="{1854F81A-C1BE-41BA-83D6-CCEA6FD5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971800"/>
            <a:ext cx="35337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在工序与资源图编码基础上，按飞机、站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位和整线汇总生产信息，分别组织当前与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紧邻下一周期的任务及人员状态，为联合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策略提供跨站、跨周期信息。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explanation-heading-2">
            <a:extLst xmlns:a="http://schemas.openxmlformats.org/drawingml/2006/main">
              <a:ext uri="{FF2B5EF4-FFF2-40B4-BE49-F238E27FC236}">
                <a16:creationId xmlns:a16="http://schemas.microsoft.com/office/drawing/2014/main" id="{E09118B3-846D-402E-8FF9-58A09960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933825"/>
            <a:ext cx="3533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3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rgbClr val="315CA9"/>
                </a:solidFill>
              </a:defRPr>
            </a:pPr>
            <a:r>
              <a:rPr sz="1673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时间结果驱动的语义增强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explanation-body-2">
            <a:extLst xmlns:a="http://schemas.openxmlformats.org/drawingml/2006/main">
              <a:ext uri="{FF2B5EF4-FFF2-40B4-BE49-F238E27FC236}">
                <a16:creationId xmlns:a16="http://schemas.microsoft.com/office/drawing/2014/main" id="{49CCE8C6-03F3-4DE2-9F89-17372562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210050"/>
            <a:ext cx="35337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预测本次转站时间修正及下一周期各站就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绪偏差，利用实际时间结果训练策略共享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的图编码与融合模块，使图表示学习生产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状态与后续时间结果的联系，支持协同决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11111"/>
                </a:solidFill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策。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takeaway-outline">
            <a:extLst xmlns:a="http://schemas.openxmlformats.org/drawingml/2006/main">
              <a:ext uri="{FF2B5EF4-FFF2-40B4-BE49-F238E27FC236}">
                <a16:creationId xmlns:a16="http://schemas.microsoft.com/office/drawing/2014/main" id="{F3CCCF90-BEC3-4C68-81D0-56EFAC53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495925"/>
            <a:ext cx="3600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A2424"/>
            </a:solidFill>
            <a:prstDash val="solid"/>
          </a:ln>
        </p:spPr>
      </p:sp>
      <p:sp>
        <p:nvSpPr>
          <p:cNvPr id="122" name="takeaway">
            <a:extLst xmlns:a="http://schemas.openxmlformats.org/drawingml/2006/main">
              <a:ext uri="{FF2B5EF4-FFF2-40B4-BE49-F238E27FC236}">
                <a16:creationId xmlns:a16="http://schemas.microsoft.com/office/drawing/2014/main" id="{AC642492-6483-4EF1-B8D4-38BE791E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600700"/>
            <a:ext cx="335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38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315CA9"/>
                </a:solidFill>
              </a:defRPr>
            </a:pPr>
            <a:r>
              <a:rPr sz="1538" b="0">
                <a:solidFill>
                  <a:srgbClr val="BA2424"/>
                </a:solidFill>
                <a:latin typeface="Microsoft YaHei"/>
                <a:ea typeface="Microsoft YaHei"/>
                <a:cs typeface="Microsoft YaHei"/>
              </a:rPr>
              <a:t>融合</a:t>
            </a:r>
            <a:r>
              <a:rPr sz="1538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飞机、站位与整线信息，学习生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315CA9"/>
                </a:solidFill>
              </a:defRPr>
            </a:pPr>
            <a:r>
              <a:rPr sz="1538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产状态与同步转站、下一周期就绪的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315CA9"/>
                </a:solidFill>
              </a:defRPr>
            </a:pPr>
            <a:r>
              <a:rPr sz="1538" b="0">
                <a:solidFill>
                  <a:srgbClr val="BA2424"/>
                </a:solidFill>
                <a:latin typeface="Microsoft YaHei"/>
                <a:ea typeface="Microsoft YaHei"/>
                <a:cs typeface="Microsoft YaHei"/>
              </a:rPr>
              <a:t>时间联系</a:t>
            </a:r>
            <a:r>
              <a:rPr sz="1538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，通过</a:t>
            </a:r>
            <a:r>
              <a:rPr sz="1538" b="0">
                <a:solidFill>
                  <a:srgbClr val="BA2424"/>
                </a:solidFill>
                <a:latin typeface="Microsoft YaHei"/>
                <a:ea typeface="Microsoft YaHei"/>
                <a:cs typeface="Microsoft YaHei"/>
              </a:rPr>
              <a:t>语义增强</a:t>
            </a:r>
            <a:r>
              <a:rPr sz="1538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支持多架次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315CA9"/>
                </a:solidFill>
              </a:defRPr>
            </a:pPr>
            <a:r>
              <a:rPr sz="1538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协同调度。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multiaircraft-state-frame">
            <a:extLst xmlns:a="http://schemas.openxmlformats.org/drawingml/2006/main">
              <a:ext uri="{FF2B5EF4-FFF2-40B4-BE49-F238E27FC236}">
                <a16:creationId xmlns:a16="http://schemas.microsoft.com/office/drawing/2014/main" id="{0335F49E-5813-4ED1-91CF-110EA980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2581275" cy="2562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</p:sp>
      <p:sp>
        <p:nvSpPr>
          <p:cNvPr id="124" name="multiaircraft-state-title">
            <a:extLst xmlns:a="http://schemas.openxmlformats.org/drawingml/2006/main">
              <a:ext uri="{FF2B5EF4-FFF2-40B4-BE49-F238E27FC236}">
                <a16:creationId xmlns:a16="http://schemas.microsoft.com/office/drawing/2014/main" id="{9C2F7C16-EEDE-4E44-8653-A479630C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71650"/>
            <a:ext cx="2447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3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530" b="0">
                <a:solidFill>
                  <a:srgbClr val="111111"/>
                </a:solidFill>
              </a:defRPr>
            </a:pPr>
            <a:r>
              <a:rPr sz="153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多架次工艺与资源状态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5" name="plane-current-label">
            <a:extLst xmlns:a="http://schemas.openxmlformats.org/drawingml/2006/main">
              <a:ext uri="{FF2B5EF4-FFF2-40B4-BE49-F238E27FC236}">
                <a16:creationId xmlns:a16="http://schemas.microsoft.com/office/drawing/2014/main" id="{4F7FC62F-4651-4136-BC61-C9A86432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57400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0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260" b="0">
                <a:solidFill>
                  <a:srgbClr val="315CA9"/>
                </a:solidFill>
              </a:defRPr>
            </a:pPr>
            <a:r>
              <a:rPr sz="1260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飞机</a:t>
            </a:r>
            <a:r>
              <a:rPr sz="1260" b="0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260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：本站当前任务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multi-operation-0-0">
            <a:extLst xmlns:a="http://schemas.openxmlformats.org/drawingml/2006/main">
              <a:ext uri="{FF2B5EF4-FFF2-40B4-BE49-F238E27FC236}">
                <a16:creationId xmlns:a16="http://schemas.microsoft.com/office/drawing/2014/main" id="{2795E38A-2D2B-4ABC-AF1F-60AE1678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764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2383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6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60" b="0">
                <a:solidFill>
                  <a:srgbClr val="111111"/>
                </a:solidFill>
              </a:defRPr>
            </a:pPr>
            <a:r>
              <a:rPr sz="126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</a:t>
            </a:r>
            <a:r>
              <a:rPr sz="126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7" name="operation-status-0-0">
            <a:extLst xmlns:a="http://schemas.openxmlformats.org/drawingml/2006/main">
              <a:ext uri="{FF2B5EF4-FFF2-40B4-BE49-F238E27FC236}">
                <a16:creationId xmlns:a16="http://schemas.microsoft.com/office/drawing/2014/main" id="{A775444A-8BDF-404F-B77B-F4EA8CD8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35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035" b="0">
                <a:solidFill>
                  <a:srgbClr val="6E747A"/>
                </a:solidFill>
              </a:defRPr>
            </a:pPr>
            <a:r>
              <a:rPr sz="1035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已完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8" name="multi-operation-0-1">
            <a:extLst xmlns:a="http://schemas.openxmlformats.org/drawingml/2006/main">
              <a:ext uri="{FF2B5EF4-FFF2-40B4-BE49-F238E27FC236}">
                <a16:creationId xmlns:a16="http://schemas.microsoft.com/office/drawing/2014/main" id="{B5927FC1-8AA3-4EB2-AA1C-13F9A892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764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2383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6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60" b="0">
                <a:solidFill>
                  <a:srgbClr val="111111"/>
                </a:solidFill>
              </a:defRPr>
            </a:pPr>
            <a:r>
              <a:rPr sz="126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</a:t>
            </a:r>
            <a:r>
              <a:rPr sz="126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9" name="operation-status-0-1">
            <a:extLst xmlns:a="http://schemas.openxmlformats.org/drawingml/2006/main">
              <a:ext uri="{FF2B5EF4-FFF2-40B4-BE49-F238E27FC236}">
                <a16:creationId xmlns:a16="http://schemas.microsoft.com/office/drawing/2014/main" id="{CFB47D79-5E3E-40A2-98CC-52E1AAC1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4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35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035" b="0">
                <a:solidFill>
                  <a:srgbClr val="6E747A"/>
                </a:solidFill>
              </a:defRPr>
            </a:pPr>
            <a:r>
              <a:rPr sz="1035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执行中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0" name="multi-operation-0-2">
            <a:extLst xmlns:a="http://schemas.openxmlformats.org/drawingml/2006/main">
              <a:ext uri="{FF2B5EF4-FFF2-40B4-BE49-F238E27FC236}">
                <a16:creationId xmlns:a16="http://schemas.microsoft.com/office/drawing/2014/main" id="{42C011DE-AD4E-4C56-AAF1-ABA73415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764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2383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6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60" b="0">
                <a:solidFill>
                  <a:srgbClr val="111111"/>
                </a:solidFill>
              </a:defRPr>
            </a:pPr>
            <a:r>
              <a:rPr sz="126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</a:t>
            </a:r>
            <a:r>
              <a:rPr sz="126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1" name="operation-status-0-2">
            <a:extLst xmlns:a="http://schemas.openxmlformats.org/drawingml/2006/main">
              <a:ext uri="{FF2B5EF4-FFF2-40B4-BE49-F238E27FC236}">
                <a16:creationId xmlns:a16="http://schemas.microsoft.com/office/drawing/2014/main" id="{3C0D3FD6-2E1F-465C-84FD-FF17FE94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6479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35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035" b="0">
                <a:solidFill>
                  <a:srgbClr val="6E747A"/>
                </a:solidFill>
              </a:defRPr>
            </a:pPr>
            <a:r>
              <a:rPr sz="1035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待执行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2" name="multi-operation-1-0">
            <a:extLst xmlns:a="http://schemas.openxmlformats.org/drawingml/2006/main">
              <a:ext uri="{FF2B5EF4-FFF2-40B4-BE49-F238E27FC236}">
                <a16:creationId xmlns:a16="http://schemas.microsoft.com/office/drawing/2014/main" id="{10DEC554-4179-4F49-BCE6-31017168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CF6"/>
          </a:solidFill>
          <a:ln xmlns:a="http://schemas.openxmlformats.org/drawingml/2006/main" w="12383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6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60" b="0">
                <a:solidFill>
                  <a:srgbClr val="111111"/>
                </a:solidFill>
              </a:defRPr>
            </a:pPr>
            <a:r>
              <a:rPr sz="126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</a:t>
            </a:r>
            <a:r>
              <a:rPr sz="126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3" name="operation-status-1-0">
            <a:extLst xmlns:a="http://schemas.openxmlformats.org/drawingml/2006/main">
              <a:ext uri="{FF2B5EF4-FFF2-40B4-BE49-F238E27FC236}">
                <a16:creationId xmlns:a16="http://schemas.microsoft.com/office/drawing/2014/main" id="{7C7AC27A-13FA-4C02-82E5-4B53010C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35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035" b="0">
                <a:solidFill>
                  <a:srgbClr val="6E747A"/>
                </a:solidFill>
              </a:defRPr>
            </a:pPr>
            <a:r>
              <a:rPr sz="1035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未完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4" name="multi-operation-1-1">
            <a:extLst xmlns:a="http://schemas.openxmlformats.org/drawingml/2006/main">
              <a:ext uri="{FF2B5EF4-FFF2-40B4-BE49-F238E27FC236}">
                <a16:creationId xmlns:a16="http://schemas.microsoft.com/office/drawing/2014/main" id="{224E0AE6-DFDE-4A6A-A1C9-559B80E7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CF6"/>
          </a:solidFill>
          <a:ln xmlns:a="http://schemas.openxmlformats.org/drawingml/2006/main" w="12383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6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60" b="0">
                <a:solidFill>
                  <a:srgbClr val="111111"/>
                </a:solidFill>
              </a:defRPr>
            </a:pPr>
            <a:r>
              <a:rPr sz="126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</a:t>
            </a:r>
            <a:r>
              <a:rPr sz="126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5" name="operation-status-1-1">
            <a:extLst xmlns:a="http://schemas.openxmlformats.org/drawingml/2006/main">
              <a:ext uri="{FF2B5EF4-FFF2-40B4-BE49-F238E27FC236}">
                <a16:creationId xmlns:a16="http://schemas.microsoft.com/office/drawing/2014/main" id="{CE2C57AC-3477-4FED-97C9-9A7A05C5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95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35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035" b="0">
                <a:solidFill>
                  <a:srgbClr val="6E747A"/>
                </a:solidFill>
              </a:defRPr>
            </a:pPr>
            <a:r>
              <a:rPr sz="1035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后续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6" name="multi-operation-1-2">
            <a:extLst xmlns:a="http://schemas.openxmlformats.org/drawingml/2006/main">
              <a:ext uri="{FF2B5EF4-FFF2-40B4-BE49-F238E27FC236}">
                <a16:creationId xmlns:a16="http://schemas.microsoft.com/office/drawing/2014/main" id="{310796A8-1929-475A-9CF9-D6B92A91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CF6"/>
          </a:solidFill>
          <a:ln xmlns:a="http://schemas.openxmlformats.org/drawingml/2006/main" w="12383">
            <a:solidFill>
              <a:srgbClr val="4674C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6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60" b="0">
                <a:solidFill>
                  <a:srgbClr val="111111"/>
                </a:solidFill>
              </a:defRPr>
            </a:pPr>
            <a:r>
              <a:rPr sz="126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</a:t>
            </a:r>
            <a:r>
              <a:rPr sz="126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7" name="operation-status-1-2">
            <a:extLst xmlns:a="http://schemas.openxmlformats.org/drawingml/2006/main">
              <a:ext uri="{FF2B5EF4-FFF2-40B4-BE49-F238E27FC236}">
                <a16:creationId xmlns:a16="http://schemas.microsoft.com/office/drawing/2014/main" id="{07D2D0A5-2A1F-4BD3-9D54-E79AFFF9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495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35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035" b="0">
                <a:solidFill>
                  <a:srgbClr val="6E747A"/>
                </a:solidFill>
              </a:defRPr>
            </a:pPr>
            <a:r>
              <a:rPr sz="1035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后续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8" name="plane-next-label">
            <a:extLst xmlns:a="http://schemas.openxmlformats.org/drawingml/2006/main">
              <a:ext uri="{FF2B5EF4-FFF2-40B4-BE49-F238E27FC236}">
                <a16:creationId xmlns:a16="http://schemas.microsoft.com/office/drawing/2014/main" id="{8CB80579-6537-432B-A9FD-AA111DBF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86075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140" b="0">
                <a:solidFill>
                  <a:srgbClr val="315CA9"/>
                </a:solidFill>
              </a:defRPr>
            </a:pPr>
            <a:r>
              <a:rPr sz="1140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飞机</a:t>
            </a:r>
            <a:r>
              <a:rPr sz="1140" b="0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140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：当前及紧邻下一周期任务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39" name="multi-precedence-0-0">
            <a:extLst xmlns:a="http://schemas.openxmlformats.org/drawingml/2006/main">
              <a:ext uri="{FF2B5EF4-FFF2-40B4-BE49-F238E27FC236}">
                <a16:creationId xmlns:a16="http://schemas.microsoft.com/office/drawing/2014/main" id="{813663DB-9E9F-4C31-9439-9EA24BB9D25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81100" y="245745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4674CD"/>
            </a:solidFill>
            <a:prstDash val="solid"/>
            <a:tailEnd type="triangle" w="sm" len="sm"/>
          </a:ln>
        </p:spPr>
      </p:cxnSp>
      <p:cxnSp>
        <p:nvCxnSpPr>
          <p:cNvPr id="140" name="multi-precedence-0-1">
            <a:extLst xmlns:a="http://schemas.openxmlformats.org/drawingml/2006/main">
              <a:ext uri="{FF2B5EF4-FFF2-40B4-BE49-F238E27FC236}">
                <a16:creationId xmlns:a16="http://schemas.microsoft.com/office/drawing/2014/main" id="{C0C28BE1-A3EE-42DC-8192-84E156ABC5C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52625" y="24574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4674CD"/>
            </a:solidFill>
            <a:prstDash val="solid"/>
            <a:tailEnd type="triangle" w="sm" len="sm"/>
          </a:ln>
        </p:spPr>
      </p:cxnSp>
      <p:cxnSp>
        <p:nvCxnSpPr>
          <p:cNvPr id="141" name="multi-precedence-1-0">
            <a:extLst xmlns:a="http://schemas.openxmlformats.org/drawingml/2006/main">
              <a:ext uri="{FF2B5EF4-FFF2-40B4-BE49-F238E27FC236}">
                <a16:creationId xmlns:a16="http://schemas.microsoft.com/office/drawing/2014/main" id="{CC604DE9-3093-478C-8C5C-FCCFC08CDAD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81100" y="33051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4674CD"/>
            </a:solidFill>
            <a:prstDash val="solid"/>
            <a:tailEnd type="triangle" w="sm" len="sm"/>
          </a:ln>
        </p:spPr>
      </p:cxnSp>
      <p:cxnSp>
        <p:nvCxnSpPr>
          <p:cNvPr id="142" name="multi-precedence-1-1">
            <a:extLst xmlns:a="http://schemas.openxmlformats.org/drawingml/2006/main">
              <a:ext uri="{FF2B5EF4-FFF2-40B4-BE49-F238E27FC236}">
                <a16:creationId xmlns:a16="http://schemas.microsoft.com/office/drawing/2014/main" id="{4BE47FB4-E1E8-4938-B5D0-54FE474426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52625" y="33051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4674CD"/>
            </a:solidFill>
            <a:prstDash val="solid"/>
            <a:tailEnd type="triangle" w="sm" len="sm"/>
          </a:ln>
        </p:spPr>
      </p:cxnSp>
      <p:sp>
        <p:nvSpPr>
          <p:cNvPr id="143" name="multi-station">
            <a:extLst xmlns:a="http://schemas.openxmlformats.org/drawingml/2006/main">
              <a:ext uri="{FF2B5EF4-FFF2-40B4-BE49-F238E27FC236}">
                <a16:creationId xmlns:a16="http://schemas.microsoft.com/office/drawing/2014/main" id="{8251DD54-3FCB-4D04-8AC2-513FC048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19525"/>
            <a:ext cx="581025" cy="2952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688D5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38" b="0">
                <a:solidFill>
                  <a:srgbClr val="111111"/>
                </a:solidFill>
              </a:defRPr>
            </a:pPr>
            <a:r>
              <a:rPr sz="12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站位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4" name="multi-worker">
            <a:extLst xmlns:a="http://schemas.openxmlformats.org/drawingml/2006/main">
              <a:ext uri="{FF2B5EF4-FFF2-40B4-BE49-F238E27FC236}">
                <a16:creationId xmlns:a16="http://schemas.microsoft.com/office/drawing/2014/main" id="{14D54A32-105B-4507-A00B-FB9F39E5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19525"/>
            <a:ext cx="533400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D5753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38" b="0">
                <a:solidFill>
                  <a:srgbClr val="111111"/>
                </a:solidFill>
              </a:defRPr>
            </a:pPr>
            <a:r>
              <a:rPr sz="12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人员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5" name="multi-skill">
            <a:extLst xmlns:a="http://schemas.openxmlformats.org/drawingml/2006/main">
              <a:ext uri="{FF2B5EF4-FFF2-40B4-BE49-F238E27FC236}">
                <a16:creationId xmlns:a16="http://schemas.microsoft.com/office/drawing/2014/main" id="{F4965459-4184-4B7C-8066-DC0C3258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90950"/>
            <a:ext cx="495300" cy="3714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8768A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38" b="0">
                <a:solidFill>
                  <a:srgbClr val="111111"/>
                </a:solidFill>
              </a:defRPr>
            </a:pPr>
            <a:r>
              <a:rPr sz="12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技能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46" name="operation-station-state-0">
            <a:extLst xmlns:a="http://schemas.openxmlformats.org/drawingml/2006/main">
              <a:ext uri="{FF2B5EF4-FFF2-40B4-BE49-F238E27FC236}">
                <a16:creationId xmlns:a16="http://schemas.microsoft.com/office/drawing/2014/main" id="{3B8E289B-50AA-4DCF-9A9F-0A87ABE9379A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95325" y="33051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688D53"/>
            </a:solidFill>
            <a:prstDash val="solid"/>
          </a:ln>
        </p:spPr>
      </p:cxnSp>
      <p:cxnSp>
        <p:nvCxnSpPr>
          <p:cNvPr id="147" name="operation-station-state-1">
            <a:extLst xmlns:a="http://schemas.openxmlformats.org/drawingml/2006/main">
              <a:ext uri="{FF2B5EF4-FFF2-40B4-BE49-F238E27FC236}">
                <a16:creationId xmlns:a16="http://schemas.microsoft.com/office/drawing/2014/main" id="{F84D0B8A-2A69-480B-B010-32C329EF58F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95325" y="3305175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688D53"/>
            </a:solidFill>
            <a:prstDash val="solid"/>
          </a:ln>
        </p:spPr>
      </p:cxnSp>
      <p:cxnSp>
        <p:nvCxnSpPr>
          <p:cNvPr id="148" name="operation-station-state-2">
            <a:extLst xmlns:a="http://schemas.openxmlformats.org/drawingml/2006/main">
              <a:ext uri="{FF2B5EF4-FFF2-40B4-BE49-F238E27FC236}">
                <a16:creationId xmlns:a16="http://schemas.microsoft.com/office/drawing/2014/main" id="{70F21F58-9A93-4C35-A2C3-6C88C4F936C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95325" y="396240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688D53"/>
            </a:solidFill>
            <a:prstDash val="solid"/>
          </a:ln>
        </p:spPr>
      </p:cxnSp>
      <p:cxnSp>
        <p:nvCxnSpPr>
          <p:cNvPr id="149" name="operation-worker-state-0">
            <a:extLst xmlns:a="http://schemas.openxmlformats.org/drawingml/2006/main">
              <a:ext uri="{FF2B5EF4-FFF2-40B4-BE49-F238E27FC236}">
                <a16:creationId xmlns:a16="http://schemas.microsoft.com/office/drawing/2014/main" id="{634C05DE-3E62-433F-9AC2-C801320E9A7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43100" y="33051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D57530"/>
            </a:solidFill>
            <a:prstDash val="solid"/>
          </a:ln>
        </p:spPr>
      </p:cxnSp>
      <p:cxnSp>
        <p:nvCxnSpPr>
          <p:cNvPr id="150" name="operation-worker-state-1">
            <a:extLst xmlns:a="http://schemas.openxmlformats.org/drawingml/2006/main">
              <a:ext uri="{FF2B5EF4-FFF2-40B4-BE49-F238E27FC236}">
                <a16:creationId xmlns:a16="http://schemas.microsoft.com/office/drawing/2014/main" id="{A42E9E47-7455-48C1-BA33-F728D9C4766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85975" y="330517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D57530"/>
            </a:solidFill>
            <a:prstDash val="solid"/>
          </a:ln>
        </p:spPr>
      </p:cxnSp>
      <p:cxnSp>
        <p:nvCxnSpPr>
          <p:cNvPr id="151" name="operation-worker-state-2">
            <a:extLst xmlns:a="http://schemas.openxmlformats.org/drawingml/2006/main">
              <a:ext uri="{FF2B5EF4-FFF2-40B4-BE49-F238E27FC236}">
                <a16:creationId xmlns:a16="http://schemas.microsoft.com/office/drawing/2014/main" id="{4A712C99-09F8-4DB9-B2C1-0B2B11452F0A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866900" y="3714750"/>
            <a:ext cx="219075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D57530"/>
            </a:solidFill>
            <a:prstDash val="solid"/>
          </a:ln>
        </p:spPr>
      </p:cxnSp>
      <p:cxnSp>
        <p:nvCxnSpPr>
          <p:cNvPr id="152" name="operation-skill-state-0">
            <a:extLst xmlns:a="http://schemas.openxmlformats.org/drawingml/2006/main">
              <a:ext uri="{FF2B5EF4-FFF2-40B4-BE49-F238E27FC236}">
                <a16:creationId xmlns:a16="http://schemas.microsoft.com/office/drawing/2014/main" id="{CC576E75-C53E-479B-8709-2B6C2F85330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24150" y="330517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8768AD"/>
            </a:solidFill>
            <a:prstDash val="solid"/>
          </a:ln>
        </p:spPr>
      </p:cxnSp>
      <p:cxnSp>
        <p:nvCxnSpPr>
          <p:cNvPr id="153" name="operation-skill-state-1">
            <a:extLst xmlns:a="http://schemas.openxmlformats.org/drawingml/2006/main">
              <a:ext uri="{FF2B5EF4-FFF2-40B4-BE49-F238E27FC236}">
                <a16:creationId xmlns:a16="http://schemas.microsoft.com/office/drawing/2014/main" id="{85225002-77F6-4CB9-9517-A3702D76944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00375" y="330517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8768AD"/>
            </a:solidFill>
            <a:prstDash val="solid"/>
          </a:ln>
        </p:spPr>
      </p:cxnSp>
      <p:cxnSp>
        <p:nvCxnSpPr>
          <p:cNvPr id="154" name="operation-skill-state-2">
            <a:extLst xmlns:a="http://schemas.openxmlformats.org/drawingml/2006/main">
              <a:ext uri="{FF2B5EF4-FFF2-40B4-BE49-F238E27FC236}">
                <a16:creationId xmlns:a16="http://schemas.microsoft.com/office/drawing/2014/main" id="{344FB954-233E-4F4B-87B2-DCE59EFFCC80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943225" y="3971925"/>
            <a:ext cx="57150" cy="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8768AD"/>
            </a:solidFill>
            <a:prstDash val="solid"/>
          </a:ln>
        </p:spPr>
      </p:cxnSp>
      <p:cxnSp>
        <p:nvCxnSpPr>
          <p:cNvPr id="155" name="worker-skill-state">
            <a:extLst xmlns:a="http://schemas.openxmlformats.org/drawingml/2006/main">
              <a:ext uri="{FF2B5EF4-FFF2-40B4-BE49-F238E27FC236}">
                <a16:creationId xmlns:a16="http://schemas.microsoft.com/office/drawing/2014/main" id="{19D053CB-7578-4870-A95B-028F6FA5D17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33600" y="397192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8768AD"/>
            </a:solidFill>
            <a:prstDash val="solid"/>
          </a:ln>
        </p:spPr>
      </p:cxnSp>
      <p:sp>
        <p:nvSpPr>
          <p:cNvPr id="156" name="layered-fusion-frame">
            <a:extLst xmlns:a="http://schemas.openxmlformats.org/drawingml/2006/main">
              <a:ext uri="{FF2B5EF4-FFF2-40B4-BE49-F238E27FC236}">
                <a16:creationId xmlns:a16="http://schemas.microsoft.com/office/drawing/2014/main" id="{514A6471-4582-4446-8A8B-AAB25B80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95450"/>
            <a:ext cx="2276475" cy="2562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</p:sp>
      <p:sp>
        <p:nvSpPr>
          <p:cNvPr id="157" name="layered-fusion-title">
            <a:extLst xmlns:a="http://schemas.openxmlformats.org/drawingml/2006/main">
              <a:ext uri="{FF2B5EF4-FFF2-40B4-BE49-F238E27FC236}">
                <a16:creationId xmlns:a16="http://schemas.microsoft.com/office/drawing/2014/main" id="{5C47FA89-8EB4-449C-B60F-E987349D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71650"/>
            <a:ext cx="214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508" b="0">
                <a:solidFill>
                  <a:srgbClr val="111111"/>
                </a:solidFill>
              </a:defRPr>
            </a:pPr>
            <a:r>
              <a:rPr sz="150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飞机、站位与整线融合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8" name="aircraft-summary">
            <a:extLst xmlns:a="http://schemas.openxmlformats.org/drawingml/2006/main">
              <a:ext uri="{FF2B5EF4-FFF2-40B4-BE49-F238E27FC236}">
                <a16:creationId xmlns:a16="http://schemas.microsoft.com/office/drawing/2014/main" id="{81C667DB-D74F-482B-8629-9789DBA0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90750"/>
            <a:ext cx="2009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2859">
            <a:solidFill>
              <a:srgbClr val="CDD7E8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41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18" b="0">
                <a:solidFill>
                  <a:srgbClr val="111111"/>
                </a:solidFill>
              </a:defRPr>
            </a:pPr>
            <a:r>
              <a:rPr sz="141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飞机层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18" b="0">
                <a:solidFill>
                  <a:srgbClr val="111111"/>
                </a:solidFill>
              </a:defRPr>
            </a:pPr>
            <a:r>
              <a:rPr sz="141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各架飞机未完任务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9" name="station-summary">
            <a:extLst xmlns:a="http://schemas.openxmlformats.org/drawingml/2006/main">
              <a:ext uri="{FF2B5EF4-FFF2-40B4-BE49-F238E27FC236}">
                <a16:creationId xmlns:a16="http://schemas.microsoft.com/office/drawing/2014/main" id="{8686759B-1449-4E40-B413-C2F8DDCD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819400"/>
            <a:ext cx="20097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2859">
            <a:solidFill>
              <a:srgbClr val="CDD7E8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327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27" b="0">
                <a:solidFill>
                  <a:srgbClr val="111111"/>
                </a:solidFill>
              </a:defRPr>
            </a:pPr>
            <a:r>
              <a:rPr sz="1327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站位层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27" b="0">
                <a:solidFill>
                  <a:srgbClr val="111111"/>
                </a:solidFill>
              </a:defRPr>
            </a:pPr>
            <a:r>
              <a:rPr sz="1327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当前／下一周期任务与人员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0" name="line-summary">
            <a:extLst xmlns:a="http://schemas.openxmlformats.org/drawingml/2006/main">
              <a:ext uri="{FF2B5EF4-FFF2-40B4-BE49-F238E27FC236}">
                <a16:creationId xmlns:a16="http://schemas.microsoft.com/office/drawing/2014/main" id="{4E1A79B2-C0D9-4593-8D3B-1B9A81BF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476625"/>
            <a:ext cx="20097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2859">
            <a:solidFill>
              <a:srgbClr val="CDD7E8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327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27" b="0">
                <a:solidFill>
                  <a:srgbClr val="111111"/>
                </a:solidFill>
              </a:defRPr>
            </a:pPr>
            <a:r>
              <a:rPr sz="1327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整线层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27" b="0">
                <a:solidFill>
                  <a:srgbClr val="111111"/>
                </a:solidFill>
              </a:defRPr>
            </a:pPr>
            <a:r>
              <a:rPr sz="1327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各站进度、负荷与周期信息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1" name="time-prediction-frame">
            <a:extLst xmlns:a="http://schemas.openxmlformats.org/drawingml/2006/main">
              <a:ext uri="{FF2B5EF4-FFF2-40B4-BE49-F238E27FC236}">
                <a16:creationId xmlns:a16="http://schemas.microsoft.com/office/drawing/2014/main" id="{38840A99-40A8-4420-B0E4-C285DB14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95450"/>
            <a:ext cx="1600200" cy="2562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</p:sp>
      <p:sp>
        <p:nvSpPr>
          <p:cNvPr id="162" name="consequence-title">
            <a:extLst xmlns:a="http://schemas.openxmlformats.org/drawingml/2006/main">
              <a:ext uri="{FF2B5EF4-FFF2-40B4-BE49-F238E27FC236}">
                <a16:creationId xmlns:a16="http://schemas.microsoft.com/office/drawing/2014/main" id="{72AD871C-A7A9-4C24-AED3-535A5075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71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8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508" b="0">
                <a:solidFill>
                  <a:srgbClr val="111111"/>
                </a:solidFill>
              </a:defRPr>
            </a:pPr>
            <a:r>
              <a:rPr sz="150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时间后果预测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3" name="pulse-time-prediction">
            <a:extLst xmlns:a="http://schemas.openxmlformats.org/drawingml/2006/main">
              <a:ext uri="{FF2B5EF4-FFF2-40B4-BE49-F238E27FC236}">
                <a16:creationId xmlns:a16="http://schemas.microsoft.com/office/drawing/2014/main" id="{8CA00049-69A3-48D8-91E0-3DEEA698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219325"/>
            <a:ext cx="1390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2859">
            <a:solidFill>
              <a:srgbClr val="CDD7E8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29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defRPr sz="1290" b="0">
                <a:solidFill>
                  <a:srgbClr val="111111"/>
                </a:solidFill>
              </a:defRPr>
            </a:pPr>
            <a:r>
              <a:rPr sz="12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本次同步转站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defRPr sz="1290" b="0">
                <a:solidFill>
                  <a:srgbClr val="111111"/>
                </a:solidFill>
              </a:defRPr>
            </a:pPr>
            <a:r>
              <a:rPr sz="12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时间修正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defRPr sz="1290" b="0">
                <a:solidFill>
                  <a:srgbClr val="111111"/>
                </a:solidFill>
              </a:defRPr>
            </a:pPr>
            <a:r>
              <a:rPr sz="12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相对启发式估计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4" name="next-readiness-prediction">
            <a:extLst xmlns:a="http://schemas.openxmlformats.org/drawingml/2006/main">
              <a:ext uri="{FF2B5EF4-FFF2-40B4-BE49-F238E27FC236}">
                <a16:creationId xmlns:a16="http://schemas.microsoft.com/office/drawing/2014/main" id="{B1FBDC61-EC6C-4DF2-9E52-E52CC095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314700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2859">
            <a:solidFill>
              <a:srgbClr val="CDD7E8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290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defRPr sz="1290" b="0">
                <a:solidFill>
                  <a:srgbClr val="111111"/>
                </a:solidFill>
              </a:defRPr>
            </a:pPr>
            <a:r>
              <a:rPr sz="12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紧邻下一周期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defRPr sz="1290" b="0">
                <a:solidFill>
                  <a:srgbClr val="111111"/>
                </a:solidFill>
              </a:defRPr>
            </a:pPr>
            <a:r>
              <a:rPr sz="129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各站就绪偏差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65" name="state-fusion">
            <a:extLst xmlns:a="http://schemas.openxmlformats.org/drawingml/2006/main">
              <a:ext uri="{FF2B5EF4-FFF2-40B4-BE49-F238E27FC236}">
                <a16:creationId xmlns:a16="http://schemas.microsoft.com/office/drawing/2014/main" id="{17FDD985-8123-4185-8834-BA2D1B190A7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09925" y="30480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66" name="fusion-prediction">
            <a:extLst xmlns:a="http://schemas.openxmlformats.org/drawingml/2006/main">
              <a:ext uri="{FF2B5EF4-FFF2-40B4-BE49-F238E27FC236}">
                <a16:creationId xmlns:a16="http://schemas.microsoft.com/office/drawing/2014/main" id="{7F9DBD20-40A4-47EB-8399-3C6F8AD8A58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53100" y="30480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167" name="latest-production-state">
            <a:extLst xmlns:a="http://schemas.openxmlformats.org/drawingml/2006/main">
              <a:ext uri="{FF2B5EF4-FFF2-40B4-BE49-F238E27FC236}">
                <a16:creationId xmlns:a16="http://schemas.microsoft.com/office/drawing/2014/main" id="{B87A1D8A-8849-45F6-A00F-EC34C42B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381125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8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358" b="0">
                <a:solidFill>
                  <a:srgbClr val="6E747A"/>
                </a:solidFill>
              </a:defRPr>
            </a:pPr>
            <a:r>
              <a:rPr sz="1358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输入：最新生产状态与最近变化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8" name="joint-strategy-input">
            <a:extLst xmlns:a="http://schemas.openxmlformats.org/drawingml/2006/main">
              <a:ext uri="{FF2B5EF4-FFF2-40B4-BE49-F238E27FC236}">
                <a16:creationId xmlns:a16="http://schemas.microsoft.com/office/drawing/2014/main" id="{28A138F4-A26E-4844-80E7-EAB3024E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48175"/>
            <a:ext cx="6991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51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15" b="0">
                <a:solidFill>
                  <a:srgbClr val="111111"/>
                </a:solidFill>
              </a:defRPr>
            </a:pPr>
            <a:r>
              <a: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联合策略输入：候选节点表示、分层状态与时间预测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69" name="policy-context-202">
            <a:extLst xmlns:a="http://schemas.openxmlformats.org/drawingml/2006/main">
              <a:ext uri="{FF2B5EF4-FFF2-40B4-BE49-F238E27FC236}">
                <a16:creationId xmlns:a16="http://schemas.microsoft.com/office/drawing/2014/main" id="{175D211F-87AB-4214-8D79-339FEBCB6F9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24050" y="425767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70" name="policy-context-484">
            <a:extLst xmlns:a="http://schemas.openxmlformats.org/drawingml/2006/main">
              <a:ext uri="{FF2B5EF4-FFF2-40B4-BE49-F238E27FC236}">
                <a16:creationId xmlns:a16="http://schemas.microsoft.com/office/drawing/2014/main" id="{726E447C-4FD3-4693-9F92-B648415E073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10100" y="425767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71" name="policy-context-716">
            <a:extLst xmlns:a="http://schemas.openxmlformats.org/drawingml/2006/main">
              <a:ext uri="{FF2B5EF4-FFF2-40B4-BE49-F238E27FC236}">
                <a16:creationId xmlns:a16="http://schemas.microsoft.com/office/drawing/2014/main" id="{21268FFF-68EE-4FDA-BC15-4F769031569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19900" y="425767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172" name="collaborative-operation">
            <a:extLst xmlns:a="http://schemas.openxmlformats.org/drawingml/2006/main">
              <a:ext uri="{FF2B5EF4-FFF2-40B4-BE49-F238E27FC236}">
                <a16:creationId xmlns:a16="http://schemas.microsoft.com/office/drawing/2014/main" id="{D64DDDB6-389F-42F7-A3A2-D0D559D1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55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52" b="0">
                <a:solidFill>
                  <a:srgbClr val="111111"/>
                </a:solidFill>
              </a:defRPr>
            </a:pPr>
            <a:r>
              <a:rPr sz="1552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工序选择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3" name="stay-or-defer">
            <a:extLst xmlns:a="http://schemas.openxmlformats.org/drawingml/2006/main">
              <a:ext uri="{FF2B5EF4-FFF2-40B4-BE49-F238E27FC236}">
                <a16:creationId xmlns:a16="http://schemas.microsoft.com/office/drawing/2014/main" id="{2B1FCC87-59E3-4682-A112-046B5EE4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200650"/>
            <a:ext cx="19145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55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52" b="0">
                <a:solidFill>
                  <a:srgbClr val="111111"/>
                </a:solidFill>
              </a:defRPr>
            </a:pPr>
            <a:r>
              <a:rPr sz="1552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留站／合法后移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4" name="collaborative-team">
            <a:extLst xmlns:a="http://schemas.openxmlformats.org/drawingml/2006/main">
              <a:ext uri="{FF2B5EF4-FFF2-40B4-BE49-F238E27FC236}">
                <a16:creationId xmlns:a16="http://schemas.microsoft.com/office/drawing/2014/main" id="{CD139A6F-34DA-467B-9CCB-3307422E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200650"/>
            <a:ext cx="22955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55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52" b="0">
                <a:solidFill>
                  <a:srgbClr val="111111"/>
                </a:solidFill>
              </a:defRPr>
            </a:pPr>
            <a:r>
              <a:rPr sz="1552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具体团队与开工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75" name="joint-input-to-operation">
            <a:extLst xmlns:a="http://schemas.openxmlformats.org/drawingml/2006/main">
              <a:ext uri="{FF2B5EF4-FFF2-40B4-BE49-F238E27FC236}">
                <a16:creationId xmlns:a16="http://schemas.microsoft.com/office/drawing/2014/main" id="{0420613B-E18A-4EDB-BAA9-B5FDB77FAD5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19225" y="488632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178" name="stay-team-condition">
            <a:extLst xmlns:a="http://schemas.openxmlformats.org/drawingml/2006/main">
              <a:ext uri="{FF2B5EF4-FFF2-40B4-BE49-F238E27FC236}">
                <a16:creationId xmlns:a16="http://schemas.microsoft.com/office/drawing/2014/main" id="{37452659-FD1F-4FE7-A35E-E1E83345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00625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48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148" b="0">
                <a:solidFill>
                  <a:srgbClr val="6E747A"/>
                </a:solidFill>
              </a:defRPr>
            </a:pPr>
            <a:r>
              <a:rPr sz="1148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留站工序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9" name="execution-and-state-update">
            <a:extLst xmlns:a="http://schemas.openxmlformats.org/drawingml/2006/main">
              <a:ext uri="{FF2B5EF4-FFF2-40B4-BE49-F238E27FC236}">
                <a16:creationId xmlns:a16="http://schemas.microsoft.com/office/drawing/2014/main" id="{AD12B967-DB60-4091-B701-D3F663C6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6991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66675" tIns="57150" rIns="66675" bIns="57150" anchor="ctr">
            <a:noAutofit/>
          </a:bodyPr>
          <a:lstStyle xmlns:a="http://schemas.openxmlformats.org/drawingml/2006/main">
            <a:defPPr algn="ctr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状态更新与实际执行：工序开工／完成、正式后移与全线转站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80" name="team-execution">
            <a:extLst xmlns:a="http://schemas.openxmlformats.org/drawingml/2006/main">
              <a:ext uri="{FF2B5EF4-FFF2-40B4-BE49-F238E27FC236}">
                <a16:creationId xmlns:a16="http://schemas.microsoft.com/office/drawing/2014/main" id="{7B47975C-44C9-4400-A777-8DA82E5F10A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467475" y="562927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81" name="defer-state-update">
            <a:extLst xmlns:a="http://schemas.openxmlformats.org/drawingml/2006/main">
              <a:ext uri="{FF2B5EF4-FFF2-40B4-BE49-F238E27FC236}">
                <a16:creationId xmlns:a16="http://schemas.microsoft.com/office/drawing/2014/main" id="{7648825E-4163-4B9B-B352-5C23DED58B4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90925" y="562927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182" name="defer-update-label">
            <a:extLst xmlns:a="http://schemas.openxmlformats.org/drawingml/2006/main">
              <a:ext uri="{FF2B5EF4-FFF2-40B4-BE49-F238E27FC236}">
                <a16:creationId xmlns:a16="http://schemas.microsoft.com/office/drawing/2014/main" id="{AA987644-FA9C-4C6F-B8F4-6405322F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657850"/>
            <a:ext cx="1333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3" b="0">
                <a:solidFill>
                  <a:srgbClr val="6E747A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193" b="0">
                <a:solidFill>
                  <a:srgbClr val="6E747A"/>
                </a:solidFill>
              </a:defRPr>
            </a:pPr>
            <a:r>
              <a:rPr sz="1193" b="0">
                <a:solidFill>
                  <a:srgbClr val="6E747A"/>
                </a:solidFill>
                <a:latin typeface="Microsoft YaHei"/>
                <a:ea typeface="Microsoft YaHei"/>
                <a:cs typeface="Microsoft YaHei"/>
              </a:rPr>
              <a:t>后移更新归属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3" name="actual-times">
            <a:extLst xmlns:a="http://schemas.openxmlformats.org/drawingml/2006/main">
              <a:ext uri="{FF2B5EF4-FFF2-40B4-BE49-F238E27FC236}">
                <a16:creationId xmlns:a16="http://schemas.microsoft.com/office/drawing/2014/main" id="{CE1A82D7-6FC5-48C8-9FD0-0CA2B20E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2289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33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35" b="0">
                <a:solidFill>
                  <a:srgbClr val="111111"/>
                </a:solidFill>
              </a:defRPr>
            </a:pPr>
            <a:r>
              <a:rPr sz="133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实际转站与各站就绪结果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4" name="time-supervision">
            <a:extLst xmlns:a="http://schemas.openxmlformats.org/drawingml/2006/main">
              <a:ext uri="{FF2B5EF4-FFF2-40B4-BE49-F238E27FC236}">
                <a16:creationId xmlns:a16="http://schemas.microsoft.com/office/drawing/2014/main" id="{733BA80C-ED26-47D0-9C53-3FF3206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477000"/>
            <a:ext cx="32289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33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35" b="0">
                <a:solidFill>
                  <a:srgbClr val="111111"/>
                </a:solidFill>
              </a:defRPr>
            </a:pPr>
            <a:r>
              <a:rPr sz="133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时间监督学习：共享表示与预测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85" name="execution-actual">
            <a:extLst xmlns:a="http://schemas.openxmlformats.org/drawingml/2006/main">
              <a:ext uri="{FF2B5EF4-FFF2-40B4-BE49-F238E27FC236}">
                <a16:creationId xmlns:a16="http://schemas.microsoft.com/office/drawing/2014/main" id="{8A42EB97-7FF7-481E-9FA4-6E8E68A778E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38375" y="6257925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87" name="supervision-feedback-0">
            <a:extLst xmlns:a="http://schemas.openxmlformats.org/drawingml/2006/main">
              <a:ext uri="{FF2B5EF4-FFF2-40B4-BE49-F238E27FC236}">
                <a16:creationId xmlns:a16="http://schemas.microsoft.com/office/drawing/2014/main" id="{05607B25-5CD0-4FDB-8343-F85FE9FDE2A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0" y="660082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4674CD"/>
            </a:solidFill>
            <a:prstDash val="dash"/>
          </a:ln>
        </p:spPr>
      </p:cxnSp>
      <p:cxnSp>
        <p:nvCxnSpPr>
          <p:cNvPr id="188" name="supervision-feedback-1">
            <a:extLst xmlns:a="http://schemas.openxmlformats.org/drawingml/2006/main">
              <a:ext uri="{FF2B5EF4-FFF2-40B4-BE49-F238E27FC236}">
                <a16:creationId xmlns:a16="http://schemas.microsoft.com/office/drawing/2014/main" id="{5B07090B-FC46-45FC-820F-8034A6B3DE22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800975" y="1590675"/>
            <a:ext cx="0" cy="50101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4674CD"/>
            </a:solidFill>
            <a:prstDash val="dash"/>
          </a:ln>
        </p:spPr>
      </p:cxnSp>
      <p:cxnSp>
        <p:nvCxnSpPr>
          <p:cNvPr id="189" name="supervision-feedback-2">
            <a:extLst xmlns:a="http://schemas.openxmlformats.org/drawingml/2006/main">
              <a:ext uri="{FF2B5EF4-FFF2-40B4-BE49-F238E27FC236}">
                <a16:creationId xmlns:a16="http://schemas.microsoft.com/office/drawing/2014/main" id="{7EB5A453-3A20-4230-9F74-63928F7DB6C7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619625" y="1590675"/>
            <a:ext cx="31813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4674CD"/>
            </a:solidFill>
            <a:prstDash val="dash"/>
          </a:ln>
        </p:spPr>
      </p:cxnSp>
      <p:cxnSp>
        <p:nvCxnSpPr>
          <p:cNvPr id="190" name="train-encoder-feedback">
            <a:extLst xmlns:a="http://schemas.openxmlformats.org/drawingml/2006/main">
              <a:ext uri="{FF2B5EF4-FFF2-40B4-BE49-F238E27FC236}">
                <a16:creationId xmlns:a16="http://schemas.microsoft.com/office/drawing/2014/main" id="{B1510769-0057-4246-8A70-ECA456B8774C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924050" y="1590675"/>
            <a:ext cx="26955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4674CD"/>
            </a:solidFill>
            <a:prstDash val="dash"/>
          </a:ln>
        </p:spPr>
      </p:cxnSp>
      <p:cxnSp>
        <p:nvCxnSpPr>
          <p:cNvPr id="191" name="train-shared-module-202">
            <a:extLst xmlns:a="http://schemas.openxmlformats.org/drawingml/2006/main">
              <a:ext uri="{FF2B5EF4-FFF2-40B4-BE49-F238E27FC236}">
                <a16:creationId xmlns:a16="http://schemas.microsoft.com/office/drawing/2014/main" id="{5050028E-018B-4F68-82A5-4436B9633EF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24050" y="1590675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4674CD"/>
            </a:solidFill>
            <a:prstDash val="dash"/>
            <a:tailEnd type="triangle" w="sm" len="sm"/>
          </a:ln>
        </p:spPr>
      </p:cxnSp>
      <p:cxnSp>
        <p:nvCxnSpPr>
          <p:cNvPr id="192" name="train-shared-module-485">
            <a:extLst xmlns:a="http://schemas.openxmlformats.org/drawingml/2006/main">
              <a:ext uri="{FF2B5EF4-FFF2-40B4-BE49-F238E27FC236}">
                <a16:creationId xmlns:a16="http://schemas.microsoft.com/office/drawing/2014/main" id="{E4F75E33-60DF-44BD-8647-2F202E92CE3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19625" y="1590675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4674CD"/>
            </a:solidFill>
            <a:prstDash val="dash"/>
            <a:tailEnd type="triangle" w="sm" len="sm"/>
          </a:ln>
        </p:spPr>
      </p:cxnSp>
      <p:cxnSp>
        <p:nvCxnSpPr>
          <p:cNvPr id="193" name="train-shared-module-716">
            <a:extLst xmlns:a="http://schemas.openxmlformats.org/drawingml/2006/main">
              <a:ext uri="{FF2B5EF4-FFF2-40B4-BE49-F238E27FC236}">
                <a16:creationId xmlns:a16="http://schemas.microsoft.com/office/drawing/2014/main" id="{B9030E13-D366-4425-A893-07C45FB33E1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19900" y="1590675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4674CD"/>
            </a:solidFill>
            <a:prstDash val="dash"/>
            <a:tailEnd type="triangle" w="sm" len="sm"/>
          </a:ln>
        </p:spPr>
      </p:cxnSp>
      <p:sp>
        <p:nvSpPr>
          <p:cNvPr id="194" name="supervision-feedback-caption">
            <a:extLst xmlns:a="http://schemas.openxmlformats.org/drawingml/2006/main">
              <a:ext uri="{FF2B5EF4-FFF2-40B4-BE49-F238E27FC236}">
                <a16:creationId xmlns:a16="http://schemas.microsoft.com/office/drawing/2014/main" id="{A6C628E6-4C65-491B-A96C-3B7A87B0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43025"/>
            <a:ext cx="3590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90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290" b="0">
                <a:solidFill>
                  <a:srgbClr val="315CA9"/>
                </a:solidFill>
              </a:defRPr>
            </a:pPr>
            <a:r>
              <a:rPr sz="1290" b="0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训练图编码、分层融合与时间预测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535893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vision-text-1069">
            <a:extLst xmlns:a="http://schemas.openxmlformats.org/drawingml/2006/main">
              <a:ext uri="{FF2B5EF4-FFF2-40B4-BE49-F238E27FC236}">
                <a16:creationId xmlns:a16="http://schemas.microsoft.com/office/drawing/2014/main" id="{05F8E316-157B-40F5-AB0F-B2BF827E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43025"/>
            <a:ext cx="2362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latin typeface="Microsoft YaHei"/>
                <a:ea typeface="Microsoft YaHei"/>
                <a:cs typeface="Microsoft YaHei"/>
              </a:rPr>
              <a:t>数据基础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revision-text-1070">
            <a:extLst xmlns:a="http://schemas.openxmlformats.org/drawingml/2006/main">
              <a:ext uri="{FF2B5EF4-FFF2-40B4-BE49-F238E27FC236}">
                <a16:creationId xmlns:a16="http://schemas.microsoft.com/office/drawing/2014/main" id="{38689552-8D4F-4F0A-8378-B4A42362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314450"/>
            <a:ext cx="85629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latin typeface="Microsoft YaHei"/>
                <a:ea typeface="Microsoft YaHei"/>
                <a:cs typeface="Microsoft YaHei"/>
              </a:rPr>
              <a:t>具备</a:t>
            </a:r>
            <a:r>
              <a:rPr b="0">
                <a:latin typeface="Times New Roman"/>
                <a:ea typeface="Times New Roman"/>
                <a:cs typeface="Times New Roman"/>
              </a:rPr>
              <a:t>283</a:t>
            </a:r>
            <a:r>
              <a:rPr b="0">
                <a:latin typeface="Microsoft YaHei"/>
                <a:ea typeface="Microsoft YaHei"/>
                <a:cs typeface="Microsoft YaHei"/>
              </a:rPr>
              <a:t>、</a:t>
            </a:r>
            <a:r>
              <a:rPr b="0">
                <a:latin typeface="Times New Roman"/>
                <a:ea typeface="Times New Roman"/>
                <a:cs typeface="Times New Roman"/>
              </a:rPr>
              <a:t>680</a:t>
            </a:r>
            <a:r>
              <a:rPr b="0">
                <a:latin typeface="Microsoft YaHei"/>
                <a:ea typeface="Microsoft YaHei"/>
                <a:cs typeface="Microsoft YaHei"/>
              </a:rPr>
              <a:t>、</a:t>
            </a:r>
            <a:r>
              <a:rPr b="0">
                <a:latin typeface="Times New Roman"/>
                <a:ea typeface="Times New Roman"/>
                <a:cs typeface="Times New Roman"/>
              </a:rPr>
              <a:t>2338</a:t>
            </a:r>
            <a:r>
              <a:rPr b="0">
                <a:latin typeface="Microsoft YaHei"/>
                <a:ea typeface="Microsoft YaHei"/>
                <a:cs typeface="Microsoft YaHei"/>
              </a:rPr>
              <a:t>和</a:t>
            </a:r>
            <a:r>
              <a:rPr b="0">
                <a:latin typeface="Times New Roman"/>
                <a:ea typeface="Times New Roman"/>
                <a:cs typeface="Times New Roman"/>
              </a:rPr>
              <a:t>3182</a:t>
            </a:r>
            <a:r>
              <a:rPr b="0">
                <a:latin typeface="Microsoft YaHei"/>
                <a:ea typeface="Microsoft YaHei"/>
                <a:cs typeface="Microsoft YaHei"/>
              </a:rPr>
              <a:t>四种规模的工业工艺数据，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latin typeface="Microsoft YaHei"/>
                <a:ea typeface="Microsoft YaHei"/>
                <a:cs typeface="Microsoft YaHei"/>
              </a:rPr>
              <a:t>包含工艺前序、标准工时与需求人数。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revision-text-1071">
            <a:extLst xmlns:a="http://schemas.openxmlformats.org/drawingml/2006/main">
              <a:ext uri="{FF2B5EF4-FFF2-40B4-BE49-F238E27FC236}">
                <a16:creationId xmlns:a16="http://schemas.microsoft.com/office/drawing/2014/main" id="{22BC270C-B3A0-4916-B03C-076DD202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90750"/>
            <a:ext cx="8562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latin typeface="Microsoft YaHei"/>
                <a:ea typeface="Microsoft YaHei"/>
                <a:cs typeface="Microsoft YaHei"/>
              </a:rPr>
              <a:t>人员总量、资格和效率采用实验配置。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revision-line-1072">
            <a:extLst xmlns:a="http://schemas.openxmlformats.org/drawingml/2006/main">
              <a:ext uri="{FF2B5EF4-FFF2-40B4-BE49-F238E27FC236}">
                <a16:creationId xmlns:a16="http://schemas.microsoft.com/office/drawing/2014/main" id="{05839F1A-E03B-4062-8903-90C7BCF0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</a:ln>
        </p:spPr>
      </p:sp>
      <p:sp>
        <p:nvSpPr>
          <p:cNvPr id="6" name="revision-text-1073">
            <a:extLst xmlns:a="http://schemas.openxmlformats.org/drawingml/2006/main">
              <a:ext uri="{FF2B5EF4-FFF2-40B4-BE49-F238E27FC236}">
                <a16:creationId xmlns:a16="http://schemas.microsoft.com/office/drawing/2014/main" id="{3C1EEC90-FA5C-4B36-A61B-7DF6EBB5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2362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latin typeface="Microsoft YaHei"/>
                <a:ea typeface="Microsoft YaHei"/>
                <a:cs typeface="Microsoft YaHei"/>
              </a:rPr>
              <a:t>已有研究基础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revision-text-1074">
            <a:extLst xmlns:a="http://schemas.openxmlformats.org/drawingml/2006/main">
              <a:ext uri="{FF2B5EF4-FFF2-40B4-BE49-F238E27FC236}">
                <a16:creationId xmlns:a16="http://schemas.microsoft.com/office/drawing/2014/main" id="{E56589CF-358B-43AC-ADCD-E7FA4BFD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962275"/>
            <a:ext cx="85629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研究内容一论文已获</a:t>
            </a:r>
            <a:r>
              <a:rPr sz="181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CAC 2026</a:t>
            </a:r>
            <a:r>
              <a:rPr sz="18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录用。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研究内容二论文已投稿，已有重调度实验与代码。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vision-text-1075">
            <a:extLst xmlns:a="http://schemas.openxmlformats.org/drawingml/2006/main">
              <a:ext uri="{FF2B5EF4-FFF2-40B4-BE49-F238E27FC236}">
                <a16:creationId xmlns:a16="http://schemas.microsoft.com/office/drawing/2014/main" id="{CAF93906-BF48-4431-A1D6-2F773415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876675"/>
            <a:ext cx="85629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latin typeface="Microsoft YaHei"/>
                <a:ea typeface="Microsoft YaHei"/>
                <a:cs typeface="Microsoft YaHei"/>
              </a:rPr>
              <a:t>已有图编码、团队选择、可行时间分配和强化学习训练可供复用。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revision-line-1076">
            <a:extLst xmlns:a="http://schemas.openxmlformats.org/drawingml/2006/main">
              <a:ext uri="{FF2B5EF4-FFF2-40B4-BE49-F238E27FC236}">
                <a16:creationId xmlns:a16="http://schemas.microsoft.com/office/drawing/2014/main" id="{DEBB26BA-1497-4C20-B9B9-A32BEE18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1096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</a:ln>
        </p:spPr>
      </p:sp>
      <p:sp>
        <p:nvSpPr>
          <p:cNvPr id="10" name="revision-text-1077">
            <a:extLst xmlns:a="http://schemas.openxmlformats.org/drawingml/2006/main">
              <a:ext uri="{FF2B5EF4-FFF2-40B4-BE49-F238E27FC236}">
                <a16:creationId xmlns:a16="http://schemas.microsoft.com/office/drawing/2014/main" id="{81E19E27-6BC0-41AB-8CEA-7ED8A046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10125"/>
            <a:ext cx="2362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latin typeface="Microsoft YaHei"/>
                <a:ea typeface="Microsoft YaHei"/>
                <a:cs typeface="Microsoft YaHei"/>
              </a:rPr>
              <a:t>实施条件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evision-text-1078">
            <a:extLst xmlns:a="http://schemas.openxmlformats.org/drawingml/2006/main">
              <a:ext uri="{FF2B5EF4-FFF2-40B4-BE49-F238E27FC236}">
                <a16:creationId xmlns:a16="http://schemas.microsoft.com/office/drawing/2014/main" id="{A961660D-1839-4982-83BB-63DFFC0B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43450"/>
            <a:ext cx="85629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拟使用实验室</a:t>
            </a:r>
            <a:r>
              <a:rPr sz="19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NVIDIA V100</a:t>
            </a: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服务器。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研究内容三已有方案设计和部分代码开发。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模板页眉横线">
            <a:extLst xmlns:a="http://schemas.openxmlformats.org/drawingml/2006/main">
              <a:ext uri="{FF2B5EF4-FFF2-40B4-BE49-F238E27FC236}">
                <a16:creationId xmlns:a16="http://schemas.microsoft.com/office/drawing/2014/main" id="{C4000073-E50E-0B72-94C0-033F230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054"/>
            <a:ext cx="12192000" cy="45719"/>
          </a:xfrm>
          <a:custGeom xmlns:a="http://schemas.openxmlformats.org/drawingml/2006/main">
            <a:gdLst>
              <a:gd name="T0" fmla="*/ 0 w 21600"/>
              <a:gd name="T1" fmla="*/ 0 h 21600"/>
              <a:gd name="T2" fmla="*/ 489365807 w 21600"/>
              <a:gd name="T3" fmla="*/ 0 h 21600"/>
              <a:gd name="T4" fmla="*/ 489365807 w 21600"/>
              <a:gd name="T5" fmla="*/ 28356134 h 21600"/>
              <a:gd name="T6" fmla="*/ 0 w 21600"/>
              <a:gd name="T7" fmla="*/ 28356134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3175" cap="flat" cmpd="sng">
            <a:solidFill>
              <a:srgbClr val="002060">
                <a:alpha val="0"/>
              </a:srgbClr>
            </a:solidFill>
            <a:round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solidFill>
                <a:srgbClr val="4874CB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" name="同济校标">
            <a:extLst xmlns:a="http://schemas.openxmlformats.org/drawingml/2006/main">
              <a:ext uri="{FF2B5EF4-FFF2-40B4-BE49-F238E27FC236}">
                <a16:creationId xmlns:a16="http://schemas.microsoft.com/office/drawing/2014/main" id="{DA8DD613-D890-47D1-A67D-F98A48C2AE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f54c76b8b074b94"/>
          <a:srcRect xmlns:a="http://schemas.openxmlformats.org/drawingml/2006/main" l="0" t="0" r="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1625" y="20910"/>
            <a:ext cx="1809525" cy="526143"/>
          </a:xfrm>
          <a:prstGeom xmlns:a="http://schemas.openxmlformats.org/drawingml/2006/main" prst="rect">
            <a:avLst/>
          </a:prstGeom>
        </p:spPr>
      </p:pic>
      <p:sp>
        <p:nvSpPr>
          <p:cNvPr id="15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CA1E91B-B668-B211-4835-07E77318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"/>
            <a:ext cx="113061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3200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4000"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4000"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4000"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4000">
                <a:latin typeface="Microsoft YaHei"/>
                <a:ea typeface="Microsoft YaHei"/>
                <a:cs typeface="Microsoft YaHei"/>
              </a:defRPr>
            </a:lvl5pPr>
            <a:lvl6pPr marL="4572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6pPr>
            <a:lvl7pPr marL="9144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7pPr>
            <a:lvl8pPr marL="13716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8pPr>
            <a:lvl9pPr marL="18288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3200">
                <a:solidFill>
                  <a:srgbClr val="4674C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4 </a:t>
            </a:r>
            <a:r>
              <a:rPr sz="3200">
                <a:solidFill>
                  <a:srgbClr val="4674C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技术路线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页面主题">
            <a:extLst xmlns:a="http://schemas.openxmlformats.org/drawingml/2006/main">
              <a:ext uri="{FF2B5EF4-FFF2-40B4-BE49-F238E27FC236}">
                <a16:creationId xmlns:a16="http://schemas.microsoft.com/office/drawing/2014/main" id="{A8BFA7F8-B8F6-40F9-8B69-7C7B3793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5247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可行性分析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revision-text-1005">
            <a:extLst xmlns:a="http://schemas.openxmlformats.org/drawingml/2006/main">
              <a:ext uri="{FF2B5EF4-FFF2-40B4-BE49-F238E27FC236}">
                <a16:creationId xmlns:a16="http://schemas.microsoft.com/office/drawing/2014/main" id="{CD0330C8-8920-4B6D-B042-F71F342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13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12997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vision-text-1086">
            <a:extLst xmlns:a="http://schemas.openxmlformats.org/drawingml/2006/main">
              <a:ext uri="{FF2B5EF4-FFF2-40B4-BE49-F238E27FC236}">
                <a16:creationId xmlns:a16="http://schemas.microsoft.com/office/drawing/2014/main" id="{C083E290-7200-4162-A3AE-6A62B1A1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934075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latin typeface="Microsoft YaHei"/>
                <a:ea typeface="Microsoft YaHei"/>
                <a:cs typeface="Microsoft YaHei"/>
              </a:rPr>
              <a:t>预期成果：</a:t>
            </a:r>
            <a:r>
              <a:rPr b="1">
                <a:latin typeface="Times New Roman"/>
                <a:ea typeface="Times New Roman"/>
                <a:cs typeface="Times New Roman"/>
              </a:rPr>
              <a:t>1</a:t>
            </a:r>
            <a:r>
              <a:rPr b="1">
                <a:latin typeface="Times New Roman"/>
                <a:ea typeface="Times New Roman"/>
                <a:cs typeface="Times New Roman"/>
              </a:rPr>
              <a:t>—</a:t>
            </a:r>
            <a:r>
              <a:rPr b="1">
                <a:latin typeface="Times New Roman"/>
                <a:ea typeface="Times New Roman"/>
                <a:cs typeface="Times New Roman"/>
              </a:rPr>
              <a:t>2</a:t>
            </a:r>
            <a:r>
              <a:rPr b="1">
                <a:latin typeface="Microsoft YaHei"/>
                <a:ea typeface="Microsoft YaHei"/>
                <a:cs typeface="Microsoft YaHei"/>
              </a:rPr>
              <a:t>篇论文、</a:t>
            </a:r>
            <a:r>
              <a:rPr b="1">
                <a:latin typeface="Times New Roman"/>
                <a:ea typeface="Times New Roman"/>
                <a:cs typeface="Times New Roman"/>
              </a:rPr>
              <a:t>1</a:t>
            </a:r>
            <a:r>
              <a:rPr b="1">
                <a:latin typeface="Microsoft YaHei"/>
                <a:ea typeface="Microsoft YaHei"/>
                <a:cs typeface="Microsoft YaHei"/>
              </a:rPr>
              <a:t>篇会议论文及硕士学位论文。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3" name="表格 31">
            <a:extLst xmlns:a="http://schemas.openxmlformats.org/drawingml/2006/main">
              <a:ext uri="{FF2B5EF4-FFF2-40B4-BE49-F238E27FC236}">
                <a16:creationId xmlns:a16="http://schemas.microsoft.com/office/drawing/2014/main" id="{DFE3BB06-2969-4790-8354-47BC7A5A0A58}"/>
              </a:ext>
            </a:extLst>
          </p:cNvPr>
          <p:cNvGraphicFramePr/>
          <p:nvPr/>
        </p:nvGraphicFramePr>
        <p:xfrm>
          <a:off xmlns:a="http://schemas.openxmlformats.org/drawingml/2006/main" x="756285" y="2316670"/>
          <a:ext xmlns:a="http://schemas.openxmlformats.org/drawingml/2006/main" cx="10679571" cy="351782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4771"/>
                <a:gridCol w="5373278"/>
                <a:gridCol w="2561522"/>
              </a:tblGrid>
              <a:tr h="4397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起讫日期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4674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主要研究内容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4674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预期结果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4674CD"/>
                    </a:solidFill>
                  </a:tcPr>
                </a:tc>
              </a:tr>
              <a:tr h="4397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2026.09—2026.10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4674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开题报告与文献整理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E7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研究方案与开题材料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E7ECF6"/>
                    </a:solidFill>
                  </a:tcPr>
                </a:tc>
              </a:tr>
              <a:tr h="4397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2026.11—2027.01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4674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同构方案实现与研究内容二稿件完善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同构实验与论文稿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F1F4F8"/>
                    </a:solidFill>
                  </a:tcPr>
                </a:tc>
              </a:tr>
              <a:tr h="4397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2027.02—2027.04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4674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研究内容二动态调度完善及补充验证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E7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研究内容二实验与分析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E7ECF6"/>
                    </a:solidFill>
                  </a:tcPr>
                </a:tc>
              </a:tr>
              <a:tr h="4397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2027.05—2027.07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4674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多架次环境与语义增强方法实现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多架次方法与轨迹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F1F4F8"/>
                    </a:solidFill>
                  </a:tcPr>
                </a:tc>
              </a:tr>
              <a:tr h="4397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2027.08—2027.10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4674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对照实验、消融与结果分析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E7EC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对照与消融结果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E7ECF6"/>
                    </a:solidFill>
                  </a:tcPr>
                </a:tc>
              </a:tr>
              <a:tr h="4397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2027.11—2028.01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4674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研究论文与学位论文初稿撰写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论文与学位论文初稿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F1F4F8"/>
                    </a:solidFill>
                  </a:tcPr>
                </a:tc>
              </a:tr>
              <a:tr h="4397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2028.01—2028.03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4674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学位论文修订与答辩准备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E7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学位论文与答辩材料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E7ECF6"/>
                    </a:solidFill>
                  </a:tcPr>
                </a:tc>
              </a:tr>
            </a:tbl>
          </a:graphicData>
        </a:graphic>
      </p:graphicFrame>
      <p:sp>
        <p:nvSpPr>
          <p:cNvPr id="4" name="模板页眉横线">
            <a:extLst xmlns:a="http://schemas.openxmlformats.org/drawingml/2006/main">
              <a:ext uri="{FF2B5EF4-FFF2-40B4-BE49-F238E27FC236}">
                <a16:creationId xmlns:a16="http://schemas.microsoft.com/office/drawing/2014/main" id="{C4000073-E50E-0B72-94C0-033F230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054"/>
            <a:ext cx="12192000" cy="45719"/>
          </a:xfrm>
          <a:custGeom xmlns:a="http://schemas.openxmlformats.org/drawingml/2006/main">
            <a:gdLst>
              <a:gd name="T0" fmla="*/ 0 w 21600"/>
              <a:gd name="T1" fmla="*/ 0 h 21600"/>
              <a:gd name="T2" fmla="*/ 489365807 w 21600"/>
              <a:gd name="T3" fmla="*/ 0 h 21600"/>
              <a:gd name="T4" fmla="*/ 489365807 w 21600"/>
              <a:gd name="T5" fmla="*/ 28356134 h 21600"/>
              <a:gd name="T6" fmla="*/ 0 w 21600"/>
              <a:gd name="T7" fmla="*/ 28356134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3175" cap="flat" cmpd="sng">
            <a:solidFill>
              <a:srgbClr val="002060">
                <a:alpha val="0"/>
              </a:srgbClr>
            </a:solidFill>
            <a:round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solidFill>
                <a:srgbClr val="4874CB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" name="同济校标">
            <a:extLst xmlns:a="http://schemas.openxmlformats.org/drawingml/2006/main">
              <a:ext uri="{FF2B5EF4-FFF2-40B4-BE49-F238E27FC236}">
                <a16:creationId xmlns:a16="http://schemas.microsoft.com/office/drawing/2014/main" id="{718DFD07-723A-47C5-94A8-50ABD6A8A6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209cd7e8feb4bc9"/>
          <a:srcRect xmlns:a="http://schemas.openxmlformats.org/drawingml/2006/main" l="0" t="0" r="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1625" y="20910"/>
            <a:ext cx="1809525" cy="526143"/>
          </a:xfrm>
          <a:prstGeom xmlns:a="http://schemas.openxmlformats.org/drawingml/2006/main" prst="rect">
            <a:avLst/>
          </a:prstGeom>
        </p:spPr>
      </p:pic>
      <p:sp>
        <p:nvSpPr>
          <p:cNvPr id="6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CA1E91B-B668-B211-4835-07E77318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"/>
            <a:ext cx="113061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3200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4000"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4000"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4000"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4000">
                <a:latin typeface="Microsoft YaHei"/>
                <a:ea typeface="Microsoft YaHei"/>
                <a:cs typeface="Microsoft YaHei"/>
              </a:defRPr>
            </a:lvl5pPr>
            <a:lvl6pPr marL="4572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6pPr>
            <a:lvl7pPr marL="9144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7pPr>
            <a:lvl8pPr marL="13716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8pPr>
            <a:lvl9pPr marL="18288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3200">
                <a:solidFill>
                  <a:srgbClr val="4674C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5 </a:t>
            </a:r>
            <a:r>
              <a:rPr sz="3200">
                <a:solidFill>
                  <a:srgbClr val="4674C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工作计划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页面主题">
            <a:extLst xmlns:a="http://schemas.openxmlformats.org/drawingml/2006/main">
              <a:ext uri="{FF2B5EF4-FFF2-40B4-BE49-F238E27FC236}">
                <a16:creationId xmlns:a16="http://schemas.microsoft.com/office/drawing/2014/main" id="{A8BFA7F8-B8F6-40F9-8B69-7C7B3793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5247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15CA9"/>
                </a:solidFill>
                <a:latin typeface="Microsoft YaHei"/>
                <a:ea typeface="Microsoft YaHei"/>
                <a:cs typeface="Microsoft YaHei"/>
              </a:rPr>
              <a:t>各项任务时间规划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vision-text-1005">
            <a:extLst xmlns:a="http://schemas.openxmlformats.org/drawingml/2006/main">
              <a:ext uri="{FF2B5EF4-FFF2-40B4-BE49-F238E27FC236}">
                <a16:creationId xmlns:a16="http://schemas.microsoft.com/office/drawing/2014/main" id="{CD0330C8-8920-4B6D-B042-F71F342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14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6844616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4">
            <a:extLst xmlns:a="http://schemas.openxmlformats.org/drawingml/2006/main">
              <a:ext uri="{FF2B5EF4-FFF2-40B4-BE49-F238E27FC236}">
                <a16:creationId xmlns:a16="http://schemas.microsoft.com/office/drawing/2014/main" id="{1CF4E985-D9F6-4DFE-A576-F7E50EA0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" y="1990089"/>
            <a:ext cx="12189743" cy="30791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4874CB">
              <a:shade val="50000"/>
            </a:srgbClr>
          </a:lnRef>
          <a:fillRef xmlns:a="http://schemas.openxmlformats.org/drawingml/2006/main" idx="1">
            <a:srgbClr val="4874CB"/>
          </a:fillRef>
          <a:effectRef xmlns:a="http://schemas.openxmlformats.org/drawingml/2006/main" idx="0">
            <a:srgbClr val="4874CB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文本框 9">
            <a:extLst xmlns:a="http://schemas.openxmlformats.org/drawingml/2006/main">
              <a:ext uri="{FF2B5EF4-FFF2-40B4-BE49-F238E27FC236}">
                <a16:creationId xmlns:a16="http://schemas.microsoft.com/office/drawing/2014/main" id="{E8867A99-EF29-4B0A-A44B-C78FB440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" y="1917271"/>
            <a:ext cx="12189744" cy="33934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21" tIns="45710" rIns="91421" bIns="4571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895" b="1">
                <a:solidFill>
                  <a:srgbClr val="FFFFFF">
                    <a:alpha val="5000"/>
                  </a:srgbClr>
                </a:solidFill>
                <a:latin typeface="Times New Roman"/>
                <a:ea typeface="Times New Roman"/>
                <a:cs typeface="Times New Roman"/>
              </a:rPr>
              <a:t>THANKS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4FE9442-ECAC-48E5-888B-40350CD2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02" y="186576"/>
            <a:ext cx="11878198" cy="6474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74CB"/>
            </a:solidFill>
          </a:ln>
        </p:spPr>
        <p:style>
          <a:lnRef xmlns:a="http://schemas.openxmlformats.org/drawingml/2006/main" idx="2">
            <a:srgbClr val="4874CB">
              <a:shade val="50000"/>
            </a:srgbClr>
          </a:lnRef>
          <a:fillRef xmlns:a="http://schemas.openxmlformats.org/drawingml/2006/main" idx="1">
            <a:srgbClr val="4874CB"/>
          </a:fillRef>
          <a:effectRef xmlns:a="http://schemas.openxmlformats.org/drawingml/2006/main" idx="0">
            <a:srgbClr val="4874CB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文本框 7">
            <a:extLst xmlns:a="http://schemas.openxmlformats.org/drawingml/2006/main">
              <a:ext uri="{FF2B5EF4-FFF2-40B4-BE49-F238E27FC236}">
                <a16:creationId xmlns:a16="http://schemas.microsoft.com/office/drawing/2014/main" id="{7C7E671B-1C83-434B-B601-4CDFA92D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" y="2897906"/>
            <a:ext cx="12189743" cy="14122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0" b="1">
                <a:solidFill>
                  <a:prstClr val="white"/>
                </a:solidFill>
                <a:latin typeface="Microsoft YaHei"/>
                <a:ea typeface="Microsoft YaHei"/>
                <a:cs typeface="Microsoft YaHei"/>
              </a:rPr>
              <a:t>请老师批评指正！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" name="Picture 2">
            <a:extLst xmlns:a="http://schemas.openxmlformats.org/drawingml/2006/main">
              <a:ext uri="{FF2B5EF4-FFF2-40B4-BE49-F238E27FC236}">
                <a16:creationId xmlns:a16="http://schemas.microsoft.com/office/drawing/2014/main" id="{0C9D733C-1CE8-41F0-B98C-600063E6CE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dac13049de4ab0"/>
          <a:srcRect xmlns:a="http://schemas.openxmlformats.org/drawingml/2006/main" l="13505" t="0" r="138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552253" y="998779"/>
            <a:ext cx="865806" cy="744204"/>
          </a:xfrm>
          <a:prstGeom xmlns:a="http://schemas.openxmlformats.org/drawingml/2006/main" prst="rect">
            <a:avLst/>
          </a:prstGeom>
        </p:spPr>
      </p:pic>
      <p:pic>
        <p:nvPicPr>
          <p:cNvPr id="8" name="Picture 3">
            <a:extLst xmlns:a="http://schemas.openxmlformats.org/drawingml/2006/main">
              <a:ext uri="{FF2B5EF4-FFF2-40B4-BE49-F238E27FC236}">
                <a16:creationId xmlns:a16="http://schemas.microsoft.com/office/drawing/2014/main" id="{2506E395-76DB-458C-8305-CF4D26D180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26dd46c61214635"/>
          <a:srcRect xmlns:a="http://schemas.openxmlformats.org/drawingml/2006/main" l="31933" t="22857" r="9687" b="256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418060" y="926274"/>
            <a:ext cx="2222003" cy="8167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4124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模板页眉横线">
            <a:extLst xmlns:a="http://schemas.openxmlformats.org/drawingml/2006/main">
              <a:ext uri="{FF2B5EF4-FFF2-40B4-BE49-F238E27FC236}">
                <a16:creationId xmlns:a16="http://schemas.microsoft.com/office/drawing/2014/main" id="{C4000073-E50E-0B72-94C0-033F230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054"/>
            <a:ext cx="12192000" cy="45719"/>
          </a:xfrm>
          <a:custGeom xmlns:a="http://schemas.openxmlformats.org/drawingml/2006/main">
            <a:gdLst>
              <a:gd name="T0" fmla="*/ 0 w 21600"/>
              <a:gd name="T1" fmla="*/ 0 h 21600"/>
              <a:gd name="T2" fmla="*/ 489365807 w 21600"/>
              <a:gd name="T3" fmla="*/ 0 h 21600"/>
              <a:gd name="T4" fmla="*/ 489365807 w 21600"/>
              <a:gd name="T5" fmla="*/ 28356134 h 21600"/>
              <a:gd name="T6" fmla="*/ 0 w 21600"/>
              <a:gd name="T7" fmla="*/ 28356134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3175" cap="flat" cmpd="sng">
            <a:solidFill>
              <a:srgbClr val="002060">
                <a:alpha val="0"/>
              </a:srgbClr>
            </a:solidFill>
            <a:round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solidFill>
                <a:srgbClr val="4874CB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" name="同济校标">
            <a:extLst xmlns:a="http://schemas.openxmlformats.org/drawingml/2006/main">
              <a:ext uri="{FF2B5EF4-FFF2-40B4-BE49-F238E27FC236}">
                <a16:creationId xmlns:a16="http://schemas.microsoft.com/office/drawing/2014/main" id="{08F4686C-CBFC-4C11-BFF3-871539AD71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d8436a24914b42"/>
          <a:srcRect xmlns:a="http://schemas.openxmlformats.org/drawingml/2006/main" l="0" t="0" r="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1625" y="20910"/>
            <a:ext cx="1809525" cy="526143"/>
          </a:xfrm>
          <a:prstGeom xmlns:a="http://schemas.openxmlformats.org/drawingml/2006/main" prst="rect">
            <a:avLst/>
          </a:prstGeom>
        </p:spPr>
      </p:pic>
      <p:sp>
        <p:nvSpPr>
          <p:cNvPr id="15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CA1E91B-B668-B211-4835-07E77318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"/>
            <a:ext cx="113061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3200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4000"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4000"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4000"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4000">
                <a:latin typeface="Microsoft YaHei"/>
                <a:ea typeface="Microsoft YaHei"/>
                <a:cs typeface="Microsoft YaHei"/>
              </a:defRPr>
            </a:lvl5pPr>
            <a:lvl6pPr marL="4572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6pPr>
            <a:lvl7pPr marL="9144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7pPr>
            <a:lvl8pPr marL="13716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8pPr>
            <a:lvl9pPr marL="18288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3200">
                <a:solidFill>
                  <a:srgbClr val="4674C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参考文献（</a:t>
            </a:r>
            <a:r>
              <a:rPr sz="3200">
                <a:solidFill>
                  <a:srgbClr val="4674C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1</a:t>
            </a:r>
            <a:r>
              <a:rPr sz="3200">
                <a:solidFill>
                  <a:srgbClr val="4674C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／</a:t>
            </a:r>
            <a:r>
              <a:rPr sz="3200">
                <a:solidFill>
                  <a:srgbClr val="4674C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2</a:t>
            </a:r>
            <a:r>
              <a:rPr sz="3200">
                <a:solidFill>
                  <a:srgbClr val="4674C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）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revision-text-1005">
            <a:extLst xmlns:a="http://schemas.openxmlformats.org/drawingml/2006/main">
              <a:ext uri="{FF2B5EF4-FFF2-40B4-BE49-F238E27FC236}">
                <a16:creationId xmlns:a16="http://schemas.microsoft.com/office/drawing/2014/main" id="{CD0330C8-8920-4B6D-B042-F71F342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16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reference-政1">
            <a:extLst xmlns:a="http://schemas.openxmlformats.org/drawingml/2006/main">
              <a:ext uri="{FF2B5EF4-FFF2-40B4-BE49-F238E27FC236}">
                <a16:creationId xmlns:a16="http://schemas.microsoft.com/office/drawing/2014/main" id="{B1A09D4F-3FB7-4B18-B5D3-26872ED1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000125"/>
            <a:ext cx="11020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</a:t>
            </a:r>
            <a:r>
              <a:rPr sz="1402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政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1] </a:t>
            </a:r>
            <a:r>
              <a:rPr sz="1402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中华人民共和国国民经济和社会发展第十五个五年规划纲要。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reference-政2">
            <a:extLst xmlns:a="http://schemas.openxmlformats.org/drawingml/2006/main">
              <a:ext uri="{FF2B5EF4-FFF2-40B4-BE49-F238E27FC236}">
                <a16:creationId xmlns:a16="http://schemas.microsoft.com/office/drawing/2014/main" id="{2779149D-1E3F-4F8E-9818-A54F00E8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247775"/>
            <a:ext cx="11020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</a:t>
            </a:r>
            <a:r>
              <a:rPr sz="1402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政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2] </a:t>
            </a:r>
            <a:r>
              <a:rPr sz="1402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工业和信息化部等八部门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“</a:t>
            </a:r>
            <a:r>
              <a:rPr sz="1402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人工智能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1402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制造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”</a:t>
            </a:r>
            <a:r>
              <a:rPr sz="1402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专项行动实施意见。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reference-政3">
            <a:extLst xmlns:a="http://schemas.openxmlformats.org/drawingml/2006/main">
              <a:ext uri="{FF2B5EF4-FFF2-40B4-BE49-F238E27FC236}">
                <a16:creationId xmlns:a16="http://schemas.microsoft.com/office/drawing/2014/main" id="{C88EFF0D-91C1-4617-BA4D-95C97B53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95425"/>
            <a:ext cx="11020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</a:t>
            </a:r>
            <a:r>
              <a:rPr sz="1402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政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3] </a:t>
            </a:r>
            <a:r>
              <a:rPr sz="1402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上海飞机制造有限公司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1402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贯彻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402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号文丨乘改革之势，聚攻坚之力，强发展之效。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reference-1">
            <a:extLst xmlns:a="http://schemas.openxmlformats.org/drawingml/2006/main">
              <a:ext uri="{FF2B5EF4-FFF2-40B4-BE49-F238E27FC236}">
                <a16:creationId xmlns:a16="http://schemas.microsoft.com/office/drawing/2014/main" id="{37BCBE76-FF47-4412-A95D-22DB4DDF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743075"/>
            <a:ext cx="11020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</a:t>
            </a:r>
            <a:r>
              <a:rPr sz="1402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方水良，刘猛男，鲜果，秦永辉，田雨辰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1402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飞机移动装配线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——</a:t>
            </a:r>
            <a:r>
              <a:rPr sz="1402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脉动与续动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[J]. </a:t>
            </a:r>
            <a:r>
              <a:rPr sz="1402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航空制造技术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, 2021, 64(16):40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50.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reference-3">
            <a:extLst xmlns:a="http://schemas.openxmlformats.org/drawingml/2006/main">
              <a:ext uri="{FF2B5EF4-FFF2-40B4-BE49-F238E27FC236}">
                <a16:creationId xmlns:a16="http://schemas.microsoft.com/office/drawing/2014/main" id="{F44F2A09-62D6-4AEF-AAE5-E1122F39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90725"/>
            <a:ext cx="1102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Bao Z, Chen L, Qiu K. An aircraft final assembly line balancing problem considering resource constraints and parallel task scheduling[J]. Computers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&amp; Industrial Engineering, 2023, 182:109436.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reference-5">
            <a:extLst xmlns:a="http://schemas.openxmlformats.org/drawingml/2006/main">
              <a:ext uri="{FF2B5EF4-FFF2-40B4-BE49-F238E27FC236}">
                <a16:creationId xmlns:a16="http://schemas.microsoft.com/office/drawing/2014/main" id="{C7F241C1-A5C9-40B3-960B-5B2FEC89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28875"/>
            <a:ext cx="1102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[5] Lovato D, Guillaume R, Thierry C, Battaia O. Managing disruptions in aircraft assembly lines with staircase criteria[J]. International Journal of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Production Research, 2023, 61(2):632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648.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reference-9">
            <a:extLst xmlns:a="http://schemas.openxmlformats.org/drawingml/2006/main">
              <a:ext uri="{FF2B5EF4-FFF2-40B4-BE49-F238E27FC236}">
                <a16:creationId xmlns:a16="http://schemas.microsoft.com/office/drawing/2014/main" id="{D08D767C-01D4-4B3E-BB0B-B44CCEAB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67025"/>
            <a:ext cx="1102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[9] Fang P, Yang J, Liao Q, Zhong R Y, Jiang Y. Flexible Worker Allocation in Aircraft Final Assembly Line Using Multiobjective Evolutionary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Algorithms[J]. IEEE Transactions on Industrial Informatics, 2021, 17(11):7468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7478.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reference-10">
            <a:extLst xmlns:a="http://schemas.openxmlformats.org/drawingml/2006/main">
              <a:ext uri="{FF2B5EF4-FFF2-40B4-BE49-F238E27FC236}">
                <a16:creationId xmlns:a16="http://schemas.microsoft.com/office/drawing/2014/main" id="{069A8E5C-D4EE-413B-BDA5-B9E69FC1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05175"/>
            <a:ext cx="1102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[10] Zheng X, Qiao F, You S, et al. Joint optimization of production scheduling and worker allocation under a resource dedication policy in aircraft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assembly lines[J]. Robotics and Computer-Integrated Manufacturing, 2025, 96:103047.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reference-11">
            <a:extLst xmlns:a="http://schemas.openxmlformats.org/drawingml/2006/main">
              <a:ext uri="{FF2B5EF4-FFF2-40B4-BE49-F238E27FC236}">
                <a16:creationId xmlns:a16="http://schemas.microsoft.com/office/drawing/2014/main" id="{AA9EEAFC-333E-4EEF-A989-594DC1D7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743325"/>
            <a:ext cx="1102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[11] Pucel X, Roussel S. Constraint Programming Model for Assembly Line Balancing and Scheduling with Walking Workers and Parallel Stations[C]//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CP 2024, LIPIcs 307:23:1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23:21.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reference-12">
            <a:extLst xmlns:a="http://schemas.openxmlformats.org/drawingml/2006/main">
              <a:ext uri="{FF2B5EF4-FFF2-40B4-BE49-F238E27FC236}">
                <a16:creationId xmlns:a16="http://schemas.microsoft.com/office/drawing/2014/main" id="{224C0855-9E39-47DA-A07B-1110F42E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181475"/>
            <a:ext cx="1102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[12] Vieira G E, Herrmann J W, Lin E. Rescheduling manufacturing systems: a framework of strategies, policies, and methods[J]. Journal of Scheduling,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2003, 6:39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62.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reference-15">
            <a:extLst xmlns:a="http://schemas.openxmlformats.org/drawingml/2006/main">
              <a:ext uri="{FF2B5EF4-FFF2-40B4-BE49-F238E27FC236}">
                <a16:creationId xmlns:a16="http://schemas.microsoft.com/office/drawing/2014/main" id="{74CED4CC-21A3-4DED-801E-EBE1CCDA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619625"/>
            <a:ext cx="1102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[15] Zhu H, Lu Z, Lu C, Ren Y. A reactive scheduling method for disturbances in aircraft moving assembly line[J]. International Journal of Production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Research, 2021, 59(15):4756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4772.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reference-17">
            <a:extLst xmlns:a="http://schemas.openxmlformats.org/drawingml/2006/main">
              <a:ext uri="{FF2B5EF4-FFF2-40B4-BE49-F238E27FC236}">
                <a16:creationId xmlns:a16="http://schemas.microsoft.com/office/drawing/2014/main" id="{7E9694E3-2A94-4E41-8E91-8AF0B756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57775"/>
            <a:ext cx="11020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[17] Panwalkar S S, Iskander W. A survey of scheduling rules[J]. Operations Research, 1977, 25(1):45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61.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reference-18">
            <a:extLst xmlns:a="http://schemas.openxmlformats.org/drawingml/2006/main">
              <a:ext uri="{FF2B5EF4-FFF2-40B4-BE49-F238E27FC236}">
                <a16:creationId xmlns:a16="http://schemas.microsoft.com/office/drawing/2014/main" id="{4523C64A-61BD-4872-A232-62958692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305425"/>
            <a:ext cx="1102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[18] Wen X, Liu H, Zhang X, et al. A Q-Learning Improved Particle Swarm Optimization for Aircraft Pulsating Assembly Line Scheduling Problem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Considering Skilled Operator Allocation[J]. Computers, Materials &amp; Continua, 2026, 86(1):1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27.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123980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模板页眉横线">
            <a:extLst xmlns:a="http://schemas.openxmlformats.org/drawingml/2006/main">
              <a:ext uri="{FF2B5EF4-FFF2-40B4-BE49-F238E27FC236}">
                <a16:creationId xmlns:a16="http://schemas.microsoft.com/office/drawing/2014/main" id="{C4000073-E50E-0B72-94C0-033F230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054"/>
            <a:ext cx="12192000" cy="45719"/>
          </a:xfrm>
          <a:custGeom xmlns:a="http://schemas.openxmlformats.org/drawingml/2006/main">
            <a:gdLst>
              <a:gd name="T0" fmla="*/ 0 w 21600"/>
              <a:gd name="T1" fmla="*/ 0 h 21600"/>
              <a:gd name="T2" fmla="*/ 489365807 w 21600"/>
              <a:gd name="T3" fmla="*/ 0 h 21600"/>
              <a:gd name="T4" fmla="*/ 489365807 w 21600"/>
              <a:gd name="T5" fmla="*/ 28356134 h 21600"/>
              <a:gd name="T6" fmla="*/ 0 w 21600"/>
              <a:gd name="T7" fmla="*/ 28356134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3175" cap="flat" cmpd="sng">
            <a:solidFill>
              <a:srgbClr val="002060">
                <a:alpha val="0"/>
              </a:srgbClr>
            </a:solidFill>
            <a:round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solidFill>
                <a:srgbClr val="4874CB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" name="同济校标">
            <a:extLst xmlns:a="http://schemas.openxmlformats.org/drawingml/2006/main">
              <a:ext uri="{FF2B5EF4-FFF2-40B4-BE49-F238E27FC236}">
                <a16:creationId xmlns:a16="http://schemas.microsoft.com/office/drawing/2014/main" id="{6DC5C16D-3A9E-4FCA-B745-5997F8BBF3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a4005ed06f428a"/>
          <a:srcRect xmlns:a="http://schemas.openxmlformats.org/drawingml/2006/main" l="0" t="0" r="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1625" y="20910"/>
            <a:ext cx="1809525" cy="526143"/>
          </a:xfrm>
          <a:prstGeom xmlns:a="http://schemas.openxmlformats.org/drawingml/2006/main" prst="rect">
            <a:avLst/>
          </a:prstGeom>
        </p:spPr>
      </p:pic>
      <p:sp>
        <p:nvSpPr>
          <p:cNvPr id="14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CA1E91B-B668-B211-4835-07E77318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"/>
            <a:ext cx="113061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3200" b="1">
                <a:solidFill>
                  <a:srgbClr val="17375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4000"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4000"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4000"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4000">
                <a:latin typeface="Microsoft YaHei"/>
                <a:ea typeface="Microsoft YaHei"/>
                <a:cs typeface="Microsoft YaHei"/>
              </a:defRPr>
            </a:lvl5pPr>
            <a:lvl6pPr marL="4572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6pPr>
            <a:lvl7pPr marL="9144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7pPr>
            <a:lvl8pPr marL="13716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8pPr>
            <a:lvl9pPr marL="18288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3200">
                <a:solidFill>
                  <a:srgbClr val="4674C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参考文献（</a:t>
            </a:r>
            <a:r>
              <a:rPr sz="3200">
                <a:solidFill>
                  <a:srgbClr val="4674C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2</a:t>
            </a:r>
            <a:r>
              <a:rPr sz="3200">
                <a:solidFill>
                  <a:srgbClr val="4674C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／</a:t>
            </a:r>
            <a:r>
              <a:rPr sz="3200">
                <a:solidFill>
                  <a:srgbClr val="4674C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2</a:t>
            </a:r>
            <a:r>
              <a:rPr sz="3200">
                <a:solidFill>
                  <a:srgbClr val="4674C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）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revision-text-1005">
            <a:extLst xmlns:a="http://schemas.openxmlformats.org/drawingml/2006/main">
              <a:ext uri="{FF2B5EF4-FFF2-40B4-BE49-F238E27FC236}">
                <a16:creationId xmlns:a16="http://schemas.microsoft.com/office/drawing/2014/main" id="{CD0330C8-8920-4B6D-B042-F71F342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17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reference-19">
            <a:extLst xmlns:a="http://schemas.openxmlformats.org/drawingml/2006/main">
              <a:ext uri="{FF2B5EF4-FFF2-40B4-BE49-F238E27FC236}">
                <a16:creationId xmlns:a16="http://schemas.microsoft.com/office/drawing/2014/main" id="{002A7408-6109-4BDF-8729-4261CCFC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000125"/>
            <a:ext cx="1102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[19] Wen X, et al. An improved genetic algorithm based on reinforcement learning for aircraft assembly scheduling problem[J]. Computers &amp; Industrial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Engineering, 2024, 193:110263.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reference-22">
            <a:extLst xmlns:a="http://schemas.openxmlformats.org/drawingml/2006/main">
              <a:ext uri="{FF2B5EF4-FFF2-40B4-BE49-F238E27FC236}">
                <a16:creationId xmlns:a16="http://schemas.microsoft.com/office/drawing/2014/main" id="{ED493FF7-D83F-452B-A148-254326DB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38275"/>
            <a:ext cx="11020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[22] Zhang C, Song W, Cao Z, et al. Learning to Dispatch for Job Shop Scheduling via Deep Reinforcement Learning[C]//NeurIPS, 2020, 33:1621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1632.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reference-23">
            <a:extLst xmlns:a="http://schemas.openxmlformats.org/drawingml/2006/main">
              <a:ext uri="{FF2B5EF4-FFF2-40B4-BE49-F238E27FC236}">
                <a16:creationId xmlns:a16="http://schemas.microsoft.com/office/drawing/2014/main" id="{BDE8D005-C72A-4EDF-AA26-D274EF8E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685925"/>
            <a:ext cx="1102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[23] Wen X, Zhang H, Yang W, et al. Research on a worker skill level-aware pulsating assembly scheduling method for aircraft based on the GIN-PPO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algorithm[J]. Computers &amp; Industrial Engineering, 2026, 218:112135.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reference-24">
            <a:extLst xmlns:a="http://schemas.openxmlformats.org/drawingml/2006/main">
              <a:ext uri="{FF2B5EF4-FFF2-40B4-BE49-F238E27FC236}">
                <a16:creationId xmlns:a16="http://schemas.microsoft.com/office/drawing/2014/main" id="{811ACF55-5987-444F-9D04-F745F8D1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24075"/>
            <a:ext cx="1102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[24] Chen B, Zhang J, Luo X, Jiang S. A multi-agent graph attention deep reinforcement learning method for aircraft assembly dynamic scheduling[J].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Advanced Engineering Informatics, 2026, 73:104565.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reference-25">
            <a:extLst xmlns:a="http://schemas.openxmlformats.org/drawingml/2006/main">
              <a:ext uri="{FF2B5EF4-FFF2-40B4-BE49-F238E27FC236}">
                <a16:creationId xmlns:a16="http://schemas.microsoft.com/office/drawing/2014/main" id="{4B53776C-07EA-4359-9E03-AFB570CD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562225"/>
            <a:ext cx="1102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[25] Waubert de Puiseau C, Ercan F, Peters J, et al. A literature review on deep reinforcement learning for machine scheduling problems[J]. Journal of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Manufacturing Systems, 2026, 85:96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126.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reference-27">
            <a:extLst xmlns:a="http://schemas.openxmlformats.org/drawingml/2006/main">
              <a:ext uri="{FF2B5EF4-FFF2-40B4-BE49-F238E27FC236}">
                <a16:creationId xmlns:a16="http://schemas.microsoft.com/office/drawing/2014/main" id="{00827423-AA30-4919-9513-F1BEAB7D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00375"/>
            <a:ext cx="1102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[27] Smit I G, Zhou J, Reijnen R, et al. Graph neural networks for job shop scheduling problems: A survey[J]. Computers &amp; Operations Research, 2025,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176:106914.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reference-29">
            <a:extLst xmlns:a="http://schemas.openxmlformats.org/drawingml/2006/main">
              <a:ext uri="{FF2B5EF4-FFF2-40B4-BE49-F238E27FC236}">
                <a16:creationId xmlns:a16="http://schemas.microsoft.com/office/drawing/2014/main" id="{ECC642FE-CF34-419D-97D1-A989077D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38525"/>
            <a:ext cx="1102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[29] Song W, Chen X, Li Q, Cao Z. Flexible job-shop scheduling via graph neural network and deep reinforcement learning[J]. IEEE Transactions on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Industrial Informatics, 2023, 19(2):1600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–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1610.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reference-33">
            <a:extLst xmlns:a="http://schemas.openxmlformats.org/drawingml/2006/main">
              <a:ext uri="{FF2B5EF4-FFF2-40B4-BE49-F238E27FC236}">
                <a16:creationId xmlns:a16="http://schemas.microsoft.com/office/drawing/2014/main" id="{283C0947-7BBB-414C-8116-D8D2D9D1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76675"/>
            <a:ext cx="1102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[33] Ding C, Qiao F, Liu J, Wang D, Shi J. Semantic-driven real-time scheduling approach for aerospace product manufacturing[J]. Computers &amp;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Industrial Engineering, 2025, 210:111525.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reference-34">
            <a:extLst xmlns:a="http://schemas.openxmlformats.org/drawingml/2006/main">
              <a:ext uri="{FF2B5EF4-FFF2-40B4-BE49-F238E27FC236}">
                <a16:creationId xmlns:a16="http://schemas.microsoft.com/office/drawing/2014/main" id="{ED99E2C0-A4DB-4516-9E91-811D7871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14825"/>
            <a:ext cx="1102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[34] Hu Y, Chen J, Zhang Z, Tang D, Cai Q. Dynamic scheduling for dual-resource constrained flexible job-shop via semantic-aware graph modelling and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deep reinforcement learning[J]. Knowledge-Based Systems, 2025, 328:114192.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reference-35">
            <a:extLst xmlns:a="http://schemas.openxmlformats.org/drawingml/2006/main">
              <a:ext uri="{FF2B5EF4-FFF2-40B4-BE49-F238E27FC236}">
                <a16:creationId xmlns:a16="http://schemas.microsoft.com/office/drawing/2014/main" id="{BC07E8DF-25F9-4705-A519-650BFABF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752975"/>
            <a:ext cx="11020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[35] Jaderberg M, Mnih V, Czarnecki W M, et al. Reinforcement Learning with Unsupervised Auxiliary Tasks[C]//ICLR, 2017.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reference-36">
            <a:extLst xmlns:a="http://schemas.openxmlformats.org/drawingml/2006/main">
              <a:ext uri="{FF2B5EF4-FFF2-40B4-BE49-F238E27FC236}">
                <a16:creationId xmlns:a16="http://schemas.microsoft.com/office/drawing/2014/main" id="{9EDE7F4F-3DB4-4518-8695-5A832CDD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00625"/>
            <a:ext cx="11020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[36] Schulman J, Wolski F, Dhariwal P, Radford A, Klimov O. Proximal Policy Optimization Algorithms[EB/OL]. arXiv:1707.06347, 2017.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reference-37">
            <a:extLst xmlns:a="http://schemas.openxmlformats.org/drawingml/2006/main">
              <a:ext uri="{FF2B5EF4-FFF2-40B4-BE49-F238E27FC236}">
                <a16:creationId xmlns:a16="http://schemas.microsoft.com/office/drawing/2014/main" id="{959F8854-DB05-4E80-92AD-740DC9C5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248275"/>
            <a:ext cx="1102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2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[37] Huang S, Onta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ñó</a:t>
            </a: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 S. A Closer Look at Invalid Action Masking in Policy Gradient Algorithms[C]//The International FLAIRS Conference</a:t>
            </a:r>
            <a:endParaRPr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11111"/>
                </a:solidFill>
              </a:defRPr>
            </a:pPr>
            <a:r>
              <a:rPr sz="1402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Proceedings, 2022, 35.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516656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SimHei"/>
        <a:cs typeface="Times New Roman"/>
      </a:majorFont>
      <a:minorFont>
        <a:latin typeface="Times New Roman"/>
        <a:ea typeface="SimHei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2026-10-14T15:38:53.9410000Z</dcterms:created>
  <dcterms:modified xsi:type="dcterms:W3CDTF">2026-10-14T15:38:53.9410000Z</dcterms:modified>
</coreProperties>
</file>